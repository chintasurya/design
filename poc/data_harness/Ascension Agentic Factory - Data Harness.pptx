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3" r:id="rId15"/>
    <p:sldId id="325" r:id="rId17"/>
    <p:sldId id="331" r:id="rId23"/>
    <p:sldId id="332" r:id="rId24"/>
    <p:sldId id="333" r:id="rId25"/>
    <p:sldId id="327" r:id="rId19"/>
    <p:sldId id="326" r:id="rId18"/>
    <p:sldId id="324" r:id="rId16"/>
    <p:sldId id="328" r:id="rId20"/>
    <p:sldId id="334" r:id="rId26"/>
    <p:sldId id="329" r:id="rId21"/>
    <p:sldId id="330"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Factory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and the harness runs the agents; the Agentic Factory is all of it, harness, data harness, governance and people.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step that caused it: a code defect to the Developer Agent, a design gap to the Architect Agent, a requirement gap to the Requirements Agent. At most five times, then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Factory   (about 2 minutes)</a:t>
            </a:r>
          </a:p>
          <a:p/>
          <a:p>
            <a:r>
              <a:t>KEY MESSAGE</a:t>
            </a:r>
          </a:p>
          <a:p>
            <a:r>
              <a:t>A typical Health Cloud task on the Network Services pod takes about two weeks today, from Jira story to UAT sign-off. On the Agentic Factory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FACTORY</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Governance comes first: before anything lands, a Collibra steward approves each dataset, DLP finds the sensitive columns and policy tags mask the PHI.</a:t>
            </a:r>
          </a:p>
          <a:p>
            <a:r>
              <a:t>(3) Bronze keeps the approved, tagged extracts with lineage, under restricted access; DLP re-scans what lands.</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Gold A feeds the knowledge graph, and the Orchestrator, Campaign Strategist and Analytics agents read the knowledge graph to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PHI governance first, box 2: a Collibra steward approves each dataset, DLP classifies and policy tags are set before anything lands in Bronze. Its exit is a hard gate: zero unauthorized PHI access in security tests before any agent connects.</a:t>
            </a:r>
          </a:p>
          <a:p>
            <a:r>
              <a:t>- Phase 2: the data foundation, boxes 1, 3, 4, 5, 6, overlapping Phase 1, synthetic first: approved, tagged sources into Bronze, then Silver and Gold.</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first the Patient Identity &amp; Verification Service checks, in seconds, that the caller ID matches the number on file (with carrier and SIM-swap checks) and the date of birth, and issues a short-lived Verified Patient Token; a step-up (app push, SMS code or a person) only when the caller ID does not match or the change is higher risk. Emergencies skip verification and go straight to 911 or the nurse line. Then the Verified Patient Action Engine exposes narrow functions: SearchAvailableSlots and RescheduleAppointment against Epic, the system of record, with the rules enforced; and GetPatientContext, read-only on Gold B, for this caller's campaign status and consent. It never returns a list.</a:t>
            </a:r>
          </a:p>
          <a:p>
            <a:r>
              <a:t>- Right, after every call: hand-off to a person when needed, masked transcripts with retention limits, opt-outs said on the call update the consent of record at once, outcomes go per call into Gold B and as aggregates into Gold A, and test calls before every release.</a:t>
            </a:r>
          </a:p>
          <a:p>
            <a:r>
              <a:t>- The knowledge base uses the same semantic layer and knowledge graph as campaigns, so Sierra and every campaign use one vocabulary for locations, visit types and services.</a:t>
            </a:r>
          </a:p>
          <a:p>
            <a:r>
              <a:t>- Bottom: the seven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factory serves every pod and three jobs: delivery, campaigns and the Sierra voice agent. Each agent is built once, scales across pods without losing accuracy, and stays under the same controls.</a:t>
            </a:r>
          </a:p>
          <a:p/>
          <a:p>
            <a:r>
              <a:t>WALK IT</a:t>
            </a:r>
          </a:p>
          <a:p>
            <a:r>
              <a:t>- Top: one factory,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 tech lead, a dev / QA who directs the harness agent and verifies its work, and a PM / TL shared across two or three squads. Across all pods, $16M a year today falls to about $8M at full run rate: about $20M saved over three years.</a:t>
            </a:r>
          </a:p>
          <a:p/>
          <a:p>
            <a:r>
              <a:t>TOP</a:t>
            </a:r>
          </a:p>
          <a:p>
            <a:r>
              <a:t>- Today's squad: PM / outcome owner, tech lead / SEM, 2-3 developers, 1-2 QA.</a:t>
            </a:r>
          </a:p>
          <a:p>
            <a:r>
              <a:t>- With the factory: the PM / tech lead owns the change and approves the code at H3; one dev / QA directs the agent and verifies; one more PM / TL is shared across 2-3 squads.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is the single interface for discovery, approvals and continuous activation   (about 3 minutes)</a:t>
            </a:r>
          </a:p>
          <a:p/>
          <a:p>
            <a:r>
              <a:t>KEY MESSAGE</a:t>
            </a:r>
          </a:p>
          <a:p>
            <a:r>
              <a:t>The business user works in one place, Codex. The data is refreshed every day, agents decide what campaign and what cohort from definitions and counts, and engines we build in Google Cloud decide exactly which patients, push the newly eligible to Marketing Cloud every day and take out anyone who no longer qualifies, without a daily approval.</a:t>
            </a:r>
          </a:p>
          <a:p/>
          <a:p>
            <a:r>
              <a:t>WALK IT</a:t>
            </a:r>
          </a:p>
          <a:p>
            <a:r>
              <a:t>1 Governed intelligence, left: authoritative sources refresh daily or by streaming; a Collibra steward approves each dataset, SDP (Sensitive Data Protection, formerly DLP) classifies the PHI and the policy tags are set before ingest; Bronze, then Silver resolves identity (EUID) and holds the consent of record; Gold A (insight, aggregates for agents) and the restricted patient layer (patients, for the engines only); the semantic layer (Kyvos or built in-house) and the Spanner knowledge graph, with no patient nodes, read Gold A.</a:t>
            </a:r>
          </a:p>
          <a:p>
            <a:r>
              <a:t>2 Codex, middle: the goal; the cohort JSON with its refresh policy, approved at G1; the journey built and tested on test contacts, approved at G3; the first run's counts, approved at G2; then ongoing status. Approvals come from the approval service with named roles.</a:t>
            </a:r>
          </a:p>
          <a:p>
            <a:r>
              <a:t>3 Cohort resolution and activation, right (steps 3.1 to 3.6): the Cohort Resolution Engine checks the JSON and token and builds a controlled query; the patient query finds the matching patients inside the protected boundary; eligibility checks apply consent, STOP, suppression, deceased, duplicates and contactability; a summary with no PHI goes back to Codex; after G2 the Campaign Activation Engine checks the G2 token, purpose, rule version and fields, unmasks only the minimum fields for this run, and loads the Marketing Cloud data extension.</a:t>
            </a:r>
          </a:p>
          <a:p>
            <a:r>
              <a:t>4 Continuous cohort refresh (steps 4.1 to 4.4): every day the data refreshes and its freshness is checked; the refresh trigger runs after it, or skips the run if the data is stale; the incremental resolver applies the approved rule to new and changed patients and re-checks consent; delta activation adds the newly eligible and exit sync removes anyone who opted out, died or no longer qualifies. Each run's results show in Codex.</a:t>
            </a:r>
          </a:p>
          <a:p>
            <a:r>
              <a:t>Marketing Cloud execution, bottom strip, left to right: the data is ready (approved patients only, with a pseudonymous contact key); it loads by REST API or SFTP into a data extension or Data Cloud; the journey is built in Journey Builder with entry, exit and goal rules; it uses approved content with no PHI in the text or links; the journey triggers the send, and an opt-out received in Marketing Cloud stops at once; outcomes return to Google Cloud for measurement. Consent is not decided in Marketing Cloud: it is applied upstream by the eligibility checks (3.3) and re-checked every day (4.3). Re-approval only when the cohort logic, purpose, fields, destination, consent policy, a semantic definition or the campaign status changes, or the approval expires.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Gold B, patients we cannot contact yet   (about 2 minutes)</a:t>
            </a:r>
          </a:p>
          <a:p/>
          <a:p>
            <a:r>
              <a:t>KEY MESSAGE</a:t>
            </a:r>
          </a:p>
          <a:p>
            <a:r>
              <a:t>Gold B holds the patients who have not given consent or whose information is incomplete. They stay restricted; we invite those we are allowed to ask to give consent or complete their details. When they opt in, they move to Gold A. Explicit opt-outs, STOP and deceased patients are never asked again.</a:t>
            </a:r>
          </a:p>
          <a:p/>
          <a:p>
            <a:r>
              <a:t>WALK IT</a:t>
            </a:r>
          </a:p>
          <a:p>
            <a:r>
              <a:t>- Top: Silver resolves identity and consent; patients without consent or with missing information land in Gold B. The Cohort Resolution Engine separates explicit opt-outs (never asked) from patients we may ask (consent unknown, details missing). After the masked G2 summary is approved, the Activation Engine unmasks only the minimum fields needed, for this run, and sends an update request through a permitted channel. Engagement decides the branch: opted in goes to Gold A; not opted in or still missing stays in Gold B.</a:t>
            </a:r>
          </a:p>
          <a:p>
            <a:r>
              <a:t>- Left, what is in it: the patient key, consent status, the missing information, the contact points we do have, the never-contact exclusions, preferences, and the history of requests.</a:t>
            </a:r>
          </a:p>
          <a:p>
            <a:r>
              <a:t>- Middle, who can read it: the two engines, for an approved run only; the Sierra voice agent for one verified caller. Agents, Codex, the semantic layer and the knowledge graph never; people see the masked G2 summary.</a:t>
            </a:r>
          </a:p>
          <a:p>
            <a:r>
              <a:t>- Right, what we can do with it: find who may be asked, never re-ask opt-outs, approve on counts, send the request, write the answers back to Epic and the consent system, and move consented patients to Gold A at the next refresh.</a:t>
            </a:r>
          </a:p>
          <a:p>
            <a:r>
              <a:t>- Bottom: the controls on Gold 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happens behind "create a campaign" in Codex   (about 2 minutes)</a:t>
            </a:r>
          </a:p>
          <a:p/>
          <a:p>
            <a:r>
              <a:t>KEY MESSAGE</a:t>
            </a:r>
          </a:p>
          <a:p>
            <a:r>
              <a:t>Agents work only with definitions and counts. Patient-level data moves only through deterministic services, and only after people approve.</a:t>
            </a:r>
          </a:p>
          <a:p/>
          <a:p>
            <a:r>
              <a:t>WALK IT (top to bottom)</a:t>
            </a:r>
          </a:p>
          <a:p>
            <a:r>
              <a:t>0 Before any request, Gold A keeps the knowledge graph current with aggregates and definitions only: what the data means and how much there is, never who the patients are. Masked Gold A rows are still PHI, so they stay in BigQuery.</a:t>
            </a:r>
          </a:p>
          <a:p>
            <a:r>
              <a:t>1 The marketer asks in Codex. 2-3 The agents ask the knowledge graph what a heart-failure patient is; the semantic layer answers with the definition, the Gold A table and the consent rule, each cited. 4-5 They count the cohort in Gold A; masked views return counts, never names. 6 The Opportunity Brief and a masked Tableau dashboard go to people, who approve it (G1).</a:t>
            </a:r>
          </a:p>
          <a:p>
            <a:r>
              <a:t>7-8 The Campaign Design Agent builds the journey and data extension, paused, and the Readiness Agent tests on test contacts; clinical and compliance approve (G3).</a:t>
            </a:r>
          </a:p>
          <a:p>
            <a:r>
              <a:t>9-11 The eligibility service, not an agent, applies the rule to the opted-in patient records in Gold A (consent, contact, STOP, deceased, duplicates). Anyone with no consent or missing information goes to Gold B, where an update request can invite them to opt in. A masked pre-send report goes to the SME and tech lead, who approve (G2).</a:t>
            </a:r>
          </a:p>
          <a:p>
            <a:r>
              <a:t>12-13 Only then does the activation engine check the policy, unmask only the minimum fields for the eligible patients, and release them, time-limited, to Marketing Cloud. 14 The journey sends, with consent re-checked at send. 15 Results come back as aggregates.</a:t>
            </a:r>
          </a:p>
          <a:p/>
          <a:p>
            <a:r>
              <a:t>BEFORE ANY REQUEST</a:t>
            </a:r>
          </a:p>
          <a:p>
            <a:r>
              <a:t>The data harness keeps Sources, Bronze and Silver current in Google Cloud; consented patients land in Gold A, and patients with no consent or missing information land in Gold B. DLP classifies and a Collibra steward approves the masking.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patient calls about a booked appointment   (about 2 minutes)</a:t>
            </a:r>
          </a:p>
          <a:p/>
          <a:p>
            <a:r>
              <a:t>KEY MESSAGE</a:t>
            </a:r>
          </a:p>
          <a:p>
            <a:r>
              <a:t>Knowledge is shared across agents; patient-level transactions are not. Sierra answers general questions from shared, governed knowledge, and acts for a patient only through the Verified Patient Action Engine, after a check that takes seconds. Emergencies never wait for a check.</a:t>
            </a:r>
          </a:p>
          <a:p/>
          <a:p>
            <a:r>
              <a:t>WALK IT (top to bottom)</a:t>
            </a:r>
          </a:p>
          <a:p>
            <a:r>
              <a:t>Emergency: words such as chest pain or can't breathe send the caller straight to 911 or the nurse line. No PHI is needed, so nothing is verified.</a:t>
            </a:r>
          </a:p>
          <a:p>
            <a:r>
              <a:t>1-3 The patient asks about their next cardiology appointment. The Patient Identity &amp; Verification Service checks that the caller ID matches the number on file, with carrier and SIM-swap checks, and the spoken date of birth, and issues a short-lived Verified Patient Token in seconds. No SMS wait.</a:t>
            </a:r>
          </a:p>
          <a:p>
            <a:r>
              <a:t>4-8 With the token, the Verified Patient Action Engine calls GetNextAppointment against Epic and returns the minimum fields; Sierra answers.</a:t>
            </a:r>
          </a:p>
          <a:p>
            <a:r>
              <a:t>9-12 The patient asks to move it; SearchAvailableSlots returns Friday's live availability with the rules applied; Sierra offers 10:00 and 2:30.</a:t>
            </a:r>
          </a:p>
          <a:p>
            <a:r>
              <a:t>13-16 The patient picks 2:30; RescheduleAppointment writes it to Epic; Sierra confirms and a confirmation text is sent.</a:t>
            </a:r>
          </a:p>
          <a:p>
            <a:r>
              <a:t>17 Preparation advice comes from an approved article in the shared knowledge, with no PHI.</a:t>
            </a:r>
          </a:p>
          <a:p>
            <a:r>
              <a:t>Step-up or hand-off: an app push, SMS code or a person only when the caller ID does not match, the change is higher risk (for example new contact details), or the question is clinical.</a:t>
            </a:r>
          </a:p>
          <a:p>
            <a:r>
              <a:t>18 After the call the outcome goes into Gold B for this patient and into Gold A as aggregates; the transcript is masked before any analytics.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20.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FACTORY</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factory,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AGENT SOURCES</a:t>
            </a:r>
            <a:r>
              <a:rPr sz="700" b="0" i="0">
                <a:solidFill>
                  <a:srgbClr val="FFFFFF"/>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and reuse from the graph; </a:t>
            </a:r>
            <a:r>
              <a:rPr sz="700" b="1" i="0">
                <a:solidFill>
                  <a:srgbClr val="00D6F2"/>
                </a:solidFill>
                <a:latin typeface="Trenda IG Text"/>
              </a:rPr>
              <a:t>Change Guardian</a:t>
            </a:r>
            <a:r>
              <a:rPr sz="700" b="0" i="0">
                <a:solidFill>
                  <a:srgbClr val="BFBFBF"/>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78408" cy="164592"/>
          </a:xfrm>
          <a:prstGeom prst="rect">
            <a:avLst/>
          </a:prstGeom>
          <a:noFill/>
        </p:spPr>
        <p:txBody>
          <a:bodyPr wrap="square" lIns="0" rIns="0" tIns="0" bIns="0" anchor="ctr">
            <a:spAutoFit/>
          </a:bodyPr>
          <a:lstStyle/>
          <a:p>
            <a:pPr algn="ctr"/>
            <a:r>
              <a:rPr sz="700" b="1" i="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561795" cy="164592"/>
          </a:xfrm>
          <a:prstGeom prst="rect">
            <a:avLst/>
          </a:prstGeom>
          <a:noFill/>
        </p:spPr>
        <p:txBody>
          <a:bodyPr wrap="square" lIns="0" rIns="0" tIns="0" bIns="0" anchor="ctr">
            <a:spAutoFit/>
          </a:bodyPr>
          <a:lstStyle/>
          <a:p>
            <a:pPr algn="ctr"/>
            <a:r>
              <a:rPr sz="700" b="1" i="0">
                <a:solidFill>
                  <a:srgbClr val="FF0069"/>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733227" y="3291840"/>
            <a:ext cx="607161" cy="164592"/>
          </a:xfrm>
          <a:prstGeom prst="rect">
            <a:avLst/>
          </a:prstGeom>
          <a:noFill/>
        </p:spPr>
        <p:txBody>
          <a:bodyPr wrap="square" lIns="0" rIns="0" tIns="0" bIns="0" anchor="ctr">
            <a:spAutoFit/>
          </a:bodyPr>
          <a:lstStyle/>
          <a:p>
            <a:pPr algn="ctr"/>
            <a:r>
              <a:rPr sz="700" b="1" i="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AI build</a:t>
            </a:r>
          </a:p>
          <a:p>
            <a:pPr algn="ctr">
              <a:lnSpc>
                <a:spcPct val="90000"/>
              </a:lnSpc>
            </a:pPr>
            <a:r>
              <a:rPr sz="700" b="0" i="0">
                <a:solidFill>
                  <a:srgbClr val="BFBFBF"/>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Copado</a:t>
            </a:r>
          </a:p>
          <a:p>
            <a:pPr algn="ctr">
              <a:lnSpc>
                <a:spcPct val="90000"/>
              </a:lnSpc>
            </a:pPr>
            <a:r>
              <a:rPr sz="700" b="0" i="0">
                <a:solidFill>
                  <a:srgbClr val="BFBFBF"/>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Quality gates</a:t>
            </a:r>
          </a:p>
          <a:p>
            <a:pPr algn="ctr">
              <a:lnSpc>
                <a:spcPct val="90000"/>
              </a:lnSpc>
            </a:pPr>
            <a:r>
              <a:rPr sz="700" b="0" i="0">
                <a:solidFill>
                  <a:srgbClr val="BFBFBF"/>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DEV</a:t>
            </a:r>
          </a:p>
          <a:p>
            <a:pPr algn="ctr">
              <a:lnSpc>
                <a:spcPct val="90000"/>
              </a:lnSpc>
            </a:pPr>
            <a:r>
              <a:rPr sz="700" b="0" i="0">
                <a:solidFill>
                  <a:srgbClr val="BFBFBF"/>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SIT</a:t>
            </a:r>
          </a:p>
          <a:p>
            <a:pPr algn="ctr">
              <a:lnSpc>
                <a:spcPct val="90000"/>
              </a:lnSpc>
            </a:pPr>
            <a:r>
              <a:rPr sz="700" b="0" i="0">
                <a:solidFill>
                  <a:srgbClr val="BFBFBF"/>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UAT</a:t>
            </a:r>
          </a:p>
          <a:p>
            <a:pPr algn="ctr">
              <a:lnSpc>
                <a:spcPct val="90000"/>
              </a:lnSpc>
            </a:pPr>
            <a:r>
              <a:rPr sz="700" b="0" i="0">
                <a:solidFill>
                  <a:srgbClr val="FFD70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CAB</a:t>
            </a:r>
          </a:p>
          <a:p>
            <a:pPr algn="ctr">
              <a:lnSpc>
                <a:spcPct val="90000"/>
              </a:lnSpc>
            </a:pPr>
            <a:r>
              <a:rPr sz="700" b="0" i="0">
                <a:solidFill>
                  <a:srgbClr val="FFD70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PROD</a:t>
            </a:r>
          </a:p>
          <a:p>
            <a:pPr algn="ctr">
              <a:lnSpc>
                <a:spcPct val="90000"/>
              </a:lnSpc>
            </a:pPr>
            <a:r>
              <a:rPr sz="700" b="0" i="0">
                <a:solidFill>
                  <a:srgbClr val="BFBFBF"/>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FF0069"/>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Prompt in Codex</a:t>
            </a:r>
          </a:p>
          <a:p>
            <a:pPr algn="ctr">
              <a:lnSpc>
                <a:spcPct val="90000"/>
              </a:lnSpc>
            </a:pPr>
            <a:r>
              <a:rPr sz="700" b="0" i="0">
                <a:solidFill>
                  <a:srgbClr val="BFBFBF"/>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Gold A insights</a:t>
            </a:r>
          </a:p>
          <a:p>
            <a:pPr algn="ctr">
              <a:lnSpc>
                <a:spcPct val="90000"/>
              </a:lnSpc>
            </a:pPr>
            <a:r>
              <a:rPr sz="700" b="0" i="0">
                <a:solidFill>
                  <a:srgbClr val="BFBFBF"/>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Build + test</a:t>
            </a:r>
          </a:p>
          <a:p>
            <a:pPr algn="ctr">
              <a:lnSpc>
                <a:spcPct val="90000"/>
              </a:lnSpc>
            </a:pPr>
            <a:r>
              <a:rPr sz="700" b="0" i="0">
                <a:solidFill>
                  <a:srgbClr val="BFBFBF"/>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Pre-send review</a:t>
            </a:r>
          </a:p>
          <a:p>
            <a:pPr algn="ctr">
              <a:lnSpc>
                <a:spcPct val="90000"/>
              </a:lnSpc>
            </a:pPr>
            <a:r>
              <a:rPr sz="700" b="0" i="0">
                <a:solidFill>
                  <a:srgbClr val="FFD70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Gateway release</a:t>
            </a:r>
          </a:p>
          <a:p>
            <a:pPr algn="ctr">
              <a:lnSpc>
                <a:spcPct val="90000"/>
              </a:lnSpc>
            </a:pPr>
            <a:r>
              <a:rPr sz="700" b="0" i="0">
                <a:solidFill>
                  <a:srgbClr val="BFBFBF"/>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Journey runs</a:t>
            </a:r>
          </a:p>
          <a:p>
            <a:pPr algn="ctr">
              <a:lnSpc>
                <a:spcPct val="90000"/>
              </a:lnSpc>
            </a:pPr>
            <a:r>
              <a:rPr sz="700" b="0" i="0">
                <a:solidFill>
                  <a:srgbClr val="BFBFBF"/>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FBFBF"/>
                </a:solidFill>
                <a:latin typeface="Trenda IG Text"/>
              </a:rPr>
              <a:t>the Agentic Factory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FBFBF"/>
                </a:solidFill>
                <a:latin typeface="Trenda IG Text"/>
              </a:rPr>
              <a:t>masked dashboards, pre-send report</a:t>
            </a:r>
          </a:p>
        </p:txBody>
      </p:sp>
      <p:pic>
        <p:nvPicPr>
          <p:cNvPr id="31" name="Picture 30" descr="jira.png"/>
          <p:cNvPicPr>
            <a:picLocks noChangeAspect="1"/>
          </p:cNvPicPr>
          <p:nvPr/>
        </p:nvPicPr>
        <p:blipFill>
          <a:blip r:embed="rId7"/>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FBFBF"/>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7"/>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FFFFF"/>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58"/>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0"/>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2"/>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FFFFF"/>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FFFFF"/>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F0069"/>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rIns="0" tIns="0" bIns="0" anchor="ctr">
            <a:spAutoFit/>
          </a:bodyPr>
          <a:lstStyle/>
          <a:p>
            <a:r>
              <a:rPr sz="740" b="1" i="0">
                <a:solidFill>
                  <a:srgbClr val="00D6F2"/>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88" name="Shape 81"/>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2"/>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3"/>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FBFBF"/>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F0069"/>
                </a:solidFill>
                <a:latin typeface="Trenda IG Text"/>
              </a:rPr>
              <a:t>Ask before build.</a:t>
            </a:r>
          </a:p>
        </p:txBody>
      </p:sp>
      <p:sp>
        <p:nvSpPr>
          <p:cNvPr id="94" name="Shape 87"/>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FBFBF"/>
                </a:solidFill>
                <a:latin typeface="Trenda IG Text"/>
              </a:rPr>
              <a:t>The </a:t>
            </a:r>
            <a:r>
              <a:rPr sz="700" b="1" i="0">
                <a:solidFill>
                  <a:srgbClr val="00D6F2"/>
                </a:solidFill>
                <a:latin typeface="Trenda IG Text"/>
              </a:rPr>
              <a:t>Change Guardian</a:t>
            </a:r>
            <a:r>
              <a:rPr sz="700" b="0" i="0">
                <a:solidFill>
                  <a:srgbClr val="BFBFBF"/>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F0069"/>
                </a:solidFill>
                <a:latin typeface="Trenda IG Text"/>
              </a:rPr>
              <a:t>Governed by design.</a:t>
            </a:r>
          </a:p>
        </p:txBody>
      </p:sp>
      <p:sp>
        <p:nvSpPr>
          <p:cNvPr id="100" name="Shape 93"/>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F0069"/>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FFFFF"/>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09" name="Picture 108" descr="salesforce.png"/>
          <p:cNvPicPr>
            <a:picLocks noChangeAspect="1"/>
          </p:cNvPicPr>
          <p:nvPr/>
        </p:nvPicPr>
        <p:blipFill>
          <a:blip r:embed="rId4"/>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FBFBF"/>
                </a:solidFill>
                <a:latin typeface="Trenda IG Text"/>
              </a:rPr>
              <a:t>Health, Marketing + Data Cloud</a:t>
            </a:r>
          </a:p>
        </p:txBody>
      </p:sp>
      <p:pic>
        <p:nvPicPr>
          <p:cNvPr id="112" name="Picture 111" descr="git.png"/>
          <p:cNvPicPr>
            <a:picLocks noChangeAspect="1"/>
          </p:cNvPicPr>
          <p:nvPr/>
        </p:nvPicPr>
        <p:blipFill>
          <a:blip r:embed="rId8"/>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Copado, Git, Jira, Zephyr</a:t>
            </a:r>
          </a:p>
        </p:txBody>
      </p:sp>
      <p:pic>
        <p:nvPicPr>
          <p:cNvPr id="115" name="Picture 114"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FBFBF"/>
                </a:solidFill>
                <a:latin typeface="Trenda IG Text"/>
              </a:rPr>
              <a:t>BigQuery, Collibra, DLP, Tableau, Spanner</a:t>
            </a:r>
          </a:p>
        </p:txBody>
      </p:sp>
      <p:pic>
        <p:nvPicPr>
          <p:cNvPr id="118" name="Picture 117"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Codex Enterprise; model in config; tools via MCP</a:t>
            </a:r>
          </a:p>
        </p:txBody>
      </p:sp>
      <p:pic>
        <p:nvPicPr>
          <p:cNvPr id="121" name="Picture 120"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7"/>
          <p:cNvSpPr txBox="1"/>
          <p:nvPr/>
        </p:nvSpPr>
        <p:spPr>
          <a:xfrm>
            <a:off x="6844283" y="2020824"/>
            <a:ext cx="4905756" cy="164592"/>
          </a:xfrm>
          <a:prstGeom prst="rect">
            <a:avLst/>
          </a:prstGeom>
          <a:noFill/>
        </p:spPr>
        <p:txBody>
          <a:bodyPr wrap="square" lIns="0" rIns="0" tIns="0" bIns="0" anchor="ctr">
            <a:spAutoFit/>
          </a:bodyPr>
          <a:lstStyle/>
          <a:p>
            <a:pPr algn="ctr"/>
            <a:r>
              <a:rPr sz="700" b="1" i="0" spc="80">
                <a:solidFill>
                  <a:srgbClr val="FFFFFF"/>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9"/>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jira.png"/>
          <p:cNvPicPr>
            <a:picLocks noChangeAspect="1"/>
          </p:cNvPicPr>
          <p:nvPr/>
        </p:nvPicPr>
        <p:blipFill>
          <a:blip r:embed="rId4"/>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rIns="0" tIns="0" bIns="0" anchor="t">
            <a:spAutoFit/>
          </a:bodyPr>
          <a:lstStyle/>
          <a:p>
            <a:r>
              <a:rPr sz="700" b="0" i="0">
                <a:solidFill>
                  <a:srgbClr val="BFBFBF"/>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confluence.png"/>
          <p:cNvPicPr>
            <a:picLocks noChangeAspect="1"/>
          </p:cNvPicPr>
          <p:nvPr/>
        </p:nvPicPr>
        <p:blipFill>
          <a:blip r:embed="rId5"/>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FBFBF"/>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FBFBF"/>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it.png"/>
          <p:cNvPicPr>
            <a:picLocks noChangeAspect="1"/>
          </p:cNvPicPr>
          <p:nvPr/>
        </p:nvPicPr>
        <p:blipFill>
          <a:blip r:embed="rId7"/>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FBFBF"/>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3"/>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FBFBF"/>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FBFBF"/>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rIns="0" tIns="0" bIns="0" anchor="t">
            <a:spAutoFit/>
          </a:bodyPr>
          <a:lstStyle/>
          <a:p>
            <a:r>
              <a:rPr sz="700" b="0" i="0">
                <a:solidFill>
                  <a:srgbClr val="6B6B6B"/>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F0069"/>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FFFFF"/>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FFFFF"/>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3"/>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FFFFF"/>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8"/>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41" name="Picture 140" descr="jira.png"/>
          <p:cNvPicPr>
            <a:picLocks noChangeAspect="1"/>
          </p:cNvPicPr>
          <p:nvPr/>
        </p:nvPicPr>
        <p:blipFill>
          <a:blip r:embed="rId4"/>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43" name="Picture 142"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5" name="Picture 144" descr="git.png"/>
          <p:cNvPicPr>
            <a:picLocks noChangeAspect="1"/>
          </p:cNvPicPr>
          <p:nvPr/>
        </p:nvPicPr>
        <p:blipFill>
          <a:blip r:embed="rId7"/>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7" name="Picture 146"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4"/>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37"/>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F0069"/>
                </a:solidFill>
                <a:latin typeface="Trenda IG Text"/>
              </a:rPr>
              <a:t>Production: the owning team's pipeline after CAB. No agent path.</a:t>
            </a:r>
          </a:p>
        </p:txBody>
      </p:sp>
      <p:sp>
        <p:nvSpPr>
          <p:cNvPr id="156" name="Shape 140"/>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reviews every pod's metadata; flags deployment blockers before release</a:t>
            </a:r>
          </a:p>
        </p:txBody>
      </p:sp>
      <p:sp>
        <p:nvSpPr>
          <p:cNvPr id="160" name="Shape 144"/>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4" name="Shape 148"/>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Shape 149"/>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0"/>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~10 working days, one hand-off at a time. </a:t>
            </a:r>
            <a:r>
              <a:rPr sz="700" b="1" i="0">
                <a:solidFill>
                  <a:srgbClr val="FF0069"/>
                </a:solidFill>
                <a:latin typeface="Trenda IG Text"/>
              </a:rPr>
              <a:t>~4.5 days</a:t>
            </a:r>
            <a:r>
              <a:rPr sz="700" b="0" i="0">
                <a:solidFill>
                  <a:srgbClr val="B3B3B3"/>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Story intake</a:t>
            </a:r>
          </a:p>
          <a:p>
            <a:r>
              <a:rPr sz="700" b="0" i="0">
                <a:solidFill>
                  <a:srgbClr val="B3B3B3"/>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Clarify requirements</a:t>
            </a:r>
          </a:p>
          <a:p>
            <a:r>
              <a:rPr sz="700" b="0" i="0">
                <a:solidFill>
                  <a:srgbClr val="B3B3B3"/>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Impact analysis</a:t>
            </a:r>
          </a:p>
          <a:p>
            <a:r>
              <a:rPr sz="700" b="0" i="0">
                <a:solidFill>
                  <a:srgbClr val="B3B3B3"/>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Solution design</a:t>
            </a:r>
          </a:p>
          <a:p>
            <a:r>
              <a:rPr sz="700" b="0" i="0">
                <a:solidFill>
                  <a:srgbClr val="B3B3B3"/>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Build</a:t>
            </a:r>
          </a:p>
          <a:p>
            <a:r>
              <a:rPr sz="700" b="0" i="0">
                <a:solidFill>
                  <a:srgbClr val="B3B3B3"/>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FFFFFE"/>
                </a:solidFill>
                <a:latin typeface="Trenda IG Text"/>
              </a:rPr>
              <a:t>2d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Code review and fixes</a:t>
            </a:r>
          </a:p>
          <a:p>
            <a:r>
              <a:rPr sz="700" b="0" i="0">
                <a:solidFill>
                  <a:srgbClr val="B3B3B3"/>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Test preparation</a:t>
            </a:r>
          </a:p>
          <a:p>
            <a:r>
              <a:rPr sz="700" b="0" i="0">
                <a:solidFill>
                  <a:srgbClr val="B3B3B3"/>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QA and regression</a:t>
            </a:r>
          </a:p>
          <a:p>
            <a:r>
              <a:rPr sz="700" b="0" i="0">
                <a:solidFill>
                  <a:srgbClr val="B3B3B3"/>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Promote and UAT sign-off</a:t>
            </a:r>
          </a:p>
          <a:p>
            <a:r>
              <a:rPr sz="700" b="0" i="0">
                <a:solidFill>
                  <a:srgbClr val="B3B3B3"/>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FFFFFE"/>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F2F2F2"/>
                </a:solidFill>
                <a:latin typeface="Trenda IG Text"/>
              </a:rPr>
              <a:t>Requirements Agent</a:t>
            </a:r>
          </a:p>
          <a:p>
            <a:r>
              <a:rPr sz="700" b="0" i="0">
                <a:solidFill>
                  <a:srgbClr val="B3B3B3"/>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F2F2F2"/>
                </a:solidFill>
                <a:latin typeface="Trenda IG Text"/>
              </a:rPr>
              <a:t>Architect Agent</a:t>
            </a:r>
          </a:p>
          <a:p>
            <a:r>
              <a:rPr sz="700" b="0" i="0">
                <a:solidFill>
                  <a:srgbClr val="B3B3B3"/>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F2F2F2"/>
                </a:solidFill>
                <a:latin typeface="Trenda IG Text"/>
              </a:rPr>
              <a:t>Developer Agent</a:t>
            </a:r>
          </a:p>
          <a:p>
            <a:r>
              <a:rPr sz="700" b="0" i="0">
                <a:solidFill>
                  <a:srgbClr val="B3B3B3"/>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F2F2F2"/>
                </a:solidFill>
                <a:latin typeface="Trenda IG Text"/>
              </a:rPr>
              <a:t>Review + Test Agents</a:t>
            </a:r>
          </a:p>
          <a:p>
            <a:r>
              <a:rPr sz="700" b="0" i="0">
                <a:solidFill>
                  <a:srgbClr val="B3B3B3"/>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F2F2F2"/>
                </a:solidFill>
                <a:latin typeface="Trenda IG Text"/>
              </a:rPr>
              <a:t>Release Agent</a:t>
            </a:r>
          </a:p>
          <a:p>
            <a:r>
              <a:rPr sz="700" b="0" i="0">
                <a:solidFill>
                  <a:srgbClr val="B3B3B3"/>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F2F2F2"/>
                </a:solidFill>
                <a:latin typeface="Trenda IG Text"/>
              </a:rPr>
              <a:t>UAT + production · H4 · CAB</a:t>
            </a:r>
          </a:p>
          <a:p>
            <a:r>
              <a:rPr sz="700" b="0" i="0">
                <a:solidFill>
                  <a:srgbClr val="B3B3B3"/>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2</a:t>
            </a:r>
          </a:p>
        </p:txBody>
      </p:sp>
      <p:sp>
        <p:nvSpPr>
          <p:cNvPr id="79" name="Shape 79"/>
          <p:cNvSpPr/>
          <p:nvPr/>
        </p:nvSpPr>
        <p:spPr>
          <a:xfrm>
            <a:off x="10707975" y="2011679"/>
            <a:ext cx="9144" cy="2478024"/>
          </a:xfrm>
          <a:prstGeom prst="rect">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FFD700"/>
                </a:solidFill>
                <a:latin typeface="Trenda IG Text"/>
              </a:rPr>
              <a:t>Day 2 assumes a CAB slot; otherwise the next CAB window. </a:t>
            </a:r>
            <a:r>
              <a:rPr sz="700" b="0" i="0">
                <a:solidFill>
                  <a:srgbClr val="B3B3B3"/>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per task</a:t>
            </a:r>
          </a:p>
          <a:p>
            <a:r>
              <a:rPr sz="700" b="0" i="0">
                <a:solidFill>
                  <a:srgbClr val="B3B3B3"/>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measured so far</a:t>
            </a:r>
          </a:p>
          <a:p>
            <a:r>
              <a:rPr sz="700" b="0" i="0">
                <a:solidFill>
                  <a:srgbClr val="B3B3B3"/>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delivery agents</a:t>
            </a:r>
          </a:p>
          <a:p>
            <a:r>
              <a:rPr sz="700" b="0" i="0">
                <a:solidFill>
                  <a:srgbClr val="B3B3B3"/>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FFFFF"/>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DLP + Collibra</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Before ingest: the Collibra steward approves, DLP classifies, policy tags mask PHI.</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Bronze</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tagged extracts with lineage and timestamps. Restricted; DLP re-scans.</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FFFFF"/>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FFFFF"/>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FFFFF"/>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Orchestrator, Strategist and Analytics read the knowledge graph;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FBFBF"/>
                </a:solidFill>
                <a:latin typeface="Trenda IG Text"/>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FFFFF"/>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00D6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FBFBF"/>
                </a:solidFill>
                <a:latin typeface="Trenda IG Text"/>
              </a:rPr>
              <a:t>Test contacts only: consent, STOP, links, hours. </a:t>
            </a:r>
            <a:r>
              <a:rPr sz="700" b="1" i="0">
                <a:solidFill>
                  <a:srgbClr val="FF0069"/>
                </a:solidFill>
                <a:latin typeface="Trenda IG Text"/>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FBFBF"/>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102" name="Shape 94"/>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3" name="Picture 102"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FFFFF"/>
                </a:solidFill>
                <a:latin typeface="Trenda IG Text"/>
              </a:rPr>
              <a:t>Knowledge graph</a:t>
            </a:r>
          </a:p>
        </p:txBody>
      </p:sp>
      <p:sp>
        <p:nvSpPr>
          <p:cNvPr id="105" name="Text 96"/>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tableau.png"/>
          <p:cNvPicPr>
            <a:picLocks noChangeAspect="1"/>
          </p:cNvPicPr>
          <p:nvPr/>
        </p:nvPicPr>
        <p:blipFill>
          <a:blip r:embed="rId8"/>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FFFFF"/>
                </a:solidFill>
                <a:latin typeface="Trenda IG Text"/>
              </a:rPr>
              <a:t>Tableau</a:t>
            </a:r>
          </a:p>
        </p:txBody>
      </p:sp>
      <p:sp>
        <p:nvSpPr>
          <p:cNvPr id="109" name="Text 99"/>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Masked dashboards from 6.</a:t>
            </a:r>
          </a:p>
        </p:txBody>
      </p:sp>
      <p:sp>
        <p:nvSpPr>
          <p:cNvPr id="110" name="Shape 100"/>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12" name="Text 102"/>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Explains exclusions for 14.</a:t>
            </a:r>
          </a:p>
        </p:txBody>
      </p:sp>
      <p:sp>
        <p:nvSpPr>
          <p:cNvPr id="113" name="Shape 103"/>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15" name="Text 105"/>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Reads results from 20.</a:t>
            </a:r>
          </a:p>
        </p:txBody>
      </p:sp>
      <p:sp>
        <p:nvSpPr>
          <p:cNvPr id="116" name="Shape 106"/>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7" name="Picture 116" descr="people.png"/>
          <p:cNvPicPr>
            <a:picLocks noChangeAspect="1"/>
          </p:cNvPicPr>
          <p:nvPr/>
        </p:nvPicPr>
        <p:blipFill>
          <a:blip r:embed="rId6"/>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FFFFF"/>
                </a:solidFill>
                <a:latin typeface="Trenda IG Text"/>
              </a:rPr>
              <a:t>People approve</a:t>
            </a:r>
          </a:p>
        </p:txBody>
      </p:sp>
      <p:sp>
        <p:nvSpPr>
          <p:cNvPr id="119" name="Shape 108"/>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09"/>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G1-3</a:t>
            </a:r>
          </a:p>
        </p:txBody>
      </p:sp>
      <p:sp>
        <p:nvSpPr>
          <p:cNvPr id="121" name="Text 110"/>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FBFBF"/>
                </a:solidFill>
                <a:latin typeface="Trenda IG Text"/>
              </a:rPr>
              <a:t>Approvals go to the gateway (15).</a:t>
            </a:r>
          </a:p>
        </p:txBody>
      </p:sp>
      <p:cxnSp>
        <p:nvCxnSpPr>
          <p:cNvPr id="122" name="Arrow 111"/>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4166616" y="2450592"/>
            <a:ext cx="6274917"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4166616" y="2450592"/>
            <a:ext cx="0" cy="153162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flipH="1">
            <a:off x="4093464" y="3982212"/>
            <a:ext cx="73152" cy="0"/>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Arrow 117"/>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9" name="Shape 118"/>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19"/>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RECOMMENDATION ≠ RELEASE</a:t>
            </a:r>
          </a:p>
        </p:txBody>
      </p:sp>
      <p:sp>
        <p:nvSpPr>
          <p:cNvPr id="131" name="Shape 120"/>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1"/>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salesforce.png"/>
          <p:cNvPicPr>
            <a:picLocks noChangeAspect="1"/>
          </p:cNvPicPr>
          <p:nvPr/>
        </p:nvPicPr>
        <p:blipFill>
          <a:blip r:embed="rId9"/>
          <a:stretch>
            <a:fillRect/>
          </a:stretch>
        </p:blipFill>
        <p:spPr>
          <a:xfrm>
            <a:off x="484632" y="4553712"/>
            <a:ext cx="182880" cy="182880"/>
          </a:xfrm>
          <a:prstGeom prst="rect">
            <a:avLst/>
          </a:prstGeom>
        </p:spPr>
      </p:pic>
      <p:sp>
        <p:nvSpPr>
          <p:cNvPr id="134" name="Text 122"/>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000000"/>
                </a:solidFill>
                <a:latin typeface="Trenda IG Text"/>
              </a:rPr>
              <a:t>3  RELEASE + SEND · ONLY AFTER G2 + G3</a:t>
            </a:r>
          </a:p>
        </p:txBody>
      </p:sp>
      <p:sp>
        <p:nvSpPr>
          <p:cNvPr id="135" name="Shape 123"/>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Shape 124"/>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5"/>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38" name="Text 126"/>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FFFFF"/>
                </a:solidFill>
                <a:latin typeface="Trenda IG Text"/>
              </a:rPr>
              <a:t>Eligibility service</a:t>
            </a:r>
          </a:p>
        </p:txBody>
      </p:sp>
      <p:sp>
        <p:nvSpPr>
          <p:cNvPr id="139" name="Text 127"/>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Gold B + approved rules: no consent, no phone or email, STOP, deceased, duplicates out, with reasons.</a:t>
            </a:r>
          </a:p>
        </p:txBody>
      </p:sp>
      <p:sp>
        <p:nvSpPr>
          <p:cNvPr id="140" name="Shape 128"/>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129"/>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0"/>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pic>
        <p:nvPicPr>
          <p:cNvPr id="143" name="Picture 142" descr="people.png"/>
          <p:cNvPicPr>
            <a:picLocks noChangeAspect="1"/>
          </p:cNvPicPr>
          <p:nvPr/>
        </p:nvPicPr>
        <p:blipFill>
          <a:blip r:embed="rId6"/>
          <a:stretch>
            <a:fillRect/>
          </a:stretch>
        </p:blipFill>
        <p:spPr>
          <a:xfrm>
            <a:off x="2551176" y="4882896"/>
            <a:ext cx="164592" cy="164592"/>
          </a:xfrm>
          <a:prstGeom prst="rect">
            <a:avLst/>
          </a:prstGeom>
        </p:spPr>
      </p:pic>
      <p:sp>
        <p:nvSpPr>
          <p:cNvPr id="144" name="Text 131"/>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FFFFF"/>
                </a:solidFill>
                <a:latin typeface="Trenda IG Text"/>
              </a:rPr>
              <a:t>Pre-send</a:t>
            </a:r>
          </a:p>
        </p:txBody>
      </p:sp>
      <p:sp>
        <p:nvSpPr>
          <p:cNvPr id="145" name="Shape 132"/>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3"/>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G2</a:t>
            </a:r>
          </a:p>
        </p:txBody>
      </p:sp>
      <p:sp>
        <p:nvSpPr>
          <p:cNvPr id="147" name="Text 134"/>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FBFBF"/>
                </a:solidFill>
                <a:latin typeface="Trenda IG Text"/>
              </a:rPr>
              <a:t>SME + tech lead review a masked report: counts, consent, exclusions. No PHI on screen.</a:t>
            </a:r>
          </a:p>
        </p:txBody>
      </p:sp>
      <p:sp>
        <p:nvSpPr>
          <p:cNvPr id="148" name="Differentiator Border 136"/>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37"/>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Shape 138"/>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 139"/>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15</a:t>
            </a:r>
          </a:p>
        </p:txBody>
      </p:sp>
      <p:sp>
        <p:nvSpPr>
          <p:cNvPr id="152" name="Text 140"/>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FFFFF"/>
                </a:solidFill>
                <a:latin typeface="Trenda IG Text"/>
              </a:rPr>
              <a:t>Policy engine + activation gateway</a:t>
            </a:r>
          </a:p>
        </p:txBody>
      </p:sp>
      <p:sp>
        <p:nvSpPr>
          <p:cNvPr id="153" name="Text 141"/>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FBFBF"/>
                </a:solidFill>
                <a:latin typeface="Trenda IG Text"/>
              </a:rPr>
              <a:t>Purpose, consent, suppression, minimum fields, human authorization. Compliance Passport; time-limited.</a:t>
            </a:r>
          </a:p>
        </p:txBody>
      </p:sp>
      <p:sp>
        <p:nvSpPr>
          <p:cNvPr id="154" name="Shape 142"/>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Shape 143"/>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4"/>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16</a:t>
            </a:r>
          </a:p>
        </p:txBody>
      </p:sp>
      <p:pic>
        <p:nvPicPr>
          <p:cNvPr id="157" name="Picture 156"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8" name="Text 145"/>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A · via Data Cloud</a:t>
            </a:r>
          </a:p>
        </p:txBody>
      </p:sp>
      <p:sp>
        <p:nvSpPr>
          <p:cNvPr id="159" name="Shape 146"/>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47"/>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FFFFF"/>
                </a:solidFill>
                <a:latin typeface="Trenda IG Text"/>
              </a:rPr>
              <a:t>B · direct pull</a:t>
            </a:r>
          </a:p>
        </p:txBody>
      </p:sp>
      <p:sp>
        <p:nvSpPr>
          <p:cNvPr id="161" name="Shape 148"/>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49"/>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50"/>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17</a:t>
            </a:r>
          </a:p>
        </p:txBody>
      </p:sp>
      <p:pic>
        <p:nvPicPr>
          <p:cNvPr id="164" name="Picture 163"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5" name="Text 151"/>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Data extension</a:t>
            </a:r>
          </a:p>
        </p:txBody>
      </p:sp>
      <p:sp>
        <p:nvSpPr>
          <p:cNvPr id="166" name="Text 152"/>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records, this run only.</a:t>
            </a:r>
          </a:p>
        </p:txBody>
      </p:sp>
      <p:sp>
        <p:nvSpPr>
          <p:cNvPr id="167" name="Shape 153"/>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54"/>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 155"/>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18</a:t>
            </a:r>
          </a:p>
        </p:txBody>
      </p:sp>
      <p:sp>
        <p:nvSpPr>
          <p:cNvPr id="170" name="Text 156"/>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FFFFF"/>
                </a:solidFill>
                <a:latin typeface="Trenda IG Text"/>
              </a:rPr>
              <a:t>Journey starts</a:t>
            </a:r>
          </a:p>
        </p:txBody>
      </p:sp>
      <p:sp>
        <p:nvSpPr>
          <p:cNvPr id="171" name="Text 157"/>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Built in 10, tested in 11, approved in 12.</a:t>
            </a:r>
          </a:p>
        </p:txBody>
      </p:sp>
      <p:sp>
        <p:nvSpPr>
          <p:cNvPr id="172" name="Shape 158"/>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19</a:t>
            </a:r>
          </a:p>
        </p:txBody>
      </p:sp>
      <p:sp>
        <p:nvSpPr>
          <p:cNvPr id="175" name="Text 161"/>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FFFFF"/>
                </a:solidFill>
                <a:latin typeface="Trenda IG Text"/>
              </a:rPr>
              <a:t>Send-time check</a:t>
            </a:r>
          </a:p>
        </p:txBody>
      </p:sp>
      <p:sp>
        <p:nvSpPr>
          <p:cNvPr id="176" name="Shape 162"/>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Shape 163"/>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 164"/>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20</a:t>
            </a:r>
          </a:p>
        </p:txBody>
      </p:sp>
      <p:sp>
        <p:nvSpPr>
          <p:cNvPr id="179" name="Text 165"/>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FFFFF"/>
                </a:solidFill>
                <a:latin typeface="Trenda IG Text"/>
              </a:rPr>
              <a:t>Measurement</a:t>
            </a:r>
          </a:p>
        </p:txBody>
      </p:sp>
      <p:cxnSp>
        <p:nvCxnSpPr>
          <p:cNvPr id="180" name="Arrow 166"/>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6" name="Arrow 182"/>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7" name="Shape 183"/>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000000"/>
                </a:solidFill>
                <a:latin typeface="Trenda IG Text"/>
              </a:rPr>
              <a:t>ENGAGEMENT BACK → NEXT RUN</a:t>
            </a:r>
          </a:p>
        </p:txBody>
      </p:sp>
      <p:sp>
        <p:nvSpPr>
          <p:cNvPr id="199" name="Text 185"/>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F0069"/>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200" name="Shape 186"/>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Shape 187"/>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 188"/>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Build and test before any data lands</a:t>
            </a:r>
          </a:p>
        </p:txBody>
      </p:sp>
      <p:sp>
        <p:nvSpPr>
          <p:cNvPr id="203" name="Shape 189"/>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Shape 190"/>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191"/>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G2: masked pre-send report</a:t>
            </a:r>
          </a:p>
        </p:txBody>
      </p:sp>
      <p:sp>
        <p:nvSpPr>
          <p:cNvPr id="206" name="Shape 192"/>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Shape 193"/>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 194"/>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Minimum fields, only after G2 + G3</a:t>
            </a:r>
          </a:p>
        </p:txBody>
      </p:sp>
      <p:sp>
        <p:nvSpPr>
          <p:cNvPr id="209" name="Shape 195"/>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Shape 196"/>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 197"/>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Gateway release; agents hold no raw PHI</a:t>
            </a:r>
          </a:p>
        </p:txBody>
      </p:sp>
      <p:sp>
        <p:nvSpPr>
          <p:cNvPr id="212" name="Shape 198"/>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Shape 199"/>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 200"/>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Collibra steward approves masking</a:t>
            </a:r>
          </a:p>
        </p:txBody>
      </p:sp>
      <p:sp>
        <p:nvSpPr>
          <p:cNvPr id="215" name="Shape 201"/>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Shape 202"/>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 203"/>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Retry cap: 5, then an owner</a:t>
            </a:r>
          </a:p>
        </p:txBody>
      </p:sp>
      <p:sp>
        <p:nvSpPr>
          <p:cNvPr id="218" name="Shape 204"/>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Shape 205"/>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 206"/>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0  </a:t>
            </a:r>
            <a:r>
              <a:rPr sz="70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1  </a:t>
            </a:r>
            <a:r>
              <a:rPr sz="700" b="1" i="0">
                <a:solidFill>
                  <a:srgbClr val="FFFFFE"/>
                </a:solidFill>
                <a:latin typeface="Trenda IG Text"/>
              </a:rPr>
              <a:t>PHI governance</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FFFFF"/>
                </a:solidFill>
                <a:latin typeface="Trenda IG Text"/>
              </a:rPr>
              <a:t>Collibra steward approves each dataset before ingest</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FFFFF"/>
                </a:solidFill>
                <a:latin typeface="Trenda IG Text"/>
              </a:rPr>
              <a:t>DLP classification, policy tags, masking, row access</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FFFFF"/>
                </a:solidFill>
                <a:latin typeface="Trenda IG Text"/>
              </a:rPr>
              <a:t>Separate service identities; fail-closed policy removal</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FFFFF"/>
                </a:solidFill>
                <a:latin typeface="Trenda IG Text"/>
              </a:rPr>
              <a:t>Negative-access tests</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Approved and tagged before ingest; zero unauthorized PHI access in tests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2  </a:t>
            </a:r>
            <a:r>
              <a:rPr sz="700" b="1" i="0">
                <a:solidFill>
                  <a:srgbClr val="FFFFFE"/>
                </a:solidFill>
                <a:latin typeface="Trenda IG Text"/>
              </a:rPr>
              <a:t>Data foundation</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 · 3 · 4 · 5 · 6</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420623"/>
          </a:xfrm>
          <a:prstGeom prst="rect">
            <a:avLst/>
          </a:prstGeom>
          <a:noFill/>
        </p:spPr>
        <p:txBody>
          <a:bodyPr wrap="square" lIns="0" rIns="0" tIns="0" bIns="0" anchor="t">
            <a:spAutoFit/>
          </a:bodyPr>
          <a:lstStyle/>
          <a:p>
            <a:r>
              <a:rPr sz="700" b="0" i="0">
                <a:solidFill>
                  <a:srgbClr val="FFFFFF"/>
                </a:solidFill>
                <a:latin typeface="Trenda IG Text"/>
              </a:rPr>
              <a:t>Approved, tagged sources into Bronze</a:t>
            </a:r>
          </a:p>
        </p:txBody>
      </p:sp>
      <p:sp>
        <p:nvSpPr>
          <p:cNvPr id="45" name="Shape 44"/>
          <p:cNvSpPr/>
          <p:nvPr/>
        </p:nvSpPr>
        <p:spPr>
          <a:xfrm>
            <a:off x="3771246"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596896"/>
            <a:ext cx="1304979" cy="420623"/>
          </a:xfrm>
          <a:prstGeom prst="rect">
            <a:avLst/>
          </a:prstGeom>
          <a:noFill/>
        </p:spPr>
        <p:txBody>
          <a:bodyPr wrap="square" lIns="0" rIns="0" tIns="0" bIns="0" anchor="t">
            <a:spAutoFit/>
          </a:bodyPr>
          <a:lstStyle/>
          <a:p>
            <a:r>
              <a:rPr sz="700" b="0" i="0">
                <a:solidFill>
                  <a:srgbClr val="FFFFFF"/>
                </a:solidFill>
                <a:latin typeface="Trenda IG Text"/>
              </a:rPr>
              <a:t>Silver: identities, encounters, contacts, consent; keeps everyone</a:t>
            </a:r>
          </a:p>
        </p:txBody>
      </p:sp>
      <p:sp>
        <p:nvSpPr>
          <p:cNvPr id="47" name="Shape 46"/>
          <p:cNvSpPr/>
          <p:nvPr/>
        </p:nvSpPr>
        <p:spPr>
          <a:xfrm>
            <a:off x="3771246"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035808"/>
            <a:ext cx="1304979" cy="420623"/>
          </a:xfrm>
          <a:prstGeom prst="rect">
            <a:avLst/>
          </a:prstGeom>
          <a:noFill/>
        </p:spPr>
        <p:txBody>
          <a:bodyPr wrap="square" lIns="0" rIns="0" tIns="0" bIns="0" anchor="t">
            <a:spAutoFit/>
          </a:bodyPr>
          <a:lstStyle/>
          <a:p>
            <a:r>
              <a:rPr sz="700" b="0" i="0">
                <a:solidFill>
                  <a:srgbClr val="FFFFFF"/>
                </a:solidFill>
                <a:latin typeface="Trenda IG Text"/>
              </a:rPr>
              <a:t>Gold B (restricted) and Gold A (aggregates)</a:t>
            </a:r>
          </a:p>
        </p:txBody>
      </p:sp>
      <p:sp>
        <p:nvSpPr>
          <p:cNvPr id="49" name="Shape 48"/>
          <p:cNvSpPr/>
          <p:nvPr/>
        </p:nvSpPr>
        <p:spPr>
          <a:xfrm>
            <a:off x="3771246"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80974" y="3474720"/>
            <a:ext cx="1304979" cy="420623"/>
          </a:xfrm>
          <a:prstGeom prst="rect">
            <a:avLst/>
          </a:prstGeom>
          <a:noFill/>
        </p:spPr>
        <p:txBody>
          <a:bodyPr wrap="square" lIns="0" rIns="0" tIns="0" bIns="0" anchor="t">
            <a:spAutoFit/>
          </a:bodyPr>
          <a:lstStyle/>
          <a:p>
            <a:r>
              <a:rPr sz="700" b="0" i="0">
                <a:solidFill>
                  <a:srgbClr val="FFFFFF"/>
                </a:solidFill>
                <a:latin typeface="Trenda IG Text"/>
              </a:rPr>
              <a:t>Synthetic data first</a:t>
            </a:r>
          </a:p>
        </p:txBody>
      </p:sp>
      <p:sp>
        <p:nvSpPr>
          <p:cNvPr id="51" name="Shape 50"/>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53" name="Shape 52"/>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3  </a:t>
            </a:r>
            <a:r>
              <a:rPr sz="700" b="1" i="0">
                <a:solidFill>
                  <a:srgbClr val="FFFFFE"/>
                </a:solidFill>
                <a:latin typeface="Trenda IG Text"/>
              </a:rPr>
              <a:t>Agentic intelligence</a:t>
            </a:r>
          </a:p>
        </p:txBody>
      </p:sp>
      <p:sp>
        <p:nvSpPr>
          <p:cNvPr id="55" name="Shape 54"/>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7" name="Shape 56"/>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6 → 7 · 8 · 9</a:t>
            </a:r>
          </a:p>
        </p:txBody>
      </p:sp>
      <p:sp>
        <p:nvSpPr>
          <p:cNvPr id="59" name="Shape 58"/>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Knowledge graph and Tableau on Gold A only</a:t>
            </a:r>
          </a:p>
        </p:txBody>
      </p:sp>
      <p:sp>
        <p:nvSpPr>
          <p:cNvPr id="61" name="Shape 60"/>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Codex prompt; Orchestrator, Strategist, Analytics</a:t>
            </a:r>
          </a:p>
        </p:txBody>
      </p:sp>
      <p:sp>
        <p:nvSpPr>
          <p:cNvPr id="63" name="Shape 62"/>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Opportunity Brief and G1</a:t>
            </a:r>
          </a:p>
        </p:txBody>
      </p:sp>
      <p:sp>
        <p:nvSpPr>
          <p:cNvPr id="65" name="Shape 64"/>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7" name="Shape 66"/>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4  </a:t>
            </a:r>
            <a:r>
              <a:rPr sz="700" b="1" i="0">
                <a:solidFill>
                  <a:srgbClr val="000000"/>
                </a:solidFill>
                <a:latin typeface="Trenda IG Text"/>
              </a:rPr>
              <a:t>Build + test</a:t>
            </a:r>
          </a:p>
        </p:txBody>
      </p:sp>
      <p:sp>
        <p:nvSpPr>
          <p:cNvPr id="69" name="Shape 68"/>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71" name="Shape 70"/>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10 · 11 · 12</a:t>
            </a:r>
          </a:p>
        </p:txBody>
      </p:sp>
      <p:sp>
        <p:nvSpPr>
          <p:cNvPr id="73" name="Shape 72"/>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FFFFF"/>
                </a:solidFill>
                <a:latin typeface="Trenda IG Text"/>
              </a:rPr>
              <a:t>Campaign Design Agent: journey + data extension, paused</a:t>
            </a:r>
          </a:p>
        </p:txBody>
      </p:sp>
      <p:sp>
        <p:nvSpPr>
          <p:cNvPr id="75" name="Shape 74"/>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FFFFF"/>
                </a:solidFill>
                <a:latin typeface="Trenda IG Text"/>
              </a:rPr>
              <a:t>Testing loop: test contacts, failure modes, 5-retry cap</a:t>
            </a:r>
          </a:p>
        </p:txBody>
      </p:sp>
      <p:sp>
        <p:nvSpPr>
          <p:cNvPr id="77" name="Shape 76"/>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FFFFF"/>
                </a:solidFill>
                <a:latin typeface="Trenda IG Text"/>
              </a:rPr>
              <a:t>G3 approval flow</a:t>
            </a:r>
          </a:p>
        </p:txBody>
      </p:sp>
      <p:sp>
        <p:nvSpPr>
          <p:cNvPr id="79" name="Shape 78"/>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81" name="Shape 80"/>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5  </a:t>
            </a:r>
            <a:r>
              <a:rPr sz="700" b="1" i="0">
                <a:solidFill>
                  <a:srgbClr val="000000"/>
                </a:solidFill>
                <a:latin typeface="Trenda IG Text"/>
              </a:rPr>
              <a:t>Governed activation</a:t>
            </a:r>
          </a:p>
        </p:txBody>
      </p:sp>
      <p:sp>
        <p:nvSpPr>
          <p:cNvPr id="83" name="Shape 82"/>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5" name="Shape 84"/>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13 → 19</a:t>
            </a:r>
          </a:p>
        </p:txBody>
      </p:sp>
      <p:sp>
        <p:nvSpPr>
          <p:cNvPr id="87" name="Shape 86"/>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FFFFF"/>
                </a:solidFill>
                <a:latin typeface="Trenda IG Text"/>
              </a:rPr>
              <a:t>Eligibility service on Gold B</a:t>
            </a:r>
          </a:p>
        </p:txBody>
      </p:sp>
      <p:sp>
        <p:nvSpPr>
          <p:cNvPr id="89" name="Shape 88"/>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FFFFF"/>
                </a:solidFill>
                <a:latin typeface="Trenda IG Text"/>
              </a:rPr>
              <a:t>G2 masked pre-send report</a:t>
            </a:r>
          </a:p>
        </p:txBody>
      </p:sp>
      <p:sp>
        <p:nvSpPr>
          <p:cNvPr id="91" name="Shape 90"/>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FFFFF"/>
                </a:solidFill>
                <a:latin typeface="Trenda IG Text"/>
              </a:rPr>
              <a:t>Gateway + Compliance Passport</a:t>
            </a:r>
          </a:p>
        </p:txBody>
      </p:sp>
      <p:sp>
        <p:nvSpPr>
          <p:cNvPr id="93" name="Shape 92"/>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FFFFF"/>
                </a:solidFill>
                <a:latin typeface="Trenda IG Text"/>
              </a:rPr>
              <a:t>Path A (Data Cloud) first; Path B after parity</a:t>
            </a:r>
          </a:p>
        </p:txBody>
      </p:sp>
      <p:sp>
        <p:nvSpPr>
          <p:cNvPr id="95" name="Shape 94"/>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FFFFF"/>
                </a:solidFill>
                <a:latin typeface="Trenda IG Text"/>
              </a:rPr>
              <a:t>Pilot: synthetic, then a small real audience</a:t>
            </a:r>
          </a:p>
        </p:txBody>
      </p:sp>
      <p:sp>
        <p:nvSpPr>
          <p:cNvPr id="97" name="Shape 96"/>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9" name="Shape 98"/>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6  </a:t>
            </a:r>
            <a:r>
              <a:rPr sz="700" b="1" i="0">
                <a:solidFill>
                  <a:srgbClr val="000000"/>
                </a:solidFill>
                <a:latin typeface="Trenda IG Text"/>
              </a:rPr>
              <a:t>Measure + scale</a:t>
            </a:r>
          </a:p>
        </p:txBody>
      </p:sp>
      <p:sp>
        <p:nvSpPr>
          <p:cNvPr id="101" name="Shape 100"/>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3" name="Shape 102"/>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20 + feedback</a:t>
            </a:r>
          </a:p>
        </p:txBody>
      </p:sp>
      <p:sp>
        <p:nvSpPr>
          <p:cNvPr id="105" name="Shape 104"/>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Measurement vs holdout; refresh Gold A</a:t>
            </a:r>
          </a:p>
        </p:txBody>
      </p:sp>
      <p:sp>
        <p:nvSpPr>
          <p:cNvPr id="107" name="Shape 106"/>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Compare with the Phase 0 baseline: first real speed and ROI</a:t>
            </a:r>
          </a:p>
        </p:txBody>
      </p:sp>
      <p:sp>
        <p:nvSpPr>
          <p:cNvPr id="109" name="Shape 108"/>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More templates, Path B, monitoring, multi-tenancy</a:t>
            </a:r>
          </a:p>
        </p:txBody>
      </p:sp>
      <p:sp>
        <p:nvSpPr>
          <p:cNvPr id="111" name="Shape 110"/>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3" name="Shape 112"/>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F0069"/>
                </a:solidFill>
                <a:latin typeface="Trenda IG Text"/>
              </a:rPr>
              <a:t>PHASES 1 + 2 RUN PARTLY IN PARALLEL</a:t>
            </a:r>
          </a:p>
        </p:txBody>
      </p:sp>
      <p:sp>
        <p:nvSpPr>
          <p:cNvPr id="115" name="Shape 114"/>
          <p:cNvSpPr/>
          <p:nvPr/>
        </p:nvSpPr>
        <p:spPr>
          <a:xfrm>
            <a:off x="3103734"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3103734" y="1097280"/>
            <a:ext cx="914400" cy="146304"/>
          </a:xfrm>
          <a:prstGeom prst="rect">
            <a:avLst/>
          </a:prstGeom>
          <a:noFill/>
        </p:spPr>
        <p:txBody>
          <a:bodyPr wrap="square" lIns="0" rIns="0" tIns="0" bIns="0" anchor="ctr">
            <a:spAutoFit/>
          </a:bodyPr>
          <a:lstStyle/>
          <a:p>
            <a:pPr algn="ctr"/>
            <a:r>
              <a:rPr sz="700" b="1" i="0" spc="80">
                <a:solidFill>
                  <a:srgbClr val="FFFFFE"/>
                </a:solidFill>
                <a:latin typeface="Trenda IG Text"/>
              </a:rPr>
              <a:t>HARD GATE</a:t>
            </a:r>
          </a:p>
        </p:txBody>
      </p:sp>
      <p:sp>
        <p:nvSpPr>
          <p:cNvPr id="117" name="Shape 116"/>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F0069"/>
                </a:solidFill>
                <a:latin typeface="Trenda IG Text"/>
              </a:rPr>
              <a:t>SYNTHETIC GOLD A FIRST</a:t>
            </a:r>
          </a:p>
        </p:txBody>
      </p:sp>
      <p:sp>
        <p:nvSpPr>
          <p:cNvPr id="119" name="Shape 118"/>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000000"/>
                </a:solidFill>
                <a:latin typeface="Trenda IG Text"/>
              </a:rPr>
              <a:t>FIRST REAL PATIENTS</a:t>
            </a:r>
          </a:p>
        </p:txBody>
      </p:sp>
      <p:sp>
        <p:nvSpPr>
          <p:cNvPr id="121" name="Text 120"/>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FFFFF"/>
                </a:solidFill>
                <a:latin typeface="Trenda IG Text"/>
              </a:rPr>
              <a:t>THREE RULES SET THIS ORDER</a:t>
            </a:r>
          </a:p>
        </p:txBody>
      </p:sp>
      <p:sp>
        <p:nvSpPr>
          <p:cNvPr id="122" name="Shape 121"/>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data lands and no agent connects until governance passes its tests (Phase 1 exit).</a:t>
            </a:r>
          </a:p>
        </p:txBody>
      </p:sp>
      <p:sp>
        <p:nvSpPr>
          <p:cNvPr id="125" name="Shape 124"/>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8" name="Shape 127"/>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31" name="Text 130"/>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FFFFF"/>
                </a:solidFill>
                <a:latin typeface="Trenda IG Text"/>
              </a:rPr>
              <a:t>Nothing in Phase 5 touches real patients until Phases 1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9 steps in sequence. </a:t>
            </a:r>
            <a:r>
              <a:rPr sz="700" b="1" i="0">
                <a:solidFill>
                  <a:srgbClr val="FF0069"/>
                </a:solidFill>
                <a:latin typeface="Trenda IG Text"/>
              </a:rPr>
              <a:t>~40 days</a:t>
            </a:r>
            <a:r>
              <a:rPr sz="700" b="0" i="0">
                <a:solidFill>
                  <a:srgbClr val="B3B3B3"/>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Discovery &amp; PRD</a:t>
            </a:r>
          </a:p>
          <a:p>
            <a:r>
              <a:rPr sz="700" b="0" i="0">
                <a:solidFill>
                  <a:srgbClr val="B3B3B3"/>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ADSI data readiness</a:t>
            </a:r>
          </a:p>
          <a:p>
            <a:r>
              <a:rPr sz="700" b="0" i="0">
                <a:solidFill>
                  <a:srgbClr val="B3B3B3"/>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Data Cloud ingestion</a:t>
            </a:r>
          </a:p>
          <a:p>
            <a:r>
              <a:rPr sz="700" b="0" i="0">
                <a:solidFill>
                  <a:srgbClr val="B3B3B3"/>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Segment &amp; activation</a:t>
            </a:r>
          </a:p>
          <a:p>
            <a:r>
              <a:rPr sz="700" b="0" i="0">
                <a:solidFill>
                  <a:srgbClr val="B3B3B3"/>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SFMC data prep</a:t>
            </a:r>
          </a:p>
          <a:p>
            <a:r>
              <a:rPr sz="700" b="0" i="0">
                <a:solidFill>
                  <a:srgbClr val="B3B3B3"/>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FFFFFE"/>
                </a:solidFill>
                <a:latin typeface="Trenda IG Text"/>
              </a:rPr>
              <a:t>14d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Journey Builder build</a:t>
            </a:r>
          </a:p>
          <a:p>
            <a:r>
              <a:rPr sz="700" b="0" i="0">
                <a:solidFill>
                  <a:srgbClr val="B3B3B3"/>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Testing &amp; UAT</a:t>
            </a:r>
          </a:p>
          <a:p>
            <a:r>
              <a:rPr sz="700" b="0" i="0">
                <a:solidFill>
                  <a:srgbClr val="B3B3B3"/>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Deploy &amp; go-live</a:t>
            </a:r>
          </a:p>
          <a:p>
            <a:r>
              <a:rPr sz="700" b="0" i="0">
                <a:solidFill>
                  <a:srgbClr val="B3B3B3"/>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F2F2F2"/>
                </a:solidFill>
                <a:latin typeface="Trenda IG Text"/>
              </a:rPr>
              <a:t>Prompt → Opportunity Brief · G1</a:t>
            </a:r>
          </a:p>
          <a:p>
            <a:r>
              <a:rPr sz="700" b="0" i="0">
                <a:solidFill>
                  <a:srgbClr val="B3B3B3"/>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F2F2F2"/>
                </a:solidFill>
                <a:latin typeface="Trenda IG Text"/>
              </a:rPr>
              <a:t>Data ready</a:t>
            </a:r>
          </a:p>
          <a:p>
            <a:r>
              <a:rPr sz="700" b="0" i="0">
                <a:solidFill>
                  <a:srgbClr val="B3B3B3"/>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F2F2F2"/>
                </a:solidFill>
                <a:latin typeface="Trenda IG Text"/>
              </a:rPr>
              <a:t>Eligibility rule</a:t>
            </a:r>
          </a:p>
          <a:p>
            <a:r>
              <a:rPr sz="700" b="0" i="0">
                <a:solidFill>
                  <a:srgbClr val="B3B3B3"/>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F2F2F2"/>
                </a:solidFill>
                <a:latin typeface="Trenda IG Text"/>
              </a:rPr>
              <a:t>Journey + data extension build</a:t>
            </a:r>
          </a:p>
          <a:p>
            <a:r>
              <a:rPr sz="700" b="0" i="0">
                <a:solidFill>
                  <a:srgbClr val="B3B3B3"/>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F2F2F2"/>
                </a:solidFill>
                <a:latin typeface="Trenda IG Text"/>
              </a:rPr>
              <a:t>Testing on test contacts · G3</a:t>
            </a:r>
          </a:p>
          <a:p>
            <a:r>
              <a:rPr sz="700" b="0" i="0">
                <a:solidFill>
                  <a:srgbClr val="B3B3B3"/>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F2F2F2"/>
                </a:solidFill>
                <a:latin typeface="Trenda IG Text"/>
              </a:rPr>
              <a:t>Pre-send review G2 + release</a:t>
            </a:r>
          </a:p>
          <a:p>
            <a:r>
              <a:rPr sz="700" b="0" i="0">
                <a:solidFill>
                  <a:srgbClr val="B3B3B3"/>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F2F2F2"/>
                </a:solidFill>
                <a:latin typeface="Trenda IG Text"/>
              </a:rPr>
              <a:t>Go live</a:t>
            </a:r>
          </a:p>
          <a:p>
            <a:r>
              <a:rPr sz="700" b="0" i="0">
                <a:solidFill>
                  <a:srgbClr val="B3B3B3"/>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FFD700"/>
                </a:solidFill>
                <a:latin typeface="Trenda IG Text"/>
              </a:rPr>
              <a:t>Legal review is now the critical path. </a:t>
            </a:r>
            <a:r>
              <a:rPr sz="700" b="0" i="0">
                <a:solidFill>
                  <a:srgbClr val="B3B3B3"/>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to launch</a:t>
            </a:r>
          </a:p>
          <a:p>
            <a:r>
              <a:rPr sz="700" b="0" i="0">
                <a:solidFill>
                  <a:srgbClr val="B3B3B3"/>
                </a:solidFill>
                <a:latin typeface="Trenda IG Text"/>
              </a:rPr>
              <a:t>90 to ~10-12 days</a:t>
            </a:r>
          </a:p>
        </p:txBody>
      </p:sp>
      <p:sp>
        <p:nvSpPr>
          <p:cNvPr id="96" name="Shape 96"/>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data preparation per campaign</a:t>
            </a:r>
          </a:p>
          <a:p>
            <a:r>
              <a:rPr sz="700" b="0" i="0">
                <a:solidFill>
                  <a:srgbClr val="B3B3B3"/>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campaign agents</a:t>
            </a:r>
          </a:p>
          <a:p>
            <a:r>
              <a:rPr sz="700" b="0" i="0">
                <a:solidFill>
                  <a:srgbClr val="B3B3B3"/>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Approved articles keep every answer accurate. Patient actions go through the Verified Patient Action Engine after a quick check; emergencies go straight to 911 or a nurse.</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at once</a:t>
            </a:r>
          </a:p>
          <a:p>
            <a:pPr>
              <a:spcAft>
                <a:spcPts val="100"/>
              </a:spcAft>
            </a:pPr>
            <a:r>
              <a:rPr sz="700" b="0" i="0">
                <a:solidFill>
                  <a:srgbClr val="B3B3B3"/>
                </a:solidFill>
                <a:latin typeface="Trenda IG Text"/>
              </a:rPr>
              <a:t>emergencies to 911 or a nurse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patient token · Verified Patient Action Engine</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Same semantic layer and knowledge graph as campaigns; synced to Sierra on every change.</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46304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060704" cy="237744"/>
          </a:xfrm>
          <a:prstGeom prst="rect">
            <a:avLst/>
          </a:prstGeom>
          <a:noFill/>
        </p:spPr>
        <p:txBody>
          <a:bodyPr wrap="square" lIns="0" rIns="0" tIns="0" bIns="0" anchor="ctr">
            <a:spAutoFit/>
          </a:bodyPr>
          <a:lstStyle/>
          <a:p>
            <a:r>
              <a:rPr sz="700" b="1" i="0">
                <a:solidFill>
                  <a:srgbClr val="FFD700"/>
                </a:solidFill>
                <a:latin typeface="Trenda IG Text"/>
              </a:rPr>
              <a:t>Identity + verification</a:t>
            </a:r>
          </a:p>
        </p:txBody>
      </p:sp>
      <p:sp>
        <p:nvSpPr>
          <p:cNvPr id="66" name="Text 61"/>
          <p:cNvSpPr txBox="1"/>
          <p:nvPr/>
        </p:nvSpPr>
        <p:spPr>
          <a:xfrm>
            <a:off x="2670048" y="4050792"/>
            <a:ext cx="1298448" cy="548640"/>
          </a:xfrm>
          <a:prstGeom prst="rect">
            <a:avLst/>
          </a:prstGeom>
          <a:noFill/>
        </p:spPr>
        <p:txBody>
          <a:bodyPr wrap="square" lIns="0" rIns="0" tIns="0" bIns="0" anchor="t">
            <a:spAutoFit/>
          </a:bodyPr>
          <a:lstStyle/>
          <a:p>
            <a:r>
              <a:rPr sz="700" b="0" i="0">
                <a:solidFill>
                  <a:srgbClr val="B3B3B3"/>
                </a:solidFill>
                <a:latin typeface="Trenda IG Text"/>
              </a:rPr>
              <a:t>Caller ID on file + date of birth, in seconds; step-up only if needed.</a:t>
            </a:r>
          </a:p>
        </p:txBody>
      </p:sp>
      <p:sp>
        <p:nvSpPr>
          <p:cNvPr id="67" name="Differentiator Border 63"/>
          <p:cNvSpPr/>
          <p:nvPr/>
        </p:nvSpPr>
        <p:spPr>
          <a:xfrm>
            <a:off x="4224528" y="3721608"/>
            <a:ext cx="2377440" cy="42062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242816" y="3739896"/>
            <a:ext cx="2340864" cy="3840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315968" y="3739896"/>
            <a:ext cx="2194560"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Action Engine · scheduling</a:t>
            </a:r>
          </a:p>
          <a:p>
            <a:pPr>
              <a:spcAft>
                <a:spcPts val="100"/>
              </a:spcAft>
            </a:pPr>
            <a:r>
              <a:rPr sz="700" b="0" i="0">
                <a:solidFill>
                  <a:srgbClr val="B3B3B3"/>
                </a:solidFill>
                <a:latin typeface="Trenda IG Text"/>
              </a:rPr>
              <a:t>SearchAvailableSlots, Reschedule; this patient only.</a:t>
            </a:r>
          </a:p>
        </p:txBody>
      </p:sp>
      <p:sp>
        <p:nvSpPr>
          <p:cNvPr id="70" name="Shape 66"/>
          <p:cNvSpPr/>
          <p:nvPr/>
        </p:nvSpPr>
        <p:spPr>
          <a:xfrm>
            <a:off x="6784848" y="3721608"/>
            <a:ext cx="2194560" cy="42062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67"/>
          <p:cNvSpPr/>
          <p:nvPr/>
        </p:nvSpPr>
        <p:spPr>
          <a:xfrm>
            <a:off x="6876288" y="3840480"/>
            <a:ext cx="384048"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8"/>
          <p:cNvSpPr txBox="1"/>
          <p:nvPr/>
        </p:nvSpPr>
        <p:spPr>
          <a:xfrm>
            <a:off x="6876288" y="3840480"/>
            <a:ext cx="384048"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3" name="Text 69"/>
          <p:cNvSpPr txBox="1"/>
          <p:nvPr/>
        </p:nvSpPr>
        <p:spPr>
          <a:xfrm>
            <a:off x="7333488" y="3739896"/>
            <a:ext cx="1591056"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Scheduling system of record</a:t>
            </a:r>
          </a:p>
          <a:p>
            <a:pPr>
              <a:spcAft>
                <a:spcPts val="100"/>
              </a:spcAft>
            </a:pPr>
            <a:r>
              <a:rPr sz="700" b="0" i="0">
                <a:solidFill>
                  <a:srgbClr val="B3B3B3"/>
                </a:solidFill>
                <a:latin typeface="Trenda IG Text"/>
              </a:rPr>
              <a:t>Book, cancel, reschedule written here.</a:t>
            </a:r>
          </a:p>
        </p:txBody>
      </p:sp>
      <p:cxnSp>
        <p:nvCxnSpPr>
          <p:cNvPr id="74" name="Arrow 70"/>
          <p:cNvCxnSpPr/>
          <p:nvPr/>
        </p:nvCxnSpPr>
        <p:spPr>
          <a:xfrm>
            <a:off x="4041648" y="3931920"/>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Arrow 71"/>
          <p:cNvCxnSpPr/>
          <p:nvPr/>
        </p:nvCxnSpPr>
        <p:spPr>
          <a:xfrm>
            <a:off x="6601968" y="387705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2"/>
          <p:cNvCxnSpPr/>
          <p:nvPr/>
        </p:nvCxnSpPr>
        <p:spPr>
          <a:xfrm flipH="1">
            <a:off x="6601968" y="3986784"/>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3"/>
          <p:cNvSpPr/>
          <p:nvPr/>
        </p:nvSpPr>
        <p:spPr>
          <a:xfrm>
            <a:off x="4224528" y="4215384"/>
            <a:ext cx="2377440" cy="420624"/>
          </a:xfrm>
          <a:prstGeom prst="roundRect">
            <a:avLst>
              <a:gd name="adj" fmla="val 8000"/>
            </a:avLst>
          </a:prstGeom>
          <a:solidFill>
            <a:srgbClr val="141414"/>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4"/>
          <p:cNvSpPr txBox="1"/>
          <p:nvPr/>
        </p:nvSpPr>
        <p:spPr>
          <a:xfrm>
            <a:off x="4315968" y="4233672"/>
            <a:ext cx="2194560"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Action Engine · patient context</a:t>
            </a:r>
          </a:p>
          <a:p>
            <a:pPr>
              <a:spcAft>
                <a:spcPts val="100"/>
              </a:spcAft>
            </a:pPr>
            <a:r>
              <a:rPr sz="700" b="0" i="0">
                <a:solidFill>
                  <a:srgbClr val="B3B3B3"/>
                </a:solidFill>
                <a:latin typeface="Trenda IG Text"/>
              </a:rPr>
              <a:t>GetPatientContext: campaign status, consent; no lists.</a:t>
            </a:r>
          </a:p>
        </p:txBody>
      </p:sp>
      <p:sp>
        <p:nvSpPr>
          <p:cNvPr id="79" name="Shape 75"/>
          <p:cNvSpPr/>
          <p:nvPr/>
        </p:nvSpPr>
        <p:spPr>
          <a:xfrm>
            <a:off x="6784848" y="4215384"/>
            <a:ext cx="2194560" cy="42062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6"/>
          <p:cNvSpPr/>
          <p:nvPr/>
        </p:nvSpPr>
        <p:spPr>
          <a:xfrm>
            <a:off x="6876288" y="4334256"/>
            <a:ext cx="493776"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7"/>
          <p:cNvSpPr txBox="1"/>
          <p:nvPr/>
        </p:nvSpPr>
        <p:spPr>
          <a:xfrm>
            <a:off x="6876288" y="4334256"/>
            <a:ext cx="493776" cy="182880"/>
          </a:xfrm>
          <a:prstGeom prst="rect">
            <a:avLst/>
          </a:prstGeom>
          <a:noFill/>
        </p:spPr>
        <p:txBody>
          <a:bodyPr wrap="square" lIns="0" rIns="0" tIns="0" bIns="0" anchor="ctr">
            <a:spAutoFit/>
          </a:bodyPr>
          <a:lstStyle/>
          <a:p>
            <a:pPr algn="ctr"/>
            <a:r>
              <a:rPr sz="700" b="1" i="0">
                <a:solidFill>
                  <a:srgbClr val="F2F2F2"/>
                </a:solidFill>
                <a:latin typeface="Trenda IG Text"/>
              </a:rPr>
              <a:t>Gold B</a:t>
            </a:r>
          </a:p>
        </p:txBody>
      </p:sp>
      <p:sp>
        <p:nvSpPr>
          <p:cNvPr id="82" name="Text 78"/>
          <p:cNvSpPr txBox="1"/>
          <p:nvPr/>
        </p:nvSpPr>
        <p:spPr>
          <a:xfrm>
            <a:off x="7443216" y="4233672"/>
            <a:ext cx="1481328"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Restricted patient layer</a:t>
            </a:r>
          </a:p>
          <a:p>
            <a:pPr>
              <a:spcAft>
                <a:spcPts val="100"/>
              </a:spcAft>
            </a:pPr>
            <a:r>
              <a:rPr sz="700" b="0" i="0">
                <a:solidFill>
                  <a:srgbClr val="B3B3B3"/>
                </a:solidFill>
                <a:latin typeface="Trenda IG Text"/>
              </a:rPr>
              <a:t>Read-only, for this verified call.</a:t>
            </a:r>
          </a:p>
        </p:txBody>
      </p:sp>
      <p:cxnSp>
        <p:nvCxnSpPr>
          <p:cNvPr id="83" name="Arrow 79"/>
          <p:cNvCxnSpPr/>
          <p:nvPr/>
        </p:nvCxnSpPr>
        <p:spPr>
          <a:xfrm>
            <a:off x="4041648" y="4425696"/>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80"/>
          <p:cNvCxnSpPr/>
          <p:nvPr/>
        </p:nvCxnSpPr>
        <p:spPr>
          <a:xfrm>
            <a:off x="6601968" y="4370832"/>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81"/>
          <p:cNvCxnSpPr/>
          <p:nvPr/>
        </p:nvCxnSpPr>
        <p:spPr>
          <a:xfrm flipH="1">
            <a:off x="6601968" y="448056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Arrow 82"/>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 83"/>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ENGINE</a:t>
            </a:r>
          </a:p>
        </p:txBody>
      </p:sp>
      <p:sp>
        <p:nvSpPr>
          <p:cNvPr id="88" name="Shape 84"/>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5"/>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90" name="Shape 86"/>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7"/>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92" name="Shape 88"/>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94" name="Shape 90"/>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1"/>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96" name="Shape 92"/>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3"/>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8" name="Shape 94"/>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5"/>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6"/>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101" name="Shape 97"/>
          <p:cNvSpPr/>
          <p:nvPr/>
        </p:nvSpPr>
        <p:spPr>
          <a:xfrm>
            <a:off x="9299448" y="1536192"/>
            <a:ext cx="2368296" cy="64008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people.png"/>
          <p:cNvPicPr>
            <a:picLocks noChangeAspect="1"/>
          </p:cNvPicPr>
          <p:nvPr/>
        </p:nvPicPr>
        <p:blipFill>
          <a:blip r:embed="rId2"/>
          <a:stretch>
            <a:fillRect/>
          </a:stretch>
        </p:blipFill>
        <p:spPr>
          <a:xfrm>
            <a:off x="9390888" y="1609344"/>
            <a:ext cx="182880" cy="182880"/>
          </a:xfrm>
          <a:prstGeom prst="rect">
            <a:avLst/>
          </a:prstGeom>
        </p:spPr>
      </p:pic>
      <p:sp>
        <p:nvSpPr>
          <p:cNvPr id="103" name="Text 98"/>
          <p:cNvSpPr txBox="1"/>
          <p:nvPr/>
        </p:nvSpPr>
        <p:spPr>
          <a:xfrm>
            <a:off x="9628632" y="1581912"/>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104" name="Text 99"/>
          <p:cNvSpPr txBox="1"/>
          <p:nvPr/>
        </p:nvSpPr>
        <p:spPr>
          <a:xfrm>
            <a:off x="9390888" y="1865376"/>
            <a:ext cx="2203703" cy="274319"/>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105" name="Shape 100"/>
          <p:cNvSpPr/>
          <p:nvPr/>
        </p:nvSpPr>
        <p:spPr>
          <a:xfrm>
            <a:off x="9299448" y="2249424"/>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1"/>
          <p:cNvSpPr txBox="1"/>
          <p:nvPr/>
        </p:nvSpPr>
        <p:spPr>
          <a:xfrm>
            <a:off x="9390888" y="230428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7" name="Text 102"/>
          <p:cNvSpPr txBox="1"/>
          <p:nvPr/>
        </p:nvSpPr>
        <p:spPr>
          <a:xfrm>
            <a:off x="9390888" y="2532888"/>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8" name="Shape 103"/>
          <p:cNvSpPr/>
          <p:nvPr/>
        </p:nvSpPr>
        <p:spPr>
          <a:xfrm>
            <a:off x="9299448" y="2962656"/>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9390888" y="3017520"/>
            <a:ext cx="2203704" cy="201168"/>
          </a:xfrm>
          <a:prstGeom prst="rect">
            <a:avLst/>
          </a:prstGeom>
          <a:noFill/>
        </p:spPr>
        <p:txBody>
          <a:bodyPr wrap="square" lIns="0" rIns="0" tIns="0" bIns="0" anchor="ctr">
            <a:spAutoFit/>
          </a:bodyPr>
          <a:lstStyle/>
          <a:p>
            <a:r>
              <a:rPr sz="700" b="1" i="0">
                <a:solidFill>
                  <a:srgbClr val="F2F2F2"/>
                </a:solidFill>
                <a:latin typeface="Trenda IG Text"/>
              </a:rPr>
              <a:t>Opt-outs at once</a:t>
            </a:r>
          </a:p>
        </p:txBody>
      </p:sp>
      <p:sp>
        <p:nvSpPr>
          <p:cNvPr id="110" name="Text 105"/>
          <p:cNvSpPr txBox="1"/>
          <p:nvPr/>
        </p:nvSpPr>
        <p:spPr>
          <a:xfrm>
            <a:off x="9390888" y="3246120"/>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 caller who says stop: the consent of record updates immediately.</a:t>
            </a:r>
          </a:p>
        </p:txBody>
      </p:sp>
      <p:sp>
        <p:nvSpPr>
          <p:cNvPr id="111" name="Shape 106"/>
          <p:cNvSpPr/>
          <p:nvPr/>
        </p:nvSpPr>
        <p:spPr>
          <a:xfrm>
            <a:off x="9299448" y="3675888"/>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2" name="Picture 111" descr="googlebigquery.png"/>
          <p:cNvPicPr>
            <a:picLocks noChangeAspect="1"/>
          </p:cNvPicPr>
          <p:nvPr/>
        </p:nvPicPr>
        <p:blipFill>
          <a:blip r:embed="rId4"/>
          <a:stretch>
            <a:fillRect/>
          </a:stretch>
        </p:blipFill>
        <p:spPr>
          <a:xfrm>
            <a:off x="9390888" y="3739896"/>
            <a:ext cx="182880" cy="182880"/>
          </a:xfrm>
          <a:prstGeom prst="rect">
            <a:avLst/>
          </a:prstGeom>
        </p:spPr>
      </p:pic>
      <p:sp>
        <p:nvSpPr>
          <p:cNvPr id="113" name="Text 107"/>
          <p:cNvSpPr txBox="1"/>
          <p:nvPr/>
        </p:nvSpPr>
        <p:spPr>
          <a:xfrm>
            <a:off x="9628632" y="3730752"/>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 Gold B → Gold A</a:t>
            </a:r>
          </a:p>
        </p:txBody>
      </p:sp>
      <p:sp>
        <p:nvSpPr>
          <p:cNvPr id="114" name="Text 108"/>
          <p:cNvSpPr txBox="1"/>
          <p:nvPr/>
        </p:nvSpPr>
        <p:spPr>
          <a:xfrm>
            <a:off x="9390888" y="3959352"/>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Per call into Gold B; aggregates into Gold A for measurement.</a:t>
            </a:r>
          </a:p>
        </p:txBody>
      </p:sp>
      <p:sp>
        <p:nvSpPr>
          <p:cNvPr id="115" name="Shape 109"/>
          <p:cNvSpPr/>
          <p:nvPr/>
        </p:nvSpPr>
        <p:spPr>
          <a:xfrm>
            <a:off x="9299448" y="4389120"/>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390888" y="4443984"/>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17" name="Text 111"/>
          <p:cNvSpPr txBox="1"/>
          <p:nvPr/>
        </p:nvSpPr>
        <p:spPr>
          <a:xfrm>
            <a:off x="9390888" y="4672584"/>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18" name="Text 11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19" name="Shape 113"/>
          <p:cNvSpPr/>
          <p:nvPr/>
        </p:nvSpPr>
        <p:spPr>
          <a:xfrm>
            <a:off x="1645920"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5"/>
          <p:cNvSpPr txBox="1"/>
          <p:nvPr/>
        </p:nvSpPr>
        <p:spPr>
          <a:xfrm>
            <a:off x="1792224"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22" name="Shape 116"/>
          <p:cNvSpPr/>
          <p:nvPr/>
        </p:nvSpPr>
        <p:spPr>
          <a:xfrm>
            <a:off x="3106347"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7"/>
          <p:cNvSpPr/>
          <p:nvPr/>
        </p:nvSpPr>
        <p:spPr>
          <a:xfrm>
            <a:off x="310634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8"/>
          <p:cNvSpPr txBox="1"/>
          <p:nvPr/>
        </p:nvSpPr>
        <p:spPr>
          <a:xfrm>
            <a:off x="3252651"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Verified in seconds</a:t>
            </a:r>
          </a:p>
          <a:p>
            <a:pPr>
              <a:spcAft>
                <a:spcPts val="100"/>
              </a:spcAft>
            </a:pPr>
            <a:r>
              <a:rPr sz="700" b="0" i="0">
                <a:solidFill>
                  <a:srgbClr val="B3B3B3"/>
                </a:solidFill>
                <a:latin typeface="Trenda IG Text"/>
              </a:rPr>
              <a:t>no SMS wait; step-up if needed</a:t>
            </a:r>
          </a:p>
        </p:txBody>
      </p:sp>
      <p:sp>
        <p:nvSpPr>
          <p:cNvPr id="125" name="Shape 119"/>
          <p:cNvSpPr/>
          <p:nvPr/>
        </p:nvSpPr>
        <p:spPr>
          <a:xfrm>
            <a:off x="4566774"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0"/>
          <p:cNvSpPr/>
          <p:nvPr/>
        </p:nvSpPr>
        <p:spPr>
          <a:xfrm>
            <a:off x="456677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1"/>
          <p:cNvSpPr txBox="1"/>
          <p:nvPr/>
        </p:nvSpPr>
        <p:spPr>
          <a:xfrm>
            <a:off x="4713078"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28" name="Shape 122"/>
          <p:cNvSpPr/>
          <p:nvPr/>
        </p:nvSpPr>
        <p:spPr>
          <a:xfrm>
            <a:off x="6027202"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3"/>
          <p:cNvSpPr/>
          <p:nvPr/>
        </p:nvSpPr>
        <p:spPr>
          <a:xfrm>
            <a:off x="602720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4"/>
          <p:cNvSpPr txBox="1"/>
          <p:nvPr/>
        </p:nvSpPr>
        <p:spPr>
          <a:xfrm>
            <a:off x="6173506"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engine</a:t>
            </a:r>
          </a:p>
          <a:p>
            <a:pPr>
              <a:spcAft>
                <a:spcPts val="100"/>
              </a:spcAft>
            </a:pPr>
            <a:r>
              <a:rPr sz="700" b="0" i="0">
                <a:solidFill>
                  <a:srgbClr val="B3B3B3"/>
                </a:solidFill>
                <a:latin typeface="Trenda IG Text"/>
              </a:rPr>
              <a:t>not only in an article</a:t>
            </a:r>
          </a:p>
        </p:txBody>
      </p:sp>
      <p:sp>
        <p:nvSpPr>
          <p:cNvPr id="131" name="Shape 125"/>
          <p:cNvSpPr/>
          <p:nvPr/>
        </p:nvSpPr>
        <p:spPr>
          <a:xfrm>
            <a:off x="7487629"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6"/>
          <p:cNvSpPr/>
          <p:nvPr/>
        </p:nvSpPr>
        <p:spPr>
          <a:xfrm>
            <a:off x="7487629"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7"/>
          <p:cNvSpPr txBox="1"/>
          <p:nvPr/>
        </p:nvSpPr>
        <p:spPr>
          <a:xfrm>
            <a:off x="7633933"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34" name="Shape 128"/>
          <p:cNvSpPr/>
          <p:nvPr/>
        </p:nvSpPr>
        <p:spPr>
          <a:xfrm>
            <a:off x="8948057"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9"/>
          <p:cNvSpPr/>
          <p:nvPr/>
        </p:nvSpPr>
        <p:spPr>
          <a:xfrm>
            <a:off x="894805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0"/>
          <p:cNvSpPr txBox="1"/>
          <p:nvPr/>
        </p:nvSpPr>
        <p:spPr>
          <a:xfrm>
            <a:off x="9094361"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37" name="Shape 131"/>
          <p:cNvSpPr/>
          <p:nvPr/>
        </p:nvSpPr>
        <p:spPr>
          <a:xfrm>
            <a:off x="10408484"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Shape 132"/>
          <p:cNvSpPr/>
          <p:nvPr/>
        </p:nvSpPr>
        <p:spPr>
          <a:xfrm>
            <a:off x="104084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3"/>
          <p:cNvSpPr txBox="1"/>
          <p:nvPr/>
        </p:nvSpPr>
        <p:spPr>
          <a:xfrm>
            <a:off x="10554788"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Emergencies never wait</a:t>
            </a:r>
          </a:p>
          <a:p>
            <a:pPr>
              <a:spcAft>
                <a:spcPts val="100"/>
              </a:spcAft>
            </a:pPr>
            <a:r>
              <a:rPr sz="700" b="0" i="0">
                <a:solidFill>
                  <a:srgbClr val="B3B3B3"/>
                </a:solidFill>
                <a:latin typeface="Trenda IG Text"/>
              </a:rPr>
              <a:t>911 or a nurse; no check</a:t>
            </a:r>
          </a:p>
        </p:txBody>
      </p:sp>
      <p:sp>
        <p:nvSpPr>
          <p:cNvPr id="140"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FACTORY</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000000"/>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8C8C8C"/>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B3B3B3"/>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D6F2"/>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896112" cy="292608"/>
          </a:xfrm>
          <a:prstGeom prst="rect">
            <a:avLst/>
          </a:prstGeom>
          <a:noFill/>
        </p:spPr>
        <p:txBody>
          <a:bodyPr wrap="square" lIns="0" rIns="0" tIns="0" bIns="0" anchor="ctr">
            <a:spAutoFit/>
          </a:bodyPr>
          <a:lstStyle/>
          <a:p>
            <a:pPr algn="ctr"/>
            <a:r>
              <a:rPr sz="700" b="1" i="0">
                <a:solidFill>
                  <a:srgbClr val="F2F2F2"/>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472184" y="2249424"/>
            <a:ext cx="896112" cy="292608"/>
          </a:xfrm>
          <a:prstGeom prst="rect">
            <a:avLst/>
          </a:prstGeom>
          <a:noFill/>
        </p:spPr>
        <p:txBody>
          <a:bodyPr wrap="square" lIns="0" rIns="0" tIns="0" bIns="0" anchor="ctr">
            <a:spAutoFit/>
          </a:bodyPr>
          <a:lstStyle/>
          <a:p>
            <a:pPr algn="ctr"/>
            <a:r>
              <a:rPr sz="700" b="1" i="0">
                <a:solidFill>
                  <a:srgbClr val="F2F2F2"/>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465576" y="2249424"/>
            <a:ext cx="969264" cy="292608"/>
          </a:xfrm>
          <a:prstGeom prst="rect">
            <a:avLst/>
          </a:prstGeom>
          <a:noFill/>
        </p:spPr>
        <p:txBody>
          <a:bodyPr wrap="square" lIns="0" rIns="0" tIns="0" bIns="0" anchor="ctr">
            <a:spAutoFit/>
          </a:bodyPr>
          <a:lstStyle/>
          <a:p>
            <a:pPr algn="ctr"/>
            <a:r>
              <a:rPr sz="700" b="1" i="0">
                <a:solidFill>
                  <a:srgbClr val="B3B3B3"/>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a:t>
            </a:r>
            <a:r>
              <a:rPr sz="700" b="1" i="0">
                <a:solidFill>
                  <a:srgbClr val="F2F2F2"/>
                </a:solidFill>
                <a:latin typeface="Trenda IG Text"/>
              </a:rPr>
              <a:t>Dev / QA </a:t>
            </a:r>
            <a:r>
              <a:rPr sz="700" b="0" i="0">
                <a:solidFill>
                  <a:srgbClr val="B3B3B3"/>
                </a:solidFill>
                <a:latin typeface="Trenda IG Text"/>
              </a:rPr>
              <a:t>directs it and verifies. </a:t>
            </a:r>
            <a:r>
              <a:rPr sz="700" b="1" i="0">
                <a:solidFill>
                  <a:srgbClr val="F2F2F2"/>
                </a:solidFill>
                <a:latin typeface="Trenda IG Text"/>
              </a:rPr>
              <a:t>PM / TL </a:t>
            </a:r>
            <a:r>
              <a:rPr sz="700" b="0" i="0">
                <a:solidFill>
                  <a:srgbClr val="B3B3B3"/>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FFFFFE"/>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F2F2F2"/>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B3B3B3"/>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F2F2F2"/>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B3B3B3"/>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F2F2F2"/>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B3B3B3"/>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000000"/>
                </a:solidFill>
                <a:latin typeface="Trenda IG Text"/>
              </a:rPr>
              <a:t>BUILD AND RUN</a:t>
            </a:r>
          </a:p>
        </p:txBody>
      </p:sp>
      <p:sp>
        <p:nvSpPr>
          <p:cNvPr id="48" name="Shape 44"/>
          <p:cNvSpPr/>
          <p:nvPr/>
        </p:nvSpPr>
        <p:spPr>
          <a:xfrm>
            <a:off x="9153143"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1" name="Shape 47"/>
          <p:cNvSpPr/>
          <p:nvPr/>
        </p:nvSpPr>
        <p:spPr>
          <a:xfrm>
            <a:off x="10015727"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B3B3B3"/>
                </a:solidFill>
                <a:latin typeface="Trenda IG Text"/>
              </a:rPr>
              <a:t>months to every pod live</a:t>
            </a:r>
          </a:p>
        </p:txBody>
      </p:sp>
      <p:sp>
        <p:nvSpPr>
          <p:cNvPr id="54" name="Shape 50"/>
          <p:cNvSpPr/>
          <p:nvPr/>
        </p:nvSpPr>
        <p:spPr>
          <a:xfrm>
            <a:off x="10878311"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B3B3B3"/>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B3B3B3"/>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63" name="Arrow 59"/>
          <p:cNvCxnSpPr/>
          <p:nvPr/>
        </p:nvCxnSpPr>
        <p:spPr>
          <a:xfrm>
            <a:off x="1508760"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75" name="Arrow 72"/>
          <p:cNvCxnSpPr/>
          <p:nvPr/>
        </p:nvCxnSpPr>
        <p:spPr>
          <a:xfrm>
            <a:off x="5346192" y="3822192"/>
            <a:ext cx="365759"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87" name="Arrow 85"/>
          <p:cNvCxnSpPr/>
          <p:nvPr/>
        </p:nvCxnSpPr>
        <p:spPr>
          <a:xfrm>
            <a:off x="9183623"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FFD70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D6F2"/>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FFD70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8C8C8C"/>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SINGLE USER EXPERIENCE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Codex is the single interface for discovery, approvals and continuous activation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refreshes every day. Approved, versioned cohort rules push newly eligible patients to Marketing Cloud daily, without a daily human approval.</a:t>
            </a:r>
          </a:p>
        </p:txBody>
      </p:sp>
      <p:sp>
        <p:nvSpPr>
          <p:cNvPr id="5" name="Shape 4"/>
          <p:cNvSpPr/>
          <p:nvPr/>
        </p:nvSpPr>
        <p:spPr>
          <a:xfrm>
            <a:off x="411480" y="1170432"/>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7" name="Text 6"/>
          <p:cNvSpPr txBox="1"/>
          <p:nvPr/>
        </p:nvSpPr>
        <p:spPr>
          <a:xfrm>
            <a:off x="704088" y="1170432"/>
            <a:ext cx="4114800" cy="219456"/>
          </a:xfrm>
          <a:prstGeom prst="rect">
            <a:avLst/>
          </a:prstGeom>
          <a:noFill/>
        </p:spPr>
        <p:txBody>
          <a:bodyPr wrap="square" lIns="0" rIns="0" tIns="0" bIns="0" anchor="ctr">
            <a:spAutoFit/>
          </a:bodyPr>
          <a:lstStyle/>
          <a:p>
            <a:r>
              <a:rPr sz="800" b="1" i="0" spc="60">
                <a:solidFill>
                  <a:srgbClr val="00D6F2"/>
                </a:solidFill>
                <a:latin typeface="Trenda IG Text"/>
              </a:rPr>
              <a:t>GOVERNED INTELLIGENCE</a:t>
            </a:r>
          </a:p>
        </p:txBody>
      </p:sp>
      <p:sp>
        <p:nvSpPr>
          <p:cNvPr id="8" name="Shape 7"/>
          <p:cNvSpPr/>
          <p:nvPr/>
        </p:nvSpPr>
        <p:spPr>
          <a:xfrm>
            <a:off x="411480" y="1463040"/>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463040"/>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48640" y="1490472"/>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Authoritative sources</a:t>
            </a:r>
          </a:p>
          <a:p>
            <a:pPr>
              <a:lnSpc>
                <a:spcPct val="92000"/>
              </a:lnSpc>
              <a:spcAft>
                <a:spcPts val="100"/>
              </a:spcAft>
            </a:pPr>
            <a:r>
              <a:rPr sz="700" b="0" i="0">
                <a:solidFill>
                  <a:srgbClr val="B3B3B3"/>
                </a:solidFill>
                <a:latin typeface="Trenda IG Text"/>
              </a:rPr>
              <a:t>Epic · athenahealth · ADSI · Salesforce · SFMC; daily or streaming</a:t>
            </a:r>
          </a:p>
        </p:txBody>
      </p:sp>
      <p:sp>
        <p:nvSpPr>
          <p:cNvPr id="11" name="Shape 10"/>
          <p:cNvSpPr/>
          <p:nvPr/>
        </p:nvSpPr>
        <p:spPr>
          <a:xfrm>
            <a:off x="411480" y="2083003"/>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2083003"/>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48640" y="2110435"/>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SDP + Collibra</a:t>
            </a:r>
          </a:p>
          <a:p>
            <a:pPr>
              <a:lnSpc>
                <a:spcPct val="92000"/>
              </a:lnSpc>
              <a:spcAft>
                <a:spcPts val="100"/>
              </a:spcAft>
            </a:pPr>
            <a:r>
              <a:rPr sz="700" b="0" i="0">
                <a:solidFill>
                  <a:srgbClr val="B3B3B3"/>
                </a:solidFill>
                <a:latin typeface="Trenda IG Text"/>
              </a:rPr>
              <a:t>approve datasets, classify PHI, set policy tags before ingest</a:t>
            </a:r>
          </a:p>
        </p:txBody>
      </p:sp>
      <p:sp>
        <p:nvSpPr>
          <p:cNvPr id="14" name="Shape 13"/>
          <p:cNvSpPr/>
          <p:nvPr/>
        </p:nvSpPr>
        <p:spPr>
          <a:xfrm>
            <a:off x="411480" y="270296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411480" y="2702966"/>
            <a:ext cx="45720" cy="512064"/>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548640" y="273039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Bronze → Silver</a:t>
            </a:r>
          </a:p>
          <a:p>
            <a:pPr>
              <a:lnSpc>
                <a:spcPct val="92000"/>
              </a:lnSpc>
              <a:spcAft>
                <a:spcPts val="100"/>
              </a:spcAft>
            </a:pPr>
            <a:r>
              <a:rPr sz="700" b="0" i="0">
                <a:solidFill>
                  <a:srgbClr val="B3B3B3"/>
                </a:solidFill>
                <a:latin typeface="Trenda IG Text"/>
              </a:rPr>
              <a:t>raw extracts, then identity resolution (EUID) + consent of record</a:t>
            </a:r>
          </a:p>
        </p:txBody>
      </p:sp>
      <p:sp>
        <p:nvSpPr>
          <p:cNvPr id="17" name="Shape 16"/>
          <p:cNvSpPr/>
          <p:nvPr/>
        </p:nvSpPr>
        <p:spPr>
          <a:xfrm>
            <a:off x="411480" y="3322929"/>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7"/>
          <p:cNvSpPr/>
          <p:nvPr/>
        </p:nvSpPr>
        <p:spPr>
          <a:xfrm>
            <a:off x="411480" y="3322929"/>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48640" y="3350361"/>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Gold A · insight  |  restricted patient layer</a:t>
            </a:r>
          </a:p>
          <a:p>
            <a:pPr>
              <a:lnSpc>
                <a:spcPct val="92000"/>
              </a:lnSpc>
              <a:spcAft>
                <a:spcPts val="100"/>
              </a:spcAft>
            </a:pPr>
            <a:r>
              <a:rPr sz="700" b="0" i="0">
                <a:solidFill>
                  <a:srgbClr val="B3B3B3"/>
                </a:solidFill>
                <a:latin typeface="Trenda IG Text"/>
              </a:rPr>
              <a:t>aggregates for agents  |  patients for the engines only</a:t>
            </a:r>
          </a:p>
        </p:txBody>
      </p:sp>
      <p:sp>
        <p:nvSpPr>
          <p:cNvPr id="20" name="Shape 19"/>
          <p:cNvSpPr/>
          <p:nvPr/>
        </p:nvSpPr>
        <p:spPr>
          <a:xfrm>
            <a:off x="411480" y="3942892"/>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411480" y="3942892"/>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48640" y="3970324"/>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Kyvos semantic layer</a:t>
            </a:r>
          </a:p>
          <a:p>
            <a:pPr>
              <a:lnSpc>
                <a:spcPct val="92000"/>
              </a:lnSpc>
              <a:spcAft>
                <a:spcPts val="100"/>
              </a:spcAft>
            </a:pPr>
            <a:r>
              <a:rPr sz="700" b="0" i="0">
                <a:solidFill>
                  <a:srgbClr val="B3B3B3"/>
                </a:solidFill>
                <a:latin typeface="Trenda IG Text"/>
              </a:rPr>
              <a:t>governed measures and cohort concepts (or built in-house)</a:t>
            </a:r>
          </a:p>
        </p:txBody>
      </p:sp>
      <p:sp>
        <p:nvSpPr>
          <p:cNvPr id="23" name="Shape 22"/>
          <p:cNvSpPr/>
          <p:nvPr/>
        </p:nvSpPr>
        <p:spPr>
          <a:xfrm>
            <a:off x="411480" y="456285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3"/>
          <p:cNvSpPr/>
          <p:nvPr/>
        </p:nvSpPr>
        <p:spPr>
          <a:xfrm>
            <a:off x="411480" y="4562856"/>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4"/>
          <p:cNvSpPr txBox="1"/>
          <p:nvPr/>
        </p:nvSpPr>
        <p:spPr>
          <a:xfrm>
            <a:off x="548640" y="459028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Spanner knowledge graph</a:t>
            </a:r>
          </a:p>
          <a:p>
            <a:pPr>
              <a:lnSpc>
                <a:spcPct val="92000"/>
              </a:lnSpc>
              <a:spcAft>
                <a:spcPts val="100"/>
              </a:spcAft>
            </a:pPr>
            <a:r>
              <a:rPr sz="700" b="0" i="0">
                <a:solidFill>
                  <a:srgbClr val="B3B3B3"/>
                </a:solidFill>
                <a:latin typeface="Trenda IG Text"/>
              </a:rPr>
              <a:t>concepts, cohort rules, campaigns, lineage; no patient nodes</a:t>
            </a:r>
          </a:p>
        </p:txBody>
      </p:sp>
      <p:cxnSp>
        <p:nvCxnSpPr>
          <p:cNvPr id="26" name="Arrow 25"/>
          <p:cNvCxnSpPr/>
          <p:nvPr/>
        </p:nvCxnSpPr>
        <p:spPr>
          <a:xfrm>
            <a:off x="777240" y="1975104"/>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777240" y="2595067"/>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777240" y="3215030"/>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777240" y="3834993"/>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777240" y="4454956"/>
            <a:ext cx="0" cy="1079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3154680" y="4198924"/>
            <a:ext cx="18288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3154680" y="4818888"/>
            <a:ext cx="18288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3337560" y="1170432"/>
            <a:ext cx="219456" cy="219456"/>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333756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5" name="Text 34"/>
          <p:cNvSpPr txBox="1"/>
          <p:nvPr/>
        </p:nvSpPr>
        <p:spPr>
          <a:xfrm>
            <a:off x="3630168" y="1170432"/>
            <a:ext cx="4114800" cy="219456"/>
          </a:xfrm>
          <a:prstGeom prst="rect">
            <a:avLst/>
          </a:prstGeom>
          <a:noFill/>
        </p:spPr>
        <p:txBody>
          <a:bodyPr wrap="square" lIns="0" rIns="0" tIns="0" bIns="0" anchor="ctr">
            <a:spAutoFit/>
          </a:bodyPr>
          <a:lstStyle/>
          <a:p>
            <a:r>
              <a:rPr sz="800" b="1" i="0" spc="60">
                <a:solidFill>
                  <a:srgbClr val="FFD700"/>
                </a:solidFill>
                <a:latin typeface="Trenda IG Text"/>
              </a:rPr>
              <a:t>CODEX · SINGLE USER INTERFACE</a:t>
            </a:r>
          </a:p>
        </p:txBody>
      </p:sp>
      <p:sp>
        <p:nvSpPr>
          <p:cNvPr id="36" name="Shape 35"/>
          <p:cNvSpPr/>
          <p:nvPr/>
        </p:nvSpPr>
        <p:spPr>
          <a:xfrm>
            <a:off x="3337560" y="1463040"/>
            <a:ext cx="3749039" cy="3611879"/>
          </a:xfrm>
          <a:prstGeom prst="roundRect">
            <a:avLst>
              <a:gd name="adj" fmla="val 8000"/>
            </a:avLst>
          </a:prstGeom>
          <a:solidFill>
            <a:srgbClr val="000000"/>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3337560" y="1536192"/>
            <a:ext cx="3749039" cy="237744"/>
          </a:xfrm>
          <a:prstGeom prst="rect">
            <a:avLst/>
          </a:prstGeom>
          <a:noFill/>
        </p:spPr>
        <p:txBody>
          <a:bodyPr wrap="square" lIns="0" rIns="0" tIns="0" bIns="0" anchor="ctr">
            <a:spAutoFit/>
          </a:bodyPr>
          <a:lstStyle/>
          <a:p>
            <a:pPr algn="ctr"/>
            <a:r>
              <a:rPr sz="1000" b="1" i="0">
                <a:solidFill>
                  <a:srgbClr val="F2F2F2"/>
                </a:solidFill>
                <a:latin typeface="Trenda IG Text"/>
              </a:rPr>
              <a:t>ONE CONVERSATION · NAMED APPROVALS</a:t>
            </a:r>
          </a:p>
        </p:txBody>
      </p:sp>
      <p:sp>
        <p:nvSpPr>
          <p:cNvPr id="38" name="Text 37"/>
          <p:cNvSpPr txBox="1"/>
          <p:nvPr/>
        </p:nvSpPr>
        <p:spPr>
          <a:xfrm>
            <a:off x="3337560" y="1773936"/>
            <a:ext cx="3749039" cy="164592"/>
          </a:xfrm>
          <a:prstGeom prst="rect">
            <a:avLst/>
          </a:prstGeom>
          <a:noFill/>
        </p:spPr>
        <p:txBody>
          <a:bodyPr wrap="square" lIns="0" rIns="0" tIns="0" bIns="0" anchor="ctr">
            <a:spAutoFit/>
          </a:bodyPr>
          <a:lstStyle/>
          <a:p>
            <a:pPr algn="ctr"/>
            <a:r>
              <a:rPr sz="700" b="0" i="0">
                <a:solidFill>
                  <a:srgbClr val="FFD700"/>
                </a:solidFill>
                <a:latin typeface="Trenda IG Text"/>
              </a:rPr>
              <a:t>approvals signed by the approval service, never by Codex</a:t>
            </a:r>
          </a:p>
        </p:txBody>
      </p:sp>
      <p:sp>
        <p:nvSpPr>
          <p:cNvPr id="39" name="Shape 38"/>
          <p:cNvSpPr/>
          <p:nvPr/>
        </p:nvSpPr>
        <p:spPr>
          <a:xfrm>
            <a:off x="3483864" y="2029968"/>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3483864" y="2029968"/>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621024" y="2057400"/>
            <a:ext cx="2724911" cy="237744"/>
          </a:xfrm>
          <a:prstGeom prst="rect">
            <a:avLst/>
          </a:prstGeom>
          <a:noFill/>
        </p:spPr>
        <p:txBody>
          <a:bodyPr wrap="square" lIns="0" rIns="0" tIns="0" bIns="0" anchor="ctr">
            <a:spAutoFit/>
          </a:bodyPr>
          <a:lstStyle/>
          <a:p>
            <a:r>
              <a:rPr sz="800" b="1" i="0">
                <a:solidFill>
                  <a:srgbClr val="00D6F2"/>
                </a:solidFill>
                <a:latin typeface="Trenda IG Text"/>
              </a:rPr>
              <a:t>A  </a:t>
            </a:r>
            <a:r>
              <a:rPr sz="800" b="1" i="0">
                <a:solidFill>
                  <a:srgbClr val="F2F2F2"/>
                </a:solidFill>
                <a:latin typeface="Trenda IG Text"/>
              </a:rPr>
              <a:t>Campaign goal</a:t>
            </a:r>
          </a:p>
        </p:txBody>
      </p:sp>
      <p:sp>
        <p:nvSpPr>
          <p:cNvPr id="42" name="Text 41"/>
          <p:cNvSpPr txBox="1"/>
          <p:nvPr/>
        </p:nvSpPr>
        <p:spPr>
          <a:xfrm>
            <a:off x="3621024" y="2295144"/>
            <a:ext cx="3227832" cy="237744"/>
          </a:xfrm>
          <a:prstGeom prst="rect">
            <a:avLst/>
          </a:prstGeom>
          <a:noFill/>
        </p:spPr>
        <p:txBody>
          <a:bodyPr wrap="square" lIns="0" rIns="0" tIns="0" bIns="0" anchor="t">
            <a:spAutoFit/>
          </a:bodyPr>
          <a:lstStyle/>
          <a:p>
            <a:r>
              <a:rPr sz="700" b="0" i="0">
                <a:solidFill>
                  <a:srgbClr val="B3B3B3"/>
                </a:solidFill>
                <a:latin typeface="Trenda IG Text"/>
              </a:rPr>
              <a:t>campaign, channel, cadence and target population</a:t>
            </a:r>
          </a:p>
        </p:txBody>
      </p:sp>
      <p:sp>
        <p:nvSpPr>
          <p:cNvPr id="43" name="Shape 42"/>
          <p:cNvSpPr/>
          <p:nvPr/>
        </p:nvSpPr>
        <p:spPr>
          <a:xfrm>
            <a:off x="3483864" y="2640330"/>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3483864" y="2640330"/>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3621024" y="2667762"/>
            <a:ext cx="2724911" cy="237744"/>
          </a:xfrm>
          <a:prstGeom prst="rect">
            <a:avLst/>
          </a:prstGeom>
          <a:noFill/>
        </p:spPr>
        <p:txBody>
          <a:bodyPr wrap="square" lIns="0" rIns="0" tIns="0" bIns="0" anchor="ctr">
            <a:spAutoFit/>
          </a:bodyPr>
          <a:lstStyle/>
          <a:p>
            <a:r>
              <a:rPr sz="800" b="1" i="0">
                <a:solidFill>
                  <a:srgbClr val="FFD700"/>
                </a:solidFill>
                <a:latin typeface="Trenda IG Text"/>
              </a:rPr>
              <a:t>B  </a:t>
            </a:r>
            <a:r>
              <a:rPr sz="800" b="1" i="0">
                <a:solidFill>
                  <a:srgbClr val="F2F2F2"/>
                </a:solidFill>
                <a:latin typeface="Trenda IG Text"/>
              </a:rPr>
              <a:t>Cohort JSON + refresh policy</a:t>
            </a:r>
          </a:p>
        </p:txBody>
      </p:sp>
      <p:sp>
        <p:nvSpPr>
          <p:cNvPr id="46" name="Text 45"/>
          <p:cNvSpPr txBox="1"/>
          <p:nvPr/>
        </p:nvSpPr>
        <p:spPr>
          <a:xfrm>
            <a:off x="3621024" y="2905506"/>
            <a:ext cx="3227832" cy="237744"/>
          </a:xfrm>
          <a:prstGeom prst="rect">
            <a:avLst/>
          </a:prstGeom>
          <a:noFill/>
        </p:spPr>
        <p:txBody>
          <a:bodyPr wrap="square" lIns="0" rIns="0" tIns="0" bIns="0" anchor="t">
            <a:spAutoFit/>
          </a:bodyPr>
          <a:lstStyle/>
          <a:p>
            <a:r>
              <a:rPr sz="700" b="0" i="0">
                <a:solidFill>
                  <a:srgbClr val="B3B3B3"/>
                </a:solidFill>
                <a:latin typeface="Trenda IG Text"/>
              </a:rPr>
              <a:t>versioned criteria and the daily refresh rule</a:t>
            </a:r>
          </a:p>
        </p:txBody>
      </p:sp>
      <p:sp>
        <p:nvSpPr>
          <p:cNvPr id="47" name="Shape 46"/>
          <p:cNvSpPr/>
          <p:nvPr/>
        </p:nvSpPr>
        <p:spPr>
          <a:xfrm>
            <a:off x="6437376" y="2704338"/>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6437376" y="2704338"/>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G1</a:t>
            </a:r>
          </a:p>
        </p:txBody>
      </p:sp>
      <p:sp>
        <p:nvSpPr>
          <p:cNvPr id="49" name="Shape 48"/>
          <p:cNvSpPr/>
          <p:nvPr/>
        </p:nvSpPr>
        <p:spPr>
          <a:xfrm>
            <a:off x="3483864" y="3250692"/>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3483864" y="3250692"/>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621024" y="3278124"/>
            <a:ext cx="2724911" cy="237744"/>
          </a:xfrm>
          <a:prstGeom prst="rect">
            <a:avLst/>
          </a:prstGeom>
          <a:noFill/>
        </p:spPr>
        <p:txBody>
          <a:bodyPr wrap="square" lIns="0" rIns="0" tIns="0" bIns="0" anchor="ctr">
            <a:spAutoFit/>
          </a:bodyPr>
          <a:lstStyle/>
          <a:p>
            <a:r>
              <a:rPr sz="800" b="1" i="0">
                <a:solidFill>
                  <a:srgbClr val="FFD700"/>
                </a:solidFill>
                <a:latin typeface="Trenda IG Text"/>
              </a:rPr>
              <a:t>C  </a:t>
            </a:r>
            <a:r>
              <a:rPr sz="800" b="1" i="0">
                <a:solidFill>
                  <a:srgbClr val="F2F2F2"/>
                </a:solidFill>
                <a:latin typeface="Trenda IG Text"/>
              </a:rPr>
              <a:t>Build + test the journey</a:t>
            </a:r>
          </a:p>
        </p:txBody>
      </p:sp>
      <p:sp>
        <p:nvSpPr>
          <p:cNvPr id="52" name="Text 51"/>
          <p:cNvSpPr txBox="1"/>
          <p:nvPr/>
        </p:nvSpPr>
        <p:spPr>
          <a:xfrm>
            <a:off x="3621024" y="3515868"/>
            <a:ext cx="3227832" cy="237744"/>
          </a:xfrm>
          <a:prstGeom prst="rect">
            <a:avLst/>
          </a:prstGeom>
          <a:noFill/>
        </p:spPr>
        <p:txBody>
          <a:bodyPr wrap="square" lIns="0" rIns="0" tIns="0" bIns="0" anchor="t">
            <a:spAutoFit/>
          </a:bodyPr>
          <a:lstStyle/>
          <a:p>
            <a:r>
              <a:rPr sz="700" b="0" i="0">
                <a:solidFill>
                  <a:srgbClr val="B3B3B3"/>
                </a:solidFill>
                <a:latin typeface="Trenda IG Text"/>
              </a:rPr>
              <a:t>test contacts only; clinical + compliance</a:t>
            </a:r>
          </a:p>
        </p:txBody>
      </p:sp>
      <p:sp>
        <p:nvSpPr>
          <p:cNvPr id="53" name="Shape 52"/>
          <p:cNvSpPr/>
          <p:nvPr/>
        </p:nvSpPr>
        <p:spPr>
          <a:xfrm>
            <a:off x="6437376" y="3314700"/>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6437376" y="3314700"/>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G3</a:t>
            </a:r>
          </a:p>
        </p:txBody>
      </p:sp>
      <p:sp>
        <p:nvSpPr>
          <p:cNvPr id="55" name="Shape 54"/>
          <p:cNvSpPr/>
          <p:nvPr/>
        </p:nvSpPr>
        <p:spPr>
          <a:xfrm>
            <a:off x="3483864" y="3861054"/>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3483864" y="3861054"/>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3621024" y="3888486"/>
            <a:ext cx="2724911" cy="237744"/>
          </a:xfrm>
          <a:prstGeom prst="rect">
            <a:avLst/>
          </a:prstGeom>
          <a:noFill/>
        </p:spPr>
        <p:txBody>
          <a:bodyPr wrap="square" lIns="0" rIns="0" tIns="0" bIns="0" anchor="ctr">
            <a:spAutoFit/>
          </a:bodyPr>
          <a:lstStyle/>
          <a:p>
            <a:r>
              <a:rPr sz="800" b="1" i="0">
                <a:solidFill>
                  <a:srgbClr val="FFD700"/>
                </a:solidFill>
                <a:latin typeface="Trenda IG Text"/>
              </a:rPr>
              <a:t>D  </a:t>
            </a:r>
            <a:r>
              <a:rPr sz="800" b="1" i="0">
                <a:solidFill>
                  <a:srgbClr val="F2F2F2"/>
                </a:solidFill>
                <a:latin typeface="Trenda IG Text"/>
              </a:rPr>
              <a:t>First run</a:t>
            </a:r>
          </a:p>
        </p:txBody>
      </p:sp>
      <p:sp>
        <p:nvSpPr>
          <p:cNvPr id="58" name="Text 57"/>
          <p:cNvSpPr txBox="1"/>
          <p:nvPr/>
        </p:nvSpPr>
        <p:spPr>
          <a:xfrm>
            <a:off x="3621024" y="4126230"/>
            <a:ext cx="3227832" cy="237744"/>
          </a:xfrm>
          <a:prstGeom prst="rect">
            <a:avLst/>
          </a:prstGeom>
          <a:noFill/>
        </p:spPr>
        <p:txBody>
          <a:bodyPr wrap="square" lIns="0" rIns="0" tIns="0" bIns="0" anchor="t">
            <a:spAutoFit/>
          </a:bodyPr>
          <a:lstStyle/>
          <a:p>
            <a:r>
              <a:rPr sz="700" b="0" i="0">
                <a:solidFill>
                  <a:srgbClr val="B3B3B3"/>
                </a:solidFill>
                <a:latin typeface="Trenda IG Text"/>
              </a:rPr>
              <a:t>counts, exclusions, fields and destination; no PHI</a:t>
            </a:r>
          </a:p>
        </p:txBody>
      </p:sp>
      <p:sp>
        <p:nvSpPr>
          <p:cNvPr id="59" name="Shape 58"/>
          <p:cNvSpPr/>
          <p:nvPr/>
        </p:nvSpPr>
        <p:spPr>
          <a:xfrm>
            <a:off x="6437376" y="3925062"/>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6437376" y="3925062"/>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G2</a:t>
            </a:r>
          </a:p>
        </p:txBody>
      </p:sp>
      <p:sp>
        <p:nvSpPr>
          <p:cNvPr id="61" name="Shape 60"/>
          <p:cNvSpPr/>
          <p:nvPr/>
        </p:nvSpPr>
        <p:spPr>
          <a:xfrm>
            <a:off x="3483864" y="4471416"/>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3483864" y="4471416"/>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3621024" y="4498848"/>
            <a:ext cx="2724911" cy="237744"/>
          </a:xfrm>
          <a:prstGeom prst="rect">
            <a:avLst/>
          </a:prstGeom>
          <a:noFill/>
        </p:spPr>
        <p:txBody>
          <a:bodyPr wrap="square" lIns="0" rIns="0" tIns="0" bIns="0" anchor="ctr">
            <a:spAutoFit/>
          </a:bodyPr>
          <a:lstStyle/>
          <a:p>
            <a:r>
              <a:rPr sz="800" b="1" i="0">
                <a:solidFill>
                  <a:srgbClr val="00D6F2"/>
                </a:solidFill>
                <a:latin typeface="Trenda IG Text"/>
              </a:rPr>
              <a:t>E  </a:t>
            </a:r>
            <a:r>
              <a:rPr sz="800" b="1" i="0">
                <a:solidFill>
                  <a:srgbClr val="F2F2F2"/>
                </a:solidFill>
                <a:latin typeface="Trenda IG Text"/>
              </a:rPr>
              <a:t>Ongoing status in Codex</a:t>
            </a:r>
          </a:p>
        </p:txBody>
      </p:sp>
      <p:sp>
        <p:nvSpPr>
          <p:cNvPr id="64" name="Text 63"/>
          <p:cNvSpPr txBox="1"/>
          <p:nvPr/>
        </p:nvSpPr>
        <p:spPr>
          <a:xfrm>
            <a:off x="3621024" y="4736592"/>
            <a:ext cx="3227832" cy="237744"/>
          </a:xfrm>
          <a:prstGeom prst="rect">
            <a:avLst/>
          </a:prstGeom>
          <a:noFill/>
        </p:spPr>
        <p:txBody>
          <a:bodyPr wrap="square" lIns="0" rIns="0" tIns="0" bIns="0" anchor="t">
            <a:spAutoFit/>
          </a:bodyPr>
          <a:lstStyle/>
          <a:p>
            <a:r>
              <a:rPr sz="700" b="0" i="0">
                <a:solidFill>
                  <a:srgbClr val="B3B3B3"/>
                </a:solidFill>
                <a:latin typeface="Trenda IG Text"/>
              </a:rPr>
              <a:t>daily refresh results, failures, pauses, rule alerts</a:t>
            </a:r>
          </a:p>
        </p:txBody>
      </p:sp>
      <p:sp>
        <p:nvSpPr>
          <p:cNvPr id="65" name="Shape 64"/>
          <p:cNvSpPr/>
          <p:nvPr/>
        </p:nvSpPr>
        <p:spPr>
          <a:xfrm>
            <a:off x="7287768" y="1170432"/>
            <a:ext cx="219456" cy="219456"/>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287768"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67" name="Text 66"/>
          <p:cNvSpPr txBox="1"/>
          <p:nvPr/>
        </p:nvSpPr>
        <p:spPr>
          <a:xfrm>
            <a:off x="7580375" y="1170432"/>
            <a:ext cx="4114800" cy="219456"/>
          </a:xfrm>
          <a:prstGeom prst="rect">
            <a:avLst/>
          </a:prstGeom>
          <a:noFill/>
        </p:spPr>
        <p:txBody>
          <a:bodyPr wrap="square" lIns="0" rIns="0" tIns="0" bIns="0" anchor="ctr">
            <a:spAutoFit/>
          </a:bodyPr>
          <a:lstStyle/>
          <a:p>
            <a:r>
              <a:rPr sz="800" b="1" i="0" spc="60">
                <a:solidFill>
                  <a:srgbClr val="FF0069"/>
                </a:solidFill>
                <a:latin typeface="Trenda IG Text"/>
              </a:rPr>
              <a:t>COHORT RESOLUTION + ACTIVATION · PROTECTED BOUNDARY</a:t>
            </a:r>
          </a:p>
        </p:txBody>
      </p:sp>
      <p:sp>
        <p:nvSpPr>
          <p:cNvPr id="68" name="Shape 67"/>
          <p:cNvSpPr/>
          <p:nvPr/>
        </p:nvSpPr>
        <p:spPr>
          <a:xfrm>
            <a:off x="7251192" y="1417320"/>
            <a:ext cx="4562856" cy="3703320"/>
          </a:xfrm>
          <a:prstGeom prst="roundRect">
            <a:avLst>
              <a:gd name="adj" fmla="val 3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7360919"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434071"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3.1  Cohort Resolution Engine</a:t>
            </a:r>
          </a:p>
          <a:p>
            <a:pPr>
              <a:lnSpc>
                <a:spcPct val="92000"/>
              </a:lnSpc>
              <a:spcAft>
                <a:spcPts val="100"/>
              </a:spcAft>
            </a:pPr>
            <a:r>
              <a:rPr sz="700" b="0" i="0">
                <a:solidFill>
                  <a:srgbClr val="B3B3B3"/>
                </a:solidFill>
                <a:latin typeface="Trenda IG Text"/>
              </a:rPr>
              <a:t>checks JSON + token; controlled query</a:t>
            </a:r>
          </a:p>
        </p:txBody>
      </p:sp>
      <p:cxnSp>
        <p:nvCxnSpPr>
          <p:cNvPr id="71" name="Arrow 70"/>
          <p:cNvCxnSpPr/>
          <p:nvPr/>
        </p:nvCxnSpPr>
        <p:spPr>
          <a:xfrm>
            <a:off x="8723376" y="1819656"/>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Shape 71"/>
          <p:cNvSpPr/>
          <p:nvPr/>
        </p:nvSpPr>
        <p:spPr>
          <a:xfrm>
            <a:off x="8851392" y="1536192"/>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8924544"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3.2  Patient query</a:t>
            </a:r>
          </a:p>
          <a:p>
            <a:pPr>
              <a:lnSpc>
                <a:spcPct val="92000"/>
              </a:lnSpc>
              <a:spcAft>
                <a:spcPts val="100"/>
              </a:spcAft>
            </a:pPr>
            <a:r>
              <a:rPr sz="700" b="0" i="0">
                <a:solidFill>
                  <a:srgbClr val="B3B3B3"/>
                </a:solidFill>
                <a:latin typeface="Trenda IG Text"/>
              </a:rPr>
              <a:t>matching patients, inside the boundary</a:t>
            </a:r>
          </a:p>
        </p:txBody>
      </p:sp>
      <p:cxnSp>
        <p:nvCxnSpPr>
          <p:cNvPr id="74" name="Arrow 73"/>
          <p:cNvCxnSpPr/>
          <p:nvPr/>
        </p:nvCxnSpPr>
        <p:spPr>
          <a:xfrm>
            <a:off x="10213848" y="1819656"/>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Shape 74"/>
          <p:cNvSpPr/>
          <p:nvPr/>
        </p:nvSpPr>
        <p:spPr>
          <a:xfrm>
            <a:off x="10341863"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10415015"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3.3  Eligibility checks</a:t>
            </a:r>
          </a:p>
          <a:p>
            <a:pPr>
              <a:lnSpc>
                <a:spcPct val="92000"/>
              </a:lnSpc>
              <a:spcAft>
                <a:spcPts val="100"/>
              </a:spcAft>
            </a:pPr>
            <a:r>
              <a:rPr sz="700" b="0" i="0">
                <a:solidFill>
                  <a:srgbClr val="B3B3B3"/>
                </a:solidFill>
                <a:latin typeface="Trenda IG Text"/>
              </a:rPr>
              <a:t>consent · STOP · suppression · deceased · duplicates</a:t>
            </a:r>
          </a:p>
        </p:txBody>
      </p:sp>
      <p:sp>
        <p:nvSpPr>
          <p:cNvPr id="77" name="Shape 76"/>
          <p:cNvSpPr/>
          <p:nvPr/>
        </p:nvSpPr>
        <p:spPr>
          <a:xfrm>
            <a:off x="7360919" y="2194560"/>
            <a:ext cx="1362456"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434071"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3.4  Summary → Codex</a:t>
            </a:r>
          </a:p>
          <a:p>
            <a:pPr>
              <a:lnSpc>
                <a:spcPct val="92000"/>
              </a:lnSpc>
              <a:spcAft>
                <a:spcPts val="100"/>
              </a:spcAft>
            </a:pPr>
            <a:r>
              <a:rPr sz="700" b="0" i="0">
                <a:solidFill>
                  <a:srgbClr val="B3B3B3"/>
                </a:solidFill>
                <a:latin typeface="Trenda IG Text"/>
              </a:rPr>
              <a:t>counts, exclusions, fields; no PHI</a:t>
            </a:r>
          </a:p>
        </p:txBody>
      </p:sp>
      <p:cxnSp>
        <p:nvCxnSpPr>
          <p:cNvPr id="79" name="Arrow 78"/>
          <p:cNvCxnSpPr/>
          <p:nvPr/>
        </p:nvCxnSpPr>
        <p:spPr>
          <a:xfrm>
            <a:off x="8723376" y="2478024"/>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8851392" y="2194560"/>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924544"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3.5  Activation Engine</a:t>
            </a:r>
          </a:p>
          <a:p>
            <a:pPr>
              <a:lnSpc>
                <a:spcPct val="92000"/>
              </a:lnSpc>
              <a:spcAft>
                <a:spcPts val="100"/>
              </a:spcAft>
            </a:pPr>
            <a:r>
              <a:rPr sz="700" b="0" i="0">
                <a:solidFill>
                  <a:srgbClr val="B3B3B3"/>
                </a:solidFill>
                <a:latin typeface="Trenda IG Text"/>
              </a:rPr>
              <a:t>checks G2, purpose, rule version, fields, unmask the data</a:t>
            </a:r>
          </a:p>
        </p:txBody>
      </p:sp>
      <p:cxnSp>
        <p:nvCxnSpPr>
          <p:cNvPr id="82" name="Arrow 81"/>
          <p:cNvCxnSpPr/>
          <p:nvPr/>
        </p:nvCxnSpPr>
        <p:spPr>
          <a:xfrm>
            <a:off x="10213848" y="2478024"/>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2"/>
          <p:cNvSpPr/>
          <p:nvPr/>
        </p:nvSpPr>
        <p:spPr>
          <a:xfrm>
            <a:off x="10341863" y="2194560"/>
            <a:ext cx="1362456"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10415015"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3.6  MC data extension</a:t>
            </a:r>
          </a:p>
          <a:p>
            <a:pPr>
              <a:lnSpc>
                <a:spcPct val="92000"/>
              </a:lnSpc>
              <a:spcAft>
                <a:spcPts val="100"/>
              </a:spcAft>
            </a:pPr>
            <a:r>
              <a:rPr sz="700" b="0" i="0">
                <a:solidFill>
                  <a:srgbClr val="B3B3B3"/>
                </a:solidFill>
                <a:latin typeface="Trenda IG Text"/>
              </a:rPr>
              <a:t>approved records; neutral name</a:t>
            </a:r>
          </a:p>
        </p:txBody>
      </p:sp>
      <p:cxnSp>
        <p:nvCxnSpPr>
          <p:cNvPr id="85" name="Arrow 84"/>
          <p:cNvCxnSpPr/>
          <p:nvPr/>
        </p:nvCxnSpPr>
        <p:spPr>
          <a:xfrm>
            <a:off x="11023091" y="2103120"/>
            <a:ext cx="0" cy="73152"/>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6" name="Arrow 85"/>
          <p:cNvCxnSpPr/>
          <p:nvPr/>
        </p:nvCxnSpPr>
        <p:spPr>
          <a:xfrm flipH="1">
            <a:off x="8042147" y="2176272"/>
            <a:ext cx="2980944"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7" name="Arrow 86"/>
          <p:cNvCxnSpPr/>
          <p:nvPr/>
        </p:nvCxnSpPr>
        <p:spPr>
          <a:xfrm>
            <a:off x="8042147" y="2176272"/>
            <a:ext cx="0" cy="18288"/>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7"/>
          <p:cNvSpPr/>
          <p:nvPr/>
        </p:nvSpPr>
        <p:spPr>
          <a:xfrm>
            <a:off x="7360919" y="2889504"/>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7360919" y="2889504"/>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90" name="Text 89"/>
          <p:cNvSpPr txBox="1"/>
          <p:nvPr/>
        </p:nvSpPr>
        <p:spPr>
          <a:xfrm>
            <a:off x="7653527" y="2889504"/>
            <a:ext cx="4114800" cy="219456"/>
          </a:xfrm>
          <a:prstGeom prst="rect">
            <a:avLst/>
          </a:prstGeom>
          <a:noFill/>
        </p:spPr>
        <p:txBody>
          <a:bodyPr wrap="square" lIns="0" rIns="0" tIns="0" bIns="0" anchor="ctr">
            <a:spAutoFit/>
          </a:bodyPr>
          <a:lstStyle/>
          <a:p>
            <a:r>
              <a:rPr sz="800" b="1" i="0" spc="60">
                <a:solidFill>
                  <a:srgbClr val="00D6F2"/>
                </a:solidFill>
                <a:latin typeface="Trenda IG Text"/>
              </a:rPr>
              <a:t>CONTINUOUS COHORT REFRESH · EVERY DAY</a:t>
            </a:r>
          </a:p>
        </p:txBody>
      </p:sp>
      <p:sp>
        <p:nvSpPr>
          <p:cNvPr id="91" name="Shape 90"/>
          <p:cNvSpPr/>
          <p:nvPr/>
        </p:nvSpPr>
        <p:spPr>
          <a:xfrm>
            <a:off x="7360919" y="3163824"/>
            <a:ext cx="4343400" cy="1874519"/>
          </a:xfrm>
          <a:prstGeom prst="roundRect">
            <a:avLst>
              <a:gd name="adj" fmla="val 4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434071" y="3236976"/>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434071" y="3236976"/>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7562088" y="3236976"/>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4.1  </a:t>
            </a:r>
            <a:r>
              <a:rPr sz="700" b="1" i="0">
                <a:solidFill>
                  <a:srgbClr val="F2F2F2"/>
                </a:solidFill>
                <a:latin typeface="Trenda IG Text"/>
              </a:rPr>
              <a:t>Daily data refresh</a:t>
            </a:r>
            <a:r>
              <a:rPr sz="700" b="0" i="0">
                <a:solidFill>
                  <a:srgbClr val="B3B3B3"/>
                </a:solidFill>
                <a:latin typeface="Trenda IG Text"/>
              </a:rPr>
              <a:t>  sources → Bronze → Silver → Gold; freshness checked</a:t>
            </a:r>
          </a:p>
        </p:txBody>
      </p:sp>
      <p:sp>
        <p:nvSpPr>
          <p:cNvPr id="95" name="Shape 94"/>
          <p:cNvSpPr/>
          <p:nvPr/>
        </p:nvSpPr>
        <p:spPr>
          <a:xfrm>
            <a:off x="7434071" y="3547872"/>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434071" y="3547872"/>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7562088" y="3547872"/>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4.2  </a:t>
            </a:r>
            <a:r>
              <a:rPr sz="700" b="1" i="0">
                <a:solidFill>
                  <a:srgbClr val="F2F2F2"/>
                </a:solidFill>
                <a:latin typeface="Trenda IG Text"/>
              </a:rPr>
              <a:t>Refresh trigger</a:t>
            </a:r>
            <a:r>
              <a:rPr sz="700" b="0" i="0">
                <a:solidFill>
                  <a:srgbClr val="B3B3B3"/>
                </a:solidFill>
                <a:latin typeface="Trenda IG Text"/>
              </a:rPr>
              <a:t>  runs after each refresh; skips the run if data is stale</a:t>
            </a:r>
          </a:p>
        </p:txBody>
      </p:sp>
      <p:sp>
        <p:nvSpPr>
          <p:cNvPr id="98" name="Shape 97"/>
          <p:cNvSpPr/>
          <p:nvPr/>
        </p:nvSpPr>
        <p:spPr>
          <a:xfrm>
            <a:off x="7434071" y="3858768"/>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434071" y="3858768"/>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7562088" y="3858768"/>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4.3  </a:t>
            </a:r>
            <a:r>
              <a:rPr sz="700" b="1" i="0">
                <a:solidFill>
                  <a:srgbClr val="F2F2F2"/>
                </a:solidFill>
                <a:latin typeface="Trenda IG Text"/>
              </a:rPr>
              <a:t>Incremental resolver</a:t>
            </a:r>
            <a:r>
              <a:rPr sz="700" b="0" i="0">
                <a:solidFill>
                  <a:srgbClr val="B3B3B3"/>
                </a:solidFill>
                <a:latin typeface="Trenda IG Text"/>
              </a:rPr>
              <a:t>  approved rule on new + changed patients; consent re-checked</a:t>
            </a:r>
          </a:p>
        </p:txBody>
      </p:sp>
      <p:sp>
        <p:nvSpPr>
          <p:cNvPr id="101" name="Shape 100"/>
          <p:cNvSpPr/>
          <p:nvPr/>
        </p:nvSpPr>
        <p:spPr>
          <a:xfrm>
            <a:off x="7434071" y="4169664"/>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434071" y="4169664"/>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7562088" y="4169664"/>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4.4  </a:t>
            </a:r>
            <a:r>
              <a:rPr sz="700" b="1" i="0">
                <a:solidFill>
                  <a:srgbClr val="F2F2F2"/>
                </a:solidFill>
                <a:latin typeface="Trenda IG Text"/>
              </a:rPr>
              <a:t>Delta activation + exit sync</a:t>
            </a:r>
            <a:r>
              <a:rPr sz="700" b="0" i="0">
                <a:solidFill>
                  <a:srgbClr val="B3B3B3"/>
                </a:solidFill>
                <a:latin typeface="Trenda IG Text"/>
              </a:rPr>
              <a:t>  adds the newly eligible; removes those who no longer qualify</a:t>
            </a:r>
          </a:p>
        </p:txBody>
      </p:sp>
      <p:sp>
        <p:nvSpPr>
          <p:cNvPr id="104" name="Text 103"/>
          <p:cNvSpPr txBox="1"/>
          <p:nvPr/>
        </p:nvSpPr>
        <p:spPr>
          <a:xfrm>
            <a:off x="7452359" y="4480560"/>
            <a:ext cx="4160520" cy="557783"/>
          </a:xfrm>
          <a:prstGeom prst="rect">
            <a:avLst/>
          </a:prstGeom>
          <a:noFill/>
        </p:spPr>
        <p:txBody>
          <a:bodyPr wrap="square" lIns="0" rIns="0" tIns="0" bIns="0" anchor="ctr">
            <a:spAutoFit/>
          </a:bodyPr>
          <a:lstStyle/>
          <a:p>
            <a:r>
              <a:rPr sz="700" b="1" i="0">
                <a:solidFill>
                  <a:srgbClr val="FFD700"/>
                </a:solidFill>
                <a:latin typeface="Trenda IG Text"/>
              </a:rPr>
              <a:t>No daily approval </a:t>
            </a:r>
            <a:r>
              <a:rPr sz="700" b="0" i="0">
                <a:solidFill>
                  <a:srgbClr val="F2F2F2"/>
                </a:solidFill>
                <a:latin typeface="Trenda IG Text"/>
              </a:rPr>
              <a:t>while the campaign, rule version, purpose, fields and destination stay unchanged.</a:t>
            </a:r>
          </a:p>
        </p:txBody>
      </p:sp>
      <p:cxnSp>
        <p:nvCxnSpPr>
          <p:cNvPr id="105" name="Arrow 104"/>
          <p:cNvCxnSpPr/>
          <p:nvPr/>
        </p:nvCxnSpPr>
        <p:spPr>
          <a:xfrm>
            <a:off x="7086600" y="1819656"/>
            <a:ext cx="274319"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flipH="1">
            <a:off x="7086600" y="2478024"/>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flipH="1">
            <a:off x="7086600" y="4727448"/>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8" name="Shape 107"/>
          <p:cNvSpPr/>
          <p:nvPr/>
        </p:nvSpPr>
        <p:spPr>
          <a:xfrm>
            <a:off x="411480" y="5193792"/>
            <a:ext cx="11365992" cy="694944"/>
          </a:xfrm>
          <a:prstGeom prst="roundRect">
            <a:avLst>
              <a:gd name="adj" fmla="val 6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48640" y="5193792"/>
            <a:ext cx="1188720" cy="694944"/>
          </a:xfrm>
          <a:prstGeom prst="rect">
            <a:avLst/>
          </a:prstGeom>
          <a:noFill/>
        </p:spPr>
        <p:txBody>
          <a:bodyPr wrap="square" lIns="0" rIns="0" tIns="0" bIns="0" anchor="ctr">
            <a:spAutoFit/>
          </a:bodyPr>
          <a:lstStyle/>
          <a:p>
            <a:pPr>
              <a:spcAft>
                <a:spcPts val="100"/>
              </a:spcAft>
            </a:pPr>
            <a:r>
              <a:rPr sz="700" b="1" i="0" spc="80">
                <a:solidFill>
                  <a:srgbClr val="00D6F2"/>
                </a:solidFill>
                <a:latin typeface="Trenda IG Text"/>
              </a:rPr>
              <a:t>MARKETING CLOUD</a:t>
            </a:r>
          </a:p>
          <a:p>
            <a:pPr>
              <a:spcAft>
                <a:spcPts val="100"/>
              </a:spcAft>
            </a:pPr>
            <a:r>
              <a:rPr sz="700" b="1" i="0" spc="80">
                <a:solidFill>
                  <a:srgbClr val="00D6F2"/>
                </a:solidFill>
                <a:latin typeface="Trenda IG Text"/>
              </a:rPr>
              <a:t>EXECUTION</a:t>
            </a:r>
          </a:p>
        </p:txBody>
      </p:sp>
      <p:sp>
        <p:nvSpPr>
          <p:cNvPr id="110" name="Shape 109"/>
          <p:cNvSpPr/>
          <p:nvPr/>
        </p:nvSpPr>
        <p:spPr>
          <a:xfrm>
            <a:off x="1783080" y="5266944"/>
            <a:ext cx="1482852"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17830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874519" y="5285231"/>
            <a:ext cx="1354836"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Data ready</a:t>
            </a:r>
          </a:p>
          <a:p>
            <a:pPr>
              <a:lnSpc>
                <a:spcPct val="92000"/>
              </a:lnSpc>
              <a:spcAft>
                <a:spcPts val="100"/>
              </a:spcAft>
            </a:pPr>
            <a:r>
              <a:rPr sz="700" b="0" i="0">
                <a:solidFill>
                  <a:srgbClr val="B3B3B3"/>
                </a:solidFill>
                <a:latin typeface="Trenda IG Text"/>
              </a:rPr>
              <a:t>approved patients only; pseudonymous contact key</a:t>
            </a:r>
          </a:p>
        </p:txBody>
      </p:sp>
      <p:cxnSp>
        <p:nvCxnSpPr>
          <p:cNvPr id="113" name="Arrow 112"/>
          <p:cNvCxnSpPr/>
          <p:nvPr/>
        </p:nvCxnSpPr>
        <p:spPr>
          <a:xfrm>
            <a:off x="3293364" y="5541264"/>
            <a:ext cx="14630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4" name="Shape 113"/>
          <p:cNvSpPr/>
          <p:nvPr/>
        </p:nvSpPr>
        <p:spPr>
          <a:xfrm>
            <a:off x="3467100" y="5266944"/>
            <a:ext cx="1482852"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14"/>
          <p:cNvSpPr/>
          <p:nvPr/>
        </p:nvSpPr>
        <p:spPr>
          <a:xfrm>
            <a:off x="346710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3558540" y="5285231"/>
            <a:ext cx="1354836"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Load</a:t>
            </a:r>
          </a:p>
          <a:p>
            <a:pPr>
              <a:lnSpc>
                <a:spcPct val="92000"/>
              </a:lnSpc>
              <a:spcAft>
                <a:spcPts val="100"/>
              </a:spcAft>
            </a:pPr>
            <a:r>
              <a:rPr sz="700" b="0" i="0">
                <a:solidFill>
                  <a:srgbClr val="B3B3B3"/>
                </a:solidFill>
                <a:latin typeface="Trenda IG Text"/>
              </a:rPr>
              <a:t>REST API or SFTP into a data extension or Data Cloud</a:t>
            </a:r>
          </a:p>
        </p:txBody>
      </p:sp>
      <p:cxnSp>
        <p:nvCxnSpPr>
          <p:cNvPr id="117" name="Arrow 116"/>
          <p:cNvCxnSpPr/>
          <p:nvPr/>
        </p:nvCxnSpPr>
        <p:spPr>
          <a:xfrm>
            <a:off x="4977384" y="5541264"/>
            <a:ext cx="14630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Shape 117"/>
          <p:cNvSpPr/>
          <p:nvPr/>
        </p:nvSpPr>
        <p:spPr>
          <a:xfrm>
            <a:off x="5151120" y="5266944"/>
            <a:ext cx="1482852"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8"/>
          <p:cNvSpPr/>
          <p:nvPr/>
        </p:nvSpPr>
        <p:spPr>
          <a:xfrm>
            <a:off x="515112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5242560" y="5285231"/>
            <a:ext cx="1354836"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Journey</a:t>
            </a:r>
          </a:p>
          <a:p>
            <a:pPr>
              <a:lnSpc>
                <a:spcPct val="92000"/>
              </a:lnSpc>
              <a:spcAft>
                <a:spcPts val="100"/>
              </a:spcAft>
            </a:pPr>
            <a:r>
              <a:rPr sz="700" b="0" i="0">
                <a:solidFill>
                  <a:srgbClr val="B3B3B3"/>
                </a:solidFill>
                <a:latin typeface="Trenda IG Text"/>
              </a:rPr>
              <a:t>built in Journey Builder: entry, exit and goal rules</a:t>
            </a:r>
          </a:p>
        </p:txBody>
      </p:sp>
      <p:cxnSp>
        <p:nvCxnSpPr>
          <p:cNvPr id="121" name="Arrow 120"/>
          <p:cNvCxnSpPr/>
          <p:nvPr/>
        </p:nvCxnSpPr>
        <p:spPr>
          <a:xfrm>
            <a:off x="6661404" y="5541264"/>
            <a:ext cx="14630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2" name="Shape 121"/>
          <p:cNvSpPr/>
          <p:nvPr/>
        </p:nvSpPr>
        <p:spPr>
          <a:xfrm>
            <a:off x="6835140" y="5266944"/>
            <a:ext cx="1482852"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683514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6926580" y="5285231"/>
            <a:ext cx="1354836"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Approved content</a:t>
            </a:r>
          </a:p>
          <a:p>
            <a:pPr>
              <a:lnSpc>
                <a:spcPct val="92000"/>
              </a:lnSpc>
              <a:spcAft>
                <a:spcPts val="100"/>
              </a:spcAft>
            </a:pPr>
            <a:r>
              <a:rPr sz="700" b="0" i="0">
                <a:solidFill>
                  <a:srgbClr val="B3B3B3"/>
                </a:solidFill>
                <a:latin typeface="Trenda IG Text"/>
              </a:rPr>
              <a:t>approved templates; no PHI in text or links</a:t>
            </a:r>
          </a:p>
        </p:txBody>
      </p:sp>
      <p:cxnSp>
        <p:nvCxnSpPr>
          <p:cNvPr id="125" name="Arrow 124"/>
          <p:cNvCxnSpPr/>
          <p:nvPr/>
        </p:nvCxnSpPr>
        <p:spPr>
          <a:xfrm>
            <a:off x="8345424" y="5541264"/>
            <a:ext cx="14630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6" name="Shape 125"/>
          <p:cNvSpPr/>
          <p:nvPr/>
        </p:nvSpPr>
        <p:spPr>
          <a:xfrm>
            <a:off x="8519160" y="5266944"/>
            <a:ext cx="1482852"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51916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610600" y="5285231"/>
            <a:ext cx="1354836"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Send</a:t>
            </a:r>
          </a:p>
          <a:p>
            <a:pPr>
              <a:lnSpc>
                <a:spcPct val="92000"/>
              </a:lnSpc>
              <a:spcAft>
                <a:spcPts val="100"/>
              </a:spcAft>
            </a:pPr>
            <a:r>
              <a:rPr sz="700" b="0" i="0">
                <a:solidFill>
                  <a:srgbClr val="B3B3B3"/>
                </a:solidFill>
                <a:latin typeface="Trenda IG Text"/>
              </a:rPr>
              <a:t>the journey triggers; opt-outs stop at once</a:t>
            </a:r>
          </a:p>
        </p:txBody>
      </p:sp>
      <p:cxnSp>
        <p:nvCxnSpPr>
          <p:cNvPr id="129" name="Arrow 128"/>
          <p:cNvCxnSpPr/>
          <p:nvPr/>
        </p:nvCxnSpPr>
        <p:spPr>
          <a:xfrm>
            <a:off x="10029444" y="5541264"/>
            <a:ext cx="146304"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Shape 129"/>
          <p:cNvSpPr/>
          <p:nvPr/>
        </p:nvSpPr>
        <p:spPr>
          <a:xfrm>
            <a:off x="10203180" y="5266944"/>
            <a:ext cx="1482852"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Shape 130"/>
          <p:cNvSpPr/>
          <p:nvPr/>
        </p:nvSpPr>
        <p:spPr>
          <a:xfrm>
            <a:off x="102031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1"/>
          <p:cNvSpPr txBox="1"/>
          <p:nvPr/>
        </p:nvSpPr>
        <p:spPr>
          <a:xfrm>
            <a:off x="10294620" y="5285231"/>
            <a:ext cx="1354836"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Results back</a:t>
            </a:r>
          </a:p>
          <a:p>
            <a:pPr>
              <a:lnSpc>
                <a:spcPct val="92000"/>
              </a:lnSpc>
              <a:spcAft>
                <a:spcPts val="100"/>
              </a:spcAft>
            </a:pPr>
            <a:r>
              <a:rPr sz="700" b="0" i="0">
                <a:solidFill>
                  <a:srgbClr val="B3B3B3"/>
                </a:solidFill>
                <a:latin typeface="Trenda IG Text"/>
              </a:rPr>
              <a:t>outcomes return to Google Cloud for measurement</a:t>
            </a:r>
          </a:p>
        </p:txBody>
      </p:sp>
      <p:sp>
        <p:nvSpPr>
          <p:cNvPr id="133" name="Shape 132"/>
          <p:cNvSpPr/>
          <p:nvPr/>
        </p:nvSpPr>
        <p:spPr>
          <a:xfrm>
            <a:off x="411480" y="5952744"/>
            <a:ext cx="11365992" cy="365760"/>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 133"/>
          <p:cNvSpPr txBox="1"/>
          <p:nvPr/>
        </p:nvSpPr>
        <p:spPr>
          <a:xfrm>
            <a:off x="548640" y="5952744"/>
            <a:ext cx="11091672" cy="365760"/>
          </a:xfrm>
          <a:prstGeom prst="rect">
            <a:avLst/>
          </a:prstGeom>
          <a:noFill/>
        </p:spPr>
        <p:txBody>
          <a:bodyPr wrap="square" lIns="0" rIns="0" tIns="0" bIns="0" anchor="ctr">
            <a:spAutoFit/>
          </a:bodyPr>
          <a:lstStyle/>
          <a:p>
            <a:pPr algn="ctr"/>
            <a:r>
              <a:rPr sz="750" b="1" i="0">
                <a:solidFill>
                  <a:srgbClr val="FFD700"/>
                </a:solidFill>
                <a:latin typeface="Trenda IG Text"/>
              </a:rPr>
              <a:t>RE-APPROVAL REQUIRED </a:t>
            </a:r>
            <a:r>
              <a:rPr sz="750" b="0" i="0">
                <a:solidFill>
                  <a:srgbClr val="F2F2F2"/>
                </a:solidFill>
                <a:latin typeface="Trenda IG Text"/>
              </a:rPr>
              <a:t>only when cohort logic, purpose, permitted fields, destination, consent policy, a semantic definition or campaign status changes, or the approval expires. Opt-outs apply at once; spike alerts pause a run; every run is reconciled.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GOLD B</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Gold B: patients we cannot contact yet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Patients without consent or with missing information stay in Gold B, restricted. Those we may ask are invited to opt in or complete their details; when they opt in, they move to Gold A.</a:t>
            </a:r>
          </a:p>
        </p:txBody>
      </p:sp>
      <p:sp>
        <p:nvSpPr>
          <p:cNvPr id="5" name="Shape 4"/>
          <p:cNvSpPr/>
          <p:nvPr/>
        </p:nvSpPr>
        <p:spPr>
          <a:xfrm>
            <a:off x="411480" y="1152144"/>
            <a:ext cx="1292732" cy="65836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84632"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Silver</a:t>
            </a:r>
          </a:p>
          <a:p>
            <a:pPr>
              <a:lnSpc>
                <a:spcPct val="92000"/>
              </a:lnSpc>
              <a:spcAft>
                <a:spcPts val="100"/>
              </a:spcAft>
            </a:pPr>
            <a:r>
              <a:rPr sz="700" b="0" i="0">
                <a:solidFill>
                  <a:srgbClr val="B3B3B3"/>
                </a:solidFill>
                <a:latin typeface="Trenda IG Text"/>
              </a:rPr>
              <a:t>identity + consent</a:t>
            </a:r>
          </a:p>
        </p:txBody>
      </p:sp>
      <p:cxnSp>
        <p:nvCxnSpPr>
          <p:cNvPr id="7" name="Arrow 6"/>
          <p:cNvCxnSpPr/>
          <p:nvPr/>
        </p:nvCxnSpPr>
        <p:spPr>
          <a:xfrm>
            <a:off x="1704212"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1850516" y="1152144"/>
            <a:ext cx="1292732" cy="65836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1923668"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B · restricted</a:t>
            </a:r>
          </a:p>
          <a:p>
            <a:pPr>
              <a:lnSpc>
                <a:spcPct val="92000"/>
              </a:lnSpc>
              <a:spcAft>
                <a:spcPts val="100"/>
              </a:spcAft>
            </a:pPr>
            <a:r>
              <a:rPr sz="700" b="0" i="0">
                <a:solidFill>
                  <a:srgbClr val="B3B3B3"/>
                </a:solidFill>
                <a:latin typeface="Trenda IG Text"/>
              </a:rPr>
              <a:t>opted out or missing information</a:t>
            </a:r>
          </a:p>
        </p:txBody>
      </p:sp>
      <p:cxnSp>
        <p:nvCxnSpPr>
          <p:cNvPr id="10" name="Arrow 9"/>
          <p:cNvCxnSpPr/>
          <p:nvPr/>
        </p:nvCxnSpPr>
        <p:spPr>
          <a:xfrm>
            <a:off x="3143249"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hape 10"/>
          <p:cNvSpPr/>
          <p:nvPr/>
        </p:nvSpPr>
        <p:spPr>
          <a:xfrm>
            <a:off x="3289553" y="1152144"/>
            <a:ext cx="1292732" cy="65836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3362706"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Cohort Resolution</a:t>
            </a:r>
          </a:p>
          <a:p>
            <a:pPr>
              <a:lnSpc>
                <a:spcPct val="92000"/>
              </a:lnSpc>
              <a:spcAft>
                <a:spcPts val="100"/>
              </a:spcAft>
            </a:pPr>
            <a:r>
              <a:rPr sz="700" b="0" i="0">
                <a:solidFill>
                  <a:srgbClr val="B3B3B3"/>
                </a:solidFill>
                <a:latin typeface="Trenda IG Text"/>
              </a:rPr>
              <a:t>engine: checks opt-outs + filled-in information</a:t>
            </a:r>
          </a:p>
        </p:txBody>
      </p:sp>
      <p:cxnSp>
        <p:nvCxnSpPr>
          <p:cNvPr id="13" name="Arrow 12"/>
          <p:cNvCxnSpPr/>
          <p:nvPr/>
        </p:nvCxnSpPr>
        <p:spPr>
          <a:xfrm>
            <a:off x="4582287"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hape 13"/>
          <p:cNvSpPr/>
          <p:nvPr/>
        </p:nvSpPr>
        <p:spPr>
          <a:xfrm>
            <a:off x="4728591" y="1152144"/>
            <a:ext cx="1292732" cy="65836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801743"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G2</a:t>
            </a:r>
          </a:p>
          <a:p>
            <a:pPr>
              <a:lnSpc>
                <a:spcPct val="92000"/>
              </a:lnSpc>
              <a:spcAft>
                <a:spcPts val="100"/>
              </a:spcAft>
            </a:pPr>
            <a:r>
              <a:rPr sz="700" b="0" i="0">
                <a:solidFill>
                  <a:srgbClr val="B3B3B3"/>
                </a:solidFill>
                <a:latin typeface="Trenda IG Text"/>
              </a:rPr>
              <a:t>masked summary</a:t>
            </a:r>
          </a:p>
        </p:txBody>
      </p:sp>
      <p:cxnSp>
        <p:nvCxnSpPr>
          <p:cNvPr id="16" name="Arrow 15"/>
          <p:cNvCxnSpPr/>
          <p:nvPr/>
        </p:nvCxnSpPr>
        <p:spPr>
          <a:xfrm>
            <a:off x="6021323"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6167627" y="1152144"/>
            <a:ext cx="1292732" cy="65836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240779"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Activation</a:t>
            </a:r>
          </a:p>
          <a:p>
            <a:pPr>
              <a:lnSpc>
                <a:spcPct val="92000"/>
              </a:lnSpc>
              <a:spcAft>
                <a:spcPts val="100"/>
              </a:spcAft>
            </a:pPr>
            <a:r>
              <a:rPr sz="700" b="0" i="0">
                <a:solidFill>
                  <a:srgbClr val="B3B3B3"/>
                </a:solidFill>
                <a:latin typeface="Trenda IG Text"/>
              </a:rPr>
              <a:t>engine: unmasks the minimum fields</a:t>
            </a:r>
          </a:p>
        </p:txBody>
      </p:sp>
      <p:cxnSp>
        <p:nvCxnSpPr>
          <p:cNvPr id="19" name="Arrow 18"/>
          <p:cNvCxnSpPr/>
          <p:nvPr/>
        </p:nvCxnSpPr>
        <p:spPr>
          <a:xfrm>
            <a:off x="7460361"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7606664" y="1152144"/>
            <a:ext cx="1292732" cy="65836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7679816"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Marketing Cloud</a:t>
            </a:r>
          </a:p>
          <a:p>
            <a:pPr>
              <a:lnSpc>
                <a:spcPct val="92000"/>
              </a:lnSpc>
              <a:spcAft>
                <a:spcPts val="100"/>
              </a:spcAft>
            </a:pPr>
            <a:r>
              <a:rPr sz="700" b="0" i="0">
                <a:solidFill>
                  <a:srgbClr val="B3B3B3"/>
                </a:solidFill>
                <a:latin typeface="Trenda IG Text"/>
              </a:rPr>
              <a:t>update request: consent + details</a:t>
            </a:r>
          </a:p>
        </p:txBody>
      </p:sp>
      <p:cxnSp>
        <p:nvCxnSpPr>
          <p:cNvPr id="22" name="Arrow 21"/>
          <p:cNvCxnSpPr/>
          <p:nvPr/>
        </p:nvCxnSpPr>
        <p:spPr>
          <a:xfrm>
            <a:off x="8899397"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hape 22"/>
          <p:cNvSpPr/>
          <p:nvPr/>
        </p:nvSpPr>
        <p:spPr>
          <a:xfrm>
            <a:off x="9045701" y="1152144"/>
            <a:ext cx="1292732" cy="65836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9118853"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Engagement</a:t>
            </a:r>
          </a:p>
          <a:p>
            <a:pPr>
              <a:lnSpc>
                <a:spcPct val="92000"/>
              </a:lnSpc>
              <a:spcAft>
                <a:spcPts val="100"/>
              </a:spcAft>
            </a:pPr>
            <a:r>
              <a:rPr sz="700" b="0" i="0">
                <a:solidFill>
                  <a:srgbClr val="B3B3B3"/>
                </a:solidFill>
                <a:latin typeface="Trenda IG Text"/>
              </a:rPr>
              <a:t>replies + updates</a:t>
            </a:r>
          </a:p>
        </p:txBody>
      </p:sp>
      <p:sp>
        <p:nvSpPr>
          <p:cNvPr id="25" name="Shape 24"/>
          <p:cNvSpPr/>
          <p:nvPr/>
        </p:nvSpPr>
        <p:spPr>
          <a:xfrm>
            <a:off x="10484738" y="1152144"/>
            <a:ext cx="1292732" cy="301751"/>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10557890" y="1188720"/>
            <a:ext cx="1164716" cy="228599"/>
          </a:xfrm>
          <a:prstGeom prst="rect">
            <a:avLst/>
          </a:prstGeom>
          <a:noFill/>
        </p:spPr>
        <p:txBody>
          <a:bodyPr wrap="square" lIns="0" rIns="0" tIns="0" bIns="0" anchor="ctr">
            <a:spAutoFit/>
          </a:bodyPr>
          <a:lstStyle/>
          <a:p>
            <a:pPr>
              <a:lnSpc>
                <a:spcPct val="92000"/>
              </a:lnSpc>
              <a:spcAft>
                <a:spcPts val="100"/>
              </a:spcAft>
            </a:pPr>
            <a:r>
              <a:rPr sz="700" b="1" i="0">
                <a:solidFill>
                  <a:srgbClr val="F2F2F2"/>
                </a:solidFill>
                <a:latin typeface="Trenda IG Text"/>
              </a:rPr>
              <a:t>Gold A · opted in</a:t>
            </a:r>
          </a:p>
          <a:p>
            <a:pPr>
              <a:lnSpc>
                <a:spcPct val="92000"/>
              </a:lnSpc>
              <a:spcAft>
                <a:spcPts val="100"/>
              </a:spcAft>
            </a:pPr>
            <a:r>
              <a:rPr sz="700" b="0" i="0">
                <a:solidFill>
                  <a:srgbClr val="B3B3B3"/>
                </a:solidFill>
                <a:latin typeface="Trenda IG Text"/>
              </a:rPr>
              <a:t>consented; aggregates only</a:t>
            </a:r>
          </a:p>
        </p:txBody>
      </p:sp>
      <p:cxnSp>
        <p:nvCxnSpPr>
          <p:cNvPr id="27" name="Arrow 26"/>
          <p:cNvCxnSpPr/>
          <p:nvPr/>
        </p:nvCxnSpPr>
        <p:spPr>
          <a:xfrm>
            <a:off x="10338434" y="1481328"/>
            <a:ext cx="54865"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flipV="1">
            <a:off x="10393299" y="1303020"/>
            <a:ext cx="0" cy="178308"/>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10393299" y="1303020"/>
            <a:ext cx="91439" cy="0"/>
          </a:xfrm>
          <a:prstGeom prst="line">
            <a:avLst/>
          </a:prstGeom>
          <a:ln w="1270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Shape 29"/>
          <p:cNvSpPr/>
          <p:nvPr/>
        </p:nvSpPr>
        <p:spPr>
          <a:xfrm>
            <a:off x="10484738" y="1508760"/>
            <a:ext cx="1292732" cy="301751"/>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10557890" y="1545336"/>
            <a:ext cx="1164716" cy="228599"/>
          </a:xfrm>
          <a:prstGeom prst="rect">
            <a:avLst/>
          </a:prstGeom>
          <a:noFill/>
        </p:spPr>
        <p:txBody>
          <a:bodyPr wrap="square" lIns="0" rIns="0" tIns="0" bIns="0" anchor="ctr">
            <a:spAutoFit/>
          </a:bodyPr>
          <a:lstStyle/>
          <a:p>
            <a:pPr>
              <a:lnSpc>
                <a:spcPct val="92000"/>
              </a:lnSpc>
              <a:spcAft>
                <a:spcPts val="100"/>
              </a:spcAft>
            </a:pPr>
            <a:r>
              <a:rPr sz="700" b="1" i="0">
                <a:solidFill>
                  <a:srgbClr val="F2F2F2"/>
                </a:solidFill>
                <a:latin typeface="Trenda IG Text"/>
              </a:rPr>
              <a:t>Gold B · not opted in</a:t>
            </a:r>
          </a:p>
          <a:p>
            <a:pPr>
              <a:lnSpc>
                <a:spcPct val="92000"/>
              </a:lnSpc>
              <a:spcAft>
                <a:spcPts val="100"/>
              </a:spcAft>
            </a:pPr>
            <a:r>
              <a:rPr sz="700" b="0" i="0">
                <a:solidFill>
                  <a:srgbClr val="B3B3B3"/>
                </a:solidFill>
                <a:latin typeface="Trenda IG Text"/>
              </a:rPr>
              <a:t>or still missing; per patient</a:t>
            </a:r>
          </a:p>
        </p:txBody>
      </p:sp>
      <p:cxnSp>
        <p:nvCxnSpPr>
          <p:cNvPr id="32" name="Arrow 31"/>
          <p:cNvCxnSpPr/>
          <p:nvPr/>
        </p:nvCxnSpPr>
        <p:spPr>
          <a:xfrm>
            <a:off x="10338434" y="1481328"/>
            <a:ext cx="54865"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33" name="Arrow 32"/>
          <p:cNvCxnSpPr/>
          <p:nvPr/>
        </p:nvCxnSpPr>
        <p:spPr>
          <a:xfrm>
            <a:off x="10393299" y="1481328"/>
            <a:ext cx="0" cy="178308"/>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34" name="Arrow 33"/>
          <p:cNvCxnSpPr/>
          <p:nvPr/>
        </p:nvCxnSpPr>
        <p:spPr>
          <a:xfrm>
            <a:off x="10393299" y="1659636"/>
            <a:ext cx="91439" cy="0"/>
          </a:xfrm>
          <a:prstGeom prst="line">
            <a:avLst/>
          </a:prstGeom>
          <a:ln w="127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11480" y="1975104"/>
            <a:ext cx="365760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21208" y="1975104"/>
            <a:ext cx="3438144" cy="256032"/>
          </a:xfrm>
          <a:prstGeom prst="rect">
            <a:avLst/>
          </a:prstGeom>
          <a:noFill/>
        </p:spPr>
        <p:txBody>
          <a:bodyPr wrap="square" lIns="0" rIns="0" tIns="0" bIns="0" anchor="ctr">
            <a:spAutoFit/>
          </a:bodyPr>
          <a:lstStyle/>
          <a:p>
            <a:r>
              <a:rPr sz="700" b="1" i="0" spc="120">
                <a:solidFill>
                  <a:srgbClr val="FFFFFE"/>
                </a:solidFill>
                <a:latin typeface="Trenda IG Text"/>
              </a:rPr>
              <a:t>WHAT IS IN GOLD B</a:t>
            </a:r>
          </a:p>
        </p:txBody>
      </p:sp>
      <p:sp>
        <p:nvSpPr>
          <p:cNvPr id="37" name="Shape 36"/>
          <p:cNvSpPr/>
          <p:nvPr/>
        </p:nvSpPr>
        <p:spPr>
          <a:xfrm>
            <a:off x="4197096" y="1975104"/>
            <a:ext cx="3566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4306824" y="1975104"/>
            <a:ext cx="3346704" cy="256032"/>
          </a:xfrm>
          <a:prstGeom prst="rect">
            <a:avLst/>
          </a:prstGeom>
          <a:noFill/>
        </p:spPr>
        <p:txBody>
          <a:bodyPr wrap="square" lIns="0" rIns="0" tIns="0" bIns="0" anchor="ctr">
            <a:spAutoFit/>
          </a:bodyPr>
          <a:lstStyle/>
          <a:p>
            <a:r>
              <a:rPr sz="700" b="1" i="0" spc="120">
                <a:solidFill>
                  <a:srgbClr val="000000"/>
                </a:solidFill>
                <a:latin typeface="Trenda IG Text"/>
              </a:rPr>
              <a:t>WHO CAN READ IT</a:t>
            </a:r>
          </a:p>
        </p:txBody>
      </p:sp>
      <p:sp>
        <p:nvSpPr>
          <p:cNvPr id="39" name="Shape 38"/>
          <p:cNvSpPr/>
          <p:nvPr/>
        </p:nvSpPr>
        <p:spPr>
          <a:xfrm>
            <a:off x="7891271" y="1975104"/>
            <a:ext cx="388620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8000999" y="1975104"/>
            <a:ext cx="3666744" cy="256032"/>
          </a:xfrm>
          <a:prstGeom prst="rect">
            <a:avLst/>
          </a:prstGeom>
          <a:noFill/>
        </p:spPr>
        <p:txBody>
          <a:bodyPr wrap="square" lIns="0" rIns="0" tIns="0" bIns="0" anchor="ctr">
            <a:spAutoFit/>
          </a:bodyPr>
          <a:lstStyle/>
          <a:p>
            <a:r>
              <a:rPr sz="700" b="1" i="0" spc="120">
                <a:solidFill>
                  <a:srgbClr val="000000"/>
                </a:solidFill>
                <a:latin typeface="Trenda IG Text"/>
              </a:rPr>
              <a:t>WHAT WE CAN DO WITH IT</a:t>
            </a:r>
          </a:p>
        </p:txBody>
      </p:sp>
      <p:sp>
        <p:nvSpPr>
          <p:cNvPr id="41" name="Shape 40"/>
          <p:cNvSpPr/>
          <p:nvPr/>
        </p:nvSpPr>
        <p:spPr>
          <a:xfrm>
            <a:off x="411480" y="23225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11480" y="23225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539496" y="23225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Patient key</a:t>
            </a:r>
            <a:r>
              <a:rPr sz="700" b="0" i="0">
                <a:solidFill>
                  <a:srgbClr val="B3B3B3"/>
                </a:solidFill>
                <a:latin typeface="Trenda IG Text"/>
              </a:rPr>
              <a:t>  EUID, from Silver identity resolution</a:t>
            </a:r>
          </a:p>
        </p:txBody>
      </p:sp>
      <p:sp>
        <p:nvSpPr>
          <p:cNvPr id="44" name="Shape 43"/>
          <p:cNvSpPr/>
          <p:nvPr/>
        </p:nvSpPr>
        <p:spPr>
          <a:xfrm>
            <a:off x="411480" y="27797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4"/>
          <p:cNvSpPr/>
          <p:nvPr/>
        </p:nvSpPr>
        <p:spPr>
          <a:xfrm>
            <a:off x="411480" y="27797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539496" y="27797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Consent status</a:t>
            </a:r>
            <a:r>
              <a:rPr sz="700" b="0" i="0">
                <a:solidFill>
                  <a:srgbClr val="B3B3B3"/>
                </a:solidFill>
                <a:latin typeface="Trenda IG Text"/>
              </a:rPr>
              <a:t>  opted out, or unknown / expired, per channel and purpose</a:t>
            </a:r>
          </a:p>
        </p:txBody>
      </p:sp>
      <p:sp>
        <p:nvSpPr>
          <p:cNvPr id="47" name="Shape 46"/>
          <p:cNvSpPr/>
          <p:nvPr/>
        </p:nvSpPr>
        <p:spPr>
          <a:xfrm>
            <a:off x="411480" y="32369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7"/>
          <p:cNvSpPr/>
          <p:nvPr/>
        </p:nvSpPr>
        <p:spPr>
          <a:xfrm>
            <a:off x="411480" y="32369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539496" y="32369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Missing information</a:t>
            </a:r>
            <a:r>
              <a:rPr sz="700" b="0" i="0">
                <a:solidFill>
                  <a:srgbClr val="B3B3B3"/>
                </a:solidFill>
                <a:latin typeface="Trenda IG Text"/>
              </a:rPr>
              <a:t>  no email, no mobile number, or unverified contact</a:t>
            </a:r>
          </a:p>
        </p:txBody>
      </p:sp>
      <p:sp>
        <p:nvSpPr>
          <p:cNvPr id="50" name="Shape 49"/>
          <p:cNvSpPr/>
          <p:nvPr/>
        </p:nvSpPr>
        <p:spPr>
          <a:xfrm>
            <a:off x="411480" y="36941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11480" y="36941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39496" y="36941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Contact points we have</a:t>
            </a:r>
            <a:r>
              <a:rPr sz="700" b="0" i="0">
                <a:solidFill>
                  <a:srgbClr val="B3B3B3"/>
                </a:solidFill>
                <a:latin typeface="Trenda IG Text"/>
              </a:rPr>
              <a:t>  verified email or phone, where they exist</a:t>
            </a:r>
          </a:p>
        </p:txBody>
      </p:sp>
      <p:sp>
        <p:nvSpPr>
          <p:cNvPr id="53" name="Shape 52"/>
          <p:cNvSpPr/>
          <p:nvPr/>
        </p:nvSpPr>
        <p:spPr>
          <a:xfrm>
            <a:off x="411480" y="41513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53"/>
          <p:cNvSpPr/>
          <p:nvPr/>
        </p:nvSpPr>
        <p:spPr>
          <a:xfrm>
            <a:off x="411480" y="41513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539496" y="41513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Never-contact</a:t>
            </a:r>
            <a:r>
              <a:rPr sz="700" b="0" i="0">
                <a:solidFill>
                  <a:srgbClr val="B3B3B3"/>
                </a:solidFill>
                <a:latin typeface="Trenda IG Text"/>
              </a:rPr>
              <a:t>  explicit opt-out, STOP, deceased, do-not-contact</a:t>
            </a:r>
          </a:p>
        </p:txBody>
      </p:sp>
      <p:sp>
        <p:nvSpPr>
          <p:cNvPr id="56" name="Shape 55"/>
          <p:cNvSpPr/>
          <p:nvPr/>
        </p:nvSpPr>
        <p:spPr>
          <a:xfrm>
            <a:off x="411480" y="46085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11480" y="46085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39496" y="46085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Preferences</a:t>
            </a:r>
            <a:r>
              <a:rPr sz="700" b="0" i="0">
                <a:solidFill>
                  <a:srgbClr val="B3B3B3"/>
                </a:solidFill>
                <a:latin typeface="Trenda IG Text"/>
              </a:rPr>
              <a:t>  language, quiet hours</a:t>
            </a:r>
          </a:p>
        </p:txBody>
      </p:sp>
      <p:sp>
        <p:nvSpPr>
          <p:cNvPr id="59" name="Shape 58"/>
          <p:cNvSpPr/>
          <p:nvPr/>
        </p:nvSpPr>
        <p:spPr>
          <a:xfrm>
            <a:off x="411480" y="50657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9"/>
          <p:cNvSpPr/>
          <p:nvPr/>
        </p:nvSpPr>
        <p:spPr>
          <a:xfrm>
            <a:off x="411480" y="50657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39496" y="50657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Request history</a:t>
            </a:r>
            <a:r>
              <a:rPr sz="700" b="0" i="0">
                <a:solidFill>
                  <a:srgbClr val="B3B3B3"/>
                </a:solidFill>
                <a:latin typeface="Trenda IG Text"/>
              </a:rPr>
              <a:t>  update requests sent, replies, consents given</a:t>
            </a:r>
          </a:p>
        </p:txBody>
      </p:sp>
      <p:sp>
        <p:nvSpPr>
          <p:cNvPr id="62" name="Shape 61"/>
          <p:cNvSpPr/>
          <p:nvPr/>
        </p:nvSpPr>
        <p:spPr>
          <a:xfrm>
            <a:off x="4197096" y="23225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hape 62"/>
          <p:cNvSpPr/>
          <p:nvPr/>
        </p:nvSpPr>
        <p:spPr>
          <a:xfrm>
            <a:off x="4197096" y="2322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4325112" y="23225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Cohort Resolution Engine</a:t>
            </a:r>
            <a:r>
              <a:rPr sz="700" b="0" i="0">
                <a:solidFill>
                  <a:srgbClr val="B3B3B3"/>
                </a:solidFill>
                <a:latin typeface="Trenda IG Text"/>
              </a:rPr>
              <a:t>  for an approved cohort JSON only</a:t>
            </a:r>
          </a:p>
        </p:txBody>
      </p:sp>
      <p:sp>
        <p:nvSpPr>
          <p:cNvPr id="65" name="Shape 64"/>
          <p:cNvSpPr/>
          <p:nvPr/>
        </p:nvSpPr>
        <p:spPr>
          <a:xfrm>
            <a:off x="4197096" y="27797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5"/>
          <p:cNvSpPr/>
          <p:nvPr/>
        </p:nvSpPr>
        <p:spPr>
          <a:xfrm>
            <a:off x="4197096" y="2779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4325112" y="27797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Activation Engine</a:t>
            </a:r>
            <a:r>
              <a:rPr sz="700" b="0" i="0">
                <a:solidFill>
                  <a:srgbClr val="B3B3B3"/>
                </a:solidFill>
                <a:latin typeface="Trenda IG Text"/>
              </a:rPr>
              <a:t>  unmasks the minimum fields, for the approved run</a:t>
            </a:r>
          </a:p>
        </p:txBody>
      </p:sp>
      <p:sp>
        <p:nvSpPr>
          <p:cNvPr id="68" name="Shape 67"/>
          <p:cNvSpPr/>
          <p:nvPr/>
        </p:nvSpPr>
        <p:spPr>
          <a:xfrm>
            <a:off x="4197096" y="32369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4197096" y="32369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4325112" y="3236976"/>
            <a:ext cx="3383279"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Agents and Codex</a:t>
            </a:r>
            <a:r>
              <a:rPr sz="700" b="0" i="0">
                <a:solidFill>
                  <a:srgbClr val="B3B3B3"/>
                </a:solidFill>
                <a:latin typeface="Trenda IG Text"/>
              </a:rPr>
              <a:t>  never: counts only, through the summary</a:t>
            </a:r>
          </a:p>
        </p:txBody>
      </p:sp>
      <p:sp>
        <p:nvSpPr>
          <p:cNvPr id="71" name="Shape 70"/>
          <p:cNvSpPr/>
          <p:nvPr/>
        </p:nvSpPr>
        <p:spPr>
          <a:xfrm>
            <a:off x="4197096" y="36941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71"/>
          <p:cNvSpPr/>
          <p:nvPr/>
        </p:nvSpPr>
        <p:spPr>
          <a:xfrm>
            <a:off x="4197096" y="36941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325112" y="3694176"/>
            <a:ext cx="3383279"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Semantic layer + graph</a:t>
            </a:r>
            <a:r>
              <a:rPr sz="700" b="0" i="0">
                <a:solidFill>
                  <a:srgbClr val="B3B3B3"/>
                </a:solidFill>
                <a:latin typeface="Trenda IG Text"/>
              </a:rPr>
              <a:t>  never: they read Gold A</a:t>
            </a:r>
          </a:p>
        </p:txBody>
      </p:sp>
      <p:sp>
        <p:nvSpPr>
          <p:cNvPr id="74" name="Shape 73"/>
          <p:cNvSpPr/>
          <p:nvPr/>
        </p:nvSpPr>
        <p:spPr>
          <a:xfrm>
            <a:off x="4197096" y="41513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197096" y="41513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325112" y="41513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People</a:t>
            </a:r>
            <a:r>
              <a:rPr sz="700" b="0" i="0">
                <a:solidFill>
                  <a:srgbClr val="B3B3B3"/>
                </a:solidFill>
                <a:latin typeface="Trenda IG Text"/>
              </a:rPr>
              <a:t>  the masked G2 summary; break-glass logged</a:t>
            </a:r>
          </a:p>
        </p:txBody>
      </p:sp>
      <p:sp>
        <p:nvSpPr>
          <p:cNvPr id="77" name="Shape 76"/>
          <p:cNvSpPr/>
          <p:nvPr/>
        </p:nvSpPr>
        <p:spPr>
          <a:xfrm>
            <a:off x="4197096" y="46085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7"/>
          <p:cNvSpPr/>
          <p:nvPr/>
        </p:nvSpPr>
        <p:spPr>
          <a:xfrm>
            <a:off x="4197096" y="4608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4325112" y="46085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Marketing Cloud</a:t>
            </a:r>
            <a:r>
              <a:rPr sz="700" b="0" i="0">
                <a:solidFill>
                  <a:srgbClr val="B3B3B3"/>
                </a:solidFill>
                <a:latin typeface="Trenda IG Text"/>
              </a:rPr>
              <a:t>  only the released fields, this run</a:t>
            </a:r>
          </a:p>
        </p:txBody>
      </p:sp>
      <p:sp>
        <p:nvSpPr>
          <p:cNvPr id="80" name="Shape 79"/>
          <p:cNvSpPr/>
          <p:nvPr/>
        </p:nvSpPr>
        <p:spPr>
          <a:xfrm>
            <a:off x="4197096" y="50657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80"/>
          <p:cNvSpPr/>
          <p:nvPr/>
        </p:nvSpPr>
        <p:spPr>
          <a:xfrm>
            <a:off x="4197096" y="5065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4325112" y="50657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Sierra voice agent</a:t>
            </a:r>
            <a:r>
              <a:rPr sz="700" b="0" i="0">
                <a:solidFill>
                  <a:srgbClr val="B3B3B3"/>
                </a:solidFill>
                <a:latin typeface="Trenda IG Text"/>
              </a:rPr>
              <a:t>  patient-context API: this verified caller only</a:t>
            </a:r>
          </a:p>
        </p:txBody>
      </p:sp>
      <p:sp>
        <p:nvSpPr>
          <p:cNvPr id="83" name="Shape 82"/>
          <p:cNvSpPr/>
          <p:nvPr/>
        </p:nvSpPr>
        <p:spPr>
          <a:xfrm>
            <a:off x="7891271" y="23225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7891271" y="2322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019288" y="23225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  </a:t>
            </a:r>
            <a:r>
              <a:rPr sz="700" b="1" i="0">
                <a:solidFill>
                  <a:srgbClr val="F2F2F2"/>
                </a:solidFill>
                <a:latin typeface="Trenda IG Text"/>
              </a:rPr>
              <a:t>Find who may be asked: consent unknown or information missing</a:t>
            </a:r>
            <a:r>
              <a:rPr sz="700" b="0" i="0">
                <a:solidFill>
                  <a:srgbClr val="B3B3B3"/>
                </a:solidFill>
                <a:latin typeface="Trenda IG Text"/>
              </a:rPr>
              <a:t>  </a:t>
            </a:r>
          </a:p>
        </p:txBody>
      </p:sp>
      <p:sp>
        <p:nvSpPr>
          <p:cNvPr id="86" name="Shape 85"/>
          <p:cNvSpPr/>
          <p:nvPr/>
        </p:nvSpPr>
        <p:spPr>
          <a:xfrm>
            <a:off x="7891271" y="27797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7891271" y="2779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019288" y="27797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2  </a:t>
            </a:r>
            <a:r>
              <a:rPr sz="700" b="1" i="0">
                <a:solidFill>
                  <a:srgbClr val="F2F2F2"/>
                </a:solidFill>
                <a:latin typeface="Trenda IG Text"/>
              </a:rPr>
              <a:t>Never re-ask explicit opt-outs, STOP, deceased or do-not-contact</a:t>
            </a:r>
            <a:r>
              <a:rPr sz="700" b="0" i="0">
                <a:solidFill>
                  <a:srgbClr val="B3B3B3"/>
                </a:solidFill>
                <a:latin typeface="Trenda IG Text"/>
              </a:rPr>
              <a:t>  </a:t>
            </a:r>
          </a:p>
        </p:txBody>
      </p:sp>
      <p:sp>
        <p:nvSpPr>
          <p:cNvPr id="89" name="Shape 88"/>
          <p:cNvSpPr/>
          <p:nvPr/>
        </p:nvSpPr>
        <p:spPr>
          <a:xfrm>
            <a:off x="7891271" y="32369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7891271" y="32369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019288" y="32369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3  </a:t>
            </a:r>
            <a:r>
              <a:rPr sz="700" b="1" i="0">
                <a:solidFill>
                  <a:srgbClr val="F2F2F2"/>
                </a:solidFill>
                <a:latin typeface="Trenda IG Text"/>
              </a:rPr>
              <a:t>Produce the masked G2 summary: counts by reason</a:t>
            </a:r>
            <a:r>
              <a:rPr sz="700" b="0" i="0">
                <a:solidFill>
                  <a:srgbClr val="B3B3B3"/>
                </a:solidFill>
                <a:latin typeface="Trenda IG Text"/>
              </a:rPr>
              <a:t>  </a:t>
            </a:r>
          </a:p>
        </p:txBody>
      </p:sp>
      <p:sp>
        <p:nvSpPr>
          <p:cNvPr id="92" name="Shape 91"/>
          <p:cNvSpPr/>
          <p:nvPr/>
        </p:nvSpPr>
        <p:spPr>
          <a:xfrm>
            <a:off x="7891271" y="36941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891271" y="36941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019288" y="36941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4  </a:t>
            </a:r>
            <a:r>
              <a:rPr sz="700" b="1" i="0">
                <a:solidFill>
                  <a:srgbClr val="F2F2F2"/>
                </a:solidFill>
                <a:latin typeface="Trenda IG Text"/>
              </a:rPr>
              <a:t>Send an update request by email where an address exists; else portal</a:t>
            </a:r>
            <a:r>
              <a:rPr sz="700" b="0" i="0">
                <a:solidFill>
                  <a:srgbClr val="B3B3B3"/>
                </a:solidFill>
                <a:latin typeface="Trenda IG Text"/>
              </a:rPr>
              <a:t>  </a:t>
            </a:r>
          </a:p>
        </p:txBody>
      </p:sp>
      <p:sp>
        <p:nvSpPr>
          <p:cNvPr id="95" name="Shape 94"/>
          <p:cNvSpPr/>
          <p:nvPr/>
        </p:nvSpPr>
        <p:spPr>
          <a:xfrm>
            <a:off x="7891271" y="41513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891271" y="41513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8019288" y="41513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5  </a:t>
            </a:r>
            <a:r>
              <a:rPr sz="700" b="1" i="0">
                <a:solidFill>
                  <a:srgbClr val="F2F2F2"/>
                </a:solidFill>
                <a:latin typeface="Trenda IG Text"/>
              </a:rPr>
              <a:t>Write answers back to Epic and the consent system, not to Gold B</a:t>
            </a:r>
            <a:r>
              <a:rPr sz="700" b="0" i="0">
                <a:solidFill>
                  <a:srgbClr val="B3B3B3"/>
                </a:solidFill>
                <a:latin typeface="Trenda IG Text"/>
              </a:rPr>
              <a:t>  </a:t>
            </a:r>
          </a:p>
        </p:txBody>
      </p:sp>
      <p:sp>
        <p:nvSpPr>
          <p:cNvPr id="98" name="Shape 97"/>
          <p:cNvSpPr/>
          <p:nvPr/>
        </p:nvSpPr>
        <p:spPr>
          <a:xfrm>
            <a:off x="7891271" y="46085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891271" y="4608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8019288" y="46085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6  </a:t>
            </a:r>
            <a:r>
              <a:rPr sz="700" b="1" i="0">
                <a:solidFill>
                  <a:srgbClr val="F2F2F2"/>
                </a:solidFill>
                <a:latin typeface="Trenda IG Text"/>
              </a:rPr>
              <a:t>Opted in: the patient moves to Gold A at the next daily refresh</a:t>
            </a:r>
            <a:r>
              <a:rPr sz="700" b="0" i="0">
                <a:solidFill>
                  <a:srgbClr val="B3B3B3"/>
                </a:solidFill>
                <a:latin typeface="Trenda IG Text"/>
              </a:rPr>
              <a:t>  </a:t>
            </a:r>
          </a:p>
        </p:txBody>
      </p:sp>
      <p:sp>
        <p:nvSpPr>
          <p:cNvPr id="101" name="Shape 100"/>
          <p:cNvSpPr/>
          <p:nvPr/>
        </p:nvSpPr>
        <p:spPr>
          <a:xfrm>
            <a:off x="7891271" y="50657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891271" y="5065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8019288" y="50657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7  </a:t>
            </a:r>
            <a:r>
              <a:rPr sz="700" b="1" i="0">
                <a:solidFill>
                  <a:srgbClr val="F2F2F2"/>
                </a:solidFill>
                <a:latin typeface="Trenda IG Text"/>
              </a:rPr>
              <a:t>Not opted in or still missing: stays in Gold B, restricted</a:t>
            </a:r>
            <a:r>
              <a:rPr sz="700" b="0" i="0">
                <a:solidFill>
                  <a:srgbClr val="B3B3B3"/>
                </a:solidFill>
                <a:latin typeface="Trenda IG Text"/>
              </a:rPr>
              <a:t>  </a:t>
            </a:r>
          </a:p>
        </p:txBody>
      </p:sp>
      <p:sp>
        <p:nvSpPr>
          <p:cNvPr id="104" name="Text 103"/>
          <p:cNvSpPr txBox="1"/>
          <p:nvPr/>
        </p:nvSpPr>
        <p:spPr>
          <a:xfrm>
            <a:off x="411480" y="5559552"/>
            <a:ext cx="1188720" cy="676656"/>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CONTROLS</a:t>
            </a:r>
          </a:p>
          <a:p>
            <a:pPr>
              <a:spcAft>
                <a:spcPts val="100"/>
              </a:spcAft>
            </a:pPr>
            <a:r>
              <a:rPr sz="700" b="0" i="0">
                <a:solidFill>
                  <a:srgbClr val="8C8C8C"/>
                </a:solidFill>
                <a:latin typeface="Trenda IG Text"/>
              </a:rPr>
              <a:t>on Gold B</a:t>
            </a:r>
          </a:p>
        </p:txBody>
      </p:sp>
      <p:sp>
        <p:nvSpPr>
          <p:cNvPr id="105" name="Shape 104"/>
          <p:cNvSpPr/>
          <p:nvPr/>
        </p:nvSpPr>
        <p:spPr>
          <a:xfrm>
            <a:off x="164592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164592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179222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Service identities only</a:t>
            </a:r>
          </a:p>
          <a:p>
            <a:pPr>
              <a:spcAft>
                <a:spcPts val="100"/>
              </a:spcAft>
            </a:pPr>
            <a:r>
              <a:rPr sz="700" b="0" i="0">
                <a:solidFill>
                  <a:srgbClr val="B3B3B3"/>
                </a:solidFill>
                <a:latin typeface="Trenda IG Text"/>
              </a:rPr>
              <a:t>no agent, no dashboard</a:t>
            </a:r>
          </a:p>
        </p:txBody>
      </p:sp>
      <p:sp>
        <p:nvSpPr>
          <p:cNvPr id="108" name="Shape 107"/>
          <p:cNvSpPr/>
          <p:nvPr/>
        </p:nvSpPr>
        <p:spPr>
          <a:xfrm>
            <a:off x="3349752"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8"/>
          <p:cNvSpPr/>
          <p:nvPr/>
        </p:nvSpPr>
        <p:spPr>
          <a:xfrm>
            <a:off x="3349752"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3496056"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Row + column policies</a:t>
            </a:r>
          </a:p>
          <a:p>
            <a:pPr>
              <a:spcAft>
                <a:spcPts val="100"/>
              </a:spcAft>
            </a:pPr>
            <a:r>
              <a:rPr sz="700" b="0" i="0">
                <a:solidFill>
                  <a:srgbClr val="B3B3B3"/>
                </a:solidFill>
                <a:latin typeface="Trenda IG Text"/>
              </a:rPr>
              <a:t>CMEK encryption</a:t>
            </a:r>
          </a:p>
        </p:txBody>
      </p:sp>
      <p:sp>
        <p:nvSpPr>
          <p:cNvPr id="111" name="Shape 110"/>
          <p:cNvSpPr/>
          <p:nvPr/>
        </p:nvSpPr>
        <p:spPr>
          <a:xfrm>
            <a:off x="5053584"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Shape 111"/>
          <p:cNvSpPr/>
          <p:nvPr/>
        </p:nvSpPr>
        <p:spPr>
          <a:xfrm>
            <a:off x="5053584"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5199888"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Every read logged</a:t>
            </a:r>
          </a:p>
          <a:p>
            <a:pPr>
              <a:spcAft>
                <a:spcPts val="100"/>
              </a:spcAft>
            </a:pPr>
            <a:r>
              <a:rPr sz="700" b="0" i="0">
                <a:solidFill>
                  <a:srgbClr val="B3B3B3"/>
                </a:solidFill>
                <a:latin typeface="Trenda IG Text"/>
              </a:rPr>
              <a:t>who, why, which rule version</a:t>
            </a:r>
          </a:p>
        </p:txBody>
      </p:sp>
      <p:sp>
        <p:nvSpPr>
          <p:cNvPr id="114" name="Shape 113"/>
          <p:cNvSpPr/>
          <p:nvPr/>
        </p:nvSpPr>
        <p:spPr>
          <a:xfrm>
            <a:off x="6757416"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14"/>
          <p:cNvSpPr/>
          <p:nvPr/>
        </p:nvSpPr>
        <p:spPr>
          <a:xfrm>
            <a:off x="6757416"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6903720"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Retention limits</a:t>
            </a:r>
          </a:p>
          <a:p>
            <a:pPr>
              <a:spcAft>
                <a:spcPts val="100"/>
              </a:spcAft>
            </a:pPr>
            <a:r>
              <a:rPr sz="700" b="0" i="0">
                <a:solidFill>
                  <a:srgbClr val="B3B3B3"/>
                </a:solidFill>
                <a:latin typeface="Trenda IG Text"/>
              </a:rPr>
              <a:t>purged on schedule</a:t>
            </a:r>
          </a:p>
        </p:txBody>
      </p:sp>
      <p:sp>
        <p:nvSpPr>
          <p:cNvPr id="117" name="Shape 116"/>
          <p:cNvSpPr/>
          <p:nvPr/>
        </p:nvSpPr>
        <p:spPr>
          <a:xfrm>
            <a:off x="8461248"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Shape 117"/>
          <p:cNvSpPr/>
          <p:nvPr/>
        </p:nvSpPr>
        <p:spPr>
          <a:xfrm>
            <a:off x="8461248"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8607552"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Opt-outs never re-asked</a:t>
            </a:r>
          </a:p>
          <a:p>
            <a:pPr>
              <a:spcAft>
                <a:spcPts val="100"/>
              </a:spcAft>
            </a:pPr>
            <a:r>
              <a:rPr sz="700" b="0" i="0">
                <a:solidFill>
                  <a:srgbClr val="B3B3B3"/>
                </a:solidFill>
                <a:latin typeface="Trenda IG Text"/>
              </a:rPr>
              <a:t>STOP and deceased excluded</a:t>
            </a:r>
          </a:p>
        </p:txBody>
      </p:sp>
      <p:sp>
        <p:nvSpPr>
          <p:cNvPr id="120" name="Shape 119"/>
          <p:cNvSpPr/>
          <p:nvPr/>
        </p:nvSpPr>
        <p:spPr>
          <a:xfrm>
            <a:off x="1016508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1016508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1031138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Reconciled every run</a:t>
            </a:r>
          </a:p>
          <a:p>
            <a:pPr>
              <a:spcAft>
                <a:spcPts val="100"/>
              </a:spcAft>
            </a:pPr>
            <a:r>
              <a:rPr sz="700" b="0" i="0">
                <a:solidFill>
                  <a:srgbClr val="B3B3B3"/>
                </a:solidFill>
                <a:latin typeface="Trenda IG Text"/>
              </a:rPr>
              <a:t>counts match end to 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FUNCTIONAL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Create a campaign in Codex: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Agents work only with definitions and counts. Patient-level data moves only through deterministic services, and only after people approve.</a:t>
            </a:r>
          </a:p>
        </p:txBody>
      </p:sp>
      <p:cxnSp>
        <p:nvCxnSpPr>
          <p:cNvPr id="5" name="Arrow 4"/>
          <p:cNvCxnSpPr/>
          <p:nvPr/>
        </p:nvCxnSpPr>
        <p:spPr>
          <a:xfrm>
            <a:off x="6906332"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people.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People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Codex · approval page</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harness.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Agents</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Orchestrator, Strategist, Analytics, Design, Readiness</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ooglebigquery.png"/>
          <p:cNvPicPr>
            <a:picLocks noChangeAspect="1"/>
          </p:cNvPicPr>
          <p:nvPr/>
        </p:nvPicPr>
        <p:blipFill>
          <a:blip r:embed="rId4"/>
          <a:stretch>
            <a:fillRect/>
          </a:stretch>
        </p:blipFill>
        <p:spPr>
          <a:xfrm>
            <a:off x="3777778" y="1243584"/>
            <a:ext cx="182880" cy="182880"/>
          </a:xfrm>
          <a:prstGeom prst="rect">
            <a:avLst/>
          </a:prstGeom>
        </p:spPr>
      </p:pic>
      <p:sp>
        <p:nvSpPr>
          <p:cNvPr id="18" name="Text 14"/>
          <p:cNvSpPr txBox="1"/>
          <p:nvPr/>
        </p:nvSpPr>
        <p:spPr>
          <a:xfrm>
            <a:off x="4015522"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Gold A · opted in</a:t>
            </a:r>
          </a:p>
        </p:txBody>
      </p:sp>
      <p:sp>
        <p:nvSpPr>
          <p:cNvPr id="19"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consented patients, masked for agents; policy tags</a:t>
            </a:r>
          </a:p>
        </p:txBody>
      </p:sp>
      <p:cxnSp>
        <p:nvCxnSpPr>
          <p:cNvPr id="20"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1" name="Shape 17"/>
          <p:cNvSpPr/>
          <p:nvPr/>
        </p:nvSpPr>
        <p:spPr>
          <a:xfrm>
            <a:off x="5328339"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ooglecloudspanner.png"/>
          <p:cNvPicPr>
            <a:picLocks noChangeAspect="1"/>
          </p:cNvPicPr>
          <p:nvPr/>
        </p:nvPicPr>
        <p:blipFill>
          <a:blip r:embed="rId5"/>
          <a:stretch>
            <a:fillRect/>
          </a:stretch>
        </p:blipFill>
        <p:spPr>
          <a:xfrm>
            <a:off x="5401491" y="1243584"/>
            <a:ext cx="182880" cy="182880"/>
          </a:xfrm>
          <a:prstGeom prst="rect">
            <a:avLst/>
          </a:prstGeom>
        </p:spPr>
      </p:pic>
      <p:sp>
        <p:nvSpPr>
          <p:cNvPr id="23" name="Text 18"/>
          <p:cNvSpPr txBox="1"/>
          <p:nvPr/>
        </p:nvSpPr>
        <p:spPr>
          <a:xfrm>
            <a:off x="5639235"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Knowledge graph</a:t>
            </a:r>
          </a:p>
        </p:txBody>
      </p:sp>
      <p:sp>
        <p:nvSpPr>
          <p:cNvPr id="24"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semantic layer: definitions, counts, rules · Spanner Graph</a:t>
            </a:r>
          </a:p>
        </p:txBody>
      </p:sp>
      <p:cxnSp>
        <p:nvCxnSpPr>
          <p:cNvPr id="25"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6" name="Shape 21"/>
          <p:cNvSpPr/>
          <p:nvPr/>
        </p:nvSpPr>
        <p:spPr>
          <a:xfrm>
            <a:off x="6952052"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6"/>
          <a:stretch>
            <a:fillRect/>
          </a:stretch>
        </p:blipFill>
        <p:spPr>
          <a:xfrm>
            <a:off x="7025204" y="1243584"/>
            <a:ext cx="182880" cy="182880"/>
          </a:xfrm>
          <a:prstGeom prst="rect">
            <a:avLst/>
          </a:prstGeom>
        </p:spPr>
      </p:pic>
      <p:sp>
        <p:nvSpPr>
          <p:cNvPr id="28" name="Text 22"/>
          <p:cNvSpPr txBox="1"/>
          <p:nvPr/>
        </p:nvSpPr>
        <p:spPr>
          <a:xfrm>
            <a:off x="7262948"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Eligibility service</a:t>
            </a:r>
          </a:p>
        </p:txBody>
      </p:sp>
      <p:sp>
        <p:nvSpPr>
          <p:cNvPr id="29" name="Text 23"/>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deterministic; runs on Gold A records</a:t>
            </a:r>
          </a:p>
        </p:txBody>
      </p:sp>
      <p:cxnSp>
        <p:nvCxnSpPr>
          <p:cNvPr id="30" name="Arrow 24"/>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1" name="Differentiator Border 26"/>
          <p:cNvSpPr/>
          <p:nvPr/>
        </p:nvSpPr>
        <p:spPr>
          <a:xfrm>
            <a:off x="8575765"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27"/>
          <p:cNvSpPr/>
          <p:nvPr/>
        </p:nvSpPr>
        <p:spPr>
          <a:xfrm>
            <a:off x="8603197"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Activation engine</a:t>
            </a:r>
          </a:p>
        </p:txBody>
      </p:sp>
      <p:sp>
        <p:nvSpPr>
          <p:cNvPr id="34"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policy checks; unmasks minimum fields</a:t>
            </a:r>
          </a:p>
        </p:txBody>
      </p:sp>
      <p:cxnSp>
        <p:nvCxnSpPr>
          <p:cNvPr id="35"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6" name="Shape 31"/>
          <p:cNvSpPr/>
          <p:nvPr/>
        </p:nvSpPr>
        <p:spPr>
          <a:xfrm>
            <a:off x="10199478"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salesforce.png"/>
          <p:cNvPicPr>
            <a:picLocks noChangeAspect="1"/>
          </p:cNvPicPr>
          <p:nvPr/>
        </p:nvPicPr>
        <p:blipFill>
          <a:blip r:embed="rId7"/>
          <a:stretch>
            <a:fillRect/>
          </a:stretch>
        </p:blipFill>
        <p:spPr>
          <a:xfrm>
            <a:off x="10272630" y="1243584"/>
            <a:ext cx="182880" cy="182880"/>
          </a:xfrm>
          <a:prstGeom prst="rect">
            <a:avLst/>
          </a:prstGeom>
        </p:spPr>
      </p:pic>
      <p:sp>
        <p:nvSpPr>
          <p:cNvPr id="38"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2F2F2"/>
                </a:solidFill>
                <a:latin typeface="Trenda IG Text"/>
              </a:rPr>
              <a:t>Marketing Cloud</a:t>
            </a:r>
          </a:p>
        </p:txBody>
      </p:sp>
      <p:sp>
        <p:nvSpPr>
          <p:cNvPr id="39"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journey + data extension</a:t>
            </a:r>
          </a:p>
        </p:txBody>
      </p:sp>
      <p:cxnSp>
        <p:nvCxnSpPr>
          <p:cNvPr id="40"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cxnSp>
        <p:nvCxnSpPr>
          <p:cNvPr id="41" name="Arrow 35"/>
          <p:cNvCxnSpPr/>
          <p:nvPr/>
        </p:nvCxnSpPr>
        <p:spPr>
          <a:xfrm>
            <a:off x="4470762" y="1984248"/>
            <a:ext cx="1623714"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6"/>
          <p:cNvSpPr/>
          <p:nvPr/>
        </p:nvSpPr>
        <p:spPr>
          <a:xfrm>
            <a:off x="3442389" y="1833372"/>
            <a:ext cx="368045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7"/>
          <p:cNvSpPr txBox="1"/>
          <p:nvPr/>
        </p:nvSpPr>
        <p:spPr>
          <a:xfrm>
            <a:off x="3442389" y="1833372"/>
            <a:ext cx="3680459" cy="128016"/>
          </a:xfrm>
          <a:prstGeom prst="rect">
            <a:avLst/>
          </a:prstGeom>
          <a:noFill/>
        </p:spPr>
        <p:txBody>
          <a:bodyPr wrap="square" lIns="0" rIns="0" tIns="0" bIns="0" anchor="ctr">
            <a:spAutoFit/>
          </a:bodyPr>
          <a:lstStyle/>
          <a:p>
            <a:pPr algn="ctr"/>
            <a:r>
              <a:rPr sz="700" b="0" i="0">
                <a:solidFill>
                  <a:srgbClr val="F2F2F2"/>
                </a:solidFill>
                <a:latin typeface="Trenda IG Text"/>
              </a:rPr>
              <a:t>0  Kept current: aggregates and definitions only, never patient records</a:t>
            </a:r>
          </a:p>
        </p:txBody>
      </p:sp>
      <p:cxnSp>
        <p:nvCxnSpPr>
          <p:cNvPr id="44" name="Arrow 38"/>
          <p:cNvCxnSpPr/>
          <p:nvPr/>
        </p:nvCxnSpPr>
        <p:spPr>
          <a:xfrm>
            <a:off x="1223336" y="219506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Shape 39"/>
          <p:cNvSpPr/>
          <p:nvPr/>
        </p:nvSpPr>
        <p:spPr>
          <a:xfrm>
            <a:off x="411480" y="2044192"/>
            <a:ext cx="3278124"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0"/>
          <p:cNvSpPr txBox="1"/>
          <p:nvPr/>
        </p:nvSpPr>
        <p:spPr>
          <a:xfrm>
            <a:off x="411480" y="2044192"/>
            <a:ext cx="3278124" cy="128016"/>
          </a:xfrm>
          <a:prstGeom prst="rect">
            <a:avLst/>
          </a:prstGeom>
          <a:noFill/>
        </p:spPr>
        <p:txBody>
          <a:bodyPr wrap="square" lIns="0" rIns="0" tIns="0" bIns="0" anchor="ctr">
            <a:spAutoFit/>
          </a:bodyPr>
          <a:lstStyle/>
          <a:p>
            <a:pPr algn="ctr"/>
            <a:r>
              <a:rPr sz="700" b="0" i="0">
                <a:solidFill>
                  <a:srgbClr val="F2F2F2"/>
                </a:solidFill>
                <a:latin typeface="Trenda IG Text"/>
              </a:rPr>
              <a:t>1  “Build a post-discharge campaign for heart-failure patients”</a:t>
            </a:r>
          </a:p>
        </p:txBody>
      </p:sp>
      <p:cxnSp>
        <p:nvCxnSpPr>
          <p:cNvPr id="47" name="Arrow 41"/>
          <p:cNvCxnSpPr/>
          <p:nvPr/>
        </p:nvCxnSpPr>
        <p:spPr>
          <a:xfrm>
            <a:off x="2847049" y="2405888"/>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2"/>
          <p:cNvSpPr/>
          <p:nvPr/>
        </p:nvSpPr>
        <p:spPr>
          <a:xfrm>
            <a:off x="2892769" y="2255012"/>
            <a:ext cx="3155986"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3"/>
          <p:cNvSpPr txBox="1"/>
          <p:nvPr/>
        </p:nvSpPr>
        <p:spPr>
          <a:xfrm>
            <a:off x="2892769" y="2255012"/>
            <a:ext cx="3155986" cy="128016"/>
          </a:xfrm>
          <a:prstGeom prst="rect">
            <a:avLst/>
          </a:prstGeom>
          <a:noFill/>
        </p:spPr>
        <p:txBody>
          <a:bodyPr wrap="square" lIns="0" rIns="0" tIns="0" bIns="0" anchor="ctr">
            <a:spAutoFit/>
          </a:bodyPr>
          <a:lstStyle/>
          <a:p>
            <a:pPr algn="ctr"/>
            <a:r>
              <a:rPr sz="700" b="0" i="0">
                <a:solidFill>
                  <a:srgbClr val="F2F2F2"/>
                </a:solidFill>
                <a:latin typeface="Trenda IG Text"/>
              </a:rPr>
              <a:t>2  What is a heart-failure patient? Which data, which rules?</a:t>
            </a:r>
          </a:p>
        </p:txBody>
      </p:sp>
      <p:cxnSp>
        <p:nvCxnSpPr>
          <p:cNvPr id="50" name="Arrow 44"/>
          <p:cNvCxnSpPr/>
          <p:nvPr/>
        </p:nvCxnSpPr>
        <p:spPr>
          <a:xfrm flipH="1">
            <a:off x="2847049" y="2616708"/>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Shape 45"/>
          <p:cNvSpPr/>
          <p:nvPr/>
        </p:nvSpPr>
        <p:spPr>
          <a:xfrm>
            <a:off x="2756262" y="2465832"/>
            <a:ext cx="34290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6"/>
          <p:cNvSpPr txBox="1"/>
          <p:nvPr/>
        </p:nvSpPr>
        <p:spPr>
          <a:xfrm>
            <a:off x="2756262" y="2465832"/>
            <a:ext cx="3429000" cy="128016"/>
          </a:xfrm>
          <a:prstGeom prst="rect">
            <a:avLst/>
          </a:prstGeom>
          <a:noFill/>
        </p:spPr>
        <p:txBody>
          <a:bodyPr wrap="square" lIns="0" rIns="0" tIns="0" bIns="0" anchor="ctr">
            <a:spAutoFit/>
          </a:bodyPr>
          <a:lstStyle/>
          <a:p>
            <a:pPr algn="ctr"/>
            <a:r>
              <a:rPr sz="700" b="0" i="0">
                <a:solidFill>
                  <a:srgbClr val="B3B3B3"/>
                </a:solidFill>
                <a:latin typeface="Trenda IG Text"/>
              </a:rPr>
              <a:t>3  Definition, Gold A table and consent rule, each with its source</a:t>
            </a:r>
          </a:p>
        </p:txBody>
      </p:sp>
      <p:cxnSp>
        <p:nvCxnSpPr>
          <p:cNvPr id="53" name="Arrow 47"/>
          <p:cNvCxnSpPr/>
          <p:nvPr/>
        </p:nvCxnSpPr>
        <p:spPr>
          <a:xfrm>
            <a:off x="2847049" y="282752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Shape 48"/>
          <p:cNvSpPr/>
          <p:nvPr/>
        </p:nvSpPr>
        <p:spPr>
          <a:xfrm>
            <a:off x="2573056" y="2676652"/>
            <a:ext cx="21717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49"/>
          <p:cNvSpPr txBox="1"/>
          <p:nvPr/>
        </p:nvSpPr>
        <p:spPr>
          <a:xfrm>
            <a:off x="2573056" y="2676652"/>
            <a:ext cx="2171700" cy="128016"/>
          </a:xfrm>
          <a:prstGeom prst="rect">
            <a:avLst/>
          </a:prstGeom>
          <a:noFill/>
        </p:spPr>
        <p:txBody>
          <a:bodyPr wrap="square" lIns="0" rIns="0" tIns="0" bIns="0" anchor="ctr">
            <a:spAutoFit/>
          </a:bodyPr>
          <a:lstStyle/>
          <a:p>
            <a:pPr algn="ctr"/>
            <a:r>
              <a:rPr sz="700" b="0" i="0">
                <a:solidFill>
                  <a:srgbClr val="F2F2F2"/>
                </a:solidFill>
                <a:latin typeface="Trenda IG Text"/>
              </a:rPr>
              <a:t>4  Count the cohort by channel and region</a:t>
            </a:r>
          </a:p>
        </p:txBody>
      </p:sp>
      <p:cxnSp>
        <p:nvCxnSpPr>
          <p:cNvPr id="56" name="Arrow 50"/>
          <p:cNvCxnSpPr/>
          <p:nvPr/>
        </p:nvCxnSpPr>
        <p:spPr>
          <a:xfrm flipH="1">
            <a:off x="2847049" y="303834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7" name="Shape 51"/>
          <p:cNvSpPr/>
          <p:nvPr/>
        </p:nvSpPr>
        <p:spPr>
          <a:xfrm>
            <a:off x="1969552" y="2887472"/>
            <a:ext cx="337870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2"/>
          <p:cNvSpPr txBox="1"/>
          <p:nvPr/>
        </p:nvSpPr>
        <p:spPr>
          <a:xfrm>
            <a:off x="1969552" y="2887472"/>
            <a:ext cx="3378708" cy="128016"/>
          </a:xfrm>
          <a:prstGeom prst="rect">
            <a:avLst/>
          </a:prstGeom>
          <a:noFill/>
        </p:spPr>
        <p:txBody>
          <a:bodyPr wrap="square" lIns="0" rIns="0" tIns="0" bIns="0" anchor="ctr">
            <a:spAutoFit/>
          </a:bodyPr>
          <a:lstStyle/>
          <a:p>
            <a:pPr algn="ctr"/>
            <a:r>
              <a:rPr sz="700" b="0" i="0">
                <a:solidFill>
                  <a:srgbClr val="B3B3B3"/>
                </a:solidFill>
                <a:latin typeface="Trenda IG Text"/>
              </a:rPr>
              <a:t>5  Counts only, never names; patient rows stay masked in BigQuery</a:t>
            </a:r>
          </a:p>
        </p:txBody>
      </p:sp>
      <p:cxnSp>
        <p:nvCxnSpPr>
          <p:cNvPr id="59" name="Arrow 53"/>
          <p:cNvCxnSpPr/>
          <p:nvPr/>
        </p:nvCxnSpPr>
        <p:spPr>
          <a:xfrm flipH="1">
            <a:off x="1223336" y="324916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Shape 54"/>
          <p:cNvSpPr/>
          <p:nvPr/>
        </p:nvSpPr>
        <p:spPr>
          <a:xfrm>
            <a:off x="798467" y="3098292"/>
            <a:ext cx="247345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798467" y="3098292"/>
            <a:ext cx="2473452" cy="128016"/>
          </a:xfrm>
          <a:prstGeom prst="rect">
            <a:avLst/>
          </a:prstGeom>
          <a:noFill/>
        </p:spPr>
        <p:txBody>
          <a:bodyPr wrap="square" lIns="0" rIns="0" tIns="0" bIns="0" anchor="ctr">
            <a:spAutoFit/>
          </a:bodyPr>
          <a:lstStyle/>
          <a:p>
            <a:pPr algn="ctr"/>
            <a:r>
              <a:rPr sz="700" b="0" i="0">
                <a:solidFill>
                  <a:srgbClr val="B3B3B3"/>
                </a:solidFill>
                <a:latin typeface="Trenda IG Text"/>
              </a:rPr>
              <a:t>6  Opportunity Brief + masked Tableau dashboard</a:t>
            </a:r>
          </a:p>
        </p:txBody>
      </p:sp>
      <p:sp>
        <p:nvSpPr>
          <p:cNvPr id="62" name="Shape 56"/>
          <p:cNvSpPr/>
          <p:nvPr/>
        </p:nvSpPr>
        <p:spPr>
          <a:xfrm>
            <a:off x="537536" y="336854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7"/>
          <p:cNvSpPr txBox="1"/>
          <p:nvPr/>
        </p:nvSpPr>
        <p:spPr>
          <a:xfrm>
            <a:off x="537536" y="336854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G1 · marketer + clinical approve the brief</a:t>
            </a:r>
          </a:p>
        </p:txBody>
      </p:sp>
      <p:cxnSp>
        <p:nvCxnSpPr>
          <p:cNvPr id="64" name="Arrow 58"/>
          <p:cNvCxnSpPr/>
          <p:nvPr/>
        </p:nvCxnSpPr>
        <p:spPr>
          <a:xfrm>
            <a:off x="2847049" y="367080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59"/>
          <p:cNvSpPr/>
          <p:nvPr/>
        </p:nvSpPr>
        <p:spPr>
          <a:xfrm>
            <a:off x="2892769" y="351993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2892769" y="351993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7  Build the journey and data extension, paused: no patients yet</a:t>
            </a:r>
          </a:p>
        </p:txBody>
      </p:sp>
      <p:cxnSp>
        <p:nvCxnSpPr>
          <p:cNvPr id="67" name="Arrow 61"/>
          <p:cNvCxnSpPr/>
          <p:nvPr/>
        </p:nvCxnSpPr>
        <p:spPr>
          <a:xfrm>
            <a:off x="2847049" y="388162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2"/>
          <p:cNvSpPr/>
          <p:nvPr/>
        </p:nvSpPr>
        <p:spPr>
          <a:xfrm>
            <a:off x="2892769" y="373075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3"/>
          <p:cNvSpPr txBox="1"/>
          <p:nvPr/>
        </p:nvSpPr>
        <p:spPr>
          <a:xfrm>
            <a:off x="2892769" y="373075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8  Test on test contacts only; a failure goes back to its cause</a:t>
            </a:r>
          </a:p>
        </p:txBody>
      </p:sp>
      <p:sp>
        <p:nvSpPr>
          <p:cNvPr id="70" name="Shape 64"/>
          <p:cNvSpPr/>
          <p:nvPr/>
        </p:nvSpPr>
        <p:spPr>
          <a:xfrm>
            <a:off x="537536" y="400100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5"/>
          <p:cNvSpPr txBox="1"/>
          <p:nvPr/>
        </p:nvSpPr>
        <p:spPr>
          <a:xfrm>
            <a:off x="537536" y="400100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G3 · clinical + compliance approve the journey</a:t>
            </a:r>
          </a:p>
        </p:txBody>
      </p:sp>
      <p:cxnSp>
        <p:nvCxnSpPr>
          <p:cNvPr id="72" name="Arrow 66"/>
          <p:cNvCxnSpPr/>
          <p:nvPr/>
        </p:nvCxnSpPr>
        <p:spPr>
          <a:xfrm>
            <a:off x="2847049" y="4303267"/>
            <a:ext cx="487114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Shape 67"/>
          <p:cNvSpPr/>
          <p:nvPr/>
        </p:nvSpPr>
        <p:spPr>
          <a:xfrm>
            <a:off x="2892769" y="4152391"/>
            <a:ext cx="477969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8"/>
          <p:cNvSpPr txBox="1"/>
          <p:nvPr/>
        </p:nvSpPr>
        <p:spPr>
          <a:xfrm>
            <a:off x="2892769" y="4152391"/>
            <a:ext cx="4779699" cy="128016"/>
          </a:xfrm>
          <a:prstGeom prst="rect">
            <a:avLst/>
          </a:prstGeom>
          <a:noFill/>
        </p:spPr>
        <p:txBody>
          <a:bodyPr wrap="square" lIns="0" rIns="0" tIns="0" bIns="0" anchor="ctr">
            <a:spAutoFit/>
          </a:bodyPr>
          <a:lstStyle/>
          <a:p>
            <a:pPr algn="ctr"/>
            <a:r>
              <a:rPr sz="700" b="0" i="0">
                <a:solidFill>
                  <a:srgbClr val="F2F2F2"/>
                </a:solidFill>
                <a:latin typeface="Trenda IG Text"/>
              </a:rPr>
              <a:t>9  Run eligibility on Gold A for the approved rule (no patient data comes back)</a:t>
            </a:r>
          </a:p>
        </p:txBody>
      </p:sp>
      <p:sp>
        <p:nvSpPr>
          <p:cNvPr id="75" name="Shape 69"/>
          <p:cNvSpPr/>
          <p:nvPr/>
        </p:nvSpPr>
        <p:spPr>
          <a:xfrm>
            <a:off x="6961196" y="4422647"/>
            <a:ext cx="4206240" cy="182880"/>
          </a:xfrm>
          <a:prstGeom prst="roundRect">
            <a:avLst>
              <a:gd name="adj" fmla="val 50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0"/>
          <p:cNvSpPr txBox="1"/>
          <p:nvPr/>
        </p:nvSpPr>
        <p:spPr>
          <a:xfrm>
            <a:off x="6961196" y="4422647"/>
            <a:ext cx="4206240" cy="182880"/>
          </a:xfrm>
          <a:prstGeom prst="rect">
            <a:avLst/>
          </a:prstGeom>
          <a:noFill/>
        </p:spPr>
        <p:txBody>
          <a:bodyPr wrap="square" lIns="0" rIns="0" tIns="0" bIns="0" anchor="ctr">
            <a:spAutoFit/>
          </a:bodyPr>
          <a:lstStyle/>
          <a:p>
            <a:pPr algn="ctr"/>
            <a:r>
              <a:rPr sz="700" b="0" i="0">
                <a:solidFill>
                  <a:srgbClr val="F2F2F2"/>
                </a:solidFill>
                <a:latin typeface="Trenda IG Text"/>
              </a:rPr>
              <a:t>10  Consent, contact, STOP, deceased, duplicates; no consent or missing → Gold B</a:t>
            </a:r>
          </a:p>
        </p:txBody>
      </p:sp>
      <p:cxnSp>
        <p:nvCxnSpPr>
          <p:cNvPr id="77" name="Arrow 71"/>
          <p:cNvCxnSpPr/>
          <p:nvPr/>
        </p:nvCxnSpPr>
        <p:spPr>
          <a:xfrm flipH="1">
            <a:off x="1223336" y="47249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8" name="Shape 72"/>
          <p:cNvSpPr/>
          <p:nvPr/>
        </p:nvSpPr>
        <p:spPr>
          <a:xfrm>
            <a:off x="1269056" y="45740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3"/>
          <p:cNvSpPr txBox="1"/>
          <p:nvPr/>
        </p:nvSpPr>
        <p:spPr>
          <a:xfrm>
            <a:off x="1269056" y="45740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11  Masked pre-send report: counts and exclusions</a:t>
            </a:r>
          </a:p>
        </p:txBody>
      </p:sp>
      <p:sp>
        <p:nvSpPr>
          <p:cNvPr id="80" name="Shape 74"/>
          <p:cNvSpPr/>
          <p:nvPr/>
        </p:nvSpPr>
        <p:spPr>
          <a:xfrm>
            <a:off x="537536" y="4844287"/>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5"/>
          <p:cNvSpPr txBox="1"/>
          <p:nvPr/>
        </p:nvSpPr>
        <p:spPr>
          <a:xfrm>
            <a:off x="537536" y="4844287"/>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G2 · SME + tech lead approve before send</a:t>
            </a:r>
          </a:p>
        </p:txBody>
      </p:sp>
      <p:cxnSp>
        <p:nvCxnSpPr>
          <p:cNvPr id="82" name="Arrow 76"/>
          <p:cNvCxnSpPr/>
          <p:nvPr/>
        </p:nvCxnSpPr>
        <p:spPr>
          <a:xfrm>
            <a:off x="7718189" y="514654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77"/>
          <p:cNvSpPr/>
          <p:nvPr/>
        </p:nvSpPr>
        <p:spPr>
          <a:xfrm>
            <a:off x="7620217" y="4995671"/>
            <a:ext cx="1819656"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8"/>
          <p:cNvSpPr txBox="1"/>
          <p:nvPr/>
        </p:nvSpPr>
        <p:spPr>
          <a:xfrm>
            <a:off x="7620217" y="4995671"/>
            <a:ext cx="1819656" cy="128016"/>
          </a:xfrm>
          <a:prstGeom prst="rect">
            <a:avLst/>
          </a:prstGeom>
          <a:noFill/>
        </p:spPr>
        <p:txBody>
          <a:bodyPr wrap="square" lIns="0" rIns="0" tIns="0" bIns="0" anchor="ctr">
            <a:spAutoFit/>
          </a:bodyPr>
          <a:lstStyle/>
          <a:p>
            <a:pPr algn="ctr"/>
            <a:r>
              <a:rPr sz="700" b="0" i="0">
                <a:solidFill>
                  <a:srgbClr val="F2F2F2"/>
                </a:solidFill>
                <a:latin typeface="Trenda IG Text"/>
              </a:rPr>
              <a:t>12  Eligible patients, masked keys</a:t>
            </a:r>
          </a:p>
        </p:txBody>
      </p:sp>
      <p:cxnSp>
        <p:nvCxnSpPr>
          <p:cNvPr id="85" name="Arrow 79"/>
          <p:cNvCxnSpPr/>
          <p:nvPr/>
        </p:nvCxnSpPr>
        <p:spPr>
          <a:xfrm>
            <a:off x="9341902" y="535736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0"/>
          <p:cNvSpPr/>
          <p:nvPr/>
        </p:nvSpPr>
        <p:spPr>
          <a:xfrm>
            <a:off x="8348471" y="5206491"/>
            <a:ext cx="34290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1"/>
          <p:cNvSpPr txBox="1"/>
          <p:nvPr/>
        </p:nvSpPr>
        <p:spPr>
          <a:xfrm>
            <a:off x="8348471" y="5206491"/>
            <a:ext cx="3429000" cy="128016"/>
          </a:xfrm>
          <a:prstGeom prst="rect">
            <a:avLst/>
          </a:prstGeom>
          <a:noFill/>
        </p:spPr>
        <p:txBody>
          <a:bodyPr wrap="square" lIns="0" rIns="0" tIns="0" bIns="0" anchor="ctr">
            <a:spAutoFit/>
          </a:bodyPr>
          <a:lstStyle/>
          <a:p>
            <a:pPr algn="ctr"/>
            <a:r>
              <a:rPr sz="700" b="0" i="0">
                <a:solidFill>
                  <a:srgbClr val="F2F2F2"/>
                </a:solidFill>
                <a:latin typeface="Trenda IG Text"/>
              </a:rPr>
              <a:t>13  Unmask the minimum fields; release after G2 + G3, time-limited</a:t>
            </a:r>
          </a:p>
        </p:txBody>
      </p:sp>
      <p:sp>
        <p:nvSpPr>
          <p:cNvPr id="88" name="Shape 82"/>
          <p:cNvSpPr/>
          <p:nvPr/>
        </p:nvSpPr>
        <p:spPr>
          <a:xfrm>
            <a:off x="9331451" y="5476747"/>
            <a:ext cx="2446020" cy="182880"/>
          </a:xfrm>
          <a:prstGeom prst="roundRect">
            <a:avLst>
              <a:gd name="adj" fmla="val 50000"/>
            </a:avLst>
          </a:prstGeom>
          <a:solidFill>
            <a:srgbClr val="1A1A1A"/>
          </a:solidFill>
          <a:ln w="1143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9331451" y="5476747"/>
            <a:ext cx="2446020" cy="182880"/>
          </a:xfrm>
          <a:prstGeom prst="rect">
            <a:avLst/>
          </a:prstGeom>
          <a:noFill/>
        </p:spPr>
        <p:txBody>
          <a:bodyPr wrap="square" lIns="0" rIns="0" tIns="0" bIns="0" anchor="ctr">
            <a:spAutoFit/>
          </a:bodyPr>
          <a:lstStyle/>
          <a:p>
            <a:pPr algn="ctr"/>
            <a:r>
              <a:rPr sz="700" b="0" i="0">
                <a:solidFill>
                  <a:srgbClr val="F2F2F2"/>
                </a:solidFill>
                <a:latin typeface="Trenda IG Text"/>
              </a:rPr>
              <a:t>14  Journey sends; consent re-checked at send</a:t>
            </a:r>
          </a:p>
        </p:txBody>
      </p:sp>
      <p:cxnSp>
        <p:nvCxnSpPr>
          <p:cNvPr id="90" name="Arrow 84"/>
          <p:cNvCxnSpPr/>
          <p:nvPr/>
        </p:nvCxnSpPr>
        <p:spPr>
          <a:xfrm flipH="1">
            <a:off x="4470762" y="57790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1" name="Shape 85"/>
          <p:cNvSpPr/>
          <p:nvPr/>
        </p:nvSpPr>
        <p:spPr>
          <a:xfrm>
            <a:off x="4516482" y="56281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6"/>
          <p:cNvSpPr txBox="1"/>
          <p:nvPr/>
        </p:nvSpPr>
        <p:spPr>
          <a:xfrm>
            <a:off x="4516482" y="56281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15  Results back as aggregates, for measurement</a:t>
            </a:r>
          </a:p>
        </p:txBody>
      </p:sp>
      <p:sp>
        <p:nvSpPr>
          <p:cNvPr id="93" name="Shape 87"/>
          <p:cNvSpPr/>
          <p:nvPr/>
        </p:nvSpPr>
        <p:spPr>
          <a:xfrm>
            <a:off x="4528892" y="5961888"/>
            <a:ext cx="47548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8"/>
          <p:cNvSpPr txBox="1"/>
          <p:nvPr/>
        </p:nvSpPr>
        <p:spPr>
          <a:xfrm>
            <a:off x="4528892" y="5961888"/>
            <a:ext cx="4754880" cy="182880"/>
          </a:xfrm>
          <a:prstGeom prst="rect">
            <a:avLst/>
          </a:prstGeom>
          <a:noFill/>
        </p:spPr>
        <p:txBody>
          <a:bodyPr wrap="square" lIns="0" rIns="0" tIns="0" bIns="0" anchor="ctr">
            <a:spAutoFit/>
          </a:bodyPr>
          <a:lstStyle/>
          <a:p>
            <a:pPr algn="ctr"/>
            <a:r>
              <a:rPr sz="700" b="1" i="0" spc="60">
                <a:solidFill>
                  <a:srgbClr val="FFFFFE"/>
                </a:solidFill>
                <a:latin typeface="Trenda IG Text"/>
              </a:rPr>
              <a:t>←  AGENTS: DEFINITIONS AND COUNTS ONLY   ·   PATIENT-LEVEL DATA: SERVICES ONLY  →</a:t>
            </a:r>
          </a:p>
        </p:txBody>
      </p:sp>
      <p:sp>
        <p:nvSpPr>
          <p:cNvPr id="95" name="Text 89"/>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Before any request: </a:t>
            </a:r>
            <a:r>
              <a:rPr sz="700" b="0" i="0">
                <a:solidFill>
                  <a:srgbClr val="8C8C8C"/>
                </a:solidFill>
                <a:latin typeface="Trenda IG Text"/>
              </a:rPr>
              <a:t>the data harness keeps Sources → Bronze → Silver current in Google Cloud; consented patients → Gold A, no consent or missing information → Gold B; DLP classifies and a Collibra steward approves the masking.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 · CALL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patient calls about their appointment: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Knowledge is shared; patient transactions are not. Sierra acts for a patient only through the Verified Patient Action Engine, after a check that takes seconds.</a:t>
            </a:r>
          </a:p>
        </p:txBody>
      </p:sp>
      <p:cxnSp>
        <p:nvCxnSpPr>
          <p:cNvPr id="5" name="Arrow 4"/>
          <p:cNvCxnSpPr/>
          <p:nvPr/>
        </p:nvCxnSpPr>
        <p:spPr>
          <a:xfrm>
            <a:off x="2035193"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Shared knowledge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approved articles · semantic layer + graph</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eople.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Patient</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calls the Ascension number</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3777778" y="1216152"/>
            <a:ext cx="1422545" cy="219456"/>
          </a:xfrm>
          <a:prstGeom prst="rect">
            <a:avLst/>
          </a:prstGeom>
          <a:noFill/>
        </p:spPr>
        <p:txBody>
          <a:bodyPr wrap="square" lIns="0" rIns="0" tIns="0" bIns="0" anchor="ctr">
            <a:spAutoFit/>
          </a:bodyPr>
          <a:lstStyle/>
          <a:p>
            <a:r>
              <a:rPr sz="800" b="1" i="0">
                <a:solidFill>
                  <a:srgbClr val="00D6F2"/>
                </a:solidFill>
                <a:latin typeface="Trenda IG Text"/>
              </a:rPr>
              <a:t>Sierra voice agent</a:t>
            </a:r>
          </a:p>
        </p:txBody>
      </p:sp>
      <p:sp>
        <p:nvSpPr>
          <p:cNvPr id="18"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answers, verifies, acts · BAA</a:t>
            </a:r>
          </a:p>
        </p:txBody>
      </p:sp>
      <p:cxnSp>
        <p:nvCxnSpPr>
          <p:cNvPr id="19"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0" name="Shape 17"/>
          <p:cNvSpPr/>
          <p:nvPr/>
        </p:nvSpPr>
        <p:spPr>
          <a:xfrm>
            <a:off x="5328339"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401491" y="1216152"/>
            <a:ext cx="1422545" cy="219456"/>
          </a:xfrm>
          <a:prstGeom prst="rect">
            <a:avLst/>
          </a:prstGeom>
          <a:noFill/>
        </p:spPr>
        <p:txBody>
          <a:bodyPr wrap="square" lIns="0" rIns="0" tIns="0" bIns="0" anchor="ctr">
            <a:spAutoFit/>
          </a:bodyPr>
          <a:lstStyle/>
          <a:p>
            <a:r>
              <a:rPr sz="800" b="1" i="0">
                <a:solidFill>
                  <a:srgbClr val="FFD700"/>
                </a:solidFill>
                <a:latin typeface="Trenda IG Text"/>
              </a:rPr>
              <a:t>Identity + verification</a:t>
            </a:r>
          </a:p>
        </p:txBody>
      </p:sp>
      <p:sp>
        <p:nvSpPr>
          <p:cNvPr id="22"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caller ID + date of birth · patient token</a:t>
            </a:r>
          </a:p>
        </p:txBody>
      </p:sp>
      <p:cxnSp>
        <p:nvCxnSpPr>
          <p:cNvPr id="23"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4" name="Differentiator Border 22"/>
          <p:cNvSpPr/>
          <p:nvPr/>
        </p:nvSpPr>
        <p:spPr>
          <a:xfrm>
            <a:off x="6952052"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3"/>
          <p:cNvSpPr/>
          <p:nvPr/>
        </p:nvSpPr>
        <p:spPr>
          <a:xfrm>
            <a:off x="6979484"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7025204"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Verified Patient Action Engine</a:t>
            </a:r>
          </a:p>
        </p:txBody>
      </p:sp>
      <p:sp>
        <p:nvSpPr>
          <p:cNvPr id="27" name="Text 25"/>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narrow functions · this patient only</a:t>
            </a:r>
          </a:p>
        </p:txBody>
      </p:sp>
      <p:cxnSp>
        <p:nvCxnSpPr>
          <p:cNvPr id="28" name="Arrow 26"/>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9" name="Shape 27"/>
          <p:cNvSpPr/>
          <p:nvPr/>
        </p:nvSpPr>
        <p:spPr>
          <a:xfrm>
            <a:off x="8575765"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2F2F2"/>
                </a:solidFill>
                <a:latin typeface="Trenda IG Text"/>
              </a:rPr>
              <a:t>Epic scheduling</a:t>
            </a:r>
          </a:p>
        </p:txBody>
      </p:sp>
      <p:sp>
        <p:nvSpPr>
          <p:cNvPr id="31"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system of record</a:t>
            </a:r>
          </a:p>
        </p:txBody>
      </p:sp>
      <p:cxnSp>
        <p:nvCxnSpPr>
          <p:cNvPr id="32"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3" name="Shape 31"/>
          <p:cNvSpPr/>
          <p:nvPr/>
        </p:nvSpPr>
        <p:spPr>
          <a:xfrm>
            <a:off x="10199478"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googlebigquery.png"/>
          <p:cNvPicPr>
            <a:picLocks noChangeAspect="1"/>
          </p:cNvPicPr>
          <p:nvPr/>
        </p:nvPicPr>
        <p:blipFill>
          <a:blip r:embed="rId4"/>
          <a:stretch>
            <a:fillRect/>
          </a:stretch>
        </p:blipFill>
        <p:spPr>
          <a:xfrm>
            <a:off x="10272630" y="1243584"/>
            <a:ext cx="182880" cy="182880"/>
          </a:xfrm>
          <a:prstGeom prst="rect">
            <a:avLst/>
          </a:prstGeom>
        </p:spPr>
      </p:pic>
      <p:sp>
        <p:nvSpPr>
          <p:cNvPr id="35"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a:t>
            </a:r>
          </a:p>
        </p:txBody>
      </p:sp>
      <p:sp>
        <p:nvSpPr>
          <p:cNvPr id="36"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patient context · read-only</a:t>
            </a:r>
          </a:p>
        </p:txBody>
      </p:sp>
      <p:cxnSp>
        <p:nvCxnSpPr>
          <p:cNvPr id="37"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8" name="Shape 35"/>
          <p:cNvSpPr/>
          <p:nvPr/>
        </p:nvSpPr>
        <p:spPr>
          <a:xfrm>
            <a:off x="2161249" y="1847088"/>
            <a:ext cx="3744468" cy="146304"/>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6"/>
          <p:cNvSpPr txBox="1"/>
          <p:nvPr/>
        </p:nvSpPr>
        <p:spPr>
          <a:xfrm>
            <a:off x="2161249" y="1847088"/>
            <a:ext cx="3744468" cy="146304"/>
          </a:xfrm>
          <a:prstGeom prst="rect">
            <a:avLst/>
          </a:prstGeom>
          <a:noFill/>
        </p:spPr>
        <p:txBody>
          <a:bodyPr wrap="square" lIns="0" rIns="0" tIns="0" bIns="0" anchor="ctr">
            <a:spAutoFit/>
          </a:bodyPr>
          <a:lstStyle/>
          <a:p>
            <a:pPr algn="ctr"/>
            <a:r>
              <a:rPr sz="700" b="1" i="0">
                <a:solidFill>
                  <a:srgbClr val="FFFFFE"/>
                </a:solidFill>
                <a:latin typeface="Trenda IG Text"/>
              </a:rPr>
              <a:t>Emergency words? Straight to 911 or the nurse line: no check, no wait</a:t>
            </a:r>
          </a:p>
        </p:txBody>
      </p:sp>
      <p:cxnSp>
        <p:nvCxnSpPr>
          <p:cNvPr id="40" name="Arrow 37"/>
          <p:cNvCxnSpPr/>
          <p:nvPr/>
        </p:nvCxnSpPr>
        <p:spPr>
          <a:xfrm>
            <a:off x="2847049" y="2167609"/>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Shape 38"/>
          <p:cNvSpPr/>
          <p:nvPr/>
        </p:nvSpPr>
        <p:spPr>
          <a:xfrm>
            <a:off x="2497618" y="2021305"/>
            <a:ext cx="232257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9"/>
          <p:cNvSpPr txBox="1"/>
          <p:nvPr/>
        </p:nvSpPr>
        <p:spPr>
          <a:xfrm>
            <a:off x="2497618" y="2021305"/>
            <a:ext cx="2322576" cy="123444"/>
          </a:xfrm>
          <a:prstGeom prst="rect">
            <a:avLst/>
          </a:prstGeom>
          <a:noFill/>
        </p:spPr>
        <p:txBody>
          <a:bodyPr wrap="square" lIns="0" rIns="0" tIns="0" bIns="0" anchor="ctr">
            <a:spAutoFit/>
          </a:bodyPr>
          <a:lstStyle/>
          <a:p>
            <a:pPr algn="ctr"/>
            <a:r>
              <a:rPr sz="700" b="0" i="0">
                <a:solidFill>
                  <a:srgbClr val="F2F2F2"/>
                </a:solidFill>
                <a:latin typeface="Trenda IG Text"/>
              </a:rPr>
              <a:t>1  “When is my next cardiology appointment?”</a:t>
            </a:r>
          </a:p>
        </p:txBody>
      </p:sp>
      <p:cxnSp>
        <p:nvCxnSpPr>
          <p:cNvPr id="43" name="Arrow 40"/>
          <p:cNvCxnSpPr/>
          <p:nvPr/>
        </p:nvCxnSpPr>
        <p:spPr>
          <a:xfrm>
            <a:off x="4470762" y="2369258"/>
            <a:ext cx="1623714"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Shape 41"/>
          <p:cNvSpPr/>
          <p:nvPr/>
        </p:nvSpPr>
        <p:spPr>
          <a:xfrm>
            <a:off x="3165783" y="2222954"/>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2"/>
          <p:cNvSpPr txBox="1"/>
          <p:nvPr/>
        </p:nvSpPr>
        <p:spPr>
          <a:xfrm>
            <a:off x="3165783" y="2222954"/>
            <a:ext cx="4233672" cy="123444"/>
          </a:xfrm>
          <a:prstGeom prst="rect">
            <a:avLst/>
          </a:prstGeom>
          <a:noFill/>
        </p:spPr>
        <p:txBody>
          <a:bodyPr wrap="square" lIns="0" rIns="0" tIns="0" bIns="0" anchor="ctr">
            <a:spAutoFit/>
          </a:bodyPr>
          <a:lstStyle/>
          <a:p>
            <a:pPr algn="ctr"/>
            <a:r>
              <a:rPr sz="700" b="0" i="0">
                <a:solidFill>
                  <a:srgbClr val="F2F2F2"/>
                </a:solidFill>
                <a:latin typeface="Trenda IG Text"/>
              </a:rPr>
              <a:t>2  Caller ID matches the number on file + date of birth; carrier + SIM-swap checks</a:t>
            </a:r>
          </a:p>
        </p:txBody>
      </p:sp>
      <p:cxnSp>
        <p:nvCxnSpPr>
          <p:cNvPr id="46" name="Arrow 43"/>
          <p:cNvCxnSpPr/>
          <p:nvPr/>
        </p:nvCxnSpPr>
        <p:spPr>
          <a:xfrm flipH="1">
            <a:off x="4470762" y="2570907"/>
            <a:ext cx="1623714"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Shape 44"/>
          <p:cNvSpPr/>
          <p:nvPr/>
        </p:nvSpPr>
        <p:spPr>
          <a:xfrm>
            <a:off x="3366951" y="2424603"/>
            <a:ext cx="383133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5"/>
          <p:cNvSpPr txBox="1"/>
          <p:nvPr/>
        </p:nvSpPr>
        <p:spPr>
          <a:xfrm>
            <a:off x="3366951" y="2424603"/>
            <a:ext cx="3831336" cy="123444"/>
          </a:xfrm>
          <a:prstGeom prst="rect">
            <a:avLst/>
          </a:prstGeom>
          <a:noFill/>
        </p:spPr>
        <p:txBody>
          <a:bodyPr wrap="square" lIns="0" rIns="0" tIns="0" bIns="0" anchor="ctr">
            <a:spAutoFit/>
          </a:bodyPr>
          <a:lstStyle/>
          <a:p>
            <a:pPr algn="ctr"/>
            <a:r>
              <a:rPr sz="700" b="0" i="0">
                <a:solidFill>
                  <a:srgbClr val="B3B3B3"/>
                </a:solidFill>
                <a:latin typeface="Trenda IG Text"/>
              </a:rPr>
              <a:t>3  Verified in seconds: a short-lived Verified Patient Token (no SMS wait)</a:t>
            </a:r>
          </a:p>
        </p:txBody>
      </p:sp>
      <p:cxnSp>
        <p:nvCxnSpPr>
          <p:cNvPr id="49" name="Arrow 46"/>
          <p:cNvCxnSpPr/>
          <p:nvPr/>
        </p:nvCxnSpPr>
        <p:spPr>
          <a:xfrm>
            <a:off x="4470762" y="2772557"/>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7"/>
          <p:cNvSpPr/>
          <p:nvPr/>
        </p:nvSpPr>
        <p:spPr>
          <a:xfrm>
            <a:off x="4516482" y="2626253"/>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8"/>
          <p:cNvSpPr txBox="1"/>
          <p:nvPr/>
        </p:nvSpPr>
        <p:spPr>
          <a:xfrm>
            <a:off x="4516482" y="2626253"/>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4  GetNextAppointment(token)</a:t>
            </a:r>
          </a:p>
        </p:txBody>
      </p:sp>
      <p:cxnSp>
        <p:nvCxnSpPr>
          <p:cNvPr id="52" name="Arrow 49"/>
          <p:cNvCxnSpPr/>
          <p:nvPr/>
        </p:nvCxnSpPr>
        <p:spPr>
          <a:xfrm>
            <a:off x="7718189" y="2974206"/>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hape 50"/>
          <p:cNvSpPr/>
          <p:nvPr/>
        </p:nvSpPr>
        <p:spPr>
          <a:xfrm>
            <a:off x="7763909" y="2827902"/>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1"/>
          <p:cNvSpPr txBox="1"/>
          <p:nvPr/>
        </p:nvSpPr>
        <p:spPr>
          <a:xfrm>
            <a:off x="7763909" y="2827902"/>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5  Read: this patient only</a:t>
            </a:r>
          </a:p>
        </p:txBody>
      </p:sp>
      <p:cxnSp>
        <p:nvCxnSpPr>
          <p:cNvPr id="55" name="Arrow 52"/>
          <p:cNvCxnSpPr/>
          <p:nvPr/>
        </p:nvCxnSpPr>
        <p:spPr>
          <a:xfrm flipH="1">
            <a:off x="7718189" y="3175855"/>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3"/>
          <p:cNvSpPr/>
          <p:nvPr/>
        </p:nvSpPr>
        <p:spPr>
          <a:xfrm>
            <a:off x="7763909" y="3029551"/>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4"/>
          <p:cNvSpPr txBox="1"/>
          <p:nvPr/>
        </p:nvSpPr>
        <p:spPr>
          <a:xfrm>
            <a:off x="7763909" y="3029551"/>
            <a:ext cx="1532273" cy="123444"/>
          </a:xfrm>
          <a:prstGeom prst="rect">
            <a:avLst/>
          </a:prstGeom>
          <a:noFill/>
        </p:spPr>
        <p:txBody>
          <a:bodyPr wrap="square" lIns="0" rIns="0" tIns="0" bIns="0" anchor="ctr">
            <a:spAutoFit/>
          </a:bodyPr>
          <a:lstStyle/>
          <a:p>
            <a:pPr algn="ctr"/>
            <a:r>
              <a:rPr sz="700" b="0" i="0">
                <a:solidFill>
                  <a:srgbClr val="B3B3B3"/>
                </a:solidFill>
                <a:latin typeface="Trenda IG Text"/>
              </a:rPr>
              <a:t>6  Appointment record</a:t>
            </a:r>
          </a:p>
        </p:txBody>
      </p:sp>
      <p:cxnSp>
        <p:nvCxnSpPr>
          <p:cNvPr id="58" name="Arrow 55"/>
          <p:cNvCxnSpPr/>
          <p:nvPr/>
        </p:nvCxnSpPr>
        <p:spPr>
          <a:xfrm flipH="1">
            <a:off x="4470762" y="3377504"/>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56"/>
          <p:cNvSpPr/>
          <p:nvPr/>
        </p:nvSpPr>
        <p:spPr>
          <a:xfrm>
            <a:off x="4516482" y="3231200"/>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7"/>
          <p:cNvSpPr txBox="1"/>
          <p:nvPr/>
        </p:nvSpPr>
        <p:spPr>
          <a:xfrm>
            <a:off x="4516482" y="3231200"/>
            <a:ext cx="3155986" cy="123444"/>
          </a:xfrm>
          <a:prstGeom prst="rect">
            <a:avLst/>
          </a:prstGeom>
          <a:noFill/>
        </p:spPr>
        <p:txBody>
          <a:bodyPr wrap="square" lIns="0" rIns="0" tIns="0" bIns="0" anchor="ctr">
            <a:spAutoFit/>
          </a:bodyPr>
          <a:lstStyle/>
          <a:p>
            <a:pPr algn="ctr"/>
            <a:r>
              <a:rPr sz="700" b="0" i="0">
                <a:solidFill>
                  <a:srgbClr val="B3B3B3"/>
                </a:solidFill>
                <a:latin typeface="Trenda IG Text"/>
              </a:rPr>
              <a:t>7  Minimum fields: Monday 10:30, cardiology, location</a:t>
            </a:r>
          </a:p>
        </p:txBody>
      </p:sp>
      <p:cxnSp>
        <p:nvCxnSpPr>
          <p:cNvPr id="61" name="Arrow 58"/>
          <p:cNvCxnSpPr/>
          <p:nvPr/>
        </p:nvCxnSpPr>
        <p:spPr>
          <a:xfrm flipH="1">
            <a:off x="2847049" y="3579154"/>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59"/>
          <p:cNvSpPr/>
          <p:nvPr/>
        </p:nvSpPr>
        <p:spPr>
          <a:xfrm>
            <a:off x="2221012" y="3432850"/>
            <a:ext cx="2875788"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0"/>
          <p:cNvSpPr txBox="1"/>
          <p:nvPr/>
        </p:nvSpPr>
        <p:spPr>
          <a:xfrm>
            <a:off x="2221012" y="3432850"/>
            <a:ext cx="2875788" cy="123444"/>
          </a:xfrm>
          <a:prstGeom prst="rect">
            <a:avLst/>
          </a:prstGeom>
          <a:noFill/>
        </p:spPr>
        <p:txBody>
          <a:bodyPr wrap="square" lIns="0" rIns="0" tIns="0" bIns="0" anchor="ctr">
            <a:spAutoFit/>
          </a:bodyPr>
          <a:lstStyle/>
          <a:p>
            <a:pPr algn="ctr"/>
            <a:r>
              <a:rPr sz="700" b="0" i="0">
                <a:solidFill>
                  <a:srgbClr val="B3B3B3"/>
                </a:solidFill>
                <a:latin typeface="Trenda IG Text"/>
              </a:rPr>
              <a:t>8  “Your cardiology appointment is Monday at 10:30 AM.”</a:t>
            </a:r>
          </a:p>
        </p:txBody>
      </p:sp>
      <p:cxnSp>
        <p:nvCxnSpPr>
          <p:cNvPr id="64" name="Arrow 61"/>
          <p:cNvCxnSpPr/>
          <p:nvPr/>
        </p:nvCxnSpPr>
        <p:spPr>
          <a:xfrm>
            <a:off x="2847049" y="3780803"/>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2"/>
          <p:cNvSpPr/>
          <p:nvPr/>
        </p:nvSpPr>
        <p:spPr>
          <a:xfrm>
            <a:off x="2824516" y="3634499"/>
            <a:ext cx="166878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3"/>
          <p:cNvSpPr txBox="1"/>
          <p:nvPr/>
        </p:nvSpPr>
        <p:spPr>
          <a:xfrm>
            <a:off x="2824516" y="3634499"/>
            <a:ext cx="1668780" cy="123444"/>
          </a:xfrm>
          <a:prstGeom prst="rect">
            <a:avLst/>
          </a:prstGeom>
          <a:noFill/>
        </p:spPr>
        <p:txBody>
          <a:bodyPr wrap="square" lIns="0" rIns="0" tIns="0" bIns="0" anchor="ctr">
            <a:spAutoFit/>
          </a:bodyPr>
          <a:lstStyle/>
          <a:p>
            <a:pPr algn="ctr"/>
            <a:r>
              <a:rPr sz="700" b="0" i="0">
                <a:solidFill>
                  <a:srgbClr val="F2F2F2"/>
                </a:solidFill>
                <a:latin typeface="Trenda IG Text"/>
              </a:rPr>
              <a:t>9  “Can you move it to Friday?”</a:t>
            </a:r>
          </a:p>
        </p:txBody>
      </p:sp>
      <p:cxnSp>
        <p:nvCxnSpPr>
          <p:cNvPr id="67" name="Arrow 64"/>
          <p:cNvCxnSpPr/>
          <p:nvPr/>
        </p:nvCxnSpPr>
        <p:spPr>
          <a:xfrm>
            <a:off x="4470762" y="3982452"/>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5"/>
          <p:cNvSpPr/>
          <p:nvPr/>
        </p:nvSpPr>
        <p:spPr>
          <a:xfrm>
            <a:off x="4516482" y="3836148"/>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6"/>
          <p:cNvSpPr txBox="1"/>
          <p:nvPr/>
        </p:nvSpPr>
        <p:spPr>
          <a:xfrm>
            <a:off x="4516482" y="3836148"/>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10  SearchAvailableSlots(token, Friday): rules applied</a:t>
            </a:r>
          </a:p>
        </p:txBody>
      </p:sp>
      <p:cxnSp>
        <p:nvCxnSpPr>
          <p:cNvPr id="70" name="Arrow 67"/>
          <p:cNvCxnSpPr/>
          <p:nvPr/>
        </p:nvCxnSpPr>
        <p:spPr>
          <a:xfrm>
            <a:off x="7718189" y="4184101"/>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Shape 68"/>
          <p:cNvSpPr/>
          <p:nvPr/>
        </p:nvSpPr>
        <p:spPr>
          <a:xfrm>
            <a:off x="7763909" y="4037797"/>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9"/>
          <p:cNvSpPr txBox="1"/>
          <p:nvPr/>
        </p:nvSpPr>
        <p:spPr>
          <a:xfrm>
            <a:off x="7763909" y="4037797"/>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11  Live availability</a:t>
            </a:r>
          </a:p>
        </p:txBody>
      </p:sp>
      <p:cxnSp>
        <p:nvCxnSpPr>
          <p:cNvPr id="73" name="Arrow 70"/>
          <p:cNvCxnSpPr/>
          <p:nvPr/>
        </p:nvCxnSpPr>
        <p:spPr>
          <a:xfrm flipH="1">
            <a:off x="2847049" y="4385751"/>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4" name="Shape 71"/>
          <p:cNvSpPr/>
          <p:nvPr/>
        </p:nvSpPr>
        <p:spPr>
          <a:xfrm>
            <a:off x="2397034" y="4239447"/>
            <a:ext cx="2523744"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2"/>
          <p:cNvSpPr txBox="1"/>
          <p:nvPr/>
        </p:nvSpPr>
        <p:spPr>
          <a:xfrm>
            <a:off x="2397034" y="4239447"/>
            <a:ext cx="2523744" cy="123444"/>
          </a:xfrm>
          <a:prstGeom prst="rect">
            <a:avLst/>
          </a:prstGeom>
          <a:noFill/>
        </p:spPr>
        <p:txBody>
          <a:bodyPr wrap="square" lIns="0" rIns="0" tIns="0" bIns="0" anchor="ctr">
            <a:spAutoFit/>
          </a:bodyPr>
          <a:lstStyle/>
          <a:p>
            <a:pPr algn="ctr"/>
            <a:r>
              <a:rPr sz="700" b="0" i="0">
                <a:solidFill>
                  <a:srgbClr val="B3B3B3"/>
                </a:solidFill>
                <a:latin typeface="Trenda IG Text"/>
              </a:rPr>
              <a:t>12  “Friday has 10:00 AM and 2:30 PM available.”</a:t>
            </a:r>
          </a:p>
        </p:txBody>
      </p:sp>
      <p:cxnSp>
        <p:nvCxnSpPr>
          <p:cNvPr id="76" name="Arrow 73"/>
          <p:cNvCxnSpPr/>
          <p:nvPr/>
        </p:nvCxnSpPr>
        <p:spPr>
          <a:xfrm>
            <a:off x="2847049" y="4587400"/>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4"/>
          <p:cNvSpPr/>
          <p:nvPr/>
        </p:nvSpPr>
        <p:spPr>
          <a:xfrm>
            <a:off x="2892769" y="4441096"/>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5"/>
          <p:cNvSpPr txBox="1"/>
          <p:nvPr/>
        </p:nvSpPr>
        <p:spPr>
          <a:xfrm>
            <a:off x="2892769" y="4441096"/>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13  “2:30.”</a:t>
            </a:r>
          </a:p>
        </p:txBody>
      </p:sp>
      <p:cxnSp>
        <p:nvCxnSpPr>
          <p:cNvPr id="79" name="Arrow 76"/>
          <p:cNvCxnSpPr/>
          <p:nvPr/>
        </p:nvCxnSpPr>
        <p:spPr>
          <a:xfrm>
            <a:off x="4470762" y="4789049"/>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7"/>
          <p:cNvSpPr/>
          <p:nvPr/>
        </p:nvSpPr>
        <p:spPr>
          <a:xfrm>
            <a:off x="4516482" y="4642745"/>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8"/>
          <p:cNvSpPr txBox="1"/>
          <p:nvPr/>
        </p:nvSpPr>
        <p:spPr>
          <a:xfrm>
            <a:off x="4516482" y="4642745"/>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14  RescheduleAppointment(token, Friday 2:30)</a:t>
            </a:r>
          </a:p>
        </p:txBody>
      </p:sp>
      <p:cxnSp>
        <p:nvCxnSpPr>
          <p:cNvPr id="82" name="Arrow 79"/>
          <p:cNvCxnSpPr/>
          <p:nvPr/>
        </p:nvCxnSpPr>
        <p:spPr>
          <a:xfrm>
            <a:off x="7718189" y="4990698"/>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0"/>
          <p:cNvSpPr/>
          <p:nvPr/>
        </p:nvSpPr>
        <p:spPr>
          <a:xfrm>
            <a:off x="7763909" y="4844394"/>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1"/>
          <p:cNvSpPr txBox="1"/>
          <p:nvPr/>
        </p:nvSpPr>
        <p:spPr>
          <a:xfrm>
            <a:off x="7763909" y="4844394"/>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15  Written to Epic</a:t>
            </a:r>
          </a:p>
        </p:txBody>
      </p:sp>
      <p:cxnSp>
        <p:nvCxnSpPr>
          <p:cNvPr id="85" name="Arrow 82"/>
          <p:cNvCxnSpPr/>
          <p:nvPr/>
        </p:nvCxnSpPr>
        <p:spPr>
          <a:xfrm flipH="1">
            <a:off x="2847049" y="5192348"/>
            <a:ext cx="4871140"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3"/>
          <p:cNvSpPr/>
          <p:nvPr/>
        </p:nvSpPr>
        <p:spPr>
          <a:xfrm>
            <a:off x="2892769" y="5046044"/>
            <a:ext cx="4779699"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4"/>
          <p:cNvSpPr txBox="1"/>
          <p:nvPr/>
        </p:nvSpPr>
        <p:spPr>
          <a:xfrm>
            <a:off x="2892769" y="5046044"/>
            <a:ext cx="4779699" cy="123444"/>
          </a:xfrm>
          <a:prstGeom prst="rect">
            <a:avLst/>
          </a:prstGeom>
          <a:noFill/>
        </p:spPr>
        <p:txBody>
          <a:bodyPr wrap="square" lIns="0" rIns="0" tIns="0" bIns="0" anchor="ctr">
            <a:spAutoFit/>
          </a:bodyPr>
          <a:lstStyle/>
          <a:p>
            <a:pPr algn="ctr"/>
            <a:r>
              <a:rPr sz="700" b="0" i="0">
                <a:solidFill>
                  <a:srgbClr val="B3B3B3"/>
                </a:solidFill>
                <a:latin typeface="Trenda IG Text"/>
              </a:rPr>
              <a:t>16  Confirmed: Sierra tells the caller; confirmation text sent</a:t>
            </a:r>
          </a:p>
        </p:txBody>
      </p:sp>
      <p:cxnSp>
        <p:nvCxnSpPr>
          <p:cNvPr id="88" name="Arrow 85"/>
          <p:cNvCxnSpPr/>
          <p:nvPr/>
        </p:nvCxnSpPr>
        <p:spPr>
          <a:xfrm flipH="1">
            <a:off x="1223336" y="5393997"/>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hape 86"/>
          <p:cNvSpPr/>
          <p:nvPr/>
        </p:nvSpPr>
        <p:spPr>
          <a:xfrm>
            <a:off x="1258279" y="5247693"/>
            <a:ext cx="317754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7"/>
          <p:cNvSpPr txBox="1"/>
          <p:nvPr/>
        </p:nvSpPr>
        <p:spPr>
          <a:xfrm>
            <a:off x="1258279" y="5247693"/>
            <a:ext cx="3177540" cy="123444"/>
          </a:xfrm>
          <a:prstGeom prst="rect">
            <a:avLst/>
          </a:prstGeom>
          <a:noFill/>
        </p:spPr>
        <p:txBody>
          <a:bodyPr wrap="square" lIns="0" rIns="0" tIns="0" bIns="0" anchor="ctr">
            <a:spAutoFit/>
          </a:bodyPr>
          <a:lstStyle/>
          <a:p>
            <a:pPr algn="ctr"/>
            <a:r>
              <a:rPr sz="700" b="0" i="0">
                <a:solidFill>
                  <a:srgbClr val="F2F2F2"/>
                </a:solidFill>
                <a:latin typeface="Trenda IG Text"/>
              </a:rPr>
              <a:t>17  Prep for a cardiology follow-up? Approved article, no PHI</a:t>
            </a:r>
          </a:p>
        </p:txBody>
      </p:sp>
      <p:sp>
        <p:nvSpPr>
          <p:cNvPr id="91" name="Shape 88"/>
          <p:cNvSpPr/>
          <p:nvPr/>
        </p:nvSpPr>
        <p:spPr>
          <a:xfrm>
            <a:off x="2161249" y="5476774"/>
            <a:ext cx="4498848" cy="146304"/>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9"/>
          <p:cNvSpPr txBox="1"/>
          <p:nvPr/>
        </p:nvSpPr>
        <p:spPr>
          <a:xfrm>
            <a:off x="2161249" y="5476774"/>
            <a:ext cx="4498848" cy="146304"/>
          </a:xfrm>
          <a:prstGeom prst="rect">
            <a:avLst/>
          </a:prstGeom>
          <a:noFill/>
        </p:spPr>
        <p:txBody>
          <a:bodyPr wrap="square" lIns="0" rIns="0" tIns="0" bIns="0" anchor="ctr">
            <a:spAutoFit/>
          </a:bodyPr>
          <a:lstStyle/>
          <a:p>
            <a:pPr algn="ctr"/>
            <a:r>
              <a:rPr sz="700" b="1" i="0">
                <a:solidFill>
                  <a:srgbClr val="000000"/>
                </a:solidFill>
                <a:latin typeface="Trenda IG Text"/>
              </a:rPr>
              <a:t>Step-up or hand-off: no caller-ID match, a higher-risk change or a clinical question</a:t>
            </a:r>
          </a:p>
        </p:txBody>
      </p:sp>
      <p:cxnSp>
        <p:nvCxnSpPr>
          <p:cNvPr id="93" name="Arrow 90"/>
          <p:cNvCxnSpPr/>
          <p:nvPr/>
        </p:nvCxnSpPr>
        <p:spPr>
          <a:xfrm>
            <a:off x="7718189" y="5797295"/>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Shape 91"/>
          <p:cNvSpPr/>
          <p:nvPr/>
        </p:nvSpPr>
        <p:spPr>
          <a:xfrm>
            <a:off x="7225066" y="5650991"/>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2"/>
          <p:cNvSpPr txBox="1"/>
          <p:nvPr/>
        </p:nvSpPr>
        <p:spPr>
          <a:xfrm>
            <a:off x="7225066" y="5650991"/>
            <a:ext cx="4233672" cy="123444"/>
          </a:xfrm>
          <a:prstGeom prst="rect">
            <a:avLst/>
          </a:prstGeom>
          <a:noFill/>
        </p:spPr>
        <p:txBody>
          <a:bodyPr wrap="square" lIns="0" rIns="0" tIns="0" bIns="0" anchor="ctr">
            <a:spAutoFit/>
          </a:bodyPr>
          <a:lstStyle/>
          <a:p>
            <a:pPr algn="ctr"/>
            <a:r>
              <a:rPr sz="700" b="0" i="0">
                <a:solidFill>
                  <a:srgbClr val="F2F2F2"/>
                </a:solidFill>
                <a:latin typeface="Trenda IG Text"/>
              </a:rPr>
              <a:t>18  After the call: outcome into Gold B, aggregates into Gold A; transcript masked</a:t>
            </a:r>
          </a:p>
        </p:txBody>
      </p:sp>
      <p:sp>
        <p:nvSpPr>
          <p:cNvPr id="96" name="Shape 93"/>
          <p:cNvSpPr/>
          <p:nvPr/>
        </p:nvSpPr>
        <p:spPr>
          <a:xfrm>
            <a:off x="411480" y="5961888"/>
            <a:ext cx="56692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4"/>
          <p:cNvSpPr txBox="1"/>
          <p:nvPr/>
        </p:nvSpPr>
        <p:spPr>
          <a:xfrm>
            <a:off x="411480" y="5961888"/>
            <a:ext cx="5669280" cy="182880"/>
          </a:xfrm>
          <a:prstGeom prst="rect">
            <a:avLst/>
          </a:prstGeom>
          <a:noFill/>
        </p:spPr>
        <p:txBody>
          <a:bodyPr wrap="square" lIns="0" rIns="0" tIns="0" bIns="0" anchor="ctr">
            <a:spAutoFit/>
          </a:bodyPr>
          <a:lstStyle/>
          <a:p>
            <a:pPr algn="ctr"/>
            <a:r>
              <a:rPr sz="700" b="1" i="0" spc="60">
                <a:solidFill>
                  <a:srgbClr val="FFFFFE"/>
                </a:solidFill>
                <a:latin typeface="Trenda IG Text"/>
              </a:rPr>
              <a:t>←  SHARED KNOWLEDGE: NO PHI   ·   PATIENT TRANSACTIONS: THE VERIFIED CALLER ONLY  →</a:t>
            </a:r>
          </a:p>
        </p:txBody>
      </p:sp>
      <p:sp>
        <p:nvSpPr>
          <p:cNvPr id="98" name="Text 95"/>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Never: </a:t>
            </a:r>
            <a:r>
              <a:rPr sz="700" b="0" i="0">
                <a:solidFill>
                  <a:srgbClr val="8C8C8C"/>
                </a:solidFill>
                <a:latin typeface="Trenda IG Text"/>
              </a:rPr>
              <a:t>lists of patients, anyone else's data, or a Google Cloud copy of a booking. Transcripts hold PHI: access-controlled, retention-limited, masked before analytics.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