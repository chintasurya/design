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31" r:id="rId23"/>
    <p:sldId id="332" r:id="rId24"/>
    <p:sldId id="333" r:id="rId25"/>
    <p:sldId id="327" r:id="rId19"/>
    <p:sldId id="326" r:id="rId18"/>
    <p:sldId id="324" r:id="rId16"/>
    <p:sldId id="328" r:id="rId20"/>
    <p:sldId id="334" r:id="rId26"/>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consent, STOP, links, hours. </a:t>
            </a:r>
            <a:r>
              <a:rPr sz="700" b="1" i="0">
                <a:solidFill>
                  <a:srgbClr val="FF0069"/>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8" name="Shape 117"/>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8"/>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30" name="Shape 119"/>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0"/>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9"/>
          <a:stretch>
            <a:fillRect/>
          </a:stretch>
        </p:blipFill>
        <p:spPr>
          <a:xfrm>
            <a:off x="484632" y="4553712"/>
            <a:ext cx="182880" cy="182880"/>
          </a:xfrm>
          <a:prstGeom prst="rect">
            <a:avLst/>
          </a:prstGeom>
        </p:spPr>
      </p:pic>
      <p:sp>
        <p:nvSpPr>
          <p:cNvPr id="133" name="Text 121"/>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4" name="Shape 122"/>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3"/>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7" name="Text 125"/>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8" name="Text 126"/>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9" name="Shape 127"/>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28"/>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29"/>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42" name="Picture 141" descr="people.png"/>
          <p:cNvPicPr>
            <a:picLocks noChangeAspect="1"/>
          </p:cNvPicPr>
          <p:nvPr/>
        </p:nvPicPr>
        <p:blipFill>
          <a:blip r:embed="rId6"/>
          <a:stretch>
            <a:fillRect/>
          </a:stretch>
        </p:blipFill>
        <p:spPr>
          <a:xfrm>
            <a:off x="2551176" y="4882896"/>
            <a:ext cx="164592" cy="164592"/>
          </a:xfrm>
          <a:prstGeom prst="rect">
            <a:avLst/>
          </a:prstGeom>
        </p:spPr>
      </p:pic>
      <p:sp>
        <p:nvSpPr>
          <p:cNvPr id="143" name="Text 130"/>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4" name="Shape 131"/>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2"/>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6" name="Text 133"/>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7" name="Differentiator Border 135"/>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Shape 136"/>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8"/>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51" name="Text 139"/>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52" name="Text 140"/>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3" name="Shape 141"/>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Shape 142"/>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43"/>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6" name="Picture 155"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7" name="Text 144"/>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8" name="Shape 145"/>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60" name="Shape 147"/>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8"/>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9"/>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3" name="Picture 162"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4" name="Text 150"/>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5" name="Text 151"/>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6" name="Shape 152"/>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Shape 153"/>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4"/>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9" name="Text 155"/>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70" name="Text 156"/>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71" name="Shape 157"/>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Shape 158"/>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 159"/>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4" name="Text 160"/>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5" name="Shape 161"/>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Shape 162"/>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3"/>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8" name="Text 164"/>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9" name="Arrow 165"/>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2"/>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3"/>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8" name="Text 184"/>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9" name="Shape 185"/>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202" name="Shape 188"/>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5" name="Shape 191"/>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8" name="Shape 194"/>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11" name="Shape 197"/>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4" name="Shape 200"/>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7" name="Shape 203"/>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Shape 204"/>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 205"/>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at once</a:t>
            </a:r>
          </a:p>
          <a:p>
            <a:pPr>
              <a:spcAft>
                <a:spcPts val="100"/>
              </a:spcAft>
            </a:pPr>
            <a:r>
              <a:rPr sz="700" b="0" i="0">
                <a:solidFill>
                  <a:srgbClr val="B3B3B3"/>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FFD7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B3B3B3"/>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scheduling</a:t>
            </a:r>
          </a:p>
          <a:p>
            <a:pPr>
              <a:spcAft>
                <a:spcPts val="100"/>
              </a:spcAft>
            </a:pPr>
            <a:r>
              <a:rPr sz="700" b="0" i="0">
                <a:solidFill>
                  <a:srgbClr val="B3B3B3"/>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Scheduling system of record</a:t>
            </a:r>
          </a:p>
          <a:p>
            <a:pPr>
              <a:spcAft>
                <a:spcPts val="100"/>
              </a:spcAft>
            </a:pPr>
            <a:r>
              <a:rPr sz="700" b="0" i="0">
                <a:solidFill>
                  <a:srgbClr val="B3B3B3"/>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141414"/>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patient context</a:t>
            </a:r>
          </a:p>
          <a:p>
            <a:pPr>
              <a:spcAft>
                <a:spcPts val="100"/>
              </a:spcAft>
            </a:pPr>
            <a:r>
              <a:rPr sz="700" b="0" i="0">
                <a:solidFill>
                  <a:srgbClr val="B3B3B3"/>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F2F2F2"/>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Restricted patient layer</a:t>
            </a:r>
          </a:p>
          <a:p>
            <a:pPr>
              <a:spcAft>
                <a:spcPts val="100"/>
              </a:spcAft>
            </a:pPr>
            <a:r>
              <a:rPr sz="700" b="0" i="0">
                <a:solidFill>
                  <a:srgbClr val="B3B3B3"/>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F2F2F2"/>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22" name="Shape 116"/>
          <p:cNvSpPr/>
          <p:nvPr/>
        </p:nvSpPr>
        <p:spPr>
          <a:xfrm>
            <a:off x="310634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Verified in seconds</a:t>
            </a:r>
          </a:p>
          <a:p>
            <a:pPr>
              <a:spcAft>
                <a:spcPts val="100"/>
              </a:spcAft>
            </a:pPr>
            <a:r>
              <a:rPr sz="700" b="0" i="0">
                <a:solidFill>
                  <a:srgbClr val="B3B3B3"/>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28" name="Shape 122"/>
          <p:cNvSpPr/>
          <p:nvPr/>
        </p:nvSpPr>
        <p:spPr>
          <a:xfrm>
            <a:off x="6027202"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engine</a:t>
            </a:r>
          </a:p>
          <a:p>
            <a:pPr>
              <a:spcAft>
                <a:spcPts val="100"/>
              </a:spcAft>
            </a:pPr>
            <a:r>
              <a:rPr sz="700" b="0" i="0">
                <a:solidFill>
                  <a:srgbClr val="B3B3B3"/>
                </a:solidFill>
                <a:latin typeface="Trenda IG Text"/>
              </a:rPr>
              <a:t>not only in an article</a:t>
            </a:r>
          </a:p>
        </p:txBody>
      </p:sp>
      <p:sp>
        <p:nvSpPr>
          <p:cNvPr id="131" name="Shape 125"/>
          <p:cNvSpPr/>
          <p:nvPr/>
        </p:nvSpPr>
        <p:spPr>
          <a:xfrm>
            <a:off x="7487629"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37" name="Shape 131"/>
          <p:cNvSpPr/>
          <p:nvPr/>
        </p:nvSpPr>
        <p:spPr>
          <a:xfrm>
            <a:off x="1040848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Emergencies never wait</a:t>
            </a:r>
          </a:p>
          <a:p>
            <a:pPr>
              <a:spcAft>
                <a:spcPts val="100"/>
              </a:spcAft>
            </a:pPr>
            <a:r>
              <a:rPr sz="700" b="0" i="0">
                <a:solidFill>
                  <a:srgbClr val="B3B3B3"/>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D6F2"/>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Authoritative sources</a:t>
            </a:r>
          </a:p>
          <a:p>
            <a:pPr>
              <a:lnSpc>
                <a:spcPct val="92000"/>
              </a:lnSpc>
              <a:spcAft>
                <a:spcPts val="100"/>
              </a:spcAft>
            </a:pPr>
            <a:r>
              <a:rPr sz="700" b="0" i="0">
                <a:solidFill>
                  <a:srgbClr val="B3B3B3"/>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DLP + Collibra</a:t>
            </a:r>
          </a:p>
          <a:p>
            <a:pPr>
              <a:lnSpc>
                <a:spcPct val="92000"/>
              </a:lnSpc>
              <a:spcAft>
                <a:spcPts val="100"/>
              </a:spcAft>
            </a:pPr>
            <a:r>
              <a:rPr sz="700" b="0" i="0">
                <a:solidFill>
                  <a:srgbClr val="B3B3B3"/>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Bronze → Silver</a:t>
            </a:r>
          </a:p>
          <a:p>
            <a:pPr>
              <a:lnSpc>
                <a:spcPct val="92000"/>
              </a:lnSpc>
              <a:spcAft>
                <a:spcPts val="100"/>
              </a:spcAft>
            </a:pPr>
            <a:r>
              <a:rPr sz="700" b="0" i="0">
                <a:solidFill>
                  <a:srgbClr val="B3B3B3"/>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Gold A · insight  |  restricted patient layer</a:t>
            </a:r>
          </a:p>
          <a:p>
            <a:pPr>
              <a:lnSpc>
                <a:spcPct val="92000"/>
              </a:lnSpc>
              <a:spcAft>
                <a:spcPts val="100"/>
              </a:spcAft>
            </a:pPr>
            <a:r>
              <a:rPr sz="700" b="0" i="0">
                <a:solidFill>
                  <a:srgbClr val="B3B3B3"/>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Kyvos semantic layer</a:t>
            </a:r>
          </a:p>
          <a:p>
            <a:pPr>
              <a:lnSpc>
                <a:spcPct val="92000"/>
              </a:lnSpc>
              <a:spcAft>
                <a:spcPts val="100"/>
              </a:spcAft>
            </a:pPr>
            <a:r>
              <a:rPr sz="700" b="0" i="0">
                <a:solidFill>
                  <a:srgbClr val="B3B3B3"/>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Spanner knowledge graph</a:t>
            </a:r>
          </a:p>
          <a:p>
            <a:pPr>
              <a:lnSpc>
                <a:spcPct val="92000"/>
              </a:lnSpc>
              <a:spcAft>
                <a:spcPts val="100"/>
              </a:spcAft>
            </a:pPr>
            <a:r>
              <a:rPr sz="700" b="0" i="0">
                <a:solidFill>
                  <a:srgbClr val="B3B3B3"/>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FFD7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F2F2F2"/>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FFD7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D6F2"/>
                </a:solidFill>
                <a:latin typeface="Trenda IG Text"/>
              </a:rPr>
              <a:t>A  </a:t>
            </a:r>
            <a:r>
              <a:rPr sz="800" b="1" i="0">
                <a:solidFill>
                  <a:srgbClr val="F2F2F2"/>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B3B3B3"/>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FFD700"/>
                </a:solidFill>
                <a:latin typeface="Trenda IG Text"/>
              </a:rPr>
              <a:t>B  </a:t>
            </a:r>
            <a:r>
              <a:rPr sz="800" b="1" i="0">
                <a:solidFill>
                  <a:srgbClr val="F2F2F2"/>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B3B3B3"/>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FFD700"/>
                </a:solidFill>
                <a:latin typeface="Trenda IG Text"/>
              </a:rPr>
              <a:t>C  </a:t>
            </a:r>
            <a:r>
              <a:rPr sz="800" b="1" i="0">
                <a:solidFill>
                  <a:srgbClr val="F2F2F2"/>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B3B3B3"/>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FFD700"/>
                </a:solidFill>
                <a:latin typeface="Trenda IG Text"/>
              </a:rPr>
              <a:t>D  </a:t>
            </a:r>
            <a:r>
              <a:rPr sz="800" b="1" i="0">
                <a:solidFill>
                  <a:srgbClr val="F2F2F2"/>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B3B3B3"/>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D6F2"/>
                </a:solidFill>
                <a:latin typeface="Trenda IG Text"/>
              </a:rPr>
              <a:t>E  </a:t>
            </a:r>
            <a:r>
              <a:rPr sz="800" b="1" i="0">
                <a:solidFill>
                  <a:srgbClr val="F2F2F2"/>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B3B3B3"/>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5  Cohort Resolution Engine</a:t>
            </a:r>
          </a:p>
          <a:p>
            <a:pPr>
              <a:lnSpc>
                <a:spcPct val="92000"/>
              </a:lnSpc>
              <a:spcAft>
                <a:spcPts val="100"/>
              </a:spcAft>
            </a:pPr>
            <a:r>
              <a:rPr sz="700" b="0" i="0">
                <a:solidFill>
                  <a:srgbClr val="B3B3B3"/>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6  Patient query</a:t>
            </a:r>
          </a:p>
          <a:p>
            <a:pPr>
              <a:lnSpc>
                <a:spcPct val="92000"/>
              </a:lnSpc>
              <a:spcAft>
                <a:spcPts val="100"/>
              </a:spcAft>
            </a:pPr>
            <a:r>
              <a:rPr sz="700" b="0" i="0">
                <a:solidFill>
                  <a:srgbClr val="B3B3B3"/>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7  Eligibility checks</a:t>
            </a:r>
          </a:p>
          <a:p>
            <a:pPr>
              <a:lnSpc>
                <a:spcPct val="92000"/>
              </a:lnSpc>
              <a:spcAft>
                <a:spcPts val="100"/>
              </a:spcAft>
            </a:pPr>
            <a:r>
              <a:rPr sz="700" b="0" i="0">
                <a:solidFill>
                  <a:srgbClr val="B3B3B3"/>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8  Summary → Codex</a:t>
            </a:r>
          </a:p>
          <a:p>
            <a:pPr>
              <a:lnSpc>
                <a:spcPct val="92000"/>
              </a:lnSpc>
              <a:spcAft>
                <a:spcPts val="100"/>
              </a:spcAft>
            </a:pPr>
            <a:r>
              <a:rPr sz="700" b="0" i="0">
                <a:solidFill>
                  <a:srgbClr val="B3B3B3"/>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9  Activation Engine</a:t>
            </a:r>
          </a:p>
          <a:p>
            <a:pPr>
              <a:lnSpc>
                <a:spcPct val="92000"/>
              </a:lnSpc>
              <a:spcAft>
                <a:spcPts val="100"/>
              </a:spcAft>
            </a:pPr>
            <a:r>
              <a:rPr sz="700" b="0" i="0">
                <a:solidFill>
                  <a:srgbClr val="B3B3B3"/>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10  MC data extension</a:t>
            </a:r>
          </a:p>
          <a:p>
            <a:pPr>
              <a:lnSpc>
                <a:spcPct val="92000"/>
              </a:lnSpc>
              <a:spcAft>
                <a:spcPts val="100"/>
              </a:spcAft>
            </a:pPr>
            <a:r>
              <a:rPr sz="700" b="0" i="0">
                <a:solidFill>
                  <a:srgbClr val="B3B3B3"/>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D6F2"/>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11  </a:t>
            </a:r>
            <a:r>
              <a:rPr sz="700" b="1" i="0">
                <a:solidFill>
                  <a:srgbClr val="F2F2F2"/>
                </a:solidFill>
                <a:latin typeface="Trenda IG Text"/>
              </a:rPr>
              <a:t>Daily data refresh</a:t>
            </a:r>
            <a:r>
              <a:rPr sz="700" b="0" i="0">
                <a:solidFill>
                  <a:srgbClr val="B3B3B3"/>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12  </a:t>
            </a:r>
            <a:r>
              <a:rPr sz="700" b="1" i="0">
                <a:solidFill>
                  <a:srgbClr val="F2F2F2"/>
                </a:solidFill>
                <a:latin typeface="Trenda IG Text"/>
              </a:rPr>
              <a:t>Refresh trigger</a:t>
            </a:r>
            <a:r>
              <a:rPr sz="700" b="0" i="0">
                <a:solidFill>
                  <a:srgbClr val="B3B3B3"/>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13  </a:t>
            </a:r>
            <a:r>
              <a:rPr sz="700" b="1" i="0">
                <a:solidFill>
                  <a:srgbClr val="F2F2F2"/>
                </a:solidFill>
                <a:latin typeface="Trenda IG Text"/>
              </a:rPr>
              <a:t>Incremental resolver</a:t>
            </a:r>
            <a:r>
              <a:rPr sz="700" b="0" i="0">
                <a:solidFill>
                  <a:srgbClr val="B3B3B3"/>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14  </a:t>
            </a:r>
            <a:r>
              <a:rPr sz="700" b="1" i="0">
                <a:solidFill>
                  <a:srgbClr val="F2F2F2"/>
                </a:solidFill>
                <a:latin typeface="Trenda IG Text"/>
              </a:rPr>
              <a:t>Delta activation + exit sync</a:t>
            </a:r>
            <a:r>
              <a:rPr sz="700" b="0" i="0">
                <a:solidFill>
                  <a:srgbClr val="B3B3B3"/>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FFD700"/>
                </a:solidFill>
                <a:latin typeface="Trenda IG Text"/>
              </a:rPr>
              <a:t>No daily approval </a:t>
            </a:r>
            <a:r>
              <a:rPr sz="700" b="0" i="0">
                <a:solidFill>
                  <a:srgbClr val="F2F2F2"/>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D6F2"/>
                </a:solidFill>
                <a:latin typeface="Trenda IG Text"/>
              </a:rPr>
              <a:t>MARKETING CLOUD</a:t>
            </a:r>
          </a:p>
          <a:p>
            <a:pPr>
              <a:spcAft>
                <a:spcPts val="100"/>
              </a:spcAft>
            </a:pPr>
            <a:r>
              <a:rPr sz="700" b="1" i="0" spc="80">
                <a:solidFill>
                  <a:srgbClr val="00D6F2"/>
                </a:solidFill>
                <a:latin typeface="Trenda IG Text"/>
              </a:rPr>
              <a:t>EXECUTION</a:t>
            </a:r>
          </a:p>
          <a:p>
            <a:pPr>
              <a:spcAft>
                <a:spcPts val="100"/>
              </a:spcAft>
            </a:pPr>
            <a:r>
              <a:rPr sz="700" b="0" i="0">
                <a:solidFill>
                  <a:srgbClr val="B3B3B3"/>
                </a:solidFill>
                <a:latin typeface="Trenda IG Text"/>
              </a:rPr>
              <a:t>inside SFMC</a:t>
            </a:r>
          </a:p>
        </p:txBody>
      </p:sp>
      <p:sp>
        <p:nvSpPr>
          <p:cNvPr id="110" name="Shape 109"/>
          <p:cNvSpPr/>
          <p:nvPr/>
        </p:nvSpPr>
        <p:spPr>
          <a:xfrm>
            <a:off x="1783080"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Contact key</a:t>
            </a:r>
          </a:p>
          <a:p>
            <a:pPr>
              <a:lnSpc>
                <a:spcPct val="92000"/>
              </a:lnSpc>
              <a:spcAft>
                <a:spcPts val="100"/>
              </a:spcAft>
            </a:pPr>
            <a:r>
              <a:rPr sz="700" b="0" i="0">
                <a:solidFill>
                  <a:srgbClr val="B3B3B3"/>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Load method</a:t>
            </a:r>
          </a:p>
          <a:p>
            <a:pPr>
              <a:lnSpc>
                <a:spcPct val="92000"/>
              </a:lnSpc>
              <a:spcAft>
                <a:spcPts val="100"/>
              </a:spcAft>
            </a:pPr>
            <a:r>
              <a:rPr sz="700" b="0" i="0">
                <a:solidFill>
                  <a:srgbClr val="B3B3B3"/>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Journey</a:t>
            </a:r>
          </a:p>
          <a:p>
            <a:pPr>
              <a:lnSpc>
                <a:spcPct val="92000"/>
              </a:lnSpc>
              <a:spcAft>
                <a:spcPts val="100"/>
              </a:spcAft>
            </a:pPr>
            <a:r>
              <a:rPr sz="700" b="0" i="0">
                <a:solidFill>
                  <a:srgbClr val="B3B3B3"/>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Consent sync</a:t>
            </a:r>
          </a:p>
          <a:p>
            <a:pPr>
              <a:lnSpc>
                <a:spcPct val="92000"/>
              </a:lnSpc>
              <a:spcAft>
                <a:spcPts val="100"/>
              </a:spcAft>
            </a:pPr>
            <a:r>
              <a:rPr sz="700" b="0" i="0">
                <a:solidFill>
                  <a:srgbClr val="B3B3B3"/>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Channel rules</a:t>
            </a:r>
          </a:p>
          <a:p>
            <a:pPr>
              <a:lnSpc>
                <a:spcPct val="92000"/>
              </a:lnSpc>
              <a:spcAft>
                <a:spcPts val="100"/>
              </a:spcAft>
            </a:pPr>
            <a:r>
              <a:rPr sz="700" b="0" i="0">
                <a:solidFill>
                  <a:srgbClr val="B3B3B3"/>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Content</a:t>
            </a:r>
          </a:p>
          <a:p>
            <a:pPr>
              <a:lnSpc>
                <a:spcPct val="92000"/>
              </a:lnSpc>
              <a:spcAft>
                <a:spcPts val="100"/>
              </a:spcAft>
            </a:pPr>
            <a:r>
              <a:rPr sz="700" b="0" i="0">
                <a:solidFill>
                  <a:srgbClr val="B3B3B3"/>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Tracking back</a:t>
            </a:r>
          </a:p>
          <a:p>
            <a:pPr>
              <a:lnSpc>
                <a:spcPct val="92000"/>
              </a:lnSpc>
              <a:spcAft>
                <a:spcPts val="100"/>
              </a:spcAft>
            </a:pPr>
            <a:r>
              <a:rPr sz="700" b="0" i="0">
                <a:solidFill>
                  <a:srgbClr val="B3B3B3"/>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Security</a:t>
            </a:r>
          </a:p>
          <a:p>
            <a:pPr>
              <a:lnSpc>
                <a:spcPct val="92000"/>
              </a:lnSpc>
              <a:spcAft>
                <a:spcPts val="100"/>
              </a:spcAft>
            </a:pPr>
            <a:r>
              <a:rPr sz="700" b="0" i="0">
                <a:solidFill>
                  <a:srgbClr val="B3B3B3"/>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FFD700"/>
                </a:solidFill>
                <a:latin typeface="Trenda IG Text"/>
              </a:rPr>
              <a:t>RE-APPROVAL REQUIRED </a:t>
            </a:r>
            <a:r>
              <a:rPr sz="750" b="0" i="0">
                <a:solidFill>
                  <a:srgbClr val="F2F2F2"/>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a:t>
            </a:r>
          </a:p>
        </p:txBody>
      </p:sp>
      <p:cxnSp>
        <p:nvCxnSpPr>
          <p:cNvPr id="13" name="Arrow 12"/>
          <p:cNvCxnSpPr/>
          <p:nvPr/>
        </p:nvCxnSpPr>
        <p:spPr>
          <a:xfrm>
            <a:off x="4102607" y="1472184"/>
            <a:ext cx="14630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a:t>
            </a:r>
          </a:p>
        </p:txBody>
      </p:sp>
      <p:cxnSp>
        <p:nvCxnSpPr>
          <p:cNvPr id="19" name="Arrow 18"/>
          <p:cNvCxnSpPr/>
          <p:nvPr/>
        </p:nvCxnSpPr>
        <p:spPr>
          <a:xfrm>
            <a:off x="6660896"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A</a:t>
            </a:r>
          </a:p>
          <a:p>
            <a:pPr>
              <a:lnSpc>
                <a:spcPct val="92000"/>
              </a:lnSpc>
              <a:spcAft>
                <a:spcPts val="100"/>
              </a:spcAft>
            </a:pPr>
            <a:r>
              <a:rPr sz="700" b="0" i="0">
                <a:solidFill>
                  <a:srgbClr val="B3B3B3"/>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Cohort facts</a:t>
            </a:r>
            <a:r>
              <a:rPr sz="700" b="0" i="0">
                <a:solidFill>
                  <a:srgbClr val="B3B3B3"/>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a:t>
            </a:r>
            <a:r>
              <a:rPr sz="700" b="0" i="0">
                <a:solidFill>
                  <a:srgbClr val="B3B3B3"/>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a:t>
            </a:r>
            <a:r>
              <a:rPr sz="700" b="0" i="0">
                <a:solidFill>
                  <a:srgbClr val="B3B3B3"/>
                </a:solidFill>
                <a:latin typeface="Trenda IG Text"/>
              </a:rPr>
              <a:t>  verified phone and email</a:t>
            </a:r>
          </a:p>
        </p:txBody>
      </p:sp>
      <p:sp>
        <p:nvSpPr>
          <p:cNvPr id="49" name="Shape 48"/>
          <p:cNvSpPr/>
          <p:nvPr/>
        </p:nvSpPr>
        <p:spPr>
          <a:xfrm>
            <a:off x="411480" y="41148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Exclusions</a:t>
            </a:r>
            <a:r>
              <a:rPr sz="700" b="0" i="0">
                <a:solidFill>
                  <a:srgbClr val="B3B3B3"/>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5" name="Shape 54"/>
          <p:cNvSpPr/>
          <p:nvPr/>
        </p:nvSpPr>
        <p:spPr>
          <a:xfrm>
            <a:off x="411480" y="5029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Engagement</a:t>
            </a:r>
            <a:r>
              <a:rPr sz="700" b="0" i="0">
                <a:solidFill>
                  <a:srgbClr val="B3B3B3"/>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0" name="Shape 69"/>
          <p:cNvSpPr/>
          <p:nvPr/>
        </p:nvSpPr>
        <p:spPr>
          <a:xfrm>
            <a:off x="4197096" y="414615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Resolve the exact eligible audience for an approved campaign</a:t>
            </a:r>
            <a:r>
              <a:rPr sz="700" b="0" i="0">
                <a:solidFill>
                  <a:srgbClr val="B3B3B3"/>
                </a:solidFill>
                <a:latin typeface="Trenda IG Text"/>
              </a:rPr>
              <a:t>  </a:t>
            </a:r>
          </a:p>
        </p:txBody>
      </p:sp>
      <p:sp>
        <p:nvSpPr>
          <p:cNvPr id="82" name="Shape 81"/>
          <p:cNvSpPr/>
          <p:nvPr/>
        </p:nvSpPr>
        <p:spPr>
          <a:xfrm>
            <a:off x="7891271" y="2743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Apply consent, STOP, suppression and contactability at run time</a:t>
            </a:r>
            <a:r>
              <a:rPr sz="700" b="0" i="0">
                <a:solidFill>
                  <a:srgbClr val="B3B3B3"/>
                </a:solidFill>
                <a:latin typeface="Trenda IG Text"/>
              </a:rPr>
              <a:t>  </a:t>
            </a:r>
          </a:p>
        </p:txBody>
      </p:sp>
      <p:sp>
        <p:nvSpPr>
          <p:cNvPr id="85" name="Shape 84"/>
          <p:cNvSpPr/>
          <p:nvPr/>
        </p:nvSpPr>
        <p:spPr>
          <a:xfrm>
            <a:off x="7891271" y="32004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and exclusions by rule</a:t>
            </a:r>
            <a:r>
              <a:rPr sz="700" b="0" i="0">
                <a:solidFill>
                  <a:srgbClr val="B3B3B3"/>
                </a:solidFill>
                <a:latin typeface="Trenda IG Text"/>
              </a:rPr>
              <a:t>  </a:t>
            </a:r>
          </a:p>
        </p:txBody>
      </p:sp>
      <p:sp>
        <p:nvSpPr>
          <p:cNvPr id="88" name="Shape 87"/>
          <p:cNvSpPr/>
          <p:nvPr/>
        </p:nvSpPr>
        <p:spPr>
          <a:xfrm>
            <a:off x="7891271" y="36576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Release minimum fields to Marketing Cloud, time-limited</a:t>
            </a:r>
            <a:r>
              <a:rPr sz="700" b="0" i="0">
                <a:solidFill>
                  <a:srgbClr val="B3B3B3"/>
                </a:solidFill>
                <a:latin typeface="Trenda IG Text"/>
              </a:rPr>
              <a:t>  </a:t>
            </a:r>
          </a:p>
        </p:txBody>
      </p:sp>
      <p:sp>
        <p:nvSpPr>
          <p:cNvPr id="91" name="Shape 90"/>
          <p:cNvSpPr/>
          <p:nvPr/>
        </p:nvSpPr>
        <p:spPr>
          <a:xfrm>
            <a:off x="7891271" y="41148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Hold out a control group to measure true impact</a:t>
            </a:r>
            <a:r>
              <a:rPr sz="700" b="0" i="0">
                <a:solidFill>
                  <a:srgbClr val="B3B3B3"/>
                </a:solidFill>
                <a:latin typeface="Trenda IG Text"/>
              </a:rPr>
              <a:t>  </a:t>
            </a:r>
          </a:p>
        </p:txBody>
      </p:sp>
      <p:sp>
        <p:nvSpPr>
          <p:cNvPr id="94" name="Shape 93"/>
          <p:cNvSpPr/>
          <p:nvPr/>
        </p:nvSpPr>
        <p:spPr>
          <a:xfrm>
            <a:off x="7891271" y="4572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Track engagement and outcomes per patient, such as readmissions</a:t>
            </a:r>
            <a:r>
              <a:rPr sz="700" b="0" i="0">
                <a:solidFill>
                  <a:srgbClr val="B3B3B3"/>
                </a:solidFill>
                <a:latin typeface="Trenda IG Text"/>
              </a:rPr>
              <a:t>  </a:t>
            </a:r>
          </a:p>
        </p:txBody>
      </p:sp>
      <p:sp>
        <p:nvSpPr>
          <p:cNvPr id="97" name="Shape 96"/>
          <p:cNvSpPr/>
          <p:nvPr/>
        </p:nvSpPr>
        <p:spPr>
          <a:xfrm>
            <a:off x="7891271" y="5029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Feed aggregates to Gold A, with small groups suppressed</a:t>
            </a:r>
            <a:r>
              <a:rPr sz="700" b="0" i="0">
                <a:solidFill>
                  <a:srgbClr val="B3B3B3"/>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1" name="Shape 100"/>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4" name="Shape 103"/>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07" name="Shape 106"/>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3" name="Shape 112"/>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No copies outside</a:t>
            </a:r>
          </a:p>
          <a:p>
            <a:pPr>
              <a:spcAft>
                <a:spcPts val="100"/>
              </a:spcAft>
            </a:pPr>
            <a:r>
              <a:rPr sz="700" b="0" i="0">
                <a:solidFill>
                  <a:srgbClr val="B3B3B3"/>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F2F2F2"/>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D6F2"/>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FFD7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2F2F2"/>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F2F2F2"/>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B3B3B3"/>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B3B3B3"/>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B3B3B3"/>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B3B3B3"/>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F2F2F2"/>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B3B3B3"/>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B3B3B3"/>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F2F2F2"/>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Never: </a:t>
            </a:r>
            <a:r>
              <a:rPr sz="700" b="0" i="0">
                <a:solidFill>
                  <a:srgbClr val="8C8C8C"/>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