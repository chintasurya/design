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25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 minutes)</a:t>
            </a:r>
          </a:p>
          <a:p/>
          <a:p>
            <a:r>
              <a:t>KEY MESSAGE</a:t>
            </a:r>
          </a:p>
          <a:p>
            <a:r>
              <a:t>The data is governed and masked before any agent sees it, the journey is built and tested before any patient data exists, and people approve twice before the minimum fields are released. The data extension starts the journey by itself, so everything that must be checked is checked before records land there.</a:t>
            </a:r>
          </a:p>
          <a:p/>
          <a:p>
            <a:r>
              <a:t>WALK IT</a:t>
            </a:r>
          </a:p>
          <a:p>
            <a:r>
              <a:t>- Govern (left): Google Cloud sources land in the bronze layer. The silver layer removes anyone we must not contact: no consent, no phone or email, STOP, deceased, duplicates. The golden layer holds campaign segments: heart, labour and delivery, and other segments. DLP classifies, a Collibra steward approves, and PHI is masked.</a:t>
            </a:r>
          </a:p>
          <a:p>
            <a:r>
              <a:t>- Plan (middle): Tableau, the graph and the Analytics Agent read masked data only. 1-2 The marketer asks in Codex; the Analytics Agent answers with counts and segments. 3 The marketer picks (G1).</a:t>
            </a:r>
          </a:p>
          <a:p>
            <a:r>
              <a:t>- Build and test first (right): 4 The campaign build invokes Journey Builder; the Developer Agent builds the journey and data extension, paused, and seeds the known risks. 5 The Testing Agent runs test cases with test phone numbers and emails only, checks the failure modes catalog, and classifies each failed test. Failures go back to the Developer Agent, at most five times, then to a named owner. 6 Clinical and compliance approve the journey and content (G3).</a:t>
            </a:r>
          </a:p>
          <a:p>
            <a:r>
              <a:t>- Release and send (bottom): 7 The Privacy Guard builds the masked audience. 8 The SME and tech lead approve a masked pre-send report (G2). 9 Only after G2 and G3, the minimum fields go to a time-limited release store. 10 Marketing Cloud pulls them into 11 the data extension. 12 The tested journey starts by itself. 13 Consent, STOP and frequency caps are re-checked at send. Engagement flows back to the bronze layer.</a:t>
            </a:r>
          </a:p>
          <a:p/>
          <a:p>
            <a:r>
              <a:t>WHAT CHANGED FROM THE WHITEBOARD (the FIX tags)</a:t>
            </a:r>
          </a:p>
          <a:p>
            <a:r>
              <a:t>1 Build and test before data lands. 2 G2 masked pre-send report. 3 Minimum-field release store: masked data cannot send. 4 Marketing Cloud pulls; Codex and agents never hold patient data. 5 Collibra steward approves before masking. 6 Retry cap: five, then a named owner. 7 Send-time re-checks and engagement back to the data.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CAMPAIGNS · FOR REVIEW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Your whiteboard design, kept end to end. Magenta FIX tags close the gaps: nothing reaches the data extension untested or unapproved.</a:t>
            </a:r>
          </a:p>
        </p:txBody>
      </p:sp>
      <p:sp>
        <p:nvSpPr>
          <p:cNvPr id="5" name="Shape 4"/>
          <p:cNvSpPr/>
          <p:nvPr/>
        </p:nvSpPr>
        <p:spPr>
          <a:xfrm>
            <a:off x="411480" y="1188720"/>
            <a:ext cx="3246120" cy="2743200"/>
          </a:xfrm>
          <a:prstGeom prst="roundRect">
            <a:avLst>
              <a:gd name="adj" fmla="val 3000"/>
            </a:avLst>
          </a:prstGeom>
          <a:solidFill>
            <a:srgbClr val="000000"/>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88720"/>
            <a:ext cx="3246120"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502920" y="1225296"/>
            <a:ext cx="201168" cy="201168"/>
          </a:xfrm>
          <a:prstGeom prst="rect">
            <a:avLst/>
          </a:prstGeom>
        </p:spPr>
      </p:pic>
      <p:sp>
        <p:nvSpPr>
          <p:cNvPr id="8" name="Text 6"/>
          <p:cNvSpPr txBox="1"/>
          <p:nvPr/>
        </p:nvSpPr>
        <p:spPr>
          <a:xfrm>
            <a:off x="777240" y="1188720"/>
            <a:ext cx="2331720" cy="274320"/>
          </a:xfrm>
          <a:prstGeom prst="rect">
            <a:avLst/>
          </a:prstGeom>
          <a:noFill/>
        </p:spPr>
        <p:txBody>
          <a:bodyPr wrap="square" lIns="0" rIns="0" tIns="0" bIns="0" anchor="ctr">
            <a:spAutoFit/>
          </a:bodyPr>
          <a:lstStyle/>
          <a:p>
            <a:r>
              <a:rPr sz="680" b="1" i="0">
                <a:solidFill>
                  <a:srgbClr val="FFFFFF"/>
                </a:solidFill>
                <a:latin typeface="Trenda IG Text"/>
              </a:rPr>
              <a:t>1  </a:t>
            </a:r>
            <a:r>
              <a:rPr sz="680" b="1" i="0" spc="120">
                <a:solidFill>
                  <a:srgbClr val="FFFFFF"/>
                </a:solidFill>
                <a:latin typeface="Trenda IG Text"/>
              </a:rPr>
              <a:t>GOVERN · GOOGLE CLOUD</a:t>
            </a:r>
          </a:p>
        </p:txBody>
      </p:sp>
      <p:sp>
        <p:nvSpPr>
          <p:cNvPr id="9" name="Shape 7"/>
          <p:cNvSpPr/>
          <p:nvPr/>
        </p:nvSpPr>
        <p:spPr>
          <a:xfrm>
            <a:off x="521208" y="1554480"/>
            <a:ext cx="3026663" cy="329184"/>
          </a:xfrm>
          <a:prstGeom prst="roundRect">
            <a:avLst>
              <a:gd name="adj" fmla="val 7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ooglecloud.png"/>
          <p:cNvPicPr>
            <a:picLocks noChangeAspect="1"/>
          </p:cNvPicPr>
          <p:nvPr/>
        </p:nvPicPr>
        <p:blipFill>
          <a:blip r:embed="rId2"/>
          <a:stretch>
            <a:fillRect/>
          </a:stretch>
        </p:blipFill>
        <p:spPr>
          <a:xfrm>
            <a:off x="612648" y="1618488"/>
            <a:ext cx="182880" cy="182880"/>
          </a:xfrm>
          <a:prstGeom prst="rect">
            <a:avLst/>
          </a:prstGeom>
        </p:spPr>
      </p:pic>
      <p:sp>
        <p:nvSpPr>
          <p:cNvPr id="11" name="Text 8"/>
          <p:cNvSpPr txBox="1"/>
          <p:nvPr/>
        </p:nvSpPr>
        <p:spPr>
          <a:xfrm>
            <a:off x="850392" y="1609344"/>
            <a:ext cx="2624327" cy="201168"/>
          </a:xfrm>
          <a:prstGeom prst="rect">
            <a:avLst/>
          </a:prstGeom>
          <a:noFill/>
        </p:spPr>
        <p:txBody>
          <a:bodyPr wrap="square" lIns="0" rIns="0" tIns="0" bIns="0" anchor="ctr">
            <a:spAutoFit/>
          </a:bodyPr>
          <a:lstStyle/>
          <a:p>
            <a:r>
              <a:rPr sz="660" b="1" i="0">
                <a:solidFill>
                  <a:srgbClr val="FFFFFF"/>
                </a:solidFill>
                <a:latin typeface="Trenda IG Text"/>
              </a:rPr>
              <a:t>Sources</a:t>
            </a:r>
          </a:p>
        </p:txBody>
      </p:sp>
      <p:sp>
        <p:nvSpPr>
          <p:cNvPr id="12" name="Text 9"/>
          <p:cNvSpPr txBox="1"/>
          <p:nvPr/>
        </p:nvSpPr>
        <p:spPr>
          <a:xfrm>
            <a:off x="1389888" y="1554480"/>
            <a:ext cx="2112263" cy="329184"/>
          </a:xfrm>
          <a:prstGeom prst="rect">
            <a:avLst/>
          </a:prstGeom>
          <a:noFill/>
        </p:spPr>
        <p:txBody>
          <a:bodyPr wrap="square" lIns="0" rIns="0" tIns="0" bIns="0" anchor="ctr">
            <a:spAutoFit/>
          </a:bodyPr>
          <a:lstStyle/>
          <a:p>
            <a:r>
              <a:rPr sz="560" b="0" i="0">
                <a:solidFill>
                  <a:srgbClr val="BFBFBF"/>
                </a:solidFill>
                <a:latin typeface="Trenda IG Text"/>
              </a:rPr>
              <a:t>Epic · athenahealth · Strata · SFDC · SFMC engagement</a:t>
            </a:r>
          </a:p>
        </p:txBody>
      </p:sp>
      <p:sp>
        <p:nvSpPr>
          <p:cNvPr id="13" name="Shape 10"/>
          <p:cNvSpPr/>
          <p:nvPr/>
        </p:nvSpPr>
        <p:spPr>
          <a:xfrm>
            <a:off x="521208" y="1975104"/>
            <a:ext cx="3026663" cy="329184"/>
          </a:xfrm>
          <a:prstGeom prst="roundRect">
            <a:avLst>
              <a:gd name="adj" fmla="val 7000"/>
            </a:avLst>
          </a:prstGeom>
          <a:solidFill>
            <a:srgbClr val="141414"/>
          </a:solidFill>
          <a:ln w="12700">
            <a:solidFill>
              <a:srgbClr val="A070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1"/>
          <p:cNvSpPr txBox="1"/>
          <p:nvPr/>
        </p:nvSpPr>
        <p:spPr>
          <a:xfrm>
            <a:off x="612648" y="2029968"/>
            <a:ext cx="2862072" cy="201168"/>
          </a:xfrm>
          <a:prstGeom prst="rect">
            <a:avLst/>
          </a:prstGeom>
          <a:noFill/>
        </p:spPr>
        <p:txBody>
          <a:bodyPr wrap="square" lIns="0" rIns="0" tIns="0" bIns="0" anchor="ctr">
            <a:spAutoFit/>
          </a:bodyPr>
          <a:lstStyle/>
          <a:p>
            <a:r>
              <a:rPr sz="660" b="1" i="0">
                <a:solidFill>
                  <a:srgbClr val="FFFFFF"/>
                </a:solidFill>
                <a:latin typeface="Trenda IG Text"/>
              </a:rPr>
              <a:t>Bronze</a:t>
            </a:r>
          </a:p>
        </p:txBody>
      </p:sp>
      <p:sp>
        <p:nvSpPr>
          <p:cNvPr id="15" name="Text 12"/>
          <p:cNvSpPr txBox="1"/>
          <p:nvPr/>
        </p:nvSpPr>
        <p:spPr>
          <a:xfrm>
            <a:off x="1207008" y="1975104"/>
            <a:ext cx="2295144" cy="329184"/>
          </a:xfrm>
          <a:prstGeom prst="rect">
            <a:avLst/>
          </a:prstGeom>
          <a:noFill/>
        </p:spPr>
        <p:txBody>
          <a:bodyPr wrap="square" lIns="0" rIns="0" tIns="0" bIns="0" anchor="ctr">
            <a:spAutoFit/>
          </a:bodyPr>
          <a:lstStyle/>
          <a:p>
            <a:r>
              <a:rPr sz="580" b="0" i="0">
                <a:solidFill>
                  <a:srgbClr val="BFBFBF"/>
                </a:solidFill>
                <a:latin typeface="Trenda IG Text"/>
              </a:rPr>
              <a:t>every record useful for a campaign</a:t>
            </a:r>
          </a:p>
        </p:txBody>
      </p:sp>
      <p:sp>
        <p:nvSpPr>
          <p:cNvPr id="16" name="Shape 13"/>
          <p:cNvSpPr/>
          <p:nvPr/>
        </p:nvSpPr>
        <p:spPr>
          <a:xfrm>
            <a:off x="521208" y="2395728"/>
            <a:ext cx="3026663" cy="457200"/>
          </a:xfrm>
          <a:prstGeom prst="roundRect">
            <a:avLst>
              <a:gd name="adj" fmla="val 7000"/>
            </a:avLst>
          </a:prstGeom>
          <a:solidFill>
            <a:srgbClr val="141414"/>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4"/>
          <p:cNvSpPr txBox="1"/>
          <p:nvPr/>
        </p:nvSpPr>
        <p:spPr>
          <a:xfrm>
            <a:off x="612648" y="2450592"/>
            <a:ext cx="2862072" cy="201168"/>
          </a:xfrm>
          <a:prstGeom prst="rect">
            <a:avLst/>
          </a:prstGeom>
          <a:noFill/>
        </p:spPr>
        <p:txBody>
          <a:bodyPr wrap="square" lIns="0" rIns="0" tIns="0" bIns="0" anchor="ctr">
            <a:spAutoFit/>
          </a:bodyPr>
          <a:lstStyle/>
          <a:p>
            <a:r>
              <a:rPr sz="660" b="1" i="0">
                <a:solidFill>
                  <a:srgbClr val="FFFFFF"/>
                </a:solidFill>
                <a:latin typeface="Trenda IG Text"/>
              </a:rPr>
              <a:t>Silver · consent filter</a:t>
            </a:r>
          </a:p>
        </p:txBody>
      </p:sp>
      <p:sp>
        <p:nvSpPr>
          <p:cNvPr id="18" name="Text 15"/>
          <p:cNvSpPr txBox="1"/>
          <p:nvPr/>
        </p:nvSpPr>
        <p:spPr>
          <a:xfrm>
            <a:off x="612648" y="2679192"/>
            <a:ext cx="2843783" cy="146303"/>
          </a:xfrm>
          <a:prstGeom prst="rect">
            <a:avLst/>
          </a:prstGeom>
          <a:noFill/>
        </p:spPr>
        <p:txBody>
          <a:bodyPr wrap="square" lIns="0" rIns="0" tIns="0" bIns="0" anchor="t">
            <a:spAutoFit/>
          </a:bodyPr>
          <a:lstStyle/>
          <a:p>
            <a:pPr>
              <a:spcAft>
                <a:spcPts val="100"/>
              </a:spcAft>
            </a:pPr>
            <a:r>
              <a:rPr sz="560" b="0" i="0">
                <a:solidFill>
                  <a:srgbClr val="BFBFBF"/>
                </a:solidFill>
                <a:latin typeface="Trenda IG Text"/>
              </a:rPr>
              <a:t>Drops no consent, no phone or email, STOP, deceased, duplicates.</a:t>
            </a:r>
          </a:p>
        </p:txBody>
      </p:sp>
      <p:sp>
        <p:nvSpPr>
          <p:cNvPr id="19" name="Shape 16"/>
          <p:cNvSpPr/>
          <p:nvPr/>
        </p:nvSpPr>
        <p:spPr>
          <a:xfrm>
            <a:off x="521208" y="2944368"/>
            <a:ext cx="3026663" cy="457200"/>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7"/>
          <p:cNvSpPr txBox="1"/>
          <p:nvPr/>
        </p:nvSpPr>
        <p:spPr>
          <a:xfrm>
            <a:off x="594360" y="2944368"/>
            <a:ext cx="548640" cy="457200"/>
          </a:xfrm>
          <a:prstGeom prst="rect">
            <a:avLst/>
          </a:prstGeom>
          <a:noFill/>
        </p:spPr>
        <p:txBody>
          <a:bodyPr wrap="square" lIns="0" rIns="0" tIns="0" bIns="0" anchor="ctr">
            <a:spAutoFit/>
          </a:bodyPr>
          <a:lstStyle/>
          <a:p>
            <a:r>
              <a:rPr sz="660" b="1" i="0">
                <a:solidFill>
                  <a:srgbClr val="FFD700"/>
                </a:solidFill>
                <a:latin typeface="Trenda IG Text"/>
              </a:rPr>
              <a:t>Golden</a:t>
            </a:r>
          </a:p>
        </p:txBody>
      </p:sp>
      <p:sp>
        <p:nvSpPr>
          <p:cNvPr id="21" name="Shape 18"/>
          <p:cNvSpPr/>
          <p:nvPr/>
        </p:nvSpPr>
        <p:spPr>
          <a:xfrm>
            <a:off x="1124712" y="3026663"/>
            <a:ext cx="752855" cy="292608"/>
          </a:xfrm>
          <a:prstGeom prst="roundRect">
            <a:avLst>
              <a:gd name="adj" fmla="val 1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19"/>
          <p:cNvSpPr txBox="1"/>
          <p:nvPr/>
        </p:nvSpPr>
        <p:spPr>
          <a:xfrm>
            <a:off x="1124712" y="3026663"/>
            <a:ext cx="752855" cy="292608"/>
          </a:xfrm>
          <a:prstGeom prst="rect">
            <a:avLst/>
          </a:prstGeom>
          <a:noFill/>
        </p:spPr>
        <p:txBody>
          <a:bodyPr wrap="square" lIns="0" rIns="0" tIns="0" bIns="0" anchor="ctr">
            <a:spAutoFit/>
          </a:bodyPr>
          <a:lstStyle/>
          <a:p>
            <a:pPr algn="ctr"/>
            <a:r>
              <a:rPr sz="580" b="1" i="0">
                <a:solidFill>
                  <a:srgbClr val="FFFFFF"/>
                </a:solidFill>
                <a:latin typeface="Trenda IG Text"/>
              </a:rPr>
              <a:t>Heart</a:t>
            </a:r>
          </a:p>
        </p:txBody>
      </p:sp>
      <p:sp>
        <p:nvSpPr>
          <p:cNvPr id="23" name="Shape 20"/>
          <p:cNvSpPr/>
          <p:nvPr/>
        </p:nvSpPr>
        <p:spPr>
          <a:xfrm>
            <a:off x="1932432" y="3026663"/>
            <a:ext cx="752855" cy="292608"/>
          </a:xfrm>
          <a:prstGeom prst="roundRect">
            <a:avLst>
              <a:gd name="adj" fmla="val 1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1"/>
          <p:cNvSpPr txBox="1"/>
          <p:nvPr/>
        </p:nvSpPr>
        <p:spPr>
          <a:xfrm>
            <a:off x="1932432" y="3026663"/>
            <a:ext cx="752855" cy="292608"/>
          </a:xfrm>
          <a:prstGeom prst="rect">
            <a:avLst/>
          </a:prstGeom>
          <a:noFill/>
        </p:spPr>
        <p:txBody>
          <a:bodyPr wrap="square" lIns="0" rIns="0" tIns="0" bIns="0" anchor="ctr">
            <a:spAutoFit/>
          </a:bodyPr>
          <a:lstStyle/>
          <a:p>
            <a:pPr algn="ctr"/>
            <a:r>
              <a:rPr sz="580" b="1" i="0">
                <a:solidFill>
                  <a:srgbClr val="FFFFFF"/>
                </a:solidFill>
                <a:latin typeface="Trenda IG Text"/>
              </a:rPr>
              <a:t>Labour + delivery</a:t>
            </a:r>
          </a:p>
        </p:txBody>
      </p:sp>
      <p:sp>
        <p:nvSpPr>
          <p:cNvPr id="25" name="Shape 22"/>
          <p:cNvSpPr/>
          <p:nvPr/>
        </p:nvSpPr>
        <p:spPr>
          <a:xfrm>
            <a:off x="2740152" y="3026663"/>
            <a:ext cx="752855" cy="292608"/>
          </a:xfrm>
          <a:prstGeom prst="roundRect">
            <a:avLst>
              <a:gd name="adj" fmla="val 1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3"/>
          <p:cNvSpPr txBox="1"/>
          <p:nvPr/>
        </p:nvSpPr>
        <p:spPr>
          <a:xfrm>
            <a:off x="2740152" y="3026663"/>
            <a:ext cx="752855" cy="292608"/>
          </a:xfrm>
          <a:prstGeom prst="rect">
            <a:avLst/>
          </a:prstGeom>
          <a:noFill/>
        </p:spPr>
        <p:txBody>
          <a:bodyPr wrap="square" lIns="0" rIns="0" tIns="0" bIns="0" anchor="ctr">
            <a:spAutoFit/>
          </a:bodyPr>
          <a:lstStyle/>
          <a:p>
            <a:pPr algn="ctr"/>
            <a:r>
              <a:rPr sz="580" b="1" i="0">
                <a:solidFill>
                  <a:srgbClr val="FFFFFF"/>
                </a:solidFill>
                <a:latin typeface="Trenda IG Text"/>
              </a:rPr>
              <a:t>Segmented</a:t>
            </a:r>
          </a:p>
        </p:txBody>
      </p:sp>
      <p:sp>
        <p:nvSpPr>
          <p:cNvPr id="27" name="Shape 24"/>
          <p:cNvSpPr/>
          <p:nvPr/>
        </p:nvSpPr>
        <p:spPr>
          <a:xfrm>
            <a:off x="521208" y="3493008"/>
            <a:ext cx="3026663" cy="365760"/>
          </a:xfrm>
          <a:prstGeom prst="roundRect">
            <a:avLst>
              <a:gd name="adj" fmla="val 7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5"/>
          <p:cNvSpPr txBox="1"/>
          <p:nvPr/>
        </p:nvSpPr>
        <p:spPr>
          <a:xfrm>
            <a:off x="612648" y="3547872"/>
            <a:ext cx="2862072" cy="201168"/>
          </a:xfrm>
          <a:prstGeom prst="rect">
            <a:avLst/>
          </a:prstGeom>
          <a:noFill/>
        </p:spPr>
        <p:txBody>
          <a:bodyPr wrap="square" lIns="0" rIns="0" tIns="0" bIns="0" anchor="ctr">
            <a:spAutoFit/>
          </a:bodyPr>
          <a:lstStyle/>
          <a:p>
            <a:r>
              <a:rPr sz="640" b="1" i="0">
                <a:solidFill>
                  <a:srgbClr val="FFFFFF"/>
                </a:solidFill>
                <a:latin typeface="Trenda IG Text"/>
              </a:rPr>
              <a:t>DLP masks PHI · Collibra steward approves</a:t>
            </a:r>
          </a:p>
        </p:txBody>
      </p:sp>
      <p:sp>
        <p:nvSpPr>
          <p:cNvPr id="29" name="Shape 26"/>
          <p:cNvSpPr/>
          <p:nvPr/>
        </p:nvSpPr>
        <p:spPr>
          <a:xfrm>
            <a:off x="3090672" y="3602736"/>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7"/>
          <p:cNvSpPr txBox="1"/>
          <p:nvPr/>
        </p:nvSpPr>
        <p:spPr>
          <a:xfrm>
            <a:off x="3090672" y="3602736"/>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5</a:t>
            </a:r>
          </a:p>
        </p:txBody>
      </p:sp>
      <p:cxnSp>
        <p:nvCxnSpPr>
          <p:cNvPr id="31" name="Arrow 28"/>
          <p:cNvCxnSpPr/>
          <p:nvPr/>
        </p:nvCxnSpPr>
        <p:spPr>
          <a:xfrm>
            <a:off x="2034539" y="1883664"/>
            <a:ext cx="0" cy="91440"/>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29"/>
          <p:cNvCxnSpPr/>
          <p:nvPr/>
        </p:nvCxnSpPr>
        <p:spPr>
          <a:xfrm>
            <a:off x="2034539" y="2304288"/>
            <a:ext cx="0" cy="91440"/>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Arrow 30"/>
          <p:cNvCxnSpPr/>
          <p:nvPr/>
        </p:nvCxnSpPr>
        <p:spPr>
          <a:xfrm>
            <a:off x="2034539" y="2852928"/>
            <a:ext cx="0" cy="91440"/>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rrow 31"/>
          <p:cNvCxnSpPr/>
          <p:nvPr/>
        </p:nvCxnSpPr>
        <p:spPr>
          <a:xfrm>
            <a:off x="2034539" y="3401568"/>
            <a:ext cx="0" cy="91440"/>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2"/>
          <p:cNvSpPr/>
          <p:nvPr/>
        </p:nvSpPr>
        <p:spPr>
          <a:xfrm>
            <a:off x="3794760" y="1188720"/>
            <a:ext cx="3017520" cy="2743200"/>
          </a:xfrm>
          <a:prstGeom prst="roundRect">
            <a:avLst>
              <a:gd name="adj" fmla="val 3000"/>
            </a:avLst>
          </a:prstGeom>
          <a:solidFill>
            <a:srgbClr val="000000"/>
          </a:solid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Shape 33"/>
          <p:cNvSpPr/>
          <p:nvPr/>
        </p:nvSpPr>
        <p:spPr>
          <a:xfrm>
            <a:off x="3794760" y="1188720"/>
            <a:ext cx="3017520" cy="274320"/>
          </a:xfrm>
          <a:prstGeom prst="rect">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googlebigquery.png"/>
          <p:cNvPicPr>
            <a:picLocks noChangeAspect="1"/>
          </p:cNvPicPr>
          <p:nvPr/>
        </p:nvPicPr>
        <p:blipFill>
          <a:blip r:embed="rId3"/>
          <a:stretch>
            <a:fillRect/>
          </a:stretch>
        </p:blipFill>
        <p:spPr>
          <a:xfrm>
            <a:off x="3886200" y="1225296"/>
            <a:ext cx="201168" cy="201168"/>
          </a:xfrm>
          <a:prstGeom prst="rect">
            <a:avLst/>
          </a:prstGeom>
        </p:spPr>
      </p:pic>
      <p:sp>
        <p:nvSpPr>
          <p:cNvPr id="38" name="Text 34"/>
          <p:cNvSpPr txBox="1"/>
          <p:nvPr/>
        </p:nvSpPr>
        <p:spPr>
          <a:xfrm>
            <a:off x="4160520" y="1188720"/>
            <a:ext cx="2103120" cy="274320"/>
          </a:xfrm>
          <a:prstGeom prst="rect">
            <a:avLst/>
          </a:prstGeom>
          <a:noFill/>
        </p:spPr>
        <p:txBody>
          <a:bodyPr wrap="square" lIns="0" rIns="0" tIns="0" bIns="0" anchor="ctr">
            <a:spAutoFit/>
          </a:bodyPr>
          <a:lstStyle/>
          <a:p>
            <a:r>
              <a:rPr sz="680" b="1" i="0">
                <a:solidFill>
                  <a:srgbClr val="FFFFFF"/>
                </a:solidFill>
                <a:latin typeface="Trenda IG Text"/>
              </a:rPr>
              <a:t>2  </a:t>
            </a:r>
            <a:r>
              <a:rPr sz="680" b="1" i="0" spc="120">
                <a:solidFill>
                  <a:srgbClr val="FFFFFF"/>
                </a:solidFill>
                <a:latin typeface="Trenda IG Text"/>
              </a:rPr>
              <a:t>PLAN ON MASKED DATA</a:t>
            </a:r>
          </a:p>
        </p:txBody>
      </p:sp>
      <p:sp>
        <p:nvSpPr>
          <p:cNvPr id="39" name="Shape 35"/>
          <p:cNvSpPr/>
          <p:nvPr/>
        </p:nvSpPr>
        <p:spPr>
          <a:xfrm>
            <a:off x="3904488" y="1572768"/>
            <a:ext cx="883919" cy="566928"/>
          </a:xfrm>
          <a:prstGeom prst="roundRect">
            <a:avLst>
              <a:gd name="adj" fmla="val 10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tableau.png"/>
          <p:cNvPicPr>
            <a:picLocks noChangeAspect="1"/>
          </p:cNvPicPr>
          <p:nvPr/>
        </p:nvPicPr>
        <p:blipFill>
          <a:blip r:embed="rId4"/>
          <a:stretch>
            <a:fillRect/>
          </a:stretch>
        </p:blipFill>
        <p:spPr>
          <a:xfrm>
            <a:off x="3968496" y="1627632"/>
            <a:ext cx="164592" cy="164592"/>
          </a:xfrm>
          <a:prstGeom prst="rect">
            <a:avLst/>
          </a:prstGeom>
        </p:spPr>
      </p:pic>
      <p:sp>
        <p:nvSpPr>
          <p:cNvPr id="41" name="Text 36"/>
          <p:cNvSpPr txBox="1"/>
          <p:nvPr/>
        </p:nvSpPr>
        <p:spPr>
          <a:xfrm>
            <a:off x="4178808" y="1609344"/>
            <a:ext cx="573023" cy="219456"/>
          </a:xfrm>
          <a:prstGeom prst="rect">
            <a:avLst/>
          </a:prstGeom>
          <a:noFill/>
        </p:spPr>
        <p:txBody>
          <a:bodyPr wrap="square" lIns="0" rIns="0" tIns="0" bIns="0" anchor="ctr">
            <a:spAutoFit/>
          </a:bodyPr>
          <a:lstStyle/>
          <a:p>
            <a:r>
              <a:rPr sz="640" b="1" i="0">
                <a:solidFill>
                  <a:srgbClr val="FFFFFF"/>
                </a:solidFill>
                <a:latin typeface="Trenda IG Text"/>
              </a:rPr>
              <a:t>Tableau</a:t>
            </a:r>
          </a:p>
        </p:txBody>
      </p:sp>
      <p:sp>
        <p:nvSpPr>
          <p:cNvPr id="42" name="Text 37"/>
          <p:cNvSpPr txBox="1"/>
          <p:nvPr/>
        </p:nvSpPr>
        <p:spPr>
          <a:xfrm>
            <a:off x="3977640" y="1847088"/>
            <a:ext cx="774191" cy="256032"/>
          </a:xfrm>
          <a:prstGeom prst="rect">
            <a:avLst/>
          </a:prstGeom>
          <a:noFill/>
        </p:spPr>
        <p:txBody>
          <a:bodyPr wrap="square" lIns="0" rIns="0" tIns="0" bIns="0" anchor="t">
            <a:spAutoFit/>
          </a:bodyPr>
          <a:lstStyle/>
          <a:p>
            <a:r>
              <a:rPr sz="550" b="0" i="0">
                <a:solidFill>
                  <a:srgbClr val="BFBFBF"/>
                </a:solidFill>
                <a:latin typeface="Trenda IG Text"/>
              </a:rPr>
              <a:t>masked dashboards</a:t>
            </a:r>
          </a:p>
        </p:txBody>
      </p:sp>
      <p:sp>
        <p:nvSpPr>
          <p:cNvPr id="43" name="Shape 38"/>
          <p:cNvSpPr/>
          <p:nvPr/>
        </p:nvSpPr>
        <p:spPr>
          <a:xfrm>
            <a:off x="4861560" y="1572768"/>
            <a:ext cx="883919" cy="566928"/>
          </a:xfrm>
          <a:prstGeom prst="roundRect">
            <a:avLst>
              <a:gd name="adj" fmla="val 10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9"/>
          <p:cNvSpPr txBox="1"/>
          <p:nvPr/>
        </p:nvSpPr>
        <p:spPr>
          <a:xfrm>
            <a:off x="4934712" y="1609344"/>
            <a:ext cx="573023" cy="219456"/>
          </a:xfrm>
          <a:prstGeom prst="rect">
            <a:avLst/>
          </a:prstGeom>
          <a:noFill/>
        </p:spPr>
        <p:txBody>
          <a:bodyPr wrap="square" lIns="0" rIns="0" tIns="0" bIns="0" anchor="ctr">
            <a:spAutoFit/>
          </a:bodyPr>
          <a:lstStyle/>
          <a:p>
            <a:r>
              <a:rPr sz="640" b="1" i="0">
                <a:solidFill>
                  <a:srgbClr val="FFFFFF"/>
                </a:solidFill>
                <a:latin typeface="Trenda IG Text"/>
              </a:rPr>
              <a:t>Graph</a:t>
            </a:r>
          </a:p>
        </p:txBody>
      </p:sp>
      <p:sp>
        <p:nvSpPr>
          <p:cNvPr id="45" name="Text 40"/>
          <p:cNvSpPr txBox="1"/>
          <p:nvPr/>
        </p:nvSpPr>
        <p:spPr>
          <a:xfrm>
            <a:off x="4934712" y="1847088"/>
            <a:ext cx="774191" cy="256032"/>
          </a:xfrm>
          <a:prstGeom prst="rect">
            <a:avLst/>
          </a:prstGeom>
          <a:noFill/>
        </p:spPr>
        <p:txBody>
          <a:bodyPr wrap="square" lIns="0" rIns="0" tIns="0" bIns="0" anchor="t">
            <a:spAutoFit/>
          </a:bodyPr>
          <a:lstStyle/>
          <a:p>
            <a:r>
              <a:rPr sz="550" b="0" i="0">
                <a:solidFill>
                  <a:srgbClr val="BFBFBF"/>
                </a:solidFill>
                <a:latin typeface="Trenda IG Text"/>
              </a:rPr>
              <a:t>segments, counts</a:t>
            </a:r>
          </a:p>
        </p:txBody>
      </p:sp>
      <p:sp>
        <p:nvSpPr>
          <p:cNvPr id="46" name="Shape 41"/>
          <p:cNvSpPr/>
          <p:nvPr/>
        </p:nvSpPr>
        <p:spPr>
          <a:xfrm>
            <a:off x="5818632" y="1572768"/>
            <a:ext cx="883919" cy="566928"/>
          </a:xfrm>
          <a:prstGeom prst="roundRect">
            <a:avLst>
              <a:gd name="adj" fmla="val 10000"/>
            </a:avLst>
          </a:prstGeom>
          <a:solidFill>
            <a:srgbClr val="141414"/>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harness.png"/>
          <p:cNvPicPr>
            <a:picLocks noChangeAspect="1"/>
          </p:cNvPicPr>
          <p:nvPr/>
        </p:nvPicPr>
        <p:blipFill>
          <a:blip r:embed="rId5"/>
          <a:stretch>
            <a:fillRect/>
          </a:stretch>
        </p:blipFill>
        <p:spPr>
          <a:xfrm>
            <a:off x="5882640" y="1627632"/>
            <a:ext cx="164592" cy="164592"/>
          </a:xfrm>
          <a:prstGeom prst="rect">
            <a:avLst/>
          </a:prstGeom>
        </p:spPr>
      </p:pic>
      <p:sp>
        <p:nvSpPr>
          <p:cNvPr id="48" name="Text 42"/>
          <p:cNvSpPr txBox="1"/>
          <p:nvPr/>
        </p:nvSpPr>
        <p:spPr>
          <a:xfrm>
            <a:off x="6092952" y="1609344"/>
            <a:ext cx="573023" cy="219456"/>
          </a:xfrm>
          <a:prstGeom prst="rect">
            <a:avLst/>
          </a:prstGeom>
          <a:noFill/>
        </p:spPr>
        <p:txBody>
          <a:bodyPr wrap="square" lIns="0" rIns="0" tIns="0" bIns="0" anchor="ctr">
            <a:spAutoFit/>
          </a:bodyPr>
          <a:lstStyle/>
          <a:p>
            <a:r>
              <a:rPr sz="640" b="1" i="0">
                <a:solidFill>
                  <a:srgbClr val="FFFFFF"/>
                </a:solidFill>
                <a:latin typeface="Trenda IG Text"/>
              </a:rPr>
              <a:t>Analytics Agent</a:t>
            </a:r>
          </a:p>
        </p:txBody>
      </p:sp>
      <p:sp>
        <p:nvSpPr>
          <p:cNvPr id="49" name="Text 43"/>
          <p:cNvSpPr txBox="1"/>
          <p:nvPr/>
        </p:nvSpPr>
        <p:spPr>
          <a:xfrm>
            <a:off x="5891784" y="1847088"/>
            <a:ext cx="774191" cy="256032"/>
          </a:xfrm>
          <a:prstGeom prst="rect">
            <a:avLst/>
          </a:prstGeom>
          <a:noFill/>
        </p:spPr>
        <p:txBody>
          <a:bodyPr wrap="square" lIns="0" rIns="0" tIns="0" bIns="0" anchor="t">
            <a:spAutoFit/>
          </a:bodyPr>
          <a:lstStyle/>
          <a:p>
            <a:r>
              <a:rPr sz="550" b="0" i="0">
                <a:solidFill>
                  <a:srgbClr val="BFBFBF"/>
                </a:solidFill>
                <a:latin typeface="Trenda IG Text"/>
              </a:rPr>
              <a:t>ranks campaigns</a:t>
            </a:r>
          </a:p>
        </p:txBody>
      </p:sp>
      <p:sp>
        <p:nvSpPr>
          <p:cNvPr id="50" name="Shape 44"/>
          <p:cNvSpPr/>
          <p:nvPr/>
        </p:nvSpPr>
        <p:spPr>
          <a:xfrm>
            <a:off x="6464808" y="1901952"/>
            <a:ext cx="182880" cy="182880"/>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45"/>
          <p:cNvSpPr txBox="1"/>
          <p:nvPr/>
        </p:nvSpPr>
        <p:spPr>
          <a:xfrm>
            <a:off x="6464808" y="1901952"/>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52" name="Shape 46"/>
          <p:cNvSpPr/>
          <p:nvPr/>
        </p:nvSpPr>
        <p:spPr>
          <a:xfrm>
            <a:off x="3904488" y="2395728"/>
            <a:ext cx="2798063" cy="566928"/>
          </a:xfrm>
          <a:prstGeom prst="roundRect">
            <a:avLst>
              <a:gd name="adj" fmla="val 10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hape 47"/>
          <p:cNvSpPr/>
          <p:nvPr/>
        </p:nvSpPr>
        <p:spPr>
          <a:xfrm>
            <a:off x="3968496" y="245973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48"/>
          <p:cNvSpPr txBox="1"/>
          <p:nvPr/>
        </p:nvSpPr>
        <p:spPr>
          <a:xfrm>
            <a:off x="3968496" y="24597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pic>
        <p:nvPicPr>
          <p:cNvPr id="55" name="Picture 54" descr="openai-white.png"/>
          <p:cNvPicPr>
            <a:picLocks noChangeAspect="1"/>
          </p:cNvPicPr>
          <p:nvPr/>
        </p:nvPicPr>
        <p:blipFill>
          <a:blip r:embed="rId6"/>
          <a:stretch>
            <a:fillRect/>
          </a:stretch>
        </p:blipFill>
        <p:spPr>
          <a:xfrm>
            <a:off x="4215384" y="2459736"/>
            <a:ext cx="182880" cy="182880"/>
          </a:xfrm>
          <a:prstGeom prst="rect">
            <a:avLst/>
          </a:prstGeom>
        </p:spPr>
      </p:pic>
      <p:sp>
        <p:nvSpPr>
          <p:cNvPr id="56" name="Text 49"/>
          <p:cNvSpPr txBox="1"/>
          <p:nvPr/>
        </p:nvSpPr>
        <p:spPr>
          <a:xfrm>
            <a:off x="4453128" y="2441448"/>
            <a:ext cx="1828800" cy="219456"/>
          </a:xfrm>
          <a:prstGeom prst="rect">
            <a:avLst/>
          </a:prstGeom>
          <a:noFill/>
        </p:spPr>
        <p:txBody>
          <a:bodyPr wrap="square" lIns="0" rIns="0" tIns="0" bIns="0" anchor="ctr">
            <a:spAutoFit/>
          </a:bodyPr>
          <a:lstStyle/>
          <a:p>
            <a:r>
              <a:rPr sz="700" b="1" i="0">
                <a:solidFill>
                  <a:srgbClr val="FFFFFF"/>
                </a:solidFill>
                <a:latin typeface="Trenda IG Text"/>
              </a:rPr>
              <a:t>Ask in Codex</a:t>
            </a:r>
          </a:p>
        </p:txBody>
      </p:sp>
      <p:sp>
        <p:nvSpPr>
          <p:cNvPr id="57" name="Text 50"/>
          <p:cNvSpPr txBox="1"/>
          <p:nvPr/>
        </p:nvSpPr>
        <p:spPr>
          <a:xfrm>
            <a:off x="3995928" y="2688336"/>
            <a:ext cx="2615184" cy="256032"/>
          </a:xfrm>
          <a:prstGeom prst="rect">
            <a:avLst/>
          </a:prstGeom>
          <a:noFill/>
        </p:spPr>
        <p:txBody>
          <a:bodyPr wrap="square" lIns="0" rIns="0" tIns="0" bIns="0" anchor="t">
            <a:spAutoFit/>
          </a:bodyPr>
          <a:lstStyle/>
          <a:p>
            <a:r>
              <a:rPr sz="580" b="0" i="0">
                <a:solidFill>
                  <a:srgbClr val="BFBFBF"/>
                </a:solidFill>
                <a:latin typeface="Courier New"/>
              </a:rPr>
              <a:t>“What are the top campaigns for heart patients?”</a:t>
            </a:r>
          </a:p>
        </p:txBody>
      </p:sp>
      <p:cxnSp>
        <p:nvCxnSpPr>
          <p:cNvPr id="58" name="Arrow 51"/>
          <p:cNvCxnSpPr/>
          <p:nvPr/>
        </p:nvCxnSpPr>
        <p:spPr>
          <a:xfrm>
            <a:off x="6187440" y="2139696"/>
            <a:ext cx="0" cy="256032"/>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Arrow 52"/>
          <p:cNvCxnSpPr/>
          <p:nvPr/>
        </p:nvCxnSpPr>
        <p:spPr>
          <a:xfrm flipV="1">
            <a:off x="6333744" y="2139696"/>
            <a:ext cx="0" cy="256032"/>
          </a:xfrm>
          <a:prstGeom prst="line">
            <a:avLst/>
          </a:prstGeom>
          <a:ln w="15875">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Shape 53"/>
          <p:cNvSpPr/>
          <p:nvPr/>
        </p:nvSpPr>
        <p:spPr>
          <a:xfrm>
            <a:off x="3904488" y="3090672"/>
            <a:ext cx="2798063" cy="566928"/>
          </a:xfrm>
          <a:prstGeom prst="roundRect">
            <a:avLst>
              <a:gd name="adj" fmla="val 8000"/>
            </a:avLst>
          </a:prstGeom>
          <a:solidFill>
            <a:srgbClr val="2B2508"/>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4"/>
          <p:cNvSpPr/>
          <p:nvPr/>
        </p:nvSpPr>
        <p:spPr>
          <a:xfrm>
            <a:off x="3968496" y="3154679"/>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5"/>
          <p:cNvSpPr txBox="1"/>
          <p:nvPr/>
        </p:nvSpPr>
        <p:spPr>
          <a:xfrm>
            <a:off x="3968496" y="3154679"/>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pic>
        <p:nvPicPr>
          <p:cNvPr id="63" name="Picture 62" descr="people.png"/>
          <p:cNvPicPr>
            <a:picLocks noChangeAspect="1"/>
          </p:cNvPicPr>
          <p:nvPr/>
        </p:nvPicPr>
        <p:blipFill>
          <a:blip r:embed="rId7"/>
          <a:stretch>
            <a:fillRect/>
          </a:stretch>
        </p:blipFill>
        <p:spPr>
          <a:xfrm>
            <a:off x="4215384" y="3154679"/>
            <a:ext cx="182880" cy="182880"/>
          </a:xfrm>
          <a:prstGeom prst="rect">
            <a:avLst/>
          </a:prstGeom>
        </p:spPr>
      </p:pic>
      <p:sp>
        <p:nvSpPr>
          <p:cNvPr id="64" name="Text 56"/>
          <p:cNvSpPr txBox="1"/>
          <p:nvPr/>
        </p:nvSpPr>
        <p:spPr>
          <a:xfrm>
            <a:off x="4453128" y="3136391"/>
            <a:ext cx="1792223" cy="219456"/>
          </a:xfrm>
          <a:prstGeom prst="rect">
            <a:avLst/>
          </a:prstGeom>
          <a:noFill/>
        </p:spPr>
        <p:txBody>
          <a:bodyPr wrap="square" lIns="0" rIns="0" tIns="0" bIns="0" anchor="ctr">
            <a:spAutoFit/>
          </a:bodyPr>
          <a:lstStyle/>
          <a:p>
            <a:r>
              <a:rPr sz="700" b="1" i="0">
                <a:solidFill>
                  <a:srgbClr val="FFFFFF"/>
                </a:solidFill>
                <a:latin typeface="Trenda IG Text"/>
              </a:rPr>
              <a:t>Marketer picks the campaign</a:t>
            </a:r>
          </a:p>
        </p:txBody>
      </p:sp>
      <p:sp>
        <p:nvSpPr>
          <p:cNvPr id="65" name="Shape 57"/>
          <p:cNvSpPr/>
          <p:nvPr/>
        </p:nvSpPr>
        <p:spPr>
          <a:xfrm>
            <a:off x="6336792" y="3163824"/>
            <a:ext cx="292608" cy="146304"/>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58"/>
          <p:cNvSpPr txBox="1"/>
          <p:nvPr/>
        </p:nvSpPr>
        <p:spPr>
          <a:xfrm>
            <a:off x="6336792" y="3163824"/>
            <a:ext cx="292608" cy="146304"/>
          </a:xfrm>
          <a:prstGeom prst="rect">
            <a:avLst/>
          </a:prstGeom>
          <a:noFill/>
        </p:spPr>
        <p:txBody>
          <a:bodyPr wrap="square" lIns="0" rIns="0" tIns="0" bIns="0" anchor="ctr">
            <a:spAutoFit/>
          </a:bodyPr>
          <a:lstStyle/>
          <a:p>
            <a:pPr algn="ctr"/>
            <a:r>
              <a:rPr sz="520" b="1" i="0" spc="80">
                <a:solidFill>
                  <a:srgbClr val="000000"/>
                </a:solidFill>
                <a:latin typeface="Trenda IG Text"/>
              </a:rPr>
              <a:t>G1</a:t>
            </a:r>
          </a:p>
        </p:txBody>
      </p:sp>
      <p:sp>
        <p:nvSpPr>
          <p:cNvPr id="67" name="Text 59"/>
          <p:cNvSpPr txBox="1"/>
          <p:nvPr/>
        </p:nvSpPr>
        <p:spPr>
          <a:xfrm>
            <a:off x="3995928" y="3383279"/>
            <a:ext cx="2615183" cy="256031"/>
          </a:xfrm>
          <a:prstGeom prst="rect">
            <a:avLst/>
          </a:prstGeom>
          <a:noFill/>
        </p:spPr>
        <p:txBody>
          <a:bodyPr wrap="square" lIns="0" rIns="0" tIns="0" bIns="0" anchor="t">
            <a:spAutoFit/>
          </a:bodyPr>
          <a:lstStyle/>
          <a:p>
            <a:r>
              <a:rPr sz="580" b="0" i="0">
                <a:solidFill>
                  <a:srgbClr val="BFBFBF"/>
                </a:solidFill>
                <a:latin typeface="Trenda IG Text"/>
              </a:rPr>
              <a:t>From counts and segments only; agents never see a patient.</a:t>
            </a:r>
          </a:p>
        </p:txBody>
      </p:sp>
      <p:cxnSp>
        <p:nvCxnSpPr>
          <p:cNvPr id="68" name="Arrow 60"/>
          <p:cNvCxnSpPr/>
          <p:nvPr/>
        </p:nvCxnSpPr>
        <p:spPr>
          <a:xfrm>
            <a:off x="3547872" y="3675888"/>
            <a:ext cx="178308" cy="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69" name="Arrow 61"/>
          <p:cNvCxnSpPr/>
          <p:nvPr/>
        </p:nvCxnSpPr>
        <p:spPr>
          <a:xfrm flipV="1">
            <a:off x="3726180" y="1856232"/>
            <a:ext cx="0" cy="1819656"/>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70" name="Arrow 62"/>
          <p:cNvCxnSpPr/>
          <p:nvPr/>
        </p:nvCxnSpPr>
        <p:spPr>
          <a:xfrm>
            <a:off x="3726180" y="1856232"/>
            <a:ext cx="178308"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Shape 63"/>
          <p:cNvSpPr/>
          <p:nvPr/>
        </p:nvSpPr>
        <p:spPr>
          <a:xfrm>
            <a:off x="6949440" y="1188720"/>
            <a:ext cx="4828032" cy="2743200"/>
          </a:xfrm>
          <a:prstGeom prst="roundRect">
            <a:avLst>
              <a:gd name="adj" fmla="val 3000"/>
            </a:avLst>
          </a:prstGeom>
          <a:solidFill>
            <a:srgbClr val="000000"/>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4"/>
          <p:cNvSpPr/>
          <p:nvPr/>
        </p:nvSpPr>
        <p:spPr>
          <a:xfrm>
            <a:off x="6949440" y="1188720"/>
            <a:ext cx="4828032"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5"/>
          <p:cNvSpPr txBox="1"/>
          <p:nvPr/>
        </p:nvSpPr>
        <p:spPr>
          <a:xfrm>
            <a:off x="7040879" y="1188720"/>
            <a:ext cx="4187952" cy="274320"/>
          </a:xfrm>
          <a:prstGeom prst="rect">
            <a:avLst/>
          </a:prstGeom>
          <a:noFill/>
        </p:spPr>
        <p:txBody>
          <a:bodyPr wrap="square" lIns="0" rIns="0" tIns="0" bIns="0" anchor="ctr">
            <a:spAutoFit/>
          </a:bodyPr>
          <a:lstStyle/>
          <a:p>
            <a:r>
              <a:rPr sz="680" b="1" i="0">
                <a:solidFill>
                  <a:srgbClr val="000000"/>
                </a:solidFill>
                <a:latin typeface="Trenda IG Text"/>
              </a:rPr>
              <a:t>3  </a:t>
            </a:r>
            <a:r>
              <a:rPr sz="680" b="1" i="0" spc="120">
                <a:solidFill>
                  <a:srgbClr val="000000"/>
                </a:solidFill>
                <a:latin typeface="Trenda IG Text"/>
              </a:rPr>
              <a:t>BUILD AND TEST BEFORE ANY PATIENT DATA</a:t>
            </a:r>
          </a:p>
        </p:txBody>
      </p:sp>
      <p:sp>
        <p:nvSpPr>
          <p:cNvPr id="74" name="Shape 66"/>
          <p:cNvSpPr/>
          <p:nvPr/>
        </p:nvSpPr>
        <p:spPr>
          <a:xfrm>
            <a:off x="11320272" y="1257300"/>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67"/>
          <p:cNvSpPr txBox="1"/>
          <p:nvPr/>
        </p:nvSpPr>
        <p:spPr>
          <a:xfrm>
            <a:off x="11320272" y="1257300"/>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1</a:t>
            </a:r>
          </a:p>
        </p:txBody>
      </p:sp>
      <p:sp>
        <p:nvSpPr>
          <p:cNvPr id="76" name="Shape 68"/>
          <p:cNvSpPr/>
          <p:nvPr/>
        </p:nvSpPr>
        <p:spPr>
          <a:xfrm>
            <a:off x="7059168" y="1572768"/>
            <a:ext cx="1600200" cy="457200"/>
          </a:xfrm>
          <a:prstGeom prst="roundRect">
            <a:avLst>
              <a:gd name="adj" fmla="val 7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7" name="Picture 76" descr="salesforce.png"/>
          <p:cNvPicPr>
            <a:picLocks noChangeAspect="1"/>
          </p:cNvPicPr>
          <p:nvPr/>
        </p:nvPicPr>
        <p:blipFill>
          <a:blip r:embed="rId8"/>
          <a:stretch>
            <a:fillRect/>
          </a:stretch>
        </p:blipFill>
        <p:spPr>
          <a:xfrm>
            <a:off x="7150607" y="1636776"/>
            <a:ext cx="182880" cy="182880"/>
          </a:xfrm>
          <a:prstGeom prst="rect">
            <a:avLst/>
          </a:prstGeom>
        </p:spPr>
      </p:pic>
      <p:sp>
        <p:nvSpPr>
          <p:cNvPr id="78" name="Text 69"/>
          <p:cNvSpPr txBox="1"/>
          <p:nvPr/>
        </p:nvSpPr>
        <p:spPr>
          <a:xfrm>
            <a:off x="7388352" y="1627632"/>
            <a:ext cx="1197863" cy="201168"/>
          </a:xfrm>
          <a:prstGeom prst="rect">
            <a:avLst/>
          </a:prstGeom>
          <a:noFill/>
        </p:spPr>
        <p:txBody>
          <a:bodyPr wrap="square" lIns="0" rIns="0" tIns="0" bIns="0" anchor="ctr">
            <a:spAutoFit/>
          </a:bodyPr>
          <a:lstStyle/>
          <a:p>
            <a:r>
              <a:rPr sz="660" b="1" i="0">
                <a:solidFill>
                  <a:srgbClr val="FFFFFF"/>
                </a:solidFill>
                <a:latin typeface="Trenda IG Text"/>
              </a:rPr>
              <a:t>Campaign build</a:t>
            </a:r>
          </a:p>
        </p:txBody>
      </p:sp>
      <p:sp>
        <p:nvSpPr>
          <p:cNvPr id="79" name="Text 70"/>
          <p:cNvSpPr txBox="1"/>
          <p:nvPr/>
        </p:nvSpPr>
        <p:spPr>
          <a:xfrm>
            <a:off x="7150607" y="1856231"/>
            <a:ext cx="1417320" cy="146303"/>
          </a:xfrm>
          <a:prstGeom prst="rect">
            <a:avLst/>
          </a:prstGeom>
          <a:noFill/>
        </p:spPr>
        <p:txBody>
          <a:bodyPr wrap="square" lIns="0" rIns="0" tIns="0" bIns="0" anchor="t">
            <a:spAutoFit/>
          </a:bodyPr>
          <a:lstStyle/>
          <a:p>
            <a:pPr>
              <a:spcAft>
                <a:spcPts val="100"/>
              </a:spcAft>
            </a:pPr>
            <a:r>
              <a:rPr sz="580" b="0" i="0">
                <a:solidFill>
                  <a:srgbClr val="BFBFBF"/>
                </a:solidFill>
                <a:latin typeface="Trenda IG Text"/>
              </a:rPr>
              <a:t>Invokes Journey Builder</a:t>
            </a:r>
          </a:p>
        </p:txBody>
      </p:sp>
      <p:sp>
        <p:nvSpPr>
          <p:cNvPr id="80" name="Shape 71"/>
          <p:cNvSpPr/>
          <p:nvPr/>
        </p:nvSpPr>
        <p:spPr>
          <a:xfrm>
            <a:off x="7059168" y="2212848"/>
            <a:ext cx="1600200" cy="640080"/>
          </a:xfrm>
          <a:prstGeom prst="roundRect">
            <a:avLst>
              <a:gd name="adj" fmla="val 7000"/>
            </a:avLst>
          </a:prstGeom>
          <a:solidFill>
            <a:srgbClr val="1A1630"/>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2"/>
          <p:cNvSpPr/>
          <p:nvPr/>
        </p:nvSpPr>
        <p:spPr>
          <a:xfrm>
            <a:off x="7132320" y="2276856"/>
            <a:ext cx="201168" cy="201168"/>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3"/>
          <p:cNvSpPr txBox="1"/>
          <p:nvPr/>
        </p:nvSpPr>
        <p:spPr>
          <a:xfrm>
            <a:off x="7132320" y="227685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4</a:t>
            </a:r>
          </a:p>
        </p:txBody>
      </p:sp>
      <p:sp>
        <p:nvSpPr>
          <p:cNvPr id="83" name="Text 74"/>
          <p:cNvSpPr txBox="1"/>
          <p:nvPr/>
        </p:nvSpPr>
        <p:spPr>
          <a:xfrm>
            <a:off x="7388352" y="2267712"/>
            <a:ext cx="1197863" cy="201168"/>
          </a:xfrm>
          <a:prstGeom prst="rect">
            <a:avLst/>
          </a:prstGeom>
          <a:noFill/>
        </p:spPr>
        <p:txBody>
          <a:bodyPr wrap="square" lIns="0" rIns="0" tIns="0" bIns="0" anchor="ctr">
            <a:spAutoFit/>
          </a:bodyPr>
          <a:lstStyle/>
          <a:p>
            <a:r>
              <a:rPr sz="660" b="1" i="0">
                <a:solidFill>
                  <a:srgbClr val="FFFFFF"/>
                </a:solidFill>
                <a:latin typeface="Trenda IG Text"/>
              </a:rPr>
              <a:t>Developer Agent</a:t>
            </a:r>
          </a:p>
        </p:txBody>
      </p:sp>
      <p:sp>
        <p:nvSpPr>
          <p:cNvPr id="84" name="Text 75"/>
          <p:cNvSpPr txBox="1"/>
          <p:nvPr/>
        </p:nvSpPr>
        <p:spPr>
          <a:xfrm>
            <a:off x="7150607" y="2496312"/>
            <a:ext cx="1417320" cy="329183"/>
          </a:xfrm>
          <a:prstGeom prst="rect">
            <a:avLst/>
          </a:prstGeom>
          <a:noFill/>
        </p:spPr>
        <p:txBody>
          <a:bodyPr wrap="square" lIns="0" rIns="0" tIns="0" bIns="0" anchor="t">
            <a:spAutoFit/>
          </a:bodyPr>
          <a:lstStyle/>
          <a:p>
            <a:pPr>
              <a:spcAft>
                <a:spcPts val="100"/>
              </a:spcAft>
            </a:pPr>
            <a:r>
              <a:rPr sz="580" b="0" i="0">
                <a:solidFill>
                  <a:srgbClr val="BFBFBF"/>
                </a:solidFill>
                <a:latin typeface="Trenda IG Text"/>
              </a:rPr>
              <a:t>Builds the journey and data extension, paused.</a:t>
            </a:r>
          </a:p>
        </p:txBody>
      </p:sp>
      <p:cxnSp>
        <p:nvCxnSpPr>
          <p:cNvPr id="85" name="Arrow 76"/>
          <p:cNvCxnSpPr/>
          <p:nvPr/>
        </p:nvCxnSpPr>
        <p:spPr>
          <a:xfrm>
            <a:off x="7859267" y="2029968"/>
            <a:ext cx="0" cy="182880"/>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77"/>
          <p:cNvSpPr/>
          <p:nvPr/>
        </p:nvSpPr>
        <p:spPr>
          <a:xfrm>
            <a:off x="9116567" y="1554480"/>
            <a:ext cx="2551176" cy="1719072"/>
          </a:xfrm>
          <a:prstGeom prst="roundRect">
            <a:avLst>
              <a:gd name="adj" fmla="val 6000"/>
            </a:avLst>
          </a:prstGeom>
          <a:solidFill>
            <a:srgbClr val="0B2418"/>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78"/>
          <p:cNvSpPr/>
          <p:nvPr/>
        </p:nvSpPr>
        <p:spPr>
          <a:xfrm>
            <a:off x="9189719" y="1600200"/>
            <a:ext cx="182880" cy="182880"/>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79"/>
          <p:cNvSpPr txBox="1"/>
          <p:nvPr/>
        </p:nvSpPr>
        <p:spPr>
          <a:xfrm>
            <a:off x="9189719" y="1600200"/>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5</a:t>
            </a:r>
          </a:p>
        </p:txBody>
      </p:sp>
      <p:sp>
        <p:nvSpPr>
          <p:cNvPr id="89" name="Text 80"/>
          <p:cNvSpPr txBox="1"/>
          <p:nvPr/>
        </p:nvSpPr>
        <p:spPr>
          <a:xfrm>
            <a:off x="9427463" y="1572768"/>
            <a:ext cx="2185416" cy="219456"/>
          </a:xfrm>
          <a:prstGeom prst="rect">
            <a:avLst/>
          </a:prstGeom>
          <a:noFill/>
        </p:spPr>
        <p:txBody>
          <a:bodyPr wrap="square" lIns="0" rIns="0" tIns="0" bIns="0" anchor="ctr">
            <a:spAutoFit/>
          </a:bodyPr>
          <a:lstStyle/>
          <a:p>
            <a:r>
              <a:rPr sz="700" b="1" i="0">
                <a:solidFill>
                  <a:srgbClr val="56E13B"/>
                </a:solidFill>
                <a:latin typeface="Trenda IG Text"/>
              </a:rPr>
              <a:t>Testing Agent</a:t>
            </a:r>
          </a:p>
        </p:txBody>
      </p:sp>
      <p:sp>
        <p:nvSpPr>
          <p:cNvPr id="90" name="Shape 81"/>
          <p:cNvSpPr/>
          <p:nvPr/>
        </p:nvSpPr>
        <p:spPr>
          <a:xfrm>
            <a:off x="9208007" y="1847088"/>
            <a:ext cx="2368296" cy="384048"/>
          </a:xfrm>
          <a:prstGeom prst="roundRect">
            <a:avLst>
              <a:gd name="adj" fmla="val 10000"/>
            </a:avLst>
          </a:prstGeom>
          <a:solidFill>
            <a:srgbClr val="141414"/>
          </a:solidFill>
          <a:ln w="1143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82"/>
          <p:cNvSpPr txBox="1"/>
          <p:nvPr/>
        </p:nvSpPr>
        <p:spPr>
          <a:xfrm>
            <a:off x="9281159" y="1865376"/>
            <a:ext cx="2221992" cy="164592"/>
          </a:xfrm>
          <a:prstGeom prst="rect">
            <a:avLst/>
          </a:prstGeom>
          <a:noFill/>
        </p:spPr>
        <p:txBody>
          <a:bodyPr wrap="square" lIns="0" rIns="0" tIns="0" bIns="0" anchor="ctr">
            <a:spAutoFit/>
          </a:bodyPr>
          <a:lstStyle/>
          <a:p>
            <a:r>
              <a:rPr sz="640" b="1" i="0">
                <a:solidFill>
                  <a:srgbClr val="FFFFFF"/>
                </a:solidFill>
                <a:latin typeface="Trenda IG Text"/>
              </a:rPr>
              <a:t>Test cases</a:t>
            </a:r>
          </a:p>
        </p:txBody>
      </p:sp>
      <p:sp>
        <p:nvSpPr>
          <p:cNvPr id="92" name="Text 83"/>
          <p:cNvSpPr txBox="1"/>
          <p:nvPr/>
        </p:nvSpPr>
        <p:spPr>
          <a:xfrm>
            <a:off x="9281159" y="2029968"/>
            <a:ext cx="2221992" cy="182880"/>
          </a:xfrm>
          <a:prstGeom prst="rect">
            <a:avLst/>
          </a:prstGeom>
          <a:noFill/>
        </p:spPr>
        <p:txBody>
          <a:bodyPr wrap="square" lIns="0" rIns="0" tIns="0" bIns="0" anchor="ctr">
            <a:spAutoFit/>
          </a:bodyPr>
          <a:lstStyle/>
          <a:p>
            <a:r>
              <a:rPr sz="550" b="0" i="0">
                <a:solidFill>
                  <a:srgbClr val="BFBFBF"/>
                </a:solidFill>
                <a:latin typeface="Trenda IG Text"/>
              </a:rPr>
              <a:t>Test phone numbers and emails only; never a patient.</a:t>
            </a:r>
          </a:p>
        </p:txBody>
      </p:sp>
      <p:cxnSp>
        <p:nvCxnSpPr>
          <p:cNvPr id="93" name="Arrow 84"/>
          <p:cNvCxnSpPr/>
          <p:nvPr/>
        </p:nvCxnSpPr>
        <p:spPr>
          <a:xfrm>
            <a:off x="10392155" y="2231136"/>
            <a:ext cx="0" cy="73152"/>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Shape 85"/>
          <p:cNvSpPr/>
          <p:nvPr/>
        </p:nvSpPr>
        <p:spPr>
          <a:xfrm>
            <a:off x="9208007" y="2304288"/>
            <a:ext cx="2368296" cy="384048"/>
          </a:xfrm>
          <a:prstGeom prst="roundRect">
            <a:avLst>
              <a:gd name="adj" fmla="val 10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86"/>
          <p:cNvSpPr txBox="1"/>
          <p:nvPr/>
        </p:nvSpPr>
        <p:spPr>
          <a:xfrm>
            <a:off x="9281159" y="2322576"/>
            <a:ext cx="2221992" cy="164592"/>
          </a:xfrm>
          <a:prstGeom prst="rect">
            <a:avLst/>
          </a:prstGeom>
          <a:noFill/>
        </p:spPr>
        <p:txBody>
          <a:bodyPr wrap="square" lIns="0" rIns="0" tIns="0" bIns="0" anchor="ctr">
            <a:spAutoFit/>
          </a:bodyPr>
          <a:lstStyle/>
          <a:p>
            <a:r>
              <a:rPr sz="640" b="1" i="0">
                <a:solidFill>
                  <a:srgbClr val="FF0069"/>
                </a:solidFill>
                <a:latin typeface="Trenda IG Text"/>
              </a:rPr>
              <a:t>Failure modes catalog</a:t>
            </a:r>
          </a:p>
        </p:txBody>
      </p:sp>
      <p:sp>
        <p:nvSpPr>
          <p:cNvPr id="96" name="Text 87"/>
          <p:cNvSpPr txBox="1"/>
          <p:nvPr/>
        </p:nvSpPr>
        <p:spPr>
          <a:xfrm>
            <a:off x="9281159" y="2487168"/>
            <a:ext cx="2221992" cy="182880"/>
          </a:xfrm>
          <a:prstGeom prst="rect">
            <a:avLst/>
          </a:prstGeom>
          <a:noFill/>
        </p:spPr>
        <p:txBody>
          <a:bodyPr wrap="square" lIns="0" rIns="0" tIns="0" bIns="0" anchor="ctr">
            <a:spAutoFit/>
          </a:bodyPr>
          <a:lstStyle/>
          <a:p>
            <a:r>
              <a:rPr sz="550" b="0" i="0">
                <a:solidFill>
                  <a:srgbClr val="BFBFBF"/>
                </a:solidFill>
                <a:latin typeface="Trenda IG Text"/>
              </a:rPr>
              <a:t>Seeded by the developer, owned here: consent, STOP, links, quiet hours.</a:t>
            </a:r>
          </a:p>
        </p:txBody>
      </p:sp>
      <p:cxnSp>
        <p:nvCxnSpPr>
          <p:cNvPr id="97" name="Arrow 88"/>
          <p:cNvCxnSpPr/>
          <p:nvPr/>
        </p:nvCxnSpPr>
        <p:spPr>
          <a:xfrm>
            <a:off x="10392155" y="2688336"/>
            <a:ext cx="0" cy="73152"/>
          </a:xfrm>
          <a:prstGeom prst="line">
            <a:avLst/>
          </a:prstGeom>
          <a:ln w="1270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Shape 89"/>
          <p:cNvSpPr/>
          <p:nvPr/>
        </p:nvSpPr>
        <p:spPr>
          <a:xfrm>
            <a:off x="9208007" y="2761488"/>
            <a:ext cx="2368296" cy="384048"/>
          </a:xfrm>
          <a:prstGeom prst="roundRect">
            <a:avLst>
              <a:gd name="adj" fmla="val 10000"/>
            </a:avLst>
          </a:prstGeom>
          <a:solidFill>
            <a:srgbClr val="141414"/>
          </a:solidFill>
          <a:ln w="1143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0"/>
          <p:cNvSpPr txBox="1"/>
          <p:nvPr/>
        </p:nvSpPr>
        <p:spPr>
          <a:xfrm>
            <a:off x="9281159" y="2779776"/>
            <a:ext cx="2221992" cy="164592"/>
          </a:xfrm>
          <a:prstGeom prst="rect">
            <a:avLst/>
          </a:prstGeom>
          <a:noFill/>
        </p:spPr>
        <p:txBody>
          <a:bodyPr wrap="square" lIns="0" rIns="0" tIns="0" bIns="0" anchor="ctr">
            <a:spAutoFit/>
          </a:bodyPr>
          <a:lstStyle/>
          <a:p>
            <a:r>
              <a:rPr sz="640" b="1" i="0">
                <a:solidFill>
                  <a:srgbClr val="FFFFFF"/>
                </a:solidFill>
                <a:latin typeface="Trenda IG Text"/>
              </a:rPr>
              <a:t>Classify and report</a:t>
            </a:r>
          </a:p>
        </p:txBody>
      </p:sp>
      <p:sp>
        <p:nvSpPr>
          <p:cNvPr id="100" name="Text 91"/>
          <p:cNvSpPr txBox="1"/>
          <p:nvPr/>
        </p:nvSpPr>
        <p:spPr>
          <a:xfrm>
            <a:off x="9281159" y="2944368"/>
            <a:ext cx="2221992" cy="182880"/>
          </a:xfrm>
          <a:prstGeom prst="rect">
            <a:avLst/>
          </a:prstGeom>
          <a:noFill/>
        </p:spPr>
        <p:txBody>
          <a:bodyPr wrap="square" lIns="0" rIns="0" tIns="0" bIns="0" anchor="ctr">
            <a:spAutoFit/>
          </a:bodyPr>
          <a:lstStyle/>
          <a:p>
            <a:r>
              <a:rPr sz="550" b="0" i="0">
                <a:solidFill>
                  <a:srgbClr val="BFBFBF"/>
                </a:solidFill>
                <a:latin typeface="Trenda IG Text"/>
              </a:rPr>
              <a:t>A failure mode for every failed test.</a:t>
            </a:r>
          </a:p>
        </p:txBody>
      </p:sp>
      <p:cxnSp>
        <p:nvCxnSpPr>
          <p:cNvPr id="101" name="Arrow 92"/>
          <p:cNvCxnSpPr/>
          <p:nvPr/>
        </p:nvCxnSpPr>
        <p:spPr>
          <a:xfrm>
            <a:off x="8659367" y="2377440"/>
            <a:ext cx="457200" cy="0"/>
          </a:xfrm>
          <a:prstGeom prst="line">
            <a:avLst/>
          </a:prstGeom>
          <a:ln w="15875">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2" name="Arrow 93"/>
          <p:cNvCxnSpPr/>
          <p:nvPr/>
        </p:nvCxnSpPr>
        <p:spPr>
          <a:xfrm>
            <a:off x="8659367" y="2615184"/>
            <a:ext cx="548640" cy="0"/>
          </a:xfrm>
          <a:prstGeom prst="line">
            <a:avLst/>
          </a:prstGeom>
          <a:ln w="12700">
            <a:solidFill>
              <a:srgbClr val="BFBFB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3" name="Text 94"/>
          <p:cNvSpPr txBox="1"/>
          <p:nvPr/>
        </p:nvSpPr>
        <p:spPr>
          <a:xfrm>
            <a:off x="8677655" y="2651760"/>
            <a:ext cx="438912" cy="182880"/>
          </a:xfrm>
          <a:prstGeom prst="rect">
            <a:avLst/>
          </a:prstGeom>
          <a:noFill/>
        </p:spPr>
        <p:txBody>
          <a:bodyPr wrap="square" lIns="0" rIns="0" tIns="0" bIns="0" anchor="t">
            <a:spAutoFit/>
          </a:bodyPr>
          <a:lstStyle/>
          <a:p>
            <a:r>
              <a:rPr sz="459" b="0" i="0">
                <a:solidFill>
                  <a:srgbClr val="8C8C8C"/>
                </a:solidFill>
                <a:latin typeface="Trenda IG Text"/>
              </a:rPr>
              <a:t>seeds known risks</a:t>
            </a:r>
          </a:p>
        </p:txBody>
      </p:sp>
      <p:cxnSp>
        <p:nvCxnSpPr>
          <p:cNvPr id="104" name="Arrow 95"/>
          <p:cNvCxnSpPr/>
          <p:nvPr/>
        </p:nvCxnSpPr>
        <p:spPr>
          <a:xfrm flipH="1">
            <a:off x="7333488" y="2953512"/>
            <a:ext cx="1874519" cy="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05" name="Arrow 96"/>
          <p:cNvCxnSpPr/>
          <p:nvPr/>
        </p:nvCxnSpPr>
        <p:spPr>
          <a:xfrm flipV="1">
            <a:off x="7333488" y="2852928"/>
            <a:ext cx="0" cy="100584"/>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Text 97"/>
          <p:cNvSpPr txBox="1"/>
          <p:nvPr/>
        </p:nvSpPr>
        <p:spPr>
          <a:xfrm>
            <a:off x="7406640" y="2990088"/>
            <a:ext cx="1371600" cy="182880"/>
          </a:xfrm>
          <a:prstGeom prst="rect">
            <a:avLst/>
          </a:prstGeom>
          <a:noFill/>
        </p:spPr>
        <p:txBody>
          <a:bodyPr wrap="square" lIns="0" rIns="0" tIns="0" bIns="0" anchor="ctr">
            <a:spAutoFit/>
          </a:bodyPr>
          <a:lstStyle/>
          <a:p>
            <a:r>
              <a:rPr sz="530" b="0" i="0">
                <a:solidFill>
                  <a:srgbClr val="FF0069"/>
                </a:solidFill>
                <a:latin typeface="Trenda IG Text"/>
              </a:rPr>
              <a:t>failed tests + failure mode</a:t>
            </a:r>
          </a:p>
        </p:txBody>
      </p:sp>
      <p:sp>
        <p:nvSpPr>
          <p:cNvPr id="107" name="Shape 98"/>
          <p:cNvSpPr/>
          <p:nvPr/>
        </p:nvSpPr>
        <p:spPr>
          <a:xfrm>
            <a:off x="7406640" y="3200400"/>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99"/>
          <p:cNvSpPr txBox="1"/>
          <p:nvPr/>
        </p:nvSpPr>
        <p:spPr>
          <a:xfrm>
            <a:off x="7406640" y="3200400"/>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6</a:t>
            </a:r>
          </a:p>
        </p:txBody>
      </p:sp>
      <p:sp>
        <p:nvSpPr>
          <p:cNvPr id="109" name="Text 100"/>
          <p:cNvSpPr txBox="1"/>
          <p:nvPr/>
        </p:nvSpPr>
        <p:spPr>
          <a:xfrm>
            <a:off x="7827264" y="3182112"/>
            <a:ext cx="1188720" cy="182880"/>
          </a:xfrm>
          <a:prstGeom prst="rect">
            <a:avLst/>
          </a:prstGeom>
          <a:noFill/>
        </p:spPr>
        <p:txBody>
          <a:bodyPr wrap="square" lIns="0" rIns="0" tIns="0" bIns="0" anchor="ctr">
            <a:spAutoFit/>
          </a:bodyPr>
          <a:lstStyle/>
          <a:p>
            <a:r>
              <a:rPr sz="530" b="1" i="0">
                <a:solidFill>
                  <a:srgbClr val="FF0069"/>
                </a:solidFill>
                <a:latin typeface="Trenda IG Text"/>
              </a:rPr>
              <a:t>max 5, then an owner</a:t>
            </a:r>
          </a:p>
        </p:txBody>
      </p:sp>
      <p:sp>
        <p:nvSpPr>
          <p:cNvPr id="110" name="Shape 101"/>
          <p:cNvSpPr/>
          <p:nvPr/>
        </p:nvSpPr>
        <p:spPr>
          <a:xfrm>
            <a:off x="7059168" y="3364991"/>
            <a:ext cx="4608576" cy="493776"/>
          </a:xfrm>
          <a:prstGeom prst="roundRect">
            <a:avLst>
              <a:gd name="adj" fmla="val 8000"/>
            </a:avLst>
          </a:prstGeom>
          <a:solidFill>
            <a:srgbClr val="2B2508"/>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02"/>
          <p:cNvSpPr/>
          <p:nvPr/>
        </p:nvSpPr>
        <p:spPr>
          <a:xfrm>
            <a:off x="7123176" y="3428999"/>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03"/>
          <p:cNvSpPr txBox="1"/>
          <p:nvPr/>
        </p:nvSpPr>
        <p:spPr>
          <a:xfrm>
            <a:off x="7123176" y="3428999"/>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6</a:t>
            </a:r>
          </a:p>
        </p:txBody>
      </p:sp>
      <p:pic>
        <p:nvPicPr>
          <p:cNvPr id="113" name="Picture 112" descr="people.png"/>
          <p:cNvPicPr>
            <a:picLocks noChangeAspect="1"/>
          </p:cNvPicPr>
          <p:nvPr/>
        </p:nvPicPr>
        <p:blipFill>
          <a:blip r:embed="rId7"/>
          <a:stretch>
            <a:fillRect/>
          </a:stretch>
        </p:blipFill>
        <p:spPr>
          <a:xfrm>
            <a:off x="7370064" y="3428999"/>
            <a:ext cx="182880" cy="182880"/>
          </a:xfrm>
          <a:prstGeom prst="rect">
            <a:avLst/>
          </a:prstGeom>
        </p:spPr>
      </p:pic>
      <p:sp>
        <p:nvSpPr>
          <p:cNvPr id="114" name="Text 104"/>
          <p:cNvSpPr txBox="1"/>
          <p:nvPr/>
        </p:nvSpPr>
        <p:spPr>
          <a:xfrm>
            <a:off x="7607808" y="3410711"/>
            <a:ext cx="3602736" cy="219456"/>
          </a:xfrm>
          <a:prstGeom prst="rect">
            <a:avLst/>
          </a:prstGeom>
          <a:noFill/>
        </p:spPr>
        <p:txBody>
          <a:bodyPr wrap="square" lIns="0" rIns="0" tIns="0" bIns="0" anchor="ctr">
            <a:spAutoFit/>
          </a:bodyPr>
          <a:lstStyle/>
          <a:p>
            <a:r>
              <a:rPr sz="700" b="1" i="0">
                <a:solidFill>
                  <a:srgbClr val="FFFFFF"/>
                </a:solidFill>
                <a:latin typeface="Trenda IG Text"/>
              </a:rPr>
              <a:t>Clinical + compliance approve the journey and content</a:t>
            </a:r>
          </a:p>
        </p:txBody>
      </p:sp>
      <p:sp>
        <p:nvSpPr>
          <p:cNvPr id="115" name="Shape 105"/>
          <p:cNvSpPr/>
          <p:nvPr/>
        </p:nvSpPr>
        <p:spPr>
          <a:xfrm>
            <a:off x="11301984" y="3438144"/>
            <a:ext cx="292608" cy="146304"/>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06"/>
          <p:cNvSpPr txBox="1"/>
          <p:nvPr/>
        </p:nvSpPr>
        <p:spPr>
          <a:xfrm>
            <a:off x="11301984" y="3438144"/>
            <a:ext cx="292608" cy="146304"/>
          </a:xfrm>
          <a:prstGeom prst="rect">
            <a:avLst/>
          </a:prstGeom>
          <a:noFill/>
        </p:spPr>
        <p:txBody>
          <a:bodyPr wrap="square" lIns="0" rIns="0" tIns="0" bIns="0" anchor="ctr">
            <a:spAutoFit/>
          </a:bodyPr>
          <a:lstStyle/>
          <a:p>
            <a:pPr algn="ctr"/>
            <a:r>
              <a:rPr sz="520" b="1" i="0" spc="80">
                <a:solidFill>
                  <a:srgbClr val="000000"/>
                </a:solidFill>
                <a:latin typeface="Trenda IG Text"/>
              </a:rPr>
              <a:t>G3</a:t>
            </a:r>
          </a:p>
        </p:txBody>
      </p:sp>
      <p:sp>
        <p:nvSpPr>
          <p:cNvPr id="117" name="Text 107"/>
          <p:cNvSpPr txBox="1"/>
          <p:nvPr/>
        </p:nvSpPr>
        <p:spPr>
          <a:xfrm>
            <a:off x="7150607" y="3657599"/>
            <a:ext cx="4425696" cy="182880"/>
          </a:xfrm>
          <a:prstGeom prst="rect">
            <a:avLst/>
          </a:prstGeom>
          <a:noFill/>
        </p:spPr>
        <p:txBody>
          <a:bodyPr wrap="square" lIns="0" rIns="0" tIns="0" bIns="0" anchor="t">
            <a:spAutoFit/>
          </a:bodyPr>
          <a:lstStyle/>
          <a:p>
            <a:r>
              <a:rPr sz="580" b="0" i="0">
                <a:solidFill>
                  <a:srgbClr val="BFBFBF"/>
                </a:solidFill>
                <a:latin typeface="Trenda IG Text"/>
              </a:rPr>
              <a:t>Only when every test passes. The journey then waits, active, for entries.</a:t>
            </a:r>
          </a:p>
        </p:txBody>
      </p:sp>
      <p:cxnSp>
        <p:nvCxnSpPr>
          <p:cNvPr id="118" name="Arrow 108"/>
          <p:cNvCxnSpPr/>
          <p:nvPr/>
        </p:nvCxnSpPr>
        <p:spPr>
          <a:xfrm>
            <a:off x="6702552" y="3374136"/>
            <a:ext cx="178307" cy="0"/>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19" name="Arrow 109"/>
          <p:cNvCxnSpPr/>
          <p:nvPr/>
        </p:nvCxnSpPr>
        <p:spPr>
          <a:xfrm flipV="1">
            <a:off x="6880859" y="1801368"/>
            <a:ext cx="0" cy="1572768"/>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0" name="Arrow 110"/>
          <p:cNvCxnSpPr/>
          <p:nvPr/>
        </p:nvCxnSpPr>
        <p:spPr>
          <a:xfrm>
            <a:off x="6880859" y="1801368"/>
            <a:ext cx="178309" cy="0"/>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Shape 111"/>
          <p:cNvSpPr/>
          <p:nvPr/>
        </p:nvSpPr>
        <p:spPr>
          <a:xfrm>
            <a:off x="411480" y="4069080"/>
            <a:ext cx="11365992" cy="1325880"/>
          </a:xfrm>
          <a:prstGeom prst="roundRect">
            <a:avLst>
              <a:gd name="adj" fmla="val 3000"/>
            </a:avLst>
          </a:prstGeom>
          <a:solidFill>
            <a:srgbClr val="000000"/>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12"/>
          <p:cNvSpPr txBox="1"/>
          <p:nvPr/>
        </p:nvSpPr>
        <p:spPr>
          <a:xfrm>
            <a:off x="7498079" y="4105656"/>
            <a:ext cx="4206240" cy="201168"/>
          </a:xfrm>
          <a:prstGeom prst="rect">
            <a:avLst/>
          </a:prstGeom>
          <a:noFill/>
        </p:spPr>
        <p:txBody>
          <a:bodyPr wrap="square" lIns="0" rIns="0" tIns="0" bIns="0" anchor="ctr">
            <a:spAutoFit/>
          </a:bodyPr>
          <a:lstStyle/>
          <a:p>
            <a:pPr algn="r"/>
            <a:r>
              <a:rPr sz="680" b="1" i="0" spc="120">
                <a:solidFill>
                  <a:srgbClr val="FFD700"/>
                </a:solidFill>
                <a:latin typeface="Trenda IG Text"/>
              </a:rPr>
              <a:t>4  RELEASE AND SEND</a:t>
            </a:r>
            <a:r>
              <a:rPr sz="680" b="0" i="0">
                <a:solidFill>
                  <a:srgbClr val="BFBFBF"/>
                </a:solidFill>
                <a:latin typeface="Trenda IG Text"/>
              </a:rPr>
              <a:t>   only after G2 + G3</a:t>
            </a:r>
          </a:p>
        </p:txBody>
      </p:sp>
      <p:sp>
        <p:nvSpPr>
          <p:cNvPr id="123" name="Shape 113"/>
          <p:cNvSpPr/>
          <p:nvPr/>
        </p:nvSpPr>
        <p:spPr>
          <a:xfrm>
            <a:off x="521207" y="4398264"/>
            <a:ext cx="1482634" cy="786384"/>
          </a:xfrm>
          <a:prstGeom prst="roundRect">
            <a:avLst>
              <a:gd name="adj" fmla="val 8000"/>
            </a:avLst>
          </a:prstGeom>
          <a:solidFill>
            <a:srgbClr val="141414"/>
          </a:solidFill>
          <a:ln w="1143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Shape 114"/>
          <p:cNvSpPr/>
          <p:nvPr/>
        </p:nvSpPr>
        <p:spPr>
          <a:xfrm>
            <a:off x="576071" y="445312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15"/>
          <p:cNvSpPr txBox="1"/>
          <p:nvPr/>
        </p:nvSpPr>
        <p:spPr>
          <a:xfrm>
            <a:off x="576071"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7</a:t>
            </a:r>
          </a:p>
        </p:txBody>
      </p:sp>
      <p:pic>
        <p:nvPicPr>
          <p:cNvPr id="126" name="Picture 125" descr="googlebigquery.png"/>
          <p:cNvPicPr>
            <a:picLocks noChangeAspect="1"/>
          </p:cNvPicPr>
          <p:nvPr/>
        </p:nvPicPr>
        <p:blipFill>
          <a:blip r:embed="rId3"/>
          <a:stretch>
            <a:fillRect/>
          </a:stretch>
        </p:blipFill>
        <p:spPr>
          <a:xfrm>
            <a:off x="795527" y="4453128"/>
            <a:ext cx="164592" cy="164592"/>
          </a:xfrm>
          <a:prstGeom prst="rect">
            <a:avLst/>
          </a:prstGeom>
        </p:spPr>
      </p:pic>
      <p:sp>
        <p:nvSpPr>
          <p:cNvPr id="127" name="Text 116"/>
          <p:cNvSpPr txBox="1"/>
          <p:nvPr/>
        </p:nvSpPr>
        <p:spPr>
          <a:xfrm>
            <a:off x="1005839"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Privacy Guard</a:t>
            </a:r>
          </a:p>
        </p:txBody>
      </p:sp>
      <p:sp>
        <p:nvSpPr>
          <p:cNvPr id="128" name="Text 117"/>
          <p:cNvSpPr txBox="1"/>
          <p:nvPr/>
        </p:nvSpPr>
        <p:spPr>
          <a:xfrm>
            <a:off x="594359" y="4690872"/>
            <a:ext cx="1354618" cy="347472"/>
          </a:xfrm>
          <a:prstGeom prst="rect">
            <a:avLst/>
          </a:prstGeom>
          <a:noFill/>
        </p:spPr>
        <p:txBody>
          <a:bodyPr wrap="square" lIns="0" rIns="0" tIns="0" bIns="0" anchor="t">
            <a:spAutoFit/>
          </a:bodyPr>
          <a:lstStyle/>
          <a:p>
            <a:r>
              <a:rPr sz="540" b="0" i="0">
                <a:solidFill>
                  <a:srgbClr val="BFBFBF"/>
                </a:solidFill>
                <a:latin typeface="Trenda IG Text"/>
              </a:rPr>
              <a:t>Masked audience: tokens and counts per run.</a:t>
            </a:r>
          </a:p>
        </p:txBody>
      </p:sp>
      <p:cxnSp>
        <p:nvCxnSpPr>
          <p:cNvPr id="129" name="Arrow 118"/>
          <p:cNvCxnSpPr/>
          <p:nvPr/>
        </p:nvCxnSpPr>
        <p:spPr>
          <a:xfrm>
            <a:off x="2003842"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Shape 119"/>
          <p:cNvSpPr/>
          <p:nvPr/>
        </p:nvSpPr>
        <p:spPr>
          <a:xfrm>
            <a:off x="2131858" y="4398264"/>
            <a:ext cx="1482634" cy="786384"/>
          </a:xfrm>
          <a:prstGeom prst="roundRect">
            <a:avLst>
              <a:gd name="adj" fmla="val 8000"/>
            </a:avLst>
          </a:prstGeom>
          <a:solidFill>
            <a:srgbClr val="2B2508"/>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Shape 120"/>
          <p:cNvSpPr/>
          <p:nvPr/>
        </p:nvSpPr>
        <p:spPr>
          <a:xfrm>
            <a:off x="2186722" y="4453128"/>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21"/>
          <p:cNvSpPr txBox="1"/>
          <p:nvPr/>
        </p:nvSpPr>
        <p:spPr>
          <a:xfrm>
            <a:off x="2186722"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8</a:t>
            </a:r>
          </a:p>
        </p:txBody>
      </p:sp>
      <p:pic>
        <p:nvPicPr>
          <p:cNvPr id="133" name="Picture 132" descr="tableau.png"/>
          <p:cNvPicPr>
            <a:picLocks noChangeAspect="1"/>
          </p:cNvPicPr>
          <p:nvPr/>
        </p:nvPicPr>
        <p:blipFill>
          <a:blip r:embed="rId4"/>
          <a:stretch>
            <a:fillRect/>
          </a:stretch>
        </p:blipFill>
        <p:spPr>
          <a:xfrm>
            <a:off x="2406178" y="4453128"/>
            <a:ext cx="164592" cy="164592"/>
          </a:xfrm>
          <a:prstGeom prst="rect">
            <a:avLst/>
          </a:prstGeom>
        </p:spPr>
      </p:pic>
      <p:sp>
        <p:nvSpPr>
          <p:cNvPr id="134" name="Text 122"/>
          <p:cNvSpPr txBox="1"/>
          <p:nvPr/>
        </p:nvSpPr>
        <p:spPr>
          <a:xfrm>
            <a:off x="2616490"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Pre-send report</a:t>
            </a:r>
          </a:p>
        </p:txBody>
      </p:sp>
      <p:sp>
        <p:nvSpPr>
          <p:cNvPr id="135" name="Text 123"/>
          <p:cNvSpPr txBox="1"/>
          <p:nvPr/>
        </p:nvSpPr>
        <p:spPr>
          <a:xfrm>
            <a:off x="2205010" y="4690872"/>
            <a:ext cx="1354618" cy="347472"/>
          </a:xfrm>
          <a:prstGeom prst="rect">
            <a:avLst/>
          </a:prstGeom>
          <a:noFill/>
        </p:spPr>
        <p:txBody>
          <a:bodyPr wrap="square" lIns="0" rIns="0" tIns="0" bIns="0" anchor="t">
            <a:spAutoFit/>
          </a:bodyPr>
          <a:lstStyle/>
          <a:p>
            <a:r>
              <a:rPr sz="540" b="0" i="0">
                <a:solidFill>
                  <a:srgbClr val="BFBFBF"/>
                </a:solidFill>
                <a:latin typeface="Trenda IG Text"/>
              </a:rPr>
              <a:t>SME + tech lead approve counts, consent, exclusions. No PHI on screen.</a:t>
            </a:r>
          </a:p>
        </p:txBody>
      </p:sp>
      <p:sp>
        <p:nvSpPr>
          <p:cNvPr id="136" name="Shape 124"/>
          <p:cNvSpPr/>
          <p:nvPr/>
        </p:nvSpPr>
        <p:spPr>
          <a:xfrm>
            <a:off x="3175580" y="5001768"/>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5"/>
          <p:cNvSpPr txBox="1"/>
          <p:nvPr/>
        </p:nvSpPr>
        <p:spPr>
          <a:xfrm>
            <a:off x="3175580" y="5001768"/>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2</a:t>
            </a:r>
          </a:p>
        </p:txBody>
      </p:sp>
      <p:cxnSp>
        <p:nvCxnSpPr>
          <p:cNvPr id="138" name="Arrow 126"/>
          <p:cNvCxnSpPr/>
          <p:nvPr/>
        </p:nvCxnSpPr>
        <p:spPr>
          <a:xfrm>
            <a:off x="3614492"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Shape 127"/>
          <p:cNvSpPr/>
          <p:nvPr/>
        </p:nvSpPr>
        <p:spPr>
          <a:xfrm>
            <a:off x="3742508" y="4398264"/>
            <a:ext cx="1482634" cy="786384"/>
          </a:xfrm>
          <a:prstGeom prst="roundRect">
            <a:avLst>
              <a:gd name="adj" fmla="val 8000"/>
            </a:avLst>
          </a:prstGeom>
          <a:solidFill>
            <a:srgbClr val="000000"/>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Shape 128"/>
          <p:cNvSpPr/>
          <p:nvPr/>
        </p:nvSpPr>
        <p:spPr>
          <a:xfrm>
            <a:off x="3797372" y="4453128"/>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29"/>
          <p:cNvSpPr txBox="1"/>
          <p:nvPr/>
        </p:nvSpPr>
        <p:spPr>
          <a:xfrm>
            <a:off x="3797372"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9</a:t>
            </a:r>
          </a:p>
        </p:txBody>
      </p:sp>
      <p:pic>
        <p:nvPicPr>
          <p:cNvPr id="142" name="Picture 141" descr="googlecloudspanner.png"/>
          <p:cNvPicPr>
            <a:picLocks noChangeAspect="1"/>
          </p:cNvPicPr>
          <p:nvPr/>
        </p:nvPicPr>
        <p:blipFill>
          <a:blip r:embed="rId9"/>
          <a:stretch>
            <a:fillRect/>
          </a:stretch>
        </p:blipFill>
        <p:spPr>
          <a:xfrm>
            <a:off x="4016828" y="4453128"/>
            <a:ext cx="164592" cy="164592"/>
          </a:xfrm>
          <a:prstGeom prst="rect">
            <a:avLst/>
          </a:prstGeom>
        </p:spPr>
      </p:pic>
      <p:sp>
        <p:nvSpPr>
          <p:cNvPr id="143" name="Text 130"/>
          <p:cNvSpPr txBox="1"/>
          <p:nvPr/>
        </p:nvSpPr>
        <p:spPr>
          <a:xfrm>
            <a:off x="4227140"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Release store</a:t>
            </a:r>
          </a:p>
        </p:txBody>
      </p:sp>
      <p:sp>
        <p:nvSpPr>
          <p:cNvPr id="144" name="Text 131"/>
          <p:cNvSpPr txBox="1"/>
          <p:nvPr/>
        </p:nvSpPr>
        <p:spPr>
          <a:xfrm>
            <a:off x="3815660" y="4690872"/>
            <a:ext cx="1354618" cy="347472"/>
          </a:xfrm>
          <a:prstGeom prst="rect">
            <a:avLst/>
          </a:prstGeom>
          <a:noFill/>
        </p:spPr>
        <p:txBody>
          <a:bodyPr wrap="square" lIns="0" rIns="0" tIns="0" bIns="0" anchor="t">
            <a:spAutoFit/>
          </a:bodyPr>
          <a:lstStyle/>
          <a:p>
            <a:r>
              <a:rPr sz="540" b="0" i="0">
                <a:solidFill>
                  <a:srgbClr val="BFBFBF"/>
                </a:solidFill>
                <a:latin typeface="Trenda IG Text"/>
              </a:rPr>
              <a:t>Minimum fields only, time-limited, read-only API; no agent access.</a:t>
            </a:r>
          </a:p>
        </p:txBody>
      </p:sp>
      <p:sp>
        <p:nvSpPr>
          <p:cNvPr id="145" name="Shape 132"/>
          <p:cNvSpPr/>
          <p:nvPr/>
        </p:nvSpPr>
        <p:spPr>
          <a:xfrm>
            <a:off x="4786230" y="5001768"/>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 133"/>
          <p:cNvSpPr txBox="1"/>
          <p:nvPr/>
        </p:nvSpPr>
        <p:spPr>
          <a:xfrm>
            <a:off x="4786230" y="5001768"/>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3</a:t>
            </a:r>
          </a:p>
        </p:txBody>
      </p:sp>
      <p:cxnSp>
        <p:nvCxnSpPr>
          <p:cNvPr id="147" name="Arrow 134"/>
          <p:cNvCxnSpPr/>
          <p:nvPr/>
        </p:nvCxnSpPr>
        <p:spPr>
          <a:xfrm>
            <a:off x="5225142"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8" name="Shape 135"/>
          <p:cNvSpPr/>
          <p:nvPr/>
        </p:nvSpPr>
        <p:spPr>
          <a:xfrm>
            <a:off x="5353158" y="4398264"/>
            <a:ext cx="1482634" cy="786384"/>
          </a:xfrm>
          <a:prstGeom prst="roundRect">
            <a:avLst>
              <a:gd name="adj" fmla="val 8000"/>
            </a:avLst>
          </a:prstGeom>
          <a:solidFill>
            <a:srgbClr val="06262B"/>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hape 136"/>
          <p:cNvSpPr/>
          <p:nvPr/>
        </p:nvSpPr>
        <p:spPr>
          <a:xfrm>
            <a:off x="5408022" y="445312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37"/>
          <p:cNvSpPr txBox="1"/>
          <p:nvPr/>
        </p:nvSpPr>
        <p:spPr>
          <a:xfrm>
            <a:off x="5408022"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10</a:t>
            </a:r>
          </a:p>
        </p:txBody>
      </p:sp>
      <p:pic>
        <p:nvPicPr>
          <p:cNvPr id="151" name="Picture 150" descr="salesforce.png"/>
          <p:cNvPicPr>
            <a:picLocks noChangeAspect="1"/>
          </p:cNvPicPr>
          <p:nvPr/>
        </p:nvPicPr>
        <p:blipFill>
          <a:blip r:embed="rId8"/>
          <a:stretch>
            <a:fillRect/>
          </a:stretch>
        </p:blipFill>
        <p:spPr>
          <a:xfrm>
            <a:off x="5627478" y="4453128"/>
            <a:ext cx="164592" cy="164592"/>
          </a:xfrm>
          <a:prstGeom prst="rect">
            <a:avLst/>
          </a:prstGeom>
        </p:spPr>
      </p:pic>
      <p:sp>
        <p:nvSpPr>
          <p:cNvPr id="152" name="Text 138"/>
          <p:cNvSpPr txBox="1"/>
          <p:nvPr/>
        </p:nvSpPr>
        <p:spPr>
          <a:xfrm>
            <a:off x="5837790"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Marketing Cloud pulls</a:t>
            </a:r>
          </a:p>
        </p:txBody>
      </p:sp>
      <p:sp>
        <p:nvSpPr>
          <p:cNvPr id="153" name="Text 139"/>
          <p:cNvSpPr txBox="1"/>
          <p:nvPr/>
        </p:nvSpPr>
        <p:spPr>
          <a:xfrm>
            <a:off x="5426310" y="4690872"/>
            <a:ext cx="1354618" cy="347472"/>
          </a:xfrm>
          <a:prstGeom prst="rect">
            <a:avLst/>
          </a:prstGeom>
          <a:noFill/>
        </p:spPr>
        <p:txBody>
          <a:bodyPr wrap="square" lIns="0" rIns="0" tIns="0" bIns="0" anchor="t">
            <a:spAutoFit/>
          </a:bodyPr>
          <a:lstStyle/>
          <a:p>
            <a:r>
              <a:rPr sz="540" b="0" i="0">
                <a:solidFill>
                  <a:srgbClr val="BFBFBF"/>
                </a:solidFill>
                <a:latin typeface="Trenda IG Text"/>
              </a:rPr>
              <a:t>Automation Studio pulls the run; nothing is pushed by Codex.</a:t>
            </a:r>
          </a:p>
        </p:txBody>
      </p:sp>
      <p:sp>
        <p:nvSpPr>
          <p:cNvPr id="154" name="Shape 140"/>
          <p:cNvSpPr/>
          <p:nvPr/>
        </p:nvSpPr>
        <p:spPr>
          <a:xfrm>
            <a:off x="6396881" y="5001768"/>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 141"/>
          <p:cNvSpPr txBox="1"/>
          <p:nvPr/>
        </p:nvSpPr>
        <p:spPr>
          <a:xfrm>
            <a:off x="6396881" y="5001768"/>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4</a:t>
            </a:r>
          </a:p>
        </p:txBody>
      </p:sp>
      <p:cxnSp>
        <p:nvCxnSpPr>
          <p:cNvPr id="156" name="Arrow 142"/>
          <p:cNvCxnSpPr/>
          <p:nvPr/>
        </p:nvCxnSpPr>
        <p:spPr>
          <a:xfrm>
            <a:off x="6835793"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7" name="Shape 143"/>
          <p:cNvSpPr/>
          <p:nvPr/>
        </p:nvSpPr>
        <p:spPr>
          <a:xfrm>
            <a:off x="6963809" y="4398264"/>
            <a:ext cx="1482634" cy="786384"/>
          </a:xfrm>
          <a:prstGeom prst="roundRect">
            <a:avLst>
              <a:gd name="adj" fmla="val 8000"/>
            </a:avLst>
          </a:prstGeom>
          <a:solidFill>
            <a:srgbClr val="141414"/>
          </a:solidFill>
          <a:ln w="1143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Shape 144"/>
          <p:cNvSpPr/>
          <p:nvPr/>
        </p:nvSpPr>
        <p:spPr>
          <a:xfrm>
            <a:off x="7018673" y="445312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45"/>
          <p:cNvSpPr txBox="1"/>
          <p:nvPr/>
        </p:nvSpPr>
        <p:spPr>
          <a:xfrm>
            <a:off x="7018673"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11</a:t>
            </a:r>
          </a:p>
        </p:txBody>
      </p:sp>
      <p:pic>
        <p:nvPicPr>
          <p:cNvPr id="160" name="Picture 159" descr="salesforce.png"/>
          <p:cNvPicPr>
            <a:picLocks noChangeAspect="1"/>
          </p:cNvPicPr>
          <p:nvPr/>
        </p:nvPicPr>
        <p:blipFill>
          <a:blip r:embed="rId8"/>
          <a:stretch>
            <a:fillRect/>
          </a:stretch>
        </p:blipFill>
        <p:spPr>
          <a:xfrm>
            <a:off x="7238129" y="4453128"/>
            <a:ext cx="164592" cy="164592"/>
          </a:xfrm>
          <a:prstGeom prst="rect">
            <a:avLst/>
          </a:prstGeom>
        </p:spPr>
      </p:pic>
      <p:sp>
        <p:nvSpPr>
          <p:cNvPr id="161" name="Text 146"/>
          <p:cNvSpPr txBox="1"/>
          <p:nvPr/>
        </p:nvSpPr>
        <p:spPr>
          <a:xfrm>
            <a:off x="7448441"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Data extension</a:t>
            </a:r>
          </a:p>
        </p:txBody>
      </p:sp>
      <p:sp>
        <p:nvSpPr>
          <p:cNvPr id="162" name="Text 147"/>
          <p:cNvSpPr txBox="1"/>
          <p:nvPr/>
        </p:nvSpPr>
        <p:spPr>
          <a:xfrm>
            <a:off x="7036961" y="4690872"/>
            <a:ext cx="1354618" cy="347472"/>
          </a:xfrm>
          <a:prstGeom prst="rect">
            <a:avLst/>
          </a:prstGeom>
          <a:noFill/>
        </p:spPr>
        <p:txBody>
          <a:bodyPr wrap="square" lIns="0" rIns="0" tIns="0" bIns="0" anchor="t">
            <a:spAutoFit/>
          </a:bodyPr>
          <a:lstStyle/>
          <a:p>
            <a:r>
              <a:rPr sz="540" b="0" i="0">
                <a:solidFill>
                  <a:srgbClr val="BFBFBF"/>
                </a:solidFill>
                <a:latin typeface="Trenda IG Text"/>
              </a:rPr>
              <a:t>Only approved records, for this run.</a:t>
            </a:r>
          </a:p>
        </p:txBody>
      </p:sp>
      <p:cxnSp>
        <p:nvCxnSpPr>
          <p:cNvPr id="163" name="Arrow 148"/>
          <p:cNvCxnSpPr/>
          <p:nvPr/>
        </p:nvCxnSpPr>
        <p:spPr>
          <a:xfrm>
            <a:off x="8446443"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49"/>
          <p:cNvSpPr/>
          <p:nvPr/>
        </p:nvSpPr>
        <p:spPr>
          <a:xfrm>
            <a:off x="8574459" y="4398264"/>
            <a:ext cx="1482634" cy="786384"/>
          </a:xfrm>
          <a:prstGeom prst="roundRect">
            <a:avLst>
              <a:gd name="adj" fmla="val 8000"/>
            </a:avLst>
          </a:prstGeom>
          <a:solidFill>
            <a:srgbClr val="141414"/>
          </a:solidFill>
          <a:ln w="1143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Shape 150"/>
          <p:cNvSpPr/>
          <p:nvPr/>
        </p:nvSpPr>
        <p:spPr>
          <a:xfrm>
            <a:off x="8629323" y="445312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 151"/>
          <p:cNvSpPr txBox="1"/>
          <p:nvPr/>
        </p:nvSpPr>
        <p:spPr>
          <a:xfrm>
            <a:off x="8629323"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12</a:t>
            </a:r>
          </a:p>
        </p:txBody>
      </p:sp>
      <p:pic>
        <p:nvPicPr>
          <p:cNvPr id="167" name="Picture 166" descr="salesforce.png"/>
          <p:cNvPicPr>
            <a:picLocks noChangeAspect="1"/>
          </p:cNvPicPr>
          <p:nvPr/>
        </p:nvPicPr>
        <p:blipFill>
          <a:blip r:embed="rId8"/>
          <a:stretch>
            <a:fillRect/>
          </a:stretch>
        </p:blipFill>
        <p:spPr>
          <a:xfrm>
            <a:off x="8848779" y="4453128"/>
            <a:ext cx="164592" cy="164592"/>
          </a:xfrm>
          <a:prstGeom prst="rect">
            <a:avLst/>
          </a:prstGeom>
        </p:spPr>
      </p:pic>
      <p:sp>
        <p:nvSpPr>
          <p:cNvPr id="168" name="Text 152"/>
          <p:cNvSpPr txBox="1"/>
          <p:nvPr/>
        </p:nvSpPr>
        <p:spPr>
          <a:xfrm>
            <a:off x="9059091" y="4434840"/>
            <a:ext cx="961426" cy="219456"/>
          </a:xfrm>
          <a:prstGeom prst="rect">
            <a:avLst/>
          </a:prstGeom>
          <a:noFill/>
        </p:spPr>
        <p:txBody>
          <a:bodyPr wrap="square" lIns="0" rIns="0" tIns="0" bIns="0" anchor="ctr">
            <a:spAutoFit/>
          </a:bodyPr>
          <a:lstStyle/>
          <a:p>
            <a:r>
              <a:rPr sz="620" b="1" i="0">
                <a:solidFill>
                  <a:srgbClr val="FFFFFF"/>
                </a:solidFill>
                <a:latin typeface="Trenda IG Text"/>
              </a:rPr>
              <a:t>Journey starts itself</a:t>
            </a:r>
          </a:p>
        </p:txBody>
      </p:sp>
      <p:sp>
        <p:nvSpPr>
          <p:cNvPr id="169" name="Text 153"/>
          <p:cNvSpPr txBox="1"/>
          <p:nvPr/>
        </p:nvSpPr>
        <p:spPr>
          <a:xfrm>
            <a:off x="8647611" y="4690872"/>
            <a:ext cx="1354618" cy="347472"/>
          </a:xfrm>
          <a:prstGeom prst="rect">
            <a:avLst/>
          </a:prstGeom>
          <a:noFill/>
        </p:spPr>
        <p:txBody>
          <a:bodyPr wrap="square" lIns="0" rIns="0" tIns="0" bIns="0" anchor="t">
            <a:spAutoFit/>
          </a:bodyPr>
          <a:lstStyle/>
          <a:p>
            <a:r>
              <a:rPr sz="540" b="0" i="0">
                <a:solidFill>
                  <a:srgbClr val="BFBFBF"/>
                </a:solidFill>
                <a:latin typeface="Trenda IG Text"/>
              </a:rPr>
              <a:t>The journey built and tested in step 3.</a:t>
            </a:r>
          </a:p>
        </p:txBody>
      </p:sp>
      <p:cxnSp>
        <p:nvCxnSpPr>
          <p:cNvPr id="170" name="Arrow 154"/>
          <p:cNvCxnSpPr/>
          <p:nvPr/>
        </p:nvCxnSpPr>
        <p:spPr>
          <a:xfrm>
            <a:off x="10057093" y="4791456"/>
            <a:ext cx="128016" cy="0"/>
          </a:xfrm>
          <a:prstGeom prst="line">
            <a:avLst/>
          </a:prstGeom>
          <a:ln w="1587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Shape 155"/>
          <p:cNvSpPr/>
          <p:nvPr/>
        </p:nvSpPr>
        <p:spPr>
          <a:xfrm>
            <a:off x="10185109" y="4398264"/>
            <a:ext cx="1482634" cy="786384"/>
          </a:xfrm>
          <a:prstGeom prst="roundRect">
            <a:avLst>
              <a:gd name="adj" fmla="val 8000"/>
            </a:avLst>
          </a:prstGeom>
          <a:solidFill>
            <a:srgbClr val="2B0716"/>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Shape 156"/>
          <p:cNvSpPr/>
          <p:nvPr/>
        </p:nvSpPr>
        <p:spPr>
          <a:xfrm>
            <a:off x="10239973" y="445312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 157"/>
          <p:cNvSpPr txBox="1"/>
          <p:nvPr/>
        </p:nvSpPr>
        <p:spPr>
          <a:xfrm>
            <a:off x="10239973" y="4453128"/>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13</a:t>
            </a:r>
          </a:p>
        </p:txBody>
      </p:sp>
      <p:sp>
        <p:nvSpPr>
          <p:cNvPr id="174" name="Text 158"/>
          <p:cNvSpPr txBox="1"/>
          <p:nvPr/>
        </p:nvSpPr>
        <p:spPr>
          <a:xfrm>
            <a:off x="10459429" y="4434840"/>
            <a:ext cx="1171738" cy="219456"/>
          </a:xfrm>
          <a:prstGeom prst="rect">
            <a:avLst/>
          </a:prstGeom>
          <a:noFill/>
        </p:spPr>
        <p:txBody>
          <a:bodyPr wrap="square" lIns="0" rIns="0" tIns="0" bIns="0" anchor="ctr">
            <a:spAutoFit/>
          </a:bodyPr>
          <a:lstStyle/>
          <a:p>
            <a:r>
              <a:rPr sz="620" b="1" i="0">
                <a:solidFill>
                  <a:srgbClr val="FFFFFF"/>
                </a:solidFill>
                <a:latin typeface="Trenda IG Text"/>
              </a:rPr>
              <a:t>Send-time check</a:t>
            </a:r>
          </a:p>
        </p:txBody>
      </p:sp>
      <p:sp>
        <p:nvSpPr>
          <p:cNvPr id="175" name="Text 159"/>
          <p:cNvSpPr txBox="1"/>
          <p:nvPr/>
        </p:nvSpPr>
        <p:spPr>
          <a:xfrm>
            <a:off x="10258261" y="4690872"/>
            <a:ext cx="1354618" cy="347472"/>
          </a:xfrm>
          <a:prstGeom prst="rect">
            <a:avLst/>
          </a:prstGeom>
          <a:noFill/>
        </p:spPr>
        <p:txBody>
          <a:bodyPr wrap="square" lIns="0" rIns="0" tIns="0" bIns="0" anchor="t">
            <a:spAutoFit/>
          </a:bodyPr>
          <a:lstStyle/>
          <a:p>
            <a:r>
              <a:rPr sz="540" b="0" i="0">
                <a:solidFill>
                  <a:srgbClr val="BFBFBF"/>
                </a:solidFill>
                <a:latin typeface="Trenda IG Text"/>
              </a:rPr>
              <a:t>Consent, STOP and frequency caps re-checked; then SMS or email.</a:t>
            </a:r>
          </a:p>
        </p:txBody>
      </p:sp>
      <p:sp>
        <p:nvSpPr>
          <p:cNvPr id="176" name="Shape 160"/>
          <p:cNvSpPr/>
          <p:nvPr/>
        </p:nvSpPr>
        <p:spPr>
          <a:xfrm>
            <a:off x="11228832" y="5001768"/>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 161"/>
          <p:cNvSpPr txBox="1"/>
          <p:nvPr/>
        </p:nvSpPr>
        <p:spPr>
          <a:xfrm>
            <a:off x="11228832" y="5001768"/>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7</a:t>
            </a:r>
          </a:p>
        </p:txBody>
      </p:sp>
      <p:sp>
        <p:nvSpPr>
          <p:cNvPr id="178" name="Shape 162"/>
          <p:cNvSpPr/>
          <p:nvPr/>
        </p:nvSpPr>
        <p:spPr>
          <a:xfrm>
            <a:off x="2205010" y="5001768"/>
            <a:ext cx="292608" cy="146304"/>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Text 163"/>
          <p:cNvSpPr txBox="1"/>
          <p:nvPr/>
        </p:nvSpPr>
        <p:spPr>
          <a:xfrm>
            <a:off x="2205010" y="5001768"/>
            <a:ext cx="292608" cy="146304"/>
          </a:xfrm>
          <a:prstGeom prst="rect">
            <a:avLst/>
          </a:prstGeom>
          <a:noFill/>
        </p:spPr>
        <p:txBody>
          <a:bodyPr wrap="square" lIns="0" rIns="0" tIns="0" bIns="0" anchor="ctr">
            <a:spAutoFit/>
          </a:bodyPr>
          <a:lstStyle/>
          <a:p>
            <a:pPr algn="ctr"/>
            <a:r>
              <a:rPr sz="520" b="1" i="0" spc="80">
                <a:solidFill>
                  <a:srgbClr val="000000"/>
                </a:solidFill>
                <a:latin typeface="Trenda IG Text"/>
              </a:rPr>
              <a:t>G2</a:t>
            </a:r>
          </a:p>
        </p:txBody>
      </p:sp>
      <p:cxnSp>
        <p:nvCxnSpPr>
          <p:cNvPr id="180" name="Arrow 164"/>
          <p:cNvCxnSpPr/>
          <p:nvPr/>
        </p:nvCxnSpPr>
        <p:spPr>
          <a:xfrm>
            <a:off x="7516367" y="3931920"/>
            <a:ext cx="0" cy="320040"/>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81" name="Arrow 165"/>
          <p:cNvCxnSpPr/>
          <p:nvPr/>
        </p:nvCxnSpPr>
        <p:spPr>
          <a:xfrm flipH="1">
            <a:off x="1262525" y="4251960"/>
            <a:ext cx="6253842" cy="0"/>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82" name="Arrow 166"/>
          <p:cNvCxnSpPr/>
          <p:nvPr/>
        </p:nvCxnSpPr>
        <p:spPr>
          <a:xfrm>
            <a:off x="1262525" y="4251960"/>
            <a:ext cx="0" cy="146304"/>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7"/>
          <p:cNvCxnSpPr/>
          <p:nvPr/>
        </p:nvCxnSpPr>
        <p:spPr>
          <a:xfrm>
            <a:off x="10926426" y="5184648"/>
            <a:ext cx="0" cy="100584"/>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84" name="Arrow 168"/>
          <p:cNvCxnSpPr/>
          <p:nvPr/>
        </p:nvCxnSpPr>
        <p:spPr>
          <a:xfrm flipH="1">
            <a:off x="274320" y="5285232"/>
            <a:ext cx="10652106" cy="0"/>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85" name="Arrow 169"/>
          <p:cNvCxnSpPr/>
          <p:nvPr/>
        </p:nvCxnSpPr>
        <p:spPr>
          <a:xfrm flipV="1">
            <a:off x="274320" y="2139696"/>
            <a:ext cx="0" cy="3145536"/>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86" name="Arrow 170"/>
          <p:cNvCxnSpPr/>
          <p:nvPr/>
        </p:nvCxnSpPr>
        <p:spPr>
          <a:xfrm>
            <a:off x="274320" y="2139696"/>
            <a:ext cx="246888" cy="0"/>
          </a:xfrm>
          <a:prstGeom prst="line">
            <a:avLst/>
          </a:prstGeom>
          <a:ln w="15875">
            <a:solidFill>
              <a:srgbClr val="56E1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Shape 171"/>
          <p:cNvSpPr/>
          <p:nvPr/>
        </p:nvSpPr>
        <p:spPr>
          <a:xfrm>
            <a:off x="4937760" y="5212080"/>
            <a:ext cx="2286000" cy="146304"/>
          </a:xfrm>
          <a:prstGeom prst="roundRect">
            <a:avLst>
              <a:gd name="adj" fmla="val 50000"/>
            </a:avLst>
          </a:prstGeom>
          <a:solidFill>
            <a:srgbClr val="56E13B"/>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 172"/>
          <p:cNvSpPr txBox="1"/>
          <p:nvPr/>
        </p:nvSpPr>
        <p:spPr>
          <a:xfrm>
            <a:off x="4937760" y="5212080"/>
            <a:ext cx="2286000" cy="146304"/>
          </a:xfrm>
          <a:prstGeom prst="rect">
            <a:avLst/>
          </a:prstGeom>
          <a:noFill/>
        </p:spPr>
        <p:txBody>
          <a:bodyPr wrap="square" lIns="0" rIns="0" tIns="0" bIns="0" anchor="ctr">
            <a:spAutoFit/>
          </a:bodyPr>
          <a:lstStyle/>
          <a:p>
            <a:pPr algn="ctr"/>
            <a:r>
              <a:rPr sz="500" b="1" i="0" spc="80">
                <a:solidFill>
                  <a:srgbClr val="000000"/>
                </a:solidFill>
                <a:latin typeface="Trenda IG Text"/>
              </a:rPr>
              <a:t>ENGAGEMENT BACK TO BRONZE → NEXT RUN</a:t>
            </a:r>
          </a:p>
        </p:txBody>
      </p:sp>
      <p:sp>
        <p:nvSpPr>
          <p:cNvPr id="189" name="Text 173"/>
          <p:cNvSpPr txBox="1"/>
          <p:nvPr/>
        </p:nvSpPr>
        <p:spPr>
          <a:xfrm>
            <a:off x="411480" y="5532120"/>
            <a:ext cx="1188720" cy="566928"/>
          </a:xfrm>
          <a:prstGeom prst="rect">
            <a:avLst/>
          </a:prstGeom>
          <a:noFill/>
        </p:spPr>
        <p:txBody>
          <a:bodyPr wrap="square" lIns="0" rIns="0" tIns="0" bIns="0" anchor="ctr">
            <a:spAutoFit/>
          </a:bodyPr>
          <a:lstStyle/>
          <a:p>
            <a:pPr>
              <a:spcAft>
                <a:spcPts val="100"/>
              </a:spcAft>
            </a:pPr>
            <a:r>
              <a:rPr sz="640" b="1" i="0" spc="120">
                <a:solidFill>
                  <a:srgbClr val="FF0069"/>
                </a:solidFill>
                <a:latin typeface="Trenda IG Text"/>
              </a:rPr>
              <a:t>WHAT WE ADDED</a:t>
            </a:r>
          </a:p>
          <a:p>
            <a:pPr>
              <a:spcAft>
                <a:spcPts val="100"/>
              </a:spcAft>
            </a:pPr>
            <a:r>
              <a:rPr sz="540" b="0" i="0">
                <a:solidFill>
                  <a:srgbClr val="8C8C8C"/>
                </a:solidFill>
                <a:latin typeface="Trenda IG Text"/>
              </a:rPr>
              <a:t>to close the gaps in the whiteboard</a:t>
            </a:r>
          </a:p>
        </p:txBody>
      </p:sp>
      <p:sp>
        <p:nvSpPr>
          <p:cNvPr id="190" name="Shape 174"/>
          <p:cNvSpPr/>
          <p:nvPr/>
        </p:nvSpPr>
        <p:spPr>
          <a:xfrm>
            <a:off x="1645920"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Shape 175"/>
          <p:cNvSpPr/>
          <p:nvPr/>
        </p:nvSpPr>
        <p:spPr>
          <a:xfrm>
            <a:off x="1645920"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Shape 176"/>
          <p:cNvSpPr/>
          <p:nvPr/>
        </p:nvSpPr>
        <p:spPr>
          <a:xfrm>
            <a:off x="1755648"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Text 177"/>
          <p:cNvSpPr txBox="1"/>
          <p:nvPr/>
        </p:nvSpPr>
        <p:spPr>
          <a:xfrm>
            <a:off x="1755648"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1</a:t>
            </a:r>
          </a:p>
        </p:txBody>
      </p:sp>
      <p:sp>
        <p:nvSpPr>
          <p:cNvPr id="194" name="Text 178"/>
          <p:cNvSpPr txBox="1"/>
          <p:nvPr/>
        </p:nvSpPr>
        <p:spPr>
          <a:xfrm>
            <a:off x="1755648" y="5769864"/>
            <a:ext cx="1220070" cy="310896"/>
          </a:xfrm>
          <a:prstGeom prst="rect">
            <a:avLst/>
          </a:prstGeom>
          <a:noFill/>
        </p:spPr>
        <p:txBody>
          <a:bodyPr wrap="square" lIns="0" rIns="0" tIns="0" bIns="0" anchor="t">
            <a:spAutoFit/>
          </a:bodyPr>
          <a:lstStyle/>
          <a:p>
            <a:r>
              <a:rPr sz="590" b="0" i="0">
                <a:solidFill>
                  <a:srgbClr val="FFFFFF"/>
                </a:solidFill>
                <a:latin typeface="Trenda IG Text"/>
              </a:rPr>
              <a:t>Build and test before any data lands</a:t>
            </a:r>
          </a:p>
        </p:txBody>
      </p:sp>
      <p:sp>
        <p:nvSpPr>
          <p:cNvPr id="195" name="Shape 179"/>
          <p:cNvSpPr/>
          <p:nvPr/>
        </p:nvSpPr>
        <p:spPr>
          <a:xfrm>
            <a:off x="3103734"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Shape 180"/>
          <p:cNvSpPr/>
          <p:nvPr/>
        </p:nvSpPr>
        <p:spPr>
          <a:xfrm>
            <a:off x="3103734"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Shape 181"/>
          <p:cNvSpPr/>
          <p:nvPr/>
        </p:nvSpPr>
        <p:spPr>
          <a:xfrm>
            <a:off x="3213462"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 182"/>
          <p:cNvSpPr txBox="1"/>
          <p:nvPr/>
        </p:nvSpPr>
        <p:spPr>
          <a:xfrm>
            <a:off x="3213462"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2</a:t>
            </a:r>
          </a:p>
        </p:txBody>
      </p:sp>
      <p:sp>
        <p:nvSpPr>
          <p:cNvPr id="199" name="Text 183"/>
          <p:cNvSpPr txBox="1"/>
          <p:nvPr/>
        </p:nvSpPr>
        <p:spPr>
          <a:xfrm>
            <a:off x="3213462" y="5769864"/>
            <a:ext cx="1220070" cy="310896"/>
          </a:xfrm>
          <a:prstGeom prst="rect">
            <a:avLst/>
          </a:prstGeom>
          <a:noFill/>
        </p:spPr>
        <p:txBody>
          <a:bodyPr wrap="square" lIns="0" rIns="0" tIns="0" bIns="0" anchor="t">
            <a:spAutoFit/>
          </a:bodyPr>
          <a:lstStyle/>
          <a:p>
            <a:r>
              <a:rPr sz="590" b="0" i="0">
                <a:solidFill>
                  <a:srgbClr val="FFFFFF"/>
                </a:solidFill>
                <a:latin typeface="Trenda IG Text"/>
              </a:rPr>
              <a:t>G2: masked pre-send report</a:t>
            </a:r>
          </a:p>
        </p:txBody>
      </p:sp>
      <p:sp>
        <p:nvSpPr>
          <p:cNvPr id="200" name="Shape 184"/>
          <p:cNvSpPr/>
          <p:nvPr/>
        </p:nvSpPr>
        <p:spPr>
          <a:xfrm>
            <a:off x="4561549"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Shape 185"/>
          <p:cNvSpPr/>
          <p:nvPr/>
        </p:nvSpPr>
        <p:spPr>
          <a:xfrm>
            <a:off x="4561549"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Shape 186"/>
          <p:cNvSpPr/>
          <p:nvPr/>
        </p:nvSpPr>
        <p:spPr>
          <a:xfrm>
            <a:off x="4671277"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Text 187"/>
          <p:cNvSpPr txBox="1"/>
          <p:nvPr/>
        </p:nvSpPr>
        <p:spPr>
          <a:xfrm>
            <a:off x="4671277"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3</a:t>
            </a:r>
          </a:p>
        </p:txBody>
      </p:sp>
      <p:sp>
        <p:nvSpPr>
          <p:cNvPr id="204" name="Text 188"/>
          <p:cNvSpPr txBox="1"/>
          <p:nvPr/>
        </p:nvSpPr>
        <p:spPr>
          <a:xfrm>
            <a:off x="4671277" y="5769864"/>
            <a:ext cx="1220070" cy="310896"/>
          </a:xfrm>
          <a:prstGeom prst="rect">
            <a:avLst/>
          </a:prstGeom>
          <a:noFill/>
        </p:spPr>
        <p:txBody>
          <a:bodyPr wrap="square" lIns="0" rIns="0" tIns="0" bIns="0" anchor="t">
            <a:spAutoFit/>
          </a:bodyPr>
          <a:lstStyle/>
          <a:p>
            <a:r>
              <a:rPr sz="590" b="0" i="0">
                <a:solidFill>
                  <a:srgbClr val="FFFFFF"/>
                </a:solidFill>
                <a:latin typeface="Trenda IG Text"/>
              </a:rPr>
              <a:t>Release store: masked data cannot send</a:t>
            </a:r>
          </a:p>
        </p:txBody>
      </p:sp>
      <p:sp>
        <p:nvSpPr>
          <p:cNvPr id="205" name="Shape 189"/>
          <p:cNvSpPr/>
          <p:nvPr/>
        </p:nvSpPr>
        <p:spPr>
          <a:xfrm>
            <a:off x="6019364"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Shape 190"/>
          <p:cNvSpPr/>
          <p:nvPr/>
        </p:nvSpPr>
        <p:spPr>
          <a:xfrm>
            <a:off x="6019364"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Shape 191"/>
          <p:cNvSpPr/>
          <p:nvPr/>
        </p:nvSpPr>
        <p:spPr>
          <a:xfrm>
            <a:off x="6129092"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 192"/>
          <p:cNvSpPr txBox="1"/>
          <p:nvPr/>
        </p:nvSpPr>
        <p:spPr>
          <a:xfrm>
            <a:off x="6129092"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4</a:t>
            </a:r>
          </a:p>
        </p:txBody>
      </p:sp>
      <p:sp>
        <p:nvSpPr>
          <p:cNvPr id="209" name="Text 193"/>
          <p:cNvSpPr txBox="1"/>
          <p:nvPr/>
        </p:nvSpPr>
        <p:spPr>
          <a:xfrm>
            <a:off x="6129092" y="5769864"/>
            <a:ext cx="1220070" cy="310896"/>
          </a:xfrm>
          <a:prstGeom prst="rect">
            <a:avLst/>
          </a:prstGeom>
          <a:noFill/>
        </p:spPr>
        <p:txBody>
          <a:bodyPr wrap="square" lIns="0" rIns="0" tIns="0" bIns="0" anchor="t">
            <a:spAutoFit/>
          </a:bodyPr>
          <a:lstStyle/>
          <a:p>
            <a:r>
              <a:rPr sz="590" b="0" i="0">
                <a:solidFill>
                  <a:srgbClr val="FFFFFF"/>
                </a:solidFill>
                <a:latin typeface="Trenda IG Text"/>
              </a:rPr>
              <a:t>Marketing Cloud pulls; agents hold no PHI</a:t>
            </a:r>
          </a:p>
        </p:txBody>
      </p:sp>
      <p:sp>
        <p:nvSpPr>
          <p:cNvPr id="210" name="Shape 194"/>
          <p:cNvSpPr/>
          <p:nvPr/>
        </p:nvSpPr>
        <p:spPr>
          <a:xfrm>
            <a:off x="7477179"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Shape 195"/>
          <p:cNvSpPr/>
          <p:nvPr/>
        </p:nvSpPr>
        <p:spPr>
          <a:xfrm>
            <a:off x="7477179"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Shape 196"/>
          <p:cNvSpPr/>
          <p:nvPr/>
        </p:nvSpPr>
        <p:spPr>
          <a:xfrm>
            <a:off x="7586907"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 197"/>
          <p:cNvSpPr txBox="1"/>
          <p:nvPr/>
        </p:nvSpPr>
        <p:spPr>
          <a:xfrm>
            <a:off x="7586907"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5</a:t>
            </a:r>
          </a:p>
        </p:txBody>
      </p:sp>
      <p:sp>
        <p:nvSpPr>
          <p:cNvPr id="214" name="Text 198"/>
          <p:cNvSpPr txBox="1"/>
          <p:nvPr/>
        </p:nvSpPr>
        <p:spPr>
          <a:xfrm>
            <a:off x="7586907" y="5769864"/>
            <a:ext cx="1220070" cy="310896"/>
          </a:xfrm>
          <a:prstGeom prst="rect">
            <a:avLst/>
          </a:prstGeom>
          <a:noFill/>
        </p:spPr>
        <p:txBody>
          <a:bodyPr wrap="square" lIns="0" rIns="0" tIns="0" bIns="0" anchor="t">
            <a:spAutoFit/>
          </a:bodyPr>
          <a:lstStyle/>
          <a:p>
            <a:r>
              <a:rPr sz="590" b="0" i="0">
                <a:solidFill>
                  <a:srgbClr val="FFFFFF"/>
                </a:solidFill>
                <a:latin typeface="Trenda IG Text"/>
              </a:rPr>
              <a:t>Collibra steward approves masking</a:t>
            </a:r>
          </a:p>
        </p:txBody>
      </p:sp>
      <p:sp>
        <p:nvSpPr>
          <p:cNvPr id="215" name="Shape 199"/>
          <p:cNvSpPr/>
          <p:nvPr/>
        </p:nvSpPr>
        <p:spPr>
          <a:xfrm>
            <a:off x="8934994"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Shape 200"/>
          <p:cNvSpPr/>
          <p:nvPr/>
        </p:nvSpPr>
        <p:spPr>
          <a:xfrm>
            <a:off x="8934994"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Shape 201"/>
          <p:cNvSpPr/>
          <p:nvPr/>
        </p:nvSpPr>
        <p:spPr>
          <a:xfrm>
            <a:off x="9044722"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 202"/>
          <p:cNvSpPr txBox="1"/>
          <p:nvPr/>
        </p:nvSpPr>
        <p:spPr>
          <a:xfrm>
            <a:off x="9044722"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6</a:t>
            </a:r>
          </a:p>
        </p:txBody>
      </p:sp>
      <p:sp>
        <p:nvSpPr>
          <p:cNvPr id="219" name="Text 203"/>
          <p:cNvSpPr txBox="1"/>
          <p:nvPr/>
        </p:nvSpPr>
        <p:spPr>
          <a:xfrm>
            <a:off x="9044722" y="5769864"/>
            <a:ext cx="1220070" cy="310896"/>
          </a:xfrm>
          <a:prstGeom prst="rect">
            <a:avLst/>
          </a:prstGeom>
          <a:noFill/>
        </p:spPr>
        <p:txBody>
          <a:bodyPr wrap="square" lIns="0" rIns="0" tIns="0" bIns="0" anchor="t">
            <a:spAutoFit/>
          </a:bodyPr>
          <a:lstStyle/>
          <a:p>
            <a:r>
              <a:rPr sz="590" b="0" i="0">
                <a:solidFill>
                  <a:srgbClr val="FFFFFF"/>
                </a:solidFill>
                <a:latin typeface="Trenda IG Text"/>
              </a:rPr>
              <a:t>Retry cap: 5, then an owner</a:t>
            </a:r>
          </a:p>
        </p:txBody>
      </p:sp>
      <p:sp>
        <p:nvSpPr>
          <p:cNvPr id="220" name="Shape 204"/>
          <p:cNvSpPr/>
          <p:nvPr/>
        </p:nvSpPr>
        <p:spPr>
          <a:xfrm>
            <a:off x="10392809" y="5532120"/>
            <a:ext cx="1384662"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Shape 205"/>
          <p:cNvSpPr/>
          <p:nvPr/>
        </p:nvSpPr>
        <p:spPr>
          <a:xfrm>
            <a:off x="10392809" y="5532120"/>
            <a:ext cx="45720"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Shape 206"/>
          <p:cNvSpPr/>
          <p:nvPr/>
        </p:nvSpPr>
        <p:spPr>
          <a:xfrm>
            <a:off x="10502537" y="5605272"/>
            <a:ext cx="384048" cy="137160"/>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Text 207"/>
          <p:cNvSpPr txBox="1"/>
          <p:nvPr/>
        </p:nvSpPr>
        <p:spPr>
          <a:xfrm>
            <a:off x="10502537" y="5605272"/>
            <a:ext cx="384048" cy="137160"/>
          </a:xfrm>
          <a:prstGeom prst="rect">
            <a:avLst/>
          </a:prstGeom>
          <a:noFill/>
        </p:spPr>
        <p:txBody>
          <a:bodyPr wrap="square" lIns="0" rIns="0" tIns="0" bIns="0" anchor="ctr">
            <a:spAutoFit/>
          </a:bodyPr>
          <a:lstStyle/>
          <a:p>
            <a:pPr algn="ctr"/>
            <a:r>
              <a:rPr sz="480" b="1" i="0" spc="80">
                <a:solidFill>
                  <a:srgbClr val="FFFFFF"/>
                </a:solidFill>
                <a:latin typeface="Trenda IG Text"/>
              </a:rPr>
              <a:t>FIX 7</a:t>
            </a:r>
          </a:p>
        </p:txBody>
      </p:sp>
      <p:sp>
        <p:nvSpPr>
          <p:cNvPr id="224" name="Text 208"/>
          <p:cNvSpPr txBox="1"/>
          <p:nvPr/>
        </p:nvSpPr>
        <p:spPr>
          <a:xfrm>
            <a:off x="10502537" y="5769864"/>
            <a:ext cx="1220070" cy="310896"/>
          </a:xfrm>
          <a:prstGeom prst="rect">
            <a:avLst/>
          </a:prstGeom>
          <a:noFill/>
        </p:spPr>
        <p:txBody>
          <a:bodyPr wrap="square" lIns="0" rIns="0" tIns="0" bIns="0" anchor="t">
            <a:spAutoFit/>
          </a:bodyPr>
          <a:lstStyle/>
          <a:p>
            <a:r>
              <a:rPr sz="590" b="0" i="0">
                <a:solidFill>
                  <a:srgbClr val="FFFFFF"/>
                </a:solidFill>
                <a:latin typeface="Trenda IG Text"/>
              </a:rPr>
              <a:t>Send-time re-checks + feedback loop</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