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 id="327"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what changes for every pod (pilot targets, baselined per pod): a new engineer is productive in about a week instead of 4-6 weeks, because they ask the graph; agents work overnight, so delivery runs about 20 hours a day instead of office hours; every change is checked against the same standards; a new pod goes live on the platform in 2 weeks instead of about 2 months.</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00D6F2"/>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70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70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70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70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70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70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70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70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70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F2F2F2"/>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7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7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7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7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7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7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2F2F2"/>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2F2F2"/>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2F2F2"/>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2F2F2"/>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2F2F2"/>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3B3B3"/>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161616"/>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3B3B3"/>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F2F2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161616"/>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F2F2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F2F2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2F2F2"/>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2F2F2"/>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2F2F2"/>
                </a:solidFill>
                <a:latin typeface="Trenda IG Text"/>
              </a:rPr>
              <a:t>Fail-closed: </a:t>
            </a:r>
            <a:r>
              <a:rPr sz="700" b="0" i="0">
                <a:solidFill>
                  <a:srgbClr val="B3B3B3"/>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2F2F2"/>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2F2F2"/>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3B3B3"/>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2F2F2"/>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2F2F2"/>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3B3B3"/>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F2F2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2F2F2"/>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3B3B3"/>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2F2F2"/>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2F2F2"/>
                </a:solidFill>
                <a:latin typeface="Trenda IG Text"/>
              </a:rPr>
              <a:t>WHAT MASKING ALONE DOES NOT GIVE US, AND WHAT WE ADD</a:t>
            </a:r>
            <a:r>
              <a:rPr sz="700" b="0" i="0">
                <a:solidFill>
                  <a:srgbClr val="B3B3B3"/>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1  </a:t>
            </a:r>
            <a:r>
              <a:rPr sz="720" b="1" i="0">
                <a:solidFill>
                  <a:srgbClr val="F2F2F2"/>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F2F2F2"/>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2F2F2"/>
                </a:solidFill>
                <a:latin typeface="Trenda IG Text"/>
              </a:rPr>
              <a:t>Gap: </a:t>
            </a:r>
            <a:r>
              <a:rPr sz="700" b="0" i="0">
                <a:solidFill>
                  <a:srgbClr val="B3B3B3"/>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2F2F2"/>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2F2F2"/>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2F2F2"/>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2  </a:t>
            </a:r>
            <a:r>
              <a:rPr sz="720" b="1" i="0">
                <a:solidFill>
                  <a:srgbClr val="F2F2F2"/>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2F2F2"/>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2F2F2"/>
                </a:solidFill>
                <a:latin typeface="Trenda IG Text"/>
              </a:rPr>
              <a:t>Gap: </a:t>
            </a:r>
            <a:r>
              <a:rPr sz="700" b="0" i="0">
                <a:solidFill>
                  <a:srgbClr val="B3B3B3"/>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2F2F2"/>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2F2F2"/>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2F2F2"/>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3  </a:t>
            </a:r>
            <a:r>
              <a:rPr sz="720" b="1" i="0">
                <a:solidFill>
                  <a:srgbClr val="F2F2F2"/>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F2F2F2"/>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2F2F2"/>
                </a:solidFill>
                <a:latin typeface="Trenda IG Text"/>
              </a:rPr>
              <a:t>Gap: </a:t>
            </a:r>
            <a:r>
              <a:rPr sz="700" b="0" i="0">
                <a:solidFill>
                  <a:srgbClr val="B3B3B3"/>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2F2F2"/>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2F2F2"/>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2F2F2"/>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4  </a:t>
            </a:r>
            <a:r>
              <a:rPr sz="720" b="1" i="0">
                <a:solidFill>
                  <a:srgbClr val="F2F2F2"/>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F2F2F2"/>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2F2F2"/>
                </a:solidFill>
                <a:latin typeface="Trenda IG Text"/>
              </a:rPr>
              <a:t>Gap: </a:t>
            </a:r>
            <a:r>
              <a:rPr sz="700" b="0" i="0">
                <a:solidFill>
                  <a:srgbClr val="B3B3B3"/>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2F2F2"/>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2F2F2"/>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2F2F2"/>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161616"/>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F2F2F2"/>
                </a:solidFill>
                <a:latin typeface="Trenda IG Text"/>
              </a:rPr>
              <a:t>HOW WE PROVE IT  </a:t>
            </a:r>
            <a:r>
              <a:rPr sz="700" b="0" i="0">
                <a:solidFill>
                  <a:srgbClr val="F2F2F2"/>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2F2F2"/>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2F2F2"/>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2F2F2"/>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2F2F2"/>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2F2F2"/>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2F2F2"/>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2F2F2"/>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2F2F2"/>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2F2F2"/>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3B3B3"/>
                </a:solidFill>
                <a:latin typeface="Trenda IG Text"/>
              </a:rPr>
              <a:t>Test contacts only; checks consent, STOP, links, hours. </a:t>
            </a:r>
            <a:r>
              <a:rPr sz="7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2F2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0  </a:t>
            </a:r>
            <a:r>
              <a:rPr sz="700" b="1" i="0">
                <a:solidFill>
                  <a:srgbClr val="F2F2F2"/>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before 1</a:t>
            </a:r>
          </a:p>
        </p:txBody>
      </p:sp>
      <p:sp>
        <p:nvSpPr>
          <p:cNvPr id="11" name="Shape 10"/>
          <p:cNvSpPr/>
          <p:nvPr/>
        </p:nvSpPr>
        <p:spPr>
          <a:xfrm>
            <a:off x="502920"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2F2F2"/>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2F2F2"/>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2F2F2"/>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2F2F2"/>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1  </a:t>
            </a:r>
            <a:r>
              <a:rPr sz="700" b="1" i="0">
                <a:solidFill>
                  <a:srgbClr val="F2F2F2"/>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1 · 2 · 4 · 5 · 6</a:t>
            </a:r>
          </a:p>
        </p:txBody>
      </p:sp>
      <p:sp>
        <p:nvSpPr>
          <p:cNvPr id="27" name="Shape 26"/>
          <p:cNvSpPr/>
          <p:nvPr/>
        </p:nvSpPr>
        <p:spPr>
          <a:xfrm>
            <a:off x="2137083"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2F2F2"/>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2F2F2"/>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2F2F2"/>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2F2F2"/>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2  </a:t>
            </a:r>
            <a:r>
              <a:rPr sz="700" b="1" i="0">
                <a:solidFill>
                  <a:srgbClr val="F2F2F2"/>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3</a:t>
            </a:r>
          </a:p>
        </p:txBody>
      </p:sp>
      <p:sp>
        <p:nvSpPr>
          <p:cNvPr id="43" name="Shape 42"/>
          <p:cNvSpPr/>
          <p:nvPr/>
        </p:nvSpPr>
        <p:spPr>
          <a:xfrm>
            <a:off x="3771246"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F2F2F2"/>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F2F2F2"/>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F2F2F2"/>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3  </a:t>
            </a:r>
            <a:r>
              <a:rPr sz="700" b="1" i="0">
                <a:solidFill>
                  <a:srgbClr val="F2F2F2"/>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6 → 7 · 8 · 9</a:t>
            </a:r>
          </a:p>
        </p:txBody>
      </p:sp>
      <p:sp>
        <p:nvSpPr>
          <p:cNvPr id="57" name="Shape 56"/>
          <p:cNvSpPr/>
          <p:nvPr/>
        </p:nvSpPr>
        <p:spPr>
          <a:xfrm>
            <a:off x="5405410"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2F2F2"/>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2F2F2"/>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2F2F2"/>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4  </a:t>
            </a:r>
            <a:r>
              <a:rPr sz="700" b="1" i="0">
                <a:solidFill>
                  <a:srgbClr val="F2F2F2"/>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10 · 11 · 12</a:t>
            </a:r>
          </a:p>
        </p:txBody>
      </p:sp>
      <p:sp>
        <p:nvSpPr>
          <p:cNvPr id="71" name="Shape 70"/>
          <p:cNvSpPr/>
          <p:nvPr/>
        </p:nvSpPr>
        <p:spPr>
          <a:xfrm>
            <a:off x="7039573"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2F2F2"/>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2F2F2"/>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2F2F2"/>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16161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2F2F2"/>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2F2F2"/>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2F2F2"/>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2F2F2"/>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2F2F2"/>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2F2F2"/>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F2F2F2"/>
                </a:solidFill>
                <a:latin typeface="Trenda IG Text"/>
              </a:rPr>
              <a:t>PHASE 6  </a:t>
            </a:r>
            <a:r>
              <a:rPr sz="700" b="1" i="0">
                <a:solidFill>
                  <a:srgbClr val="F2F2F2"/>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2F2F2"/>
                </a:solidFill>
                <a:latin typeface="Trenda IG Text"/>
              </a:rPr>
              <a:t>20 + feedback</a:t>
            </a:r>
          </a:p>
        </p:txBody>
      </p:sp>
      <p:sp>
        <p:nvSpPr>
          <p:cNvPr id="103" name="Shape 102"/>
          <p:cNvSpPr/>
          <p:nvPr/>
        </p:nvSpPr>
        <p:spPr>
          <a:xfrm>
            <a:off x="10307900" y="2240279"/>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2F2F2"/>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2F2F2"/>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2F2F2"/>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EXIT  </a:t>
            </a:r>
          </a:p>
          <a:p>
            <a:pPr>
              <a:spcAft>
                <a:spcPts val="100"/>
              </a:spcAft>
            </a:pPr>
            <a:r>
              <a:rPr sz="700" b="1" i="0">
                <a:solidFill>
                  <a:srgbClr val="F2F2F2"/>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2F2F2"/>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F2F2F2"/>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2F2F2"/>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2F2F2"/>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Governance before agents</a:t>
            </a:r>
          </a:p>
          <a:p>
            <a:pPr>
              <a:spcAft>
                <a:spcPts val="100"/>
              </a:spcAft>
            </a:pPr>
            <a:r>
              <a:rPr sz="700" b="0" i="0">
                <a:solidFill>
                  <a:srgbClr val="B3B3B3"/>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Build and test before release</a:t>
            </a:r>
          </a:p>
          <a:p>
            <a:pPr>
              <a:spcAft>
                <a:spcPts val="100"/>
              </a:spcAft>
            </a:pPr>
            <a:r>
              <a:rPr sz="700" b="0" i="0">
                <a:solidFill>
                  <a:srgbClr val="B3B3B3"/>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Data Cloud before direct</a:t>
            </a:r>
          </a:p>
          <a:p>
            <a:pPr>
              <a:spcAft>
                <a:spcPts val="100"/>
              </a:spcAft>
            </a:pPr>
            <a:r>
              <a:rPr sz="700" b="0" i="0">
                <a:solidFill>
                  <a:srgbClr val="B3B3B3"/>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2F2F2"/>
                </a:solidFill>
                <a:latin typeface="Trenda IG Text"/>
              </a:rPr>
              <a:t>Nothing in Phase 5 touches real patients until Phases 2 and 4 pass their exits. </a:t>
            </a:r>
            <a:r>
              <a:rPr sz="700" b="0" i="0">
                <a:solidFill>
                  <a:srgbClr val="B3B3B3"/>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to a person</a:t>
            </a:r>
          </a:p>
          <a:p>
            <a:pPr>
              <a:spcAft>
                <a:spcPts val="100"/>
              </a:spcAft>
            </a:pPr>
            <a:r>
              <a:rPr sz="70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7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7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SQUAD</a:t>
            </a:r>
            <a:r>
              <a:rPr sz="700" b="0" i="0">
                <a:solidFill>
                  <a:srgbClr val="B3B3B3"/>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700" b="1" i="0">
                <a:solidFill>
                  <a:srgbClr val="F2F2F2"/>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700" b="1" i="0">
                <a:solidFill>
                  <a:srgbClr val="F2F2F2"/>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overnight. </a:t>
            </a:r>
            <a:r>
              <a:rPr sz="700" b="1" i="0">
                <a:solidFill>
                  <a:srgbClr val="F2F2F2"/>
                </a:solidFill>
                <a:latin typeface="Trenda IG Text"/>
              </a:rPr>
              <a:t>Developer </a:t>
            </a:r>
            <a:r>
              <a:rPr sz="700" b="0" i="0">
                <a:solidFill>
                  <a:srgbClr val="B3B3B3"/>
                </a:solidFill>
                <a:latin typeface="Trenda IG Text"/>
              </a:rPr>
              <a:t>directs and approves. </a:t>
            </a:r>
            <a:r>
              <a:rPr sz="700" b="1" i="0">
                <a:solidFill>
                  <a:srgbClr val="F2F2F2"/>
                </a:solidFill>
                <a:latin typeface="Trenda IG Text"/>
              </a:rPr>
              <a:t>QA </a:t>
            </a:r>
            <a:r>
              <a:rPr sz="700" b="0" i="0">
                <a:solidFill>
                  <a:srgbClr val="B3B3B3"/>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POD</a:t>
            </a:r>
            <a:r>
              <a:rPr sz="700" b="0" i="0">
                <a:solidFill>
                  <a:srgbClr val="B3B3B3"/>
                </a:solidFill>
                <a:latin typeface="Trenda IG Text"/>
              </a:rPr>
              <a:t>   what changes for every pod</a:t>
            </a:r>
          </a:p>
        </p:txBody>
      </p:sp>
      <p:sp>
        <p:nvSpPr>
          <p:cNvPr id="31" name="Text 29"/>
          <p:cNvSpPr txBox="1"/>
          <p:nvPr/>
        </p:nvSpPr>
        <p:spPr>
          <a:xfrm>
            <a:off x="5608320" y="1517904"/>
            <a:ext cx="914400" cy="164592"/>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32" name="Text 30"/>
          <p:cNvSpPr txBox="1"/>
          <p:nvPr/>
        </p:nvSpPr>
        <p:spPr>
          <a:xfrm>
            <a:off x="6614160" y="1517904"/>
            <a:ext cx="1280160" cy="164592"/>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33" name="Shape 31"/>
          <p:cNvSpPr/>
          <p:nvPr/>
        </p:nvSpPr>
        <p:spPr>
          <a:xfrm>
            <a:off x="4364736" y="1700784"/>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2"/>
          <p:cNvSpPr txBox="1"/>
          <p:nvPr/>
        </p:nvSpPr>
        <p:spPr>
          <a:xfrm>
            <a:off x="4437888" y="1700784"/>
            <a:ext cx="1188720" cy="228600"/>
          </a:xfrm>
          <a:prstGeom prst="rect">
            <a:avLst/>
          </a:prstGeom>
          <a:noFill/>
        </p:spPr>
        <p:txBody>
          <a:bodyPr wrap="square" lIns="0" rIns="0" tIns="0" bIns="0" anchor="ctr">
            <a:spAutoFit/>
          </a:bodyPr>
          <a:lstStyle/>
          <a:p>
            <a:r>
              <a:rPr sz="700" b="1" i="0">
                <a:solidFill>
                  <a:srgbClr val="F2F2F2"/>
                </a:solidFill>
                <a:latin typeface="Trenda IG Text"/>
              </a:rPr>
              <a:t>New engineer productive</a:t>
            </a:r>
          </a:p>
        </p:txBody>
      </p:sp>
      <p:sp>
        <p:nvSpPr>
          <p:cNvPr id="35" name="Text 33"/>
          <p:cNvSpPr txBox="1"/>
          <p:nvPr/>
        </p:nvSpPr>
        <p:spPr>
          <a:xfrm>
            <a:off x="5608320" y="1700784"/>
            <a:ext cx="987552" cy="228600"/>
          </a:xfrm>
          <a:prstGeom prst="rect">
            <a:avLst/>
          </a:prstGeom>
          <a:noFill/>
        </p:spPr>
        <p:txBody>
          <a:bodyPr wrap="square" lIns="0" rIns="0" tIns="0" bIns="0" anchor="ctr">
            <a:spAutoFit/>
          </a:bodyPr>
          <a:lstStyle/>
          <a:p>
            <a:r>
              <a:rPr sz="700" b="0" i="0">
                <a:solidFill>
                  <a:srgbClr val="B3B3B3"/>
                </a:solidFill>
                <a:latin typeface="Trenda IG Text"/>
              </a:rPr>
              <a:t>4-6 weeks</a:t>
            </a:r>
          </a:p>
        </p:txBody>
      </p:sp>
      <p:sp>
        <p:nvSpPr>
          <p:cNvPr id="36" name="Text 34"/>
          <p:cNvSpPr txBox="1"/>
          <p:nvPr/>
        </p:nvSpPr>
        <p:spPr>
          <a:xfrm>
            <a:off x="6614160" y="1700784"/>
            <a:ext cx="1429512" cy="228600"/>
          </a:xfrm>
          <a:prstGeom prst="rect">
            <a:avLst/>
          </a:prstGeom>
          <a:noFill/>
        </p:spPr>
        <p:txBody>
          <a:bodyPr wrap="square" lIns="0" rIns="0" tIns="0" bIns="0" anchor="ctr">
            <a:spAutoFit/>
          </a:bodyPr>
          <a:lstStyle/>
          <a:p>
            <a:r>
              <a:rPr sz="700" b="1" i="0">
                <a:solidFill>
                  <a:srgbClr val="00D6F2"/>
                </a:solidFill>
                <a:latin typeface="Trenda IG Text"/>
              </a:rPr>
              <a:t>about 1 week</a:t>
            </a:r>
          </a:p>
        </p:txBody>
      </p:sp>
      <p:sp>
        <p:nvSpPr>
          <p:cNvPr id="37" name="Shape 35"/>
          <p:cNvSpPr/>
          <p:nvPr/>
        </p:nvSpPr>
        <p:spPr>
          <a:xfrm>
            <a:off x="4364736" y="1965960"/>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4437888" y="1965960"/>
            <a:ext cx="1188720" cy="228600"/>
          </a:xfrm>
          <a:prstGeom prst="rect">
            <a:avLst/>
          </a:prstGeom>
          <a:noFill/>
        </p:spPr>
        <p:txBody>
          <a:bodyPr wrap="square" lIns="0" rIns="0" tIns="0" bIns="0" anchor="ctr">
            <a:spAutoFit/>
          </a:bodyPr>
          <a:lstStyle/>
          <a:p>
            <a:r>
              <a:rPr sz="700" b="1" i="0">
                <a:solidFill>
                  <a:srgbClr val="F2F2F2"/>
                </a:solidFill>
                <a:latin typeface="Trenda IG Text"/>
              </a:rPr>
              <a:t>Delivery each day</a:t>
            </a:r>
          </a:p>
        </p:txBody>
      </p:sp>
      <p:sp>
        <p:nvSpPr>
          <p:cNvPr id="39" name="Text 37"/>
          <p:cNvSpPr txBox="1"/>
          <p:nvPr/>
        </p:nvSpPr>
        <p:spPr>
          <a:xfrm>
            <a:off x="5608320" y="1965960"/>
            <a:ext cx="987552" cy="228600"/>
          </a:xfrm>
          <a:prstGeom prst="rect">
            <a:avLst/>
          </a:prstGeom>
          <a:noFill/>
        </p:spPr>
        <p:txBody>
          <a:bodyPr wrap="square" lIns="0" rIns="0" tIns="0" bIns="0" anchor="ctr">
            <a:spAutoFit/>
          </a:bodyPr>
          <a:lstStyle/>
          <a:p>
            <a:r>
              <a:rPr sz="700" b="0" i="0">
                <a:solidFill>
                  <a:srgbClr val="B3B3B3"/>
                </a:solidFill>
                <a:latin typeface="Trenda IG Text"/>
              </a:rPr>
              <a:t>office hours</a:t>
            </a:r>
          </a:p>
        </p:txBody>
      </p:sp>
      <p:sp>
        <p:nvSpPr>
          <p:cNvPr id="40" name="Text 38"/>
          <p:cNvSpPr txBox="1"/>
          <p:nvPr/>
        </p:nvSpPr>
        <p:spPr>
          <a:xfrm>
            <a:off x="6614160" y="1965960"/>
            <a:ext cx="1429512" cy="228600"/>
          </a:xfrm>
          <a:prstGeom prst="rect">
            <a:avLst/>
          </a:prstGeom>
          <a:noFill/>
        </p:spPr>
        <p:txBody>
          <a:bodyPr wrap="square" lIns="0" rIns="0" tIns="0" bIns="0" anchor="ctr">
            <a:spAutoFit/>
          </a:bodyPr>
          <a:lstStyle/>
          <a:p>
            <a:r>
              <a:rPr sz="700" b="1" i="0">
                <a:solidFill>
                  <a:srgbClr val="00D6F2"/>
                </a:solidFill>
                <a:latin typeface="Trenda IG Text"/>
              </a:rPr>
              <a:t>about 20 hours</a:t>
            </a:r>
          </a:p>
        </p:txBody>
      </p:sp>
      <p:sp>
        <p:nvSpPr>
          <p:cNvPr id="41" name="Shape 39"/>
          <p:cNvSpPr/>
          <p:nvPr/>
        </p:nvSpPr>
        <p:spPr>
          <a:xfrm>
            <a:off x="4364736" y="2231136"/>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0"/>
          <p:cNvSpPr txBox="1"/>
          <p:nvPr/>
        </p:nvSpPr>
        <p:spPr>
          <a:xfrm>
            <a:off x="4437888" y="2231136"/>
            <a:ext cx="1188720" cy="228600"/>
          </a:xfrm>
          <a:prstGeom prst="rect">
            <a:avLst/>
          </a:prstGeom>
          <a:noFill/>
        </p:spPr>
        <p:txBody>
          <a:bodyPr wrap="square" lIns="0" rIns="0" tIns="0" bIns="0" anchor="ctr">
            <a:spAutoFit/>
          </a:bodyPr>
          <a:lstStyle/>
          <a:p>
            <a:r>
              <a:rPr sz="700" b="1" i="0">
                <a:solidFill>
                  <a:srgbClr val="F2F2F2"/>
                </a:solidFill>
                <a:latin typeface="Trenda IG Text"/>
              </a:rPr>
              <a:t>Changes checked</a:t>
            </a:r>
          </a:p>
        </p:txBody>
      </p:sp>
      <p:sp>
        <p:nvSpPr>
          <p:cNvPr id="43" name="Text 41"/>
          <p:cNvSpPr txBox="1"/>
          <p:nvPr/>
        </p:nvSpPr>
        <p:spPr>
          <a:xfrm>
            <a:off x="5608320" y="2231136"/>
            <a:ext cx="987552" cy="228600"/>
          </a:xfrm>
          <a:prstGeom prst="rect">
            <a:avLst/>
          </a:prstGeom>
          <a:noFill/>
        </p:spPr>
        <p:txBody>
          <a:bodyPr wrap="square" lIns="0" rIns="0" tIns="0" bIns="0" anchor="ctr">
            <a:spAutoFit/>
          </a:bodyPr>
          <a:lstStyle/>
          <a:p>
            <a:r>
              <a:rPr sz="700" b="0" i="0">
                <a:solidFill>
                  <a:srgbClr val="B3B3B3"/>
                </a:solidFill>
                <a:latin typeface="Trenda IG Text"/>
              </a:rPr>
              <a:t>depends on reviewer</a:t>
            </a:r>
          </a:p>
        </p:txBody>
      </p:sp>
      <p:sp>
        <p:nvSpPr>
          <p:cNvPr id="44" name="Text 42"/>
          <p:cNvSpPr txBox="1"/>
          <p:nvPr/>
        </p:nvSpPr>
        <p:spPr>
          <a:xfrm>
            <a:off x="6614160" y="2231136"/>
            <a:ext cx="1429512" cy="228600"/>
          </a:xfrm>
          <a:prstGeom prst="rect">
            <a:avLst/>
          </a:prstGeom>
          <a:noFill/>
        </p:spPr>
        <p:txBody>
          <a:bodyPr wrap="square" lIns="0" rIns="0" tIns="0" bIns="0" anchor="ctr">
            <a:spAutoFit/>
          </a:bodyPr>
          <a:lstStyle/>
          <a:p>
            <a:r>
              <a:rPr sz="700" b="1" i="0">
                <a:solidFill>
                  <a:srgbClr val="00D6F2"/>
                </a:solidFill>
                <a:latin typeface="Trenda IG Text"/>
              </a:rPr>
              <a:t>100%, same standards</a:t>
            </a:r>
          </a:p>
        </p:txBody>
      </p:sp>
      <p:sp>
        <p:nvSpPr>
          <p:cNvPr id="45" name="Shape 43"/>
          <p:cNvSpPr/>
          <p:nvPr/>
        </p:nvSpPr>
        <p:spPr>
          <a:xfrm>
            <a:off x="4364736" y="2496312"/>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4"/>
          <p:cNvSpPr txBox="1"/>
          <p:nvPr/>
        </p:nvSpPr>
        <p:spPr>
          <a:xfrm>
            <a:off x="4437888" y="2496312"/>
            <a:ext cx="1188720" cy="228600"/>
          </a:xfrm>
          <a:prstGeom prst="rect">
            <a:avLst/>
          </a:prstGeom>
          <a:noFill/>
        </p:spPr>
        <p:txBody>
          <a:bodyPr wrap="square" lIns="0" rIns="0" tIns="0" bIns="0" anchor="ctr">
            <a:spAutoFit/>
          </a:bodyPr>
          <a:lstStyle/>
          <a:p>
            <a:r>
              <a:rPr sz="700" b="1" i="0">
                <a:solidFill>
                  <a:srgbClr val="F2F2F2"/>
                </a:solidFill>
                <a:latin typeface="Trenda IG Text"/>
              </a:rPr>
              <a:t>New pod live</a:t>
            </a:r>
          </a:p>
        </p:txBody>
      </p:sp>
      <p:sp>
        <p:nvSpPr>
          <p:cNvPr id="47" name="Text 45"/>
          <p:cNvSpPr txBox="1"/>
          <p:nvPr/>
        </p:nvSpPr>
        <p:spPr>
          <a:xfrm>
            <a:off x="5608320" y="2496312"/>
            <a:ext cx="987552" cy="228600"/>
          </a:xfrm>
          <a:prstGeom prst="rect">
            <a:avLst/>
          </a:prstGeom>
          <a:noFill/>
        </p:spPr>
        <p:txBody>
          <a:bodyPr wrap="square" lIns="0" rIns="0" tIns="0" bIns="0" anchor="ctr">
            <a:spAutoFit/>
          </a:bodyPr>
          <a:lstStyle/>
          <a:p>
            <a:r>
              <a:rPr sz="700" b="0" i="0">
                <a:solidFill>
                  <a:srgbClr val="B3B3B3"/>
                </a:solidFill>
                <a:latin typeface="Trenda IG Text"/>
              </a:rPr>
              <a:t>about 2 months</a:t>
            </a:r>
          </a:p>
        </p:txBody>
      </p:sp>
      <p:sp>
        <p:nvSpPr>
          <p:cNvPr id="48" name="Text 46"/>
          <p:cNvSpPr txBox="1"/>
          <p:nvPr/>
        </p:nvSpPr>
        <p:spPr>
          <a:xfrm>
            <a:off x="6614160" y="2496312"/>
            <a:ext cx="1429512" cy="228600"/>
          </a:xfrm>
          <a:prstGeom prst="rect">
            <a:avLst/>
          </a:prstGeom>
          <a:noFill/>
        </p:spPr>
        <p:txBody>
          <a:bodyPr wrap="square" lIns="0" rIns="0" tIns="0" bIns="0" anchor="ctr">
            <a:spAutoFit/>
          </a:bodyPr>
          <a:lstStyle/>
          <a:p>
            <a:r>
              <a:rPr sz="700" b="1" i="0">
                <a:solidFill>
                  <a:srgbClr val="00D6F2"/>
                </a:solidFill>
                <a:latin typeface="Trenda IG Text"/>
              </a:rPr>
              <a:t>2 weeks</a:t>
            </a:r>
          </a:p>
        </p:txBody>
      </p:sp>
      <p:sp>
        <p:nvSpPr>
          <p:cNvPr id="49" name="Text 47"/>
          <p:cNvSpPr txBox="1"/>
          <p:nvPr/>
        </p:nvSpPr>
        <p:spPr>
          <a:xfrm>
            <a:off x="4364736" y="2779776"/>
            <a:ext cx="3459480" cy="329184"/>
          </a:xfrm>
          <a:prstGeom prst="rect">
            <a:avLst/>
          </a:prstGeom>
          <a:noFill/>
        </p:spPr>
        <p:txBody>
          <a:bodyPr wrap="square" lIns="0" rIns="0" tIns="0" bIns="0" anchor="ctr">
            <a:spAutoFit/>
          </a:bodyPr>
          <a:lstStyle/>
          <a:p>
            <a:r>
              <a:rPr sz="700" b="0" i="0">
                <a:solidFill>
                  <a:srgbClr val="8C8C8C"/>
                </a:solidFill>
                <a:latin typeface="Trenda IG Text"/>
              </a:rPr>
              <a:t>Pilot targets, baselined per pod.</a:t>
            </a:r>
          </a:p>
        </p:txBody>
      </p:sp>
      <p:sp>
        <p:nvSpPr>
          <p:cNvPr id="50" name="Shape 48"/>
          <p:cNvSpPr/>
          <p:nvPr/>
        </p:nvSpPr>
        <p:spPr>
          <a:xfrm>
            <a:off x="806196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9"/>
          <p:cNvSpPr/>
          <p:nvPr/>
        </p:nvSpPr>
        <p:spPr>
          <a:xfrm>
            <a:off x="806196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0"/>
          <p:cNvSpPr txBox="1"/>
          <p:nvPr/>
        </p:nvSpPr>
        <p:spPr>
          <a:xfrm>
            <a:off x="8171687"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BUILD AND RUN</a:t>
            </a:r>
            <a:r>
              <a:rPr sz="700" b="0" i="0">
                <a:solidFill>
                  <a:srgbClr val="B3B3B3"/>
                </a:solidFill>
                <a:latin typeface="Trenda IG Text"/>
              </a:rPr>
              <a:t>   fixed fee, paid by gate</a:t>
            </a:r>
          </a:p>
        </p:txBody>
      </p:sp>
      <p:sp>
        <p:nvSpPr>
          <p:cNvPr id="53" name="Shape 51"/>
          <p:cNvSpPr/>
          <p:nvPr/>
        </p:nvSpPr>
        <p:spPr>
          <a:xfrm>
            <a:off x="8189976"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17</a:t>
            </a:r>
          </a:p>
        </p:txBody>
      </p:sp>
      <p:sp>
        <p:nvSpPr>
          <p:cNvPr id="55" name="Text 53"/>
          <p:cNvSpPr txBox="1"/>
          <p:nvPr/>
        </p:nvSpPr>
        <p:spPr>
          <a:xfrm>
            <a:off x="8281416" y="1993392"/>
            <a:ext cx="976376" cy="420624"/>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6" name="Shape 54"/>
          <p:cNvSpPr/>
          <p:nvPr/>
        </p:nvSpPr>
        <p:spPr>
          <a:xfrm>
            <a:off x="9367520"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5"/>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18</a:t>
            </a:r>
          </a:p>
        </p:txBody>
      </p:sp>
      <p:sp>
        <p:nvSpPr>
          <p:cNvPr id="58" name="Text 56"/>
          <p:cNvSpPr txBox="1"/>
          <p:nvPr/>
        </p:nvSpPr>
        <p:spPr>
          <a:xfrm>
            <a:off x="9458960" y="1993392"/>
            <a:ext cx="976376" cy="420624"/>
          </a:xfrm>
          <a:prstGeom prst="rect">
            <a:avLst/>
          </a:prstGeom>
          <a:noFill/>
        </p:spPr>
        <p:txBody>
          <a:bodyPr wrap="square" lIns="0" rIns="0" tIns="0" bIns="0" anchor="t">
            <a:spAutoFit/>
          </a:bodyPr>
          <a:lstStyle/>
          <a:p>
            <a:r>
              <a:rPr sz="700" b="0" i="0">
                <a:solidFill>
                  <a:srgbClr val="B3B3B3"/>
                </a:solidFill>
                <a:latin typeface="Trenda IG Text"/>
              </a:rPr>
              <a:t>months, seven phases</a:t>
            </a:r>
          </a:p>
        </p:txBody>
      </p:sp>
      <p:sp>
        <p:nvSpPr>
          <p:cNvPr id="59" name="Shape 57"/>
          <p:cNvSpPr/>
          <p:nvPr/>
        </p:nvSpPr>
        <p:spPr>
          <a:xfrm>
            <a:off x="10545064"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$4.79M</a:t>
            </a:r>
          </a:p>
        </p:txBody>
      </p:sp>
      <p:sp>
        <p:nvSpPr>
          <p:cNvPr id="61" name="Text 59"/>
          <p:cNvSpPr txBox="1"/>
          <p:nvPr/>
        </p:nvSpPr>
        <p:spPr>
          <a:xfrm>
            <a:off x="10636504" y="1993392"/>
            <a:ext cx="976376" cy="420624"/>
          </a:xfrm>
          <a:prstGeom prst="rect">
            <a:avLst/>
          </a:prstGeom>
          <a:noFill/>
        </p:spPr>
        <p:txBody>
          <a:bodyPr wrap="square" lIns="0" rIns="0" tIns="0" bIns="0" anchor="t">
            <a:spAutoFit/>
          </a:bodyPr>
          <a:lstStyle/>
          <a:p>
            <a:r>
              <a:rPr sz="700" b="0" i="0">
                <a:solidFill>
                  <a:srgbClr val="B3B3B3"/>
                </a:solidFill>
                <a:latin typeface="Trenda IG Text"/>
              </a:rPr>
              <a:t>fixed fee, paid as each gate is signed</a:t>
            </a:r>
          </a:p>
        </p:txBody>
      </p:sp>
      <p:sp>
        <p:nvSpPr>
          <p:cNvPr id="62" name="Text 60"/>
          <p:cNvSpPr txBox="1"/>
          <p:nvPr/>
        </p:nvSpPr>
        <p:spPr>
          <a:xfrm>
            <a:off x="8189976" y="2542032"/>
            <a:ext cx="3459480" cy="457200"/>
          </a:xfrm>
          <a:prstGeom prst="rect">
            <a:avLst/>
          </a:prstGeom>
          <a:noFill/>
        </p:spPr>
        <p:txBody>
          <a:bodyPr wrap="square" lIns="0" rIns="0" tIns="0" bIns="0" anchor="t">
            <a:spAutoFit/>
          </a:bodyPr>
          <a:lstStyle/>
          <a:p>
            <a:r>
              <a:rPr sz="700" b="1" i="0">
                <a:solidFill>
                  <a:srgbClr val="F2F2F2"/>
                </a:solidFill>
                <a:latin typeface="Trenda IG Text"/>
              </a:rPr>
              <a:t>From month 19 </a:t>
            </a:r>
            <a:r>
              <a:rPr sz="700" b="0" i="0">
                <a:solidFill>
                  <a:srgbClr val="B3B3B3"/>
                </a:solidFill>
                <a:latin typeface="Trenda IG Text"/>
              </a:rPr>
              <a:t>a run team of 4 keeps the graph, agents and evals current: about $1.24M a year with platform usage.</a:t>
            </a:r>
          </a:p>
        </p:txBody>
      </p:sp>
      <p:sp>
        <p:nvSpPr>
          <p:cNvPr id="63" name="Shape 61"/>
          <p:cNvSpPr/>
          <p:nvPr/>
        </p:nvSpPr>
        <p:spPr>
          <a:xfrm>
            <a:off x="411480" y="3291840"/>
            <a:ext cx="1136599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2"/>
          <p:cNvSpPr/>
          <p:nvPr/>
        </p:nvSpPr>
        <p:spPr>
          <a:xfrm>
            <a:off x="411480" y="3291840"/>
            <a:ext cx="1136599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3"/>
          <p:cNvSpPr txBox="1"/>
          <p:nvPr/>
        </p:nvSpPr>
        <p:spPr>
          <a:xfrm>
            <a:off x="521208" y="3291840"/>
            <a:ext cx="11146536" cy="256032"/>
          </a:xfrm>
          <a:prstGeom prst="rect">
            <a:avLst/>
          </a:prstGeom>
          <a:noFill/>
        </p:spPr>
        <p:txBody>
          <a:bodyPr wrap="square" lIns="0" rIns="0" tIns="0" bIns="0" anchor="ctr">
            <a:spAutoFit/>
          </a:bodyPr>
          <a:lstStyle/>
          <a:p>
            <a:r>
              <a:rPr sz="700" b="1" i="0" spc="120">
                <a:solidFill>
                  <a:srgbClr val="F2F2F2"/>
                </a:solidFill>
                <a:latin typeface="Trenda IG Text"/>
              </a:rPr>
              <a:t>THE RETURN</a:t>
            </a:r>
            <a:r>
              <a:rPr sz="700" b="0" i="0">
                <a:solidFill>
                  <a:srgbClr val="B3B3B3"/>
                </a:solidFill>
                <a:latin typeface="Trenda IG Text"/>
              </a:rPr>
              <a:t>   target · first full year after go-live</a:t>
            </a:r>
          </a:p>
        </p:txBody>
      </p:sp>
      <p:sp>
        <p:nvSpPr>
          <p:cNvPr id="66" name="Shape 64"/>
          <p:cNvSpPr/>
          <p:nvPr/>
        </p:nvSpPr>
        <p:spPr>
          <a:xfrm>
            <a:off x="539496"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5"/>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$16M</a:t>
            </a:r>
          </a:p>
        </p:txBody>
      </p:sp>
      <p:sp>
        <p:nvSpPr>
          <p:cNvPr id="68" name="Text 66"/>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today</a:t>
            </a:r>
          </a:p>
        </p:txBody>
      </p:sp>
      <p:sp>
        <p:nvSpPr>
          <p:cNvPr id="69" name="Text 67"/>
          <p:cNvSpPr txBox="1"/>
          <p:nvPr/>
        </p:nvSpPr>
        <p:spPr>
          <a:xfrm>
            <a:off x="667512"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as provided by Ascension</a:t>
            </a:r>
          </a:p>
        </p:txBody>
      </p:sp>
      <p:sp>
        <p:nvSpPr>
          <p:cNvPr id="70" name="Shape 68"/>
          <p:cNvSpPr/>
          <p:nvPr/>
        </p:nvSpPr>
        <p:spPr>
          <a:xfrm>
            <a:off x="2427732"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9"/>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$7M</a:t>
            </a:r>
          </a:p>
        </p:txBody>
      </p:sp>
      <p:sp>
        <p:nvSpPr>
          <p:cNvPr id="72" name="Text 70"/>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with the harness</a:t>
            </a:r>
          </a:p>
        </p:txBody>
      </p:sp>
      <p:sp>
        <p:nvSpPr>
          <p:cNvPr id="73" name="Text 71"/>
          <p:cNvSpPr txBox="1"/>
          <p:nvPr/>
        </p:nvSpPr>
        <p:spPr>
          <a:xfrm>
            <a:off x="2555748"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agents and run team included</a:t>
            </a:r>
          </a:p>
        </p:txBody>
      </p:sp>
      <p:sp>
        <p:nvSpPr>
          <p:cNvPr id="74" name="Differentiator Border 73"/>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334255" y="3657600"/>
            <a:ext cx="1760220" cy="145389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D6F2"/>
                </a:solidFill>
                <a:latin typeface="Trenda IG Text"/>
              </a:rPr>
              <a:t>$9M</a:t>
            </a:r>
          </a:p>
        </p:txBody>
      </p:sp>
      <p:sp>
        <p:nvSpPr>
          <p:cNvPr id="77" name="Text 76"/>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saved every year</a:t>
            </a:r>
          </a:p>
        </p:txBody>
      </p:sp>
      <p:sp>
        <p:nvSpPr>
          <p:cNvPr id="78" name="Text 77"/>
          <p:cNvSpPr txBox="1"/>
          <p:nvPr/>
        </p:nvSpPr>
        <p:spPr>
          <a:xfrm>
            <a:off x="4443983"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from go-live</a:t>
            </a:r>
          </a:p>
        </p:txBody>
      </p:sp>
      <p:sp>
        <p:nvSpPr>
          <p:cNvPr id="79" name="Shape 78"/>
          <p:cNvSpPr/>
          <p:nvPr/>
        </p:nvSpPr>
        <p:spPr>
          <a:xfrm>
            <a:off x="6204204"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$5.0M</a:t>
            </a:r>
          </a:p>
        </p:txBody>
      </p:sp>
      <p:sp>
        <p:nvSpPr>
          <p:cNvPr id="81" name="Text 80"/>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invested once</a:t>
            </a:r>
          </a:p>
        </p:txBody>
      </p:sp>
      <p:sp>
        <p:nvSpPr>
          <p:cNvPr id="82" name="Text 81"/>
          <p:cNvSpPr txBox="1"/>
          <p:nvPr/>
        </p:nvSpPr>
        <p:spPr>
          <a:xfrm>
            <a:off x="6332220"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$4.79M build + $0.23M usage</a:t>
            </a:r>
          </a:p>
        </p:txBody>
      </p:sp>
      <p:sp>
        <p:nvSpPr>
          <p:cNvPr id="83" name="Shape 82"/>
          <p:cNvSpPr/>
          <p:nvPr/>
        </p:nvSpPr>
        <p:spPr>
          <a:xfrm>
            <a:off x="8220456" y="3639312"/>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D6F2"/>
                </a:solidFill>
                <a:latin typeface="Trenda IG Text"/>
              </a:rPr>
              <a:t>Paid back in under 7 months</a:t>
            </a:r>
          </a:p>
          <a:p>
            <a:pPr>
              <a:spcAft>
                <a:spcPts val="200"/>
              </a:spcAft>
            </a:pPr>
            <a:r>
              <a:rPr sz="700" b="0" i="0">
                <a:solidFill>
                  <a:srgbClr val="B3B3B3"/>
                </a:solidFill>
                <a:latin typeface="Trenda IG Text"/>
              </a:rPr>
              <a:t>80% first-year return; 1.8x the investment back in year one</a:t>
            </a:r>
          </a:p>
        </p:txBody>
      </p:sp>
      <p:sp>
        <p:nvSpPr>
          <p:cNvPr id="86" name="Shape 85"/>
          <p:cNvSpPr/>
          <p:nvPr/>
        </p:nvSpPr>
        <p:spPr>
          <a:xfrm>
            <a:off x="8220456" y="4430268"/>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FFD700"/>
                </a:solidFill>
                <a:latin typeface="Trenda IG Text"/>
              </a:rPr>
              <a:t>Floor we commit to</a:t>
            </a:r>
          </a:p>
          <a:p>
            <a:pPr>
              <a:spcAft>
                <a:spcPts val="200"/>
              </a:spcAft>
            </a:pPr>
            <a:r>
              <a:rPr sz="700" b="0" i="0">
                <a:solidFill>
                  <a:srgbClr val="B3B3B3"/>
                </a:solidFill>
                <a:latin typeface="Trenda IG Text"/>
              </a:rPr>
              <a:t>20-25% lower net run cost per pod, against its own baseline</a:t>
            </a:r>
          </a:p>
        </p:txBody>
      </p:sp>
      <p:sp>
        <p:nvSpPr>
          <p:cNvPr id="89" name="Text 88"/>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KEEP IT HONEST</a:t>
            </a:r>
          </a:p>
          <a:p>
            <a:pPr>
              <a:spcAft>
                <a:spcPts val="100"/>
              </a:spcAft>
            </a:pPr>
            <a:r>
              <a:rPr sz="700" b="0" i="0">
                <a:solidFill>
                  <a:srgbClr val="8C8C8C"/>
                </a:solidFill>
                <a:latin typeface="Trenda IG Text"/>
              </a:rPr>
              <a:t>how the numbers hold</a:t>
            </a:r>
          </a:p>
        </p:txBody>
      </p:sp>
      <p:sp>
        <p:nvSpPr>
          <p:cNvPr id="90" name="Shape 89"/>
          <p:cNvSpPr/>
          <p:nvPr/>
        </p:nvSpPr>
        <p:spPr>
          <a:xfrm>
            <a:off x="1645920"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Baseline every pod first</a:t>
            </a:r>
          </a:p>
          <a:p>
            <a:pPr>
              <a:spcAft>
                <a:spcPts val="100"/>
              </a:spcAft>
            </a:pPr>
            <a:r>
              <a:rPr sz="700" b="0" i="0">
                <a:solidFill>
                  <a:srgbClr val="B3B3B3"/>
                </a:solidFill>
                <a:latin typeface="Trenda IG Text"/>
              </a:rPr>
              <a:t>savings counted against each pod's own numbers</a:t>
            </a:r>
          </a:p>
        </p:txBody>
      </p:sp>
      <p:sp>
        <p:nvSpPr>
          <p:cNvPr id="93" name="Shape 92"/>
          <p:cNvSpPr/>
          <p:nvPr/>
        </p:nvSpPr>
        <p:spPr>
          <a:xfrm>
            <a:off x="4201668"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Year 1 at 60-70%</a:t>
            </a:r>
          </a:p>
          <a:p>
            <a:pPr>
              <a:spcAft>
                <a:spcPts val="100"/>
              </a:spcAft>
            </a:pPr>
            <a:r>
              <a:rPr sz="700" b="0" i="0">
                <a:solidFill>
                  <a:srgbClr val="B3B3B3"/>
                </a:solidFill>
                <a:latin typeface="Trenda IG Text"/>
              </a:rPr>
              <a:t>of steady state while pods onboard</a:t>
            </a:r>
          </a:p>
        </p:txBody>
      </p:sp>
      <p:sp>
        <p:nvSpPr>
          <p:cNvPr id="96" name="Shape 95"/>
          <p:cNvSpPr/>
          <p:nvPr/>
        </p:nvSpPr>
        <p:spPr>
          <a:xfrm>
            <a:off x="6757416"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Approvals stay human</a:t>
            </a:r>
          </a:p>
          <a:p>
            <a:pPr>
              <a:spcAft>
                <a:spcPts val="100"/>
              </a:spcAft>
            </a:pPr>
            <a:r>
              <a:rPr sz="700" b="0" i="0">
                <a:solidFill>
                  <a:srgbClr val="B3B3B3"/>
                </a:solidFill>
                <a:latin typeface="Trenda IG Text"/>
              </a:rPr>
              <a:t>UAT and CAB take the same time</a:t>
            </a:r>
          </a:p>
        </p:txBody>
      </p:sp>
      <p:sp>
        <p:nvSpPr>
          <p:cNvPr id="99" name="Shape 98"/>
          <p:cNvSpPr/>
          <p:nvPr/>
        </p:nvSpPr>
        <p:spPr>
          <a:xfrm>
            <a:off x="9313164"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Delivery only</a:t>
            </a:r>
          </a:p>
          <a:p>
            <a:pPr>
              <a:spcAft>
                <a:spcPts val="100"/>
              </a:spcAft>
            </a:pPr>
            <a:r>
              <a:rPr sz="700" b="0" i="0">
                <a:solidFill>
                  <a:srgbClr val="B3B3B3"/>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