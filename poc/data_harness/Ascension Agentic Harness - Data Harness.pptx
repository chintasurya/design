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3" r:id="rId15"/>
    <p:sldId id="324" r:id="rId16"/>
    <p:sldId id="325"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what the agents read.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The delivery path is unchanged; the campaign path builds and tests first, then a masked pre-send review, then release through the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8.png"/><Relationship Id="rId7" Type="http://schemas.openxmlformats.org/officeDocument/2006/relationships/image" Target="../media/image22.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2.png"/><Relationship Id="rId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harness,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WHAT AGENTS READ</a:t>
            </a:r>
          </a:p>
        </p:txBody>
      </p:sp>
      <p:sp>
        <p:nvSpPr>
          <p:cNvPr id="7" name="Shape 6"/>
          <p:cNvSpPr/>
          <p:nvPr/>
        </p:nvSpPr>
        <p:spPr>
          <a:xfrm>
            <a:off x="411480" y="1444752"/>
            <a:ext cx="2514600"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6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6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6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6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52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6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6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580" b="1" i="0" spc="120">
                <a:solidFill>
                  <a:srgbClr val="FF0069"/>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2B0716"/>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63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62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000000"/>
                </a:solidFill>
                <a:latin typeface="Trenda IG Text"/>
              </a:rPr>
              <a:t>DELIVERY AGENTS</a:t>
            </a:r>
            <a:r>
              <a:rPr sz="700" b="0" i="0">
                <a:solidFill>
                  <a:srgbClr val="000000"/>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6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600" b="0" i="0">
                <a:solidFill>
                  <a:srgbClr val="BFBFBF"/>
                </a:solidFill>
                <a:latin typeface="Trenda IG Text"/>
              </a:rPr>
              <a:t>Jira story and Confluence design into a clear brief</a:t>
            </a:r>
          </a:p>
        </p:txBody>
      </p:sp>
      <p:sp>
        <p:nvSpPr>
          <p:cNvPr id="41" name="Shape 34"/>
          <p:cNvSpPr/>
          <p:nvPr/>
        </p:nvSpPr>
        <p:spPr>
          <a:xfrm>
            <a:off x="7955279" y="1786737"/>
            <a:ext cx="822960" cy="146304"/>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600" b="0" i="0">
                <a:solidFill>
                  <a:srgbClr val="BFBFBF"/>
                </a:solidFill>
                <a:latin typeface="Trenda IG Text"/>
              </a:rPr>
              <a:t>Impact, reuse and risk from the graph; the change plan</a:t>
            </a:r>
          </a:p>
        </p:txBody>
      </p:sp>
      <p:sp>
        <p:nvSpPr>
          <p:cNvPr id="48" name="Shape 41"/>
          <p:cNvSpPr/>
          <p:nvPr/>
        </p:nvSpPr>
        <p:spPr>
          <a:xfrm>
            <a:off x="7955279" y="2039112"/>
            <a:ext cx="822960" cy="146304"/>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6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560" b="1" i="0" spc="80">
                <a:solidFill>
                  <a:srgbClr val="56E13B"/>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600" b="0" i="0">
                <a:solidFill>
                  <a:srgbClr val="BFBFBF"/>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6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6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560" b="1" i="0" spc="80">
                <a:solidFill>
                  <a:srgbClr val="56E13B"/>
                </a:solidFill>
                <a:latin typeface="Trenda IG Text"/>
              </a:rPr>
              <a:t>AI-LED</a:t>
            </a:r>
          </a:p>
        </p:txBody>
      </p:sp>
      <p:sp>
        <p:nvSpPr>
          <p:cNvPr id="78" name="Shape 71"/>
          <p:cNvSpPr/>
          <p:nvPr/>
        </p:nvSpPr>
        <p:spPr>
          <a:xfrm>
            <a:off x="3063240" y="3321100"/>
            <a:ext cx="5806440"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6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560" b="1" i="0" spc="80">
                <a:solidFill>
                  <a:srgbClr val="00D6F2"/>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6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560" b="1" i="0" spc="80">
                <a:solidFill>
                  <a:srgbClr val="56E13B"/>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6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560" b="1" i="0" spc="80">
                <a:solidFill>
                  <a:srgbClr val="FF0069"/>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600" b="0" i="0">
                <a:solidFill>
                  <a:srgbClr val="BFBFBF"/>
                </a:solidFill>
                <a:latin typeface="Trenda IG Text"/>
              </a:rPr>
              <a:t>Platform-ready specs; journeys through Marketing Cloud's native automation</a:t>
            </a:r>
          </a:p>
        </p:txBody>
      </p:sp>
      <p:sp>
        <p:nvSpPr>
          <p:cNvPr id="113" name="Shape 106"/>
          <p:cNvSpPr/>
          <p:nvPr/>
        </p:nvSpPr>
        <p:spPr>
          <a:xfrm>
            <a:off x="7955279" y="4694529"/>
            <a:ext cx="822960" cy="146304"/>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6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560" b="1" i="0" spc="80">
                <a:solidFill>
                  <a:srgbClr val="FF0069"/>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6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560" b="1" i="0" spc="80">
                <a:solidFill>
                  <a:srgbClr val="56E13B"/>
                </a:solidFill>
                <a:latin typeface="Trenda IG Text"/>
              </a:rPr>
              <a:t>AI-LED</a:t>
            </a:r>
          </a:p>
        </p:txBody>
      </p:sp>
      <p:sp>
        <p:nvSpPr>
          <p:cNvPr id="129" name="Shape 122"/>
          <p:cNvSpPr/>
          <p:nvPr/>
        </p:nvSpPr>
        <p:spPr>
          <a:xfrm>
            <a:off x="9006840" y="1170432"/>
            <a:ext cx="277063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6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660" b="0" i="0">
                <a:solidFill>
                  <a:srgbClr val="FFFFFF"/>
                </a:solidFill>
                <a:latin typeface="Trenda IG Text"/>
              </a:rPr>
              <a:t>Apex, Flows, LWC, sharing, Health Cloud objects</a:t>
            </a:r>
          </a:p>
        </p:txBody>
      </p:sp>
      <p:sp>
        <p:nvSpPr>
          <p:cNvPr id="136" name="Shape 128"/>
          <p:cNvSpPr/>
          <p:nvPr/>
        </p:nvSpPr>
        <p:spPr>
          <a:xfrm>
            <a:off x="9116567" y="2267712"/>
            <a:ext cx="937259"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37259" cy="164592"/>
          </a:xfrm>
          <a:prstGeom prst="rect">
            <a:avLst/>
          </a:prstGeom>
          <a:noFill/>
        </p:spPr>
        <p:txBody>
          <a:bodyPr wrap="square" lIns="0" rIns="0" tIns="0" bIns="0" anchor="ctr">
            <a:spAutoFit/>
          </a:bodyPr>
          <a:lstStyle/>
          <a:p>
            <a:pPr algn="ctr"/>
            <a:r>
              <a:rPr sz="560" b="1" i="0" spc="80">
                <a:solidFill>
                  <a:srgbClr val="00D6F2"/>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FF0069"/>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6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660" b="0" i="0">
                <a:solidFill>
                  <a:srgbClr val="FFFFFF"/>
                </a:solidFill>
                <a:latin typeface="Trenda IG Text"/>
              </a:rPr>
              <a:t>Data Cloud, SFMC SQL, AMPscript, journeys</a:t>
            </a:r>
          </a:p>
        </p:txBody>
      </p:sp>
      <p:sp>
        <p:nvSpPr>
          <p:cNvPr id="142" name="Shape 133"/>
          <p:cNvSpPr/>
          <p:nvPr/>
        </p:nvSpPr>
        <p:spPr>
          <a:xfrm>
            <a:off x="9116567" y="3291840"/>
            <a:ext cx="1490472" cy="164592"/>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490472" cy="164592"/>
          </a:xfrm>
          <a:prstGeom prst="rect">
            <a:avLst/>
          </a:prstGeom>
          <a:noFill/>
        </p:spPr>
        <p:txBody>
          <a:bodyPr wrap="square" lIns="0" rIns="0" tIns="0" bIns="0" anchor="ctr">
            <a:spAutoFit/>
          </a:bodyPr>
          <a:lstStyle/>
          <a:p>
            <a:pPr algn="ctr"/>
            <a:r>
              <a:rPr sz="560" b="1" i="0" spc="80">
                <a:solidFill>
                  <a:srgbClr val="FF0069"/>
                </a:solidFill>
                <a:latin typeface="Trenda IG Text"/>
              </a:rPr>
              <a:t>DELIVERY + CAMPAIGN AGENTS</a:t>
            </a:r>
          </a:p>
        </p:txBody>
      </p:sp>
      <p:sp>
        <p:nvSpPr>
          <p:cNvPr id="144" name="Shape 135"/>
          <p:cNvSpPr/>
          <p:nvPr/>
        </p:nvSpPr>
        <p:spPr>
          <a:xfrm>
            <a:off x="10661903" y="3291840"/>
            <a:ext cx="585216" cy="164592"/>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661903" y="3291840"/>
            <a:ext cx="585216" cy="164592"/>
          </a:xfrm>
          <a:prstGeom prst="rect">
            <a:avLst/>
          </a:prstGeom>
          <a:noFill/>
        </p:spPr>
        <p:txBody>
          <a:bodyPr wrap="square" lIns="0" rIns="0" tIns="0" bIns="0" anchor="ctr">
            <a:spAutoFit/>
          </a:bodyPr>
          <a:lstStyle/>
          <a:p>
            <a:pPr algn="ctr"/>
            <a:r>
              <a:rPr sz="560" b="1" i="0" spc="80">
                <a:solidFill>
                  <a:srgbClr val="FF0069"/>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6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66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2B07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660" b="0" i="0">
                <a:solidFill>
                  <a:srgbClr val="FFFFFF"/>
                </a:solidFill>
                <a:latin typeface="Trenda IG Text"/>
              </a:rPr>
              <a:t>A new pod adds its sources and skills, not new agents.</a:t>
            </a:r>
          </a:p>
        </p:txBody>
      </p:sp>
      <p:sp>
        <p:nvSpPr>
          <p:cNvPr id="151" name="Text 142"/>
          <p:cNvSpPr txBox="1"/>
          <p:nvPr/>
        </p:nvSpPr>
        <p:spPr>
          <a:xfrm>
            <a:off x="411480" y="5559552"/>
            <a:ext cx="1188720" cy="292608"/>
          </a:xfrm>
          <a:prstGeom prst="rect">
            <a:avLst/>
          </a:prstGeom>
          <a:noFill/>
        </p:spPr>
        <p:txBody>
          <a:bodyPr wrap="square" lIns="0" rIns="0" tIns="0" bIns="0" anchor="ctr">
            <a:spAutoFit/>
          </a:bodyPr>
          <a:lstStyle/>
          <a:p>
            <a:r>
              <a:rPr sz="640" b="1" i="0" spc="120">
                <a:solidFill>
                  <a:srgbClr val="00D6F2"/>
                </a:solidFill>
                <a:latin typeface="Trenda IG Text"/>
              </a:rPr>
              <a:t>DELIVERY PATH</a:t>
            </a:r>
          </a:p>
        </p:txBody>
      </p:sp>
      <p:sp>
        <p:nvSpPr>
          <p:cNvPr id="152" name="Shape 143"/>
          <p:cNvSpPr/>
          <p:nvPr/>
        </p:nvSpPr>
        <p:spPr>
          <a:xfrm>
            <a:off x="1645920"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AI build</a:t>
            </a:r>
          </a:p>
        </p:txBody>
      </p:sp>
      <p:cxnSp>
        <p:nvCxnSpPr>
          <p:cNvPr id="154" name="Arrow 145"/>
          <p:cNvCxnSpPr/>
          <p:nvPr/>
        </p:nvCxnSpPr>
        <p:spPr>
          <a:xfrm>
            <a:off x="270662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779776"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779776"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Copado</a:t>
            </a:r>
          </a:p>
        </p:txBody>
      </p:sp>
      <p:cxnSp>
        <p:nvCxnSpPr>
          <p:cNvPr id="157" name="Arrow 148"/>
          <p:cNvCxnSpPr/>
          <p:nvPr/>
        </p:nvCxnSpPr>
        <p:spPr>
          <a:xfrm>
            <a:off x="384048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3913632"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3913632"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Quality gates</a:t>
            </a:r>
          </a:p>
        </p:txBody>
      </p:sp>
      <p:cxnSp>
        <p:nvCxnSpPr>
          <p:cNvPr id="160" name="Arrow 151"/>
          <p:cNvCxnSpPr/>
          <p:nvPr/>
        </p:nvCxnSpPr>
        <p:spPr>
          <a:xfrm>
            <a:off x="497433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047488"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04748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DEV</a:t>
            </a:r>
          </a:p>
        </p:txBody>
      </p:sp>
      <p:cxnSp>
        <p:nvCxnSpPr>
          <p:cNvPr id="163" name="Arrow 154"/>
          <p:cNvCxnSpPr/>
          <p:nvPr/>
        </p:nvCxnSpPr>
        <p:spPr>
          <a:xfrm>
            <a:off x="6108192"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181344"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181344"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SIT</a:t>
            </a:r>
          </a:p>
        </p:txBody>
      </p:sp>
      <p:cxnSp>
        <p:nvCxnSpPr>
          <p:cNvPr id="166" name="Arrow 157"/>
          <p:cNvCxnSpPr/>
          <p:nvPr/>
        </p:nvCxnSpPr>
        <p:spPr>
          <a:xfrm>
            <a:off x="7242048"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7315200" y="5559552"/>
            <a:ext cx="1060704" cy="292608"/>
          </a:xfrm>
          <a:prstGeom prst="roundRect">
            <a:avLst>
              <a:gd name="adj" fmla="val 30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7315200" y="5559552"/>
            <a:ext cx="1060704" cy="292608"/>
          </a:xfrm>
          <a:prstGeom prst="rect">
            <a:avLst/>
          </a:prstGeom>
          <a:noFill/>
        </p:spPr>
        <p:txBody>
          <a:bodyPr wrap="square" lIns="0" rIns="0" tIns="0" bIns="0" anchor="ctr">
            <a:spAutoFit/>
          </a:bodyPr>
          <a:lstStyle/>
          <a:p>
            <a:pPr algn="ctr"/>
            <a:r>
              <a:rPr sz="660" b="1" i="0">
                <a:solidFill>
                  <a:srgbClr val="FFD700"/>
                </a:solidFill>
                <a:latin typeface="Trenda IG Text"/>
              </a:rPr>
              <a:t>UAT</a:t>
            </a:r>
          </a:p>
        </p:txBody>
      </p:sp>
      <p:cxnSp>
        <p:nvCxnSpPr>
          <p:cNvPr id="169" name="Arrow 160"/>
          <p:cNvCxnSpPr/>
          <p:nvPr/>
        </p:nvCxnSpPr>
        <p:spPr>
          <a:xfrm>
            <a:off x="837590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8449056" y="5559552"/>
            <a:ext cx="1060704" cy="292608"/>
          </a:xfrm>
          <a:prstGeom prst="roundRect">
            <a:avLst>
              <a:gd name="adj" fmla="val 30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8449056" y="5559552"/>
            <a:ext cx="1060704" cy="292608"/>
          </a:xfrm>
          <a:prstGeom prst="rect">
            <a:avLst/>
          </a:prstGeom>
          <a:noFill/>
        </p:spPr>
        <p:txBody>
          <a:bodyPr wrap="square" lIns="0" rIns="0" tIns="0" bIns="0" anchor="ctr">
            <a:spAutoFit/>
          </a:bodyPr>
          <a:lstStyle/>
          <a:p>
            <a:pPr algn="ctr"/>
            <a:r>
              <a:rPr sz="660" b="1" i="0">
                <a:solidFill>
                  <a:srgbClr val="FFD700"/>
                </a:solidFill>
                <a:latin typeface="Trenda IG Text"/>
              </a:rPr>
              <a:t>Human approval</a:t>
            </a:r>
          </a:p>
        </p:txBody>
      </p:sp>
      <p:cxnSp>
        <p:nvCxnSpPr>
          <p:cNvPr id="172" name="Arrow 163"/>
          <p:cNvCxnSpPr/>
          <p:nvPr/>
        </p:nvCxnSpPr>
        <p:spPr>
          <a:xfrm>
            <a:off x="950976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9582912" y="5559552"/>
            <a:ext cx="1060704" cy="292608"/>
          </a:xfrm>
          <a:prstGeom prst="roundRect">
            <a:avLst>
              <a:gd name="adj" fmla="val 30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9582912" y="5559552"/>
            <a:ext cx="1060704" cy="292608"/>
          </a:xfrm>
          <a:prstGeom prst="rect">
            <a:avLst/>
          </a:prstGeom>
          <a:noFill/>
        </p:spPr>
        <p:txBody>
          <a:bodyPr wrap="square" lIns="0" rIns="0" tIns="0" bIns="0" anchor="ctr">
            <a:spAutoFit/>
          </a:bodyPr>
          <a:lstStyle/>
          <a:p>
            <a:pPr algn="ctr"/>
            <a:r>
              <a:rPr sz="660" b="1" i="0">
                <a:solidFill>
                  <a:srgbClr val="FFD700"/>
                </a:solidFill>
                <a:latin typeface="Trenda IG Text"/>
              </a:rPr>
              <a:t>CAB</a:t>
            </a:r>
          </a:p>
        </p:txBody>
      </p:sp>
      <p:cxnSp>
        <p:nvCxnSpPr>
          <p:cNvPr id="175" name="Arrow 166"/>
          <p:cNvCxnSpPr/>
          <p:nvPr/>
        </p:nvCxnSpPr>
        <p:spPr>
          <a:xfrm>
            <a:off x="1064361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6" name="Shape 167"/>
          <p:cNvSpPr/>
          <p:nvPr/>
        </p:nvSpPr>
        <p:spPr>
          <a:xfrm>
            <a:off x="10716768"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071676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PROD</a:t>
            </a:r>
          </a:p>
        </p:txBody>
      </p:sp>
      <p:sp>
        <p:nvSpPr>
          <p:cNvPr id="178" name="Text 169"/>
          <p:cNvSpPr txBox="1"/>
          <p:nvPr/>
        </p:nvSpPr>
        <p:spPr>
          <a:xfrm>
            <a:off x="411480" y="5925312"/>
            <a:ext cx="1188720" cy="292608"/>
          </a:xfrm>
          <a:prstGeom prst="rect">
            <a:avLst/>
          </a:prstGeom>
          <a:noFill/>
        </p:spPr>
        <p:txBody>
          <a:bodyPr wrap="square" lIns="0" rIns="0" tIns="0" bIns="0" anchor="ctr">
            <a:spAutoFit/>
          </a:bodyPr>
          <a:lstStyle/>
          <a:p>
            <a:r>
              <a:rPr sz="640" b="1" i="0" spc="120">
                <a:solidFill>
                  <a:srgbClr val="FF0069"/>
                </a:solidFill>
                <a:latin typeface="Trenda IG Text"/>
              </a:rPr>
              <a:t>CAMPAIGN PATH</a:t>
            </a:r>
          </a:p>
        </p:txBody>
      </p:sp>
      <p:sp>
        <p:nvSpPr>
          <p:cNvPr id="179" name="Shape 170"/>
          <p:cNvSpPr/>
          <p:nvPr/>
        </p:nvSpPr>
        <p:spPr>
          <a:xfrm>
            <a:off x="1645920"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164592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Prompt in Codex</a:t>
            </a:r>
          </a:p>
        </p:txBody>
      </p:sp>
      <p:cxnSp>
        <p:nvCxnSpPr>
          <p:cNvPr id="181" name="Arrow 172"/>
          <p:cNvCxnSpPr/>
          <p:nvPr/>
        </p:nvCxnSpPr>
        <p:spPr>
          <a:xfrm>
            <a:off x="3273552"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3346704"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3346704"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Gold A insights</a:t>
            </a:r>
          </a:p>
        </p:txBody>
      </p:sp>
      <p:cxnSp>
        <p:nvCxnSpPr>
          <p:cNvPr id="184" name="Arrow 175"/>
          <p:cNvCxnSpPr/>
          <p:nvPr/>
        </p:nvCxnSpPr>
        <p:spPr>
          <a:xfrm>
            <a:off x="4974336"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5047488"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5047488"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Build + test</a:t>
            </a:r>
          </a:p>
        </p:txBody>
      </p:sp>
      <p:cxnSp>
        <p:nvCxnSpPr>
          <p:cNvPr id="187" name="Arrow 178"/>
          <p:cNvCxnSpPr/>
          <p:nvPr/>
        </p:nvCxnSpPr>
        <p:spPr>
          <a:xfrm>
            <a:off x="6675120"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6748272" y="5925312"/>
            <a:ext cx="1627632" cy="292608"/>
          </a:xfrm>
          <a:prstGeom prst="roundRect">
            <a:avLst>
              <a:gd name="adj" fmla="val 30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6748272" y="5925312"/>
            <a:ext cx="1627632" cy="292608"/>
          </a:xfrm>
          <a:prstGeom prst="rect">
            <a:avLst/>
          </a:prstGeom>
          <a:noFill/>
        </p:spPr>
        <p:txBody>
          <a:bodyPr wrap="square" lIns="0" rIns="0" tIns="0" bIns="0" anchor="ctr">
            <a:spAutoFit/>
          </a:bodyPr>
          <a:lstStyle/>
          <a:p>
            <a:pPr algn="ctr"/>
            <a:r>
              <a:rPr sz="660" b="1" i="0">
                <a:solidFill>
                  <a:srgbClr val="FFD700"/>
                </a:solidFill>
                <a:latin typeface="Trenda IG Text"/>
              </a:rPr>
              <a:t>Pre-send review</a:t>
            </a:r>
          </a:p>
        </p:txBody>
      </p:sp>
      <p:cxnSp>
        <p:nvCxnSpPr>
          <p:cNvPr id="190" name="Arrow 181"/>
          <p:cNvCxnSpPr/>
          <p:nvPr/>
        </p:nvCxnSpPr>
        <p:spPr>
          <a:xfrm>
            <a:off x="8375904"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8449056"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8449056"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Gateway release</a:t>
            </a:r>
          </a:p>
        </p:txBody>
      </p:sp>
      <p:cxnSp>
        <p:nvCxnSpPr>
          <p:cNvPr id="193" name="Arrow 184"/>
          <p:cNvCxnSpPr/>
          <p:nvPr/>
        </p:nvCxnSpPr>
        <p:spPr>
          <a:xfrm>
            <a:off x="10076688"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4" name="Shape 185"/>
          <p:cNvSpPr/>
          <p:nvPr/>
        </p:nvSpPr>
        <p:spPr>
          <a:xfrm>
            <a:off x="10149840"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 186"/>
          <p:cNvSpPr txBox="1"/>
          <p:nvPr/>
        </p:nvSpPr>
        <p:spPr>
          <a:xfrm>
            <a:off x="1014984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Journey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FFFFF"/>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1270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FFFFF"/>
                </a:solidFill>
                <a:latin typeface="Trenda IG Text"/>
              </a:rPr>
              <a:t>Harness</a:t>
            </a:r>
          </a:p>
          <a:p>
            <a:pPr>
              <a:lnSpc>
                <a:spcPct val="90000"/>
              </a:lnSpc>
            </a:pPr>
            <a:r>
              <a:rPr sz="1000" b="0" i="0">
                <a:solidFill>
                  <a:srgbClr val="FFFFFF"/>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FFFFF"/>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630" b="0" i="0">
                <a:solidFill>
                  <a:srgbClr val="BFBFBF"/>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FFFFF"/>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630" b="0" i="0">
                <a:solidFill>
                  <a:srgbClr val="BFBFBF"/>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FFFFF"/>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630" b="0" i="0">
                <a:solidFill>
                  <a:srgbClr val="BFBFBF"/>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FFFFF"/>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630" b="0" i="0">
                <a:solidFill>
                  <a:srgbClr val="BFBFBF"/>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FFFFF"/>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630" b="0" i="0">
                <a:solidFill>
                  <a:srgbClr val="BFBFBF"/>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FFFFF"/>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600" b="0" i="0">
                <a:solidFill>
                  <a:srgbClr val="8C8C8C"/>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FFFFF"/>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FFFFF"/>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600" b="0" i="0">
                <a:solidFill>
                  <a:srgbClr val="BFBFBF"/>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600" b="0" i="0">
                <a:solidFill>
                  <a:srgbClr val="BFBFBF"/>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F0069"/>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600" b="0" i="0">
                <a:solidFill>
                  <a:srgbClr val="BFBFBF"/>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580" b="1" i="0" spc="150">
                <a:solidFill>
                  <a:srgbClr val="FFD7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590" b="0" i="0">
                <a:solidFill>
                  <a:srgbClr val="FFFFFF"/>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590" b="0" i="0">
                <a:solidFill>
                  <a:srgbClr val="FFFFFF"/>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590" b="0" i="0">
                <a:solidFill>
                  <a:srgbClr val="FFFFFF"/>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590" b="0" i="0">
                <a:solidFill>
                  <a:srgbClr val="FFFFFF"/>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590" b="0" i="0">
                <a:solidFill>
                  <a:srgbClr val="FFFFFF"/>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590" b="0" i="0">
                <a:solidFill>
                  <a:srgbClr val="FFFFFF"/>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590" b="1" i="0">
                <a:solidFill>
                  <a:srgbClr val="FF0069"/>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90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FFFFF"/>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600" b="0" i="0">
                <a:solidFill>
                  <a:srgbClr val="8C8C8C"/>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740" b="1" i="0">
                <a:solidFill>
                  <a:srgbClr val="FFFFFF"/>
                </a:solidFill>
                <a:latin typeface="Trenda IG Text"/>
              </a:rPr>
              <a:t>Change Guardian</a:t>
            </a:r>
          </a:p>
        </p:txBody>
      </p:sp>
      <p:sp>
        <p:nvSpPr>
          <p:cNvPr id="88" name="Text 81"/>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FFFFFF"/>
                </a:solidFill>
                <a:latin typeface="Trenda IG Text"/>
              </a:rPr>
              <a:t>Guardrails in + out · Model Armor</a:t>
            </a:r>
          </a:p>
        </p:txBody>
      </p:sp>
      <p:sp>
        <p:nvSpPr>
          <p:cNvPr id="89" name="Text 82"/>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FFFFFF"/>
                </a:solidFill>
                <a:latin typeface="Trenda IG Text"/>
              </a:rPr>
              <a:t>Identity + access</a:t>
            </a:r>
          </a:p>
        </p:txBody>
      </p:sp>
      <p:sp>
        <p:nvSpPr>
          <p:cNvPr id="90" name="Text 83"/>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FF0069"/>
                </a:solidFill>
                <a:latin typeface="Trenda IG Text"/>
              </a:rPr>
              <a:t>Collibra masking + DLP</a:t>
            </a:r>
          </a:p>
        </p:txBody>
      </p:sp>
      <p:sp>
        <p:nvSpPr>
          <p:cNvPr id="91" name="Shape 84"/>
          <p:cNvSpPr/>
          <p:nvPr/>
        </p:nvSpPr>
        <p:spPr>
          <a:xfrm>
            <a:off x="8202167" y="3474720"/>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5"/>
          <p:cNvSpPr txBox="1"/>
          <p:nvPr/>
        </p:nvSpPr>
        <p:spPr>
          <a:xfrm>
            <a:off x="8202167" y="3474720"/>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93" name="Text 86"/>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FF0069"/>
                </a:solidFill>
                <a:latin typeface="Trenda IG Text"/>
              </a:rPr>
              <a:t>Compliance Guardian + policy engine</a:t>
            </a:r>
          </a:p>
        </p:txBody>
      </p:sp>
      <p:sp>
        <p:nvSpPr>
          <p:cNvPr id="94" name="Shape 87"/>
          <p:cNvSpPr/>
          <p:nvPr/>
        </p:nvSpPr>
        <p:spPr>
          <a:xfrm>
            <a:off x="8202167" y="3822191"/>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8"/>
          <p:cNvSpPr txBox="1"/>
          <p:nvPr/>
        </p:nvSpPr>
        <p:spPr>
          <a:xfrm>
            <a:off x="8202167" y="3822191"/>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96" name="Text 89"/>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FFFFFF"/>
                </a:solidFill>
                <a:latin typeface="Trenda IG Text"/>
              </a:rPr>
              <a:t>Human gates H1-H4, CAB, G1-G3</a:t>
            </a:r>
          </a:p>
        </p:txBody>
      </p:sp>
      <p:sp>
        <p:nvSpPr>
          <p:cNvPr id="97" name="Text 90"/>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FFFFFF"/>
                </a:solidFill>
                <a:latin typeface="Trenda IG Text"/>
              </a:rPr>
              <a:t>Evaluation set</a:t>
            </a:r>
          </a:p>
        </p:txBody>
      </p:sp>
      <p:sp>
        <p:nvSpPr>
          <p:cNvPr id="98" name="Text 91"/>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FFFFFF"/>
                </a:solidFill>
                <a:latin typeface="Trenda IG Text"/>
              </a:rPr>
              <a:t>Observability + change passport</a:t>
            </a:r>
          </a:p>
        </p:txBody>
      </p:sp>
      <p:sp>
        <p:nvSpPr>
          <p:cNvPr id="99" name="Text 92"/>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F0069"/>
                </a:solidFill>
                <a:latin typeface="Trenda IG Text"/>
              </a:rPr>
              <a:t>Differentiators</a:t>
            </a:r>
          </a:p>
        </p:txBody>
      </p:sp>
      <p:sp>
        <p:nvSpPr>
          <p:cNvPr id="100" name="Shape 93"/>
          <p:cNvSpPr/>
          <p:nvPr/>
        </p:nvSpPr>
        <p:spPr>
          <a:xfrm>
            <a:off x="8915400" y="1938528"/>
            <a:ext cx="2862072" cy="1024128"/>
          </a:xfrm>
          <a:prstGeom prst="roundRect">
            <a:avLst>
              <a:gd name="adj" fmla="val 10000"/>
            </a:avLst>
          </a:prstGeom>
          <a:solidFill>
            <a:srgbClr val="14141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2066544"/>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2066544"/>
            <a:ext cx="274320" cy="274320"/>
          </a:xfrm>
          <a:prstGeom prst="rect">
            <a:avLst/>
          </a:prstGeom>
          <a:noFill/>
        </p:spPr>
        <p:txBody>
          <a:bodyPr wrap="square" lIns="0" rIns="0" tIns="0" bIns="0" anchor="ctr">
            <a:spAutoFit/>
          </a:bodyPr>
          <a:lstStyle/>
          <a:p>
            <a:pPr algn="ctr"/>
            <a:r>
              <a:rPr sz="660" b="1" i="0">
                <a:solidFill>
                  <a:srgbClr val="000000"/>
                </a:solidFill>
                <a:latin typeface="Trenda IG Text"/>
              </a:rPr>
              <a:t>1</a:t>
            </a:r>
          </a:p>
        </p:txBody>
      </p:sp>
      <p:sp>
        <p:nvSpPr>
          <p:cNvPr id="103" name="Text 96"/>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FFFFF"/>
                </a:solidFill>
                <a:latin typeface="Trenda IG Text"/>
              </a:rPr>
              <a:t>Grounded in the org and its data</a:t>
            </a:r>
          </a:p>
        </p:txBody>
      </p:sp>
      <p:sp>
        <p:nvSpPr>
          <p:cNvPr id="104" name="Text 97"/>
          <p:cNvSpPr txBox="1"/>
          <p:nvPr/>
        </p:nvSpPr>
        <p:spPr>
          <a:xfrm>
            <a:off x="9390888" y="2286000"/>
            <a:ext cx="2313432" cy="420624"/>
          </a:xfrm>
          <a:prstGeom prst="rect">
            <a:avLst/>
          </a:prstGeom>
          <a:noFill/>
        </p:spPr>
        <p:txBody>
          <a:bodyPr wrap="square" lIns="0" rIns="0" tIns="0" bIns="0" anchor="t">
            <a:spAutoFit/>
          </a:bodyPr>
          <a:lstStyle/>
          <a:p>
            <a:r>
              <a:rPr sz="650" b="0" i="0">
                <a:solidFill>
                  <a:srgbClr val="BFBFBF"/>
                </a:solidFill>
                <a:latin typeface="Trenda IG Text"/>
              </a:rPr>
              <a:t>Agents read a cited graph of the delivery estate, and masked aggregates for campaigns.</a:t>
            </a:r>
          </a:p>
        </p:txBody>
      </p:sp>
      <p:sp>
        <p:nvSpPr>
          <p:cNvPr id="105" name="Text 98"/>
          <p:cNvSpPr txBox="1"/>
          <p:nvPr/>
        </p:nvSpPr>
        <p:spPr>
          <a:xfrm>
            <a:off x="9390888" y="2706624"/>
            <a:ext cx="2313432" cy="182880"/>
          </a:xfrm>
          <a:prstGeom prst="rect">
            <a:avLst/>
          </a:prstGeom>
          <a:noFill/>
        </p:spPr>
        <p:txBody>
          <a:bodyPr wrap="square" lIns="0" rIns="0" tIns="0" bIns="0" anchor="t">
            <a:spAutoFit/>
          </a:bodyPr>
          <a:lstStyle/>
          <a:p>
            <a:r>
              <a:rPr sz="650" b="0" i="0">
                <a:solidFill>
                  <a:srgbClr val="FF0069"/>
                </a:solidFill>
                <a:latin typeface="Trenda IG Text"/>
              </a:rPr>
              <a:t>Ask before build.</a:t>
            </a:r>
          </a:p>
        </p:txBody>
      </p:sp>
      <p:sp>
        <p:nvSpPr>
          <p:cNvPr id="106" name="Shape 99"/>
          <p:cNvSpPr/>
          <p:nvPr/>
        </p:nvSpPr>
        <p:spPr>
          <a:xfrm>
            <a:off x="8915400" y="3054096"/>
            <a:ext cx="2862072" cy="1024128"/>
          </a:xfrm>
          <a:prstGeom prst="roundRect">
            <a:avLst>
              <a:gd name="adj" fmla="val 10000"/>
            </a:avLst>
          </a:prstGeom>
          <a:solidFill>
            <a:srgbClr val="14141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0"/>
          <p:cNvSpPr/>
          <p:nvPr/>
        </p:nvSpPr>
        <p:spPr>
          <a:xfrm>
            <a:off x="9025128" y="3182112"/>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1"/>
          <p:cNvSpPr txBox="1"/>
          <p:nvPr/>
        </p:nvSpPr>
        <p:spPr>
          <a:xfrm>
            <a:off x="9025128" y="3182112"/>
            <a:ext cx="274320" cy="274320"/>
          </a:xfrm>
          <a:prstGeom prst="rect">
            <a:avLst/>
          </a:prstGeom>
          <a:noFill/>
        </p:spPr>
        <p:txBody>
          <a:bodyPr wrap="square" lIns="0" rIns="0" tIns="0" bIns="0" anchor="ctr">
            <a:spAutoFit/>
          </a:bodyPr>
          <a:lstStyle/>
          <a:p>
            <a:pPr algn="ctr"/>
            <a:r>
              <a:rPr sz="660" b="1" i="0">
                <a:solidFill>
                  <a:srgbClr val="000000"/>
                </a:solidFill>
                <a:latin typeface="Trenda IG Text"/>
              </a:rPr>
              <a:t>2</a:t>
            </a:r>
          </a:p>
        </p:txBody>
      </p:sp>
      <p:sp>
        <p:nvSpPr>
          <p:cNvPr id="109" name="Text 102"/>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FFFFF"/>
                </a:solidFill>
                <a:latin typeface="Trenda IG Text"/>
              </a:rPr>
              <a:t>No pod breaks another</a:t>
            </a:r>
          </a:p>
        </p:txBody>
      </p:sp>
      <p:sp>
        <p:nvSpPr>
          <p:cNvPr id="110" name="Text 103"/>
          <p:cNvSpPr txBox="1"/>
          <p:nvPr/>
        </p:nvSpPr>
        <p:spPr>
          <a:xfrm>
            <a:off x="9390888" y="3401568"/>
            <a:ext cx="2313432" cy="420624"/>
          </a:xfrm>
          <a:prstGeom prst="rect">
            <a:avLst/>
          </a:prstGeom>
          <a:noFill/>
        </p:spPr>
        <p:txBody>
          <a:bodyPr wrap="square" lIns="0" rIns="0" tIns="0" bIns="0" anchor="t">
            <a:spAutoFit/>
          </a:bodyPr>
          <a:lstStyle/>
          <a:p>
            <a:r>
              <a:rPr sz="650" b="0" i="0">
                <a:solidFill>
                  <a:srgbClr val="BFBFBF"/>
                </a:solidFill>
                <a:latin typeface="Trenda IG Text"/>
              </a:rPr>
              <a:t>The Change Guardian checks every change against who owns and uses it.</a:t>
            </a:r>
          </a:p>
        </p:txBody>
      </p:sp>
      <p:sp>
        <p:nvSpPr>
          <p:cNvPr id="111" name="Text 104"/>
          <p:cNvSpPr txBox="1"/>
          <p:nvPr/>
        </p:nvSpPr>
        <p:spPr>
          <a:xfrm>
            <a:off x="9390888" y="3822191"/>
            <a:ext cx="2313432" cy="182880"/>
          </a:xfrm>
          <a:prstGeom prst="rect">
            <a:avLst/>
          </a:prstGeom>
          <a:noFill/>
        </p:spPr>
        <p:txBody>
          <a:bodyPr wrap="square" lIns="0" rIns="0" tIns="0" bIns="0" anchor="t">
            <a:spAutoFit/>
          </a:bodyPr>
          <a:lstStyle/>
          <a:p>
            <a:r>
              <a:rPr sz="650" b="0" i="0">
                <a:solidFill>
                  <a:srgbClr val="FF0069"/>
                </a:solidFill>
                <a:latin typeface="Trenda IG Text"/>
              </a:rPr>
              <a:t>Governed by design.</a:t>
            </a:r>
          </a:p>
        </p:txBody>
      </p:sp>
      <p:sp>
        <p:nvSpPr>
          <p:cNvPr id="112" name="Shape 105"/>
          <p:cNvSpPr/>
          <p:nvPr/>
        </p:nvSpPr>
        <p:spPr>
          <a:xfrm>
            <a:off x="8915400" y="4169663"/>
            <a:ext cx="2862072" cy="1024128"/>
          </a:xfrm>
          <a:prstGeom prst="roundRect">
            <a:avLst>
              <a:gd name="adj" fmla="val 10000"/>
            </a:avLst>
          </a:prstGeom>
          <a:solidFill>
            <a:srgbClr val="14141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6"/>
          <p:cNvSpPr/>
          <p:nvPr/>
        </p:nvSpPr>
        <p:spPr>
          <a:xfrm>
            <a:off x="9025128" y="4297679"/>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9025128" y="4297679"/>
            <a:ext cx="274320" cy="274320"/>
          </a:xfrm>
          <a:prstGeom prst="rect">
            <a:avLst/>
          </a:prstGeom>
          <a:noFill/>
        </p:spPr>
        <p:txBody>
          <a:bodyPr wrap="square" lIns="0" rIns="0" tIns="0" bIns="0" anchor="ctr">
            <a:spAutoFit/>
          </a:bodyPr>
          <a:lstStyle/>
          <a:p>
            <a:pPr algn="ctr"/>
            <a:r>
              <a:rPr sz="660" b="1" i="0">
                <a:solidFill>
                  <a:srgbClr val="000000"/>
                </a:solidFill>
                <a:latin typeface="Trenda IG Text"/>
              </a:rPr>
              <a:t>3</a:t>
            </a:r>
          </a:p>
        </p:txBody>
      </p:sp>
      <p:sp>
        <p:nvSpPr>
          <p:cNvPr id="115" name="Text 108"/>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FFFFF"/>
                </a:solidFill>
                <a:latin typeface="Trenda IG Text"/>
              </a:rPr>
              <a:t>Minimum-data agent access</a:t>
            </a:r>
          </a:p>
        </p:txBody>
      </p:sp>
      <p:sp>
        <p:nvSpPr>
          <p:cNvPr id="116" name="Text 109"/>
          <p:cNvSpPr txBox="1"/>
          <p:nvPr/>
        </p:nvSpPr>
        <p:spPr>
          <a:xfrm>
            <a:off x="9390888" y="4517136"/>
            <a:ext cx="2313432" cy="420624"/>
          </a:xfrm>
          <a:prstGeom prst="rect">
            <a:avLst/>
          </a:prstGeom>
          <a:noFill/>
        </p:spPr>
        <p:txBody>
          <a:bodyPr wrap="square" lIns="0" rIns="0" tIns="0" bIns="0" anchor="t">
            <a:spAutoFit/>
          </a:bodyPr>
          <a:lstStyle/>
          <a:p>
            <a:r>
              <a:rPr sz="650" b="0" i="0">
                <a:solidFill>
                  <a:srgbClr val="BFBFBF"/>
                </a:solidFill>
                <a:latin typeface="Trenda IG Text"/>
              </a:rPr>
              <a:t>Agents get aggregates and masked views, never raw PHI; patient data leaves only through the gateway.</a:t>
            </a:r>
          </a:p>
        </p:txBody>
      </p:sp>
      <p:sp>
        <p:nvSpPr>
          <p:cNvPr id="117" name="Text 110"/>
          <p:cNvSpPr txBox="1"/>
          <p:nvPr/>
        </p:nvSpPr>
        <p:spPr>
          <a:xfrm>
            <a:off x="9390888" y="4937759"/>
            <a:ext cx="2313432" cy="182880"/>
          </a:xfrm>
          <a:prstGeom prst="rect">
            <a:avLst/>
          </a:prstGeom>
          <a:noFill/>
        </p:spPr>
        <p:txBody>
          <a:bodyPr wrap="square" lIns="0" rIns="0" tIns="0" bIns="0" anchor="t">
            <a:spAutoFit/>
          </a:bodyPr>
          <a:lstStyle/>
          <a:p>
            <a:r>
              <a:rPr sz="650" b="0" i="0">
                <a:solidFill>
                  <a:srgbClr val="FF0069"/>
                </a:solidFill>
                <a:latin typeface="Trenda IG Text"/>
              </a:rPr>
              <a:t>Private by design.</a:t>
            </a:r>
          </a:p>
        </p:txBody>
      </p:sp>
      <p:sp>
        <p:nvSpPr>
          <p:cNvPr id="118" name="Shape 111"/>
          <p:cNvSpPr/>
          <p:nvPr/>
        </p:nvSpPr>
        <p:spPr>
          <a:xfrm>
            <a:off x="411480" y="5394960"/>
            <a:ext cx="11365992" cy="868680"/>
          </a:xfrm>
          <a:prstGeom prst="roundRect">
            <a:avLst>
              <a:gd name="adj" fmla="val 4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2"/>
          <p:cNvSpPr txBox="1"/>
          <p:nvPr/>
        </p:nvSpPr>
        <p:spPr>
          <a:xfrm>
            <a:off x="731520" y="5468112"/>
            <a:ext cx="1828800" cy="182880"/>
          </a:xfrm>
          <a:prstGeom prst="rect">
            <a:avLst/>
          </a:prstGeom>
          <a:noFill/>
        </p:spPr>
        <p:txBody>
          <a:bodyPr wrap="square" lIns="0" rIns="0" tIns="0" bIns="0" anchor="t">
            <a:spAutoFit/>
          </a:bodyPr>
          <a:lstStyle/>
          <a:p>
            <a:r>
              <a:rPr sz="600" b="1" i="0" spc="150">
                <a:solidFill>
                  <a:srgbClr val="FFFFFF"/>
                </a:solidFill>
                <a:latin typeface="Trenda IG Text"/>
              </a:rPr>
              <a:t>ASCENSION CORE COMPONENTS</a:t>
            </a:r>
          </a:p>
        </p:txBody>
      </p:sp>
      <p:sp>
        <p:nvSpPr>
          <p:cNvPr id="120" name="Text 113"/>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FFFFF"/>
                </a:solidFill>
                <a:latin typeface="Trenda IG Text"/>
              </a:rPr>
              <a:t>Infrastructure</a:t>
            </a:r>
          </a:p>
          <a:p>
            <a:r>
              <a:rPr sz="650" b="0" i="0">
                <a:solidFill>
                  <a:srgbClr val="BFBFBF"/>
                </a:solidFill>
                <a:latin typeface="Trenda IG Text"/>
              </a:rPr>
              <a:t>Runs in Ascension's cloud</a:t>
            </a:r>
          </a:p>
        </p:txBody>
      </p:sp>
      <p:pic>
        <p:nvPicPr>
          <p:cNvPr id="121" name="Picture 120"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2" name="Text 114"/>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Salesforce</a:t>
            </a:r>
          </a:p>
        </p:txBody>
      </p:sp>
      <p:sp>
        <p:nvSpPr>
          <p:cNvPr id="123" name="Text 115"/>
          <p:cNvSpPr txBox="1"/>
          <p:nvPr/>
        </p:nvSpPr>
        <p:spPr>
          <a:xfrm>
            <a:off x="3017520" y="5760720"/>
            <a:ext cx="1404518" cy="411480"/>
          </a:xfrm>
          <a:prstGeom prst="rect">
            <a:avLst/>
          </a:prstGeom>
          <a:noFill/>
        </p:spPr>
        <p:txBody>
          <a:bodyPr wrap="square" lIns="0" rIns="0" tIns="0" bIns="0" anchor="t">
            <a:spAutoFit/>
          </a:bodyPr>
          <a:lstStyle/>
          <a:p>
            <a:r>
              <a:rPr sz="660" b="0" i="0">
                <a:solidFill>
                  <a:srgbClr val="BFBFBF"/>
                </a:solidFill>
                <a:latin typeface="Trenda IG Text"/>
              </a:rPr>
              <a:t>Health, Marketing + Data Cloud</a:t>
            </a:r>
          </a:p>
        </p:txBody>
      </p:sp>
      <p:pic>
        <p:nvPicPr>
          <p:cNvPr id="124" name="Picture 123" descr="git.png"/>
          <p:cNvPicPr>
            <a:picLocks noChangeAspect="1"/>
          </p:cNvPicPr>
          <p:nvPr/>
        </p:nvPicPr>
        <p:blipFill>
          <a:blip r:embed="rId8"/>
          <a:stretch>
            <a:fillRect/>
          </a:stretch>
        </p:blipFill>
        <p:spPr>
          <a:xfrm>
            <a:off x="4513478" y="5522976"/>
            <a:ext cx="201168" cy="201168"/>
          </a:xfrm>
          <a:prstGeom prst="rect">
            <a:avLst/>
          </a:prstGeom>
        </p:spPr>
      </p:pic>
      <p:sp>
        <p:nvSpPr>
          <p:cNvPr id="125" name="Text 116"/>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Delivery</a:t>
            </a:r>
          </a:p>
        </p:txBody>
      </p:sp>
      <p:sp>
        <p:nvSpPr>
          <p:cNvPr id="126" name="Text 117"/>
          <p:cNvSpPr txBox="1"/>
          <p:nvPr/>
        </p:nvSpPr>
        <p:spPr>
          <a:xfrm>
            <a:off x="4787798" y="5760720"/>
            <a:ext cx="1404518" cy="411480"/>
          </a:xfrm>
          <a:prstGeom prst="rect">
            <a:avLst/>
          </a:prstGeom>
          <a:noFill/>
        </p:spPr>
        <p:txBody>
          <a:bodyPr wrap="square" lIns="0" rIns="0" tIns="0" bIns="0" anchor="t">
            <a:spAutoFit/>
          </a:bodyPr>
          <a:lstStyle/>
          <a:p>
            <a:r>
              <a:rPr sz="660" b="0" i="0">
                <a:solidFill>
                  <a:srgbClr val="BFBFBF"/>
                </a:solidFill>
                <a:latin typeface="Trenda IG Text"/>
              </a:rPr>
              <a:t>Copado, Git, Jira, Zephyr</a:t>
            </a:r>
          </a:p>
        </p:txBody>
      </p:sp>
      <p:pic>
        <p:nvPicPr>
          <p:cNvPr id="127" name="Picture 126"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28" name="Text 118"/>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F0069"/>
                </a:solidFill>
                <a:latin typeface="Trenda IG Text"/>
              </a:rPr>
              <a:t>Data</a:t>
            </a:r>
          </a:p>
        </p:txBody>
      </p:sp>
      <p:sp>
        <p:nvSpPr>
          <p:cNvPr id="129" name="Text 119"/>
          <p:cNvSpPr txBox="1"/>
          <p:nvPr/>
        </p:nvSpPr>
        <p:spPr>
          <a:xfrm>
            <a:off x="6558076" y="5760720"/>
            <a:ext cx="1404518" cy="411480"/>
          </a:xfrm>
          <a:prstGeom prst="rect">
            <a:avLst/>
          </a:prstGeom>
          <a:noFill/>
        </p:spPr>
        <p:txBody>
          <a:bodyPr wrap="square" lIns="0" rIns="0" tIns="0" bIns="0" anchor="t">
            <a:spAutoFit/>
          </a:bodyPr>
          <a:lstStyle/>
          <a:p>
            <a:r>
              <a:rPr sz="660" b="0" i="0">
                <a:solidFill>
                  <a:srgbClr val="BFBFBF"/>
                </a:solidFill>
                <a:latin typeface="Trenda IG Text"/>
              </a:rPr>
              <a:t>BigQuery, Collibra, DLP, Tableau, Spanner</a:t>
            </a:r>
          </a:p>
        </p:txBody>
      </p:sp>
      <p:pic>
        <p:nvPicPr>
          <p:cNvPr id="130" name="Picture 129"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1" name="Text 120"/>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Models</a:t>
            </a:r>
          </a:p>
        </p:txBody>
      </p:sp>
      <p:sp>
        <p:nvSpPr>
          <p:cNvPr id="132" name="Text 121"/>
          <p:cNvSpPr txBox="1"/>
          <p:nvPr/>
        </p:nvSpPr>
        <p:spPr>
          <a:xfrm>
            <a:off x="8328355" y="5760720"/>
            <a:ext cx="1404518" cy="411480"/>
          </a:xfrm>
          <a:prstGeom prst="rect">
            <a:avLst/>
          </a:prstGeom>
          <a:noFill/>
        </p:spPr>
        <p:txBody>
          <a:bodyPr wrap="square" lIns="0" rIns="0" tIns="0" bIns="0" anchor="t">
            <a:spAutoFit/>
          </a:bodyPr>
          <a:lstStyle/>
          <a:p>
            <a:r>
              <a:rPr sz="660" b="0" i="0">
                <a:solidFill>
                  <a:srgbClr val="BFBFBF"/>
                </a:solidFill>
                <a:latin typeface="Trenda IG Text"/>
              </a:rPr>
              <a:t>Codex Enterprise; model in config; tools via MCP</a:t>
            </a:r>
          </a:p>
        </p:txBody>
      </p:sp>
      <p:pic>
        <p:nvPicPr>
          <p:cNvPr id="133" name="Picture 132"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4" name="Text 122"/>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Cloud</a:t>
            </a:r>
          </a:p>
        </p:txBody>
      </p:sp>
      <p:sp>
        <p:nvSpPr>
          <p:cNvPr id="135" name="Text 123"/>
          <p:cNvSpPr txBox="1"/>
          <p:nvPr/>
        </p:nvSpPr>
        <p:spPr>
          <a:xfrm>
            <a:off x="10098633" y="5760720"/>
            <a:ext cx="1404518" cy="411480"/>
          </a:xfrm>
          <a:prstGeom prst="rect">
            <a:avLst/>
          </a:prstGeom>
          <a:noFill/>
        </p:spPr>
        <p:txBody>
          <a:bodyPr wrap="square" lIns="0" rIns="0" tIns="0" bIns="0" anchor="t">
            <a:spAutoFit/>
          </a:bodyPr>
          <a:lstStyle/>
          <a:p>
            <a:r>
              <a:rPr sz="660" b="0" i="0">
                <a:solidFill>
                  <a:srgbClr val="BFBFBF"/>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000000"/>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FFFFF"/>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680" b="0" i="0">
                <a:solidFill>
                  <a:srgbClr val="BFBFBF"/>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650" b="0" i="0">
                <a:solidFill>
                  <a:srgbClr val="BFBFBF"/>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650" b="0" i="0">
                <a:solidFill>
                  <a:srgbClr val="BFBFBF"/>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650" b="0" i="0">
                <a:solidFill>
                  <a:srgbClr val="BFBFBF"/>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Brief from the Jira story + Confluence design; open questions flagged.</a:t>
            </a:r>
          </a:p>
        </p:txBody>
      </p:sp>
      <p:sp>
        <p:nvSpPr>
          <p:cNvPr id="26" name="Shape 24"/>
          <p:cNvSpPr/>
          <p:nvPr/>
        </p:nvSpPr>
        <p:spPr>
          <a:xfrm>
            <a:off x="937259"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600" b="0" i="0">
                <a:solidFill>
                  <a:srgbClr val="000000"/>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600" b="0" i="0">
                <a:solidFill>
                  <a:srgbClr val="000000"/>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600" b="0" i="0">
                <a:solidFill>
                  <a:srgbClr val="000000"/>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600" b="0" i="0">
                <a:solidFill>
                  <a:srgbClr val="000000"/>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FFFFF"/>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620" b="0" i="0">
                <a:solidFill>
                  <a:srgbClr val="BFBFBF"/>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222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2222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2222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222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825996" y="1984248"/>
            <a:ext cx="1783080" cy="164592"/>
          </a:xfrm>
          <a:prstGeom prst="roundRect">
            <a:avLst>
              <a:gd name="adj" fmla="val 50000"/>
            </a:avLst>
          </a:prstGeom>
          <a:solidFill>
            <a:srgbClr val="FF0069"/>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825996" y="1984248"/>
            <a:ext cx="1783080" cy="164592"/>
          </a:xfrm>
          <a:prstGeom prst="rect">
            <a:avLst/>
          </a:prstGeom>
          <a:noFill/>
        </p:spPr>
        <p:txBody>
          <a:bodyPr wrap="square" lIns="0" rIns="0" tIns="0" bIns="0" anchor="ctr">
            <a:spAutoFit/>
          </a:bodyPr>
          <a:lstStyle/>
          <a:p>
            <a:pPr algn="ctr"/>
            <a:r>
              <a:rPr sz="560" b="1" i="0" spc="80">
                <a:solidFill>
                  <a:srgbClr val="FFFFFF"/>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1A1630"/>
          </a:solid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8B7CD8"/>
                </a:solidFill>
                <a:latin typeface="Trenda IG Text"/>
              </a:rPr>
              <a:t>ENGINEERING CONTEXT KNOWLEDGE GRAPH</a:t>
            </a:r>
            <a:r>
              <a:rPr sz="700" b="0" i="0">
                <a:solidFill>
                  <a:srgbClr val="BFBFBF"/>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580" b="0" i="0">
                <a:solidFill>
                  <a:srgbClr val="BFBFBF"/>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580" b="0" i="0">
                <a:solidFill>
                  <a:srgbClr val="BFBFBF"/>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580" b="0" i="0">
                <a:solidFill>
                  <a:srgbClr val="BFBFBF"/>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580" b="0" i="0">
                <a:solidFill>
                  <a:srgbClr val="BFBFBF"/>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500" b="1" i="0" spc="80">
                <a:solidFill>
                  <a:srgbClr val="BFBFBF"/>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580" b="0" i="0">
                <a:solidFill>
                  <a:srgbClr val="BFBFBF"/>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580" b="0" i="0">
                <a:solidFill>
                  <a:srgbClr val="BFBFBF"/>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0E0E0E"/>
          </a:solidFill>
          <a:ln w="11430">
            <a:solidFill>
              <a:srgbClr val="3A3A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6B6B6B"/>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560" b="0" i="0">
                <a:solidFill>
                  <a:srgbClr val="6B6B6B"/>
                </a:solidFill>
                <a:latin typeface="Trenda IG Text"/>
              </a:rPr>
              <a:t>not needed for Health Cloud stories</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580" b="1" i="0" spc="150">
                <a:solidFill>
                  <a:srgbClr val="8B7CD8"/>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580" b="0" i="0">
                <a:solidFill>
                  <a:srgbClr val="FFFFFF"/>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580" b="0" i="0">
                <a:solidFill>
                  <a:srgbClr val="FFFFFF"/>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580" b="0" i="0">
                <a:solidFill>
                  <a:srgbClr val="FFFFFF"/>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580" b="0" i="0">
                <a:solidFill>
                  <a:srgbClr val="FFFFFF"/>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580" b="0" i="0">
                <a:solidFill>
                  <a:srgbClr val="FFFFFF"/>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640" b="0" i="0">
                <a:solidFill>
                  <a:srgbClr val="BFBFBF"/>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9050">
            <a:solidFill>
              <a:srgbClr val="8B7C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9050">
            <a:solidFill>
              <a:srgbClr val="8B7C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FFFFF"/>
                </a:solidFill>
                <a:latin typeface="Trenda IG Text"/>
              </a:rPr>
              <a:t>WHERE OUTPUT LANDS</a:t>
            </a:r>
            <a:r>
              <a:rPr sz="700" b="0" i="0">
                <a:solidFill>
                  <a:srgbClr val="BFBFBF"/>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Jira</a:t>
            </a:r>
            <a:r>
              <a:rPr sz="600" b="0" i="0">
                <a:solidFill>
                  <a:srgbClr val="BFBFBF"/>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Confluence</a:t>
            </a:r>
            <a:r>
              <a:rPr sz="600" b="0" i="0">
                <a:solidFill>
                  <a:srgbClr val="BFBFBF"/>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Git</a:t>
            </a:r>
            <a:r>
              <a:rPr sz="600" b="0" i="0">
                <a:solidFill>
                  <a:srgbClr val="BFBFBF"/>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Salesforce DEV</a:t>
            </a:r>
            <a:r>
              <a:rPr sz="600" b="0" i="0">
                <a:solidFill>
                  <a:srgbClr val="BFBFBF"/>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500" b="1" i="0" spc="80">
                <a:solidFill>
                  <a:srgbClr val="BFBFBF"/>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Copado</a:t>
            </a:r>
            <a:r>
              <a:rPr sz="600" b="0" i="0">
                <a:solidFill>
                  <a:srgbClr val="BFBFBF"/>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500" b="1" i="0" spc="80">
                <a:solidFill>
                  <a:srgbClr val="BFBFBF"/>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Zephyr Scale</a:t>
            </a:r>
            <a:r>
              <a:rPr sz="600" b="0" i="0">
                <a:solidFill>
                  <a:srgbClr val="BFBFBF"/>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640" b="1" i="0">
                <a:solidFill>
                  <a:srgbClr val="FF0069"/>
                </a:solidFill>
                <a:latin typeface="Trenda IG Text"/>
              </a:rPr>
              <a:t>Production: the owning team's pipeline after CAB. No agent path.</a:t>
            </a:r>
          </a:p>
        </p:txBody>
      </p:sp>
      <p:sp>
        <p:nvSpPr>
          <p:cNvPr id="152" name="Shape 136"/>
          <p:cNvSpPr/>
          <p:nvPr/>
        </p:nvSpPr>
        <p:spPr>
          <a:xfrm>
            <a:off x="411480"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per Health Cloud task, story to UAT</a:t>
            </a:r>
          </a:p>
        </p:txBody>
      </p:sp>
      <p:sp>
        <p:nvSpPr>
          <p:cNvPr id="156" name="Shape 140"/>
          <p:cNvSpPr/>
          <p:nvPr/>
        </p:nvSpPr>
        <p:spPr>
          <a:xfrm>
            <a:off x="4245864"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H1, H2, H3, H4 and CAB, as today</a:t>
            </a:r>
          </a:p>
        </p:txBody>
      </p:sp>
      <p:sp>
        <p:nvSpPr>
          <p:cNvPr id="160" name="Shape 144"/>
          <p:cNvSpPr/>
          <p:nvPr/>
        </p:nvSpPr>
        <p:spPr>
          <a:xfrm>
            <a:off x="8080247"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FFFFFF"/>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640" b="1" i="0" spc="100">
                <a:solidFill>
                  <a:srgbClr val="FFFFFE"/>
                </a:solidFill>
                <a:latin typeface="Trenda IG Text"/>
              </a:rPr>
              <a:t>1  GOVERN THE DATA IN GOOGLE CLOUD</a:t>
            </a:r>
          </a:p>
        </p:txBody>
      </p:sp>
      <p:sp>
        <p:nvSpPr>
          <p:cNvPr id="9" name="Shape 7"/>
          <p:cNvSpPr/>
          <p:nvPr/>
        </p:nvSpPr>
        <p:spPr>
          <a:xfrm>
            <a:off x="548640" y="1481328"/>
            <a:ext cx="2068372" cy="804672"/>
          </a:xfrm>
          <a:prstGeom prst="roundRect">
            <a:avLst>
              <a:gd name="adj" fmla="val 7000"/>
            </a:avLst>
          </a:prstGeom>
          <a:solidFill>
            <a:srgbClr val="F7F7F7"/>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660" b="1" i="0">
                <a:solidFill>
                  <a:srgbClr val="1A1A1A"/>
                </a:solidFill>
                <a:latin typeface="Trenda IG Text"/>
              </a:rPr>
              <a:t>Sources</a:t>
            </a:r>
          </a:p>
        </p:txBody>
      </p:sp>
      <p:sp>
        <p:nvSpPr>
          <p:cNvPr id="14" name="Text 11"/>
          <p:cNvSpPr txBox="1"/>
          <p:nvPr/>
        </p:nvSpPr>
        <p:spPr>
          <a:xfrm>
            <a:off x="640080" y="1764792"/>
            <a:ext cx="1885492" cy="493776"/>
          </a:xfrm>
          <a:prstGeom prst="rect">
            <a:avLst/>
          </a:prstGeom>
          <a:noFill/>
        </p:spPr>
        <p:txBody>
          <a:bodyPr wrap="square" lIns="0" rIns="0" tIns="0" bIns="0" anchor="t">
            <a:spAutoFit/>
          </a:bodyPr>
          <a:lstStyle/>
          <a:p>
            <a:pPr>
              <a:spcAft>
                <a:spcPts val="100"/>
              </a:spcAft>
            </a:pPr>
            <a:r>
              <a:rPr sz="560" b="0" i="0">
                <a:solidFill>
                  <a:srgbClr val="4D4D4D"/>
                </a:solidFill>
                <a:latin typeface="Trenda IG Text"/>
              </a:rPr>
              <a:t>Epic, athenahealth, ADSI, Strata, SFDC, SFMC engagement. Approved datasets only.</a:t>
            </a:r>
          </a:p>
        </p:txBody>
      </p:sp>
      <p:cxnSp>
        <p:nvCxnSpPr>
          <p:cNvPr id="15" name="Arrow 12"/>
          <p:cNvCxnSpPr/>
          <p:nvPr/>
        </p:nvCxnSpPr>
        <p:spPr>
          <a:xfrm>
            <a:off x="2617012" y="188366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04672"/>
          </a:xfrm>
          <a:prstGeom prst="roundRect">
            <a:avLst>
              <a:gd name="adj" fmla="val 7000"/>
            </a:avLst>
          </a:prstGeom>
          <a:solidFill>
            <a:srgbClr val="F7F7F7"/>
          </a:solidFill>
          <a:ln w="12700">
            <a:solidFill>
              <a:srgbClr val="A070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660" b="1" i="0">
                <a:solidFill>
                  <a:srgbClr val="1A1A1A"/>
                </a:solidFill>
                <a:latin typeface="Trenda IG Text"/>
              </a:rPr>
              <a:t>Bronze</a:t>
            </a:r>
          </a:p>
        </p:txBody>
      </p:sp>
      <p:sp>
        <p:nvSpPr>
          <p:cNvPr id="20" name="Text 17"/>
          <p:cNvSpPr txBox="1"/>
          <p:nvPr/>
        </p:nvSpPr>
        <p:spPr>
          <a:xfrm>
            <a:off x="2854756" y="1764792"/>
            <a:ext cx="1885492" cy="493776"/>
          </a:xfrm>
          <a:prstGeom prst="rect">
            <a:avLst/>
          </a:prstGeom>
          <a:noFill/>
        </p:spPr>
        <p:txBody>
          <a:bodyPr wrap="square" lIns="0" rIns="0" tIns="0" bIns="0" anchor="t">
            <a:spAutoFit/>
          </a:bodyPr>
          <a:lstStyle/>
          <a:p>
            <a:pPr>
              <a:spcAft>
                <a:spcPts val="100"/>
              </a:spcAft>
            </a:pPr>
            <a:r>
              <a:rPr sz="560" b="0" i="0">
                <a:solidFill>
                  <a:srgbClr val="4D4D4D"/>
                </a:solidFill>
                <a:latin typeface="Trenda IG Text"/>
              </a:rPr>
              <a:t>Approved raw extracts with lineage and timestamps. Restricted access.</a:t>
            </a:r>
          </a:p>
        </p:txBody>
      </p:sp>
      <p:cxnSp>
        <p:nvCxnSpPr>
          <p:cNvPr id="21" name="Arrow 18"/>
          <p:cNvCxnSpPr/>
          <p:nvPr/>
        </p:nvCxnSpPr>
        <p:spPr>
          <a:xfrm>
            <a:off x="4831689" y="188366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04672"/>
          </a:xfrm>
          <a:prstGeom prst="roundRect">
            <a:avLst>
              <a:gd name="adj" fmla="val 7000"/>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660" b="1" i="0">
                <a:solidFill>
                  <a:srgbClr val="1A1A1A"/>
                </a:solidFill>
                <a:latin typeface="Trenda IG Text"/>
              </a:rPr>
              <a:t>DLP + Collibra</a:t>
            </a:r>
          </a:p>
        </p:txBody>
      </p:sp>
      <p:sp>
        <p:nvSpPr>
          <p:cNvPr id="26" name="Text 23"/>
          <p:cNvSpPr txBox="1"/>
          <p:nvPr/>
        </p:nvSpPr>
        <p:spPr>
          <a:xfrm>
            <a:off x="5069433" y="1764792"/>
            <a:ext cx="1885492" cy="493776"/>
          </a:xfrm>
          <a:prstGeom prst="rect">
            <a:avLst/>
          </a:prstGeom>
          <a:noFill/>
        </p:spPr>
        <p:txBody>
          <a:bodyPr wrap="square" lIns="0" rIns="0" tIns="0" bIns="0" anchor="t">
            <a:spAutoFit/>
          </a:bodyPr>
          <a:lstStyle/>
          <a:p>
            <a:pPr>
              <a:spcAft>
                <a:spcPts val="100"/>
              </a:spcAft>
            </a:pPr>
            <a:r>
              <a:rPr sz="560" b="0" i="0">
                <a:solidFill>
                  <a:srgbClr val="4D4D4D"/>
                </a:solidFill>
                <a:latin typeface="Trenda IG Text"/>
              </a:rPr>
              <a:t>DLP classifies, the Collibra steward approves, policy tags mask PHI.</a:t>
            </a:r>
          </a:p>
        </p:txBody>
      </p:sp>
      <p:cxnSp>
        <p:nvCxnSpPr>
          <p:cNvPr id="27" name="Arrow 24"/>
          <p:cNvCxnSpPr/>
          <p:nvPr/>
        </p:nvCxnSpPr>
        <p:spPr>
          <a:xfrm>
            <a:off x="7046366" y="188366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04672"/>
          </a:xfrm>
          <a:prstGeom prst="roundRect">
            <a:avLst>
              <a:gd name="adj" fmla="val 7000"/>
            </a:avLst>
          </a:prstGeom>
          <a:solidFill>
            <a:srgbClr val="F7F7F7"/>
          </a:solidFill>
          <a:ln w="1270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660" b="1" i="0">
                <a:solidFill>
                  <a:srgbClr val="1A1A1A"/>
                </a:solidFill>
                <a:latin typeface="Trenda IG Text"/>
              </a:rPr>
              <a:t>Silver</a:t>
            </a:r>
          </a:p>
        </p:txBody>
      </p:sp>
      <p:sp>
        <p:nvSpPr>
          <p:cNvPr id="32" name="Text 29"/>
          <p:cNvSpPr txBox="1"/>
          <p:nvPr/>
        </p:nvSpPr>
        <p:spPr>
          <a:xfrm>
            <a:off x="7284110" y="1764792"/>
            <a:ext cx="1885492" cy="493776"/>
          </a:xfrm>
          <a:prstGeom prst="rect">
            <a:avLst/>
          </a:prstGeom>
          <a:noFill/>
        </p:spPr>
        <p:txBody>
          <a:bodyPr wrap="square" lIns="0" rIns="0" tIns="0" bIns="0" anchor="t">
            <a:spAutoFit/>
          </a:bodyPr>
          <a:lstStyle/>
          <a:p>
            <a:pPr>
              <a:spcAft>
                <a:spcPts val="100"/>
              </a:spcAft>
            </a:pPr>
            <a:r>
              <a:rPr sz="560" b="0" i="0">
                <a:solidFill>
                  <a:srgbClr val="4D4D4D"/>
                </a:solidFill>
                <a:latin typeface="Trenda IG Text"/>
              </a:rPr>
              <a:t>Validated identities, encounters, contacts, consent evidence. Keeps everyone.</a:t>
            </a:r>
          </a:p>
        </p:txBody>
      </p:sp>
      <p:sp>
        <p:nvSpPr>
          <p:cNvPr id="33" name="Shape 30"/>
          <p:cNvSpPr/>
          <p:nvPr/>
        </p:nvSpPr>
        <p:spPr>
          <a:xfrm>
            <a:off x="9407347" y="1481328"/>
            <a:ext cx="2068372" cy="374904"/>
          </a:xfrm>
          <a:prstGeom prst="roundRect">
            <a:avLst>
              <a:gd name="adj" fmla="val 7000"/>
            </a:avLst>
          </a:prstGeom>
          <a:solidFill>
            <a:srgbClr val="F7F7F7"/>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620" b="1" i="0">
                <a:solidFill>
                  <a:srgbClr val="1A1A1A"/>
                </a:solidFill>
                <a:latin typeface="Trenda IG Text"/>
              </a:rPr>
              <a:t>Gold B · eligibility</a:t>
            </a:r>
          </a:p>
        </p:txBody>
      </p:sp>
      <p:sp>
        <p:nvSpPr>
          <p:cNvPr id="37" name="Text 34"/>
          <p:cNvSpPr txBox="1"/>
          <p:nvPr/>
        </p:nvSpPr>
        <p:spPr>
          <a:xfrm>
            <a:off x="9498787" y="1764792"/>
            <a:ext cx="1885492" cy="64008"/>
          </a:xfrm>
          <a:prstGeom prst="rect">
            <a:avLst/>
          </a:prstGeom>
          <a:noFill/>
        </p:spPr>
        <p:txBody>
          <a:bodyPr wrap="square" lIns="0" rIns="0" tIns="0" bIns="0" anchor="t">
            <a:spAutoFit/>
          </a:bodyPr>
          <a:lstStyle/>
          <a:p>
            <a:pPr>
              <a:spcAft>
                <a:spcPts val="100"/>
              </a:spcAft>
            </a:pPr>
            <a:r>
              <a:rPr sz="520" b="0" i="0">
                <a:solidFill>
                  <a:srgbClr val="4D4D4D"/>
                </a:solidFill>
                <a:latin typeface="Trenda IG Text"/>
              </a:rPr>
              <a:t>Identity-linked inputs. Restricted services only.</a:t>
            </a:r>
          </a:p>
        </p:txBody>
      </p:sp>
      <p:sp>
        <p:nvSpPr>
          <p:cNvPr id="38" name="Shape 35"/>
          <p:cNvSpPr/>
          <p:nvPr/>
        </p:nvSpPr>
        <p:spPr>
          <a:xfrm>
            <a:off x="9407347" y="1911096"/>
            <a:ext cx="2068372" cy="374904"/>
          </a:xfrm>
          <a:prstGeom prst="roundRect">
            <a:avLst>
              <a:gd name="adj" fmla="val 7000"/>
            </a:avLst>
          </a:prstGeom>
          <a:solidFill>
            <a:srgbClr val="F7F7F7"/>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1975104"/>
            <a:ext cx="201168" cy="20116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1975104"/>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1975104"/>
            <a:ext cx="182880" cy="182880"/>
          </a:xfrm>
          <a:prstGeom prst="rect">
            <a:avLst/>
          </a:prstGeom>
        </p:spPr>
      </p:pic>
      <p:sp>
        <p:nvSpPr>
          <p:cNvPr id="42" name="Text 38"/>
          <p:cNvSpPr txBox="1"/>
          <p:nvPr/>
        </p:nvSpPr>
        <p:spPr>
          <a:xfrm>
            <a:off x="9974275" y="1965960"/>
            <a:ext cx="1428292" cy="201168"/>
          </a:xfrm>
          <a:prstGeom prst="rect">
            <a:avLst/>
          </a:prstGeom>
          <a:noFill/>
        </p:spPr>
        <p:txBody>
          <a:bodyPr wrap="square" lIns="0" rIns="0" tIns="0" bIns="0" anchor="ctr">
            <a:spAutoFit/>
          </a:bodyPr>
          <a:lstStyle/>
          <a:p>
            <a:r>
              <a:rPr sz="620" b="1" i="0">
                <a:solidFill>
                  <a:srgbClr val="1A1A1A"/>
                </a:solidFill>
                <a:latin typeface="Trenda IG Text"/>
              </a:rPr>
              <a:t>Gold A · intelligence</a:t>
            </a:r>
          </a:p>
        </p:txBody>
      </p:sp>
      <p:sp>
        <p:nvSpPr>
          <p:cNvPr id="43" name="Text 39"/>
          <p:cNvSpPr txBox="1"/>
          <p:nvPr/>
        </p:nvSpPr>
        <p:spPr>
          <a:xfrm>
            <a:off x="9498787" y="2194560"/>
            <a:ext cx="1885492" cy="64008"/>
          </a:xfrm>
          <a:prstGeom prst="rect">
            <a:avLst/>
          </a:prstGeom>
          <a:noFill/>
        </p:spPr>
        <p:txBody>
          <a:bodyPr wrap="square" lIns="0" rIns="0" tIns="0" bIns="0" anchor="t">
            <a:spAutoFit/>
          </a:bodyPr>
          <a:lstStyle/>
          <a:p>
            <a:pPr>
              <a:spcAft>
                <a:spcPts val="100"/>
              </a:spcAft>
            </a:pPr>
            <a:r>
              <a:rPr sz="520" b="0" i="0">
                <a:solidFill>
                  <a:srgbClr val="4D4D4D"/>
                </a:solidFill>
                <a:latin typeface="Trenda IG Text"/>
              </a:rPr>
              <a:t>Protected aggregates: e.g. Heart · Maternity · General · more.</a:t>
            </a:r>
          </a:p>
        </p:txBody>
      </p:sp>
      <p:cxnSp>
        <p:nvCxnSpPr>
          <p:cNvPr id="44" name="Arrow 40"/>
          <p:cNvCxnSpPr/>
          <p:nvPr/>
        </p:nvCxnSpPr>
        <p:spPr>
          <a:xfrm>
            <a:off x="9261043" y="1668780"/>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098548"/>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FF0069"/>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500" b="1" i="0" spc="80">
                <a:solidFill>
                  <a:srgbClr val="FFFFFE"/>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ECE9F5"/>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640" b="1" i="0" spc="100">
                <a:solidFill>
                  <a:srgbClr val="FFFFFE"/>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F7F7F7"/>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640" b="1" i="0">
                <a:solidFill>
                  <a:srgbClr val="1A1A1A"/>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530" b="0" i="0">
                <a:solidFill>
                  <a:srgbClr val="4D4D4D"/>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F7F7F7"/>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590" b="1" i="0">
                <a:solidFill>
                  <a:srgbClr val="1A1A1A"/>
                </a:solidFill>
                <a:latin typeface="Trenda IG Text"/>
              </a:rPr>
              <a:t>Orchestrator · Strategist · Analytics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540" b="0" i="0">
                <a:solidFill>
                  <a:srgbClr val="4D4D4D"/>
                </a:solidFill>
                <a:latin typeface="Trenda IG Text"/>
              </a:rPr>
              <a:t>Read the graph and Gold A; size the audience as counts.</a:t>
            </a:r>
          </a:p>
        </p:txBody>
      </p:sp>
      <p:sp>
        <p:nvSpPr>
          <p:cNvPr id="64" name="Shape 58"/>
          <p:cNvSpPr/>
          <p:nvPr/>
        </p:nvSpPr>
        <p:spPr>
          <a:xfrm>
            <a:off x="4239768" y="2944368"/>
            <a:ext cx="1699259" cy="713232"/>
          </a:xfrm>
          <a:prstGeom prst="roundRect">
            <a:avLst>
              <a:gd name="adj" fmla="val 8000"/>
            </a:avLst>
          </a:prstGeom>
          <a:solidFill>
            <a:srgbClr val="FFF7CC"/>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9</a:t>
            </a:r>
          </a:p>
        </p:txBody>
      </p:sp>
      <p:pic>
        <p:nvPicPr>
          <p:cNvPr id="67" name="Picture 66" descr="people-black.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680" b="1" i="0">
                <a:solidFill>
                  <a:srgbClr val="1A1A1A"/>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500" b="1" i="0" spc="80">
                <a:solidFill>
                  <a:srgbClr val="000000"/>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520" b="0" i="0">
                <a:solidFill>
                  <a:srgbClr val="4D4D4D"/>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F7F7F7"/>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620" b="1" i="0">
                <a:solidFill>
                  <a:srgbClr val="1A1A1A"/>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520" b="0" i="0">
                <a:solidFill>
                  <a:srgbClr val="4D4D4D"/>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620" b="1" i="0">
                <a:solidFill>
                  <a:srgbClr val="2E8F1C"/>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500" b="0" i="0">
                <a:solidFill>
                  <a:srgbClr val="4D4D4D"/>
                </a:solidFill>
                <a:latin typeface="Trenda IG Text"/>
              </a:rPr>
              <a:t>Test contacts only → failure modes (consent, STOP, links, hours) → classify + report. </a:t>
            </a:r>
            <a:r>
              <a:rPr sz="500" b="1" i="0">
                <a:solidFill>
                  <a:srgbClr val="FF0069"/>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FFF7CC"/>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12</a:t>
            </a:r>
          </a:p>
        </p:txBody>
      </p:sp>
      <p:pic>
        <p:nvPicPr>
          <p:cNvPr id="85" name="Picture 84" descr="people-black.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680" b="1" i="0">
                <a:solidFill>
                  <a:srgbClr val="1A1A1A"/>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500" b="1" i="0" spc="80">
                <a:solidFill>
                  <a:srgbClr val="000000"/>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520" b="0" i="0">
                <a:solidFill>
                  <a:srgbClr val="4D4D4D"/>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905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905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540" b="1" i="0" spc="100">
                <a:solidFill>
                  <a:srgbClr val="6B6B6B"/>
                </a:solidFill>
                <a:latin typeface="Trenda IG Text"/>
              </a:rPr>
              <a:t>CONTEXT + OVERSIGHT</a:t>
            </a:r>
          </a:p>
          <a:p>
            <a:pPr>
              <a:spcAft>
                <a:spcPts val="100"/>
              </a:spcAft>
            </a:pPr>
            <a:r>
              <a:rPr sz="500" b="0" i="0">
                <a:solidFill>
                  <a:srgbClr val="6B6B6B"/>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F7F7F7"/>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580" b="1" i="0">
                <a:solidFill>
                  <a:srgbClr val="1A1A1A"/>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500" b="0" i="0">
                <a:solidFill>
                  <a:srgbClr val="4D4D4D"/>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F7F7F7"/>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580" b="1" i="0">
                <a:solidFill>
                  <a:srgbClr val="1A1A1A"/>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500" b="0" i="0">
                <a:solidFill>
                  <a:srgbClr val="4D4D4D"/>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F7F7F7"/>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580" b="1" i="0">
                <a:solidFill>
                  <a:srgbClr val="1A1A1A"/>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500" b="0" i="0">
                <a:solidFill>
                  <a:srgbClr val="4D4D4D"/>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F7F7F7"/>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580" b="1" i="0">
                <a:solidFill>
                  <a:srgbClr val="1A1A1A"/>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500" b="0" i="0">
                <a:solidFill>
                  <a:srgbClr val="4D4D4D"/>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FFF7CC"/>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black.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680" b="1" i="0">
                <a:solidFill>
                  <a:srgbClr val="1A1A1A"/>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500" b="1" i="0" spc="80">
                <a:solidFill>
                  <a:srgbClr val="000000"/>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500" b="0" i="0">
                <a:solidFill>
                  <a:srgbClr val="4D4D4D"/>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15875">
            <a:solidFill>
              <a:srgbClr val="8B7C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15875">
            <a:solidFill>
              <a:srgbClr val="E976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286000"/>
            <a:ext cx="0" cy="164592"/>
          </a:xfrm>
          <a:prstGeom prst="line">
            <a:avLst/>
          </a:prstGeom>
          <a:ln w="1905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905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FF0069"/>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500" b="1" i="0" spc="80">
                <a:solidFill>
                  <a:srgbClr val="FFFFFE"/>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FFFFFF"/>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640" b="1" i="0" spc="100">
                <a:solidFill>
                  <a:srgbClr val="000000"/>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F7F7F7"/>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620" b="1" i="0">
                <a:solidFill>
                  <a:srgbClr val="1A1A1A"/>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500" b="0" i="0">
                <a:solidFill>
                  <a:srgbClr val="4D4D4D"/>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FFF7CC"/>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14</a:t>
            </a:r>
          </a:p>
        </p:txBody>
      </p:sp>
      <p:pic>
        <p:nvPicPr>
          <p:cNvPr id="139" name="Picture 138" descr="people-black.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680" b="1" i="0">
                <a:solidFill>
                  <a:srgbClr val="1A1A1A"/>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500" b="1" i="0" spc="80">
                <a:solidFill>
                  <a:srgbClr val="000000"/>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500" b="0" i="0">
                <a:solidFill>
                  <a:srgbClr val="4D4D4D"/>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95344" y="4855464"/>
            <a:ext cx="1755648"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41063" y="4892040"/>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41063" y="4892040"/>
            <a:ext cx="182880" cy="182880"/>
          </a:xfrm>
          <a:prstGeom prst="rect">
            <a:avLst/>
          </a:prstGeom>
          <a:noFill/>
        </p:spPr>
        <p:txBody>
          <a:bodyPr wrap="square" lIns="0" rIns="0" tIns="0" bIns="0" anchor="ctr">
            <a:spAutoFit/>
          </a:bodyPr>
          <a:lstStyle/>
          <a:p>
            <a:pPr algn="ctr"/>
            <a:r>
              <a:rPr sz="660" b="1" i="0">
                <a:solidFill>
                  <a:srgbClr val="000000"/>
                </a:solidFill>
                <a:latin typeface="Trenda IG Text"/>
              </a:rPr>
              <a:t>15</a:t>
            </a:r>
          </a:p>
        </p:txBody>
      </p:sp>
      <p:sp>
        <p:nvSpPr>
          <p:cNvPr id="148" name="Text 136"/>
          <p:cNvSpPr txBox="1"/>
          <p:nvPr/>
        </p:nvSpPr>
        <p:spPr>
          <a:xfrm>
            <a:off x="4169663" y="4864608"/>
            <a:ext cx="1444751" cy="329184"/>
          </a:xfrm>
          <a:prstGeom prst="rect">
            <a:avLst/>
          </a:prstGeom>
          <a:noFill/>
        </p:spPr>
        <p:txBody>
          <a:bodyPr wrap="square" lIns="0" rIns="0" tIns="0" bIns="0" anchor="t">
            <a:spAutoFit/>
          </a:bodyPr>
          <a:lstStyle/>
          <a:p>
            <a:pPr>
              <a:lnSpc>
                <a:spcPct val="90000"/>
              </a:lnSpc>
            </a:pPr>
            <a:r>
              <a:rPr sz="620" b="1" i="0">
                <a:solidFill>
                  <a:srgbClr val="1A1A1A"/>
                </a:solidFill>
                <a:latin typeface="Trenda IG Text"/>
              </a:rPr>
              <a:t>Policy engine + activation gateway</a:t>
            </a:r>
          </a:p>
        </p:txBody>
      </p:sp>
      <p:sp>
        <p:nvSpPr>
          <p:cNvPr id="149" name="Text 137"/>
          <p:cNvSpPr txBox="1"/>
          <p:nvPr/>
        </p:nvSpPr>
        <p:spPr>
          <a:xfrm>
            <a:off x="3968496" y="5202936"/>
            <a:ext cx="1627631" cy="374904"/>
          </a:xfrm>
          <a:prstGeom prst="rect">
            <a:avLst/>
          </a:prstGeom>
          <a:noFill/>
        </p:spPr>
        <p:txBody>
          <a:bodyPr wrap="square" lIns="0" rIns="0" tIns="0" bIns="0" anchor="t">
            <a:spAutoFit/>
          </a:bodyPr>
          <a:lstStyle/>
          <a:p>
            <a:r>
              <a:rPr sz="500" b="0" i="0">
                <a:solidFill>
                  <a:srgbClr val="4D4D4D"/>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F7F7F7"/>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560" b="1" i="0">
                <a:solidFill>
                  <a:srgbClr val="1A1A1A"/>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F7F7F7"/>
          </a:solidFill>
          <a:ln w="1270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560" b="1" i="0">
                <a:solidFill>
                  <a:srgbClr val="1A1A1A"/>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F7F7F7"/>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580" b="1" i="0">
                <a:solidFill>
                  <a:srgbClr val="1A1A1A"/>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520" b="0" i="0">
                <a:solidFill>
                  <a:srgbClr val="4D4D4D"/>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F7F7F7"/>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580" b="1" i="0">
                <a:solidFill>
                  <a:srgbClr val="1A1A1A"/>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520" b="0" i="0">
                <a:solidFill>
                  <a:srgbClr val="4D4D4D"/>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540" b="1" i="0">
                <a:solidFill>
                  <a:srgbClr val="1A1A1A"/>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F7F7F7"/>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540" b="1" i="0">
                <a:solidFill>
                  <a:srgbClr val="1A1A1A"/>
                </a:solidFill>
                <a:latin typeface="Trenda IG Text"/>
              </a:rPr>
              <a:t>Measurement</a:t>
            </a:r>
          </a:p>
        </p:txBody>
      </p:sp>
      <p:cxnSp>
        <p:nvCxnSpPr>
          <p:cNvPr id="176" name="Arrow 162"/>
          <p:cNvCxnSpPr/>
          <p:nvPr/>
        </p:nvCxnSpPr>
        <p:spPr>
          <a:xfrm>
            <a:off x="10863072" y="5193792"/>
            <a:ext cx="0" cy="54864"/>
          </a:xfrm>
          <a:prstGeom prst="line">
            <a:avLst/>
          </a:prstGeom>
          <a:ln w="12700">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12700">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12700">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12700">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12700">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1587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68780"/>
            <a:ext cx="246889" cy="0"/>
          </a:xfrm>
          <a:prstGeom prst="line">
            <a:avLst/>
          </a:prstGeom>
          <a:ln w="1905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68780"/>
            <a:ext cx="0" cy="2775204"/>
          </a:xfrm>
          <a:prstGeom prst="line">
            <a:avLst/>
          </a:prstGeom>
          <a:ln w="1905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905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15875">
            <a:solidFill>
              <a:srgbClr val="56E13B"/>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15875">
            <a:solidFill>
              <a:srgbClr val="56E13B"/>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883664"/>
            <a:ext cx="0" cy="3849624"/>
          </a:xfrm>
          <a:prstGeom prst="line">
            <a:avLst/>
          </a:prstGeom>
          <a:ln w="15875">
            <a:solidFill>
              <a:srgbClr val="56E13B"/>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883664"/>
            <a:ext cx="246888" cy="0"/>
          </a:xfrm>
          <a:prstGeom prst="line">
            <a:avLst/>
          </a:prstGeom>
          <a:ln w="15875">
            <a:solidFill>
              <a:srgbClr val="56E1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56E13B"/>
          </a:solid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459" b="1" i="0" spc="80">
                <a:solidFill>
                  <a:srgbClr val="000000"/>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620" b="1" i="0" spc="120">
                <a:solidFill>
                  <a:srgbClr val="FF0069"/>
                </a:solidFill>
                <a:latin typeface="Trenda IG Text"/>
              </a:rPr>
              <a:t>SAFEGUARDS</a:t>
            </a:r>
          </a:p>
          <a:p>
            <a:pPr>
              <a:spcAft>
                <a:spcPts val="100"/>
              </a:spcAft>
            </a:pPr>
            <a:r>
              <a:rPr sz="500" b="0" i="0">
                <a:solidFill>
                  <a:srgbClr val="6B6B6B"/>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580" b="0" i="0">
                <a:solidFill>
                  <a:srgbClr val="1A1A1A"/>
                </a:solidFill>
                <a:latin typeface="Trenda IG Text"/>
              </a:rPr>
              <a:t>Send-time re-checks + feedback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620" b="1" i="0">
                <a:solidFill>
                  <a:srgbClr val="000000"/>
                </a:solidFill>
                <a:latin typeface="Trenda IG Text"/>
              </a:rPr>
              <a:t>PHASE 0  </a:t>
            </a:r>
            <a:r>
              <a:rPr sz="620" b="1" i="0">
                <a:solidFill>
                  <a:srgbClr val="000000"/>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F7F7F7"/>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E0FAFE"/>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before 1</a:t>
            </a:r>
          </a:p>
        </p:txBody>
      </p:sp>
      <p:sp>
        <p:nvSpPr>
          <p:cNvPr id="11" name="Shape 10"/>
          <p:cNvSpPr/>
          <p:nvPr/>
        </p:nvSpPr>
        <p:spPr>
          <a:xfrm>
            <a:off x="521208" y="2221991"/>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0936" y="2157984"/>
            <a:ext cx="1268403" cy="365760"/>
          </a:xfrm>
          <a:prstGeom prst="rect">
            <a:avLst/>
          </a:prstGeom>
          <a:noFill/>
        </p:spPr>
        <p:txBody>
          <a:bodyPr wrap="square" lIns="0" rIns="0" tIns="0" bIns="0" anchor="t">
            <a:spAutoFit/>
          </a:bodyPr>
          <a:lstStyle/>
          <a:p>
            <a:r>
              <a:rPr sz="580" b="0" i="0">
                <a:solidFill>
                  <a:srgbClr val="4D4D4D"/>
                </a:solidFill>
                <a:latin typeface="Trenda IG Text"/>
              </a:rPr>
              <a:t>BigQuery inventory, PHI classifications, Collibra owners, refresh rates</a:t>
            </a:r>
          </a:p>
        </p:txBody>
      </p:sp>
      <p:sp>
        <p:nvSpPr>
          <p:cNvPr id="13" name="Shape 12"/>
          <p:cNvSpPr/>
          <p:nvPr/>
        </p:nvSpPr>
        <p:spPr>
          <a:xfrm>
            <a:off x="521208" y="2606039"/>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30936" y="2542032"/>
            <a:ext cx="1268403" cy="365760"/>
          </a:xfrm>
          <a:prstGeom prst="rect">
            <a:avLst/>
          </a:prstGeom>
          <a:noFill/>
        </p:spPr>
        <p:txBody>
          <a:bodyPr wrap="square" lIns="0" rIns="0" tIns="0" bIns="0" anchor="t">
            <a:spAutoFit/>
          </a:bodyPr>
          <a:lstStyle/>
          <a:p>
            <a:r>
              <a:rPr sz="580" b="0" i="0">
                <a:solidFill>
                  <a:srgbClr val="4D4D4D"/>
                </a:solidFill>
                <a:latin typeface="Trenda IG Text"/>
              </a:rPr>
              <a:t>Map today's CHF campaign end to end</a:t>
            </a:r>
          </a:p>
        </p:txBody>
      </p:sp>
      <p:sp>
        <p:nvSpPr>
          <p:cNvPr id="15" name="Shape 14"/>
          <p:cNvSpPr/>
          <p:nvPr/>
        </p:nvSpPr>
        <p:spPr>
          <a:xfrm>
            <a:off x="521208" y="2990087"/>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30936" y="2926079"/>
            <a:ext cx="1268403" cy="365760"/>
          </a:xfrm>
          <a:prstGeom prst="rect">
            <a:avLst/>
          </a:prstGeom>
          <a:noFill/>
        </p:spPr>
        <p:txBody>
          <a:bodyPr wrap="square" lIns="0" rIns="0" tIns="0" bIns="0" anchor="t">
            <a:spAutoFit/>
          </a:bodyPr>
          <a:lstStyle/>
          <a:p>
            <a:r>
              <a:rPr sz="580" b="0" i="0">
                <a:solidFill>
                  <a:srgbClr val="4D4D4D"/>
                </a:solidFill>
                <a:latin typeface="Trenda IG Text"/>
              </a:rPr>
              <a:t>BAAs, Salesforce licences, G1-G3 signers</a:t>
            </a:r>
          </a:p>
        </p:txBody>
      </p:sp>
      <p:sp>
        <p:nvSpPr>
          <p:cNvPr id="17" name="Shape 16"/>
          <p:cNvSpPr/>
          <p:nvPr/>
        </p:nvSpPr>
        <p:spPr>
          <a:xfrm>
            <a:off x="521208" y="337413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30936" y="3310128"/>
            <a:ext cx="1268403" cy="365760"/>
          </a:xfrm>
          <a:prstGeom prst="rect">
            <a:avLst/>
          </a:prstGeom>
          <a:noFill/>
        </p:spPr>
        <p:txBody>
          <a:bodyPr wrap="square" lIns="0" rIns="0" tIns="0" bIns="0" anchor="t">
            <a:spAutoFit/>
          </a:bodyPr>
          <a:lstStyle/>
          <a:p>
            <a:r>
              <a:rPr sz="580" b="0" i="0">
                <a:solidFill>
                  <a:srgbClr val="4D4D4D"/>
                </a:solidFill>
                <a:latin typeface="Trenda IG Text"/>
              </a:rPr>
              <a:t>Measure today's CHF process</a:t>
            </a:r>
          </a:p>
        </p:txBody>
      </p:sp>
      <p:sp>
        <p:nvSpPr>
          <p:cNvPr id="19" name="Shape 18"/>
          <p:cNvSpPr/>
          <p:nvPr/>
        </p:nvSpPr>
        <p:spPr>
          <a:xfrm>
            <a:off x="484632"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4005072"/>
            <a:ext cx="1323267" cy="585216"/>
          </a:xfrm>
          <a:prstGeom prst="rect">
            <a:avLst/>
          </a:prstGeom>
          <a:noFill/>
        </p:spPr>
        <p:txBody>
          <a:bodyPr wrap="square" lIns="0" rIns="0" tIns="0" bIns="0" anchor="ctr">
            <a:spAutoFit/>
          </a:bodyPr>
          <a:lstStyle/>
          <a:p>
            <a:pPr>
              <a:spcAft>
                <a:spcPts val="100"/>
              </a:spcAft>
            </a:pPr>
            <a:r>
              <a:rPr sz="520" b="1" i="0">
                <a:solidFill>
                  <a:srgbClr val="0089A0"/>
                </a:solidFill>
                <a:latin typeface="Trenda IG Text"/>
              </a:rPr>
              <a:t>EXIT  </a:t>
            </a:r>
          </a:p>
          <a:p>
            <a:pPr>
              <a:spcAft>
                <a:spcPts val="100"/>
              </a:spcAft>
            </a:pPr>
            <a:r>
              <a:rPr sz="600" b="1" i="0">
                <a:solidFill>
                  <a:srgbClr val="1A1A1A"/>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620" b="1" i="0">
                <a:solidFill>
                  <a:srgbClr val="FFFFFE"/>
                </a:solidFill>
                <a:latin typeface="Trenda IG Text"/>
              </a:rPr>
              <a:t>PHASE 1  </a:t>
            </a:r>
            <a:r>
              <a:rPr sz="620" b="1" i="0">
                <a:solidFill>
                  <a:srgbClr val="FFFFFE"/>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F7F7F7"/>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1 · 2 · 4 · 5 · 6</a:t>
            </a:r>
          </a:p>
        </p:txBody>
      </p:sp>
      <p:sp>
        <p:nvSpPr>
          <p:cNvPr id="27" name="Shape 26"/>
          <p:cNvSpPr/>
          <p:nvPr/>
        </p:nvSpPr>
        <p:spPr>
          <a:xfrm>
            <a:off x="2155371" y="2221991"/>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65099" y="2157984"/>
            <a:ext cx="1268403" cy="365760"/>
          </a:xfrm>
          <a:prstGeom prst="rect">
            <a:avLst/>
          </a:prstGeom>
          <a:noFill/>
        </p:spPr>
        <p:txBody>
          <a:bodyPr wrap="square" lIns="0" rIns="0" tIns="0" bIns="0" anchor="t">
            <a:spAutoFit/>
          </a:bodyPr>
          <a:lstStyle/>
          <a:p>
            <a:r>
              <a:rPr sz="580" b="0" i="0">
                <a:solidFill>
                  <a:srgbClr val="4D4D4D"/>
                </a:solidFill>
                <a:latin typeface="Trenda IG Text"/>
              </a:rPr>
              <a:t>Approved sources into Bronze</a:t>
            </a:r>
          </a:p>
        </p:txBody>
      </p:sp>
      <p:sp>
        <p:nvSpPr>
          <p:cNvPr id="29" name="Shape 28"/>
          <p:cNvSpPr/>
          <p:nvPr/>
        </p:nvSpPr>
        <p:spPr>
          <a:xfrm>
            <a:off x="2155371" y="2606039"/>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65099" y="2542032"/>
            <a:ext cx="1268403" cy="365760"/>
          </a:xfrm>
          <a:prstGeom prst="rect">
            <a:avLst/>
          </a:prstGeom>
          <a:noFill/>
        </p:spPr>
        <p:txBody>
          <a:bodyPr wrap="square" lIns="0" rIns="0" tIns="0" bIns="0" anchor="t">
            <a:spAutoFit/>
          </a:bodyPr>
          <a:lstStyle/>
          <a:p>
            <a:r>
              <a:rPr sz="580" b="0" i="0">
                <a:solidFill>
                  <a:srgbClr val="4D4D4D"/>
                </a:solidFill>
                <a:latin typeface="Trenda IG Text"/>
              </a:rPr>
              <a:t>Silver: identities, encounters, contacts, consent; keeps everyone</a:t>
            </a:r>
          </a:p>
        </p:txBody>
      </p:sp>
      <p:sp>
        <p:nvSpPr>
          <p:cNvPr id="31" name="Shape 30"/>
          <p:cNvSpPr/>
          <p:nvPr/>
        </p:nvSpPr>
        <p:spPr>
          <a:xfrm>
            <a:off x="2155371" y="2990087"/>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65099" y="2926079"/>
            <a:ext cx="1268403" cy="365760"/>
          </a:xfrm>
          <a:prstGeom prst="rect">
            <a:avLst/>
          </a:prstGeom>
          <a:noFill/>
        </p:spPr>
        <p:txBody>
          <a:bodyPr wrap="square" lIns="0" rIns="0" tIns="0" bIns="0" anchor="t">
            <a:spAutoFit/>
          </a:bodyPr>
          <a:lstStyle/>
          <a:p>
            <a:r>
              <a:rPr sz="580" b="0" i="0">
                <a:solidFill>
                  <a:srgbClr val="4D4D4D"/>
                </a:solidFill>
                <a:latin typeface="Trenda IG Text"/>
              </a:rPr>
              <a:t>Gold B (restricted) and Gold A (aggregates)</a:t>
            </a:r>
          </a:p>
        </p:txBody>
      </p:sp>
      <p:sp>
        <p:nvSpPr>
          <p:cNvPr id="33" name="Shape 32"/>
          <p:cNvSpPr/>
          <p:nvPr/>
        </p:nvSpPr>
        <p:spPr>
          <a:xfrm>
            <a:off x="2155371" y="3374136"/>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65099" y="3310128"/>
            <a:ext cx="1268403" cy="365760"/>
          </a:xfrm>
          <a:prstGeom prst="rect">
            <a:avLst/>
          </a:prstGeom>
          <a:noFill/>
        </p:spPr>
        <p:txBody>
          <a:bodyPr wrap="square" lIns="0" rIns="0" tIns="0" bIns="0" anchor="t">
            <a:spAutoFit/>
          </a:bodyPr>
          <a:lstStyle/>
          <a:p>
            <a:r>
              <a:rPr sz="580" b="0" i="0">
                <a:solidFill>
                  <a:srgbClr val="4D4D4D"/>
                </a:solidFill>
                <a:latin typeface="Trenda IG Text"/>
              </a:rPr>
              <a:t>Synthetic data first</a:t>
            </a:r>
          </a:p>
        </p:txBody>
      </p:sp>
      <p:sp>
        <p:nvSpPr>
          <p:cNvPr id="35" name="Shape 34"/>
          <p:cNvSpPr/>
          <p:nvPr/>
        </p:nvSpPr>
        <p:spPr>
          <a:xfrm>
            <a:off x="2118795"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4005072"/>
            <a:ext cx="1323267" cy="585216"/>
          </a:xfrm>
          <a:prstGeom prst="rect">
            <a:avLst/>
          </a:prstGeom>
          <a:noFill/>
        </p:spPr>
        <p:txBody>
          <a:bodyPr wrap="square" lIns="0" rIns="0" tIns="0" bIns="0" anchor="ctr">
            <a:spAutoFit/>
          </a:bodyPr>
          <a:lstStyle/>
          <a:p>
            <a:pPr>
              <a:spcAft>
                <a:spcPts val="100"/>
              </a:spcAft>
            </a:pPr>
            <a:r>
              <a:rPr sz="520" b="1" i="0">
                <a:solidFill>
                  <a:srgbClr val="FF0069"/>
                </a:solidFill>
                <a:latin typeface="Trenda IG Text"/>
              </a:rPr>
              <a:t>EXIT  </a:t>
            </a:r>
          </a:p>
          <a:p>
            <a:pPr>
              <a:spcAft>
                <a:spcPts val="100"/>
              </a:spcAft>
            </a:pPr>
            <a:r>
              <a:rPr sz="600" b="1" i="0">
                <a:solidFill>
                  <a:srgbClr val="1A1A1A"/>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620" b="1" i="0">
                <a:solidFill>
                  <a:srgbClr val="FFFFFE"/>
                </a:solidFill>
                <a:latin typeface="Trenda IG Text"/>
              </a:rPr>
              <a:t>PHASE 2  </a:t>
            </a:r>
            <a:r>
              <a:rPr sz="620" b="1" i="0">
                <a:solidFill>
                  <a:srgbClr val="FFFFFE"/>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F7F7F7"/>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3</a:t>
            </a:r>
          </a:p>
        </p:txBody>
      </p:sp>
      <p:sp>
        <p:nvSpPr>
          <p:cNvPr id="43" name="Shape 42"/>
          <p:cNvSpPr/>
          <p:nvPr/>
        </p:nvSpPr>
        <p:spPr>
          <a:xfrm>
            <a:off x="3789534" y="2221991"/>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99262" y="2157984"/>
            <a:ext cx="1268403" cy="365760"/>
          </a:xfrm>
          <a:prstGeom prst="rect">
            <a:avLst/>
          </a:prstGeom>
          <a:noFill/>
        </p:spPr>
        <p:txBody>
          <a:bodyPr wrap="square" lIns="0" rIns="0" tIns="0" bIns="0" anchor="t">
            <a:spAutoFit/>
          </a:bodyPr>
          <a:lstStyle/>
          <a:p>
            <a:r>
              <a:rPr sz="580" b="0" i="0">
                <a:solidFill>
                  <a:srgbClr val="4D4D4D"/>
                </a:solidFill>
                <a:latin typeface="Trenda IG Text"/>
              </a:rPr>
              <a:t>DLP, Collibra steward approval, policy tags, masking, row access</a:t>
            </a:r>
          </a:p>
        </p:txBody>
      </p:sp>
      <p:sp>
        <p:nvSpPr>
          <p:cNvPr id="45" name="Shape 44"/>
          <p:cNvSpPr/>
          <p:nvPr/>
        </p:nvSpPr>
        <p:spPr>
          <a:xfrm>
            <a:off x="3789534" y="2606039"/>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99262" y="2542032"/>
            <a:ext cx="1268403" cy="365760"/>
          </a:xfrm>
          <a:prstGeom prst="rect">
            <a:avLst/>
          </a:prstGeom>
          <a:noFill/>
        </p:spPr>
        <p:txBody>
          <a:bodyPr wrap="square" lIns="0" rIns="0" tIns="0" bIns="0" anchor="t">
            <a:spAutoFit/>
          </a:bodyPr>
          <a:lstStyle/>
          <a:p>
            <a:r>
              <a:rPr sz="580" b="0" i="0">
                <a:solidFill>
                  <a:srgbClr val="4D4D4D"/>
                </a:solidFill>
                <a:latin typeface="Trenda IG Text"/>
              </a:rPr>
              <a:t>Separate service identities; fail-closed policy removal</a:t>
            </a:r>
          </a:p>
        </p:txBody>
      </p:sp>
      <p:sp>
        <p:nvSpPr>
          <p:cNvPr id="47" name="Shape 46"/>
          <p:cNvSpPr/>
          <p:nvPr/>
        </p:nvSpPr>
        <p:spPr>
          <a:xfrm>
            <a:off x="3789534" y="2990087"/>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99262" y="2926079"/>
            <a:ext cx="1268403" cy="365760"/>
          </a:xfrm>
          <a:prstGeom prst="rect">
            <a:avLst/>
          </a:prstGeom>
          <a:noFill/>
        </p:spPr>
        <p:txBody>
          <a:bodyPr wrap="square" lIns="0" rIns="0" tIns="0" bIns="0" anchor="t">
            <a:spAutoFit/>
          </a:bodyPr>
          <a:lstStyle/>
          <a:p>
            <a:r>
              <a:rPr sz="580" b="0" i="0">
                <a:solidFill>
                  <a:srgbClr val="4D4D4D"/>
                </a:solidFill>
                <a:latin typeface="Trenda IG Text"/>
              </a:rPr>
              <a:t>Negative-access tests</a:t>
            </a:r>
          </a:p>
        </p:txBody>
      </p:sp>
      <p:sp>
        <p:nvSpPr>
          <p:cNvPr id="49" name="Shape 48"/>
          <p:cNvSpPr/>
          <p:nvPr/>
        </p:nvSpPr>
        <p:spPr>
          <a:xfrm>
            <a:off x="3752958"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4005072"/>
            <a:ext cx="1323267" cy="585216"/>
          </a:xfrm>
          <a:prstGeom prst="rect">
            <a:avLst/>
          </a:prstGeom>
          <a:noFill/>
        </p:spPr>
        <p:txBody>
          <a:bodyPr wrap="square" lIns="0" rIns="0" tIns="0" bIns="0" anchor="ctr">
            <a:spAutoFit/>
          </a:bodyPr>
          <a:lstStyle/>
          <a:p>
            <a:pPr>
              <a:spcAft>
                <a:spcPts val="100"/>
              </a:spcAft>
            </a:pPr>
            <a:r>
              <a:rPr sz="520" b="1" i="0">
                <a:solidFill>
                  <a:srgbClr val="FF0069"/>
                </a:solidFill>
                <a:latin typeface="Trenda IG Text"/>
              </a:rPr>
              <a:t>EXIT  </a:t>
            </a:r>
          </a:p>
          <a:p>
            <a:pPr>
              <a:spcAft>
                <a:spcPts val="100"/>
              </a:spcAft>
            </a:pPr>
            <a:r>
              <a:rPr sz="600" b="1" i="0">
                <a:solidFill>
                  <a:srgbClr val="1A1A1A"/>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620" b="1" i="0">
                <a:solidFill>
                  <a:srgbClr val="FFFFFE"/>
                </a:solidFill>
                <a:latin typeface="Trenda IG Text"/>
              </a:rPr>
              <a:t>PHASE 3  </a:t>
            </a:r>
            <a:r>
              <a:rPr sz="620" b="1" i="0">
                <a:solidFill>
                  <a:srgbClr val="FFFFFE"/>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F7F7F7"/>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ECE9F5"/>
          </a:solidFill>
          <a:ln w="952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6 → 7 · 8 · 9</a:t>
            </a:r>
          </a:p>
        </p:txBody>
      </p:sp>
      <p:sp>
        <p:nvSpPr>
          <p:cNvPr id="57" name="Shape 56"/>
          <p:cNvSpPr/>
          <p:nvPr/>
        </p:nvSpPr>
        <p:spPr>
          <a:xfrm>
            <a:off x="5423698" y="2221991"/>
            <a:ext cx="54864" cy="54864"/>
          </a:xfrm>
          <a:prstGeom prst="ellipse">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33426" y="2157984"/>
            <a:ext cx="1268403" cy="365760"/>
          </a:xfrm>
          <a:prstGeom prst="rect">
            <a:avLst/>
          </a:prstGeom>
          <a:noFill/>
        </p:spPr>
        <p:txBody>
          <a:bodyPr wrap="square" lIns="0" rIns="0" tIns="0" bIns="0" anchor="t">
            <a:spAutoFit/>
          </a:bodyPr>
          <a:lstStyle/>
          <a:p>
            <a:r>
              <a:rPr sz="580" b="0" i="0">
                <a:solidFill>
                  <a:srgbClr val="4D4D4D"/>
                </a:solidFill>
                <a:latin typeface="Trenda IG Text"/>
              </a:rPr>
              <a:t>Knowledge graph and Tableau on Gold A only</a:t>
            </a:r>
          </a:p>
        </p:txBody>
      </p:sp>
      <p:sp>
        <p:nvSpPr>
          <p:cNvPr id="59" name="Shape 58"/>
          <p:cNvSpPr/>
          <p:nvPr/>
        </p:nvSpPr>
        <p:spPr>
          <a:xfrm>
            <a:off x="5423698" y="2606039"/>
            <a:ext cx="54864" cy="54864"/>
          </a:xfrm>
          <a:prstGeom prst="ellipse">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33426" y="2542032"/>
            <a:ext cx="1268403" cy="365760"/>
          </a:xfrm>
          <a:prstGeom prst="rect">
            <a:avLst/>
          </a:prstGeom>
          <a:noFill/>
        </p:spPr>
        <p:txBody>
          <a:bodyPr wrap="square" lIns="0" rIns="0" tIns="0" bIns="0" anchor="t">
            <a:spAutoFit/>
          </a:bodyPr>
          <a:lstStyle/>
          <a:p>
            <a:r>
              <a:rPr sz="580" b="0" i="0">
                <a:solidFill>
                  <a:srgbClr val="4D4D4D"/>
                </a:solidFill>
                <a:latin typeface="Trenda IG Text"/>
              </a:rPr>
              <a:t>Codex prompt; Orchestrator, Strategist, Analytics</a:t>
            </a:r>
          </a:p>
        </p:txBody>
      </p:sp>
      <p:sp>
        <p:nvSpPr>
          <p:cNvPr id="61" name="Shape 60"/>
          <p:cNvSpPr/>
          <p:nvPr/>
        </p:nvSpPr>
        <p:spPr>
          <a:xfrm>
            <a:off x="5423698" y="2990087"/>
            <a:ext cx="54864" cy="54864"/>
          </a:xfrm>
          <a:prstGeom prst="ellipse">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33426" y="2926079"/>
            <a:ext cx="1268403" cy="365760"/>
          </a:xfrm>
          <a:prstGeom prst="rect">
            <a:avLst/>
          </a:prstGeom>
          <a:noFill/>
        </p:spPr>
        <p:txBody>
          <a:bodyPr wrap="square" lIns="0" rIns="0" tIns="0" bIns="0" anchor="t">
            <a:spAutoFit/>
          </a:bodyPr>
          <a:lstStyle/>
          <a:p>
            <a:r>
              <a:rPr sz="580" b="0" i="0">
                <a:solidFill>
                  <a:srgbClr val="4D4D4D"/>
                </a:solidFill>
                <a:latin typeface="Trenda IG Text"/>
              </a:rPr>
              <a:t>Opportunity Brief and G1</a:t>
            </a:r>
          </a:p>
        </p:txBody>
      </p:sp>
      <p:sp>
        <p:nvSpPr>
          <p:cNvPr id="63" name="Shape 62"/>
          <p:cNvSpPr/>
          <p:nvPr/>
        </p:nvSpPr>
        <p:spPr>
          <a:xfrm>
            <a:off x="5387122"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4005072"/>
            <a:ext cx="1323267" cy="585216"/>
          </a:xfrm>
          <a:prstGeom prst="rect">
            <a:avLst/>
          </a:prstGeom>
          <a:noFill/>
        </p:spPr>
        <p:txBody>
          <a:bodyPr wrap="square" lIns="0" rIns="0" tIns="0" bIns="0" anchor="ctr">
            <a:spAutoFit/>
          </a:bodyPr>
          <a:lstStyle/>
          <a:p>
            <a:pPr>
              <a:spcAft>
                <a:spcPts val="100"/>
              </a:spcAft>
            </a:pPr>
            <a:r>
              <a:rPr sz="520" b="1" i="0">
                <a:solidFill>
                  <a:srgbClr val="8B7CD8"/>
                </a:solidFill>
                <a:latin typeface="Trenda IG Text"/>
              </a:rPr>
              <a:t>EXIT  </a:t>
            </a:r>
          </a:p>
          <a:p>
            <a:pPr>
              <a:spcAft>
                <a:spcPts val="100"/>
              </a:spcAft>
            </a:pPr>
            <a:r>
              <a:rPr sz="600" b="1" i="0">
                <a:solidFill>
                  <a:srgbClr val="1A1A1A"/>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620" b="1" i="0">
                <a:solidFill>
                  <a:srgbClr val="000000"/>
                </a:solidFill>
                <a:latin typeface="Trenda IG Text"/>
              </a:rPr>
              <a:t>PHASE 4  </a:t>
            </a:r>
            <a:r>
              <a:rPr sz="620" b="1" i="0">
                <a:solidFill>
                  <a:srgbClr val="000000"/>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F7F7F7"/>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EAFBE6"/>
          </a:solid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10 · 11 · 12</a:t>
            </a:r>
          </a:p>
        </p:txBody>
      </p:sp>
      <p:sp>
        <p:nvSpPr>
          <p:cNvPr id="71" name="Shape 70"/>
          <p:cNvSpPr/>
          <p:nvPr/>
        </p:nvSpPr>
        <p:spPr>
          <a:xfrm>
            <a:off x="7057861" y="2221991"/>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67589" y="2157984"/>
            <a:ext cx="1268403" cy="365760"/>
          </a:xfrm>
          <a:prstGeom prst="rect">
            <a:avLst/>
          </a:prstGeom>
          <a:noFill/>
        </p:spPr>
        <p:txBody>
          <a:bodyPr wrap="square" lIns="0" rIns="0" tIns="0" bIns="0" anchor="t">
            <a:spAutoFit/>
          </a:bodyPr>
          <a:lstStyle/>
          <a:p>
            <a:r>
              <a:rPr sz="580" b="0" i="0">
                <a:solidFill>
                  <a:srgbClr val="4D4D4D"/>
                </a:solidFill>
                <a:latin typeface="Trenda IG Text"/>
              </a:rPr>
              <a:t>Campaign Design Agent: journey + data extension, paused</a:t>
            </a:r>
          </a:p>
        </p:txBody>
      </p:sp>
      <p:sp>
        <p:nvSpPr>
          <p:cNvPr id="73" name="Shape 72"/>
          <p:cNvSpPr/>
          <p:nvPr/>
        </p:nvSpPr>
        <p:spPr>
          <a:xfrm>
            <a:off x="7057861" y="2606039"/>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67589" y="2542032"/>
            <a:ext cx="1268403" cy="365760"/>
          </a:xfrm>
          <a:prstGeom prst="rect">
            <a:avLst/>
          </a:prstGeom>
          <a:noFill/>
        </p:spPr>
        <p:txBody>
          <a:bodyPr wrap="square" lIns="0" rIns="0" tIns="0" bIns="0" anchor="t">
            <a:spAutoFit/>
          </a:bodyPr>
          <a:lstStyle/>
          <a:p>
            <a:r>
              <a:rPr sz="580" b="0" i="0">
                <a:solidFill>
                  <a:srgbClr val="4D4D4D"/>
                </a:solidFill>
                <a:latin typeface="Trenda IG Text"/>
              </a:rPr>
              <a:t>Testing loop: test contacts, failure modes, 5-retry cap</a:t>
            </a:r>
          </a:p>
        </p:txBody>
      </p:sp>
      <p:sp>
        <p:nvSpPr>
          <p:cNvPr id="75" name="Shape 74"/>
          <p:cNvSpPr/>
          <p:nvPr/>
        </p:nvSpPr>
        <p:spPr>
          <a:xfrm>
            <a:off x="7057861" y="2990087"/>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67589" y="2926079"/>
            <a:ext cx="1268403" cy="365760"/>
          </a:xfrm>
          <a:prstGeom prst="rect">
            <a:avLst/>
          </a:prstGeom>
          <a:noFill/>
        </p:spPr>
        <p:txBody>
          <a:bodyPr wrap="square" lIns="0" rIns="0" tIns="0" bIns="0" anchor="t">
            <a:spAutoFit/>
          </a:bodyPr>
          <a:lstStyle/>
          <a:p>
            <a:r>
              <a:rPr sz="580" b="0" i="0">
                <a:solidFill>
                  <a:srgbClr val="4D4D4D"/>
                </a:solidFill>
                <a:latin typeface="Trenda IG Text"/>
              </a:rPr>
              <a:t>G3 approval flow</a:t>
            </a:r>
          </a:p>
        </p:txBody>
      </p:sp>
      <p:sp>
        <p:nvSpPr>
          <p:cNvPr id="77" name="Shape 76"/>
          <p:cNvSpPr/>
          <p:nvPr/>
        </p:nvSpPr>
        <p:spPr>
          <a:xfrm>
            <a:off x="7021285"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4005072"/>
            <a:ext cx="1323267" cy="585216"/>
          </a:xfrm>
          <a:prstGeom prst="rect">
            <a:avLst/>
          </a:prstGeom>
          <a:noFill/>
        </p:spPr>
        <p:txBody>
          <a:bodyPr wrap="square" lIns="0" rIns="0" tIns="0" bIns="0" anchor="ctr">
            <a:spAutoFit/>
          </a:bodyPr>
          <a:lstStyle/>
          <a:p>
            <a:pPr>
              <a:spcAft>
                <a:spcPts val="100"/>
              </a:spcAft>
            </a:pPr>
            <a:r>
              <a:rPr sz="520" b="1" i="0">
                <a:solidFill>
                  <a:srgbClr val="2E8F1C"/>
                </a:solidFill>
                <a:latin typeface="Trenda IG Text"/>
              </a:rPr>
              <a:t>EXIT  </a:t>
            </a:r>
          </a:p>
          <a:p>
            <a:pPr>
              <a:spcAft>
                <a:spcPts val="100"/>
              </a:spcAft>
            </a:pPr>
            <a:r>
              <a:rPr sz="600" b="1" i="0">
                <a:solidFill>
                  <a:srgbClr val="1A1A1A"/>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620" b="1" i="0">
                <a:solidFill>
                  <a:srgbClr val="000000"/>
                </a:solidFill>
                <a:latin typeface="Trenda IG Text"/>
              </a:rPr>
              <a:t>PHASE 5  </a:t>
            </a:r>
            <a:r>
              <a:rPr sz="620" b="1" i="0">
                <a:solidFill>
                  <a:srgbClr val="000000"/>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F7F7F7"/>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13 → 19</a:t>
            </a:r>
          </a:p>
        </p:txBody>
      </p:sp>
      <p:sp>
        <p:nvSpPr>
          <p:cNvPr id="85" name="Shape 84"/>
          <p:cNvSpPr/>
          <p:nvPr/>
        </p:nvSpPr>
        <p:spPr>
          <a:xfrm>
            <a:off x="8692025" y="2221991"/>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801753" y="2157984"/>
            <a:ext cx="1268403" cy="365760"/>
          </a:xfrm>
          <a:prstGeom prst="rect">
            <a:avLst/>
          </a:prstGeom>
          <a:noFill/>
        </p:spPr>
        <p:txBody>
          <a:bodyPr wrap="square" lIns="0" rIns="0" tIns="0" bIns="0" anchor="t">
            <a:spAutoFit/>
          </a:bodyPr>
          <a:lstStyle/>
          <a:p>
            <a:r>
              <a:rPr sz="580" b="0" i="0">
                <a:solidFill>
                  <a:srgbClr val="4D4D4D"/>
                </a:solidFill>
                <a:latin typeface="Trenda IG Text"/>
              </a:rPr>
              <a:t>Eligibility service on Gold B</a:t>
            </a:r>
          </a:p>
        </p:txBody>
      </p:sp>
      <p:sp>
        <p:nvSpPr>
          <p:cNvPr id="87" name="Shape 86"/>
          <p:cNvSpPr/>
          <p:nvPr/>
        </p:nvSpPr>
        <p:spPr>
          <a:xfrm>
            <a:off x="8692025" y="2606039"/>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801753" y="2542032"/>
            <a:ext cx="1268403" cy="365760"/>
          </a:xfrm>
          <a:prstGeom prst="rect">
            <a:avLst/>
          </a:prstGeom>
          <a:noFill/>
        </p:spPr>
        <p:txBody>
          <a:bodyPr wrap="square" lIns="0" rIns="0" tIns="0" bIns="0" anchor="t">
            <a:spAutoFit/>
          </a:bodyPr>
          <a:lstStyle/>
          <a:p>
            <a:r>
              <a:rPr sz="580" b="0" i="0">
                <a:solidFill>
                  <a:srgbClr val="4D4D4D"/>
                </a:solidFill>
                <a:latin typeface="Trenda IG Text"/>
              </a:rPr>
              <a:t>G2 masked pre-send report</a:t>
            </a:r>
          </a:p>
        </p:txBody>
      </p:sp>
      <p:sp>
        <p:nvSpPr>
          <p:cNvPr id="89" name="Shape 88"/>
          <p:cNvSpPr/>
          <p:nvPr/>
        </p:nvSpPr>
        <p:spPr>
          <a:xfrm>
            <a:off x="8692025" y="2990087"/>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801753" y="2926079"/>
            <a:ext cx="1268403" cy="365760"/>
          </a:xfrm>
          <a:prstGeom prst="rect">
            <a:avLst/>
          </a:prstGeom>
          <a:noFill/>
        </p:spPr>
        <p:txBody>
          <a:bodyPr wrap="square" lIns="0" rIns="0" tIns="0" bIns="0" anchor="t">
            <a:spAutoFit/>
          </a:bodyPr>
          <a:lstStyle/>
          <a:p>
            <a:r>
              <a:rPr sz="580" b="0" i="0">
                <a:solidFill>
                  <a:srgbClr val="4D4D4D"/>
                </a:solidFill>
                <a:latin typeface="Trenda IG Text"/>
              </a:rPr>
              <a:t>Gateway + Compliance Passport</a:t>
            </a:r>
          </a:p>
        </p:txBody>
      </p:sp>
      <p:sp>
        <p:nvSpPr>
          <p:cNvPr id="91" name="Shape 90"/>
          <p:cNvSpPr/>
          <p:nvPr/>
        </p:nvSpPr>
        <p:spPr>
          <a:xfrm>
            <a:off x="8692025" y="337413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801753" y="3310128"/>
            <a:ext cx="1268403" cy="365760"/>
          </a:xfrm>
          <a:prstGeom prst="rect">
            <a:avLst/>
          </a:prstGeom>
          <a:noFill/>
        </p:spPr>
        <p:txBody>
          <a:bodyPr wrap="square" lIns="0" rIns="0" tIns="0" bIns="0" anchor="t">
            <a:spAutoFit/>
          </a:bodyPr>
          <a:lstStyle/>
          <a:p>
            <a:r>
              <a:rPr sz="580" b="0" i="0">
                <a:solidFill>
                  <a:srgbClr val="4D4D4D"/>
                </a:solidFill>
                <a:latin typeface="Trenda IG Text"/>
              </a:rPr>
              <a:t>Path A (Data Cloud) first; Path B after parity</a:t>
            </a:r>
          </a:p>
        </p:txBody>
      </p:sp>
      <p:sp>
        <p:nvSpPr>
          <p:cNvPr id="93" name="Shape 92"/>
          <p:cNvSpPr/>
          <p:nvPr/>
        </p:nvSpPr>
        <p:spPr>
          <a:xfrm>
            <a:off x="8692025" y="3758184"/>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801753" y="3694176"/>
            <a:ext cx="1268403" cy="365760"/>
          </a:xfrm>
          <a:prstGeom prst="rect">
            <a:avLst/>
          </a:prstGeom>
          <a:noFill/>
        </p:spPr>
        <p:txBody>
          <a:bodyPr wrap="square" lIns="0" rIns="0" tIns="0" bIns="0" anchor="t">
            <a:spAutoFit/>
          </a:bodyPr>
          <a:lstStyle/>
          <a:p>
            <a:r>
              <a:rPr sz="580" b="0" i="0">
                <a:solidFill>
                  <a:srgbClr val="4D4D4D"/>
                </a:solidFill>
                <a:latin typeface="Trenda IG Text"/>
              </a:rPr>
              <a:t>Pilot: synthetic, then a small real audience</a:t>
            </a:r>
          </a:p>
        </p:txBody>
      </p:sp>
      <p:sp>
        <p:nvSpPr>
          <p:cNvPr id="95" name="Shape 94"/>
          <p:cNvSpPr/>
          <p:nvPr/>
        </p:nvSpPr>
        <p:spPr>
          <a:xfrm>
            <a:off x="8655449"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4005072"/>
            <a:ext cx="1323267" cy="585216"/>
          </a:xfrm>
          <a:prstGeom prst="rect">
            <a:avLst/>
          </a:prstGeom>
          <a:noFill/>
        </p:spPr>
        <p:txBody>
          <a:bodyPr wrap="square" lIns="0" rIns="0" tIns="0" bIns="0" anchor="ctr">
            <a:spAutoFit/>
          </a:bodyPr>
          <a:lstStyle/>
          <a:p>
            <a:pPr>
              <a:spcAft>
                <a:spcPts val="100"/>
              </a:spcAft>
            </a:pPr>
            <a:r>
              <a:rPr sz="520" b="1" i="0">
                <a:solidFill>
                  <a:srgbClr val="9A7B00"/>
                </a:solidFill>
                <a:latin typeface="Trenda IG Text"/>
              </a:rPr>
              <a:t>EXIT  </a:t>
            </a:r>
          </a:p>
          <a:p>
            <a:pPr>
              <a:spcAft>
                <a:spcPts val="100"/>
              </a:spcAft>
            </a:pPr>
            <a:r>
              <a:rPr sz="600" b="1" i="0">
                <a:solidFill>
                  <a:srgbClr val="1A1A1A"/>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620" b="1" i="0">
                <a:solidFill>
                  <a:srgbClr val="000000"/>
                </a:solidFill>
                <a:latin typeface="Trenda IG Text"/>
              </a:rPr>
              <a:t>PHASE 6  </a:t>
            </a:r>
            <a:r>
              <a:rPr sz="620" b="1" i="0">
                <a:solidFill>
                  <a:srgbClr val="000000"/>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F7F7F7"/>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480" b="1" i="0" spc="100">
                <a:solidFill>
                  <a:srgbClr val="6B6B6B"/>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E0FAFE"/>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640" b="1" i="0">
                <a:solidFill>
                  <a:srgbClr val="1A1A1A"/>
                </a:solidFill>
                <a:latin typeface="Trenda IG Text"/>
              </a:rPr>
              <a:t>20 + feedback</a:t>
            </a:r>
          </a:p>
        </p:txBody>
      </p:sp>
      <p:sp>
        <p:nvSpPr>
          <p:cNvPr id="103" name="Shape 102"/>
          <p:cNvSpPr/>
          <p:nvPr/>
        </p:nvSpPr>
        <p:spPr>
          <a:xfrm>
            <a:off x="10326188" y="2221991"/>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35916" y="2157984"/>
            <a:ext cx="1268403" cy="365760"/>
          </a:xfrm>
          <a:prstGeom prst="rect">
            <a:avLst/>
          </a:prstGeom>
          <a:noFill/>
        </p:spPr>
        <p:txBody>
          <a:bodyPr wrap="square" lIns="0" rIns="0" tIns="0" bIns="0" anchor="t">
            <a:spAutoFit/>
          </a:bodyPr>
          <a:lstStyle/>
          <a:p>
            <a:r>
              <a:rPr sz="580" b="0" i="0">
                <a:solidFill>
                  <a:srgbClr val="4D4D4D"/>
                </a:solidFill>
                <a:latin typeface="Trenda IG Text"/>
              </a:rPr>
              <a:t>Measurement vs holdout; refresh Gold A</a:t>
            </a:r>
          </a:p>
        </p:txBody>
      </p:sp>
      <p:sp>
        <p:nvSpPr>
          <p:cNvPr id="105" name="Shape 104"/>
          <p:cNvSpPr/>
          <p:nvPr/>
        </p:nvSpPr>
        <p:spPr>
          <a:xfrm>
            <a:off x="10326188" y="2606039"/>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35916" y="2542032"/>
            <a:ext cx="1268403" cy="365760"/>
          </a:xfrm>
          <a:prstGeom prst="rect">
            <a:avLst/>
          </a:prstGeom>
          <a:noFill/>
        </p:spPr>
        <p:txBody>
          <a:bodyPr wrap="square" lIns="0" rIns="0" tIns="0" bIns="0" anchor="t">
            <a:spAutoFit/>
          </a:bodyPr>
          <a:lstStyle/>
          <a:p>
            <a:r>
              <a:rPr sz="580" b="0" i="0">
                <a:solidFill>
                  <a:srgbClr val="4D4D4D"/>
                </a:solidFill>
                <a:latin typeface="Trenda IG Text"/>
              </a:rPr>
              <a:t>Compare with the Phase 0 baseline: first real speed and ROI</a:t>
            </a:r>
          </a:p>
        </p:txBody>
      </p:sp>
      <p:sp>
        <p:nvSpPr>
          <p:cNvPr id="107" name="Shape 106"/>
          <p:cNvSpPr/>
          <p:nvPr/>
        </p:nvSpPr>
        <p:spPr>
          <a:xfrm>
            <a:off x="10326188" y="2990087"/>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35916" y="2926079"/>
            <a:ext cx="1268403" cy="365760"/>
          </a:xfrm>
          <a:prstGeom prst="rect">
            <a:avLst/>
          </a:prstGeom>
          <a:noFill/>
        </p:spPr>
        <p:txBody>
          <a:bodyPr wrap="square" lIns="0" rIns="0" tIns="0" bIns="0" anchor="t">
            <a:spAutoFit/>
          </a:bodyPr>
          <a:lstStyle/>
          <a:p>
            <a:r>
              <a:rPr sz="580" b="0" i="0">
                <a:solidFill>
                  <a:srgbClr val="4D4D4D"/>
                </a:solidFill>
                <a:latin typeface="Trenda IG Text"/>
              </a:rPr>
              <a:t>More templates, Path B, monitoring, multi-tenancy</a:t>
            </a:r>
          </a:p>
        </p:txBody>
      </p:sp>
      <p:sp>
        <p:nvSpPr>
          <p:cNvPr id="109" name="Shape 108"/>
          <p:cNvSpPr/>
          <p:nvPr/>
        </p:nvSpPr>
        <p:spPr>
          <a:xfrm>
            <a:off x="10289612" y="4005072"/>
            <a:ext cx="1414707" cy="585216"/>
          </a:xfrm>
          <a:prstGeom prst="roundRect">
            <a:avLst>
              <a:gd name="adj" fmla="val 10000"/>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4005072"/>
            <a:ext cx="1323267" cy="585216"/>
          </a:xfrm>
          <a:prstGeom prst="rect">
            <a:avLst/>
          </a:prstGeom>
          <a:noFill/>
        </p:spPr>
        <p:txBody>
          <a:bodyPr wrap="square" lIns="0" rIns="0" tIns="0" bIns="0" anchor="ctr">
            <a:spAutoFit/>
          </a:bodyPr>
          <a:lstStyle/>
          <a:p>
            <a:pPr>
              <a:spcAft>
                <a:spcPts val="100"/>
              </a:spcAft>
            </a:pPr>
            <a:r>
              <a:rPr sz="520" b="1" i="0">
                <a:solidFill>
                  <a:srgbClr val="0089A0"/>
                </a:solidFill>
                <a:latin typeface="Trenda IG Text"/>
              </a:rPr>
              <a:t>EXIT  </a:t>
            </a:r>
          </a:p>
          <a:p>
            <a:pPr>
              <a:spcAft>
                <a:spcPts val="100"/>
              </a:spcAft>
            </a:pPr>
            <a:r>
              <a:rPr sz="600" b="1" i="0">
                <a:solidFill>
                  <a:srgbClr val="1A1A1A"/>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1270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500" b="1" i="0" spc="80">
                <a:solidFill>
                  <a:srgbClr val="FF0069"/>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FF0069"/>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500" b="1" i="0" spc="80">
                <a:solidFill>
                  <a:srgbClr val="FFFFFE"/>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12700">
            <a:solidFill>
              <a:srgbClr val="8B7CD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459" b="1" i="0">
                <a:solidFill>
                  <a:srgbClr val="8B7CD8"/>
                </a:solidFill>
                <a:latin typeface="Trenda IG Text"/>
              </a:rPr>
              <a:t>STARTS ON SYNTHETIC GOLD A</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480" b="1" i="0" spc="80">
                <a:solidFill>
                  <a:srgbClr val="000000"/>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620" b="1" i="0" spc="120">
                <a:solidFill>
                  <a:srgbClr val="1A1A1A"/>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Governance before agents</a:t>
            </a:r>
          </a:p>
          <a:p>
            <a:pPr>
              <a:spcAft>
                <a:spcPts val="100"/>
              </a:spcAft>
            </a:pPr>
            <a:r>
              <a:rPr sz="620" b="0" i="0">
                <a:solidFill>
                  <a:srgbClr val="4D4D4D"/>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Build and test before release</a:t>
            </a:r>
          </a:p>
          <a:p>
            <a:pPr>
              <a:spcAft>
                <a:spcPts val="100"/>
              </a:spcAft>
            </a:pPr>
            <a:r>
              <a:rPr sz="620" b="0" i="0">
                <a:solidFill>
                  <a:srgbClr val="4D4D4D"/>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Data Cloud before direct</a:t>
            </a:r>
          </a:p>
          <a:p>
            <a:pPr>
              <a:spcAft>
                <a:spcPts val="100"/>
              </a:spcAft>
            </a:pPr>
            <a:r>
              <a:rPr sz="620" b="0" i="0">
                <a:solidFill>
                  <a:srgbClr val="4D4D4D"/>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660" b="1" i="0">
                <a:solidFill>
                  <a:srgbClr val="1A1A1A"/>
                </a:solidFill>
                <a:latin typeface="Trenda IG Text"/>
              </a:rPr>
              <a:t>Nothing in Phase 5 touches real patients until Phases 2 and 4 pass their exits. </a:t>
            </a:r>
            <a:r>
              <a:rPr sz="660" b="0" i="0">
                <a:solidFill>
                  <a:srgbClr val="4D4D4D"/>
                </a:solidFill>
                <a:latin typeface="Trenda IG Text"/>
              </a:rPr>
              <a:t>No speed or ROI number is committed before Phase 6 compares the pilot with today's baseline.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640" b="1" i="0" spc="120">
                <a:solidFill>
                  <a:srgbClr val="1A1A1A"/>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841248" cy="512064"/>
          </a:xfrm>
          <a:prstGeom prst="rect">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black.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566928" cy="512064"/>
          </a:xfrm>
          <a:prstGeom prst="rect">
            <a:avLst/>
          </a:prstGeom>
          <a:noFill/>
        </p:spPr>
        <p:txBody>
          <a:bodyPr wrap="square" lIns="0" rIns="0" tIns="0" bIns="0" anchor="ctr">
            <a:spAutoFit/>
          </a:bodyPr>
          <a:lstStyle/>
          <a:p>
            <a:r>
              <a:rPr sz="540" b="1" i="0">
                <a:solidFill>
                  <a:srgbClr val="1A1A1A"/>
                </a:solidFill>
                <a:latin typeface="Trenda IG Text"/>
              </a:rPr>
              <a:t>REVIEW</a:t>
            </a:r>
          </a:p>
          <a:p>
            <a:r>
              <a:rPr sz="480" b="0" i="0">
                <a:solidFill>
                  <a:srgbClr val="6B6B6B"/>
                </a:solidFill>
                <a:latin typeface="Courier New"/>
              </a:rPr>
              <a:t>Collibra</a:t>
            </a:r>
          </a:p>
        </p:txBody>
      </p:sp>
      <p:sp>
        <p:nvSpPr>
          <p:cNvPr id="10" name="Shape 8"/>
          <p:cNvSpPr/>
          <p:nvPr/>
        </p:nvSpPr>
        <p:spPr>
          <a:xfrm>
            <a:off x="411480" y="2020824"/>
            <a:ext cx="6537959" cy="512064"/>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841248" cy="512064"/>
          </a:xfrm>
          <a:prstGeom prst="rect">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566928" cy="512064"/>
          </a:xfrm>
          <a:prstGeom prst="rect">
            <a:avLst/>
          </a:prstGeom>
          <a:noFill/>
        </p:spPr>
        <p:txBody>
          <a:bodyPr wrap="square" lIns="0" rIns="0" tIns="0" bIns="0" anchor="ctr">
            <a:spAutoFit/>
          </a:bodyPr>
          <a:lstStyle/>
          <a:p>
            <a:r>
              <a:rPr sz="540" b="1" i="0">
                <a:solidFill>
                  <a:srgbClr val="1A1A1A"/>
                </a:solidFill>
                <a:latin typeface="Trenda IG Text"/>
              </a:rPr>
              <a:t>GOVERNANCE</a:t>
            </a:r>
          </a:p>
          <a:p>
            <a:r>
              <a:rPr sz="480" b="0" i="0">
                <a:solidFill>
                  <a:srgbClr val="6B6B6B"/>
                </a:solidFill>
                <a:latin typeface="Courier New"/>
              </a:rPr>
              <a:t>datarepository</a:t>
            </a:r>
          </a:p>
        </p:txBody>
      </p:sp>
      <p:sp>
        <p:nvSpPr>
          <p:cNvPr id="14" name="Shape 11"/>
          <p:cNvSpPr/>
          <p:nvPr/>
        </p:nvSpPr>
        <p:spPr>
          <a:xfrm>
            <a:off x="411480" y="2578608"/>
            <a:ext cx="6537959" cy="512064"/>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841248" cy="512064"/>
          </a:xfrm>
          <a:prstGeom prst="rect">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566928" cy="512064"/>
          </a:xfrm>
          <a:prstGeom prst="rect">
            <a:avLst/>
          </a:prstGeom>
          <a:noFill/>
        </p:spPr>
        <p:txBody>
          <a:bodyPr wrap="square" lIns="0" rIns="0" tIns="0" bIns="0" anchor="ctr">
            <a:spAutoFit/>
          </a:bodyPr>
          <a:lstStyle/>
          <a:p>
            <a:r>
              <a:rPr sz="540" b="1" i="0">
                <a:solidFill>
                  <a:srgbClr val="1A1A1A"/>
                </a:solidFill>
                <a:latin typeface="Trenda IG Text"/>
              </a:rPr>
              <a:t>COMPUTE</a:t>
            </a:r>
          </a:p>
          <a:p>
            <a:r>
              <a:rPr sz="480" b="0" i="0">
                <a:solidFill>
                  <a:srgbClr val="6B6B6B"/>
                </a:solidFill>
                <a:latin typeface="Courier New"/>
              </a:rPr>
              <a:t>datalake</a:t>
            </a:r>
          </a:p>
        </p:txBody>
      </p:sp>
      <p:sp>
        <p:nvSpPr>
          <p:cNvPr id="18" name="Shape 14"/>
          <p:cNvSpPr/>
          <p:nvPr/>
        </p:nvSpPr>
        <p:spPr>
          <a:xfrm>
            <a:off x="411480" y="3136392"/>
            <a:ext cx="6537959" cy="512064"/>
          </a:xfrm>
          <a:prstGeom prst="rect">
            <a:avLst/>
          </a:prstGeom>
          <a:solidFill>
            <a:srgbClr val="F7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841248" cy="512064"/>
          </a:xfrm>
          <a:prstGeom prst="rect">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566928" cy="512064"/>
          </a:xfrm>
          <a:prstGeom prst="rect">
            <a:avLst/>
          </a:prstGeom>
          <a:noFill/>
        </p:spPr>
        <p:txBody>
          <a:bodyPr wrap="square" lIns="0" rIns="0" tIns="0" bIns="0" anchor="ctr">
            <a:spAutoFit/>
          </a:bodyPr>
          <a:lstStyle/>
          <a:p>
            <a:r>
              <a:rPr sz="540" b="1" i="0">
                <a:solidFill>
                  <a:srgbClr val="1A1A1A"/>
                </a:solidFill>
                <a:latin typeface="Trenda IG Text"/>
              </a:rPr>
              <a:t>TARGET</a:t>
            </a:r>
          </a:p>
          <a:p>
            <a:r>
              <a:rPr sz="480" b="0" i="0">
                <a:solidFill>
                  <a:srgbClr val="6B6B6B"/>
                </a:solidFill>
                <a:latin typeface="Courier New"/>
              </a:rPr>
              <a:t>dataplace</a:t>
            </a:r>
          </a:p>
        </p:txBody>
      </p:sp>
      <p:cxnSp>
        <p:nvCxnSpPr>
          <p:cNvPr id="22" name="Arrow 17"/>
          <p:cNvCxnSpPr/>
          <p:nvPr/>
        </p:nvCxnSpPr>
        <p:spPr>
          <a:xfrm>
            <a:off x="2148840" y="2276856"/>
            <a:ext cx="54864"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203704" y="1719072"/>
            <a:ext cx="0" cy="557784"/>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203704" y="1719072"/>
            <a:ext cx="5486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081527" y="1719072"/>
            <a:ext cx="54864"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136391" y="1719072"/>
            <a:ext cx="0" cy="557784"/>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136391" y="2276856"/>
            <a:ext cx="54865"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014216" y="2276856"/>
            <a:ext cx="54864"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069080" y="2276856"/>
            <a:ext cx="0" cy="557784"/>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069080" y="2834640"/>
            <a:ext cx="5486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014216" y="2834640"/>
            <a:ext cx="54864"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069080" y="2834640"/>
            <a:ext cx="0"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069080" y="2834640"/>
            <a:ext cx="5486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4946904" y="2834640"/>
            <a:ext cx="54864"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001768" y="2834640"/>
            <a:ext cx="0" cy="557784"/>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001768" y="3392424"/>
            <a:ext cx="5486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879592" y="3392424"/>
            <a:ext cx="54864" cy="0"/>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5934456" y="2276856"/>
            <a:ext cx="0" cy="1115568"/>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5934456" y="2276856"/>
            <a:ext cx="5486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014216" y="2386584"/>
            <a:ext cx="1453896" cy="0"/>
          </a:xfrm>
          <a:prstGeom prst="line">
            <a:avLst/>
          </a:prstGeom>
          <a:ln w="15875">
            <a:solidFill>
              <a:srgbClr val="8B7CD8"/>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468112" y="2386584"/>
            <a:ext cx="0" cy="237744"/>
          </a:xfrm>
          <a:prstGeom prst="line">
            <a:avLst/>
          </a:prstGeom>
          <a:ln w="15875">
            <a:solidFill>
              <a:srgbClr val="8B7CD8"/>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468112" y="3044952"/>
            <a:ext cx="0" cy="137160"/>
          </a:xfrm>
          <a:prstGeom prst="line">
            <a:avLst/>
          </a:prstGeom>
          <a:ln w="15875">
            <a:solidFill>
              <a:srgbClr val="8B7CD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325880" y="2066543"/>
            <a:ext cx="822960" cy="420624"/>
          </a:xfrm>
          <a:prstGeom prst="roundRect">
            <a:avLst>
              <a:gd name="adj" fmla="val 10000"/>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371600" y="2093975"/>
            <a:ext cx="749808" cy="219456"/>
          </a:xfrm>
          <a:prstGeom prst="rect">
            <a:avLst/>
          </a:prstGeom>
          <a:noFill/>
        </p:spPr>
        <p:txBody>
          <a:bodyPr wrap="square" lIns="0" rIns="0" tIns="0" bIns="0" anchor="t">
            <a:spAutoFit/>
          </a:bodyPr>
          <a:lstStyle/>
          <a:p>
            <a:pPr>
              <a:lnSpc>
                <a:spcPct val="85000"/>
              </a:lnSpc>
            </a:pPr>
            <a:r>
              <a:rPr sz="560" b="1" i="0">
                <a:solidFill>
                  <a:srgbClr val="1A1A1A"/>
                </a:solidFill>
                <a:latin typeface="Trenda IG Text"/>
              </a:rPr>
              <a:t>DLP classification</a:t>
            </a:r>
          </a:p>
        </p:txBody>
      </p:sp>
      <p:sp>
        <p:nvSpPr>
          <p:cNvPr id="45" name="Shape 40"/>
          <p:cNvSpPr/>
          <p:nvPr/>
        </p:nvSpPr>
        <p:spPr>
          <a:xfrm>
            <a:off x="1371600" y="2331720"/>
            <a:ext cx="398678" cy="118872"/>
          </a:xfrm>
          <a:prstGeom prst="roundRect">
            <a:avLst>
              <a:gd name="adj" fmla="val 5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371600" y="2331720"/>
            <a:ext cx="398678" cy="118872"/>
          </a:xfrm>
          <a:prstGeom prst="rect">
            <a:avLst/>
          </a:prstGeom>
          <a:noFill/>
        </p:spPr>
        <p:txBody>
          <a:bodyPr wrap="square" lIns="0" rIns="0" tIns="0" bIns="0" anchor="ctr">
            <a:spAutoFit/>
          </a:bodyPr>
          <a:lstStyle/>
          <a:p>
            <a:pPr algn="ctr"/>
            <a:r>
              <a:rPr sz="420" b="1" i="0" spc="80">
                <a:solidFill>
                  <a:srgbClr val="4D4D4D"/>
                </a:solidFill>
                <a:latin typeface="Trenda IG Text"/>
              </a:rPr>
              <a:t>UPSTREAM</a:t>
            </a:r>
          </a:p>
        </p:txBody>
      </p:sp>
      <p:sp>
        <p:nvSpPr>
          <p:cNvPr id="47" name="Shape 42"/>
          <p:cNvSpPr/>
          <p:nvPr/>
        </p:nvSpPr>
        <p:spPr>
          <a:xfrm>
            <a:off x="2258568" y="1508760"/>
            <a:ext cx="822960" cy="420624"/>
          </a:xfrm>
          <a:prstGeom prst="roundRect">
            <a:avLst>
              <a:gd name="adj" fmla="val 10000"/>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304287" y="1536192"/>
            <a:ext cx="749808" cy="219456"/>
          </a:xfrm>
          <a:prstGeom prst="rect">
            <a:avLst/>
          </a:prstGeom>
          <a:noFill/>
        </p:spPr>
        <p:txBody>
          <a:bodyPr wrap="square" lIns="0" rIns="0" tIns="0" bIns="0" anchor="t">
            <a:spAutoFit/>
          </a:bodyPr>
          <a:lstStyle/>
          <a:p>
            <a:pPr>
              <a:lnSpc>
                <a:spcPct val="85000"/>
              </a:lnSpc>
            </a:pPr>
            <a:r>
              <a:rPr sz="560" b="1" i="0">
                <a:solidFill>
                  <a:srgbClr val="1A1A1A"/>
                </a:solidFill>
                <a:latin typeface="Trenda IG Text"/>
              </a:rPr>
              <a:t>Steward review</a:t>
            </a:r>
          </a:p>
        </p:txBody>
      </p:sp>
      <p:sp>
        <p:nvSpPr>
          <p:cNvPr id="49" name="Shape 44"/>
          <p:cNvSpPr/>
          <p:nvPr/>
        </p:nvSpPr>
        <p:spPr>
          <a:xfrm>
            <a:off x="2304287" y="1773936"/>
            <a:ext cx="398678" cy="118872"/>
          </a:xfrm>
          <a:prstGeom prst="roundRect">
            <a:avLst>
              <a:gd name="adj" fmla="val 5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304287" y="1773936"/>
            <a:ext cx="398678" cy="118872"/>
          </a:xfrm>
          <a:prstGeom prst="rect">
            <a:avLst/>
          </a:prstGeom>
          <a:noFill/>
        </p:spPr>
        <p:txBody>
          <a:bodyPr wrap="square" lIns="0" rIns="0" tIns="0" bIns="0" anchor="ctr">
            <a:spAutoFit/>
          </a:bodyPr>
          <a:lstStyle/>
          <a:p>
            <a:pPr algn="ctr"/>
            <a:r>
              <a:rPr sz="420" b="1" i="0" spc="80">
                <a:solidFill>
                  <a:srgbClr val="4D4D4D"/>
                </a:solidFill>
                <a:latin typeface="Trenda IG Text"/>
              </a:rPr>
              <a:t>UPSTREAM</a:t>
            </a:r>
          </a:p>
        </p:txBody>
      </p:sp>
      <p:sp>
        <p:nvSpPr>
          <p:cNvPr id="51" name="Shape 46"/>
          <p:cNvSpPr/>
          <p:nvPr/>
        </p:nvSpPr>
        <p:spPr>
          <a:xfrm>
            <a:off x="3191256" y="2066543"/>
            <a:ext cx="822960" cy="420624"/>
          </a:xfrm>
          <a:prstGeom prst="roundRect">
            <a:avLst>
              <a:gd name="adj" fmla="val 10000"/>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236976" y="2093975"/>
            <a:ext cx="749808" cy="219456"/>
          </a:xfrm>
          <a:prstGeom prst="rect">
            <a:avLst/>
          </a:prstGeom>
          <a:noFill/>
        </p:spPr>
        <p:txBody>
          <a:bodyPr wrap="square" lIns="0" rIns="0" tIns="0" bIns="0" anchor="t">
            <a:spAutoFit/>
          </a:bodyPr>
          <a:lstStyle/>
          <a:p>
            <a:pPr>
              <a:lnSpc>
                <a:spcPct val="85000"/>
              </a:lnSpc>
            </a:pPr>
            <a:r>
              <a:rPr sz="560" b="1" i="0">
                <a:solidFill>
                  <a:srgbClr val="1A1A1A"/>
                </a:solidFill>
                <a:latin typeface="Trenda IG Text"/>
              </a:rPr>
              <a:t>Reviewed classifications</a:t>
            </a:r>
          </a:p>
        </p:txBody>
      </p:sp>
      <p:sp>
        <p:nvSpPr>
          <p:cNvPr id="53" name="Shape 48"/>
          <p:cNvSpPr/>
          <p:nvPr/>
        </p:nvSpPr>
        <p:spPr>
          <a:xfrm>
            <a:off x="3236976" y="2331720"/>
            <a:ext cx="283464" cy="118872"/>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236976" y="2331720"/>
            <a:ext cx="283464" cy="118872"/>
          </a:xfrm>
          <a:prstGeom prst="rect">
            <a:avLst/>
          </a:prstGeom>
          <a:noFill/>
        </p:spPr>
        <p:txBody>
          <a:bodyPr wrap="square" lIns="0" rIns="0" tIns="0" bIns="0" anchor="ctr">
            <a:spAutoFit/>
          </a:bodyPr>
          <a:lstStyle/>
          <a:p>
            <a:pPr algn="ctr"/>
            <a:r>
              <a:rPr sz="420" b="1" i="0" spc="80">
                <a:solidFill>
                  <a:srgbClr val="2E8F1C"/>
                </a:solidFill>
                <a:latin typeface="Trenda IG Text"/>
              </a:rPr>
              <a:t>BUILT</a:t>
            </a:r>
          </a:p>
        </p:txBody>
      </p:sp>
      <p:sp>
        <p:nvSpPr>
          <p:cNvPr id="55" name="Shape 50"/>
          <p:cNvSpPr/>
          <p:nvPr/>
        </p:nvSpPr>
        <p:spPr>
          <a:xfrm>
            <a:off x="3191256" y="2624328"/>
            <a:ext cx="822960" cy="420624"/>
          </a:xfrm>
          <a:prstGeom prst="roundRect">
            <a:avLst>
              <a:gd name="adj" fmla="val 10000"/>
            </a:avLst>
          </a:prstGeom>
          <a:solidFill>
            <a:srgbClr val="FFF7CC"/>
          </a:solidFill>
          <a:ln w="1270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236976" y="2651760"/>
            <a:ext cx="749808" cy="219456"/>
          </a:xfrm>
          <a:prstGeom prst="rect">
            <a:avLst/>
          </a:prstGeom>
          <a:noFill/>
        </p:spPr>
        <p:txBody>
          <a:bodyPr wrap="square" lIns="0" rIns="0" tIns="0" bIns="0" anchor="t">
            <a:spAutoFit/>
          </a:bodyPr>
          <a:lstStyle/>
          <a:p>
            <a:pPr>
              <a:lnSpc>
                <a:spcPct val="85000"/>
              </a:lnSpc>
            </a:pPr>
            <a:r>
              <a:rPr sz="560" b="1" i="0">
                <a:solidFill>
                  <a:srgbClr val="1A1A1A"/>
                </a:solidFill>
                <a:latin typeface="Trenda IG Text"/>
              </a:rPr>
              <a:t>Rollout gate</a:t>
            </a:r>
          </a:p>
        </p:txBody>
      </p:sp>
      <p:sp>
        <p:nvSpPr>
          <p:cNvPr id="57" name="Shape 52"/>
          <p:cNvSpPr/>
          <p:nvPr/>
        </p:nvSpPr>
        <p:spPr>
          <a:xfrm>
            <a:off x="3236976" y="2889504"/>
            <a:ext cx="283464" cy="118872"/>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236976" y="2889504"/>
            <a:ext cx="283464" cy="118872"/>
          </a:xfrm>
          <a:prstGeom prst="rect">
            <a:avLst/>
          </a:prstGeom>
          <a:noFill/>
        </p:spPr>
        <p:txBody>
          <a:bodyPr wrap="square" lIns="0" rIns="0" tIns="0" bIns="0" anchor="ctr">
            <a:spAutoFit/>
          </a:bodyPr>
          <a:lstStyle/>
          <a:p>
            <a:pPr algn="ctr"/>
            <a:r>
              <a:rPr sz="420" b="1" i="0" spc="80">
                <a:solidFill>
                  <a:srgbClr val="2E8F1C"/>
                </a:solidFill>
                <a:latin typeface="Trenda IG Text"/>
              </a:rPr>
              <a:t>BUILT</a:t>
            </a:r>
          </a:p>
        </p:txBody>
      </p:sp>
      <p:sp>
        <p:nvSpPr>
          <p:cNvPr id="59" name="Shape 54"/>
          <p:cNvSpPr/>
          <p:nvPr/>
        </p:nvSpPr>
        <p:spPr>
          <a:xfrm>
            <a:off x="4123944" y="2624328"/>
            <a:ext cx="822960" cy="420624"/>
          </a:xfrm>
          <a:prstGeom prst="roundRect">
            <a:avLst>
              <a:gd name="adj" fmla="val 10000"/>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169663" y="2651760"/>
            <a:ext cx="749808" cy="219456"/>
          </a:xfrm>
          <a:prstGeom prst="rect">
            <a:avLst/>
          </a:prstGeom>
          <a:noFill/>
        </p:spPr>
        <p:txBody>
          <a:bodyPr wrap="square" lIns="0" rIns="0" tIns="0" bIns="0" anchor="t">
            <a:spAutoFit/>
          </a:bodyPr>
          <a:lstStyle/>
          <a:p>
            <a:pPr>
              <a:lnSpc>
                <a:spcPct val="85000"/>
              </a:lnSpc>
            </a:pPr>
            <a:r>
              <a:rPr sz="560" b="1" i="0">
                <a:solidFill>
                  <a:srgbClr val="1A1A1A"/>
                </a:solidFill>
                <a:latin typeface="Trenda IG Text"/>
              </a:rPr>
              <a:t>Data Policy Tagger</a:t>
            </a:r>
          </a:p>
        </p:txBody>
      </p:sp>
      <p:sp>
        <p:nvSpPr>
          <p:cNvPr id="61" name="Shape 56"/>
          <p:cNvSpPr/>
          <p:nvPr/>
        </p:nvSpPr>
        <p:spPr>
          <a:xfrm>
            <a:off x="4169663" y="2889504"/>
            <a:ext cx="513892" cy="11887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169663" y="2889504"/>
            <a:ext cx="513892" cy="118872"/>
          </a:xfrm>
          <a:prstGeom prst="rect">
            <a:avLst/>
          </a:prstGeom>
          <a:noFill/>
        </p:spPr>
        <p:txBody>
          <a:bodyPr wrap="square" lIns="0" rIns="0" tIns="0" bIns="0" anchor="ctr">
            <a:spAutoFit/>
          </a:bodyPr>
          <a:lstStyle/>
          <a:p>
            <a:pPr algn="ctr"/>
            <a:r>
              <a:rPr sz="420" b="1" i="0" spc="80">
                <a:solidFill>
                  <a:srgbClr val="0089A0"/>
                </a:solidFill>
                <a:latin typeface="Trenda IG Text"/>
              </a:rPr>
              <a:t>LIVE IN DEV</a:t>
            </a:r>
          </a:p>
        </p:txBody>
      </p:sp>
      <p:sp>
        <p:nvSpPr>
          <p:cNvPr id="63" name="Shape 58"/>
          <p:cNvSpPr/>
          <p:nvPr/>
        </p:nvSpPr>
        <p:spPr>
          <a:xfrm>
            <a:off x="5056632" y="3182112"/>
            <a:ext cx="822960" cy="420624"/>
          </a:xfrm>
          <a:prstGeom prst="roundRect">
            <a:avLst>
              <a:gd name="adj" fmla="val 10000"/>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02352" y="3209544"/>
            <a:ext cx="749808" cy="219456"/>
          </a:xfrm>
          <a:prstGeom prst="rect">
            <a:avLst/>
          </a:prstGeom>
          <a:noFill/>
        </p:spPr>
        <p:txBody>
          <a:bodyPr wrap="square" lIns="0" rIns="0" tIns="0" bIns="0" anchor="t">
            <a:spAutoFit/>
          </a:bodyPr>
          <a:lstStyle/>
          <a:p>
            <a:pPr>
              <a:lnSpc>
                <a:spcPct val="85000"/>
              </a:lnSpc>
            </a:pPr>
            <a:r>
              <a:rPr sz="560" b="1" i="0">
                <a:solidFill>
                  <a:srgbClr val="1A1A1A"/>
                </a:solidFill>
                <a:latin typeface="Trenda IG Text"/>
              </a:rPr>
              <a:t>Policies applied</a:t>
            </a:r>
          </a:p>
        </p:txBody>
      </p:sp>
      <p:sp>
        <p:nvSpPr>
          <p:cNvPr id="65" name="Shape 60"/>
          <p:cNvSpPr/>
          <p:nvPr/>
        </p:nvSpPr>
        <p:spPr>
          <a:xfrm>
            <a:off x="5102352" y="3447288"/>
            <a:ext cx="513892" cy="11887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02352" y="3447288"/>
            <a:ext cx="513892" cy="118872"/>
          </a:xfrm>
          <a:prstGeom prst="rect">
            <a:avLst/>
          </a:prstGeom>
          <a:noFill/>
        </p:spPr>
        <p:txBody>
          <a:bodyPr wrap="square" lIns="0" rIns="0" tIns="0" bIns="0" anchor="ctr">
            <a:spAutoFit/>
          </a:bodyPr>
          <a:lstStyle/>
          <a:p>
            <a:pPr algn="ctr"/>
            <a:r>
              <a:rPr sz="420" b="1" i="0" spc="80">
                <a:solidFill>
                  <a:srgbClr val="0089A0"/>
                </a:solidFill>
                <a:latin typeface="Trenda IG Text"/>
              </a:rPr>
              <a:t>LIVE IN DEV</a:t>
            </a:r>
          </a:p>
        </p:txBody>
      </p:sp>
      <p:sp>
        <p:nvSpPr>
          <p:cNvPr id="67" name="Shape 62"/>
          <p:cNvSpPr/>
          <p:nvPr/>
        </p:nvSpPr>
        <p:spPr>
          <a:xfrm>
            <a:off x="5989320" y="2066543"/>
            <a:ext cx="822960" cy="420624"/>
          </a:xfrm>
          <a:prstGeom prst="roundRect">
            <a:avLst>
              <a:gd name="adj" fmla="val 10000"/>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35040" y="2093975"/>
            <a:ext cx="749808" cy="219456"/>
          </a:xfrm>
          <a:prstGeom prst="rect">
            <a:avLst/>
          </a:prstGeom>
          <a:noFill/>
        </p:spPr>
        <p:txBody>
          <a:bodyPr wrap="square" lIns="0" rIns="0" tIns="0" bIns="0" anchor="t">
            <a:spAutoFit/>
          </a:bodyPr>
          <a:lstStyle/>
          <a:p>
            <a:pPr>
              <a:lnSpc>
                <a:spcPct val="85000"/>
              </a:lnSpc>
            </a:pPr>
            <a:r>
              <a:rPr sz="560" b="1" i="0">
                <a:solidFill>
                  <a:srgbClr val="1A1A1A"/>
                </a:solidFill>
                <a:latin typeface="Trenda IG Text"/>
              </a:rPr>
              <a:t>Bindings + validation</a:t>
            </a:r>
          </a:p>
        </p:txBody>
      </p:sp>
      <p:sp>
        <p:nvSpPr>
          <p:cNvPr id="69" name="Shape 64"/>
          <p:cNvSpPr/>
          <p:nvPr/>
        </p:nvSpPr>
        <p:spPr>
          <a:xfrm>
            <a:off x="6035040" y="2331720"/>
            <a:ext cx="283464" cy="118872"/>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35040" y="2331720"/>
            <a:ext cx="283464" cy="118872"/>
          </a:xfrm>
          <a:prstGeom prst="rect">
            <a:avLst/>
          </a:prstGeom>
          <a:noFill/>
        </p:spPr>
        <p:txBody>
          <a:bodyPr wrap="square" lIns="0" rIns="0" tIns="0" bIns="0" anchor="ctr">
            <a:spAutoFit/>
          </a:bodyPr>
          <a:lstStyle/>
          <a:p>
            <a:pPr algn="ctr"/>
            <a:r>
              <a:rPr sz="420" b="1" i="0" spc="80">
                <a:solidFill>
                  <a:srgbClr val="2E8F1C"/>
                </a:solidFill>
                <a:latin typeface="Trenda IG Text"/>
              </a:rPr>
              <a:t>BUILT</a:t>
            </a:r>
          </a:p>
        </p:txBody>
      </p:sp>
      <p:sp>
        <p:nvSpPr>
          <p:cNvPr id="71" name="Shape 66"/>
          <p:cNvSpPr/>
          <p:nvPr/>
        </p:nvSpPr>
        <p:spPr>
          <a:xfrm>
            <a:off x="5056632" y="2624328"/>
            <a:ext cx="822960" cy="420624"/>
          </a:xfrm>
          <a:prstGeom prst="roundRect">
            <a:avLst>
              <a:gd name="adj" fmla="val 10000"/>
            </a:avLst>
          </a:prstGeom>
          <a:solidFill>
            <a:srgbClr val="FFFFFF"/>
          </a:solidFill>
          <a:ln w="12700">
            <a:solidFill>
              <a:srgbClr val="8B7CD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02352" y="2651760"/>
            <a:ext cx="749808" cy="219456"/>
          </a:xfrm>
          <a:prstGeom prst="rect">
            <a:avLst/>
          </a:prstGeom>
          <a:noFill/>
        </p:spPr>
        <p:txBody>
          <a:bodyPr wrap="square" lIns="0" rIns="0" tIns="0" bIns="0" anchor="t">
            <a:spAutoFit/>
          </a:bodyPr>
          <a:lstStyle/>
          <a:p>
            <a:pPr>
              <a:lnSpc>
                <a:spcPct val="85000"/>
              </a:lnSpc>
            </a:pPr>
            <a:r>
              <a:rPr sz="560" b="1" i="0">
                <a:solidFill>
                  <a:srgbClr val="1A1A1A"/>
                </a:solidFill>
                <a:latin typeface="Trenda IG Text"/>
              </a:rPr>
              <a:t>Policy change review</a:t>
            </a:r>
          </a:p>
        </p:txBody>
      </p:sp>
      <p:sp>
        <p:nvSpPr>
          <p:cNvPr id="73" name="Shape 68"/>
          <p:cNvSpPr/>
          <p:nvPr/>
        </p:nvSpPr>
        <p:spPr>
          <a:xfrm>
            <a:off x="5102352" y="2889504"/>
            <a:ext cx="398678" cy="118872"/>
          </a:xfrm>
          <a:prstGeom prst="roundRect">
            <a:avLst>
              <a:gd name="adj" fmla="val 50000"/>
            </a:avLst>
          </a:prstGeom>
          <a:noFill/>
          <a:ln w="952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02352" y="2889504"/>
            <a:ext cx="398678" cy="118872"/>
          </a:xfrm>
          <a:prstGeom prst="rect">
            <a:avLst/>
          </a:prstGeom>
          <a:noFill/>
        </p:spPr>
        <p:txBody>
          <a:bodyPr wrap="square" lIns="0" rIns="0" tIns="0" bIns="0" anchor="ctr">
            <a:spAutoFit/>
          </a:bodyPr>
          <a:lstStyle/>
          <a:p>
            <a:pPr algn="ctr"/>
            <a:r>
              <a:rPr sz="420" b="1" i="0" spc="80">
                <a:solidFill>
                  <a:srgbClr val="8B7CD8"/>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580" b="1" i="0">
                <a:solidFill>
                  <a:srgbClr val="8B7CD8"/>
                </a:solidFill>
                <a:latin typeface="Trenda IG Text"/>
              </a:rPr>
              <a:t>Fail-closed: </a:t>
            </a:r>
            <a:r>
              <a:rPr sz="580" b="0" i="0">
                <a:solidFill>
                  <a:srgbClr val="4D4D4D"/>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F7F7F7"/>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640" b="1" i="0" spc="120">
                <a:solidFill>
                  <a:srgbClr val="9A7B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560" b="1" i="0">
                <a:solidFill>
                  <a:srgbClr val="6B6B6B"/>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560" b="1" i="0">
                <a:solidFill>
                  <a:srgbClr val="6B6B6B"/>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560" b="1" i="0">
                <a:solidFill>
                  <a:srgbClr val="6B6B6B"/>
                </a:solidFill>
                <a:latin typeface="Trenda IG Text"/>
              </a:rPr>
              <a:t>HIPAA implication</a:t>
            </a:r>
          </a:p>
        </p:txBody>
      </p:sp>
      <p:sp>
        <p:nvSpPr>
          <p:cNvPr id="81" name="Shape 76"/>
          <p:cNvSpPr/>
          <p:nvPr/>
        </p:nvSpPr>
        <p:spPr>
          <a:xfrm>
            <a:off x="7187184" y="1682496"/>
            <a:ext cx="4517136" cy="457200"/>
          </a:xfrm>
          <a:prstGeom prst="rect">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660" b="1" i="0">
                <a:solidFill>
                  <a:srgbClr val="FF0069"/>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580" b="0" i="0">
                <a:solidFill>
                  <a:srgbClr val="1A1A1A"/>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580" b="0" i="0">
                <a:solidFill>
                  <a:srgbClr val="4D4D4D"/>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FA8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660" b="1" i="0">
                <a:solidFill>
                  <a:srgbClr val="FA8B35"/>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580" b="0" i="0">
                <a:solidFill>
                  <a:srgbClr val="1A1A1A"/>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580" b="0" i="0">
                <a:solidFill>
                  <a:srgbClr val="4D4D4D"/>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EF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660" b="1" i="0">
                <a:solidFill>
                  <a:srgbClr val="2E8F1C"/>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580" b="0" i="0">
                <a:solidFill>
                  <a:srgbClr val="1A1A1A"/>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580" b="0" i="0">
                <a:solidFill>
                  <a:srgbClr val="4D4D4D"/>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600" b="0" i="0">
                <a:solidFill>
                  <a:srgbClr val="1A1A1A"/>
                </a:solidFill>
                <a:latin typeface="Trenda IG Text"/>
              </a:rPr>
              <a:t>A token, a count, a diagnosis combination or a small cohort can remain sensitive. </a:t>
            </a:r>
            <a:r>
              <a:rPr sz="600" b="1" i="0">
                <a:solidFill>
                  <a:srgbClr val="9A7B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640" b="1" i="0" spc="120">
                <a:solidFill>
                  <a:srgbClr val="8B7CD8"/>
                </a:solidFill>
                <a:latin typeface="Trenda IG Text"/>
              </a:rPr>
              <a:t>WHAT MASKING ALONE DOES NOT GIVE US, AND WHAT WE ADD</a:t>
            </a:r>
            <a:r>
              <a:rPr sz="640" b="0" i="0">
                <a:solidFill>
                  <a:srgbClr val="4D4D4D"/>
                </a:solidFill>
                <a:latin typeface="Trenda IG Text"/>
              </a:rPr>
              <a:t>   proposed design</a:t>
            </a:r>
          </a:p>
        </p:txBody>
      </p:sp>
      <p:sp>
        <p:nvSpPr>
          <p:cNvPr id="98" name="Shape 93"/>
          <p:cNvSpPr/>
          <p:nvPr/>
        </p:nvSpPr>
        <p:spPr>
          <a:xfrm>
            <a:off x="411480" y="4187952"/>
            <a:ext cx="2759202" cy="1536192"/>
          </a:xfrm>
          <a:prstGeom prst="roundRect">
            <a:avLst>
              <a:gd name="adj" fmla="val 5000"/>
            </a:avLst>
          </a:prstGeom>
          <a:solidFill>
            <a:srgbClr val="F7F7F7"/>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1  </a:t>
            </a:r>
            <a:r>
              <a:rPr sz="720" b="1" i="0">
                <a:solidFill>
                  <a:srgbClr val="000000"/>
                </a:solidFill>
                <a:latin typeface="Trenda IG Text"/>
              </a:rPr>
              <a:t>Safe de-identification</a:t>
            </a:r>
          </a:p>
        </p:txBody>
      </p:sp>
      <p:sp>
        <p:nvSpPr>
          <p:cNvPr id="101" name="Shape 96"/>
          <p:cNvSpPr/>
          <p:nvPr/>
        </p:nvSpPr>
        <p:spPr>
          <a:xfrm>
            <a:off x="2512314" y="4251960"/>
            <a:ext cx="566928" cy="146304"/>
          </a:xfrm>
          <a:prstGeom prst="roundRect">
            <a:avLst>
              <a:gd name="adj" fmla="val 50000"/>
            </a:avLst>
          </a:prstGeom>
          <a:no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512314" y="4251960"/>
            <a:ext cx="566928" cy="146304"/>
          </a:xfrm>
          <a:prstGeom prst="rect">
            <a:avLst/>
          </a:prstGeom>
          <a:noFill/>
        </p:spPr>
        <p:txBody>
          <a:bodyPr wrap="square" lIns="0" rIns="0" tIns="0" bIns="0" anchor="ctr">
            <a:spAutoFit/>
          </a:bodyPr>
          <a:lstStyle/>
          <a:p>
            <a:pPr algn="ctr"/>
            <a:r>
              <a:rPr sz="459" b="1" i="0" spc="80">
                <a:solidFill>
                  <a:srgbClr val="000000"/>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580" b="1" i="0">
                <a:solidFill>
                  <a:srgbClr val="1A1A1A"/>
                </a:solidFill>
                <a:latin typeface="Trenda IG Text"/>
              </a:rPr>
              <a:t>Gap: </a:t>
            </a:r>
            <a:r>
              <a:rPr sz="580" b="0" i="0">
                <a:solidFill>
                  <a:srgbClr val="4D4D4D"/>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570" b="0" i="0">
                <a:solidFill>
                  <a:srgbClr val="1A1A1A"/>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570" b="0" i="0">
                <a:solidFill>
                  <a:srgbClr val="1A1A1A"/>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570" b="0" i="0">
                <a:solidFill>
                  <a:srgbClr val="1A1A1A"/>
                </a:solidFill>
                <a:latin typeface="Trenda IG Text"/>
              </a:rPr>
              <a:t>Agents get aggregates by default; tokenized rows only for an authorized task</a:t>
            </a:r>
          </a:p>
        </p:txBody>
      </p:sp>
      <p:sp>
        <p:nvSpPr>
          <p:cNvPr id="110" name="Shape 105"/>
          <p:cNvSpPr/>
          <p:nvPr/>
        </p:nvSpPr>
        <p:spPr>
          <a:xfrm>
            <a:off x="3280410" y="4187952"/>
            <a:ext cx="2759202" cy="1536192"/>
          </a:xfrm>
          <a:prstGeom prst="roundRect">
            <a:avLst>
              <a:gd name="adj" fmla="val 5000"/>
            </a:avLst>
          </a:prstGeom>
          <a:solidFill>
            <a:srgbClr val="F7F7F7"/>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FFFFE"/>
                </a:solidFill>
                <a:latin typeface="Trenda IG Text"/>
              </a:rPr>
              <a:t>2  </a:t>
            </a:r>
            <a:r>
              <a:rPr sz="720" b="1" i="0">
                <a:solidFill>
                  <a:srgbClr val="FFFFFE"/>
                </a:solidFill>
                <a:latin typeface="Trenda IG Text"/>
              </a:rPr>
              <a:t>Permitted use</a:t>
            </a:r>
          </a:p>
        </p:txBody>
      </p:sp>
      <p:sp>
        <p:nvSpPr>
          <p:cNvPr id="113" name="Shape 108"/>
          <p:cNvSpPr/>
          <p:nvPr/>
        </p:nvSpPr>
        <p:spPr>
          <a:xfrm>
            <a:off x="5381244" y="4251960"/>
            <a:ext cx="566928" cy="146304"/>
          </a:xfrm>
          <a:prstGeom prst="roundRect">
            <a:avLst>
              <a:gd name="adj" fmla="val 50000"/>
            </a:avLst>
          </a:prstGeom>
          <a:noFill/>
          <a:ln w="9525">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381244" y="4251960"/>
            <a:ext cx="566928" cy="146304"/>
          </a:xfrm>
          <a:prstGeom prst="rect">
            <a:avLst/>
          </a:prstGeom>
          <a:noFill/>
        </p:spPr>
        <p:txBody>
          <a:bodyPr wrap="square" lIns="0" rIns="0" tIns="0" bIns="0" anchor="ctr">
            <a:spAutoFit/>
          </a:bodyPr>
          <a:lstStyle/>
          <a:p>
            <a:pPr algn="ctr"/>
            <a:r>
              <a:rPr sz="459" b="1" i="0" spc="80">
                <a:solidFill>
                  <a:srgbClr val="FFFFFE"/>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580" b="1" i="0">
                <a:solidFill>
                  <a:srgbClr val="1A1A1A"/>
                </a:solidFill>
                <a:latin typeface="Trenda IG Text"/>
              </a:rPr>
              <a:t>Gap: </a:t>
            </a:r>
            <a:r>
              <a:rPr sz="580" b="0" i="0">
                <a:solidFill>
                  <a:srgbClr val="4D4D4D"/>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570" b="0" i="0">
                <a:solidFill>
                  <a:srgbClr val="1A1A1A"/>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570" b="0" i="0">
                <a:solidFill>
                  <a:srgbClr val="1A1A1A"/>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570" b="0" i="0">
                <a:solidFill>
                  <a:srgbClr val="1A1A1A"/>
                </a:solidFill>
                <a:latin typeface="Trenda IG Text"/>
              </a:rPr>
              <a:t>Campaign Compliance Passport records purpose, rule version and approvals</a:t>
            </a:r>
          </a:p>
        </p:txBody>
      </p:sp>
      <p:sp>
        <p:nvSpPr>
          <p:cNvPr id="122" name="Shape 117"/>
          <p:cNvSpPr/>
          <p:nvPr/>
        </p:nvSpPr>
        <p:spPr>
          <a:xfrm>
            <a:off x="6149340" y="4187952"/>
            <a:ext cx="2759202" cy="1536192"/>
          </a:xfrm>
          <a:prstGeom prst="roundRect">
            <a:avLst>
              <a:gd name="adj" fmla="val 5000"/>
            </a:avLst>
          </a:prstGeom>
          <a:solidFill>
            <a:srgbClr val="F7F7F7"/>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3  </a:t>
            </a:r>
            <a:r>
              <a:rPr sz="720" b="1" i="0">
                <a:solidFill>
                  <a:srgbClr val="000000"/>
                </a:solidFill>
                <a:latin typeface="Trenda IG Text"/>
              </a:rPr>
              <a:t>Tenant isolation</a:t>
            </a:r>
          </a:p>
        </p:txBody>
      </p:sp>
      <p:sp>
        <p:nvSpPr>
          <p:cNvPr id="125" name="Shape 120"/>
          <p:cNvSpPr/>
          <p:nvPr/>
        </p:nvSpPr>
        <p:spPr>
          <a:xfrm>
            <a:off x="8250173" y="4251960"/>
            <a:ext cx="566928" cy="146304"/>
          </a:xfrm>
          <a:prstGeom prst="roundRect">
            <a:avLst>
              <a:gd name="adj" fmla="val 50000"/>
            </a:avLst>
          </a:prstGeom>
          <a:no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250173" y="4251960"/>
            <a:ext cx="566928" cy="146304"/>
          </a:xfrm>
          <a:prstGeom prst="rect">
            <a:avLst/>
          </a:prstGeom>
          <a:noFill/>
        </p:spPr>
        <p:txBody>
          <a:bodyPr wrap="square" lIns="0" rIns="0" tIns="0" bIns="0" anchor="ctr">
            <a:spAutoFit/>
          </a:bodyPr>
          <a:lstStyle/>
          <a:p>
            <a:pPr algn="ctr"/>
            <a:r>
              <a:rPr sz="459" b="1" i="0" spc="80">
                <a:solidFill>
                  <a:srgbClr val="000000"/>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580" b="1" i="0">
                <a:solidFill>
                  <a:srgbClr val="1A1A1A"/>
                </a:solidFill>
                <a:latin typeface="Trenda IG Text"/>
              </a:rPr>
              <a:t>Gap: </a:t>
            </a:r>
            <a:r>
              <a:rPr sz="580" b="0" i="0">
                <a:solidFill>
                  <a:srgbClr val="4D4D4D"/>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570" b="0" i="0">
                <a:solidFill>
                  <a:srgbClr val="1A1A1A"/>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570" b="0" i="0">
                <a:solidFill>
                  <a:srgbClr val="1A1A1A"/>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570" b="0" i="0">
                <a:solidFill>
                  <a:srgbClr val="1A1A1A"/>
                </a:solidFill>
                <a:latin typeface="Trenda IG Text"/>
              </a:rPr>
              <a:t>No cross-tenant joins; proven with negative-access tests</a:t>
            </a:r>
          </a:p>
        </p:txBody>
      </p:sp>
      <p:sp>
        <p:nvSpPr>
          <p:cNvPr id="134" name="Shape 129"/>
          <p:cNvSpPr/>
          <p:nvPr/>
        </p:nvSpPr>
        <p:spPr>
          <a:xfrm>
            <a:off x="9018270" y="4187952"/>
            <a:ext cx="2759202" cy="1536192"/>
          </a:xfrm>
          <a:prstGeom prst="roundRect">
            <a:avLst>
              <a:gd name="adj" fmla="val 5000"/>
            </a:avLst>
          </a:prstGeom>
          <a:solidFill>
            <a:srgbClr val="F7F7F7"/>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4  </a:t>
            </a:r>
            <a:r>
              <a:rPr sz="720" b="1" i="0">
                <a:solidFill>
                  <a:srgbClr val="000000"/>
                </a:solidFill>
                <a:latin typeface="Trenda IG Text"/>
              </a:rPr>
              <a:t>Complete HIPAA controls</a:t>
            </a:r>
          </a:p>
        </p:txBody>
      </p:sp>
      <p:sp>
        <p:nvSpPr>
          <p:cNvPr id="137" name="Shape 132"/>
          <p:cNvSpPr/>
          <p:nvPr/>
        </p:nvSpPr>
        <p:spPr>
          <a:xfrm>
            <a:off x="11119104" y="4251960"/>
            <a:ext cx="566928" cy="146304"/>
          </a:xfrm>
          <a:prstGeom prst="roundRect">
            <a:avLst>
              <a:gd name="adj" fmla="val 50000"/>
            </a:avLst>
          </a:prstGeom>
          <a:no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1119104" y="4251960"/>
            <a:ext cx="566928" cy="146304"/>
          </a:xfrm>
          <a:prstGeom prst="rect">
            <a:avLst/>
          </a:prstGeom>
          <a:noFill/>
        </p:spPr>
        <p:txBody>
          <a:bodyPr wrap="square" lIns="0" rIns="0" tIns="0" bIns="0" anchor="ctr">
            <a:spAutoFit/>
          </a:bodyPr>
          <a:lstStyle/>
          <a:p>
            <a:pPr algn="ctr"/>
            <a:r>
              <a:rPr sz="459" b="1" i="0" spc="80">
                <a:solidFill>
                  <a:srgbClr val="000000"/>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580" b="1" i="0">
                <a:solidFill>
                  <a:srgbClr val="1A1A1A"/>
                </a:solidFill>
                <a:latin typeface="Trenda IG Text"/>
              </a:rPr>
              <a:t>Gap: </a:t>
            </a:r>
            <a:r>
              <a:rPr sz="580" b="0" i="0">
                <a:solidFill>
                  <a:srgbClr val="4D4D4D"/>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570" b="0" i="0">
                <a:solidFill>
                  <a:srgbClr val="1A1A1A"/>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570" b="0" i="0">
                <a:solidFill>
                  <a:srgbClr val="1A1A1A"/>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570" b="0" i="0">
                <a:solidFill>
                  <a:srgbClr val="1A1A1A"/>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EAFBE6"/>
          </a:solidFill>
          <a:ln w="1143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590" b="1" i="0" spc="100">
                <a:solidFill>
                  <a:srgbClr val="2E8F1C"/>
                </a:solidFill>
                <a:latin typeface="Trenda IG Text"/>
              </a:rPr>
              <a:t>HOW WE PROVE IT  </a:t>
            </a:r>
            <a:r>
              <a:rPr sz="590" b="0" i="0">
                <a:solidFill>
                  <a:srgbClr val="1A1A1A"/>
                </a:solidFill>
                <a:latin typeface="Trenda IG Text"/>
              </a:rPr>
              <a:t>Discovery inventory across the approved scope · row-level security and authorized views with masking · raw access isolated from the LLM runtime · negative-access tests · drift detection · periodic access review. </a:t>
            </a:r>
            <a:r>
              <a:rPr sz="590" b="1" i="0">
                <a:solidFill>
                  <a:srgbClr val="1A1A1A"/>
                </a:solidFill>
                <a:latin typeface="Trenda IG Text"/>
              </a:rPr>
              <a:t>PROPOSED items are design, not production evidence.</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