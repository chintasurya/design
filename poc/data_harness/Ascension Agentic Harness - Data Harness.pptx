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27" r:id="rId19"/>
    <p:sldId id="326" r:id="rId18"/>
    <p:sldId id="324" r:id="rId16"/>
    <p:sldId id="328" r:id="rId20"/>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Harness   (about 2 minutes)</a:t>
            </a:r>
          </a:p>
          <a:p/>
          <a:p>
            <a:r>
              <a:t>KEY MESSAGE</a:t>
            </a:r>
          </a:p>
          <a:p>
            <a:r>
              <a:t>A typical Health Cloud task on the Network Services pod takes about two weeks today, from Jira story to UAT sign-off. On the Agentic Harness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HARNESS</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one engineer who directs the harness agent and verifies its work, and a tech lead shared across two or three squads. Across all pods, $16M a year today falls to about $8M at full run rate: about $20M saved over three years.</a:t>
            </a:r>
          </a:p>
          <a:p/>
          <a:p>
            <a:r>
              <a:t>TOP</a:t>
            </a:r>
          </a:p>
          <a:p>
            <a:r>
              <a:t>- Today's squad: PM / outcome owner, tech lead / SEM, 2-3 developers, 1-2 QA.</a:t>
            </a:r>
          </a:p>
          <a:p>
            <a:r>
              <a:t>- With the harness: the PM keeps ownership; one engineer (dev + QA) directs the agent and verifies; the tech lead / SEM is shared across 2-3 squads and still approves the code at H3.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FF0069"/>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00D6F2"/>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000000"/>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2" name="Shape 95"/>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108" name="Shape 101"/>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14" name="Shape 107"/>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HARNESS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harness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harness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checks consent, STOP, links, hours. </a:t>
            </a:r>
            <a:r>
              <a:rPr sz="7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as in the Agentic Harness deck.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FFFFFF"/>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HARNESS</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 about $20M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and one engineer directing the harness agent, with a shared tech lead.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HARNESS</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HARNESS · ~2.4 PEOPLE</a:t>
            </a:r>
          </a:p>
        </p:txBody>
      </p:sp>
      <p:sp>
        <p:nvSpPr>
          <p:cNvPr id="18" name="Shape 17"/>
          <p:cNvSpPr/>
          <p:nvPr/>
        </p:nvSpPr>
        <p:spPr>
          <a:xfrm>
            <a:off x="521208" y="2249424"/>
            <a:ext cx="749808"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749808" cy="292608"/>
          </a:xfrm>
          <a:prstGeom prst="rect">
            <a:avLst/>
          </a:prstGeom>
          <a:noFill/>
        </p:spPr>
        <p:txBody>
          <a:bodyPr wrap="square" lIns="0" rIns="0" tIns="0" bIns="0" anchor="ctr">
            <a:spAutoFit/>
          </a:bodyPr>
          <a:lstStyle/>
          <a:p>
            <a:pPr algn="ctr"/>
            <a:r>
              <a:rPr sz="700" b="1" i="0">
                <a:solidFill>
                  <a:srgbClr val="F2F2F2"/>
                </a:solidFill>
                <a:latin typeface="Trenda IG Text"/>
              </a:rPr>
              <a:t>PM / owner</a:t>
            </a:r>
          </a:p>
        </p:txBody>
      </p:sp>
      <p:sp>
        <p:nvSpPr>
          <p:cNvPr id="20" name="Shape 19"/>
          <p:cNvSpPr/>
          <p:nvPr/>
        </p:nvSpPr>
        <p:spPr>
          <a:xfrm>
            <a:off x="1325880" y="2249424"/>
            <a:ext cx="1115568"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325880" y="2249424"/>
            <a:ext cx="1115568" cy="292608"/>
          </a:xfrm>
          <a:prstGeom prst="rect">
            <a:avLst/>
          </a:prstGeom>
          <a:noFill/>
        </p:spPr>
        <p:txBody>
          <a:bodyPr wrap="square" lIns="0" rIns="0" tIns="0" bIns="0" anchor="ctr">
            <a:spAutoFit/>
          </a:bodyPr>
          <a:lstStyle/>
          <a:p>
            <a:pPr algn="ctr"/>
            <a:r>
              <a:rPr sz="700" b="1" i="0">
                <a:solidFill>
                  <a:srgbClr val="F2F2F2"/>
                </a:solidFill>
                <a:latin typeface="Trenda IG Text"/>
              </a:rPr>
              <a:t>Engineer · dev + QA</a:t>
            </a:r>
          </a:p>
        </p:txBody>
      </p:sp>
      <p:sp>
        <p:nvSpPr>
          <p:cNvPr id="22" name="Shape 21"/>
          <p:cNvSpPr/>
          <p:nvPr/>
        </p:nvSpPr>
        <p:spPr>
          <a:xfrm>
            <a:off x="2496312"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551176" y="2322576"/>
            <a:ext cx="146304" cy="146304"/>
          </a:xfrm>
          <a:prstGeom prst="rect">
            <a:avLst/>
          </a:prstGeom>
        </p:spPr>
      </p:pic>
      <p:sp>
        <p:nvSpPr>
          <p:cNvPr id="24" name="Text 22"/>
          <p:cNvSpPr txBox="1"/>
          <p:nvPr/>
        </p:nvSpPr>
        <p:spPr>
          <a:xfrm>
            <a:off x="2679192"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538728" y="2249424"/>
            <a:ext cx="914400"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538728" y="2249424"/>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Engineer </a:t>
            </a:r>
            <a:r>
              <a:rPr sz="700" b="0" i="0">
                <a:solidFill>
                  <a:srgbClr val="B3B3B3"/>
                </a:solidFill>
                <a:latin typeface="Trenda IG Text"/>
              </a:rPr>
              <a:t>directs it and verifies. </a:t>
            </a:r>
            <a:r>
              <a:rPr sz="700" b="1" i="0">
                <a:solidFill>
                  <a:srgbClr val="F2F2F2"/>
                </a:solidFill>
                <a:latin typeface="Trenda IG Text"/>
              </a:rPr>
              <a:t>Tech lead </a:t>
            </a:r>
            <a:r>
              <a:rPr sz="700" b="0" i="0">
                <a:solidFill>
                  <a:srgbClr val="B3B3B3"/>
                </a:solidFill>
                <a:latin typeface="Trenda IG Text"/>
              </a:rPr>
              <a:t>approves at H3 for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harness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harness</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