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3" r:id="rId15"/>
    <p:sldId id="324" r:id="rId16"/>
    <p:sldId id="325" r:id="rId17"/>
    <p:sldId id="322"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four data agents   (about 2 minutes)</a:t>
            </a:r>
          </a:p>
          <a:p/>
          <a:p>
            <a:r>
              <a:t>KEY MESSAGE</a:t>
            </a:r>
          </a:p>
          <a:p>
            <a:r>
              <a:t>The seven delivery agents are unchanged and serve every pod. Four data agents are added for campaigns on governed Google Cloud data. They only ever see masked data, and people approve at every gate.</a:t>
            </a:r>
          </a:p>
          <a:p/>
          <a:p>
            <a:r>
              <a:t>WALK IT</a:t>
            </a:r>
          </a:p>
          <a:p>
            <a:r>
              <a:t>- Left: what the agents read. The engineering sources (Jira, Confluence, Salesforce, Git, Copado, Drive) for every pod. Google Cloud governed data, masked by Collibra policy, only for Marketing Cloud pods: counts and segments, never a patient.</a:t>
            </a:r>
          </a:p>
          <a:p>
            <a:r>
              <a:t>- Middle: the seven delivery agents, then the four data agents: Campaign Strategist (ranks campaigns), Audience (builds the audience on masked views), Privacy Guard (consent first, minimum fields, the pre-send report), Measurement (lift and learning). The Developer Agent builds Marketing Cloud journeys with its Marketing Cloud skills.</a:t>
            </a:r>
          </a:p>
          <a:p>
            <a:r>
              <a:t>- Right: what changes per pod. Health Cloud pods use the delivery agents; Marketing Cloud pods use the delivery and the data agents.</a:t>
            </a:r>
          </a:p>
          <a:p>
            <a:r>
              <a:t>- Bottom: two governed paths. The delivery path is unchanged; the campaign path releases only the minimum fields after a masked pre-send review.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The data harness adds three things: a data context built on masked BigQuery data, a Privacy Guard and Collibra masking in Govern, and a masked pre-send review in Looker.</a:t>
            </a:r>
          </a:p>
          <a:p/>
          <a:p>
            <a:r>
              <a:t>WALK IT</a:t>
            </a:r>
          </a:p>
          <a:p>
            <a:r>
              <a:t>- Surface: where people work. Codex (a Jira number for a delivery story, or a campaign question), the Salesforce LWC console, the approval page, the masked pre-send review in Looker, and Jira.</a:t>
            </a:r>
          </a:p>
          <a:p>
            <a:r>
              <a:t>- Runtime and Registry: unchanged. Durable runs, one agent task per step; tools, skills and templates, now including campaign skills and journey templates.</a:t>
            </a:r>
          </a:p>
          <a:p>
            <a:r>
              <a:t>- Context: the knowledge graph and cited retrieval, plus the new data context: masked BigQuery aggregates through Collibra policy tags.</a:t>
            </a:r>
          </a:p>
          <a:p>
            <a:r>
              <a:t>- Govern: Change Guardian, Model Armor guardrails, identities, human gates, evals and the change passport, plus Collibra masking and the Privacy Guard (consent first, minimum fields).</a:t>
            </a:r>
          </a:p>
          <a:p>
            <a:r>
              <a:t>- Bottom: it all runs on what Ascension already owns, including BigQuery, Collibra, DLP, Looker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PHI is masked in Google Cloud   (about 3 minutes)</a:t>
            </a:r>
          </a:p>
          <a:p/>
          <a:p>
            <a:r>
              <a:t>KEY MESSAGE</a:t>
            </a:r>
          </a:p>
          <a:p>
            <a:r>
              <a:t>Sensitive BigQuery columns are found by scanning, approved by a data steward in Collibra, then protected automatically with masking or raw-access policies inside BigQuery. Agents, dashboards and reviewers only ever see the masked values.</a:t>
            </a:r>
          </a:p>
          <a:p/>
          <a:p>
            <a:r>
              <a:t>WALK IT (the approved path, left to right)</a:t>
            </a:r>
          </a:p>
          <a:p>
            <a:r>
              <a:t>- DLP classification: Cloud DLP scans BigQuery columns and proposes an infotype for each (person name, identifier, phone). Results land in the fgac_governance dataset, in the governance tier asc-ahnat-datarepository.</a:t>
            </a:r>
          </a:p>
          <a:p>
            <a:r>
              <a:t>- Steward review: a data steward approves or rejects each classification in Collibra. Nothing changes before that sign-off; Collibra stays the source of truth.</a:t>
            </a:r>
          </a:p>
          <a:p>
            <a:r>
              <a:t>- Reviewed classifications: one governed table (adc_collibra_reviewed_classifications), keyed by project, dataset, table and column.</a:t>
            </a:r>
          </a:p>
          <a:p>
            <a:r>
              <a:t>- Rollout gate: production is enabled project by project; each run logs the promotion SQL for a person to run.</a:t>
            </a:r>
          </a:p>
          <a:p>
            <a:r>
              <a:t>- Data Policy Tagger: a Cloud Run job, the same code in every environment, configured per environment, with a dry-run mode.</a:t>
            </a:r>
          </a:p>
          <a:p>
            <a:r>
              <a:t>- Policies applied: column-level data policies in BigQuery: SHA-256 masking for text and bytes, a numeric-safe policy for numbers. People and agents without raw access see masked values.</a:t>
            </a:r>
          </a:p>
          <a:p>
            <a:r>
              <a:t>- Bindings and validation: every policy is recorded and the table schema is read back to prove it took effect.</a:t>
            </a:r>
          </a:p>
          <a:p/>
          <a:p>
            <a:r>
              <a:t>REJECTED PATH</a:t>
            </a:r>
          </a:p>
          <a:p>
            <a:r>
              <a:t>If the steward rejects, the policy remover clears the policy, the binding is retired and the column can be reprocessed. The remover is in progress.</a:t>
            </a:r>
          </a:p>
          <a:p/>
          <a:p>
            <a:r>
              <a:t>WHO SEES WHAT (right)</a:t>
            </a:r>
          </a:p>
          <a:p>
            <a:r>
              <a:t>Agents and the knowledge graph see masked values and aggregates. The pre-send review shows a masked report. Only the release step, under a raw-access service account and only after G2 and G3, reads only the fields a campaign needs.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four data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Data agents plan and prepare campaigns on masked Google Cloud data. People approve at every gate.</a:t>
            </a:r>
          </a:p>
        </p:txBody>
      </p:sp>
      <p:sp>
        <p:nvSpPr>
          <p:cNvPr id="5" name="Shape 4"/>
          <p:cNvSpPr/>
          <p:nvPr/>
        </p:nvSpPr>
        <p:spPr>
          <a:xfrm>
            <a:off x="411480" y="1170432"/>
            <a:ext cx="2514600"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Masked by Collibra policy: agents see counts and segments, never a patient.</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3847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3847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32" name="Text 25"/>
          <p:cNvSpPr txBox="1"/>
          <p:nvPr/>
        </p:nvSpPr>
        <p:spPr>
          <a:xfrm>
            <a:off x="3410712" y="1499616"/>
            <a:ext cx="1508760" cy="278892"/>
          </a:xfrm>
          <a:prstGeom prst="rect">
            <a:avLst/>
          </a:prstGeom>
          <a:noFill/>
        </p:spPr>
        <p:txBody>
          <a:bodyPr wrap="square" lIns="0" rIns="0" tIns="0" bIns="0" anchor="ctr">
            <a:spAutoFit/>
          </a:bodyPr>
          <a:lstStyle/>
          <a:p>
            <a:r>
              <a:rPr sz="760" b="1" i="0">
                <a:solidFill>
                  <a:srgbClr val="FFFFFF"/>
                </a:solidFill>
                <a:latin typeface="Trenda IG Text"/>
              </a:rPr>
              <a:t>Orchestrator</a:t>
            </a:r>
          </a:p>
        </p:txBody>
      </p:sp>
      <p:sp>
        <p:nvSpPr>
          <p:cNvPr id="33" name="Text 26"/>
          <p:cNvSpPr txBox="1"/>
          <p:nvPr/>
        </p:nvSpPr>
        <p:spPr>
          <a:xfrm>
            <a:off x="4937760" y="1499616"/>
            <a:ext cx="2926079" cy="278892"/>
          </a:xfrm>
          <a:prstGeom prst="rect">
            <a:avLst/>
          </a:prstGeom>
          <a:noFill/>
        </p:spPr>
        <p:txBody>
          <a:bodyPr wrap="square" lIns="0" rIns="0" tIns="0" bIns="0" anchor="ctr">
            <a:spAutoFit/>
          </a:bodyPr>
          <a:lstStyle/>
          <a:p>
            <a:r>
              <a:rPr sz="640" b="0" i="0">
                <a:solidFill>
                  <a:srgbClr val="BFBFBF"/>
                </a:solidFill>
                <a:latin typeface="Trenda IG Text"/>
              </a:rPr>
              <a:t>Classifies the task, gathers context, routes the chain, enforces gates</a:t>
            </a:r>
          </a:p>
        </p:txBody>
      </p:sp>
      <p:sp>
        <p:nvSpPr>
          <p:cNvPr id="34" name="Shape 27"/>
          <p:cNvSpPr/>
          <p:nvPr/>
        </p:nvSpPr>
        <p:spPr>
          <a:xfrm>
            <a:off x="7955279" y="1556766"/>
            <a:ext cx="82296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56766"/>
            <a:ext cx="822960" cy="164592"/>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36" name="Shape 29"/>
          <p:cNvSpPr/>
          <p:nvPr/>
        </p:nvSpPr>
        <p:spPr>
          <a:xfrm>
            <a:off x="3063240" y="1815084"/>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85394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85394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39" name="Text 32"/>
          <p:cNvSpPr txBox="1"/>
          <p:nvPr/>
        </p:nvSpPr>
        <p:spPr>
          <a:xfrm>
            <a:off x="3410712" y="1815084"/>
            <a:ext cx="1508760" cy="278892"/>
          </a:xfrm>
          <a:prstGeom prst="rect">
            <a:avLst/>
          </a:prstGeom>
          <a:noFill/>
        </p:spPr>
        <p:txBody>
          <a:bodyPr wrap="square" lIns="0" rIns="0" tIns="0" bIns="0" anchor="ctr">
            <a:spAutoFit/>
          </a:bodyPr>
          <a:lstStyle/>
          <a:p>
            <a:r>
              <a:rPr sz="760" b="1" i="0">
                <a:solidFill>
                  <a:srgbClr val="FFFFFF"/>
                </a:solidFill>
                <a:latin typeface="Trenda IG Text"/>
              </a:rPr>
              <a:t>Requirements Agent</a:t>
            </a:r>
          </a:p>
        </p:txBody>
      </p:sp>
      <p:sp>
        <p:nvSpPr>
          <p:cNvPr id="40" name="Text 33"/>
          <p:cNvSpPr txBox="1"/>
          <p:nvPr/>
        </p:nvSpPr>
        <p:spPr>
          <a:xfrm>
            <a:off x="4937760" y="1815084"/>
            <a:ext cx="2926079" cy="278892"/>
          </a:xfrm>
          <a:prstGeom prst="rect">
            <a:avLst/>
          </a:prstGeom>
          <a:noFill/>
        </p:spPr>
        <p:txBody>
          <a:bodyPr wrap="square" lIns="0" rIns="0" tIns="0" bIns="0" anchor="ctr">
            <a:spAutoFit/>
          </a:bodyPr>
          <a:lstStyle/>
          <a:p>
            <a:r>
              <a:rPr sz="640" b="0" i="0">
                <a:solidFill>
                  <a:srgbClr val="BFBFBF"/>
                </a:solidFill>
                <a:latin typeface="Trenda IG Text"/>
              </a:rPr>
              <a:t>Jira story and Confluence design into a clear brief</a:t>
            </a:r>
          </a:p>
        </p:txBody>
      </p:sp>
      <p:sp>
        <p:nvSpPr>
          <p:cNvPr id="41" name="Shape 34"/>
          <p:cNvSpPr/>
          <p:nvPr/>
        </p:nvSpPr>
        <p:spPr>
          <a:xfrm>
            <a:off x="7955279" y="1872234"/>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872234"/>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43" name="Shape 36"/>
          <p:cNvSpPr/>
          <p:nvPr/>
        </p:nvSpPr>
        <p:spPr>
          <a:xfrm>
            <a:off x="3063240" y="2130552"/>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169414"/>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16941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46" name="Text 39"/>
          <p:cNvSpPr txBox="1"/>
          <p:nvPr/>
        </p:nvSpPr>
        <p:spPr>
          <a:xfrm>
            <a:off x="3410712" y="2130552"/>
            <a:ext cx="1508760" cy="278892"/>
          </a:xfrm>
          <a:prstGeom prst="rect">
            <a:avLst/>
          </a:prstGeom>
          <a:noFill/>
        </p:spPr>
        <p:txBody>
          <a:bodyPr wrap="square" lIns="0" rIns="0" tIns="0" bIns="0" anchor="ctr">
            <a:spAutoFit/>
          </a:bodyPr>
          <a:lstStyle/>
          <a:p>
            <a:r>
              <a:rPr sz="760" b="1" i="0">
                <a:solidFill>
                  <a:srgbClr val="FFFFFF"/>
                </a:solidFill>
                <a:latin typeface="Trenda IG Text"/>
              </a:rPr>
              <a:t>Architect Agent</a:t>
            </a:r>
          </a:p>
        </p:txBody>
      </p:sp>
      <p:sp>
        <p:nvSpPr>
          <p:cNvPr id="47" name="Text 40"/>
          <p:cNvSpPr txBox="1"/>
          <p:nvPr/>
        </p:nvSpPr>
        <p:spPr>
          <a:xfrm>
            <a:off x="4937760" y="2130552"/>
            <a:ext cx="2926079" cy="278892"/>
          </a:xfrm>
          <a:prstGeom prst="rect">
            <a:avLst/>
          </a:prstGeom>
          <a:noFill/>
        </p:spPr>
        <p:txBody>
          <a:bodyPr wrap="square" lIns="0" rIns="0" tIns="0" bIns="0" anchor="ctr">
            <a:spAutoFit/>
          </a:bodyPr>
          <a:lstStyle/>
          <a:p>
            <a:r>
              <a:rPr sz="640" b="0" i="0">
                <a:solidFill>
                  <a:srgbClr val="BFBFBF"/>
                </a:solidFill>
                <a:latin typeface="Trenda IG Text"/>
              </a:rPr>
              <a:t>Impact, reuse and risk from the graph; the change plan</a:t>
            </a:r>
          </a:p>
        </p:txBody>
      </p:sp>
      <p:sp>
        <p:nvSpPr>
          <p:cNvPr id="48" name="Shape 41"/>
          <p:cNvSpPr/>
          <p:nvPr/>
        </p:nvSpPr>
        <p:spPr>
          <a:xfrm>
            <a:off x="7955279" y="2187702"/>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187702"/>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50" name="Shape 43"/>
          <p:cNvSpPr/>
          <p:nvPr/>
        </p:nvSpPr>
        <p:spPr>
          <a:xfrm>
            <a:off x="3063240" y="2446020"/>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484882"/>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48488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53" name="Text 46"/>
          <p:cNvSpPr txBox="1"/>
          <p:nvPr/>
        </p:nvSpPr>
        <p:spPr>
          <a:xfrm>
            <a:off x="3410712" y="2446020"/>
            <a:ext cx="1508760" cy="278892"/>
          </a:xfrm>
          <a:prstGeom prst="rect">
            <a:avLst/>
          </a:prstGeom>
          <a:noFill/>
        </p:spPr>
        <p:txBody>
          <a:bodyPr wrap="square" lIns="0" rIns="0" tIns="0" bIns="0" anchor="ctr">
            <a:spAutoFit/>
          </a:bodyPr>
          <a:lstStyle/>
          <a:p>
            <a:r>
              <a:rPr sz="760" b="1" i="0">
                <a:solidFill>
                  <a:srgbClr val="FFFFFF"/>
                </a:solidFill>
                <a:latin typeface="Trenda IG Text"/>
              </a:rPr>
              <a:t>Developer Agent</a:t>
            </a:r>
          </a:p>
        </p:txBody>
      </p:sp>
      <p:sp>
        <p:nvSpPr>
          <p:cNvPr id="54" name="Text 47"/>
          <p:cNvSpPr txBox="1"/>
          <p:nvPr/>
        </p:nvSpPr>
        <p:spPr>
          <a:xfrm>
            <a:off x="4937760" y="2446020"/>
            <a:ext cx="2926079" cy="278892"/>
          </a:xfrm>
          <a:prstGeom prst="rect">
            <a:avLst/>
          </a:prstGeom>
          <a:noFill/>
        </p:spPr>
        <p:txBody>
          <a:bodyPr wrap="square" lIns="0" rIns="0" tIns="0" bIns="0" anchor="ctr">
            <a:spAutoFit/>
          </a:bodyPr>
          <a:lstStyle/>
          <a:p>
            <a:r>
              <a:rPr sz="640" b="0" i="0">
                <a:solidFill>
                  <a:srgbClr val="BFBFBF"/>
                </a:solidFill>
                <a:latin typeface="Trenda IG Text"/>
              </a:rPr>
              <a:t>Builds to Ascension standards in DEV; journeys for Marketing Cloud</a:t>
            </a:r>
          </a:p>
        </p:txBody>
      </p:sp>
      <p:sp>
        <p:nvSpPr>
          <p:cNvPr id="55" name="Shape 48"/>
          <p:cNvSpPr/>
          <p:nvPr/>
        </p:nvSpPr>
        <p:spPr>
          <a:xfrm>
            <a:off x="7955279" y="2503170"/>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503170"/>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57" name="Shape 50"/>
          <p:cNvSpPr/>
          <p:nvPr/>
        </p:nvSpPr>
        <p:spPr>
          <a:xfrm>
            <a:off x="3063240" y="2761487"/>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800349"/>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800349"/>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60" name="Text 53"/>
          <p:cNvSpPr txBox="1"/>
          <p:nvPr/>
        </p:nvSpPr>
        <p:spPr>
          <a:xfrm>
            <a:off x="3410712" y="2761487"/>
            <a:ext cx="1508760" cy="278892"/>
          </a:xfrm>
          <a:prstGeom prst="rect">
            <a:avLst/>
          </a:prstGeom>
          <a:noFill/>
        </p:spPr>
        <p:txBody>
          <a:bodyPr wrap="square" lIns="0" rIns="0" tIns="0" bIns="0" anchor="ctr">
            <a:spAutoFit/>
          </a:bodyPr>
          <a:lstStyle/>
          <a:p>
            <a:r>
              <a:rPr sz="760" b="1" i="0">
                <a:solidFill>
                  <a:srgbClr val="FFFFFF"/>
                </a:solidFill>
                <a:latin typeface="Trenda IG Text"/>
              </a:rPr>
              <a:t>Review Agent</a:t>
            </a:r>
          </a:p>
        </p:txBody>
      </p:sp>
      <p:sp>
        <p:nvSpPr>
          <p:cNvPr id="61" name="Text 54"/>
          <p:cNvSpPr txBox="1"/>
          <p:nvPr/>
        </p:nvSpPr>
        <p:spPr>
          <a:xfrm>
            <a:off x="4937760" y="2761487"/>
            <a:ext cx="2926079" cy="278892"/>
          </a:xfrm>
          <a:prstGeom prst="rect">
            <a:avLst/>
          </a:prstGeom>
          <a:noFill/>
        </p:spPr>
        <p:txBody>
          <a:bodyPr wrap="square" lIns="0" rIns="0" tIns="0" bIns="0" anchor="ctr">
            <a:spAutoFit/>
          </a:bodyPr>
          <a:lstStyle/>
          <a:p>
            <a:r>
              <a:rPr sz="640" b="0" i="0">
                <a:solidFill>
                  <a:srgbClr val="BFBFBF"/>
                </a:solidFill>
                <a:latin typeface="Trenda IG Text"/>
              </a:rPr>
              <a:t>Quality, security and Ascension coding standards</a:t>
            </a:r>
          </a:p>
        </p:txBody>
      </p:sp>
      <p:sp>
        <p:nvSpPr>
          <p:cNvPr id="62" name="Shape 55"/>
          <p:cNvSpPr/>
          <p:nvPr/>
        </p:nvSpPr>
        <p:spPr>
          <a:xfrm>
            <a:off x="7955279" y="2818637"/>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818637"/>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64" name="Shape 57"/>
          <p:cNvSpPr/>
          <p:nvPr/>
        </p:nvSpPr>
        <p:spPr>
          <a:xfrm>
            <a:off x="3063240" y="3076955"/>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3115817"/>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3115817"/>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7" name="Text 60"/>
          <p:cNvSpPr txBox="1"/>
          <p:nvPr/>
        </p:nvSpPr>
        <p:spPr>
          <a:xfrm>
            <a:off x="3410712" y="3076955"/>
            <a:ext cx="1508760" cy="278892"/>
          </a:xfrm>
          <a:prstGeom prst="rect">
            <a:avLst/>
          </a:prstGeom>
          <a:noFill/>
        </p:spPr>
        <p:txBody>
          <a:bodyPr wrap="square" lIns="0" rIns="0" tIns="0" bIns="0" anchor="ctr">
            <a:spAutoFit/>
          </a:bodyPr>
          <a:lstStyle/>
          <a:p>
            <a:r>
              <a:rPr sz="760" b="1" i="0">
                <a:solidFill>
                  <a:srgbClr val="FFFFFF"/>
                </a:solidFill>
                <a:latin typeface="Trenda IG Text"/>
              </a:rPr>
              <a:t>Test Agent</a:t>
            </a:r>
          </a:p>
        </p:txBody>
      </p:sp>
      <p:sp>
        <p:nvSpPr>
          <p:cNvPr id="68" name="Text 61"/>
          <p:cNvSpPr txBox="1"/>
          <p:nvPr/>
        </p:nvSpPr>
        <p:spPr>
          <a:xfrm>
            <a:off x="4937760" y="3076955"/>
            <a:ext cx="2926079" cy="278892"/>
          </a:xfrm>
          <a:prstGeom prst="rect">
            <a:avLst/>
          </a:prstGeom>
          <a:noFill/>
        </p:spPr>
        <p:txBody>
          <a:bodyPr wrap="square" lIns="0" rIns="0" tIns="0" bIns="0" anchor="ctr">
            <a:spAutoFit/>
          </a:bodyPr>
          <a:lstStyle/>
          <a:p>
            <a:r>
              <a:rPr sz="640" b="0" i="0">
                <a:solidFill>
                  <a:srgbClr val="BFBFBF"/>
                </a:solidFill>
                <a:latin typeface="Trenda IG Text"/>
              </a:rPr>
              <a:t>Unit, regression and performance tests; Zephyr to Copado</a:t>
            </a:r>
          </a:p>
        </p:txBody>
      </p:sp>
      <p:sp>
        <p:nvSpPr>
          <p:cNvPr id="69" name="Shape 62"/>
          <p:cNvSpPr/>
          <p:nvPr/>
        </p:nvSpPr>
        <p:spPr>
          <a:xfrm>
            <a:off x="7955279" y="3134105"/>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3134105"/>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71" name="Shape 64"/>
          <p:cNvSpPr/>
          <p:nvPr/>
        </p:nvSpPr>
        <p:spPr>
          <a:xfrm>
            <a:off x="3063240" y="3392423"/>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431285"/>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43128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sp>
        <p:nvSpPr>
          <p:cNvPr id="74" name="Text 67"/>
          <p:cNvSpPr txBox="1"/>
          <p:nvPr/>
        </p:nvSpPr>
        <p:spPr>
          <a:xfrm>
            <a:off x="3410712" y="3392423"/>
            <a:ext cx="1508760" cy="278892"/>
          </a:xfrm>
          <a:prstGeom prst="rect">
            <a:avLst/>
          </a:prstGeom>
          <a:noFill/>
        </p:spPr>
        <p:txBody>
          <a:bodyPr wrap="square" lIns="0" rIns="0" tIns="0" bIns="0" anchor="ctr">
            <a:spAutoFit/>
          </a:bodyPr>
          <a:lstStyle/>
          <a:p>
            <a:r>
              <a:rPr sz="760" b="1" i="0">
                <a:solidFill>
                  <a:srgbClr val="FFFFFF"/>
                </a:solidFill>
                <a:latin typeface="Trenda IG Text"/>
              </a:rPr>
              <a:t>Release Agent</a:t>
            </a:r>
          </a:p>
        </p:txBody>
      </p:sp>
      <p:sp>
        <p:nvSpPr>
          <p:cNvPr id="75" name="Text 68"/>
          <p:cNvSpPr txBox="1"/>
          <p:nvPr/>
        </p:nvSpPr>
        <p:spPr>
          <a:xfrm>
            <a:off x="4937760" y="3392423"/>
            <a:ext cx="2926079" cy="278892"/>
          </a:xfrm>
          <a:prstGeom prst="rect">
            <a:avLst/>
          </a:prstGeom>
          <a:noFill/>
        </p:spPr>
        <p:txBody>
          <a:bodyPr wrap="square" lIns="0" rIns="0" tIns="0" bIns="0" anchor="ctr">
            <a:spAutoFit/>
          </a:bodyPr>
          <a:lstStyle/>
          <a:p>
            <a:r>
              <a:rPr sz="640" b="0" i="0">
                <a:solidFill>
                  <a:srgbClr val="BFBFBF"/>
                </a:solidFill>
                <a:latin typeface="Trenda IG Text"/>
              </a:rPr>
              <a:t>Packages and promotes through Copado to lower environments</a:t>
            </a:r>
          </a:p>
        </p:txBody>
      </p:sp>
      <p:sp>
        <p:nvSpPr>
          <p:cNvPr id="76" name="Shape 69"/>
          <p:cNvSpPr/>
          <p:nvPr/>
        </p:nvSpPr>
        <p:spPr>
          <a:xfrm>
            <a:off x="7955279" y="3449573"/>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449573"/>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78" name="Shape 71"/>
          <p:cNvSpPr/>
          <p:nvPr/>
        </p:nvSpPr>
        <p:spPr>
          <a:xfrm>
            <a:off x="3063240" y="3762755"/>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762755"/>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DATA AGENTS</a:t>
            </a:r>
            <a:r>
              <a:rPr sz="700" b="0" i="0">
                <a:solidFill>
                  <a:srgbClr val="FFFFFF"/>
                </a:solidFill>
                <a:latin typeface="Trenda IG Text"/>
              </a:rPr>
              <a:t>   new: campaigns on governed, masked data</a:t>
            </a:r>
          </a:p>
        </p:txBody>
      </p:sp>
      <p:sp>
        <p:nvSpPr>
          <p:cNvPr id="80" name="Shape 73"/>
          <p:cNvSpPr/>
          <p:nvPr/>
        </p:nvSpPr>
        <p:spPr>
          <a:xfrm>
            <a:off x="3063240" y="4091939"/>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4130801"/>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4130801"/>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83" name="Text 76"/>
          <p:cNvSpPr txBox="1"/>
          <p:nvPr/>
        </p:nvSpPr>
        <p:spPr>
          <a:xfrm>
            <a:off x="3410712" y="4091939"/>
            <a:ext cx="1508760" cy="278892"/>
          </a:xfrm>
          <a:prstGeom prst="rect">
            <a:avLst/>
          </a:prstGeom>
          <a:noFill/>
        </p:spPr>
        <p:txBody>
          <a:bodyPr wrap="square" lIns="0" rIns="0" tIns="0" bIns="0" anchor="ctr">
            <a:spAutoFit/>
          </a:bodyPr>
          <a:lstStyle/>
          <a:p>
            <a:r>
              <a:rPr sz="760" b="1" i="0">
                <a:solidFill>
                  <a:srgbClr val="FFFFFF"/>
                </a:solidFill>
                <a:latin typeface="Trenda IG Text"/>
              </a:rPr>
              <a:t>Campaign Strategist</a:t>
            </a:r>
          </a:p>
        </p:txBody>
      </p:sp>
      <p:sp>
        <p:nvSpPr>
          <p:cNvPr id="84" name="Text 77"/>
          <p:cNvSpPr txBox="1"/>
          <p:nvPr/>
        </p:nvSpPr>
        <p:spPr>
          <a:xfrm>
            <a:off x="4937760" y="4091939"/>
            <a:ext cx="2926079" cy="278892"/>
          </a:xfrm>
          <a:prstGeom prst="rect">
            <a:avLst/>
          </a:prstGeom>
          <a:noFill/>
        </p:spPr>
        <p:txBody>
          <a:bodyPr wrap="square" lIns="0" rIns="0" tIns="0" bIns="0" anchor="ctr">
            <a:spAutoFit/>
          </a:bodyPr>
          <a:lstStyle/>
          <a:p>
            <a:r>
              <a:rPr sz="640" b="0" i="0">
                <a:solidFill>
                  <a:srgbClr val="BFBFBF"/>
                </a:solidFill>
                <a:latin typeface="Trenda IG Text"/>
              </a:rPr>
              <a:t>Ranks campaigns from the masked graph: size, care gap, consent, past lift</a:t>
            </a:r>
          </a:p>
        </p:txBody>
      </p:sp>
      <p:sp>
        <p:nvSpPr>
          <p:cNvPr id="85" name="Shape 78"/>
          <p:cNvSpPr/>
          <p:nvPr/>
        </p:nvSpPr>
        <p:spPr>
          <a:xfrm>
            <a:off x="7955279" y="4149089"/>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4149089"/>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87" name="Shape 80"/>
          <p:cNvSpPr/>
          <p:nvPr/>
        </p:nvSpPr>
        <p:spPr>
          <a:xfrm>
            <a:off x="3063240" y="4407407"/>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4446269"/>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4446269"/>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sp>
        <p:nvSpPr>
          <p:cNvPr id="90" name="Text 83"/>
          <p:cNvSpPr txBox="1"/>
          <p:nvPr/>
        </p:nvSpPr>
        <p:spPr>
          <a:xfrm>
            <a:off x="3410712" y="4407407"/>
            <a:ext cx="1508760" cy="278892"/>
          </a:xfrm>
          <a:prstGeom prst="rect">
            <a:avLst/>
          </a:prstGeom>
          <a:noFill/>
        </p:spPr>
        <p:txBody>
          <a:bodyPr wrap="square" lIns="0" rIns="0" tIns="0" bIns="0" anchor="ctr">
            <a:spAutoFit/>
          </a:bodyPr>
          <a:lstStyle/>
          <a:p>
            <a:r>
              <a:rPr sz="760" b="1" i="0">
                <a:solidFill>
                  <a:srgbClr val="FFFFFF"/>
                </a:solidFill>
                <a:latin typeface="Trenda IG Text"/>
              </a:rPr>
              <a:t>Audience Agent</a:t>
            </a:r>
          </a:p>
        </p:txBody>
      </p:sp>
      <p:sp>
        <p:nvSpPr>
          <p:cNvPr id="91" name="Text 84"/>
          <p:cNvSpPr txBox="1"/>
          <p:nvPr/>
        </p:nvSpPr>
        <p:spPr>
          <a:xfrm>
            <a:off x="4937760" y="4407407"/>
            <a:ext cx="2926079" cy="278892"/>
          </a:xfrm>
          <a:prstGeom prst="rect">
            <a:avLst/>
          </a:prstGeom>
          <a:noFill/>
        </p:spPr>
        <p:txBody>
          <a:bodyPr wrap="square" lIns="0" rIns="0" tIns="0" bIns="0" anchor="ctr">
            <a:spAutoFit/>
          </a:bodyPr>
          <a:lstStyle/>
          <a:p>
            <a:r>
              <a:rPr sz="640" b="0" i="0">
                <a:solidFill>
                  <a:srgbClr val="BFBFBF"/>
                </a:solidFill>
                <a:latin typeface="Trenda IG Text"/>
              </a:rPr>
              <a:t>Builds the audience on masked views as a BigQuery job: tokens and counts only</a:t>
            </a:r>
          </a:p>
        </p:txBody>
      </p:sp>
      <p:sp>
        <p:nvSpPr>
          <p:cNvPr id="92" name="Shape 85"/>
          <p:cNvSpPr/>
          <p:nvPr/>
        </p:nvSpPr>
        <p:spPr>
          <a:xfrm>
            <a:off x="7955279" y="4464557"/>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4464557"/>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94" name="Shape 87"/>
          <p:cNvSpPr/>
          <p:nvPr/>
        </p:nvSpPr>
        <p:spPr>
          <a:xfrm>
            <a:off x="3063240" y="4722875"/>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761737"/>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761737"/>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97" name="Text 90"/>
          <p:cNvSpPr txBox="1"/>
          <p:nvPr/>
        </p:nvSpPr>
        <p:spPr>
          <a:xfrm>
            <a:off x="3410712" y="4722875"/>
            <a:ext cx="1508760" cy="278892"/>
          </a:xfrm>
          <a:prstGeom prst="rect">
            <a:avLst/>
          </a:prstGeom>
          <a:noFill/>
        </p:spPr>
        <p:txBody>
          <a:bodyPr wrap="square" lIns="0" rIns="0" tIns="0" bIns="0" anchor="ctr">
            <a:spAutoFit/>
          </a:bodyPr>
          <a:lstStyle/>
          <a:p>
            <a:r>
              <a:rPr sz="760" b="1" i="0">
                <a:solidFill>
                  <a:srgbClr val="FFFFFF"/>
                </a:solidFill>
                <a:latin typeface="Trenda IG Text"/>
              </a:rPr>
              <a:t>Privacy Guard</a:t>
            </a:r>
          </a:p>
        </p:txBody>
      </p:sp>
      <p:sp>
        <p:nvSpPr>
          <p:cNvPr id="98" name="Text 91"/>
          <p:cNvSpPr txBox="1"/>
          <p:nvPr/>
        </p:nvSpPr>
        <p:spPr>
          <a:xfrm>
            <a:off x="4937760" y="4722875"/>
            <a:ext cx="2926079" cy="278892"/>
          </a:xfrm>
          <a:prstGeom prst="rect">
            <a:avLst/>
          </a:prstGeom>
          <a:noFill/>
        </p:spPr>
        <p:txBody>
          <a:bodyPr wrap="square" lIns="0" rIns="0" tIns="0" bIns="0" anchor="ctr">
            <a:spAutoFit/>
          </a:bodyPr>
          <a:lstStyle/>
          <a:p>
            <a:r>
              <a:rPr sz="640" b="0" i="0">
                <a:solidFill>
                  <a:srgbClr val="BFBFBF"/>
                </a:solidFill>
                <a:latin typeface="Trenda IG Text"/>
              </a:rPr>
              <a:t>Consent first, minimum fields; writes the masked pre-send report</a:t>
            </a:r>
          </a:p>
        </p:txBody>
      </p:sp>
      <p:sp>
        <p:nvSpPr>
          <p:cNvPr id="99" name="Shape 92"/>
          <p:cNvSpPr/>
          <p:nvPr/>
        </p:nvSpPr>
        <p:spPr>
          <a:xfrm>
            <a:off x="7955279" y="4780025"/>
            <a:ext cx="822960"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780025"/>
            <a:ext cx="822960" cy="164592"/>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01" name="Shape 94"/>
          <p:cNvSpPr/>
          <p:nvPr/>
        </p:nvSpPr>
        <p:spPr>
          <a:xfrm>
            <a:off x="3063240" y="5038343"/>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5077205"/>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507720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104" name="Text 97"/>
          <p:cNvSpPr txBox="1"/>
          <p:nvPr/>
        </p:nvSpPr>
        <p:spPr>
          <a:xfrm>
            <a:off x="3410712" y="5038343"/>
            <a:ext cx="1508760" cy="278892"/>
          </a:xfrm>
          <a:prstGeom prst="rect">
            <a:avLst/>
          </a:prstGeom>
          <a:noFill/>
        </p:spPr>
        <p:txBody>
          <a:bodyPr wrap="square" lIns="0" rIns="0" tIns="0" bIns="0" anchor="ctr">
            <a:spAutoFit/>
          </a:bodyPr>
          <a:lstStyle/>
          <a:p>
            <a:r>
              <a:rPr sz="760" b="1" i="0">
                <a:solidFill>
                  <a:srgbClr val="FFFFFF"/>
                </a:solidFill>
                <a:latin typeface="Trenda IG Text"/>
              </a:rPr>
              <a:t>Measurement Agent</a:t>
            </a:r>
          </a:p>
        </p:txBody>
      </p:sp>
      <p:sp>
        <p:nvSpPr>
          <p:cNvPr id="105" name="Text 98"/>
          <p:cNvSpPr txBox="1"/>
          <p:nvPr/>
        </p:nvSpPr>
        <p:spPr>
          <a:xfrm>
            <a:off x="4937760" y="5038343"/>
            <a:ext cx="2926079" cy="278892"/>
          </a:xfrm>
          <a:prstGeom prst="rect">
            <a:avLst/>
          </a:prstGeom>
          <a:noFill/>
        </p:spPr>
        <p:txBody>
          <a:bodyPr wrap="square" lIns="0" rIns="0" tIns="0" bIns="0" anchor="ctr">
            <a:spAutoFit/>
          </a:bodyPr>
          <a:lstStyle/>
          <a:p>
            <a:r>
              <a:rPr sz="640" b="0" i="0">
                <a:solidFill>
                  <a:srgbClr val="BFBFBF"/>
                </a:solidFill>
                <a:latin typeface="Trenda IG Text"/>
              </a:rPr>
              <a:t>Lift against a holdout; writes what worked back to the graph</a:t>
            </a:r>
          </a:p>
        </p:txBody>
      </p:sp>
      <p:sp>
        <p:nvSpPr>
          <p:cNvPr id="106" name="Shape 99"/>
          <p:cNvSpPr/>
          <p:nvPr/>
        </p:nvSpPr>
        <p:spPr>
          <a:xfrm>
            <a:off x="7955279" y="5095493"/>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5095493"/>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08" name="Shape 101"/>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2"/>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10" name="Shape 103"/>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1" name="Picture 110" descr="salesforce.png"/>
          <p:cNvPicPr>
            <a:picLocks noChangeAspect="1"/>
          </p:cNvPicPr>
          <p:nvPr/>
        </p:nvPicPr>
        <p:blipFill>
          <a:blip r:embed="rId4"/>
          <a:stretch>
            <a:fillRect/>
          </a:stretch>
        </p:blipFill>
        <p:spPr>
          <a:xfrm>
            <a:off x="9116567" y="1563624"/>
            <a:ext cx="182880" cy="182880"/>
          </a:xfrm>
          <a:prstGeom prst="rect">
            <a:avLst/>
          </a:prstGeom>
        </p:spPr>
      </p:pic>
      <p:sp>
        <p:nvSpPr>
          <p:cNvPr id="112" name="Text 104"/>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13" name="Text 105"/>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14" name="Text 106"/>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15" name="Shape 107"/>
          <p:cNvSpPr/>
          <p:nvPr/>
        </p:nvSpPr>
        <p:spPr>
          <a:xfrm>
            <a:off x="9116567" y="2267712"/>
            <a:ext cx="937259"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8"/>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AGENTS</a:t>
            </a:r>
          </a:p>
        </p:txBody>
      </p:sp>
      <p:pic>
        <p:nvPicPr>
          <p:cNvPr id="117" name="Picture 116" descr="salesforce.png"/>
          <p:cNvPicPr>
            <a:picLocks noChangeAspect="1"/>
          </p:cNvPicPr>
          <p:nvPr/>
        </p:nvPicPr>
        <p:blipFill>
          <a:blip r:embed="rId4"/>
          <a:stretch>
            <a:fillRect/>
          </a:stretch>
        </p:blipFill>
        <p:spPr>
          <a:xfrm>
            <a:off x="9116567" y="2587752"/>
            <a:ext cx="182880" cy="182880"/>
          </a:xfrm>
          <a:prstGeom prst="rect">
            <a:avLst/>
          </a:prstGeom>
        </p:spPr>
      </p:pic>
      <p:sp>
        <p:nvSpPr>
          <p:cNvPr id="118" name="Text 109"/>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19" name="Text 110"/>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20" name="Text 111"/>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21" name="Shape 112"/>
          <p:cNvSpPr/>
          <p:nvPr/>
        </p:nvSpPr>
        <p:spPr>
          <a:xfrm>
            <a:off x="9116567" y="3291840"/>
            <a:ext cx="1289304"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13"/>
          <p:cNvSpPr txBox="1"/>
          <p:nvPr/>
        </p:nvSpPr>
        <p:spPr>
          <a:xfrm>
            <a:off x="9116567" y="3291840"/>
            <a:ext cx="1289304" cy="164592"/>
          </a:xfrm>
          <a:prstGeom prst="rect">
            <a:avLst/>
          </a:prstGeom>
          <a:noFill/>
        </p:spPr>
        <p:txBody>
          <a:bodyPr wrap="square" lIns="0" rIns="0" tIns="0" bIns="0" anchor="ctr">
            <a:spAutoFit/>
          </a:bodyPr>
          <a:lstStyle/>
          <a:p>
            <a:pPr algn="ctr"/>
            <a:r>
              <a:rPr sz="560" b="1" i="0" spc="80">
                <a:solidFill>
                  <a:srgbClr val="FF0069"/>
                </a:solidFill>
                <a:latin typeface="Trenda IG Text"/>
              </a:rPr>
              <a:t>DELIVERY + DATA AGENTS</a:t>
            </a:r>
          </a:p>
        </p:txBody>
      </p:sp>
      <p:sp>
        <p:nvSpPr>
          <p:cNvPr id="123" name="Shape 114"/>
          <p:cNvSpPr/>
          <p:nvPr/>
        </p:nvSpPr>
        <p:spPr>
          <a:xfrm>
            <a:off x="10460736" y="3291840"/>
            <a:ext cx="585216"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5"/>
          <p:cNvSpPr txBox="1"/>
          <p:nvPr/>
        </p:nvSpPr>
        <p:spPr>
          <a:xfrm>
            <a:off x="10460736" y="3291840"/>
            <a:ext cx="585216" cy="164592"/>
          </a:xfrm>
          <a:prstGeom prst="rect">
            <a:avLst/>
          </a:prstGeom>
          <a:noFill/>
        </p:spPr>
        <p:txBody>
          <a:bodyPr wrap="square" lIns="0" rIns="0" tIns="0" bIns="0" anchor="ctr">
            <a:spAutoFit/>
          </a:bodyPr>
          <a:lstStyle/>
          <a:p>
            <a:pPr algn="ctr"/>
            <a:r>
              <a:rPr sz="560" b="1" i="0" spc="80">
                <a:solidFill>
                  <a:srgbClr val="FF0069"/>
                </a:solidFill>
                <a:latin typeface="Trenda IG Text"/>
              </a:rPr>
              <a:t>GCP DATA</a:t>
            </a:r>
          </a:p>
        </p:txBody>
      </p:sp>
      <p:sp>
        <p:nvSpPr>
          <p:cNvPr id="125" name="Text 116"/>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26" name="Text 117"/>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27" name="Text 118"/>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28" name="Shape 119"/>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0"/>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30" name="Text 121"/>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DELIVERY PATH</a:t>
            </a:r>
          </a:p>
        </p:txBody>
      </p:sp>
      <p:sp>
        <p:nvSpPr>
          <p:cNvPr id="131" name="Shape 122"/>
          <p:cNvSpPr/>
          <p:nvPr/>
        </p:nvSpPr>
        <p:spPr>
          <a:xfrm>
            <a:off x="1645920"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3"/>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33" name="Arrow 124"/>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4" name="Shape 125"/>
          <p:cNvSpPr/>
          <p:nvPr/>
        </p:nvSpPr>
        <p:spPr>
          <a:xfrm>
            <a:off x="2779776"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6"/>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36" name="Arrow 127"/>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7" name="Shape 128"/>
          <p:cNvSpPr/>
          <p:nvPr/>
        </p:nvSpPr>
        <p:spPr>
          <a:xfrm>
            <a:off x="3913632"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9"/>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39" name="Arrow 130"/>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Shape 131"/>
          <p:cNvSpPr/>
          <p:nvPr/>
        </p:nvSpPr>
        <p:spPr>
          <a:xfrm>
            <a:off x="504748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2"/>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42" name="Arrow 133"/>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34"/>
          <p:cNvSpPr/>
          <p:nvPr/>
        </p:nvSpPr>
        <p:spPr>
          <a:xfrm>
            <a:off x="6181344"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35"/>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45" name="Arrow 136"/>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6" name="Shape 137"/>
          <p:cNvSpPr/>
          <p:nvPr/>
        </p:nvSpPr>
        <p:spPr>
          <a:xfrm>
            <a:off x="7315200"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8"/>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UAT</a:t>
            </a:r>
          </a:p>
        </p:txBody>
      </p:sp>
      <p:cxnSp>
        <p:nvCxnSpPr>
          <p:cNvPr id="148" name="Arrow 139"/>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Shape 140"/>
          <p:cNvSpPr/>
          <p:nvPr/>
        </p:nvSpPr>
        <p:spPr>
          <a:xfrm>
            <a:off x="8449056"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Human approval</a:t>
            </a:r>
          </a:p>
        </p:txBody>
      </p:sp>
      <p:cxnSp>
        <p:nvCxnSpPr>
          <p:cNvPr id="151" name="Arrow 142"/>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2" name="Shape 143"/>
          <p:cNvSpPr/>
          <p:nvPr/>
        </p:nvSpPr>
        <p:spPr>
          <a:xfrm>
            <a:off x="9582912"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CAB</a:t>
            </a:r>
          </a:p>
        </p:txBody>
      </p:sp>
      <p:cxnSp>
        <p:nvCxnSpPr>
          <p:cNvPr id="154" name="Arrow 145"/>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1071676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57" name="Text 148"/>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FF0069"/>
                </a:solidFill>
                <a:latin typeface="Trenda IG Text"/>
              </a:rPr>
              <a:t>CAMPAIGN PATH</a:t>
            </a:r>
          </a:p>
        </p:txBody>
      </p:sp>
      <p:sp>
        <p:nvSpPr>
          <p:cNvPr id="158" name="Shape 149"/>
          <p:cNvSpPr/>
          <p:nvPr/>
        </p:nvSpPr>
        <p:spPr>
          <a:xfrm>
            <a:off x="164592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Ask in Codex</a:t>
            </a:r>
          </a:p>
        </p:txBody>
      </p:sp>
      <p:cxnSp>
        <p:nvCxnSpPr>
          <p:cNvPr id="160" name="Arrow 151"/>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3346704"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Masked audience</a:t>
            </a:r>
          </a:p>
        </p:txBody>
      </p:sp>
      <p:cxnSp>
        <p:nvCxnSpPr>
          <p:cNvPr id="163" name="Arrow 154"/>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5047488" y="5925312"/>
            <a:ext cx="1627632"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5047488" y="5925312"/>
            <a:ext cx="1627632" cy="292608"/>
          </a:xfrm>
          <a:prstGeom prst="rect">
            <a:avLst/>
          </a:prstGeom>
          <a:noFill/>
        </p:spPr>
        <p:txBody>
          <a:bodyPr wrap="square" lIns="0" rIns="0" tIns="0" bIns="0" anchor="ctr">
            <a:spAutoFit/>
          </a:bodyPr>
          <a:lstStyle/>
          <a:p>
            <a:pPr algn="ctr"/>
            <a:r>
              <a:rPr sz="660" b="1" i="0">
                <a:solidFill>
                  <a:srgbClr val="FFD700"/>
                </a:solidFill>
                <a:latin typeface="Trenda IG Text"/>
              </a:rPr>
              <a:t>Pre-send review</a:t>
            </a:r>
          </a:p>
        </p:txBody>
      </p:sp>
      <p:cxnSp>
        <p:nvCxnSpPr>
          <p:cNvPr id="166" name="Arrow 157"/>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6748272"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6748272"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Release minimum fields</a:t>
            </a:r>
          </a:p>
        </p:txBody>
      </p:sp>
      <p:cxnSp>
        <p:nvCxnSpPr>
          <p:cNvPr id="169" name="Arrow 160"/>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SFMC pulls</a:t>
            </a:r>
          </a:p>
        </p:txBody>
      </p:sp>
      <p:cxnSp>
        <p:nvCxnSpPr>
          <p:cNvPr id="172" name="Arrow 163"/>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14984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and a Privacy Guard, and a masked pre-send review.</a:t>
            </a:r>
          </a:p>
        </p:txBody>
      </p:sp>
      <p:sp>
        <p:nvSpPr>
          <p:cNvPr id="5" name="Shape 4"/>
          <p:cNvSpPr/>
          <p:nvPr/>
        </p:nvSpPr>
        <p:spPr>
          <a:xfrm>
            <a:off x="1463040" y="1161288"/>
            <a:ext cx="1531619"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257300"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257300" cy="329184"/>
          </a:xfrm>
          <a:prstGeom prst="rect">
            <a:avLst/>
          </a:prstGeom>
          <a:noFill/>
        </p:spPr>
        <p:txBody>
          <a:bodyPr wrap="square" lIns="0" rIns="0" tIns="0" bIns="0" anchor="ctr">
            <a:spAutoFit/>
          </a:bodyPr>
          <a:lstStyle/>
          <a:p>
            <a:pPr algn="ctr"/>
            <a:r>
              <a:rPr sz="850" b="0" i="0">
                <a:solidFill>
                  <a:srgbClr val="FFFFFF"/>
                </a:solidFill>
                <a:latin typeface="Trenda IG Text"/>
              </a:rPr>
              <a:t>4 data agents</a:t>
            </a:r>
          </a:p>
        </p:txBody>
      </p:sp>
      <p:sp>
        <p:nvSpPr>
          <p:cNvPr id="9" name="Shape 8"/>
          <p:cNvSpPr/>
          <p:nvPr/>
        </p:nvSpPr>
        <p:spPr>
          <a:xfrm>
            <a:off x="4526279"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526279"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057899" y="1161288"/>
            <a:ext cx="11887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057899"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383779"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383779"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FBFBF"/>
                </a:solidFill>
                <a:latin typeface="Trenda IG Text"/>
              </a:rPr>
              <a:t>SSO · H1-H4 · G1-G3</a:t>
            </a:r>
          </a:p>
        </p:txBody>
      </p:sp>
      <p:pic>
        <p:nvPicPr>
          <p:cNvPr id="28" name="Picture 27" descr="looker.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Looker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FBFBF"/>
                </a:solidFill>
                <a:latin typeface="Trenda IG Text"/>
              </a:rPr>
              <a:t>the masked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90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FFFFF"/>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Privacy Guard: consent first</a:t>
            </a:r>
          </a:p>
        </p:txBody>
      </p:sp>
      <p:sp>
        <p:nvSpPr>
          <p:cNvPr id="94" name="Shape 87"/>
          <p:cNvSpPr/>
          <p:nvPr/>
        </p:nvSpPr>
        <p:spPr>
          <a:xfrm>
            <a:off x="8202167" y="3822191"/>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0" name="Shape 93"/>
          <p:cNvSpPr/>
          <p:nvPr/>
        </p:nvSpPr>
        <p:spPr>
          <a:xfrm>
            <a:off x="8915400" y="1938528"/>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FBFBF"/>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F0069"/>
                </a:solidFill>
                <a:latin typeface="Trenda IG Text"/>
              </a:rPr>
              <a:t>Ask before build.</a:t>
            </a:r>
          </a:p>
        </p:txBody>
      </p:sp>
      <p:sp>
        <p:nvSpPr>
          <p:cNvPr id="106" name="Shape 99"/>
          <p:cNvSpPr/>
          <p:nvPr/>
        </p:nvSpPr>
        <p:spPr>
          <a:xfrm>
            <a:off x="8915400" y="3054096"/>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FBFBF"/>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F0069"/>
                </a:solidFill>
                <a:latin typeface="Trenda IG Text"/>
              </a:rPr>
              <a:t>Governed by design.</a:t>
            </a:r>
          </a:p>
        </p:txBody>
      </p:sp>
      <p:sp>
        <p:nvSpPr>
          <p:cNvPr id="112" name="Shape 105"/>
          <p:cNvSpPr/>
          <p:nvPr/>
        </p:nvSpPr>
        <p:spPr>
          <a:xfrm>
            <a:off x="8915400" y="4169663"/>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Agents never see a patient</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FBFBF"/>
                </a:solidFill>
                <a:latin typeface="Trenda IG Text"/>
              </a:rPr>
              <a:t>Collibra policy masks PHI; only counts and tokens; minimum fields released after review.</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F0069"/>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FFFFF"/>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650" b="0" i="0">
                <a:solidFill>
                  <a:srgbClr val="BFBFBF"/>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FBFBF"/>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FBFBF"/>
                </a:solidFill>
                <a:latin typeface="Trenda IG Text"/>
              </a:rPr>
              <a:t>BigQuery, Collibra, DLP, Looker,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A1630"/>
          </a:solid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8B7CD8"/>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11430">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6B6B6B"/>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8B7CD8"/>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6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6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6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6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6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6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DATA GOVERNANCE (ADDG)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PHI is masked in Google Cloud: classify, approve, protect, prove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Sensitive BigQuery columns are found by scanning, approved by a Collibra data steward, then masked inside BigQuery. Agents, dashboards and reviewers only ever see masked values.</a:t>
            </a:r>
          </a:p>
        </p:txBody>
      </p:sp>
      <p:sp>
        <p:nvSpPr>
          <p:cNvPr id="5" name="Shape 4"/>
          <p:cNvSpPr/>
          <p:nvPr/>
        </p:nvSpPr>
        <p:spPr>
          <a:xfrm>
            <a:off x="411480" y="11887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02920" y="1280160"/>
            <a:ext cx="182880" cy="182880"/>
          </a:xfrm>
          <a:prstGeom prst="rect">
            <a:avLst/>
          </a:prstGeom>
        </p:spPr>
      </p:pic>
      <p:sp>
        <p:nvSpPr>
          <p:cNvPr id="8" name="Text 6"/>
          <p:cNvSpPr txBox="1"/>
          <p:nvPr/>
        </p:nvSpPr>
        <p:spPr>
          <a:xfrm>
            <a:off x="502920" y="1536192"/>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REVIEW</a:t>
            </a:r>
          </a:p>
          <a:p>
            <a:pPr>
              <a:spcAft>
                <a:spcPts val="100"/>
              </a:spcAft>
            </a:pPr>
            <a:r>
              <a:rPr sz="520" b="0" i="0">
                <a:solidFill>
                  <a:srgbClr val="8C8C8C"/>
                </a:solidFill>
                <a:latin typeface="Courier New"/>
              </a:rPr>
              <a:t>Collibra</a:t>
            </a:r>
          </a:p>
        </p:txBody>
      </p:sp>
      <p:sp>
        <p:nvSpPr>
          <p:cNvPr id="9" name="Shape 7"/>
          <p:cNvSpPr/>
          <p:nvPr/>
        </p:nvSpPr>
        <p:spPr>
          <a:xfrm>
            <a:off x="411480" y="21031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411480" y="21031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ooglecloud.png"/>
          <p:cNvPicPr>
            <a:picLocks noChangeAspect="1"/>
          </p:cNvPicPr>
          <p:nvPr/>
        </p:nvPicPr>
        <p:blipFill>
          <a:blip r:embed="rId3"/>
          <a:stretch>
            <a:fillRect/>
          </a:stretch>
        </p:blipFill>
        <p:spPr>
          <a:xfrm>
            <a:off x="502920" y="2194560"/>
            <a:ext cx="182880" cy="182880"/>
          </a:xfrm>
          <a:prstGeom prst="rect">
            <a:avLst/>
          </a:prstGeom>
        </p:spPr>
      </p:pic>
      <p:sp>
        <p:nvSpPr>
          <p:cNvPr id="12" name="Text 9"/>
          <p:cNvSpPr txBox="1"/>
          <p:nvPr/>
        </p:nvSpPr>
        <p:spPr>
          <a:xfrm>
            <a:off x="502920" y="2450591"/>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GOVERNANCE</a:t>
            </a:r>
          </a:p>
          <a:p>
            <a:pPr>
              <a:spcAft>
                <a:spcPts val="100"/>
              </a:spcAft>
            </a:pPr>
            <a:r>
              <a:rPr sz="520" b="0" i="0">
                <a:solidFill>
                  <a:srgbClr val="8C8C8C"/>
                </a:solidFill>
                <a:latin typeface="Courier New"/>
              </a:rPr>
              <a:t>asc-ahnat-datarepository</a:t>
            </a:r>
          </a:p>
        </p:txBody>
      </p:sp>
      <p:sp>
        <p:nvSpPr>
          <p:cNvPr id="13" name="Shape 10"/>
          <p:cNvSpPr/>
          <p:nvPr/>
        </p:nvSpPr>
        <p:spPr>
          <a:xfrm>
            <a:off x="411480" y="30175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1"/>
          <p:cNvSpPr/>
          <p:nvPr/>
        </p:nvSpPr>
        <p:spPr>
          <a:xfrm>
            <a:off x="411480" y="30175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ooglecloud.png"/>
          <p:cNvPicPr>
            <a:picLocks noChangeAspect="1"/>
          </p:cNvPicPr>
          <p:nvPr/>
        </p:nvPicPr>
        <p:blipFill>
          <a:blip r:embed="rId3"/>
          <a:stretch>
            <a:fillRect/>
          </a:stretch>
        </p:blipFill>
        <p:spPr>
          <a:xfrm>
            <a:off x="502920" y="3108960"/>
            <a:ext cx="182880" cy="182880"/>
          </a:xfrm>
          <a:prstGeom prst="rect">
            <a:avLst/>
          </a:prstGeom>
        </p:spPr>
      </p:pic>
      <p:sp>
        <p:nvSpPr>
          <p:cNvPr id="16" name="Text 12"/>
          <p:cNvSpPr txBox="1"/>
          <p:nvPr/>
        </p:nvSpPr>
        <p:spPr>
          <a:xfrm>
            <a:off x="502920" y="3364991"/>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COMPUTE</a:t>
            </a:r>
          </a:p>
          <a:p>
            <a:pPr>
              <a:spcAft>
                <a:spcPts val="100"/>
              </a:spcAft>
            </a:pPr>
            <a:r>
              <a:rPr sz="520" b="0" i="0">
                <a:solidFill>
                  <a:srgbClr val="8C8C8C"/>
                </a:solidFill>
                <a:latin typeface="Courier New"/>
              </a:rPr>
              <a:t>asc-datalake</a:t>
            </a:r>
          </a:p>
        </p:txBody>
      </p:sp>
      <p:sp>
        <p:nvSpPr>
          <p:cNvPr id="17" name="Shape 13"/>
          <p:cNvSpPr/>
          <p:nvPr/>
        </p:nvSpPr>
        <p:spPr>
          <a:xfrm>
            <a:off x="411480" y="39319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4"/>
          <p:cNvSpPr/>
          <p:nvPr/>
        </p:nvSpPr>
        <p:spPr>
          <a:xfrm>
            <a:off x="411480" y="39319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googlecloud.png"/>
          <p:cNvPicPr>
            <a:picLocks noChangeAspect="1"/>
          </p:cNvPicPr>
          <p:nvPr/>
        </p:nvPicPr>
        <p:blipFill>
          <a:blip r:embed="rId3"/>
          <a:stretch>
            <a:fillRect/>
          </a:stretch>
        </p:blipFill>
        <p:spPr>
          <a:xfrm>
            <a:off x="502920" y="4023359"/>
            <a:ext cx="182880" cy="182880"/>
          </a:xfrm>
          <a:prstGeom prst="rect">
            <a:avLst/>
          </a:prstGeom>
        </p:spPr>
      </p:pic>
      <p:sp>
        <p:nvSpPr>
          <p:cNvPr id="20" name="Text 15"/>
          <p:cNvSpPr txBox="1"/>
          <p:nvPr/>
        </p:nvSpPr>
        <p:spPr>
          <a:xfrm>
            <a:off x="502920" y="4279392"/>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TARGET</a:t>
            </a:r>
          </a:p>
          <a:p>
            <a:pPr>
              <a:spcAft>
                <a:spcPts val="100"/>
              </a:spcAft>
            </a:pPr>
            <a:r>
              <a:rPr sz="520" b="0" i="0">
                <a:solidFill>
                  <a:srgbClr val="8C8C8C"/>
                </a:solidFill>
                <a:latin typeface="Courier New"/>
              </a:rPr>
              <a:t>asc-ahnat-dataplace</a:t>
            </a:r>
          </a:p>
        </p:txBody>
      </p:sp>
      <p:cxnSp>
        <p:nvCxnSpPr>
          <p:cNvPr id="21" name="Arrow 16"/>
          <p:cNvCxnSpPr/>
          <p:nvPr/>
        </p:nvCxnSpPr>
        <p:spPr>
          <a:xfrm>
            <a:off x="2542032" y="25237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2" name="Arrow 17"/>
          <p:cNvCxnSpPr/>
          <p:nvPr/>
        </p:nvCxnSpPr>
        <p:spPr>
          <a:xfrm flipV="1">
            <a:off x="2628900" y="16093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a:off x="2628900" y="16093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3721608" y="16093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808476" y="16093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808476" y="25237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4901183" y="2523744"/>
            <a:ext cx="86869"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988052" y="25237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988052" y="34381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901183" y="3438144"/>
            <a:ext cx="86869"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988052" y="3438144"/>
            <a:ext cx="0"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988052" y="34381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6080760" y="34381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6167628" y="34381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6167628" y="43525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7260336" y="43525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flipV="1">
            <a:off x="7347204" y="2523744"/>
            <a:ext cx="0" cy="18288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a:off x="7347204" y="25237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4901183" y="2670048"/>
            <a:ext cx="1856233" cy="0"/>
          </a:xfrm>
          <a:prstGeom prst="line">
            <a:avLst/>
          </a:prstGeom>
          <a:ln w="19050">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6757416" y="2670048"/>
            <a:ext cx="0" cy="466343"/>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6757416" y="3739896"/>
            <a:ext cx="0" cy="310895"/>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7"/>
          <p:cNvSpPr/>
          <p:nvPr/>
        </p:nvSpPr>
        <p:spPr>
          <a:xfrm>
            <a:off x="1536192"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8"/>
          <p:cNvSpPr txBox="1"/>
          <p:nvPr/>
        </p:nvSpPr>
        <p:spPr>
          <a:xfrm>
            <a:off x="1609344"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DLP</a:t>
            </a:r>
          </a:p>
          <a:p>
            <a:pPr>
              <a:lnSpc>
                <a:spcPct val="90000"/>
              </a:lnSpc>
            </a:pPr>
            <a:r>
              <a:rPr sz="720" b="1" i="0">
                <a:solidFill>
                  <a:srgbClr val="FFFFFF"/>
                </a:solidFill>
                <a:latin typeface="Trenda IG Text"/>
              </a:rPr>
              <a:t>classification</a:t>
            </a:r>
          </a:p>
        </p:txBody>
      </p:sp>
      <p:sp>
        <p:nvSpPr>
          <p:cNvPr id="44" name="Shape 39"/>
          <p:cNvSpPr/>
          <p:nvPr/>
        </p:nvSpPr>
        <p:spPr>
          <a:xfrm>
            <a:off x="1609344" y="2532887"/>
            <a:ext cx="493776" cy="128016"/>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1609344" y="2532887"/>
            <a:ext cx="493776" cy="128016"/>
          </a:xfrm>
          <a:prstGeom prst="rect">
            <a:avLst/>
          </a:prstGeom>
          <a:noFill/>
        </p:spPr>
        <p:txBody>
          <a:bodyPr wrap="square" lIns="0" rIns="0" tIns="0" bIns="0" anchor="ctr">
            <a:spAutoFit/>
          </a:bodyPr>
          <a:lstStyle/>
          <a:p>
            <a:pPr algn="ctr"/>
            <a:r>
              <a:rPr sz="459" b="1" i="0" spc="80">
                <a:solidFill>
                  <a:srgbClr val="BFBFBF"/>
                </a:solidFill>
                <a:latin typeface="Trenda IG Text"/>
              </a:rPr>
              <a:t>UPSTREAM</a:t>
            </a:r>
          </a:p>
        </p:txBody>
      </p:sp>
      <p:sp>
        <p:nvSpPr>
          <p:cNvPr id="46" name="Text 41"/>
          <p:cNvSpPr txBox="1"/>
          <p:nvPr/>
        </p:nvSpPr>
        <p:spPr>
          <a:xfrm>
            <a:off x="1609344" y="2660903"/>
            <a:ext cx="896112" cy="146304"/>
          </a:xfrm>
          <a:prstGeom prst="rect">
            <a:avLst/>
          </a:prstGeom>
          <a:noFill/>
        </p:spPr>
        <p:txBody>
          <a:bodyPr wrap="square" lIns="0" rIns="0" tIns="0" bIns="0" anchor="ctr">
            <a:spAutoFit/>
          </a:bodyPr>
          <a:lstStyle/>
          <a:p>
            <a:r>
              <a:rPr sz="560" b="0" i="0">
                <a:solidFill>
                  <a:srgbClr val="8C8C8C"/>
                </a:solidFill>
                <a:latin typeface="Courier New"/>
              </a:rPr>
              <a:t>Cloud DLP</a:t>
            </a:r>
          </a:p>
        </p:txBody>
      </p:sp>
      <p:sp>
        <p:nvSpPr>
          <p:cNvPr id="47" name="Shape 42"/>
          <p:cNvSpPr/>
          <p:nvPr/>
        </p:nvSpPr>
        <p:spPr>
          <a:xfrm>
            <a:off x="2715768" y="1307592"/>
            <a:ext cx="1005840" cy="603504"/>
          </a:xfrm>
          <a:prstGeom prst="roundRect">
            <a:avLst>
              <a:gd name="adj" fmla="val 10000"/>
            </a:avLst>
          </a:prstGeom>
          <a:solidFill>
            <a:srgbClr val="2B2508"/>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788920" y="13441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Steward</a:t>
            </a:r>
          </a:p>
          <a:p>
            <a:pPr>
              <a:lnSpc>
                <a:spcPct val="90000"/>
              </a:lnSpc>
            </a:pPr>
            <a:r>
              <a:rPr sz="720" b="1" i="0">
                <a:solidFill>
                  <a:srgbClr val="FFFFFF"/>
                </a:solidFill>
                <a:latin typeface="Trenda IG Text"/>
              </a:rPr>
              <a:t>review</a:t>
            </a:r>
          </a:p>
        </p:txBody>
      </p:sp>
      <p:sp>
        <p:nvSpPr>
          <p:cNvPr id="49" name="Shape 44"/>
          <p:cNvSpPr/>
          <p:nvPr/>
        </p:nvSpPr>
        <p:spPr>
          <a:xfrm>
            <a:off x="2788920" y="1618488"/>
            <a:ext cx="493776" cy="128016"/>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788920" y="1618488"/>
            <a:ext cx="493776" cy="128016"/>
          </a:xfrm>
          <a:prstGeom prst="rect">
            <a:avLst/>
          </a:prstGeom>
          <a:noFill/>
        </p:spPr>
        <p:txBody>
          <a:bodyPr wrap="square" lIns="0" rIns="0" tIns="0" bIns="0" anchor="ctr">
            <a:spAutoFit/>
          </a:bodyPr>
          <a:lstStyle/>
          <a:p>
            <a:pPr algn="ctr"/>
            <a:r>
              <a:rPr sz="459" b="1" i="0" spc="80">
                <a:solidFill>
                  <a:srgbClr val="BFBFBF"/>
                </a:solidFill>
                <a:latin typeface="Trenda IG Text"/>
              </a:rPr>
              <a:t>UPSTREAM</a:t>
            </a:r>
          </a:p>
        </p:txBody>
      </p:sp>
      <p:sp>
        <p:nvSpPr>
          <p:cNvPr id="51" name="Text 46"/>
          <p:cNvSpPr txBox="1"/>
          <p:nvPr/>
        </p:nvSpPr>
        <p:spPr>
          <a:xfrm>
            <a:off x="2788920" y="1746504"/>
            <a:ext cx="896112" cy="146304"/>
          </a:xfrm>
          <a:prstGeom prst="rect">
            <a:avLst/>
          </a:prstGeom>
          <a:noFill/>
        </p:spPr>
        <p:txBody>
          <a:bodyPr wrap="square" lIns="0" rIns="0" tIns="0" bIns="0" anchor="ctr">
            <a:spAutoFit/>
          </a:bodyPr>
          <a:lstStyle/>
          <a:p>
            <a:r>
              <a:rPr sz="560" b="0" i="0">
                <a:solidFill>
                  <a:srgbClr val="8C8C8C"/>
                </a:solidFill>
                <a:latin typeface="Courier New"/>
              </a:rPr>
              <a:t>Collibra</a:t>
            </a:r>
          </a:p>
        </p:txBody>
      </p:sp>
      <p:sp>
        <p:nvSpPr>
          <p:cNvPr id="52" name="Shape 47"/>
          <p:cNvSpPr/>
          <p:nvPr/>
        </p:nvSpPr>
        <p:spPr>
          <a:xfrm>
            <a:off x="3895344"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8"/>
          <p:cNvSpPr txBox="1"/>
          <p:nvPr/>
        </p:nvSpPr>
        <p:spPr>
          <a:xfrm>
            <a:off x="3968496"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Reviewed</a:t>
            </a:r>
          </a:p>
          <a:p>
            <a:pPr>
              <a:lnSpc>
                <a:spcPct val="90000"/>
              </a:lnSpc>
            </a:pPr>
            <a:r>
              <a:rPr sz="720" b="1" i="0">
                <a:solidFill>
                  <a:srgbClr val="FFFFFF"/>
                </a:solidFill>
                <a:latin typeface="Trenda IG Text"/>
              </a:rPr>
              <a:t>classifications</a:t>
            </a:r>
          </a:p>
        </p:txBody>
      </p:sp>
      <p:sp>
        <p:nvSpPr>
          <p:cNvPr id="54" name="Shape 49"/>
          <p:cNvSpPr/>
          <p:nvPr/>
        </p:nvSpPr>
        <p:spPr>
          <a:xfrm>
            <a:off x="3968496" y="25328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3968496" y="25328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56" name="Text 51"/>
          <p:cNvSpPr txBox="1"/>
          <p:nvPr/>
        </p:nvSpPr>
        <p:spPr>
          <a:xfrm>
            <a:off x="3968496" y="2660903"/>
            <a:ext cx="896112" cy="146304"/>
          </a:xfrm>
          <a:prstGeom prst="rect">
            <a:avLst/>
          </a:prstGeom>
          <a:noFill/>
        </p:spPr>
        <p:txBody>
          <a:bodyPr wrap="square" lIns="0" rIns="0" tIns="0" bIns="0" anchor="ctr">
            <a:spAutoFit/>
          </a:bodyPr>
          <a:lstStyle/>
          <a:p>
            <a:r>
              <a:rPr sz="560" b="0" i="0">
                <a:solidFill>
                  <a:srgbClr val="8C8C8C"/>
                </a:solidFill>
                <a:latin typeface="Courier New"/>
              </a:rPr>
              <a:t>governance table</a:t>
            </a:r>
          </a:p>
        </p:txBody>
      </p:sp>
      <p:sp>
        <p:nvSpPr>
          <p:cNvPr id="57" name="Shape 52"/>
          <p:cNvSpPr/>
          <p:nvPr/>
        </p:nvSpPr>
        <p:spPr>
          <a:xfrm>
            <a:off x="3895344" y="3136391"/>
            <a:ext cx="1005840" cy="603504"/>
          </a:xfrm>
          <a:prstGeom prst="roundRect">
            <a:avLst>
              <a:gd name="adj" fmla="val 10000"/>
            </a:avLst>
          </a:prstGeom>
          <a:solidFill>
            <a:srgbClr val="2B2508"/>
          </a:solidFill>
          <a:ln w="15875">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968496"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Rollout</a:t>
            </a:r>
          </a:p>
          <a:p>
            <a:pPr>
              <a:lnSpc>
                <a:spcPct val="90000"/>
              </a:lnSpc>
            </a:pPr>
            <a:r>
              <a:rPr sz="720" b="1" i="0">
                <a:solidFill>
                  <a:srgbClr val="FFFFFF"/>
                </a:solidFill>
                <a:latin typeface="Trenda IG Text"/>
              </a:rPr>
              <a:t>gate</a:t>
            </a:r>
          </a:p>
        </p:txBody>
      </p:sp>
      <p:sp>
        <p:nvSpPr>
          <p:cNvPr id="59" name="Shape 54"/>
          <p:cNvSpPr/>
          <p:nvPr/>
        </p:nvSpPr>
        <p:spPr>
          <a:xfrm>
            <a:off x="3968496" y="34472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3968496" y="34472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61" name="Text 56"/>
          <p:cNvSpPr txBox="1"/>
          <p:nvPr/>
        </p:nvSpPr>
        <p:spPr>
          <a:xfrm>
            <a:off x="3968496" y="3575303"/>
            <a:ext cx="896112" cy="146304"/>
          </a:xfrm>
          <a:prstGeom prst="rect">
            <a:avLst/>
          </a:prstGeom>
          <a:noFill/>
        </p:spPr>
        <p:txBody>
          <a:bodyPr wrap="square" lIns="0" rIns="0" tIns="0" bIns="0" anchor="ctr">
            <a:spAutoFit/>
          </a:bodyPr>
          <a:lstStyle/>
          <a:p>
            <a:r>
              <a:rPr sz="560" b="0" i="0">
                <a:solidFill>
                  <a:srgbClr val="8C8C8C"/>
                </a:solidFill>
                <a:latin typeface="Courier New"/>
              </a:rPr>
              <a:t>per project</a:t>
            </a:r>
          </a:p>
        </p:txBody>
      </p:sp>
      <p:sp>
        <p:nvSpPr>
          <p:cNvPr id="62" name="Shape 57"/>
          <p:cNvSpPr/>
          <p:nvPr/>
        </p:nvSpPr>
        <p:spPr>
          <a:xfrm>
            <a:off x="5074920" y="31363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5148072"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Data Policy</a:t>
            </a:r>
          </a:p>
          <a:p>
            <a:pPr>
              <a:lnSpc>
                <a:spcPct val="90000"/>
              </a:lnSpc>
            </a:pPr>
            <a:r>
              <a:rPr sz="720" b="1" i="0">
                <a:solidFill>
                  <a:srgbClr val="FFFFFF"/>
                </a:solidFill>
                <a:latin typeface="Trenda IG Text"/>
              </a:rPr>
              <a:t>Tagger</a:t>
            </a:r>
          </a:p>
        </p:txBody>
      </p:sp>
      <p:sp>
        <p:nvSpPr>
          <p:cNvPr id="64" name="Shape 59"/>
          <p:cNvSpPr/>
          <p:nvPr/>
        </p:nvSpPr>
        <p:spPr>
          <a:xfrm>
            <a:off x="5148072" y="3447287"/>
            <a:ext cx="630936" cy="128016"/>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0"/>
          <p:cNvSpPr txBox="1"/>
          <p:nvPr/>
        </p:nvSpPr>
        <p:spPr>
          <a:xfrm>
            <a:off x="5148072" y="3447287"/>
            <a:ext cx="630936" cy="128016"/>
          </a:xfrm>
          <a:prstGeom prst="rect">
            <a:avLst/>
          </a:prstGeom>
          <a:noFill/>
        </p:spPr>
        <p:txBody>
          <a:bodyPr wrap="square" lIns="0" rIns="0" tIns="0" bIns="0" anchor="ctr">
            <a:spAutoFit/>
          </a:bodyPr>
          <a:lstStyle/>
          <a:p>
            <a:pPr algn="ctr"/>
            <a:r>
              <a:rPr sz="459" b="1" i="0" spc="80">
                <a:solidFill>
                  <a:srgbClr val="00D6F2"/>
                </a:solidFill>
                <a:latin typeface="Trenda IG Text"/>
              </a:rPr>
              <a:t>LIVE IN DEV</a:t>
            </a:r>
          </a:p>
        </p:txBody>
      </p:sp>
      <p:sp>
        <p:nvSpPr>
          <p:cNvPr id="66" name="Text 61"/>
          <p:cNvSpPr txBox="1"/>
          <p:nvPr/>
        </p:nvSpPr>
        <p:spPr>
          <a:xfrm>
            <a:off x="5148072" y="3575303"/>
            <a:ext cx="896112" cy="146304"/>
          </a:xfrm>
          <a:prstGeom prst="rect">
            <a:avLst/>
          </a:prstGeom>
          <a:noFill/>
        </p:spPr>
        <p:txBody>
          <a:bodyPr wrap="square" lIns="0" rIns="0" tIns="0" bIns="0" anchor="ctr">
            <a:spAutoFit/>
          </a:bodyPr>
          <a:lstStyle/>
          <a:p>
            <a:r>
              <a:rPr sz="560" b="0" i="0">
                <a:solidFill>
                  <a:srgbClr val="8C8C8C"/>
                </a:solidFill>
                <a:latin typeface="Courier New"/>
              </a:rPr>
              <a:t>Cloud Run job</a:t>
            </a:r>
          </a:p>
        </p:txBody>
      </p:sp>
      <p:sp>
        <p:nvSpPr>
          <p:cNvPr id="67" name="Shape 62"/>
          <p:cNvSpPr/>
          <p:nvPr/>
        </p:nvSpPr>
        <p:spPr>
          <a:xfrm>
            <a:off x="6254496" y="40507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327648" y="40873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Policies</a:t>
            </a:r>
          </a:p>
          <a:p>
            <a:pPr>
              <a:lnSpc>
                <a:spcPct val="90000"/>
              </a:lnSpc>
            </a:pPr>
            <a:r>
              <a:rPr sz="720" b="1" i="0">
                <a:solidFill>
                  <a:srgbClr val="FFFFFF"/>
                </a:solidFill>
                <a:latin typeface="Trenda IG Text"/>
              </a:rPr>
              <a:t>applied</a:t>
            </a:r>
          </a:p>
        </p:txBody>
      </p:sp>
      <p:sp>
        <p:nvSpPr>
          <p:cNvPr id="69" name="Shape 64"/>
          <p:cNvSpPr/>
          <p:nvPr/>
        </p:nvSpPr>
        <p:spPr>
          <a:xfrm>
            <a:off x="6327648" y="4361688"/>
            <a:ext cx="630936" cy="128016"/>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327648" y="4361688"/>
            <a:ext cx="630936" cy="128016"/>
          </a:xfrm>
          <a:prstGeom prst="rect">
            <a:avLst/>
          </a:prstGeom>
          <a:noFill/>
        </p:spPr>
        <p:txBody>
          <a:bodyPr wrap="square" lIns="0" rIns="0" tIns="0" bIns="0" anchor="ctr">
            <a:spAutoFit/>
          </a:bodyPr>
          <a:lstStyle/>
          <a:p>
            <a:pPr algn="ctr"/>
            <a:r>
              <a:rPr sz="459" b="1" i="0" spc="80">
                <a:solidFill>
                  <a:srgbClr val="00D6F2"/>
                </a:solidFill>
                <a:latin typeface="Trenda IG Text"/>
              </a:rPr>
              <a:t>LIVE IN DEV</a:t>
            </a:r>
          </a:p>
        </p:txBody>
      </p:sp>
      <p:sp>
        <p:nvSpPr>
          <p:cNvPr id="71" name="Text 66"/>
          <p:cNvSpPr txBox="1"/>
          <p:nvPr/>
        </p:nvSpPr>
        <p:spPr>
          <a:xfrm>
            <a:off x="6327648" y="4489704"/>
            <a:ext cx="896112" cy="146304"/>
          </a:xfrm>
          <a:prstGeom prst="rect">
            <a:avLst/>
          </a:prstGeom>
          <a:noFill/>
        </p:spPr>
        <p:txBody>
          <a:bodyPr wrap="square" lIns="0" rIns="0" tIns="0" bIns="0" anchor="ctr">
            <a:spAutoFit/>
          </a:bodyPr>
          <a:lstStyle/>
          <a:p>
            <a:r>
              <a:rPr sz="560" b="0" i="0">
                <a:solidFill>
                  <a:srgbClr val="8C8C8C"/>
                </a:solidFill>
                <a:latin typeface="Courier New"/>
              </a:rPr>
              <a:t>BigQuery columns</a:t>
            </a:r>
          </a:p>
        </p:txBody>
      </p:sp>
      <p:sp>
        <p:nvSpPr>
          <p:cNvPr id="72" name="Shape 67"/>
          <p:cNvSpPr/>
          <p:nvPr/>
        </p:nvSpPr>
        <p:spPr>
          <a:xfrm>
            <a:off x="7434072"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8"/>
          <p:cNvSpPr txBox="1"/>
          <p:nvPr/>
        </p:nvSpPr>
        <p:spPr>
          <a:xfrm>
            <a:off x="7507224"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Bindings +</a:t>
            </a:r>
          </a:p>
          <a:p>
            <a:pPr>
              <a:lnSpc>
                <a:spcPct val="90000"/>
              </a:lnSpc>
            </a:pPr>
            <a:r>
              <a:rPr sz="720" b="1" i="0">
                <a:solidFill>
                  <a:srgbClr val="FFFFFF"/>
                </a:solidFill>
                <a:latin typeface="Trenda IG Text"/>
              </a:rPr>
              <a:t>validation</a:t>
            </a:r>
          </a:p>
        </p:txBody>
      </p:sp>
      <p:sp>
        <p:nvSpPr>
          <p:cNvPr id="74" name="Shape 69"/>
          <p:cNvSpPr/>
          <p:nvPr/>
        </p:nvSpPr>
        <p:spPr>
          <a:xfrm>
            <a:off x="7507224" y="25328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0"/>
          <p:cNvSpPr txBox="1"/>
          <p:nvPr/>
        </p:nvSpPr>
        <p:spPr>
          <a:xfrm>
            <a:off x="7507224" y="25328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76" name="Text 71"/>
          <p:cNvSpPr txBox="1"/>
          <p:nvPr/>
        </p:nvSpPr>
        <p:spPr>
          <a:xfrm>
            <a:off x="7507224" y="2660903"/>
            <a:ext cx="896112" cy="146304"/>
          </a:xfrm>
          <a:prstGeom prst="rect">
            <a:avLst/>
          </a:prstGeom>
          <a:noFill/>
        </p:spPr>
        <p:txBody>
          <a:bodyPr wrap="square" lIns="0" rIns="0" tIns="0" bIns="0" anchor="ctr">
            <a:spAutoFit/>
          </a:bodyPr>
          <a:lstStyle/>
          <a:p>
            <a:r>
              <a:rPr sz="560" b="0" i="0">
                <a:solidFill>
                  <a:srgbClr val="8C8C8C"/>
                </a:solidFill>
                <a:latin typeface="Courier New"/>
              </a:rPr>
              <a:t>audit trail</a:t>
            </a:r>
          </a:p>
        </p:txBody>
      </p:sp>
      <p:sp>
        <p:nvSpPr>
          <p:cNvPr id="77" name="Shape 72"/>
          <p:cNvSpPr/>
          <p:nvPr/>
        </p:nvSpPr>
        <p:spPr>
          <a:xfrm>
            <a:off x="6254496" y="3136391"/>
            <a:ext cx="1005840" cy="603504"/>
          </a:xfrm>
          <a:prstGeom prst="roundRect">
            <a:avLst>
              <a:gd name="adj" fmla="val 10000"/>
            </a:avLst>
          </a:prstGeom>
          <a:solidFill>
            <a:srgbClr val="00000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3"/>
          <p:cNvSpPr txBox="1"/>
          <p:nvPr/>
        </p:nvSpPr>
        <p:spPr>
          <a:xfrm>
            <a:off x="6327648"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Policy</a:t>
            </a:r>
          </a:p>
          <a:p>
            <a:pPr>
              <a:lnSpc>
                <a:spcPct val="90000"/>
              </a:lnSpc>
            </a:pPr>
            <a:r>
              <a:rPr sz="720" b="1" i="0">
                <a:solidFill>
                  <a:srgbClr val="FFFFFF"/>
                </a:solidFill>
                <a:latin typeface="Trenda IG Text"/>
              </a:rPr>
              <a:t>remover</a:t>
            </a:r>
          </a:p>
        </p:txBody>
      </p:sp>
      <p:sp>
        <p:nvSpPr>
          <p:cNvPr id="79" name="Shape 74"/>
          <p:cNvSpPr/>
          <p:nvPr/>
        </p:nvSpPr>
        <p:spPr>
          <a:xfrm>
            <a:off x="6327648" y="3447287"/>
            <a:ext cx="630936" cy="128016"/>
          </a:xfrm>
          <a:prstGeom prst="roundRect">
            <a:avLst>
              <a:gd name="adj" fmla="val 50000"/>
            </a:avLst>
          </a:prstGeom>
          <a:noFill/>
          <a:ln w="9525">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5"/>
          <p:cNvSpPr txBox="1"/>
          <p:nvPr/>
        </p:nvSpPr>
        <p:spPr>
          <a:xfrm>
            <a:off x="6327648" y="3447287"/>
            <a:ext cx="630936" cy="128016"/>
          </a:xfrm>
          <a:prstGeom prst="rect">
            <a:avLst/>
          </a:prstGeom>
          <a:noFill/>
        </p:spPr>
        <p:txBody>
          <a:bodyPr wrap="square" lIns="0" rIns="0" tIns="0" bIns="0" anchor="ctr">
            <a:spAutoFit/>
          </a:bodyPr>
          <a:lstStyle/>
          <a:p>
            <a:pPr algn="ctr"/>
            <a:r>
              <a:rPr sz="459" b="1" i="0" spc="80">
                <a:solidFill>
                  <a:srgbClr val="FA8B35"/>
                </a:solidFill>
                <a:latin typeface="Trenda IG Text"/>
              </a:rPr>
              <a:t>IN PROGRESS</a:t>
            </a:r>
          </a:p>
        </p:txBody>
      </p:sp>
      <p:sp>
        <p:nvSpPr>
          <p:cNvPr id="81" name="Text 76"/>
          <p:cNvSpPr txBox="1"/>
          <p:nvPr/>
        </p:nvSpPr>
        <p:spPr>
          <a:xfrm>
            <a:off x="6327648" y="3575303"/>
            <a:ext cx="896112" cy="146304"/>
          </a:xfrm>
          <a:prstGeom prst="rect">
            <a:avLst/>
          </a:prstGeom>
          <a:noFill/>
        </p:spPr>
        <p:txBody>
          <a:bodyPr wrap="square" lIns="0" rIns="0" tIns="0" bIns="0" anchor="ctr">
            <a:spAutoFit/>
          </a:bodyPr>
          <a:lstStyle/>
          <a:p>
            <a:r>
              <a:rPr sz="560" b="0" i="0">
                <a:solidFill>
                  <a:srgbClr val="8C8C8C"/>
                </a:solidFill>
                <a:latin typeface="Courier New"/>
              </a:rPr>
              <a:t>rejected path</a:t>
            </a:r>
          </a:p>
        </p:txBody>
      </p:sp>
      <p:cxnSp>
        <p:nvCxnSpPr>
          <p:cNvPr id="82" name="Arrow 77"/>
          <p:cNvCxnSpPr/>
          <p:nvPr/>
        </p:nvCxnSpPr>
        <p:spPr>
          <a:xfrm>
            <a:off x="1536192" y="4937759"/>
            <a:ext cx="3657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Text 78"/>
          <p:cNvSpPr txBox="1"/>
          <p:nvPr/>
        </p:nvSpPr>
        <p:spPr>
          <a:xfrm>
            <a:off x="1947672" y="4864607"/>
            <a:ext cx="1463040" cy="146304"/>
          </a:xfrm>
          <a:prstGeom prst="rect">
            <a:avLst/>
          </a:prstGeom>
          <a:noFill/>
        </p:spPr>
        <p:txBody>
          <a:bodyPr wrap="square" lIns="0" rIns="0" tIns="0" bIns="0" anchor="ctr">
            <a:spAutoFit/>
          </a:bodyPr>
          <a:lstStyle/>
          <a:p>
            <a:r>
              <a:rPr sz="600" b="0" i="0">
                <a:solidFill>
                  <a:srgbClr val="BFBFBF"/>
                </a:solidFill>
                <a:latin typeface="Trenda IG Text"/>
              </a:rPr>
              <a:t>steward approves: protect</a:t>
            </a:r>
          </a:p>
        </p:txBody>
      </p:sp>
      <p:cxnSp>
        <p:nvCxnSpPr>
          <p:cNvPr id="84" name="Arrow 79"/>
          <p:cNvCxnSpPr/>
          <p:nvPr/>
        </p:nvCxnSpPr>
        <p:spPr>
          <a:xfrm>
            <a:off x="3566160" y="4937759"/>
            <a:ext cx="365760" cy="0"/>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5" name="Text 80"/>
          <p:cNvSpPr txBox="1"/>
          <p:nvPr/>
        </p:nvSpPr>
        <p:spPr>
          <a:xfrm>
            <a:off x="3977639" y="4864607"/>
            <a:ext cx="2194560" cy="146304"/>
          </a:xfrm>
          <a:prstGeom prst="rect">
            <a:avLst/>
          </a:prstGeom>
          <a:noFill/>
        </p:spPr>
        <p:txBody>
          <a:bodyPr wrap="square" lIns="0" rIns="0" tIns="0" bIns="0" anchor="ctr">
            <a:spAutoFit/>
          </a:bodyPr>
          <a:lstStyle/>
          <a:p>
            <a:r>
              <a:rPr sz="600" b="0" i="0">
                <a:solidFill>
                  <a:srgbClr val="BFBFBF"/>
                </a:solidFill>
                <a:latin typeface="Trenda IG Text"/>
              </a:rPr>
              <a:t>steward rejects: policy removed, binding retired</a:t>
            </a:r>
          </a:p>
        </p:txBody>
      </p:sp>
      <p:sp>
        <p:nvSpPr>
          <p:cNvPr id="86" name="Text 81"/>
          <p:cNvSpPr txBox="1"/>
          <p:nvPr/>
        </p:nvSpPr>
        <p:spPr>
          <a:xfrm>
            <a:off x="6400800" y="4864607"/>
            <a:ext cx="2194560" cy="146304"/>
          </a:xfrm>
          <a:prstGeom prst="rect">
            <a:avLst/>
          </a:prstGeom>
          <a:noFill/>
        </p:spPr>
        <p:txBody>
          <a:bodyPr wrap="square" lIns="0" rIns="0" tIns="0" bIns="0" anchor="ctr">
            <a:spAutoFit/>
          </a:bodyPr>
          <a:lstStyle/>
          <a:p>
            <a:r>
              <a:rPr sz="600" b="0" i="0">
                <a:solidFill>
                  <a:srgbClr val="BFBFBF"/>
                </a:solidFill>
                <a:latin typeface="Trenda IG Text"/>
              </a:rPr>
              <a:t>yellow: a human or rollout gate</a:t>
            </a:r>
          </a:p>
        </p:txBody>
      </p:sp>
      <p:sp>
        <p:nvSpPr>
          <p:cNvPr id="87" name="Shape 82"/>
          <p:cNvSpPr/>
          <p:nvPr/>
        </p:nvSpPr>
        <p:spPr>
          <a:xfrm>
            <a:off x="8778240" y="1188720"/>
            <a:ext cx="2999232" cy="193852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8887967" y="1225296"/>
            <a:ext cx="2779776" cy="219456"/>
          </a:xfrm>
          <a:prstGeom prst="rect">
            <a:avLst/>
          </a:prstGeom>
          <a:noFill/>
        </p:spPr>
        <p:txBody>
          <a:bodyPr wrap="square" lIns="0" rIns="0" tIns="0" bIns="0" anchor="ctr">
            <a:spAutoFit/>
          </a:bodyPr>
          <a:lstStyle/>
          <a:p>
            <a:r>
              <a:rPr sz="620" b="1" i="0" spc="120">
                <a:solidFill>
                  <a:srgbClr val="FFD700"/>
                </a:solidFill>
                <a:latin typeface="Trenda IG Text"/>
              </a:rPr>
              <a:t>WHAT A MASKED COLUMN LOOKS LIKE</a:t>
            </a:r>
          </a:p>
        </p:txBody>
      </p:sp>
      <p:sp>
        <p:nvSpPr>
          <p:cNvPr id="89" name="Text 84"/>
          <p:cNvSpPr txBox="1"/>
          <p:nvPr/>
        </p:nvSpPr>
        <p:spPr>
          <a:xfrm>
            <a:off x="8887967" y="1481328"/>
            <a:ext cx="1097280" cy="146304"/>
          </a:xfrm>
          <a:prstGeom prst="rect">
            <a:avLst/>
          </a:prstGeom>
          <a:noFill/>
        </p:spPr>
        <p:txBody>
          <a:bodyPr wrap="square" lIns="0" rIns="0" tIns="0" bIns="0" anchor="t">
            <a:spAutoFit/>
          </a:bodyPr>
          <a:lstStyle/>
          <a:p>
            <a:r>
              <a:rPr sz="560" b="1" i="0">
                <a:solidFill>
                  <a:srgbClr val="8C8C8C"/>
                </a:solidFill>
                <a:latin typeface="Trenda IG Text"/>
              </a:rPr>
              <a:t>column</a:t>
            </a:r>
          </a:p>
        </p:txBody>
      </p:sp>
      <p:sp>
        <p:nvSpPr>
          <p:cNvPr id="90" name="Text 85"/>
          <p:cNvSpPr txBox="1"/>
          <p:nvPr/>
        </p:nvSpPr>
        <p:spPr>
          <a:xfrm>
            <a:off x="9765792" y="1481328"/>
            <a:ext cx="1097280" cy="146304"/>
          </a:xfrm>
          <a:prstGeom prst="rect">
            <a:avLst/>
          </a:prstGeom>
          <a:noFill/>
        </p:spPr>
        <p:txBody>
          <a:bodyPr wrap="square" lIns="0" rIns="0" tIns="0" bIns="0" anchor="t">
            <a:spAutoFit/>
          </a:bodyPr>
          <a:lstStyle/>
          <a:p>
            <a:r>
              <a:rPr sz="560" b="1" i="0">
                <a:solidFill>
                  <a:srgbClr val="8C8C8C"/>
                </a:solidFill>
                <a:latin typeface="Trenda IG Text"/>
              </a:rPr>
              <a:t>DLP infotype</a:t>
            </a:r>
          </a:p>
        </p:txBody>
      </p:sp>
      <p:sp>
        <p:nvSpPr>
          <p:cNvPr id="91" name="Text 86"/>
          <p:cNvSpPr txBox="1"/>
          <p:nvPr/>
        </p:nvSpPr>
        <p:spPr>
          <a:xfrm>
            <a:off x="10716767" y="1481328"/>
            <a:ext cx="1097280" cy="146304"/>
          </a:xfrm>
          <a:prstGeom prst="rect">
            <a:avLst/>
          </a:prstGeom>
          <a:noFill/>
        </p:spPr>
        <p:txBody>
          <a:bodyPr wrap="square" lIns="0" rIns="0" tIns="0" bIns="0" anchor="t">
            <a:spAutoFit/>
          </a:bodyPr>
          <a:lstStyle/>
          <a:p>
            <a:r>
              <a:rPr sz="560" b="1" i="0">
                <a:solidFill>
                  <a:srgbClr val="8C8C8C"/>
                </a:solidFill>
                <a:latin typeface="Trenda IG Text"/>
              </a:rPr>
              <a:t>without raw access</a:t>
            </a:r>
          </a:p>
        </p:txBody>
      </p:sp>
      <p:sp>
        <p:nvSpPr>
          <p:cNvPr id="92" name="Shape 87"/>
          <p:cNvSpPr/>
          <p:nvPr/>
        </p:nvSpPr>
        <p:spPr>
          <a:xfrm>
            <a:off x="8851392" y="1664208"/>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8887967" y="1664208"/>
            <a:ext cx="914400" cy="228600"/>
          </a:xfrm>
          <a:prstGeom prst="rect">
            <a:avLst/>
          </a:prstGeom>
          <a:noFill/>
        </p:spPr>
        <p:txBody>
          <a:bodyPr wrap="square" lIns="0" rIns="0" tIns="0" bIns="0" anchor="ctr">
            <a:spAutoFit/>
          </a:bodyPr>
          <a:lstStyle/>
          <a:p>
            <a:r>
              <a:rPr sz="610" b="0" i="0">
                <a:solidFill>
                  <a:srgbClr val="FFFFFF"/>
                </a:solidFill>
                <a:latin typeface="Courier New"/>
              </a:rPr>
              <a:t>patient_name</a:t>
            </a:r>
          </a:p>
        </p:txBody>
      </p:sp>
      <p:sp>
        <p:nvSpPr>
          <p:cNvPr id="94" name="Text 89"/>
          <p:cNvSpPr txBox="1"/>
          <p:nvPr/>
        </p:nvSpPr>
        <p:spPr>
          <a:xfrm>
            <a:off x="9765792" y="1664208"/>
            <a:ext cx="914400" cy="228600"/>
          </a:xfrm>
          <a:prstGeom prst="rect">
            <a:avLst/>
          </a:prstGeom>
          <a:noFill/>
        </p:spPr>
        <p:txBody>
          <a:bodyPr wrap="square" lIns="0" rIns="0" tIns="0" bIns="0" anchor="ctr">
            <a:spAutoFit/>
          </a:bodyPr>
          <a:lstStyle/>
          <a:p>
            <a:r>
              <a:rPr sz="610" b="0" i="0">
                <a:solidFill>
                  <a:srgbClr val="FFFFFF"/>
                </a:solidFill>
                <a:latin typeface="Courier New"/>
              </a:rPr>
              <a:t>PERSON_NAME</a:t>
            </a:r>
          </a:p>
        </p:txBody>
      </p:sp>
      <p:sp>
        <p:nvSpPr>
          <p:cNvPr id="95" name="Text 90"/>
          <p:cNvSpPr txBox="1"/>
          <p:nvPr/>
        </p:nvSpPr>
        <p:spPr>
          <a:xfrm>
            <a:off x="10716767" y="1664208"/>
            <a:ext cx="1024128" cy="228600"/>
          </a:xfrm>
          <a:prstGeom prst="rect">
            <a:avLst/>
          </a:prstGeom>
          <a:noFill/>
        </p:spPr>
        <p:txBody>
          <a:bodyPr wrap="square" lIns="0" rIns="0" tIns="0" bIns="0" anchor="ctr">
            <a:spAutoFit/>
          </a:bodyPr>
          <a:lstStyle/>
          <a:p>
            <a:r>
              <a:rPr sz="610" b="0" i="0">
                <a:solidFill>
                  <a:srgbClr val="FF0069"/>
                </a:solidFill>
                <a:latin typeface="Courier New"/>
              </a:rPr>
              <a:t>9f2c…e41a</a:t>
            </a:r>
          </a:p>
        </p:txBody>
      </p:sp>
      <p:sp>
        <p:nvSpPr>
          <p:cNvPr id="96" name="Shape 91"/>
          <p:cNvSpPr/>
          <p:nvPr/>
        </p:nvSpPr>
        <p:spPr>
          <a:xfrm>
            <a:off x="8851392" y="1929384"/>
            <a:ext cx="2852928"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2"/>
          <p:cNvSpPr txBox="1"/>
          <p:nvPr/>
        </p:nvSpPr>
        <p:spPr>
          <a:xfrm>
            <a:off x="8887967" y="1929384"/>
            <a:ext cx="914400" cy="228600"/>
          </a:xfrm>
          <a:prstGeom prst="rect">
            <a:avLst/>
          </a:prstGeom>
          <a:noFill/>
        </p:spPr>
        <p:txBody>
          <a:bodyPr wrap="square" lIns="0" rIns="0" tIns="0" bIns="0" anchor="ctr">
            <a:spAutoFit/>
          </a:bodyPr>
          <a:lstStyle/>
          <a:p>
            <a:r>
              <a:rPr sz="610" b="0" i="0">
                <a:solidFill>
                  <a:srgbClr val="FFFFFF"/>
                </a:solidFill>
                <a:latin typeface="Courier New"/>
              </a:rPr>
              <a:t>phone</a:t>
            </a:r>
          </a:p>
        </p:txBody>
      </p:sp>
      <p:sp>
        <p:nvSpPr>
          <p:cNvPr id="98" name="Text 93"/>
          <p:cNvSpPr txBox="1"/>
          <p:nvPr/>
        </p:nvSpPr>
        <p:spPr>
          <a:xfrm>
            <a:off x="9765792" y="1929384"/>
            <a:ext cx="914400" cy="228600"/>
          </a:xfrm>
          <a:prstGeom prst="rect">
            <a:avLst/>
          </a:prstGeom>
          <a:noFill/>
        </p:spPr>
        <p:txBody>
          <a:bodyPr wrap="square" lIns="0" rIns="0" tIns="0" bIns="0" anchor="ctr">
            <a:spAutoFit/>
          </a:bodyPr>
          <a:lstStyle/>
          <a:p>
            <a:r>
              <a:rPr sz="610" b="0" i="0">
                <a:solidFill>
                  <a:srgbClr val="FFFFFF"/>
                </a:solidFill>
                <a:latin typeface="Courier New"/>
              </a:rPr>
              <a:t>PHONE_NUMBER</a:t>
            </a:r>
          </a:p>
        </p:txBody>
      </p:sp>
      <p:sp>
        <p:nvSpPr>
          <p:cNvPr id="99" name="Text 94"/>
          <p:cNvSpPr txBox="1"/>
          <p:nvPr/>
        </p:nvSpPr>
        <p:spPr>
          <a:xfrm>
            <a:off x="10716767" y="1929384"/>
            <a:ext cx="1024128" cy="228600"/>
          </a:xfrm>
          <a:prstGeom prst="rect">
            <a:avLst/>
          </a:prstGeom>
          <a:noFill/>
        </p:spPr>
        <p:txBody>
          <a:bodyPr wrap="square" lIns="0" rIns="0" tIns="0" bIns="0" anchor="ctr">
            <a:spAutoFit/>
          </a:bodyPr>
          <a:lstStyle/>
          <a:p>
            <a:r>
              <a:rPr sz="610" b="0" i="0">
                <a:solidFill>
                  <a:srgbClr val="FF0069"/>
                </a:solidFill>
                <a:latin typeface="Courier New"/>
              </a:rPr>
              <a:t>71b0…c9d3</a:t>
            </a:r>
          </a:p>
        </p:txBody>
      </p:sp>
      <p:sp>
        <p:nvSpPr>
          <p:cNvPr id="100" name="Shape 95"/>
          <p:cNvSpPr/>
          <p:nvPr/>
        </p:nvSpPr>
        <p:spPr>
          <a:xfrm>
            <a:off x="8851392" y="2194560"/>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96"/>
          <p:cNvSpPr txBox="1"/>
          <p:nvPr/>
        </p:nvSpPr>
        <p:spPr>
          <a:xfrm>
            <a:off x="8887967" y="2194560"/>
            <a:ext cx="914400" cy="228600"/>
          </a:xfrm>
          <a:prstGeom prst="rect">
            <a:avLst/>
          </a:prstGeom>
          <a:noFill/>
        </p:spPr>
        <p:txBody>
          <a:bodyPr wrap="square" lIns="0" rIns="0" tIns="0" bIns="0" anchor="ctr">
            <a:spAutoFit/>
          </a:bodyPr>
          <a:lstStyle/>
          <a:p>
            <a:r>
              <a:rPr sz="610" b="0" i="0">
                <a:solidFill>
                  <a:srgbClr val="FFFFFF"/>
                </a:solidFill>
                <a:latin typeface="Courier New"/>
              </a:rPr>
              <a:t>dob</a:t>
            </a:r>
          </a:p>
        </p:txBody>
      </p:sp>
      <p:sp>
        <p:nvSpPr>
          <p:cNvPr id="102" name="Text 97"/>
          <p:cNvSpPr txBox="1"/>
          <p:nvPr/>
        </p:nvSpPr>
        <p:spPr>
          <a:xfrm>
            <a:off x="9765792" y="2194560"/>
            <a:ext cx="914400" cy="228600"/>
          </a:xfrm>
          <a:prstGeom prst="rect">
            <a:avLst/>
          </a:prstGeom>
          <a:noFill/>
        </p:spPr>
        <p:txBody>
          <a:bodyPr wrap="square" lIns="0" rIns="0" tIns="0" bIns="0" anchor="ctr">
            <a:spAutoFit/>
          </a:bodyPr>
          <a:lstStyle/>
          <a:p>
            <a:r>
              <a:rPr sz="610" b="0" i="0">
                <a:solidFill>
                  <a:srgbClr val="FFFFFF"/>
                </a:solidFill>
                <a:latin typeface="Courier New"/>
              </a:rPr>
              <a:t>DATE_OF_BIRTH</a:t>
            </a:r>
          </a:p>
        </p:txBody>
      </p:sp>
      <p:sp>
        <p:nvSpPr>
          <p:cNvPr id="103" name="Text 98"/>
          <p:cNvSpPr txBox="1"/>
          <p:nvPr/>
        </p:nvSpPr>
        <p:spPr>
          <a:xfrm>
            <a:off x="10716767" y="2194560"/>
            <a:ext cx="1024128" cy="228600"/>
          </a:xfrm>
          <a:prstGeom prst="rect">
            <a:avLst/>
          </a:prstGeom>
          <a:noFill/>
        </p:spPr>
        <p:txBody>
          <a:bodyPr wrap="square" lIns="0" rIns="0" tIns="0" bIns="0" anchor="ctr">
            <a:spAutoFit/>
          </a:bodyPr>
          <a:lstStyle/>
          <a:p>
            <a:r>
              <a:rPr sz="610" b="0" i="0">
                <a:solidFill>
                  <a:srgbClr val="FF0069"/>
                </a:solidFill>
                <a:latin typeface="Courier New"/>
              </a:rPr>
              <a:t>masked</a:t>
            </a:r>
          </a:p>
        </p:txBody>
      </p:sp>
      <p:sp>
        <p:nvSpPr>
          <p:cNvPr id="104" name="Shape 99"/>
          <p:cNvSpPr/>
          <p:nvPr/>
        </p:nvSpPr>
        <p:spPr>
          <a:xfrm>
            <a:off x="8851392" y="2459736"/>
            <a:ext cx="2852928"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8887967" y="2459736"/>
            <a:ext cx="914400" cy="228600"/>
          </a:xfrm>
          <a:prstGeom prst="rect">
            <a:avLst/>
          </a:prstGeom>
          <a:noFill/>
        </p:spPr>
        <p:txBody>
          <a:bodyPr wrap="square" lIns="0" rIns="0" tIns="0" bIns="0" anchor="ctr">
            <a:spAutoFit/>
          </a:bodyPr>
          <a:lstStyle/>
          <a:p>
            <a:r>
              <a:rPr sz="610" b="0" i="0">
                <a:solidFill>
                  <a:srgbClr val="FFFFFF"/>
                </a:solidFill>
                <a:latin typeface="Courier New"/>
              </a:rPr>
              <a:t>diagnosis</a:t>
            </a:r>
          </a:p>
        </p:txBody>
      </p:sp>
      <p:sp>
        <p:nvSpPr>
          <p:cNvPr id="106" name="Text 101"/>
          <p:cNvSpPr txBox="1"/>
          <p:nvPr/>
        </p:nvSpPr>
        <p:spPr>
          <a:xfrm>
            <a:off x="9765792" y="2459736"/>
            <a:ext cx="914400" cy="228600"/>
          </a:xfrm>
          <a:prstGeom prst="rect">
            <a:avLst/>
          </a:prstGeom>
          <a:noFill/>
        </p:spPr>
        <p:txBody>
          <a:bodyPr wrap="square" lIns="0" rIns="0" tIns="0" bIns="0" anchor="ctr">
            <a:spAutoFit/>
          </a:bodyPr>
          <a:lstStyle/>
          <a:p>
            <a:r>
              <a:rPr sz="610" b="0" i="0">
                <a:solidFill>
                  <a:srgbClr val="FFFFFF"/>
                </a:solidFill>
                <a:latin typeface="Courier New"/>
              </a:rPr>
              <a:t>medical term</a:t>
            </a:r>
          </a:p>
        </p:txBody>
      </p:sp>
      <p:sp>
        <p:nvSpPr>
          <p:cNvPr id="107" name="Text 102"/>
          <p:cNvSpPr txBox="1"/>
          <p:nvPr/>
        </p:nvSpPr>
        <p:spPr>
          <a:xfrm>
            <a:off x="10716767" y="2459736"/>
            <a:ext cx="1024128" cy="228600"/>
          </a:xfrm>
          <a:prstGeom prst="rect">
            <a:avLst/>
          </a:prstGeom>
          <a:noFill/>
        </p:spPr>
        <p:txBody>
          <a:bodyPr wrap="square" lIns="0" rIns="0" tIns="0" bIns="0" anchor="ctr">
            <a:spAutoFit/>
          </a:bodyPr>
          <a:lstStyle/>
          <a:p>
            <a:r>
              <a:rPr sz="610" b="0" i="0">
                <a:solidFill>
                  <a:srgbClr val="FF0069"/>
                </a:solidFill>
                <a:latin typeface="Courier New"/>
              </a:rPr>
              <a:t>a4e8…107f</a:t>
            </a:r>
          </a:p>
        </p:txBody>
      </p:sp>
      <p:sp>
        <p:nvSpPr>
          <p:cNvPr id="108" name="Shape 103"/>
          <p:cNvSpPr/>
          <p:nvPr/>
        </p:nvSpPr>
        <p:spPr>
          <a:xfrm>
            <a:off x="8851392" y="2724912"/>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8887967" y="2724912"/>
            <a:ext cx="914400" cy="228600"/>
          </a:xfrm>
          <a:prstGeom prst="rect">
            <a:avLst/>
          </a:prstGeom>
          <a:noFill/>
        </p:spPr>
        <p:txBody>
          <a:bodyPr wrap="square" lIns="0" rIns="0" tIns="0" bIns="0" anchor="ctr">
            <a:spAutoFit/>
          </a:bodyPr>
          <a:lstStyle/>
          <a:p>
            <a:r>
              <a:rPr sz="610" b="0" i="0">
                <a:solidFill>
                  <a:srgbClr val="FFFFFF"/>
                </a:solidFill>
                <a:latin typeface="Courier New"/>
              </a:rPr>
              <a:t>encounter_count</a:t>
            </a:r>
          </a:p>
        </p:txBody>
      </p:sp>
      <p:sp>
        <p:nvSpPr>
          <p:cNvPr id="110" name="Text 105"/>
          <p:cNvSpPr txBox="1"/>
          <p:nvPr/>
        </p:nvSpPr>
        <p:spPr>
          <a:xfrm>
            <a:off x="9765792" y="2724912"/>
            <a:ext cx="914400" cy="228600"/>
          </a:xfrm>
          <a:prstGeom prst="rect">
            <a:avLst/>
          </a:prstGeom>
          <a:noFill/>
        </p:spPr>
        <p:txBody>
          <a:bodyPr wrap="square" lIns="0" rIns="0" tIns="0" bIns="0" anchor="ctr">
            <a:spAutoFit/>
          </a:bodyPr>
          <a:lstStyle/>
          <a:p>
            <a:r>
              <a:rPr sz="610" b="0" i="0">
                <a:solidFill>
                  <a:srgbClr val="FFFFFF"/>
                </a:solidFill>
                <a:latin typeface="Courier New"/>
              </a:rPr>
              <a:t>number</a:t>
            </a:r>
          </a:p>
        </p:txBody>
      </p:sp>
      <p:sp>
        <p:nvSpPr>
          <p:cNvPr id="111" name="Text 106"/>
          <p:cNvSpPr txBox="1"/>
          <p:nvPr/>
        </p:nvSpPr>
        <p:spPr>
          <a:xfrm>
            <a:off x="10716767" y="2724912"/>
            <a:ext cx="1024128" cy="228600"/>
          </a:xfrm>
          <a:prstGeom prst="rect">
            <a:avLst/>
          </a:prstGeom>
          <a:noFill/>
        </p:spPr>
        <p:txBody>
          <a:bodyPr wrap="square" lIns="0" rIns="0" tIns="0" bIns="0" anchor="ctr">
            <a:spAutoFit/>
          </a:bodyPr>
          <a:lstStyle/>
          <a:p>
            <a:r>
              <a:rPr sz="610" b="0" i="0">
                <a:solidFill>
                  <a:srgbClr val="FF0069"/>
                </a:solidFill>
                <a:latin typeface="Courier New"/>
              </a:rPr>
              <a:t>0 (numeric-safe)</a:t>
            </a:r>
          </a:p>
        </p:txBody>
      </p:sp>
      <p:sp>
        <p:nvSpPr>
          <p:cNvPr id="112" name="Shape 107"/>
          <p:cNvSpPr/>
          <p:nvPr/>
        </p:nvSpPr>
        <p:spPr>
          <a:xfrm>
            <a:off x="8778240" y="3246120"/>
            <a:ext cx="2999232" cy="1965960"/>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08"/>
          <p:cNvSpPr txBox="1"/>
          <p:nvPr/>
        </p:nvSpPr>
        <p:spPr>
          <a:xfrm>
            <a:off x="8887967" y="3282696"/>
            <a:ext cx="2779776" cy="219456"/>
          </a:xfrm>
          <a:prstGeom prst="rect">
            <a:avLst/>
          </a:prstGeom>
          <a:noFill/>
        </p:spPr>
        <p:txBody>
          <a:bodyPr wrap="square" lIns="0" rIns="0" tIns="0" bIns="0" anchor="ctr">
            <a:spAutoFit/>
          </a:bodyPr>
          <a:lstStyle/>
          <a:p>
            <a:r>
              <a:rPr sz="620" b="1" i="0" spc="120">
                <a:solidFill>
                  <a:srgbClr val="FFD700"/>
                </a:solidFill>
                <a:latin typeface="Trenda IG Text"/>
              </a:rPr>
              <a:t>WHO SEES WHAT</a:t>
            </a:r>
          </a:p>
        </p:txBody>
      </p:sp>
      <p:sp>
        <p:nvSpPr>
          <p:cNvPr id="114" name="Shape 109"/>
          <p:cNvSpPr/>
          <p:nvPr/>
        </p:nvSpPr>
        <p:spPr>
          <a:xfrm>
            <a:off x="8887967" y="3621024"/>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0"/>
          <p:cNvSpPr txBox="1"/>
          <p:nvPr/>
        </p:nvSpPr>
        <p:spPr>
          <a:xfrm>
            <a:off x="9052560" y="3547872"/>
            <a:ext cx="2633472" cy="310896"/>
          </a:xfrm>
          <a:prstGeom prst="rect">
            <a:avLst/>
          </a:prstGeom>
          <a:noFill/>
        </p:spPr>
        <p:txBody>
          <a:bodyPr wrap="square" lIns="0" rIns="0" tIns="0" bIns="0" anchor="ctr">
            <a:spAutoFit/>
          </a:bodyPr>
          <a:lstStyle/>
          <a:p>
            <a:r>
              <a:rPr sz="680" b="1" i="0">
                <a:solidFill>
                  <a:srgbClr val="FFFFFF"/>
                </a:solidFill>
                <a:latin typeface="Trenda IG Text"/>
              </a:rPr>
              <a:t>Agents + knowledge graph</a:t>
            </a:r>
          </a:p>
          <a:p>
            <a:r>
              <a:rPr sz="590" b="0" i="0">
                <a:solidFill>
                  <a:srgbClr val="BFBFBF"/>
                </a:solidFill>
                <a:latin typeface="Trenda IG Text"/>
              </a:rPr>
              <a:t>masked values and counts</a:t>
            </a:r>
          </a:p>
        </p:txBody>
      </p:sp>
      <p:sp>
        <p:nvSpPr>
          <p:cNvPr id="116" name="Shape 111"/>
          <p:cNvSpPr/>
          <p:nvPr/>
        </p:nvSpPr>
        <p:spPr>
          <a:xfrm>
            <a:off x="8887967" y="3950208"/>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9052560" y="3877056"/>
            <a:ext cx="2633472" cy="310896"/>
          </a:xfrm>
          <a:prstGeom prst="rect">
            <a:avLst/>
          </a:prstGeom>
          <a:noFill/>
        </p:spPr>
        <p:txBody>
          <a:bodyPr wrap="square" lIns="0" rIns="0" tIns="0" bIns="0" anchor="ctr">
            <a:spAutoFit/>
          </a:bodyPr>
          <a:lstStyle/>
          <a:p>
            <a:r>
              <a:rPr sz="680" b="1" i="0">
                <a:solidFill>
                  <a:srgbClr val="FFFFFF"/>
                </a:solidFill>
                <a:latin typeface="Trenda IG Text"/>
              </a:rPr>
              <a:t>Looker, dashboards</a:t>
            </a:r>
          </a:p>
          <a:p>
            <a:r>
              <a:rPr sz="590" b="0" i="0">
                <a:solidFill>
                  <a:srgbClr val="BFBFBF"/>
                </a:solidFill>
                <a:latin typeface="Trenda IG Text"/>
              </a:rPr>
              <a:t>masked, aggregated views</a:t>
            </a:r>
          </a:p>
        </p:txBody>
      </p:sp>
      <p:sp>
        <p:nvSpPr>
          <p:cNvPr id="118" name="Shape 113"/>
          <p:cNvSpPr/>
          <p:nvPr/>
        </p:nvSpPr>
        <p:spPr>
          <a:xfrm>
            <a:off x="8887967" y="4279392"/>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9052560" y="4206240"/>
            <a:ext cx="2633472" cy="310896"/>
          </a:xfrm>
          <a:prstGeom prst="rect">
            <a:avLst/>
          </a:prstGeom>
          <a:noFill/>
        </p:spPr>
        <p:txBody>
          <a:bodyPr wrap="square" lIns="0" rIns="0" tIns="0" bIns="0" anchor="ctr">
            <a:spAutoFit/>
          </a:bodyPr>
          <a:lstStyle/>
          <a:p>
            <a:r>
              <a:rPr sz="680" b="1" i="0">
                <a:solidFill>
                  <a:srgbClr val="FFFFFF"/>
                </a:solidFill>
                <a:latin typeface="Trenda IG Text"/>
              </a:rPr>
              <a:t>SME + tech lead (G2)</a:t>
            </a:r>
          </a:p>
          <a:p>
            <a:r>
              <a:rPr sz="590" b="0" i="0">
                <a:solidFill>
                  <a:srgbClr val="BFBFBF"/>
                </a:solidFill>
                <a:latin typeface="Trenda IG Text"/>
              </a:rPr>
              <a:t>masked pre-send report</a:t>
            </a:r>
          </a:p>
        </p:txBody>
      </p:sp>
      <p:sp>
        <p:nvSpPr>
          <p:cNvPr id="120" name="Shape 115"/>
          <p:cNvSpPr/>
          <p:nvPr/>
        </p:nvSpPr>
        <p:spPr>
          <a:xfrm>
            <a:off x="8887967" y="4608576"/>
            <a:ext cx="91440" cy="9144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9052560" y="4535424"/>
            <a:ext cx="2633472" cy="310896"/>
          </a:xfrm>
          <a:prstGeom prst="rect">
            <a:avLst/>
          </a:prstGeom>
          <a:noFill/>
        </p:spPr>
        <p:txBody>
          <a:bodyPr wrap="square" lIns="0" rIns="0" tIns="0" bIns="0" anchor="ctr">
            <a:spAutoFit/>
          </a:bodyPr>
          <a:lstStyle/>
          <a:p>
            <a:r>
              <a:rPr sz="680" b="1" i="0">
                <a:solidFill>
                  <a:srgbClr val="FFFFFF"/>
                </a:solidFill>
                <a:latin typeface="Trenda IG Text"/>
              </a:rPr>
              <a:t>Release step (system)</a:t>
            </a:r>
          </a:p>
          <a:p>
            <a:r>
              <a:rPr sz="590" b="0" i="0">
                <a:solidFill>
                  <a:srgbClr val="BFBFBF"/>
                </a:solidFill>
                <a:latin typeface="Trenda IG Text"/>
              </a:rPr>
              <a:t>raw-access service account, minimum fields, after G2 + G3</a:t>
            </a:r>
          </a:p>
        </p:txBody>
      </p:sp>
      <p:sp>
        <p:nvSpPr>
          <p:cNvPr id="122" name="Shape 117"/>
          <p:cNvSpPr/>
          <p:nvPr/>
        </p:nvSpPr>
        <p:spPr>
          <a:xfrm>
            <a:off x="8887967" y="4937760"/>
            <a:ext cx="91440" cy="9144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8"/>
          <p:cNvSpPr txBox="1"/>
          <p:nvPr/>
        </p:nvSpPr>
        <p:spPr>
          <a:xfrm>
            <a:off x="9052560" y="4864608"/>
            <a:ext cx="2633472" cy="310896"/>
          </a:xfrm>
          <a:prstGeom prst="rect">
            <a:avLst/>
          </a:prstGeom>
          <a:noFill/>
        </p:spPr>
        <p:txBody>
          <a:bodyPr wrap="square" lIns="0" rIns="0" tIns="0" bIns="0" anchor="ctr">
            <a:spAutoFit/>
          </a:bodyPr>
          <a:lstStyle/>
          <a:p>
            <a:r>
              <a:rPr sz="680" b="1" i="0">
                <a:solidFill>
                  <a:srgbClr val="FFFFFF"/>
                </a:solidFill>
                <a:latin typeface="Trenda IG Text"/>
              </a:rPr>
              <a:t>Marketing Cloud</a:t>
            </a:r>
          </a:p>
          <a:p>
            <a:r>
              <a:rPr sz="590" b="0" i="0">
                <a:solidFill>
                  <a:srgbClr val="BFBFBF"/>
                </a:solidFill>
                <a:latin typeface="Trenda IG Text"/>
              </a:rPr>
              <a:t>pulls only those fields, for one run</a:t>
            </a:r>
          </a:p>
        </p:txBody>
      </p:sp>
      <p:sp>
        <p:nvSpPr>
          <p:cNvPr id="124" name="Shape 119"/>
          <p:cNvSpPr/>
          <p:nvPr/>
        </p:nvSpPr>
        <p:spPr>
          <a:xfrm>
            <a:off x="411480"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20"/>
          <p:cNvSpPr/>
          <p:nvPr/>
        </p:nvSpPr>
        <p:spPr>
          <a:xfrm>
            <a:off x="411480"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594360"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Human approval first</a:t>
            </a:r>
          </a:p>
          <a:p>
            <a:pPr>
              <a:spcAft>
                <a:spcPts val="200"/>
              </a:spcAft>
            </a:pPr>
            <a:r>
              <a:rPr sz="680" b="0" i="0">
                <a:solidFill>
                  <a:srgbClr val="BFBFBF"/>
                </a:solidFill>
                <a:latin typeface="Trenda IG Text"/>
              </a:rPr>
              <a:t>No policy until a Collibra steward approves the classification.</a:t>
            </a:r>
          </a:p>
        </p:txBody>
      </p:sp>
      <p:sp>
        <p:nvSpPr>
          <p:cNvPr id="127" name="Shape 122"/>
          <p:cNvSpPr/>
          <p:nvPr/>
        </p:nvSpPr>
        <p:spPr>
          <a:xfrm>
            <a:off x="3287268"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23"/>
          <p:cNvSpPr/>
          <p:nvPr/>
        </p:nvSpPr>
        <p:spPr>
          <a:xfrm>
            <a:off x="3287268"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3470148"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Dry run before apply</a:t>
            </a:r>
          </a:p>
          <a:p>
            <a:pPr>
              <a:spcAft>
                <a:spcPts val="200"/>
              </a:spcAft>
            </a:pPr>
            <a:r>
              <a:rPr sz="680" b="0" i="0">
                <a:solidFill>
                  <a:srgbClr val="BFBFBF"/>
                </a:solidFill>
                <a:latin typeface="Trenda IG Text"/>
              </a:rPr>
              <a:t>Every run can report its changes without making them.</a:t>
            </a:r>
          </a:p>
        </p:txBody>
      </p:sp>
      <p:sp>
        <p:nvSpPr>
          <p:cNvPr id="130" name="Shape 125"/>
          <p:cNvSpPr/>
          <p:nvPr/>
        </p:nvSpPr>
        <p:spPr>
          <a:xfrm>
            <a:off x="6163056"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6"/>
          <p:cNvSpPr/>
          <p:nvPr/>
        </p:nvSpPr>
        <p:spPr>
          <a:xfrm>
            <a:off x="6163056"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7"/>
          <p:cNvSpPr txBox="1"/>
          <p:nvPr/>
        </p:nvSpPr>
        <p:spPr>
          <a:xfrm>
            <a:off x="6345936"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Human-gated promotion</a:t>
            </a:r>
          </a:p>
          <a:p>
            <a:pPr>
              <a:spcAft>
                <a:spcPts val="200"/>
              </a:spcAft>
            </a:pPr>
            <a:r>
              <a:rPr sz="680" b="0" i="0">
                <a:solidFill>
                  <a:srgbClr val="BFBFBF"/>
                </a:solidFill>
                <a:latin typeface="Trenda IG Text"/>
              </a:rPr>
              <a:t>Production rollout by project; the pipeline never promotes itself.</a:t>
            </a:r>
          </a:p>
        </p:txBody>
      </p:sp>
      <p:sp>
        <p:nvSpPr>
          <p:cNvPr id="133" name="Shape 128"/>
          <p:cNvSpPr/>
          <p:nvPr/>
        </p:nvSpPr>
        <p:spPr>
          <a:xfrm>
            <a:off x="9038844"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Shape 129"/>
          <p:cNvSpPr/>
          <p:nvPr/>
        </p:nvSpPr>
        <p:spPr>
          <a:xfrm>
            <a:off x="9038844"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0"/>
          <p:cNvSpPr txBox="1"/>
          <p:nvPr/>
        </p:nvSpPr>
        <p:spPr>
          <a:xfrm>
            <a:off x="9221724"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Auditable bindings</a:t>
            </a:r>
          </a:p>
          <a:p>
            <a:pPr>
              <a:spcAft>
                <a:spcPts val="200"/>
              </a:spcAft>
            </a:pPr>
            <a:r>
              <a:rPr sz="680" b="0" i="0">
                <a:solidFill>
                  <a:srgbClr val="BFBFBF"/>
                </a:solidFill>
                <a:latin typeface="Trenda IG Text"/>
              </a:rPr>
              <a:t>Each applied or removed policy is recorded and checked against the schema.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1A1A1A"/>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F7F7F7"/>
          </a:solidFill>
          <a:ln w="12700">
            <a:solidFill>
              <a:srgbClr val="A070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F7F7F7"/>
          </a:solid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1A1A1A"/>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1A1A1A"/>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ECE9F5"/>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1A1A1A"/>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4D4D4D"/>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pic>
        <p:nvPicPr>
          <p:cNvPr id="67" name="Picture 66" descr="people-black.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2E8F1C"/>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4D4D4D"/>
                </a:solidFill>
                <a:latin typeface="Trenda IG Text"/>
              </a:rPr>
              <a:t>Test contacts only → failure modes (consent, STOP, links, hours) → classify + report. </a:t>
            </a:r>
            <a:r>
              <a:rPr sz="5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12</a:t>
            </a:r>
          </a:p>
        </p:txBody>
      </p:sp>
      <p:pic>
        <p:nvPicPr>
          <p:cNvPr id="85" name="Picture 84" descr="people-black.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6B6B6B"/>
                </a:solidFill>
                <a:latin typeface="Trenda IG Text"/>
              </a:rPr>
              <a:t>CONTEXT + OVERSIGHT</a:t>
            </a:r>
          </a:p>
          <a:p>
            <a:pPr>
              <a:spcAft>
                <a:spcPts val="100"/>
              </a:spcAft>
            </a:pPr>
            <a:r>
              <a:rPr sz="5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black.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15875">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1587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14</a:t>
            </a:r>
          </a:p>
        </p:txBody>
      </p:sp>
      <p:pic>
        <p:nvPicPr>
          <p:cNvPr id="139" name="Picture 138" descr="people-black.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95344" y="4855464"/>
            <a:ext cx="175564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41063" y="4892040"/>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41063" y="4892040"/>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15</a:t>
            </a:r>
          </a:p>
        </p:txBody>
      </p:sp>
      <p:sp>
        <p:nvSpPr>
          <p:cNvPr id="148" name="Text 136"/>
          <p:cNvSpPr txBox="1"/>
          <p:nvPr/>
        </p:nvSpPr>
        <p:spPr>
          <a:xfrm>
            <a:off x="4169663" y="4864608"/>
            <a:ext cx="1444751" cy="329184"/>
          </a:xfrm>
          <a:prstGeom prst="rect">
            <a:avLst/>
          </a:prstGeom>
          <a:noFill/>
        </p:spPr>
        <p:txBody>
          <a:bodyPr wrap="square" lIns="0" rIns="0" tIns="0" bIns="0" anchor="t">
            <a:spAutoFit/>
          </a:bodyPr>
          <a:lstStyle/>
          <a:p>
            <a:pPr>
              <a:lnSpc>
                <a:spcPct val="90000"/>
              </a:lnSpc>
            </a:pPr>
            <a:r>
              <a:rPr sz="620" b="1" i="0">
                <a:solidFill>
                  <a:srgbClr val="1A1A1A"/>
                </a:solidFill>
                <a:latin typeface="Trenda IG Text"/>
              </a:rPr>
              <a:t>Policy engine + activation gateway</a:t>
            </a:r>
          </a:p>
        </p:txBody>
      </p:sp>
      <p:sp>
        <p:nvSpPr>
          <p:cNvPr id="149" name="Text 137"/>
          <p:cNvSpPr txBox="1"/>
          <p:nvPr/>
        </p:nvSpPr>
        <p:spPr>
          <a:xfrm>
            <a:off x="3968496" y="5202936"/>
            <a:ext cx="1627631" cy="374904"/>
          </a:xfrm>
          <a:prstGeom prst="rect">
            <a:avLst/>
          </a:prstGeom>
          <a:noFill/>
        </p:spPr>
        <p:txBody>
          <a:bodyPr wrap="square" lIns="0" rIns="0" tIns="0" bIns="0" anchor="t">
            <a:spAutoFit/>
          </a:bodyPr>
          <a:lstStyle/>
          <a:p>
            <a:r>
              <a:rPr sz="5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7F7F7"/>
          </a:solidFill>
          <a:ln w="1270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15875">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56E13B"/>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F0069"/>
                </a:solidFill>
                <a:latin typeface="Trenda IG Text"/>
              </a:rPr>
              <a:t>SAFEGUARDS</a:t>
            </a:r>
          </a:p>
          <a:p>
            <a:pPr>
              <a:spcAft>
                <a:spcPts val="100"/>
              </a:spcAft>
            </a:pPr>
            <a:r>
              <a:rPr sz="5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0  </a:t>
            </a:r>
            <a:r>
              <a:rPr sz="62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before 1</a:t>
            </a:r>
          </a:p>
        </p:txBody>
      </p:sp>
      <p:sp>
        <p:nvSpPr>
          <p:cNvPr id="11" name="Shape 10"/>
          <p:cNvSpPr/>
          <p:nvPr/>
        </p:nvSpPr>
        <p:spPr>
          <a:xfrm>
            <a:off x="52120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4D4D4D"/>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1  </a:t>
            </a:r>
            <a:r>
              <a:rPr sz="62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 · 2 · 4 · 5 · 6</a:t>
            </a:r>
          </a:p>
        </p:txBody>
      </p:sp>
      <p:sp>
        <p:nvSpPr>
          <p:cNvPr id="27" name="Shape 26"/>
          <p:cNvSpPr/>
          <p:nvPr/>
        </p:nvSpPr>
        <p:spPr>
          <a:xfrm>
            <a:off x="2155371"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4D4D4D"/>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2  </a:t>
            </a:r>
            <a:r>
              <a:rPr sz="62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3</a:t>
            </a:r>
          </a:p>
        </p:txBody>
      </p:sp>
      <p:sp>
        <p:nvSpPr>
          <p:cNvPr id="43" name="Shape 42"/>
          <p:cNvSpPr/>
          <p:nvPr/>
        </p:nvSpPr>
        <p:spPr>
          <a:xfrm>
            <a:off x="3789534"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4D4D4D"/>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4D4D4D"/>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3  </a:t>
            </a:r>
            <a:r>
              <a:rPr sz="62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ECE9F5"/>
          </a:solid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6 → 7 · 8 · 9</a:t>
            </a:r>
          </a:p>
        </p:txBody>
      </p:sp>
      <p:sp>
        <p:nvSpPr>
          <p:cNvPr id="57" name="Shape 56"/>
          <p:cNvSpPr/>
          <p:nvPr/>
        </p:nvSpPr>
        <p:spPr>
          <a:xfrm>
            <a:off x="5423698" y="2221991"/>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8B7CD8"/>
                </a:solidFill>
                <a:latin typeface="Trenda IG Text"/>
              </a:rPr>
              <a:t>EXIT  </a:t>
            </a:r>
          </a:p>
          <a:p>
            <a:pPr>
              <a:spcAft>
                <a:spcPts val="100"/>
              </a:spcAft>
            </a:pPr>
            <a:r>
              <a:rPr sz="6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4  </a:t>
            </a:r>
            <a:r>
              <a:rPr sz="62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7F7F7"/>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10 · 11 · 12</a:t>
            </a:r>
          </a:p>
        </p:txBody>
      </p:sp>
      <p:sp>
        <p:nvSpPr>
          <p:cNvPr id="71" name="Shape 70"/>
          <p:cNvSpPr/>
          <p:nvPr/>
        </p:nvSpPr>
        <p:spPr>
          <a:xfrm>
            <a:off x="7057861" y="2221991"/>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2E8F1C"/>
                </a:solidFill>
                <a:latin typeface="Trenda IG Text"/>
              </a:rPr>
              <a:t>EXIT  </a:t>
            </a:r>
          </a:p>
          <a:p>
            <a:pPr>
              <a:spcAft>
                <a:spcPts val="100"/>
              </a:spcAft>
            </a:pPr>
            <a:r>
              <a:rPr sz="6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5  </a:t>
            </a:r>
            <a:r>
              <a:rPr sz="62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4D4D4D"/>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4D4D4D"/>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4D4D4D"/>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4D4D4D"/>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9A7B00"/>
                </a:solidFill>
                <a:latin typeface="Trenda IG Text"/>
              </a:rPr>
              <a:t>EXIT  </a:t>
            </a:r>
          </a:p>
          <a:p>
            <a:pPr>
              <a:spcAft>
                <a:spcPts val="100"/>
              </a:spcAft>
            </a:pPr>
            <a:r>
              <a:rPr sz="6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6  </a:t>
            </a:r>
            <a:r>
              <a:rPr sz="62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20 + feedback</a:t>
            </a:r>
          </a:p>
        </p:txBody>
      </p:sp>
      <p:sp>
        <p:nvSpPr>
          <p:cNvPr id="103" name="Shape 102"/>
          <p:cNvSpPr/>
          <p:nvPr/>
        </p:nvSpPr>
        <p:spPr>
          <a:xfrm>
            <a:off x="1032618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8B7CD8"/>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62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62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62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1A1A1A"/>
                </a:solidFill>
                <a:latin typeface="Trenda IG Text"/>
              </a:rPr>
              <a:t>Nothing in Phase 5 touches real patients until Phases 2 and 4 pass their exits. </a:t>
            </a:r>
            <a:r>
              <a:rPr sz="660" b="0" i="0">
                <a:solidFill>
                  <a:srgbClr val="4D4D4D"/>
                </a:solidFill>
                <a:latin typeface="Trenda IG Text"/>
              </a:rPr>
              <a:t>No speed or ROI number is committed before Phase 6 compares the pilot with today's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