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 id="328"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up to 3 runs per pod so no pod crowds out another; about 30 at once, set by model and API quotas (proposed, sized in the Phase 0 load test); extra requests wait, none are dropped.</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70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70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70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70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70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70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70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F2F2F2"/>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7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7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7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7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7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7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2F2F2"/>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2F2F2"/>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2F2F2"/>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2F2F2"/>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3B3B3"/>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3B3B3"/>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F2F2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F2F2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F2F2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2F2F2"/>
                </a:solidFill>
                <a:latin typeface="Trenda IG Text"/>
              </a:rPr>
              <a:t>Fail-closed: </a:t>
            </a:r>
            <a:r>
              <a:rPr sz="70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2F2F2"/>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2F2F2"/>
                </a:solidFill>
                <a:latin typeface="Trenda IG Text"/>
              </a:rPr>
              <a:t>WHAT MASKING ALONE DOES NOT GIVE US, AND WHAT WE ADD</a:t>
            </a:r>
            <a:r>
              <a:rPr sz="70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F2F2F2"/>
                </a:solidFill>
                <a:latin typeface="Trenda IG Text"/>
              </a:rPr>
              <a:t>HOW WE PROVE IT  </a:t>
            </a:r>
            <a:r>
              <a:rPr sz="70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2F2F2"/>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2F2F2"/>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2F2F2"/>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2F2F2"/>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3B3B3"/>
                </a:solidFill>
                <a:latin typeface="Trenda IG Text"/>
              </a:rPr>
              <a:t>Test contacts only; checks consent, STOP, links, hours. </a:t>
            </a:r>
            <a:r>
              <a:rPr sz="7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0  </a:t>
            </a:r>
            <a:r>
              <a:rPr sz="70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before 1</a:t>
            </a:r>
          </a:p>
        </p:txBody>
      </p:sp>
      <p:sp>
        <p:nvSpPr>
          <p:cNvPr id="11" name="Shape 10"/>
          <p:cNvSpPr/>
          <p:nvPr/>
        </p:nvSpPr>
        <p:spPr>
          <a:xfrm>
            <a:off x="502920"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2F2F2"/>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2F2F2"/>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2F2F2"/>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2F2F2"/>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1  </a:t>
            </a:r>
            <a:r>
              <a:rPr sz="70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1 · 2 · 4 · 5 · 6</a:t>
            </a:r>
          </a:p>
        </p:txBody>
      </p:sp>
      <p:sp>
        <p:nvSpPr>
          <p:cNvPr id="27" name="Shape 26"/>
          <p:cNvSpPr/>
          <p:nvPr/>
        </p:nvSpPr>
        <p:spPr>
          <a:xfrm>
            <a:off x="2137083"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2F2F2"/>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2F2F2"/>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2F2F2"/>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2F2F2"/>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2  </a:t>
            </a:r>
            <a:r>
              <a:rPr sz="70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3</a:t>
            </a:r>
          </a:p>
        </p:txBody>
      </p:sp>
      <p:sp>
        <p:nvSpPr>
          <p:cNvPr id="43" name="Shape 42"/>
          <p:cNvSpPr/>
          <p:nvPr/>
        </p:nvSpPr>
        <p:spPr>
          <a:xfrm>
            <a:off x="3771246"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2F2F2"/>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2F2F2"/>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2F2F2"/>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3  </a:t>
            </a:r>
            <a:r>
              <a:rPr sz="70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6 → 7 · 8 · 9</a:t>
            </a:r>
          </a:p>
        </p:txBody>
      </p:sp>
      <p:sp>
        <p:nvSpPr>
          <p:cNvPr id="57" name="Shape 56"/>
          <p:cNvSpPr/>
          <p:nvPr/>
        </p:nvSpPr>
        <p:spPr>
          <a:xfrm>
            <a:off x="5405410"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2F2F2"/>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2F2F2"/>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2F2F2"/>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4  </a:t>
            </a:r>
            <a:r>
              <a:rPr sz="70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10 · 11 · 12</a:t>
            </a:r>
          </a:p>
        </p:txBody>
      </p:sp>
      <p:sp>
        <p:nvSpPr>
          <p:cNvPr id="71" name="Shape 70"/>
          <p:cNvSpPr/>
          <p:nvPr/>
        </p:nvSpPr>
        <p:spPr>
          <a:xfrm>
            <a:off x="7039573"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2F2F2"/>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2F2F2"/>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2F2F2"/>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2F2F2"/>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2F2F2"/>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2F2F2"/>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2F2F2"/>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2F2F2"/>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6  </a:t>
            </a:r>
            <a:r>
              <a:rPr sz="70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20 + feedback</a:t>
            </a:r>
          </a:p>
        </p:txBody>
      </p:sp>
      <p:sp>
        <p:nvSpPr>
          <p:cNvPr id="103" name="Shape 102"/>
          <p:cNvSpPr/>
          <p:nvPr/>
        </p:nvSpPr>
        <p:spPr>
          <a:xfrm>
            <a:off x="10307900"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2F2F2"/>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2F2F2"/>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2F2F2"/>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2F2F2"/>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70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70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70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2F2F2"/>
                </a:solidFill>
                <a:latin typeface="Trenda IG Text"/>
              </a:rPr>
              <a:t>Nothing in Phase 5 touches real patients until Phases 2 and 4 pass their exits. </a:t>
            </a:r>
            <a:r>
              <a:rPr sz="70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HARNESS</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F2F2F2"/>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One definition per agent</a:t>
            </a:r>
          </a:p>
          <a:p>
            <a:pPr>
              <a:spcAft>
                <a:spcPts val="200"/>
              </a:spcAft>
            </a:pPr>
            <a:r>
              <a:rPr sz="700" b="0" i="0">
                <a:solidFill>
                  <a:srgbClr val="B3B3B3"/>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F2F2F2"/>
                </a:solidFill>
                <a:latin typeface="Trenda IG Text"/>
              </a:rPr>
              <a:t>HOW IT SCALES</a:t>
            </a:r>
            <a:r>
              <a:rPr sz="700" b="0" i="0">
                <a:solidFill>
                  <a:srgbClr val="B3B3B3"/>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Up to 3 runs per pod</a:t>
            </a:r>
          </a:p>
          <a:p>
            <a:pPr>
              <a:spcAft>
                <a:spcPts val="200"/>
              </a:spcAft>
            </a:pPr>
            <a:r>
              <a:rPr sz="700" b="0" i="0">
                <a:solidFill>
                  <a:srgbClr val="B3B3B3"/>
                </a:solidFill>
                <a:latin typeface="Trenda IG Text"/>
              </a:rPr>
              <a:t>fair share: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About 30 runs at once</a:t>
            </a:r>
          </a:p>
          <a:p>
            <a:pPr>
              <a:spcAft>
                <a:spcPts val="200"/>
              </a:spcAft>
            </a:pPr>
            <a:r>
              <a:rPr sz="700" b="0" i="0">
                <a:solidFill>
                  <a:srgbClr val="B3B3B3"/>
                </a:solidFill>
                <a:latin typeface="Trenda IG Text"/>
              </a:rPr>
              <a:t>set by model and API quotas; proposed, sized in the Phase 0 load test</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2F2F2"/>
                </a:solidFill>
                <a:latin typeface="Trenda IG Text"/>
              </a:rPr>
              <a:t>HOW IT STAYS ACCURATE</a:t>
            </a:r>
            <a:r>
              <a:rPr sz="700" b="0" i="0">
                <a:solidFill>
                  <a:srgbClr val="B3B3B3"/>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F2F2F2"/>
                </a:solidFill>
                <a:latin typeface="Trenda IG Text"/>
              </a:rPr>
              <a:t>HOW WE PROTECT DATA</a:t>
            </a:r>
            <a:r>
              <a:rPr sz="700" b="0" i="0">
                <a:solidFill>
                  <a:srgbClr val="B3B3B3"/>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2F2F2"/>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2F2F2"/>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SQUAD</a:t>
            </a:r>
            <a:r>
              <a:rPr sz="70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overnight. </a:t>
            </a:r>
            <a:r>
              <a:rPr sz="700" b="1" i="0">
                <a:solidFill>
                  <a:srgbClr val="F2F2F2"/>
                </a:solidFill>
                <a:latin typeface="Trenda IG Text"/>
              </a:rPr>
              <a:t>Developer </a:t>
            </a:r>
            <a:r>
              <a:rPr sz="700" b="0" i="0">
                <a:solidFill>
                  <a:srgbClr val="B3B3B3"/>
                </a:solidFill>
                <a:latin typeface="Trenda IG Text"/>
              </a:rPr>
              <a:t>directs and approves. </a:t>
            </a:r>
            <a:r>
              <a:rPr sz="700" b="1" i="0">
                <a:solidFill>
                  <a:srgbClr val="F2F2F2"/>
                </a:solidFill>
                <a:latin typeface="Trenda IG Text"/>
              </a:rPr>
              <a:t>QA </a:t>
            </a:r>
            <a:r>
              <a:rPr sz="7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POD</a:t>
            </a:r>
            <a:r>
              <a:rPr sz="700" b="0" i="0">
                <a:solidFill>
                  <a:srgbClr val="B3B3B3"/>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33" name="Shape 31"/>
          <p:cNvSpPr/>
          <p:nvPr/>
        </p:nvSpPr>
        <p:spPr>
          <a:xfrm>
            <a:off x="4364736" y="1700784"/>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F2F2F2"/>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B3B3B3"/>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D6F2"/>
                </a:solidFill>
                <a:latin typeface="Trenda IG Text"/>
              </a:rPr>
              <a:t>about 1 week</a:t>
            </a:r>
          </a:p>
        </p:txBody>
      </p:sp>
      <p:sp>
        <p:nvSpPr>
          <p:cNvPr id="37" name="Shape 35"/>
          <p:cNvSpPr/>
          <p:nvPr/>
        </p:nvSpPr>
        <p:spPr>
          <a:xfrm>
            <a:off x="4364736" y="1965960"/>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F2F2F2"/>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B3B3B3"/>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D6F2"/>
                </a:solidFill>
                <a:latin typeface="Trenda IG Text"/>
              </a:rPr>
              <a:t>about 20 hours</a:t>
            </a:r>
          </a:p>
        </p:txBody>
      </p:sp>
      <p:sp>
        <p:nvSpPr>
          <p:cNvPr id="41" name="Shape 39"/>
          <p:cNvSpPr/>
          <p:nvPr/>
        </p:nvSpPr>
        <p:spPr>
          <a:xfrm>
            <a:off x="4364736" y="2231136"/>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F2F2F2"/>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B3B3B3"/>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D6F2"/>
                </a:solidFill>
                <a:latin typeface="Trenda IG Text"/>
              </a:rPr>
              <a:t>100%, same standards</a:t>
            </a:r>
          </a:p>
        </p:txBody>
      </p:sp>
      <p:sp>
        <p:nvSpPr>
          <p:cNvPr id="45" name="Shape 43"/>
          <p:cNvSpPr/>
          <p:nvPr/>
        </p:nvSpPr>
        <p:spPr>
          <a:xfrm>
            <a:off x="4364736" y="2496312"/>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F2F2F2"/>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B3B3B3"/>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D6F2"/>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8C8C8C"/>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BUILD AND RUN</a:t>
            </a:r>
            <a:r>
              <a:rPr sz="700" b="0" i="0">
                <a:solidFill>
                  <a:srgbClr val="B3B3B3"/>
                </a:solidFill>
                <a:latin typeface="Trenda IG Text"/>
              </a:rPr>
              <a:t>   fixed fee, paid by gate</a:t>
            </a:r>
          </a:p>
        </p:txBody>
      </p:sp>
      <p:sp>
        <p:nvSpPr>
          <p:cNvPr id="53" name="Shape 51"/>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6" name="Shape 54"/>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B3B3B3"/>
                </a:solidFill>
                <a:latin typeface="Trenda IG Text"/>
              </a:rPr>
              <a:t>months, seven phases</a:t>
            </a:r>
          </a:p>
        </p:txBody>
      </p:sp>
      <p:sp>
        <p:nvSpPr>
          <p:cNvPr id="59" name="Shape 57"/>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B3B3B3"/>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F2F2F2"/>
                </a:solidFill>
                <a:latin typeface="Trenda IG Text"/>
              </a:rPr>
              <a:t>From month 19 </a:t>
            </a:r>
            <a:r>
              <a:rPr sz="700" b="0" i="0">
                <a:solidFill>
                  <a:srgbClr val="B3B3B3"/>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F2F2F2"/>
                </a:solidFill>
                <a:latin typeface="Trenda IG Text"/>
              </a:rPr>
              <a:t>THE RETURN</a:t>
            </a:r>
            <a:r>
              <a:rPr sz="700" b="0" i="0">
                <a:solidFill>
                  <a:srgbClr val="B3B3B3"/>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as provided by Ascension</a:t>
            </a:r>
          </a:p>
        </p:txBody>
      </p:sp>
      <p:sp>
        <p:nvSpPr>
          <p:cNvPr id="70" name="Shape 68"/>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from go-live</a:t>
            </a:r>
          </a:p>
        </p:txBody>
      </p:sp>
      <p:sp>
        <p:nvSpPr>
          <p:cNvPr id="79" name="Shape 78"/>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$4.79M build + $0.23M usage</a:t>
            </a:r>
          </a:p>
        </p:txBody>
      </p:sp>
      <p:sp>
        <p:nvSpPr>
          <p:cNvPr id="83" name="Shape 82"/>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700" b="0" i="0">
                <a:solidFill>
                  <a:srgbClr val="B3B3B3"/>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700" b="0" i="0">
                <a:solidFill>
                  <a:srgbClr val="B3B3B3"/>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KEEP IT HONEST</a:t>
            </a:r>
          </a:p>
          <a:p>
            <a:pPr>
              <a:spcAft>
                <a:spcPts val="100"/>
              </a:spcAft>
            </a:pPr>
            <a:r>
              <a:rPr sz="700" b="0" i="0">
                <a:solidFill>
                  <a:srgbClr val="8C8C8C"/>
                </a:solidFill>
                <a:latin typeface="Trenda IG Text"/>
              </a:rPr>
              <a:t>how the numbers hold</a:t>
            </a:r>
          </a:p>
        </p:txBody>
      </p:sp>
      <p:sp>
        <p:nvSpPr>
          <p:cNvPr id="90" name="Shape 89"/>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700" b="0" i="0">
                <a:solidFill>
                  <a:srgbClr val="B3B3B3"/>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700" b="0" i="0">
                <a:solidFill>
                  <a:srgbClr val="B3B3B3"/>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700" b="0" i="0">
                <a:solidFill>
                  <a:srgbClr val="B3B3B3"/>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7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