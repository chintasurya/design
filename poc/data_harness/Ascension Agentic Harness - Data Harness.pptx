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5" r:id="rId17"/>
    <p:sldId id="323" r:id="rId15"/>
    <p:sldId id="326" r:id="rId18"/>
    <p:sldId id="327"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 The same team delivers 1.4-1.6x the output, or the same scope with 20-30% fewer people.</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E6E6E6"/>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00D6F2"/>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161616"/>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DELIVERY AGENTS</a:t>
            </a:r>
            <a:r>
              <a:rPr sz="700" b="0" i="0">
                <a:solidFill>
                  <a:srgbClr val="FFFFFF"/>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78" name="Shape 71"/>
          <p:cNvSpPr/>
          <p:nvPr/>
        </p:nvSpPr>
        <p:spPr>
          <a:xfrm>
            <a:off x="3063240" y="3321100"/>
            <a:ext cx="5806440"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FFFFFF"/>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E6E6E6"/>
                </a:solidFill>
                <a:latin typeface="Trenda IG Text"/>
              </a:rPr>
              <a:t>AI-LED</a:t>
            </a:r>
          </a:p>
        </p:txBody>
      </p:sp>
      <p:sp>
        <p:nvSpPr>
          <p:cNvPr id="129" name="Shape 122"/>
          <p:cNvSpPr/>
          <p:nvPr/>
        </p:nvSpPr>
        <p:spPr>
          <a:xfrm>
            <a:off x="9006840" y="1170432"/>
            <a:ext cx="277063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E6E6E6"/>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D6F2"/>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00D6F2"/>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E6E6E6"/>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00D6F2"/>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161616"/>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00D6F2"/>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FD7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2F2F2"/>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2F2F2"/>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2F2F2"/>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2F2F2"/>
                </a:solidFill>
                <a:latin typeface="Trenda IG Text"/>
              </a:rPr>
              <a:t>Harness</a:t>
            </a:r>
          </a:p>
          <a:p>
            <a:pPr>
              <a:lnSpc>
                <a:spcPct val="90000"/>
              </a:lnSpc>
            </a:pPr>
            <a:r>
              <a:rPr sz="1000" b="0" i="0">
                <a:solidFill>
                  <a:srgbClr val="F2F2F2"/>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2F2F2"/>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3B3B3"/>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2F2F2"/>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3B3B3"/>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2F2F2"/>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3B3B3"/>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2F2F2"/>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3B3B3"/>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2F2F2"/>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3B3B3"/>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2F2F2"/>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2F2F2"/>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3B3B3"/>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2F2F2"/>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2F2F2"/>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3B3B3"/>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2F2F2"/>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2F2F2"/>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2F2F2"/>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2F2F2"/>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2F2F2"/>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2F2F2"/>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2F2F2"/>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2F2F2"/>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2F2F2"/>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2F2F2"/>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2F2F2"/>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2F2F2"/>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2F2F2"/>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2F2F2"/>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2F2F2"/>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2F2F2"/>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2F2F2"/>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3B3B3"/>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2F2F2"/>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2F2F2"/>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3B3B3"/>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2F2F2"/>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2F2F2"/>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3B3B3"/>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2F2F2"/>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2F2F2"/>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2F2F2"/>
                </a:solidFill>
                <a:latin typeface="Trenda IG Text"/>
              </a:rPr>
              <a:t>Infrastructure</a:t>
            </a:r>
          </a:p>
          <a:p>
            <a:r>
              <a:rPr sz="650" b="0" i="0">
                <a:solidFill>
                  <a:srgbClr val="B3B3B3"/>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3B3B3"/>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3B3B3"/>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3B3B3"/>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2F2F2"/>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3B3B3"/>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2F2F2"/>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3B3B3"/>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161616"/>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2F2F2"/>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3B3B3"/>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2F2F2"/>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2F2F2"/>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3B3B3"/>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6B6B6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2F2F2"/>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3B3B3"/>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2F2F2"/>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61616"/>
          </a:solidFill>
          <a:ln w="9525">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2F2F2"/>
                </a:solidFill>
                <a:latin typeface="Trenda IG Text"/>
              </a:rPr>
              <a:t>ENGINEERING CONTEXT KNOWLEDGE GRAPH</a:t>
            </a:r>
            <a:r>
              <a:rPr sz="700" b="0" i="0">
                <a:solidFill>
                  <a:srgbClr val="B3B3B3"/>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3B3B3"/>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3B3B3"/>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3B3B3"/>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3B3B3"/>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3B3B3"/>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3B3B3"/>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3333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F2F2F2"/>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F2F2F2"/>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F2F2F2"/>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2F2F2"/>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2F2F2"/>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2F2F2"/>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2F2F2"/>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3B3B3"/>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2F2F2"/>
                </a:solidFill>
                <a:latin typeface="Trenda IG Text"/>
              </a:rPr>
              <a:t>WHERE OUTPUT LANDS</a:t>
            </a:r>
            <a:r>
              <a:rPr sz="700" b="0" i="0">
                <a:solidFill>
                  <a:srgbClr val="B3B3B3"/>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Jira</a:t>
            </a:r>
            <a:r>
              <a:rPr sz="600" b="0" i="0">
                <a:solidFill>
                  <a:srgbClr val="B3B3B3"/>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2F2F2"/>
                </a:solidFill>
                <a:latin typeface="Trenda IG Text"/>
              </a:rPr>
              <a:t>Confluence</a:t>
            </a:r>
            <a:r>
              <a:rPr sz="600" b="0" i="0">
                <a:solidFill>
                  <a:srgbClr val="B3B3B3"/>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Git</a:t>
            </a:r>
            <a:r>
              <a:rPr sz="600" b="0" i="0">
                <a:solidFill>
                  <a:srgbClr val="B3B3B3"/>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2F2F2"/>
                </a:solidFill>
                <a:latin typeface="Trenda IG Text"/>
              </a:rPr>
              <a:t>Salesforce DEV</a:t>
            </a:r>
            <a:r>
              <a:rPr sz="600" b="0" i="0">
                <a:solidFill>
                  <a:srgbClr val="B3B3B3"/>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Copado</a:t>
            </a:r>
            <a:r>
              <a:rPr sz="600" b="0" i="0">
                <a:solidFill>
                  <a:srgbClr val="B3B3B3"/>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3B3B3"/>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2F2F2"/>
                </a:solidFill>
                <a:latin typeface="Trenda IG Text"/>
              </a:rPr>
              <a:t>Zephyr Scale</a:t>
            </a:r>
            <a:r>
              <a:rPr sz="600" b="0" i="0">
                <a:solidFill>
                  <a:srgbClr val="B3B3B3"/>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2F2F2"/>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2F2F2"/>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3B3B3"/>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F2F2F2"/>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F2F2F2"/>
                </a:solidFill>
                <a:latin typeface="Trenda IG Text"/>
              </a:rPr>
              <a:t>REVIEW</a:t>
            </a:r>
          </a:p>
          <a:p>
            <a:r>
              <a:rPr sz="48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F2F2F2"/>
                </a:solidFill>
                <a:latin typeface="Trenda IG Text"/>
              </a:rPr>
              <a:t>GOVERNANCE</a:t>
            </a:r>
          </a:p>
          <a:p>
            <a:r>
              <a:rPr sz="48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F2F2F2"/>
                </a:solidFill>
                <a:latin typeface="Trenda IG Text"/>
              </a:rPr>
              <a:t>COMPUTE</a:t>
            </a:r>
          </a:p>
          <a:p>
            <a:r>
              <a:rPr sz="48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F2F2F2"/>
                </a:solidFill>
                <a:latin typeface="Trenda IG Text"/>
              </a:rPr>
              <a:t>TARGET</a:t>
            </a:r>
          </a:p>
          <a:p>
            <a:r>
              <a:rPr sz="480" b="0" i="0">
                <a:solidFill>
                  <a:srgbClr val="8C8C8C"/>
                </a:solidFill>
                <a:latin typeface="Courier New"/>
              </a:rPr>
              <a:t>dataplace</a:t>
            </a:r>
          </a:p>
        </p:txBody>
      </p:sp>
      <p:cxnSp>
        <p:nvCxnSpPr>
          <p:cNvPr id="22" name="Arrow 17"/>
          <p:cNvCxnSpPr/>
          <p:nvPr/>
        </p:nvCxnSpPr>
        <p:spPr>
          <a:xfrm>
            <a:off x="2148840"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9525">
            <a:solidFill>
              <a:srgbClr val="4A4A4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161616"/>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635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B3B3B3"/>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161616"/>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D6F2"/>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000000"/>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F2F2F2"/>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000000"/>
          </a:solid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F2F2F2"/>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F2F2F2"/>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F2F2F2"/>
                </a:solidFill>
                <a:latin typeface="Trenda IG Text"/>
              </a:rPr>
              <a:t>Fail-closed: </a:t>
            </a:r>
            <a:r>
              <a:rPr sz="580" b="0" i="0">
                <a:solidFill>
                  <a:srgbClr val="B3B3B3"/>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2F2F2"/>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F2F2F2"/>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B3B3B3"/>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2F2F2"/>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F2F2F2"/>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B3B3B3"/>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F2F2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F2F2F2"/>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B3B3B3"/>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F2F2F2"/>
                </a:solidFill>
                <a:latin typeface="Trenda IG Text"/>
              </a:rPr>
              <a:t>A token, a count, a diagnosis combination or a small cohort can remain sensitive. </a:t>
            </a:r>
            <a:r>
              <a:rPr sz="6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F2F2F2"/>
                </a:solidFill>
                <a:latin typeface="Trenda IG Text"/>
              </a:rPr>
              <a:t>WHAT MASKING ALONE DOES NOT GIVE US, AND WHAT WE ADD</a:t>
            </a:r>
            <a:r>
              <a:rPr sz="640" b="0" i="0">
                <a:solidFill>
                  <a:srgbClr val="B3B3B3"/>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1  </a:t>
            </a:r>
            <a:r>
              <a:rPr sz="720" b="1" i="0">
                <a:solidFill>
                  <a:srgbClr val="F2F2F2"/>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2  </a:t>
            </a:r>
            <a:r>
              <a:rPr sz="720" b="1" i="0">
                <a:solidFill>
                  <a:srgbClr val="F2F2F2"/>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3  </a:t>
            </a:r>
            <a:r>
              <a:rPr sz="720" b="1" i="0">
                <a:solidFill>
                  <a:srgbClr val="F2F2F2"/>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141414"/>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F2F2F2"/>
                </a:solidFill>
                <a:latin typeface="Trenda IG Text"/>
              </a:rPr>
              <a:t>4  </a:t>
            </a:r>
            <a:r>
              <a:rPr sz="720" b="1" i="0">
                <a:solidFill>
                  <a:srgbClr val="F2F2F2"/>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F2F2F2"/>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F2F2F2"/>
                </a:solidFill>
                <a:latin typeface="Trenda IG Text"/>
              </a:rPr>
              <a:t>Gap: </a:t>
            </a:r>
            <a:r>
              <a:rPr sz="580" b="0" i="0">
                <a:solidFill>
                  <a:srgbClr val="B3B3B3"/>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F2F2F2"/>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F2F2F2"/>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F2F2F2"/>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161616"/>
          </a:solidFill>
          <a:ln w="6858">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F2F2F2"/>
                </a:solidFill>
                <a:latin typeface="Trenda IG Text"/>
              </a:rPr>
              <a:t>HOW WE PROVE IT  </a:t>
            </a:r>
            <a:r>
              <a:rPr sz="590" b="0" i="0">
                <a:solidFill>
                  <a:srgbClr val="F2F2F2"/>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F2F2F2"/>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F2F2F2"/>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F2F2F2"/>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B3B3B3"/>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F2F2F2"/>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F2F2F2"/>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F2F2F2"/>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B3B3B3"/>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F2F2F2"/>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B3B3B3"/>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B3B3B3"/>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F2F2F2"/>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F2F2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B3B3B3"/>
                </a:solidFill>
                <a:latin typeface="Trenda IG Text"/>
              </a:rPr>
              <a:t>Test contacts only → failure modes (consent, STOP, links, hours) → classify + report. </a:t>
            </a:r>
            <a:r>
              <a:rPr sz="500" b="1" i="0">
                <a:solidFill>
                  <a:srgbClr val="F2F2F2"/>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F2F2F2"/>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B3B3B3"/>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8C8C8C"/>
                </a:solidFill>
                <a:latin typeface="Trenda IG Text"/>
              </a:rPr>
              <a:t>CONTEXT + OVERSIGHT</a:t>
            </a:r>
          </a:p>
          <a:p>
            <a:pPr>
              <a:spcAft>
                <a:spcPts val="100"/>
              </a:spcAft>
            </a:pPr>
            <a:r>
              <a:rPr sz="5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F2F2F2"/>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F2F2F2"/>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F2F2F2"/>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F2F2F2"/>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B3B3B3"/>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4A4A4A"/>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2F2F2"/>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F2F2F2"/>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F2F2F2"/>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B3B3B3"/>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161616"/>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F2F2F2"/>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B3B3B3"/>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66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620" b="1" i="0">
                <a:solidFill>
                  <a:srgbClr val="F2F2F2"/>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500" b="0" i="0">
                <a:solidFill>
                  <a:srgbClr val="B3B3B3"/>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F2F2F2"/>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F2F2F2"/>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F2F2F2"/>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F2F2F2"/>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B3B3B3"/>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161616"/>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F2F2F2"/>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F2F2F2"/>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F2F2F2"/>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9525">
            <a:solidFill>
              <a:srgbClr val="4A4A4A"/>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9525">
            <a:solidFill>
              <a:srgbClr val="4A4A4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F2F2F2"/>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2F2F2"/>
                </a:solidFill>
                <a:latin typeface="Trenda IG Text"/>
              </a:rPr>
              <a:t>SAFEGUARDS</a:t>
            </a:r>
          </a:p>
          <a:p>
            <a:pPr>
              <a:spcAft>
                <a:spcPts val="100"/>
              </a:spcAft>
            </a:pPr>
            <a:r>
              <a:rPr sz="5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F2F2F2"/>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F2F2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2F2F2"/>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3B3B3"/>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0  </a:t>
            </a:r>
            <a:r>
              <a:rPr sz="620" b="1" i="0">
                <a:solidFill>
                  <a:srgbClr val="F2F2F2"/>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before 1</a:t>
            </a:r>
          </a:p>
        </p:txBody>
      </p:sp>
      <p:sp>
        <p:nvSpPr>
          <p:cNvPr id="11" name="Shape 10"/>
          <p:cNvSpPr/>
          <p:nvPr/>
        </p:nvSpPr>
        <p:spPr>
          <a:xfrm>
            <a:off x="52120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B3B3B3"/>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1  </a:t>
            </a:r>
            <a:r>
              <a:rPr sz="620" b="1" i="0">
                <a:solidFill>
                  <a:srgbClr val="F2F2F2"/>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 · 2 · 4 · 5 · 6</a:t>
            </a:r>
          </a:p>
        </p:txBody>
      </p:sp>
      <p:sp>
        <p:nvSpPr>
          <p:cNvPr id="27" name="Shape 26"/>
          <p:cNvSpPr/>
          <p:nvPr/>
        </p:nvSpPr>
        <p:spPr>
          <a:xfrm>
            <a:off x="215537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B3B3B3"/>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2  </a:t>
            </a:r>
            <a:r>
              <a:rPr sz="620" b="1" i="0">
                <a:solidFill>
                  <a:srgbClr val="F2F2F2"/>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3</a:t>
            </a:r>
          </a:p>
        </p:txBody>
      </p:sp>
      <p:sp>
        <p:nvSpPr>
          <p:cNvPr id="43" name="Shape 42"/>
          <p:cNvSpPr/>
          <p:nvPr/>
        </p:nvSpPr>
        <p:spPr>
          <a:xfrm>
            <a:off x="3789534"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B3B3B3"/>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B3B3B3"/>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B3B3B3"/>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3  </a:t>
            </a:r>
            <a:r>
              <a:rPr sz="620" b="1" i="0">
                <a:solidFill>
                  <a:srgbClr val="F2F2F2"/>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6 → 7 · 8 · 9</a:t>
            </a:r>
          </a:p>
        </p:txBody>
      </p:sp>
      <p:sp>
        <p:nvSpPr>
          <p:cNvPr id="57" name="Shape 56"/>
          <p:cNvSpPr/>
          <p:nvPr/>
        </p:nvSpPr>
        <p:spPr>
          <a:xfrm>
            <a:off x="542369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4  </a:t>
            </a:r>
            <a:r>
              <a:rPr sz="620" b="1" i="0">
                <a:solidFill>
                  <a:srgbClr val="F2F2F2"/>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10 · 11 · 12</a:t>
            </a:r>
          </a:p>
        </p:txBody>
      </p:sp>
      <p:sp>
        <p:nvSpPr>
          <p:cNvPr id="71" name="Shape 70"/>
          <p:cNvSpPr/>
          <p:nvPr/>
        </p:nvSpPr>
        <p:spPr>
          <a:xfrm>
            <a:off x="7057861"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B3B3B3"/>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B3B3B3"/>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1A1A1A"/>
                </a:solidFill>
                <a:latin typeface="Trenda IG Text"/>
              </a:rPr>
              <a:t>PHASE 5  </a:t>
            </a:r>
            <a:r>
              <a:rPr sz="62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161616"/>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B3B3B3"/>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B3B3B3"/>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B3B3B3"/>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B3B3B3"/>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B3B3B3"/>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FFD700"/>
                </a:solidFill>
                <a:latin typeface="Trenda IG Text"/>
              </a:rPr>
              <a:t>EXIT  </a:t>
            </a:r>
          </a:p>
          <a:p>
            <a:pPr>
              <a:spcAft>
                <a:spcPts val="100"/>
              </a:spcAft>
            </a:pPr>
            <a:r>
              <a:rPr sz="600" b="1" i="0">
                <a:solidFill>
                  <a:srgbClr val="F2F2F2"/>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F2F2F2"/>
                </a:solidFill>
                <a:latin typeface="Trenda IG Text"/>
              </a:rPr>
              <a:t>PHASE 6  </a:t>
            </a:r>
            <a:r>
              <a:rPr sz="620" b="1" i="0">
                <a:solidFill>
                  <a:srgbClr val="F2F2F2"/>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161616"/>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F2F2F2"/>
                </a:solidFill>
                <a:latin typeface="Trenda IG Text"/>
              </a:rPr>
              <a:t>20 + feedback</a:t>
            </a:r>
          </a:p>
        </p:txBody>
      </p:sp>
      <p:sp>
        <p:nvSpPr>
          <p:cNvPr id="103" name="Shape 102"/>
          <p:cNvSpPr/>
          <p:nvPr/>
        </p:nvSpPr>
        <p:spPr>
          <a:xfrm>
            <a:off x="10326188" y="2221991"/>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B3B3B3"/>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B3B3B3"/>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B3B3B3"/>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F2F2F2"/>
                </a:solidFill>
                <a:latin typeface="Trenda IG Text"/>
              </a:rPr>
              <a:t>EXIT  </a:t>
            </a:r>
          </a:p>
          <a:p>
            <a:pPr>
              <a:spcAft>
                <a:spcPts val="100"/>
              </a:spcAft>
            </a:pPr>
            <a:r>
              <a:rPr sz="600" b="1" i="0">
                <a:solidFill>
                  <a:srgbClr val="F2F2F2"/>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2F2F2"/>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2B2B2B"/>
          </a:solidFill>
          <a:ln w="6350">
            <a:solidFill>
              <a:srgbClr val="4A4A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2F2F2"/>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4A4A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F2F2F2"/>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F2F2F2"/>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Governance before agents</a:t>
            </a:r>
          </a:p>
          <a:p>
            <a:pPr>
              <a:spcAft>
                <a:spcPts val="100"/>
              </a:spcAft>
            </a:pPr>
            <a:r>
              <a:rPr sz="620" b="0" i="0">
                <a:solidFill>
                  <a:srgbClr val="B3B3B3"/>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Build and test before release</a:t>
            </a:r>
          </a:p>
          <a:p>
            <a:pPr>
              <a:spcAft>
                <a:spcPts val="100"/>
              </a:spcAft>
            </a:pPr>
            <a:r>
              <a:rPr sz="620" b="0" i="0">
                <a:solidFill>
                  <a:srgbClr val="B3B3B3"/>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2F2F2"/>
                </a:solidFill>
                <a:latin typeface="Trenda IG Text"/>
              </a:rPr>
              <a:t>Data Cloud before direct</a:t>
            </a:r>
          </a:p>
          <a:p>
            <a:pPr>
              <a:spcAft>
                <a:spcPts val="100"/>
              </a:spcAft>
            </a:pPr>
            <a:r>
              <a:rPr sz="620" b="0" i="0">
                <a:solidFill>
                  <a:srgbClr val="B3B3B3"/>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F2F2F2"/>
                </a:solidFill>
                <a:latin typeface="Trenda IG Text"/>
              </a:rPr>
              <a:t>Nothing in Phase 5 touches real patients until Phases 2 and 4 pass their exits. </a:t>
            </a:r>
            <a:r>
              <a:rPr sz="660" b="0" i="0">
                <a:solidFill>
                  <a:srgbClr val="B3B3B3"/>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62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62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Answers questions</a:t>
            </a:r>
          </a:p>
          <a:p>
            <a:pPr>
              <a:spcAft>
                <a:spcPts val="100"/>
              </a:spcAft>
            </a:pPr>
            <a:r>
              <a:rPr sz="58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Verifies the caller</a:t>
            </a:r>
          </a:p>
          <a:p>
            <a:pPr>
              <a:spcAft>
                <a:spcPts val="100"/>
              </a:spcAft>
            </a:pPr>
            <a:r>
              <a:rPr sz="58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Books, cancels, reschedules</a:t>
            </a:r>
          </a:p>
          <a:p>
            <a:pPr>
              <a:spcAft>
                <a:spcPts val="100"/>
              </a:spcAft>
            </a:pPr>
            <a:r>
              <a:rPr sz="58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660" b="1" i="0">
                <a:solidFill>
                  <a:srgbClr val="F2F2F2"/>
                </a:solidFill>
                <a:latin typeface="Trenda IG Text"/>
              </a:rPr>
              <a:t>Hands off to a person</a:t>
            </a:r>
          </a:p>
          <a:p>
            <a:pPr>
              <a:spcAft>
                <a:spcPts val="100"/>
              </a:spcAft>
            </a:pPr>
            <a:r>
              <a:rPr sz="58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640" b="1" i="0" spc="120">
                <a:solidFill>
                  <a:srgbClr val="F2F2F2"/>
                </a:solidFill>
                <a:latin typeface="Trenda IG Text"/>
              </a:rPr>
              <a:t>1  KNOWLEDGE PATH</a:t>
            </a:r>
            <a:r>
              <a:rPr sz="64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640" b="1" i="0" spc="120">
                <a:solidFill>
                  <a:srgbClr val="F2F2F2"/>
                </a:solidFill>
                <a:latin typeface="Trenda IG Text"/>
              </a:rPr>
              <a:t>2  PATIENT PATH</a:t>
            </a:r>
            <a:r>
              <a:rPr sz="64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66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6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66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59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56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54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56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56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56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56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52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6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6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54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6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54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56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56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56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56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56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64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6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68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68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68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6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SAFEGUARDS</a:t>
            </a:r>
          </a:p>
          <a:p>
            <a:pPr>
              <a:spcAft>
                <a:spcPts val="100"/>
              </a:spcAft>
            </a:pPr>
            <a:r>
              <a:rPr sz="52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6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6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6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6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6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600" b="0" i="0">
                <a:solidFill>
                  <a:srgbClr val="B3B3B3"/>
                </a:solidFill>
                <a:latin typeface="Trenda IG Text"/>
              </a:rPr>
              <a:t>scripted test calls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SQUAD</a:t>
            </a:r>
            <a:r>
              <a:rPr sz="640" b="0" i="0">
                <a:solidFill>
                  <a:srgbClr val="B3B3B3"/>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540" b="1" i="0" spc="100">
                <a:solidFill>
                  <a:srgbClr val="8C8C8C"/>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640" b="1" i="0">
                <a:solidFill>
                  <a:srgbClr val="B3B3B3"/>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640" b="1" i="0">
                <a:solidFill>
                  <a:srgbClr val="F2F2F2"/>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600" b="1" i="0">
                <a:solidFill>
                  <a:srgbClr val="00D6F2"/>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640" b="1" i="0">
                <a:solidFill>
                  <a:srgbClr val="F2F2F2"/>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600" b="1" i="0">
                <a:solidFill>
                  <a:srgbClr val="00D6F2"/>
                </a:solidFill>
                <a:latin typeface="Trenda IG Text"/>
              </a:rPr>
              <a:t>Agent </a:t>
            </a:r>
            <a:r>
              <a:rPr sz="600" b="0" i="0">
                <a:solidFill>
                  <a:srgbClr val="B3B3B3"/>
                </a:solidFill>
                <a:latin typeface="Trenda IG Text"/>
              </a:rPr>
              <a:t>drafts code, tests and the Copado package overnight. </a:t>
            </a:r>
            <a:r>
              <a:rPr sz="600" b="1" i="0">
                <a:solidFill>
                  <a:srgbClr val="F2F2F2"/>
                </a:solidFill>
                <a:latin typeface="Trenda IG Text"/>
              </a:rPr>
              <a:t>Developer </a:t>
            </a:r>
            <a:r>
              <a:rPr sz="600" b="0" i="0">
                <a:solidFill>
                  <a:srgbClr val="B3B3B3"/>
                </a:solidFill>
                <a:latin typeface="Trenda IG Text"/>
              </a:rPr>
              <a:t>directs and approves. </a:t>
            </a:r>
            <a:r>
              <a:rPr sz="600" b="1" i="0">
                <a:solidFill>
                  <a:srgbClr val="F2F2F2"/>
                </a:solidFill>
                <a:latin typeface="Trenda IG Text"/>
              </a:rPr>
              <a:t>QA </a:t>
            </a:r>
            <a:r>
              <a:rPr sz="600" b="0" i="0">
                <a:solidFill>
                  <a:srgbClr val="B3B3B3"/>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POD</a:t>
            </a:r>
            <a:r>
              <a:rPr sz="640" b="0" i="0">
                <a:solidFill>
                  <a:srgbClr val="B3B3B3"/>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540" b="1" i="0" spc="100">
                <a:solidFill>
                  <a:srgbClr val="8C8C8C"/>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540" b="1" i="0" spc="100">
                <a:solidFill>
                  <a:srgbClr val="00D6F2"/>
                </a:solidFill>
                <a:latin typeface="Trenda IG Text"/>
              </a:rPr>
              <a:t>WITH THE HARNESS</a:t>
            </a:r>
          </a:p>
        </p:txBody>
      </p:sp>
      <p:sp>
        <p:nvSpPr>
          <p:cNvPr id="33" name="Shape 31"/>
          <p:cNvSpPr/>
          <p:nvPr/>
        </p:nvSpPr>
        <p:spPr>
          <a:xfrm>
            <a:off x="4364736" y="1700784"/>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600" b="1" i="0">
                <a:solidFill>
                  <a:srgbClr val="F2F2F2"/>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600" b="0" i="0">
                <a:solidFill>
                  <a:srgbClr val="B3B3B3"/>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600" b="1" i="0">
                <a:solidFill>
                  <a:srgbClr val="00D6F2"/>
                </a:solidFill>
                <a:latin typeface="Trenda IG Text"/>
              </a:rPr>
              <a:t>about 1 week</a:t>
            </a:r>
          </a:p>
        </p:txBody>
      </p:sp>
      <p:sp>
        <p:nvSpPr>
          <p:cNvPr id="37" name="Shape 35"/>
          <p:cNvSpPr/>
          <p:nvPr/>
        </p:nvSpPr>
        <p:spPr>
          <a:xfrm>
            <a:off x="4364736" y="1965960"/>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600" b="1" i="0">
                <a:solidFill>
                  <a:srgbClr val="F2F2F2"/>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600" b="0" i="0">
                <a:solidFill>
                  <a:srgbClr val="B3B3B3"/>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600" b="1" i="0">
                <a:solidFill>
                  <a:srgbClr val="00D6F2"/>
                </a:solidFill>
                <a:latin typeface="Trenda IG Text"/>
              </a:rPr>
              <a:t>about 20 hours</a:t>
            </a:r>
          </a:p>
        </p:txBody>
      </p:sp>
      <p:sp>
        <p:nvSpPr>
          <p:cNvPr id="41" name="Shape 39"/>
          <p:cNvSpPr/>
          <p:nvPr/>
        </p:nvSpPr>
        <p:spPr>
          <a:xfrm>
            <a:off x="4364736" y="2231136"/>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600" b="1" i="0">
                <a:solidFill>
                  <a:srgbClr val="F2F2F2"/>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600" b="0" i="0">
                <a:solidFill>
                  <a:srgbClr val="B3B3B3"/>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600" b="1" i="0">
                <a:solidFill>
                  <a:srgbClr val="00D6F2"/>
                </a:solidFill>
                <a:latin typeface="Trenda IG Text"/>
              </a:rPr>
              <a:t>100%, same standards</a:t>
            </a:r>
          </a:p>
        </p:txBody>
      </p:sp>
      <p:sp>
        <p:nvSpPr>
          <p:cNvPr id="45" name="Shape 43"/>
          <p:cNvSpPr/>
          <p:nvPr/>
        </p:nvSpPr>
        <p:spPr>
          <a:xfrm>
            <a:off x="4364736" y="2496312"/>
            <a:ext cx="3459480"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600" b="1" i="0">
                <a:solidFill>
                  <a:srgbClr val="F2F2F2"/>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600" b="0" i="0">
                <a:solidFill>
                  <a:srgbClr val="B3B3B3"/>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600" b="1" i="0">
                <a:solidFill>
                  <a:srgbClr val="00D6F2"/>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590" b="1" i="0">
                <a:solidFill>
                  <a:srgbClr val="F2F2F2"/>
                </a:solidFill>
                <a:latin typeface="Trenda IG Text"/>
              </a:rPr>
              <a:t>Same team: </a:t>
            </a:r>
            <a:r>
              <a:rPr sz="590" b="0" i="0">
                <a:solidFill>
                  <a:srgbClr val="B3B3B3"/>
                </a:solidFill>
                <a:latin typeface="Trenda IG Text"/>
              </a:rPr>
              <a:t>1.4-1.6x the output, or the same scope with 20-30% fewer people. </a:t>
            </a:r>
            <a:r>
              <a:rPr sz="590" b="0" i="0">
                <a:solidFill>
                  <a:srgbClr val="8C8C8C"/>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640" b="1" i="0" spc="120">
                <a:solidFill>
                  <a:srgbClr val="F2F2F2"/>
                </a:solidFill>
                <a:latin typeface="Trenda IG Text"/>
              </a:rPr>
              <a:t>THE BUILD AND RUN</a:t>
            </a:r>
            <a:r>
              <a:rPr sz="640" b="0" i="0">
                <a:solidFill>
                  <a:srgbClr val="B3B3B3"/>
                </a:solidFill>
                <a:latin typeface="Trenda IG Text"/>
              </a:rPr>
              <a:t>   fixed fee, paid by gate</a:t>
            </a:r>
          </a:p>
        </p:txBody>
      </p:sp>
      <p:sp>
        <p:nvSpPr>
          <p:cNvPr id="53" name="Shape 51"/>
          <p:cNvSpPr/>
          <p:nvPr/>
        </p:nvSpPr>
        <p:spPr>
          <a:xfrm>
            <a:off x="8189976"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590" b="0" i="0">
                <a:solidFill>
                  <a:srgbClr val="B3B3B3"/>
                </a:solidFill>
                <a:latin typeface="Trenda IG Text"/>
              </a:rPr>
              <a:t>people at peak, 10 roles</a:t>
            </a:r>
          </a:p>
        </p:txBody>
      </p:sp>
      <p:sp>
        <p:nvSpPr>
          <p:cNvPr id="56" name="Shape 54"/>
          <p:cNvSpPr/>
          <p:nvPr/>
        </p:nvSpPr>
        <p:spPr>
          <a:xfrm>
            <a:off x="9367520"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590" b="0" i="0">
                <a:solidFill>
                  <a:srgbClr val="B3B3B3"/>
                </a:solidFill>
                <a:latin typeface="Trenda IG Text"/>
              </a:rPr>
              <a:t>months, seven phases</a:t>
            </a:r>
          </a:p>
        </p:txBody>
      </p:sp>
      <p:sp>
        <p:nvSpPr>
          <p:cNvPr id="59" name="Shape 57"/>
          <p:cNvSpPr/>
          <p:nvPr/>
        </p:nvSpPr>
        <p:spPr>
          <a:xfrm>
            <a:off x="10545064" y="1554480"/>
            <a:ext cx="1104391" cy="89611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F2F2F2"/>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590" b="0" i="0">
                <a:solidFill>
                  <a:srgbClr val="B3B3B3"/>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600" b="1" i="0">
                <a:solidFill>
                  <a:srgbClr val="F2F2F2"/>
                </a:solidFill>
                <a:latin typeface="Trenda IG Text"/>
              </a:rPr>
              <a:t>From month 19 </a:t>
            </a:r>
            <a:r>
              <a:rPr sz="600" b="0" i="0">
                <a:solidFill>
                  <a:srgbClr val="B3B3B3"/>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640" b="1" i="0" spc="120">
                <a:solidFill>
                  <a:srgbClr val="F2F2F2"/>
                </a:solidFill>
                <a:latin typeface="Trenda IG Text"/>
              </a:rPr>
              <a:t>THE RETURN</a:t>
            </a:r>
            <a:r>
              <a:rPr sz="640" b="0" i="0">
                <a:solidFill>
                  <a:srgbClr val="B3B3B3"/>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as provided by Ascension</a:t>
            </a:r>
          </a:p>
        </p:txBody>
      </p:sp>
      <p:sp>
        <p:nvSpPr>
          <p:cNvPr id="70" name="Shape 68"/>
          <p:cNvSpPr/>
          <p:nvPr/>
        </p:nvSpPr>
        <p:spPr>
          <a:xfrm>
            <a:off x="2427732"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D6F2"/>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from go-live</a:t>
            </a:r>
          </a:p>
        </p:txBody>
      </p:sp>
      <p:sp>
        <p:nvSpPr>
          <p:cNvPr id="79" name="Shape 78"/>
          <p:cNvSpPr/>
          <p:nvPr/>
        </p:nvSpPr>
        <p:spPr>
          <a:xfrm>
            <a:off x="6204204" y="3639312"/>
            <a:ext cx="1796796" cy="149047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F2F2F2"/>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F2F2F2"/>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600" b="0" i="0">
                <a:solidFill>
                  <a:srgbClr val="B3B3B3"/>
                </a:solidFill>
                <a:latin typeface="Trenda IG Text"/>
              </a:rPr>
              <a:t>$4.79M build + $0.23M usage</a:t>
            </a:r>
          </a:p>
        </p:txBody>
      </p:sp>
      <p:sp>
        <p:nvSpPr>
          <p:cNvPr id="83" name="Shape 82"/>
          <p:cNvSpPr/>
          <p:nvPr/>
        </p:nvSpPr>
        <p:spPr>
          <a:xfrm>
            <a:off x="8220456" y="3639312"/>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D6F2"/>
                </a:solidFill>
                <a:latin typeface="Trenda IG Text"/>
              </a:rPr>
              <a:t>Paid back in under 7 months</a:t>
            </a:r>
          </a:p>
          <a:p>
            <a:pPr>
              <a:spcAft>
                <a:spcPts val="200"/>
              </a:spcAft>
            </a:pPr>
            <a:r>
              <a:rPr sz="640" b="0" i="0">
                <a:solidFill>
                  <a:srgbClr val="B3B3B3"/>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FFD700"/>
                </a:solidFill>
                <a:latin typeface="Trenda IG Text"/>
              </a:rPr>
              <a:t>Floor we commit to</a:t>
            </a:r>
          </a:p>
          <a:p>
            <a:pPr>
              <a:spcAft>
                <a:spcPts val="200"/>
              </a:spcAft>
            </a:pPr>
            <a:r>
              <a:rPr sz="640" b="0" i="0">
                <a:solidFill>
                  <a:srgbClr val="B3B3B3"/>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640" b="1" i="0" spc="120">
                <a:solidFill>
                  <a:srgbClr val="F2F2F2"/>
                </a:solidFill>
                <a:latin typeface="Trenda IG Text"/>
              </a:rPr>
              <a:t>KEEP IT HONEST</a:t>
            </a:r>
          </a:p>
          <a:p>
            <a:pPr>
              <a:spcAft>
                <a:spcPts val="100"/>
              </a:spcAft>
            </a:pPr>
            <a:r>
              <a:rPr sz="520" b="0" i="0">
                <a:solidFill>
                  <a:srgbClr val="8C8C8C"/>
                </a:solidFill>
                <a:latin typeface="Trenda IG Text"/>
              </a:rPr>
              <a:t>how the numbers hold</a:t>
            </a:r>
          </a:p>
        </p:txBody>
      </p:sp>
      <p:sp>
        <p:nvSpPr>
          <p:cNvPr id="90" name="Shape 89"/>
          <p:cNvSpPr/>
          <p:nvPr/>
        </p:nvSpPr>
        <p:spPr>
          <a:xfrm>
            <a:off x="1645920"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Baseline every pod first</a:t>
            </a:r>
          </a:p>
          <a:p>
            <a:pPr>
              <a:spcAft>
                <a:spcPts val="100"/>
              </a:spcAft>
            </a:pPr>
            <a:r>
              <a:rPr sz="600" b="0" i="0">
                <a:solidFill>
                  <a:srgbClr val="B3B3B3"/>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Year 1 at 60-70%</a:t>
            </a:r>
          </a:p>
          <a:p>
            <a:pPr>
              <a:spcAft>
                <a:spcPts val="100"/>
              </a:spcAft>
            </a:pPr>
            <a:r>
              <a:rPr sz="600" b="0" i="0">
                <a:solidFill>
                  <a:srgbClr val="B3B3B3"/>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Approvals stay human</a:t>
            </a:r>
          </a:p>
          <a:p>
            <a:pPr>
              <a:spcAft>
                <a:spcPts val="100"/>
              </a:spcAft>
            </a:pPr>
            <a:r>
              <a:rPr sz="600" b="0" i="0">
                <a:solidFill>
                  <a:srgbClr val="B3B3B3"/>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Delivery only</a:t>
            </a:r>
          </a:p>
          <a:p>
            <a:pPr>
              <a:spcAft>
                <a:spcPts val="100"/>
              </a:spcAft>
            </a:pPr>
            <a:r>
              <a:rPr sz="600" b="0" i="0">
                <a:solidFill>
                  <a:srgbClr val="B3B3B3"/>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