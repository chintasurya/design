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FF0069"/>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FF0069"/>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FFD700"/>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FBFBF"/>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90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FFFFF"/>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0" name="Shape 93"/>
          <p:cNvSpPr/>
          <p:nvPr/>
        </p:nvSpPr>
        <p:spPr>
          <a:xfrm>
            <a:off x="8915400" y="1938528"/>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FBFBF"/>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F0069"/>
                </a:solidFill>
                <a:latin typeface="Trenda IG Text"/>
              </a:rPr>
              <a:t>Ask before build.</a:t>
            </a:r>
          </a:p>
        </p:txBody>
      </p:sp>
      <p:sp>
        <p:nvSpPr>
          <p:cNvPr id="106" name="Shape 99"/>
          <p:cNvSpPr/>
          <p:nvPr/>
        </p:nvSpPr>
        <p:spPr>
          <a:xfrm>
            <a:off x="8915400" y="3054096"/>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FBFBF"/>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F0069"/>
                </a:solidFill>
                <a:latin typeface="Trenda IG Text"/>
              </a:rPr>
              <a:t>Governed by design.</a:t>
            </a:r>
          </a:p>
        </p:txBody>
      </p:sp>
      <p:sp>
        <p:nvSpPr>
          <p:cNvPr id="112" name="Shape 105"/>
          <p:cNvSpPr/>
          <p:nvPr/>
        </p:nvSpPr>
        <p:spPr>
          <a:xfrm>
            <a:off x="8915400" y="4169663"/>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FBFBF"/>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F0069"/>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FFFFF"/>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650" b="0" i="0">
                <a:solidFill>
                  <a:srgbClr val="BFBFBF"/>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FBFBF"/>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FBFBF"/>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FBFBF"/>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FBFBF"/>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2222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2222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A1630"/>
          </a:solid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8B7CD8"/>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11430">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6B6B6B"/>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8B7CD8"/>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6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6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6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6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6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6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per Health Cloud task, story to UAT</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FFFFF"/>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FFFFF"/>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FFFFF"/>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FFFFF"/>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15875">
            <a:solidFill>
              <a:srgbClr val="8B7CD8"/>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15875">
            <a:solidFill>
              <a:srgbClr val="8B7C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15875">
            <a:solidFill>
              <a:srgbClr val="8B7C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FBFBF"/>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FBFBF"/>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56E13B"/>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2B2508"/>
          </a:solidFill>
          <a:ln w="1270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56E13B"/>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56E13B"/>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12700">
            <a:solidFill>
              <a:srgbClr val="8B7CD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FFFFF"/>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952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8B7CD8"/>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8B7CD8"/>
                </a:solidFill>
                <a:latin typeface="Trenda IG Text"/>
              </a:rPr>
              <a:t>Fail-closed: </a:t>
            </a:r>
            <a:r>
              <a:rPr sz="58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A8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A8B35"/>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56E13B"/>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FFFFF"/>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8B7CD8"/>
                </a:solidFill>
                <a:latin typeface="Trenda IG Text"/>
              </a:rPr>
              <a:t>WHAT MASKING ALONE DOES NOT GIVE US, AND WHAT WE ADD</a:t>
            </a:r>
            <a:r>
              <a:rPr sz="64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9525">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FFFFF"/>
                </a:solidFill>
                <a:latin typeface="Trenda IG Text"/>
              </a:rPr>
              <a:t>Gap: </a:t>
            </a:r>
            <a:r>
              <a:rPr sz="58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E2A08"/>
          </a:solidFill>
          <a:ln w="1143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56E13B"/>
                </a:solidFill>
                <a:latin typeface="Trenda IG Text"/>
              </a:rPr>
              <a:t>HOW WE PROVE IT  </a:t>
            </a:r>
            <a:r>
              <a:rPr sz="59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FFFFF"/>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FFFFE"/>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1A1A1A"/>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F7F7F7"/>
          </a:solidFill>
          <a:ln w="12700">
            <a:solidFill>
              <a:srgbClr val="A070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F7F7F7"/>
          </a:solidFill>
          <a:ln w="1270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1A1A1A"/>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1A1A1A"/>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ECE9F5"/>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1A1A1A"/>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4D4D4D"/>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pic>
        <p:nvPicPr>
          <p:cNvPr id="67" name="Picture 66" descr="people-black.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2E8F1C"/>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4D4D4D"/>
                </a:solidFill>
                <a:latin typeface="Trenda IG Text"/>
              </a:rPr>
              <a:t>Test contacts only → failure modes (consent, STOP, links, hours) → classify + report. </a:t>
            </a:r>
            <a:r>
              <a:rPr sz="5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12</a:t>
            </a:r>
          </a:p>
        </p:txBody>
      </p:sp>
      <p:pic>
        <p:nvPicPr>
          <p:cNvPr id="85" name="Picture 84" descr="people-black.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6B6B6B"/>
                </a:solidFill>
                <a:latin typeface="Trenda IG Text"/>
              </a:rPr>
              <a:t>CONTEXT + OVERSIGHT</a:t>
            </a:r>
          </a:p>
          <a:p>
            <a:pPr>
              <a:spcAft>
                <a:spcPts val="100"/>
              </a:spcAft>
            </a:pPr>
            <a:r>
              <a:rPr sz="5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black.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15875">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15875">
            <a:solidFill>
              <a:srgbClr val="E976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905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905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14</a:t>
            </a:r>
          </a:p>
        </p:txBody>
      </p:sp>
      <p:pic>
        <p:nvPicPr>
          <p:cNvPr id="139" name="Picture 138" descr="people-black.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95344" y="4855464"/>
            <a:ext cx="175564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41063" y="4892040"/>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41063" y="4892040"/>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15</a:t>
            </a:r>
          </a:p>
        </p:txBody>
      </p:sp>
      <p:sp>
        <p:nvSpPr>
          <p:cNvPr id="148" name="Text 136"/>
          <p:cNvSpPr txBox="1"/>
          <p:nvPr/>
        </p:nvSpPr>
        <p:spPr>
          <a:xfrm>
            <a:off x="4169663" y="4864608"/>
            <a:ext cx="1444751" cy="329184"/>
          </a:xfrm>
          <a:prstGeom prst="rect">
            <a:avLst/>
          </a:prstGeom>
          <a:noFill/>
        </p:spPr>
        <p:txBody>
          <a:bodyPr wrap="square" lIns="0" rIns="0" tIns="0" bIns="0" anchor="t">
            <a:spAutoFit/>
          </a:bodyPr>
          <a:lstStyle/>
          <a:p>
            <a:pPr>
              <a:lnSpc>
                <a:spcPct val="90000"/>
              </a:lnSpc>
            </a:pPr>
            <a:r>
              <a:rPr sz="620" b="1" i="0">
                <a:solidFill>
                  <a:srgbClr val="1A1A1A"/>
                </a:solidFill>
                <a:latin typeface="Trenda IG Text"/>
              </a:rPr>
              <a:t>Policy engine + activation gateway</a:t>
            </a:r>
          </a:p>
        </p:txBody>
      </p:sp>
      <p:sp>
        <p:nvSpPr>
          <p:cNvPr id="149" name="Text 137"/>
          <p:cNvSpPr txBox="1"/>
          <p:nvPr/>
        </p:nvSpPr>
        <p:spPr>
          <a:xfrm>
            <a:off x="3968496" y="5202936"/>
            <a:ext cx="1627631" cy="374904"/>
          </a:xfrm>
          <a:prstGeom prst="rect">
            <a:avLst/>
          </a:prstGeom>
          <a:noFill/>
        </p:spPr>
        <p:txBody>
          <a:bodyPr wrap="square" lIns="0" rIns="0" tIns="0" bIns="0" anchor="t">
            <a:spAutoFit/>
          </a:bodyPr>
          <a:lstStyle/>
          <a:p>
            <a:r>
              <a:rPr sz="5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7F7F7"/>
          </a:solidFill>
          <a:ln w="1270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15875">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56E13B"/>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F0069"/>
                </a:solidFill>
                <a:latin typeface="Trenda IG Text"/>
              </a:rPr>
              <a:t>SAFEGUARDS</a:t>
            </a:r>
          </a:p>
          <a:p>
            <a:pPr>
              <a:spcAft>
                <a:spcPts val="100"/>
              </a:spcAft>
            </a:pPr>
            <a:r>
              <a:rPr sz="5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0  </a:t>
            </a:r>
            <a:r>
              <a:rPr sz="62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before 1</a:t>
            </a:r>
          </a:p>
        </p:txBody>
      </p:sp>
      <p:sp>
        <p:nvSpPr>
          <p:cNvPr id="11" name="Shape 10"/>
          <p:cNvSpPr/>
          <p:nvPr/>
        </p:nvSpPr>
        <p:spPr>
          <a:xfrm>
            <a:off x="52120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4D4D4D"/>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1  </a:t>
            </a:r>
            <a:r>
              <a:rPr sz="62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 · 2 · 4 · 5 · 6</a:t>
            </a:r>
          </a:p>
        </p:txBody>
      </p:sp>
      <p:sp>
        <p:nvSpPr>
          <p:cNvPr id="27" name="Shape 26"/>
          <p:cNvSpPr/>
          <p:nvPr/>
        </p:nvSpPr>
        <p:spPr>
          <a:xfrm>
            <a:off x="2155371"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4D4D4D"/>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2  </a:t>
            </a:r>
            <a:r>
              <a:rPr sz="62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3</a:t>
            </a:r>
          </a:p>
        </p:txBody>
      </p:sp>
      <p:sp>
        <p:nvSpPr>
          <p:cNvPr id="43" name="Shape 42"/>
          <p:cNvSpPr/>
          <p:nvPr/>
        </p:nvSpPr>
        <p:spPr>
          <a:xfrm>
            <a:off x="3789534"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4D4D4D"/>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4D4D4D"/>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3  </a:t>
            </a:r>
            <a:r>
              <a:rPr sz="62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ECE9F5"/>
          </a:solidFill>
          <a:ln w="952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6 → 7 · 8 · 9</a:t>
            </a:r>
          </a:p>
        </p:txBody>
      </p:sp>
      <p:sp>
        <p:nvSpPr>
          <p:cNvPr id="57" name="Shape 56"/>
          <p:cNvSpPr/>
          <p:nvPr/>
        </p:nvSpPr>
        <p:spPr>
          <a:xfrm>
            <a:off x="5423698" y="2221991"/>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8B7CD8"/>
                </a:solidFill>
                <a:latin typeface="Trenda IG Text"/>
              </a:rPr>
              <a:t>EXIT  </a:t>
            </a:r>
          </a:p>
          <a:p>
            <a:pPr>
              <a:spcAft>
                <a:spcPts val="100"/>
              </a:spcAft>
            </a:pPr>
            <a:r>
              <a:rPr sz="6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4  </a:t>
            </a:r>
            <a:r>
              <a:rPr sz="62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7F7F7"/>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10 · 11 · 12</a:t>
            </a:r>
          </a:p>
        </p:txBody>
      </p:sp>
      <p:sp>
        <p:nvSpPr>
          <p:cNvPr id="71" name="Shape 70"/>
          <p:cNvSpPr/>
          <p:nvPr/>
        </p:nvSpPr>
        <p:spPr>
          <a:xfrm>
            <a:off x="7057861" y="2221991"/>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2E8F1C"/>
                </a:solidFill>
                <a:latin typeface="Trenda IG Text"/>
              </a:rPr>
              <a:t>EXIT  </a:t>
            </a:r>
          </a:p>
          <a:p>
            <a:pPr>
              <a:spcAft>
                <a:spcPts val="100"/>
              </a:spcAft>
            </a:pPr>
            <a:r>
              <a:rPr sz="6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5  </a:t>
            </a:r>
            <a:r>
              <a:rPr sz="62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4D4D4D"/>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4D4D4D"/>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4D4D4D"/>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4D4D4D"/>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9A7B00"/>
                </a:solidFill>
                <a:latin typeface="Trenda IG Text"/>
              </a:rPr>
              <a:t>EXIT  </a:t>
            </a:r>
          </a:p>
          <a:p>
            <a:pPr>
              <a:spcAft>
                <a:spcPts val="100"/>
              </a:spcAft>
            </a:pPr>
            <a:r>
              <a:rPr sz="6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6  </a:t>
            </a:r>
            <a:r>
              <a:rPr sz="62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20 + feedback</a:t>
            </a:r>
          </a:p>
        </p:txBody>
      </p:sp>
      <p:sp>
        <p:nvSpPr>
          <p:cNvPr id="103" name="Shape 102"/>
          <p:cNvSpPr/>
          <p:nvPr/>
        </p:nvSpPr>
        <p:spPr>
          <a:xfrm>
            <a:off x="1032618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12700">
            <a:solidFill>
              <a:srgbClr val="8B7CD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8B7CD8"/>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62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62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62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1A1A1A"/>
                </a:solidFill>
                <a:latin typeface="Trenda IG Text"/>
              </a:rPr>
              <a:t>Nothing in Phase 5 touches real patients until Phases 2 and 4 pass their exits. </a:t>
            </a:r>
            <a:r>
              <a:rPr sz="660" b="0" i="0">
                <a:solidFill>
                  <a:srgbClr val="4D4D4D"/>
                </a:solidFill>
                <a:latin typeface="Trenda IG Text"/>
              </a:rPr>
              <a:t>No speed or ROI number is committed before Phase 6 compares the pilot with today's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