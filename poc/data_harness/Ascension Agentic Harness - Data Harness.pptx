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2" r:id="rId14"/>
    <p:sldId id="324" r:id="rId16"/>
    <p:sldId id="325" r:id="rId17"/>
    <p:sldId id="323" r:id="rId15"/>
    <p:sldId id="326" r:id="rId18"/>
    <p:sldId id="327" r:id="rId19"/>
    <p:sldId id="328"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agent sources. Agents read from and write to these systems, always through the tool gateway and never in production.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with who does each step. Delivery: the Developer Agent builds, the Release Agent moves it through Copado, Review and Test Agents run the quality gates; business users sign UAT and the change board approves at CAB. Campaigns: the Orchestrator takes the prompt, Strategist and Analytics plan on Gold A, Design and Readiness build and test, the SME and tech lead review before send, and the policy service releases.</a:t>
            </a:r>
          </a:p>
          <a:p>
            <a:r>
              <a:t>- The Change Guardian sits with the Architect Agent: it flags any change that affects another pod before anything is built.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verify the caller first; then a scoped scheduling API returns only that patient's data and enforces the rules (cancellation window, reschedule rules, provider restrictions); bookings are written to the scheduling system of record, never a GCP copy.</a:t>
            </a:r>
          </a:p>
          <a:p>
            <a:r>
              <a:t>- Right, after every call: hand-off to a person when needed, masked transcripts with retention limits, outcomes as aggregates into Gold A, and test calls before every release.</a:t>
            </a:r>
          </a:p>
          <a:p>
            <a:r>
              <a:t>- Bottom: the six safeguards.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Platform fit   (about 2-3 minutes)</a:t>
            </a:r>
          </a:p>
          <a:p/>
          <a:p>
            <a:r>
              <a:t>KEY MESSAGE</a:t>
            </a:r>
          </a:p>
          <a:p>
            <a:r>
              <a:t>One harness serves every pod and three jobs: delivery, campaigns and the Sierra voice agent. Each agent is built once, scales across pods without losing accuracy, and stays under the same controls.</a:t>
            </a:r>
          </a:p>
          <a:p/>
          <a:p>
            <a:r>
              <a:t>WALK IT</a:t>
            </a:r>
          </a:p>
          <a:p>
            <a:r>
              <a:t>- Top: one harness, three jobs, sharing the knowledge graph, governance, evals, approvals and the change passport.</a:t>
            </a:r>
          </a:p>
          <a:p>
            <a:r>
              <a:t>- How we build: one definition per agent plus pod skill packs; versioned prompts, skills and model; an eval gate before any new version ships; pods onboard one at a time.</a:t>
            </a:r>
          </a:p>
          <a:p>
            <a:r>
              <a:t>- How it scales (concurrency): each request is its own isolated run; fair share for every pod, a per-pod cap set in config so no pod crowds out another; scales with demand within model and API quotas, sized in the Phase 0 load test; extra requests wait, none are dropped. If asked for numbers: our starting design is a few runs per pod and a few dozen overall, both settings.</a:t>
            </a:r>
          </a:p>
          <a:p>
            <a:r>
              <a:t>- How it stays accurate: cited facts only; the same eval bar for every pod, max 5 retries then an owner; load changes the wait, not the answer, because runs share no memory; measured every run.</a:t>
            </a:r>
          </a:p>
          <a:p>
            <a:r>
              <a:t>- How we protect data (measured): share of sensitive fields classified by DLP and approved in Collibra (target 100% before use); masking policy tags verified against the schema every run, drift flagged; negative-access tests each release prove agent identities cannot read raw PHI (target zero); every PHI access logged, releases reconciled, access reviewed each quarter.</a:t>
            </a:r>
          </a:p>
          <a:p>
            <a:r>
              <a:t>- How we control: no production access, guardrails, people decide at the gates, quotas and a kill switch.</a:t>
            </a:r>
          </a:p>
          <a:p>
            <a:r>
              <a:t>- Bottom: the core benefits beyond cost: consistency, reuse, knowledge kept, quality, auditability, safe by design.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team and cost saving   (about 2-3 minutes)</a:t>
            </a:r>
          </a:p>
          <a:p/>
          <a:p>
            <a:r>
              <a:t>KEY MESSAGE</a:t>
            </a:r>
          </a:p>
          <a:p>
            <a:r>
              <a:t>Every squad of 4-5 developers becomes 1 developer directing the harness agent, plus 1 QA. $16M a year today becomes $7M: $9M back every year on a $5.0M build, paid back in under 7 months.</a:t>
            </a:r>
          </a:p>
          <a:p/>
          <a:p>
            <a:r>
              <a:t>WALK IT</a:t>
            </a:r>
          </a:p>
          <a:p>
            <a:r>
              <a:t>- The squad: 4 developers and a QA today; with the harness, one developer directs the agent, a QA verifies, and the agent drafts code, tests and the Copado package overnight. People review, approve and own every change.</a:t>
            </a:r>
          </a:p>
          <a:p>
            <a:r>
              <a:t>- The pod: what changes for every pod (pilot targets, baselined per pod): a new engineer is productive in about a week instead of 4-6 weeks, because they ask the graph; agents work overnight, so delivery runs about 20 hours a day instead of office hours; every change is checked against the same standards; a new pod goes live on the platform in 2 weeks instead of about 2 months.</a:t>
            </a:r>
          </a:p>
          <a:p>
            <a:r>
              <a:t>- The build: 17 people at peak, 10 roles, 18 months, $4.79M fixed fee paid only when each gate is signed. From month 19 a run team of 4 keeps it running, about $1.24M a year with platform usage.</a:t>
            </a:r>
          </a:p>
          <a:p>
            <a:r>
              <a:t>- The return (target, first full year after go-live): $16M a year today, $7M with the harness, $9M saved every year, on a $5.0M investment. Paid back in under 7 months; 80% first-year return.</a:t>
            </a:r>
          </a:p>
          <a:p>
            <a:r>
              <a:t>- Floor we commit to: 20-25% lower net run cost per pod, measured against each pod's baseline.</a:t>
            </a:r>
          </a:p>
          <a:p/>
          <a:p>
            <a:r>
              <a:t>KEEP IT HONEST</a:t>
            </a:r>
          </a:p>
          <a:p>
            <a:r>
              <a:t>- Baseline every pod first. Year 1 delivers about 60-70% of steady state while pods onboard.</a:t>
            </a:r>
          </a:p>
          <a:p>
            <a:r>
              <a:t>- Approvals, UAT and CAB stay human and take the same time.</a:t>
            </a:r>
          </a:p>
          <a:p>
            <a:r>
              <a:t>- These figures cover delivery. The campaign data platform and the Sierra voice agent are sized separately, after Phase 0.</a:t>
            </a:r>
          </a:p>
          <a:p>
            <a:r>
              <a:t>- Rates are assumed for sizing; replace with the Insight Global rate card before sharing.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20.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harness,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0626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AGENT SOURCES</a:t>
            </a:r>
            <a:r>
              <a:rPr sz="700" b="0" i="0">
                <a:solidFill>
                  <a:srgbClr val="FFFFFF"/>
                </a:solidFill>
                <a:latin typeface="Trenda IG Text"/>
              </a:rPr>
              <a:t>   read + write via the gateway</a:t>
            </a:r>
          </a:p>
        </p:txBody>
      </p:sp>
      <p:sp>
        <p:nvSpPr>
          <p:cNvPr id="7" name="Shape 6"/>
          <p:cNvSpPr/>
          <p:nvPr/>
        </p:nvSpPr>
        <p:spPr>
          <a:xfrm>
            <a:off x="411480" y="1444752"/>
            <a:ext cx="2514600" cy="3995928"/>
          </a:xfrm>
          <a:prstGeom prst="rect">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7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7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7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7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7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7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700" b="1" i="0" spc="120">
                <a:solidFill>
                  <a:srgbClr val="FF0069"/>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700" b="0" i="0">
                <a:solidFill>
                  <a:srgbClr val="BFBFBF"/>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70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000000"/>
                </a:solidFill>
                <a:latin typeface="Trenda IG Text"/>
              </a:rPr>
              <a:t>DELIVERY AGENTS</a:t>
            </a:r>
            <a:r>
              <a:rPr sz="700" b="0" i="0">
                <a:solidFill>
                  <a:srgbClr val="000000"/>
                </a:solidFill>
                <a:latin typeface="Trenda IG Text"/>
              </a:rPr>
              <a:t>   the same on every pod</a:t>
            </a:r>
          </a:p>
        </p:txBody>
      </p:sp>
      <p:sp>
        <p:nvSpPr>
          <p:cNvPr id="29" name="Shape 22"/>
          <p:cNvSpPr/>
          <p:nvPr/>
        </p:nvSpPr>
        <p:spPr>
          <a:xfrm>
            <a:off x="3063240" y="1499616"/>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700" b="0" i="0">
                <a:solidFill>
                  <a:srgbClr val="BFBFBF"/>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COORDINATES</a:t>
            </a:r>
          </a:p>
        </p:txBody>
      </p:sp>
      <p:sp>
        <p:nvSpPr>
          <p:cNvPr id="36" name="Shape 29"/>
          <p:cNvSpPr/>
          <p:nvPr/>
        </p:nvSpPr>
        <p:spPr>
          <a:xfrm>
            <a:off x="3063240" y="1751990"/>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FFFFFF"/>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700" b="0" i="0">
                <a:solidFill>
                  <a:srgbClr val="BFBFBF"/>
                </a:solidFill>
                <a:latin typeface="Trenda IG Text"/>
              </a:rPr>
              <a:t>User stories and functional decomposition from the Jira story</a:t>
            </a:r>
          </a:p>
        </p:txBody>
      </p:sp>
      <p:sp>
        <p:nvSpPr>
          <p:cNvPr id="41" name="Shape 34"/>
          <p:cNvSpPr/>
          <p:nvPr/>
        </p:nvSpPr>
        <p:spPr>
          <a:xfrm>
            <a:off x="7955279" y="1786737"/>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43" name="Shape 36"/>
          <p:cNvSpPr/>
          <p:nvPr/>
        </p:nvSpPr>
        <p:spPr>
          <a:xfrm>
            <a:off x="3063240" y="200436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FFFFFF"/>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700" b="0" i="0">
                <a:solidFill>
                  <a:srgbClr val="BFBFBF"/>
                </a:solidFill>
                <a:latin typeface="Trenda IG Text"/>
              </a:rPr>
              <a:t>Impact and reuse from the graph; </a:t>
            </a:r>
            <a:r>
              <a:rPr sz="700" b="1" i="0">
                <a:solidFill>
                  <a:srgbClr val="00D6F2"/>
                </a:solidFill>
                <a:latin typeface="Trenda IG Text"/>
              </a:rPr>
              <a:t>Change Guardian</a:t>
            </a:r>
            <a:r>
              <a:rPr sz="700" b="0" i="0">
                <a:solidFill>
                  <a:srgbClr val="BFBFBF"/>
                </a:solidFill>
                <a:latin typeface="Trenda IG Text"/>
              </a:rPr>
              <a:t> flags cross-pod risk</a:t>
            </a:r>
          </a:p>
        </p:txBody>
      </p:sp>
      <p:sp>
        <p:nvSpPr>
          <p:cNvPr id="48" name="Shape 41"/>
          <p:cNvSpPr/>
          <p:nvPr/>
        </p:nvSpPr>
        <p:spPr>
          <a:xfrm>
            <a:off x="7955279" y="2039112"/>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50" name="Shape 43"/>
          <p:cNvSpPr/>
          <p:nvPr/>
        </p:nvSpPr>
        <p:spPr>
          <a:xfrm>
            <a:off x="3063240" y="225673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FFFFFF"/>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700" b="0" i="0">
                <a:solidFill>
                  <a:srgbClr val="BFBFBF"/>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57" name="Shape 50"/>
          <p:cNvSpPr/>
          <p:nvPr/>
        </p:nvSpPr>
        <p:spPr>
          <a:xfrm>
            <a:off x="3063240" y="250911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FFFFFF"/>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700" b="0" i="0">
                <a:solidFill>
                  <a:srgbClr val="BFBFBF"/>
                </a:solidFill>
                <a:latin typeface="Trenda IG Text"/>
              </a:rPr>
              <a:t>Quality, security and Ascension coding standards</a:t>
            </a:r>
          </a:p>
        </p:txBody>
      </p:sp>
      <p:sp>
        <p:nvSpPr>
          <p:cNvPr id="62" name="Shape 55"/>
          <p:cNvSpPr/>
          <p:nvPr/>
        </p:nvSpPr>
        <p:spPr>
          <a:xfrm>
            <a:off x="7955279" y="2543860"/>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64" name="Shape 57"/>
          <p:cNvSpPr/>
          <p:nvPr/>
        </p:nvSpPr>
        <p:spPr>
          <a:xfrm>
            <a:off x="3063240" y="276148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FFFFFF"/>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700" b="0" i="0">
                <a:solidFill>
                  <a:srgbClr val="BFBFBF"/>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71" name="Shape 64"/>
          <p:cNvSpPr/>
          <p:nvPr/>
        </p:nvSpPr>
        <p:spPr>
          <a:xfrm>
            <a:off x="3063240" y="301386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FFFFFF"/>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700" b="0" i="0">
                <a:solidFill>
                  <a:srgbClr val="BFBFBF"/>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78" name="Shape 71"/>
          <p:cNvSpPr/>
          <p:nvPr/>
        </p:nvSpPr>
        <p:spPr>
          <a:xfrm>
            <a:off x="3063240" y="3321100"/>
            <a:ext cx="5806440"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FFFFFF"/>
                </a:solidFill>
                <a:latin typeface="Trenda IG Text"/>
              </a:rPr>
              <a:t>CAMPAIGN AGENTS</a:t>
            </a:r>
            <a:r>
              <a:rPr sz="700" b="0" i="0">
                <a:solidFill>
                  <a:srgbClr val="FFFFFF"/>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700" b="0" i="0">
                <a:solidFill>
                  <a:srgbClr val="BFBFBF"/>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COORDINATES</a:t>
            </a:r>
          </a:p>
        </p:txBody>
      </p:sp>
      <p:sp>
        <p:nvSpPr>
          <p:cNvPr id="87" name="Shape 80"/>
          <p:cNvSpPr/>
          <p:nvPr/>
        </p:nvSpPr>
        <p:spPr>
          <a:xfrm>
            <a:off x="3063240" y="390265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700" b="0" i="0">
                <a:solidFill>
                  <a:srgbClr val="BFBFBF"/>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94" name="Shape 87"/>
          <p:cNvSpPr/>
          <p:nvPr/>
        </p:nvSpPr>
        <p:spPr>
          <a:xfrm>
            <a:off x="3063240" y="415503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FFFFFF"/>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101" name="Shape 94"/>
          <p:cNvSpPr/>
          <p:nvPr/>
        </p:nvSpPr>
        <p:spPr>
          <a:xfrm>
            <a:off x="3063240" y="440740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700" b="0" i="0">
                <a:solidFill>
                  <a:srgbClr val="BFBFBF"/>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700" b="1" i="0" spc="80">
                <a:solidFill>
                  <a:srgbClr val="FF0069"/>
                </a:solidFill>
                <a:latin typeface="Trenda IG Text"/>
              </a:rPr>
              <a:t>GUARD</a:t>
            </a:r>
          </a:p>
        </p:txBody>
      </p:sp>
      <p:sp>
        <p:nvSpPr>
          <p:cNvPr id="108" name="Shape 101"/>
          <p:cNvSpPr/>
          <p:nvPr/>
        </p:nvSpPr>
        <p:spPr>
          <a:xfrm>
            <a:off x="3063240" y="465978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700" b="0" i="0">
                <a:solidFill>
                  <a:srgbClr val="BFBFBF"/>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115" name="Shape 108"/>
          <p:cNvSpPr/>
          <p:nvPr/>
        </p:nvSpPr>
        <p:spPr>
          <a:xfrm>
            <a:off x="3063240" y="4912156"/>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FFFFFF"/>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700" b="0" i="0">
                <a:solidFill>
                  <a:srgbClr val="BFBFBF"/>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700" b="1" i="0" spc="80">
                <a:solidFill>
                  <a:srgbClr val="FF0069"/>
                </a:solidFill>
                <a:latin typeface="Trenda IG Text"/>
              </a:rPr>
              <a:t>GUARD</a:t>
            </a:r>
          </a:p>
        </p:txBody>
      </p:sp>
      <p:sp>
        <p:nvSpPr>
          <p:cNvPr id="122" name="Shape 115"/>
          <p:cNvSpPr/>
          <p:nvPr/>
        </p:nvSpPr>
        <p:spPr>
          <a:xfrm>
            <a:off x="3063240" y="5164531"/>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129" name="Shape 122"/>
          <p:cNvSpPr/>
          <p:nvPr/>
        </p:nvSpPr>
        <p:spPr>
          <a:xfrm>
            <a:off x="9006840" y="1170432"/>
            <a:ext cx="277063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31" name="Shape 124"/>
          <p:cNvSpPr/>
          <p:nvPr/>
        </p:nvSpPr>
        <p:spPr>
          <a:xfrm>
            <a:off x="9006840" y="1444752"/>
            <a:ext cx="2770632" cy="3995928"/>
          </a:xfrm>
          <a:prstGeom prst="rect">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700" b="0" i="0">
                <a:solidFill>
                  <a:srgbClr val="8C8C8C"/>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700" b="0" i="0">
                <a:solidFill>
                  <a:srgbClr val="FFFFFF"/>
                </a:solidFill>
                <a:latin typeface="Trenda IG Text"/>
              </a:rPr>
              <a:t>Apex, Flows, LWC, sharing, Health Cloud objects</a:t>
            </a:r>
          </a:p>
        </p:txBody>
      </p:sp>
      <p:sp>
        <p:nvSpPr>
          <p:cNvPr id="136" name="Shape 128"/>
          <p:cNvSpPr/>
          <p:nvPr/>
        </p:nvSpPr>
        <p:spPr>
          <a:xfrm>
            <a:off x="9116567" y="2267712"/>
            <a:ext cx="1060704" cy="164592"/>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1060704" cy="164592"/>
          </a:xfrm>
          <a:prstGeom prst="rect">
            <a:avLst/>
          </a:prstGeom>
          <a:noFill/>
        </p:spPr>
        <p:txBody>
          <a:bodyPr wrap="square" lIns="0" rIns="0" tIns="0" bIns="0" anchor="ctr">
            <a:spAutoFit/>
          </a:bodyPr>
          <a:lstStyle/>
          <a:p>
            <a:pPr algn="ctr"/>
            <a:r>
              <a:rPr sz="700" b="1" i="0" spc="80">
                <a:solidFill>
                  <a:srgbClr val="00D6F2"/>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FF0069"/>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700" b="0" i="0">
                <a:solidFill>
                  <a:srgbClr val="8C8C8C"/>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700" b="0" i="0">
                <a:solidFill>
                  <a:srgbClr val="FFFFFF"/>
                </a:solidFill>
                <a:latin typeface="Trenda IG Text"/>
              </a:rPr>
              <a:t>Data Cloud, SFMC SQL, AMPscript, journeys</a:t>
            </a:r>
          </a:p>
        </p:txBody>
      </p:sp>
      <p:sp>
        <p:nvSpPr>
          <p:cNvPr id="142" name="Shape 133"/>
          <p:cNvSpPr/>
          <p:nvPr/>
        </p:nvSpPr>
        <p:spPr>
          <a:xfrm>
            <a:off x="9116567" y="3291840"/>
            <a:ext cx="1704441" cy="164592"/>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704441" cy="164592"/>
          </a:xfrm>
          <a:prstGeom prst="rect">
            <a:avLst/>
          </a:prstGeom>
          <a:noFill/>
        </p:spPr>
        <p:txBody>
          <a:bodyPr wrap="square" lIns="0" rIns="0" tIns="0" bIns="0" anchor="ctr">
            <a:spAutoFit/>
          </a:bodyPr>
          <a:lstStyle/>
          <a:p>
            <a:pPr algn="ctr"/>
            <a:r>
              <a:rPr sz="700" b="1" i="0" spc="80">
                <a:solidFill>
                  <a:srgbClr val="FF0069"/>
                </a:solidFill>
                <a:latin typeface="Trenda IG Text"/>
              </a:rPr>
              <a:t>DELIVERY + CAMPAIGN AGENTS</a:t>
            </a:r>
          </a:p>
        </p:txBody>
      </p:sp>
      <p:sp>
        <p:nvSpPr>
          <p:cNvPr id="144" name="Shape 135"/>
          <p:cNvSpPr/>
          <p:nvPr/>
        </p:nvSpPr>
        <p:spPr>
          <a:xfrm>
            <a:off x="10875873" y="3291840"/>
            <a:ext cx="651052" cy="164592"/>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875873" y="3291840"/>
            <a:ext cx="651052" cy="164592"/>
          </a:xfrm>
          <a:prstGeom prst="rect">
            <a:avLst/>
          </a:prstGeom>
          <a:noFill/>
        </p:spPr>
        <p:txBody>
          <a:bodyPr wrap="square" lIns="0" rIns="0" tIns="0" bIns="0" anchor="ctr">
            <a:spAutoFit/>
          </a:bodyPr>
          <a:lstStyle/>
          <a:p>
            <a:pPr algn="ctr"/>
            <a:r>
              <a:rPr sz="700" b="1" i="0" spc="80">
                <a:solidFill>
                  <a:srgbClr val="FF0069"/>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700" b="0" i="0">
                <a:solidFill>
                  <a:srgbClr val="8C8C8C"/>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700" b="0" i="0">
                <a:solidFill>
                  <a:srgbClr val="FFFFFF"/>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2B07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700" b="0" i="0">
                <a:solidFill>
                  <a:srgbClr val="FFFFFF"/>
                </a:solidFill>
                <a:latin typeface="Trenda IG Text"/>
              </a:rPr>
              <a:t>A new pod adds its sources and skills, not new agents.</a:t>
            </a:r>
          </a:p>
        </p:txBody>
      </p:sp>
      <p:sp>
        <p:nvSpPr>
          <p:cNvPr id="151" name="Text 142"/>
          <p:cNvSpPr txBox="1"/>
          <p:nvPr/>
        </p:nvSpPr>
        <p:spPr>
          <a:xfrm>
            <a:off x="411480" y="5504688"/>
            <a:ext cx="1188720" cy="347472"/>
          </a:xfrm>
          <a:prstGeom prst="rect">
            <a:avLst/>
          </a:prstGeom>
          <a:noFill/>
        </p:spPr>
        <p:txBody>
          <a:bodyPr wrap="square" lIns="0" rIns="0" tIns="0" bIns="0" anchor="ctr">
            <a:spAutoFit/>
          </a:bodyPr>
          <a:lstStyle/>
          <a:p>
            <a:r>
              <a:rPr sz="700" b="1" i="0" spc="120">
                <a:solidFill>
                  <a:srgbClr val="00D6F2"/>
                </a:solidFill>
                <a:latin typeface="Trenda IG Text"/>
              </a:rPr>
              <a:t>DELIVERY PATH</a:t>
            </a:r>
          </a:p>
        </p:txBody>
      </p:sp>
      <p:sp>
        <p:nvSpPr>
          <p:cNvPr id="152" name="Shape 143"/>
          <p:cNvSpPr/>
          <p:nvPr/>
        </p:nvSpPr>
        <p:spPr>
          <a:xfrm>
            <a:off x="1645920"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AI build</a:t>
            </a:r>
          </a:p>
          <a:p>
            <a:pPr algn="ctr">
              <a:lnSpc>
                <a:spcPct val="90000"/>
              </a:lnSpc>
            </a:pPr>
            <a:r>
              <a:rPr sz="700" b="0" i="0">
                <a:solidFill>
                  <a:srgbClr val="BFBFBF"/>
                </a:solidFill>
                <a:latin typeface="Trenda IG Text"/>
              </a:rPr>
              <a:t>Developer Agent</a:t>
            </a:r>
          </a:p>
        </p:txBody>
      </p:sp>
      <p:cxnSp>
        <p:nvCxnSpPr>
          <p:cNvPr id="154" name="Arrow 145"/>
          <p:cNvCxnSpPr/>
          <p:nvPr/>
        </p:nvCxnSpPr>
        <p:spPr>
          <a:xfrm>
            <a:off x="2848356"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921508"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921508"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Copado</a:t>
            </a:r>
          </a:p>
          <a:p>
            <a:pPr algn="ctr">
              <a:lnSpc>
                <a:spcPct val="90000"/>
              </a:lnSpc>
            </a:pPr>
            <a:r>
              <a:rPr sz="700" b="0" i="0">
                <a:solidFill>
                  <a:srgbClr val="BFBFBF"/>
                </a:solidFill>
                <a:latin typeface="Trenda IG Text"/>
              </a:rPr>
              <a:t>Release Agent</a:t>
            </a:r>
          </a:p>
        </p:txBody>
      </p:sp>
      <p:cxnSp>
        <p:nvCxnSpPr>
          <p:cNvPr id="157" name="Arrow 148"/>
          <p:cNvCxnSpPr/>
          <p:nvPr/>
        </p:nvCxnSpPr>
        <p:spPr>
          <a:xfrm>
            <a:off x="4123944"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4197096"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4197096"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Quality gates</a:t>
            </a:r>
          </a:p>
          <a:p>
            <a:pPr algn="ctr">
              <a:lnSpc>
                <a:spcPct val="90000"/>
              </a:lnSpc>
            </a:pPr>
            <a:r>
              <a:rPr sz="700" b="0" i="0">
                <a:solidFill>
                  <a:srgbClr val="BFBFBF"/>
                </a:solidFill>
                <a:latin typeface="Trenda IG Text"/>
              </a:rPr>
              <a:t>Review + Test Agents</a:t>
            </a:r>
          </a:p>
        </p:txBody>
      </p:sp>
      <p:cxnSp>
        <p:nvCxnSpPr>
          <p:cNvPr id="160" name="Arrow 151"/>
          <p:cNvCxnSpPr/>
          <p:nvPr/>
        </p:nvCxnSpPr>
        <p:spPr>
          <a:xfrm>
            <a:off x="5399531"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472683"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472683"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DEV</a:t>
            </a:r>
          </a:p>
          <a:p>
            <a:pPr algn="ctr">
              <a:lnSpc>
                <a:spcPct val="90000"/>
              </a:lnSpc>
            </a:pPr>
            <a:r>
              <a:rPr sz="700" b="0" i="0">
                <a:solidFill>
                  <a:srgbClr val="BFBFBF"/>
                </a:solidFill>
                <a:latin typeface="Trenda IG Text"/>
              </a:rPr>
              <a:t>Release Agent</a:t>
            </a:r>
          </a:p>
        </p:txBody>
      </p:sp>
      <p:cxnSp>
        <p:nvCxnSpPr>
          <p:cNvPr id="163" name="Arrow 154"/>
          <p:cNvCxnSpPr/>
          <p:nvPr/>
        </p:nvCxnSpPr>
        <p:spPr>
          <a:xfrm>
            <a:off x="6675119"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748271"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748271"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SIT</a:t>
            </a:r>
          </a:p>
          <a:p>
            <a:pPr algn="ctr">
              <a:lnSpc>
                <a:spcPct val="90000"/>
              </a:lnSpc>
            </a:pPr>
            <a:r>
              <a:rPr sz="700" b="0" i="0">
                <a:solidFill>
                  <a:srgbClr val="BFBFBF"/>
                </a:solidFill>
                <a:latin typeface="Trenda IG Text"/>
              </a:rPr>
              <a:t>Test Agent</a:t>
            </a:r>
          </a:p>
        </p:txBody>
      </p:sp>
      <p:cxnSp>
        <p:nvCxnSpPr>
          <p:cNvPr id="166" name="Arrow 157"/>
          <p:cNvCxnSpPr/>
          <p:nvPr/>
        </p:nvCxnSpPr>
        <p:spPr>
          <a:xfrm>
            <a:off x="7950707"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8023859" y="5504688"/>
            <a:ext cx="1202436"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8023859" y="5504688"/>
            <a:ext cx="1202436"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UAT</a:t>
            </a:r>
          </a:p>
          <a:p>
            <a:pPr algn="ctr">
              <a:lnSpc>
                <a:spcPct val="90000"/>
              </a:lnSpc>
            </a:pPr>
            <a:r>
              <a:rPr sz="700" b="0" i="0">
                <a:solidFill>
                  <a:srgbClr val="FFD700"/>
                </a:solidFill>
                <a:latin typeface="Trenda IG Text"/>
              </a:rPr>
              <a:t>business users</a:t>
            </a:r>
          </a:p>
        </p:txBody>
      </p:sp>
      <p:cxnSp>
        <p:nvCxnSpPr>
          <p:cNvPr id="169" name="Arrow 160"/>
          <p:cNvCxnSpPr/>
          <p:nvPr/>
        </p:nvCxnSpPr>
        <p:spPr>
          <a:xfrm>
            <a:off x="9226295"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9299447" y="5504688"/>
            <a:ext cx="1202436"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9299447" y="5504688"/>
            <a:ext cx="1202436"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CAB</a:t>
            </a:r>
          </a:p>
          <a:p>
            <a:pPr algn="ctr">
              <a:lnSpc>
                <a:spcPct val="90000"/>
              </a:lnSpc>
            </a:pPr>
            <a:r>
              <a:rPr sz="700" b="0" i="0">
                <a:solidFill>
                  <a:srgbClr val="FFD700"/>
                </a:solidFill>
                <a:latin typeface="Trenda IG Text"/>
              </a:rPr>
              <a:t>change board</a:t>
            </a:r>
          </a:p>
        </p:txBody>
      </p:sp>
      <p:cxnSp>
        <p:nvCxnSpPr>
          <p:cNvPr id="172" name="Arrow 163"/>
          <p:cNvCxnSpPr/>
          <p:nvPr/>
        </p:nvCxnSpPr>
        <p:spPr>
          <a:xfrm>
            <a:off x="10501883"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10575035"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10575035"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PROD</a:t>
            </a:r>
          </a:p>
          <a:p>
            <a:pPr algn="ctr">
              <a:lnSpc>
                <a:spcPct val="90000"/>
              </a:lnSpc>
            </a:pPr>
            <a:r>
              <a:rPr sz="700" b="0" i="0">
                <a:solidFill>
                  <a:srgbClr val="BFBFBF"/>
                </a:solidFill>
                <a:latin typeface="Trenda IG Text"/>
              </a:rPr>
              <a:t>owning team</a:t>
            </a:r>
          </a:p>
        </p:txBody>
      </p:sp>
      <p:sp>
        <p:nvSpPr>
          <p:cNvPr id="175" name="Text 166"/>
          <p:cNvSpPr txBox="1"/>
          <p:nvPr/>
        </p:nvSpPr>
        <p:spPr>
          <a:xfrm>
            <a:off x="411480" y="5907024"/>
            <a:ext cx="1188720" cy="347472"/>
          </a:xfrm>
          <a:prstGeom prst="rect">
            <a:avLst/>
          </a:prstGeom>
          <a:noFill/>
        </p:spPr>
        <p:txBody>
          <a:bodyPr wrap="square" lIns="0" rIns="0" tIns="0" bIns="0" anchor="ctr">
            <a:spAutoFit/>
          </a:bodyPr>
          <a:lstStyle/>
          <a:p>
            <a:r>
              <a:rPr sz="700" b="1" i="0" spc="120">
                <a:solidFill>
                  <a:srgbClr val="FF0069"/>
                </a:solidFill>
                <a:latin typeface="Trenda IG Text"/>
              </a:rPr>
              <a:t>CAMPAIGN PATH</a:t>
            </a:r>
          </a:p>
        </p:txBody>
      </p:sp>
      <p:sp>
        <p:nvSpPr>
          <p:cNvPr id="176" name="Shape 167"/>
          <p:cNvSpPr/>
          <p:nvPr/>
        </p:nvSpPr>
        <p:spPr>
          <a:xfrm>
            <a:off x="1645920"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645920"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Prompt in Codex</a:t>
            </a:r>
          </a:p>
          <a:p>
            <a:pPr algn="ctr">
              <a:lnSpc>
                <a:spcPct val="90000"/>
              </a:lnSpc>
            </a:pPr>
            <a:r>
              <a:rPr sz="700" b="0" i="0">
                <a:solidFill>
                  <a:srgbClr val="BFBFBF"/>
                </a:solidFill>
                <a:latin typeface="Trenda IG Text"/>
              </a:rPr>
              <a:t>Orchestrator</a:t>
            </a:r>
          </a:p>
        </p:txBody>
      </p:sp>
      <p:cxnSp>
        <p:nvCxnSpPr>
          <p:cNvPr id="178" name="Arrow 169"/>
          <p:cNvCxnSpPr/>
          <p:nvPr/>
        </p:nvCxnSpPr>
        <p:spPr>
          <a:xfrm>
            <a:off x="3273552"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70"/>
          <p:cNvSpPr/>
          <p:nvPr/>
        </p:nvSpPr>
        <p:spPr>
          <a:xfrm>
            <a:off x="3346704"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3346704"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Gold A insights</a:t>
            </a:r>
          </a:p>
          <a:p>
            <a:pPr algn="ctr">
              <a:lnSpc>
                <a:spcPct val="90000"/>
              </a:lnSpc>
            </a:pPr>
            <a:r>
              <a:rPr sz="700" b="0" i="0">
                <a:solidFill>
                  <a:srgbClr val="BFBFBF"/>
                </a:solidFill>
                <a:latin typeface="Trenda IG Text"/>
              </a:rPr>
              <a:t>Strategist + Analytics</a:t>
            </a:r>
          </a:p>
        </p:txBody>
      </p:sp>
      <p:cxnSp>
        <p:nvCxnSpPr>
          <p:cNvPr id="181" name="Arrow 172"/>
          <p:cNvCxnSpPr/>
          <p:nvPr/>
        </p:nvCxnSpPr>
        <p:spPr>
          <a:xfrm>
            <a:off x="4974336"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5047488"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5047488"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Build + test</a:t>
            </a:r>
          </a:p>
          <a:p>
            <a:pPr algn="ctr">
              <a:lnSpc>
                <a:spcPct val="90000"/>
              </a:lnSpc>
            </a:pPr>
            <a:r>
              <a:rPr sz="700" b="0" i="0">
                <a:solidFill>
                  <a:srgbClr val="BFBFBF"/>
                </a:solidFill>
                <a:latin typeface="Trenda IG Text"/>
              </a:rPr>
              <a:t>Design + Readiness</a:t>
            </a:r>
          </a:p>
        </p:txBody>
      </p:sp>
      <p:cxnSp>
        <p:nvCxnSpPr>
          <p:cNvPr id="184" name="Arrow 175"/>
          <p:cNvCxnSpPr/>
          <p:nvPr/>
        </p:nvCxnSpPr>
        <p:spPr>
          <a:xfrm>
            <a:off x="6675120"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6748272" y="5907024"/>
            <a:ext cx="1627632"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6748272" y="5907024"/>
            <a:ext cx="1627632"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Pre-send review</a:t>
            </a:r>
          </a:p>
          <a:p>
            <a:pPr algn="ctr">
              <a:lnSpc>
                <a:spcPct val="90000"/>
              </a:lnSpc>
            </a:pPr>
            <a:r>
              <a:rPr sz="700" b="0" i="0">
                <a:solidFill>
                  <a:srgbClr val="FFD700"/>
                </a:solidFill>
                <a:latin typeface="Trenda IG Text"/>
              </a:rPr>
              <a:t>SME + tech lead</a:t>
            </a:r>
          </a:p>
        </p:txBody>
      </p:sp>
      <p:cxnSp>
        <p:nvCxnSpPr>
          <p:cNvPr id="187" name="Arrow 178"/>
          <p:cNvCxnSpPr/>
          <p:nvPr/>
        </p:nvCxnSpPr>
        <p:spPr>
          <a:xfrm>
            <a:off x="8375904"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8449056"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8449056"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Gateway release</a:t>
            </a:r>
          </a:p>
          <a:p>
            <a:pPr algn="ctr">
              <a:lnSpc>
                <a:spcPct val="90000"/>
              </a:lnSpc>
            </a:pPr>
            <a:r>
              <a:rPr sz="700" b="0" i="0">
                <a:solidFill>
                  <a:srgbClr val="BFBFBF"/>
                </a:solidFill>
                <a:latin typeface="Trenda IG Text"/>
              </a:rPr>
              <a:t>policy service</a:t>
            </a:r>
          </a:p>
        </p:txBody>
      </p:sp>
      <p:cxnSp>
        <p:nvCxnSpPr>
          <p:cNvPr id="190" name="Arrow 181"/>
          <p:cNvCxnSpPr/>
          <p:nvPr/>
        </p:nvCxnSpPr>
        <p:spPr>
          <a:xfrm>
            <a:off x="10076688"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10149840"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10149840"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Journey runs</a:t>
            </a:r>
          </a:p>
          <a:p>
            <a:pPr algn="ctr">
              <a:lnSpc>
                <a:spcPct val="90000"/>
              </a:lnSpc>
            </a:pPr>
            <a:r>
              <a:rPr sz="700" b="0" i="0">
                <a:solidFill>
                  <a:srgbClr val="BFBFBF"/>
                </a:solidFill>
                <a:latin typeface="Trenda IG Text"/>
              </a:rPr>
              <a:t>Marketing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Codex is the engine; the harness is everything around it. New: a masked data context, Collibra masking, a Compliance Guardian with a policy engine,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FFFFFF"/>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FFFFFF"/>
                </a:solidFill>
                <a:latin typeface="Trenda IG Text"/>
              </a:rPr>
              <a:t>Harness</a:t>
            </a:r>
          </a:p>
          <a:p>
            <a:pPr>
              <a:lnSpc>
                <a:spcPct val="90000"/>
              </a:lnSpc>
            </a:pPr>
            <a:r>
              <a:rPr sz="1000" b="0" i="0">
                <a:solidFill>
                  <a:srgbClr val="FFFFFF"/>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FFFFFF"/>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700" b="0" i="0">
                <a:solidFill>
                  <a:srgbClr val="BFBFBF"/>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FFFFFF"/>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700" b="0" i="0">
                <a:solidFill>
                  <a:srgbClr val="BFBFBF"/>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FFFFFF"/>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700" b="0" i="0">
                <a:solidFill>
                  <a:srgbClr val="BFBFBF"/>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FFFFFF"/>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700" b="0" i="0">
                <a:solidFill>
                  <a:srgbClr val="BFBFBF"/>
                </a:solidFill>
                <a:latin typeface="Trenda IG Text"/>
              </a:rPr>
              <a:t>masked dashboards, pre-send report</a:t>
            </a:r>
          </a:p>
        </p:txBody>
      </p:sp>
      <p:sp>
        <p:nvSpPr>
          <p:cNvPr id="31" name="Shape 25"/>
          <p:cNvSpPr/>
          <p:nvPr/>
        </p:nvSpPr>
        <p:spPr>
          <a:xfrm>
            <a:off x="1819656" y="3986784"/>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FFFFFF"/>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700" b="0" i="0">
                <a:solidFill>
                  <a:srgbClr val="BFBFBF"/>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FFFFF"/>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700" b="0" i="0">
                <a:solidFill>
                  <a:srgbClr val="8C8C8C"/>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FFFFF"/>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FFFFF"/>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F0069"/>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700" b="1" i="0" spc="150">
                <a:solidFill>
                  <a:srgbClr val="FFD7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700" b="0" i="0">
                <a:solidFill>
                  <a:srgbClr val="FFFFFF"/>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700" b="0" i="0">
                <a:solidFill>
                  <a:srgbClr val="FFFFFF"/>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700" b="0" i="0">
                <a:solidFill>
                  <a:srgbClr val="FFFFFF"/>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700" b="0" i="0">
                <a:solidFill>
                  <a:srgbClr val="FFFFFF"/>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700" b="0" i="0">
                <a:solidFill>
                  <a:srgbClr val="FFFFFF"/>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700" b="0" i="0">
                <a:solidFill>
                  <a:srgbClr val="FFFFFF"/>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700" b="1" i="0">
                <a:solidFill>
                  <a:srgbClr val="FF0069"/>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FFFFF"/>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700" b="0" i="0">
                <a:solidFill>
                  <a:srgbClr val="8C8C8C"/>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860" b="1" i="0">
                <a:solidFill>
                  <a:srgbClr val="00D6F2"/>
                </a:solidFill>
                <a:latin typeface="Trenda IG Text"/>
              </a:rPr>
              <a:t>Change Guardian</a:t>
            </a:r>
          </a:p>
        </p:txBody>
      </p:sp>
      <p:sp>
        <p:nvSpPr>
          <p:cNvPr id="88" name="Shape 81"/>
          <p:cNvSpPr/>
          <p:nvPr/>
        </p:nvSpPr>
        <p:spPr>
          <a:xfrm>
            <a:off x="7854696" y="2423160"/>
            <a:ext cx="694944"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7854696" y="2423160"/>
            <a:ext cx="694944" cy="155448"/>
          </a:xfrm>
          <a:prstGeom prst="rect">
            <a:avLst/>
          </a:prstGeom>
          <a:noFill/>
        </p:spPr>
        <p:txBody>
          <a:bodyPr wrap="square" lIns="0" rIns="0" tIns="0" bIns="0" anchor="ctr">
            <a:spAutoFit/>
          </a:bodyPr>
          <a:lstStyle/>
          <a:p>
            <a:pPr algn="ctr"/>
            <a:r>
              <a:rPr sz="700" b="1" i="0" spc="80">
                <a:solidFill>
                  <a:srgbClr val="000000"/>
                </a:solidFill>
                <a:latin typeface="Trenda IG Text"/>
              </a:rPr>
              <a:t>WE BUILD IT</a:t>
            </a:r>
          </a:p>
        </p:txBody>
      </p:sp>
      <p:sp>
        <p:nvSpPr>
          <p:cNvPr id="90" name="Text 83"/>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FFFFFF"/>
                </a:solidFill>
                <a:latin typeface="Trenda IG Text"/>
              </a:rPr>
              <a:t>Guardrails in + out · Model Armor</a:t>
            </a:r>
          </a:p>
        </p:txBody>
      </p:sp>
      <p:sp>
        <p:nvSpPr>
          <p:cNvPr id="91" name="Text 84"/>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FFFFFF"/>
                </a:solidFill>
                <a:latin typeface="Trenda IG Text"/>
              </a:rPr>
              <a:t>Identity + access</a:t>
            </a:r>
          </a:p>
        </p:txBody>
      </p:sp>
      <p:sp>
        <p:nvSpPr>
          <p:cNvPr id="92" name="Text 85"/>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FF0069"/>
                </a:solidFill>
                <a:latin typeface="Trenda IG Text"/>
              </a:rPr>
              <a:t>Collibra masking + DLP</a:t>
            </a:r>
          </a:p>
        </p:txBody>
      </p:sp>
      <p:sp>
        <p:nvSpPr>
          <p:cNvPr id="93" name="Shape 86"/>
          <p:cNvSpPr/>
          <p:nvPr/>
        </p:nvSpPr>
        <p:spPr>
          <a:xfrm>
            <a:off x="8202167" y="3474720"/>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87"/>
          <p:cNvSpPr txBox="1"/>
          <p:nvPr/>
        </p:nvSpPr>
        <p:spPr>
          <a:xfrm>
            <a:off x="8202167" y="3474720"/>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95" name="Text 88"/>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FF0069"/>
                </a:solidFill>
                <a:latin typeface="Trenda IG Text"/>
              </a:rPr>
              <a:t>Compliance Guardian + policy engine</a:t>
            </a:r>
          </a:p>
        </p:txBody>
      </p:sp>
      <p:sp>
        <p:nvSpPr>
          <p:cNvPr id="96" name="Shape 89"/>
          <p:cNvSpPr/>
          <p:nvPr/>
        </p:nvSpPr>
        <p:spPr>
          <a:xfrm>
            <a:off x="8202167" y="3822191"/>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0"/>
          <p:cNvSpPr txBox="1"/>
          <p:nvPr/>
        </p:nvSpPr>
        <p:spPr>
          <a:xfrm>
            <a:off x="8202167" y="3822191"/>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98" name="Text 91"/>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FFFFFF"/>
                </a:solidFill>
                <a:latin typeface="Trenda IG Text"/>
              </a:rPr>
              <a:t>Human gates H1-H4, CAB, G1-G3</a:t>
            </a:r>
          </a:p>
        </p:txBody>
      </p:sp>
      <p:sp>
        <p:nvSpPr>
          <p:cNvPr id="99" name="Text 92"/>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FFFFFF"/>
                </a:solidFill>
                <a:latin typeface="Trenda IG Text"/>
              </a:rPr>
              <a:t>Evaluation set</a:t>
            </a:r>
          </a:p>
        </p:txBody>
      </p:sp>
      <p:sp>
        <p:nvSpPr>
          <p:cNvPr id="100" name="Text 93"/>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FFFFFF"/>
                </a:solidFill>
                <a:latin typeface="Trenda IG Text"/>
              </a:rPr>
              <a:t>Observability + change passport</a:t>
            </a:r>
          </a:p>
        </p:txBody>
      </p:sp>
      <p:sp>
        <p:nvSpPr>
          <p:cNvPr id="101" name="Text 94"/>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F0069"/>
                </a:solidFill>
                <a:latin typeface="Trenda IG Text"/>
              </a:rPr>
              <a:t>Differentiators</a:t>
            </a:r>
          </a:p>
        </p:txBody>
      </p:sp>
      <p:sp>
        <p:nvSpPr>
          <p:cNvPr id="102" name="Shape 95"/>
          <p:cNvSpPr/>
          <p:nvPr/>
        </p:nvSpPr>
        <p:spPr>
          <a:xfrm>
            <a:off x="8915400" y="1938528"/>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Shape 96"/>
          <p:cNvSpPr/>
          <p:nvPr/>
        </p:nvSpPr>
        <p:spPr>
          <a:xfrm>
            <a:off x="9025128" y="2066544"/>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97"/>
          <p:cNvSpPr txBox="1"/>
          <p:nvPr/>
        </p:nvSpPr>
        <p:spPr>
          <a:xfrm>
            <a:off x="9025128" y="2066544"/>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105" name="Text 98"/>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FFFFF"/>
                </a:solidFill>
                <a:latin typeface="Trenda IG Text"/>
              </a:rPr>
              <a:t>Grounded in the org and its data</a:t>
            </a:r>
          </a:p>
        </p:txBody>
      </p:sp>
      <p:sp>
        <p:nvSpPr>
          <p:cNvPr id="106" name="Text 99"/>
          <p:cNvSpPr txBox="1"/>
          <p:nvPr/>
        </p:nvSpPr>
        <p:spPr>
          <a:xfrm>
            <a:off x="9390888" y="2286000"/>
            <a:ext cx="2313432" cy="420624"/>
          </a:xfrm>
          <a:prstGeom prst="rect">
            <a:avLst/>
          </a:prstGeom>
          <a:noFill/>
        </p:spPr>
        <p:txBody>
          <a:bodyPr wrap="square" lIns="0" rIns="0" tIns="0" bIns="0" anchor="t">
            <a:spAutoFit/>
          </a:bodyPr>
          <a:lstStyle/>
          <a:p>
            <a:r>
              <a:rPr sz="700" b="0" i="0">
                <a:solidFill>
                  <a:srgbClr val="BFBFBF"/>
                </a:solidFill>
                <a:latin typeface="Trenda IG Text"/>
              </a:rPr>
              <a:t>Agents read a cited graph of the delivery estate, and masked aggregates for campaigns.</a:t>
            </a:r>
          </a:p>
        </p:txBody>
      </p:sp>
      <p:sp>
        <p:nvSpPr>
          <p:cNvPr id="107" name="Text 100"/>
          <p:cNvSpPr txBox="1"/>
          <p:nvPr/>
        </p:nvSpPr>
        <p:spPr>
          <a:xfrm>
            <a:off x="9390888" y="2706624"/>
            <a:ext cx="2313432" cy="182880"/>
          </a:xfrm>
          <a:prstGeom prst="rect">
            <a:avLst/>
          </a:prstGeom>
          <a:noFill/>
        </p:spPr>
        <p:txBody>
          <a:bodyPr wrap="square" lIns="0" rIns="0" tIns="0" bIns="0" anchor="t">
            <a:spAutoFit/>
          </a:bodyPr>
          <a:lstStyle/>
          <a:p>
            <a:r>
              <a:rPr sz="700" b="0" i="0">
                <a:solidFill>
                  <a:srgbClr val="FF0069"/>
                </a:solidFill>
                <a:latin typeface="Trenda IG Text"/>
              </a:rPr>
              <a:t>Ask before build.</a:t>
            </a:r>
          </a:p>
        </p:txBody>
      </p:sp>
      <p:sp>
        <p:nvSpPr>
          <p:cNvPr id="108" name="Shape 101"/>
          <p:cNvSpPr/>
          <p:nvPr/>
        </p:nvSpPr>
        <p:spPr>
          <a:xfrm>
            <a:off x="8915400" y="3054096"/>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9025128" y="3182112"/>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9025128" y="3182112"/>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111" name="Text 104"/>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FFFFF"/>
                </a:solidFill>
                <a:latin typeface="Trenda IG Text"/>
              </a:rPr>
              <a:t>No pod breaks another</a:t>
            </a:r>
          </a:p>
        </p:txBody>
      </p:sp>
      <p:sp>
        <p:nvSpPr>
          <p:cNvPr id="112" name="Text 105"/>
          <p:cNvSpPr txBox="1"/>
          <p:nvPr/>
        </p:nvSpPr>
        <p:spPr>
          <a:xfrm>
            <a:off x="9390888" y="3401568"/>
            <a:ext cx="2313432" cy="420624"/>
          </a:xfrm>
          <a:prstGeom prst="rect">
            <a:avLst/>
          </a:prstGeom>
          <a:noFill/>
        </p:spPr>
        <p:txBody>
          <a:bodyPr wrap="square" lIns="0" rIns="0" tIns="0" bIns="0" anchor="t">
            <a:spAutoFit/>
          </a:bodyPr>
          <a:lstStyle/>
          <a:p>
            <a:r>
              <a:rPr sz="700" b="0" i="0">
                <a:solidFill>
                  <a:srgbClr val="BFBFBF"/>
                </a:solidFill>
                <a:latin typeface="Trenda IG Text"/>
              </a:rPr>
              <a:t>The </a:t>
            </a:r>
            <a:r>
              <a:rPr sz="700" b="1" i="0">
                <a:solidFill>
                  <a:srgbClr val="00D6F2"/>
                </a:solidFill>
                <a:latin typeface="Trenda IG Text"/>
              </a:rPr>
              <a:t>Change Guardian</a:t>
            </a:r>
            <a:r>
              <a:rPr sz="700" b="0" i="0">
                <a:solidFill>
                  <a:srgbClr val="BFBFBF"/>
                </a:solidFill>
                <a:latin typeface="Trenda IG Text"/>
              </a:rPr>
              <a:t> checks every change against who owns and uses it.</a:t>
            </a:r>
          </a:p>
        </p:txBody>
      </p:sp>
      <p:sp>
        <p:nvSpPr>
          <p:cNvPr id="113" name="Text 106"/>
          <p:cNvSpPr txBox="1"/>
          <p:nvPr/>
        </p:nvSpPr>
        <p:spPr>
          <a:xfrm>
            <a:off x="9390888" y="3822191"/>
            <a:ext cx="2313432" cy="182880"/>
          </a:xfrm>
          <a:prstGeom prst="rect">
            <a:avLst/>
          </a:prstGeom>
          <a:noFill/>
        </p:spPr>
        <p:txBody>
          <a:bodyPr wrap="square" lIns="0" rIns="0" tIns="0" bIns="0" anchor="t">
            <a:spAutoFit/>
          </a:bodyPr>
          <a:lstStyle/>
          <a:p>
            <a:r>
              <a:rPr sz="700" b="0" i="0">
                <a:solidFill>
                  <a:srgbClr val="FF0069"/>
                </a:solidFill>
                <a:latin typeface="Trenda IG Text"/>
              </a:rPr>
              <a:t>Governed by design.</a:t>
            </a:r>
          </a:p>
        </p:txBody>
      </p:sp>
      <p:sp>
        <p:nvSpPr>
          <p:cNvPr id="114" name="Shape 107"/>
          <p:cNvSpPr/>
          <p:nvPr/>
        </p:nvSpPr>
        <p:spPr>
          <a:xfrm>
            <a:off x="8915400" y="4169663"/>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Shape 108"/>
          <p:cNvSpPr/>
          <p:nvPr/>
        </p:nvSpPr>
        <p:spPr>
          <a:xfrm>
            <a:off x="9025128" y="4297679"/>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09"/>
          <p:cNvSpPr txBox="1"/>
          <p:nvPr/>
        </p:nvSpPr>
        <p:spPr>
          <a:xfrm>
            <a:off x="9025128" y="4297679"/>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117" name="Text 110"/>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FFFFF"/>
                </a:solidFill>
                <a:latin typeface="Trenda IG Text"/>
              </a:rPr>
              <a:t>Minimum-data agent access</a:t>
            </a:r>
          </a:p>
        </p:txBody>
      </p:sp>
      <p:sp>
        <p:nvSpPr>
          <p:cNvPr id="118" name="Text 111"/>
          <p:cNvSpPr txBox="1"/>
          <p:nvPr/>
        </p:nvSpPr>
        <p:spPr>
          <a:xfrm>
            <a:off x="9390888" y="4517136"/>
            <a:ext cx="2313432" cy="420624"/>
          </a:xfrm>
          <a:prstGeom prst="rect">
            <a:avLst/>
          </a:prstGeom>
          <a:noFill/>
        </p:spPr>
        <p:txBody>
          <a:bodyPr wrap="square" lIns="0" rIns="0" tIns="0" bIns="0" anchor="t">
            <a:spAutoFit/>
          </a:bodyPr>
          <a:lstStyle/>
          <a:p>
            <a:r>
              <a:rPr sz="700" b="0" i="0">
                <a:solidFill>
                  <a:srgbClr val="BFBFBF"/>
                </a:solidFill>
                <a:latin typeface="Trenda IG Text"/>
              </a:rPr>
              <a:t>Agents get aggregates and masked views, never raw PHI; patient data leaves only through the gateway.</a:t>
            </a:r>
          </a:p>
        </p:txBody>
      </p:sp>
      <p:sp>
        <p:nvSpPr>
          <p:cNvPr id="119" name="Text 112"/>
          <p:cNvSpPr txBox="1"/>
          <p:nvPr/>
        </p:nvSpPr>
        <p:spPr>
          <a:xfrm>
            <a:off x="9390888" y="4937759"/>
            <a:ext cx="2313432" cy="182880"/>
          </a:xfrm>
          <a:prstGeom prst="rect">
            <a:avLst/>
          </a:prstGeom>
          <a:noFill/>
        </p:spPr>
        <p:txBody>
          <a:bodyPr wrap="square" lIns="0" rIns="0" tIns="0" bIns="0" anchor="t">
            <a:spAutoFit/>
          </a:bodyPr>
          <a:lstStyle/>
          <a:p>
            <a:r>
              <a:rPr sz="700" b="0" i="0">
                <a:solidFill>
                  <a:srgbClr val="FF0069"/>
                </a:solidFill>
                <a:latin typeface="Trenda IG Text"/>
              </a:rPr>
              <a:t>Private by design.</a:t>
            </a:r>
          </a:p>
        </p:txBody>
      </p:sp>
      <p:sp>
        <p:nvSpPr>
          <p:cNvPr id="120" name="Shape 113"/>
          <p:cNvSpPr/>
          <p:nvPr/>
        </p:nvSpPr>
        <p:spPr>
          <a:xfrm>
            <a:off x="411480" y="5394960"/>
            <a:ext cx="11365992" cy="868680"/>
          </a:xfrm>
          <a:prstGeom prst="roundRect">
            <a:avLst>
              <a:gd name="adj" fmla="val 40000"/>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31520" y="5468112"/>
            <a:ext cx="1965960" cy="182880"/>
          </a:xfrm>
          <a:prstGeom prst="rect">
            <a:avLst/>
          </a:prstGeom>
          <a:noFill/>
        </p:spPr>
        <p:txBody>
          <a:bodyPr wrap="square" lIns="0" rIns="0" tIns="0" bIns="0" anchor="t">
            <a:spAutoFit/>
          </a:bodyPr>
          <a:lstStyle/>
          <a:p>
            <a:r>
              <a:rPr sz="700" b="1" i="0" spc="60">
                <a:solidFill>
                  <a:srgbClr val="FFFFFF"/>
                </a:solidFill>
                <a:latin typeface="Trenda IG Text"/>
              </a:rPr>
              <a:t>ASCENSION CORE COMPONENTS</a:t>
            </a:r>
          </a:p>
        </p:txBody>
      </p:sp>
      <p:sp>
        <p:nvSpPr>
          <p:cNvPr id="122" name="Text 115"/>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FFFFF"/>
                </a:solidFill>
                <a:latin typeface="Trenda IG Text"/>
              </a:rPr>
              <a:t>Infrastructure</a:t>
            </a:r>
          </a:p>
          <a:p>
            <a:r>
              <a:rPr sz="700" b="0" i="0">
                <a:solidFill>
                  <a:srgbClr val="BFBFBF"/>
                </a:solidFill>
                <a:latin typeface="Trenda IG Text"/>
              </a:rPr>
              <a:t>Runs in Ascension's cloud</a:t>
            </a:r>
          </a:p>
        </p:txBody>
      </p:sp>
      <p:pic>
        <p:nvPicPr>
          <p:cNvPr id="123" name="Picture 122"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4" name="Text 116"/>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Salesforce</a:t>
            </a:r>
          </a:p>
        </p:txBody>
      </p:sp>
      <p:sp>
        <p:nvSpPr>
          <p:cNvPr id="125" name="Text 117"/>
          <p:cNvSpPr txBox="1"/>
          <p:nvPr/>
        </p:nvSpPr>
        <p:spPr>
          <a:xfrm>
            <a:off x="3017520" y="5760720"/>
            <a:ext cx="1404518" cy="411480"/>
          </a:xfrm>
          <a:prstGeom prst="rect">
            <a:avLst/>
          </a:prstGeom>
          <a:noFill/>
        </p:spPr>
        <p:txBody>
          <a:bodyPr wrap="square" lIns="0" rIns="0" tIns="0" bIns="0" anchor="t">
            <a:spAutoFit/>
          </a:bodyPr>
          <a:lstStyle/>
          <a:p>
            <a:r>
              <a:rPr sz="700" b="0" i="0">
                <a:solidFill>
                  <a:srgbClr val="BFBFBF"/>
                </a:solidFill>
                <a:latin typeface="Trenda IG Text"/>
              </a:rPr>
              <a:t>Health, Marketing + Data Cloud</a:t>
            </a:r>
          </a:p>
        </p:txBody>
      </p:sp>
      <p:pic>
        <p:nvPicPr>
          <p:cNvPr id="126" name="Picture 125" descr="git.png"/>
          <p:cNvPicPr>
            <a:picLocks noChangeAspect="1"/>
          </p:cNvPicPr>
          <p:nvPr/>
        </p:nvPicPr>
        <p:blipFill>
          <a:blip r:embed="rId8"/>
          <a:stretch>
            <a:fillRect/>
          </a:stretch>
        </p:blipFill>
        <p:spPr>
          <a:xfrm>
            <a:off x="4513478" y="5522976"/>
            <a:ext cx="201168" cy="201168"/>
          </a:xfrm>
          <a:prstGeom prst="rect">
            <a:avLst/>
          </a:prstGeom>
        </p:spPr>
      </p:pic>
      <p:sp>
        <p:nvSpPr>
          <p:cNvPr id="127" name="Text 118"/>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Delivery</a:t>
            </a:r>
          </a:p>
        </p:txBody>
      </p:sp>
      <p:sp>
        <p:nvSpPr>
          <p:cNvPr id="128" name="Text 119"/>
          <p:cNvSpPr txBox="1"/>
          <p:nvPr/>
        </p:nvSpPr>
        <p:spPr>
          <a:xfrm>
            <a:off x="4787798" y="5760720"/>
            <a:ext cx="1404518" cy="411480"/>
          </a:xfrm>
          <a:prstGeom prst="rect">
            <a:avLst/>
          </a:prstGeom>
          <a:noFill/>
        </p:spPr>
        <p:txBody>
          <a:bodyPr wrap="square" lIns="0" rIns="0" tIns="0" bIns="0" anchor="t">
            <a:spAutoFit/>
          </a:bodyPr>
          <a:lstStyle/>
          <a:p>
            <a:r>
              <a:rPr sz="700" b="0" i="0">
                <a:solidFill>
                  <a:srgbClr val="BFBFBF"/>
                </a:solidFill>
                <a:latin typeface="Trenda IG Text"/>
              </a:rPr>
              <a:t>Copado, Git, Jira, Zephyr</a:t>
            </a:r>
          </a:p>
        </p:txBody>
      </p:sp>
      <p:pic>
        <p:nvPicPr>
          <p:cNvPr id="129" name="Picture 128"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30" name="Text 120"/>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FF0069"/>
                </a:solidFill>
                <a:latin typeface="Trenda IG Text"/>
              </a:rPr>
              <a:t>Data</a:t>
            </a:r>
          </a:p>
        </p:txBody>
      </p:sp>
      <p:sp>
        <p:nvSpPr>
          <p:cNvPr id="131" name="Text 121"/>
          <p:cNvSpPr txBox="1"/>
          <p:nvPr/>
        </p:nvSpPr>
        <p:spPr>
          <a:xfrm>
            <a:off x="6558076" y="5760720"/>
            <a:ext cx="1404518" cy="411480"/>
          </a:xfrm>
          <a:prstGeom prst="rect">
            <a:avLst/>
          </a:prstGeom>
          <a:noFill/>
        </p:spPr>
        <p:txBody>
          <a:bodyPr wrap="square" lIns="0" rIns="0" tIns="0" bIns="0" anchor="t">
            <a:spAutoFit/>
          </a:bodyPr>
          <a:lstStyle/>
          <a:p>
            <a:r>
              <a:rPr sz="700" b="0" i="0">
                <a:solidFill>
                  <a:srgbClr val="BFBFBF"/>
                </a:solidFill>
                <a:latin typeface="Trenda IG Text"/>
              </a:rPr>
              <a:t>BigQuery, Collibra, DLP, Tableau, Spanner</a:t>
            </a:r>
          </a:p>
        </p:txBody>
      </p:sp>
      <p:pic>
        <p:nvPicPr>
          <p:cNvPr id="132" name="Picture 131"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3" name="Text 122"/>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Models</a:t>
            </a:r>
          </a:p>
        </p:txBody>
      </p:sp>
      <p:sp>
        <p:nvSpPr>
          <p:cNvPr id="134" name="Text 123"/>
          <p:cNvSpPr txBox="1"/>
          <p:nvPr/>
        </p:nvSpPr>
        <p:spPr>
          <a:xfrm>
            <a:off x="8328355" y="5760720"/>
            <a:ext cx="1404518" cy="411480"/>
          </a:xfrm>
          <a:prstGeom prst="rect">
            <a:avLst/>
          </a:prstGeom>
          <a:noFill/>
        </p:spPr>
        <p:txBody>
          <a:bodyPr wrap="square" lIns="0" rIns="0" tIns="0" bIns="0" anchor="t">
            <a:spAutoFit/>
          </a:bodyPr>
          <a:lstStyle/>
          <a:p>
            <a:r>
              <a:rPr sz="700" b="0" i="0">
                <a:solidFill>
                  <a:srgbClr val="BFBFBF"/>
                </a:solidFill>
                <a:latin typeface="Trenda IG Text"/>
              </a:rPr>
              <a:t>Codex Enterprise; model in config; tools via MCP</a:t>
            </a:r>
          </a:p>
        </p:txBody>
      </p:sp>
      <p:pic>
        <p:nvPicPr>
          <p:cNvPr id="135" name="Picture 134"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6" name="Text 124"/>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Cloud</a:t>
            </a:r>
          </a:p>
        </p:txBody>
      </p:sp>
      <p:sp>
        <p:nvSpPr>
          <p:cNvPr id="137" name="Text 125"/>
          <p:cNvSpPr txBox="1"/>
          <p:nvPr/>
        </p:nvSpPr>
        <p:spPr>
          <a:xfrm>
            <a:off x="10098633" y="5760720"/>
            <a:ext cx="1404518" cy="411480"/>
          </a:xfrm>
          <a:prstGeom prst="rect">
            <a:avLst/>
          </a:prstGeom>
          <a:noFill/>
        </p:spPr>
        <p:txBody>
          <a:bodyPr wrap="square" lIns="0" rIns="0" tIns="0" bIns="0" anchor="t">
            <a:spAutoFit/>
          </a:bodyPr>
          <a:lstStyle/>
          <a:p>
            <a:r>
              <a:rPr sz="700" b="0" i="0">
                <a:solidFill>
                  <a:srgbClr val="BFBFBF"/>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FFFFF"/>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700" b="0" i="0">
                <a:solidFill>
                  <a:srgbClr val="BFBFBF"/>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06262B"/>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2B2508"/>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User stories and functional decomposition from the Jira story; open questions flagged.</a:t>
            </a:r>
          </a:p>
        </p:txBody>
      </p:sp>
      <p:sp>
        <p:nvSpPr>
          <p:cNvPr id="26" name="Shape 24"/>
          <p:cNvSpPr/>
          <p:nvPr/>
        </p:nvSpPr>
        <p:spPr>
          <a:xfrm>
            <a:off x="937259"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black.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black.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black.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black.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FFFFF"/>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700" b="0" i="0">
                <a:solidFill>
                  <a:srgbClr val="BFBFBF"/>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1333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1333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1333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1333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780276" y="1984248"/>
            <a:ext cx="237744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780276" y="1984248"/>
            <a:ext cx="2377440" cy="164592"/>
          </a:xfrm>
          <a:prstGeom prst="rect">
            <a:avLst/>
          </a:prstGeom>
          <a:noFill/>
        </p:spPr>
        <p:txBody>
          <a:bodyPr wrap="square" lIns="0" rIns="0" tIns="0" bIns="0" anchor="ctr">
            <a:spAutoFit/>
          </a:bodyPr>
          <a:lstStyle/>
          <a:p>
            <a:pPr algn="ctr"/>
            <a:r>
              <a:rPr sz="700" b="1" i="0" spc="80">
                <a:solidFill>
                  <a:srgbClr val="FFFFFF"/>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FF0069"/>
                </a:solidFill>
                <a:latin typeface="Trenda IG Text"/>
              </a:rPr>
              <a:t>ENGINEERING CONTEXT KNOWLEDGE GRAPH</a:t>
            </a:r>
            <a:r>
              <a:rPr sz="700" b="0" i="0">
                <a:solidFill>
                  <a:srgbClr val="BFBFBF"/>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700" b="0" i="0">
                <a:solidFill>
                  <a:srgbClr val="BFBFBF"/>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700" b="0" i="0">
                <a:solidFill>
                  <a:srgbClr val="BFBFBF"/>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700" b="0" i="0">
                <a:solidFill>
                  <a:srgbClr val="BFBFBF"/>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700" b="0" i="0">
                <a:solidFill>
                  <a:srgbClr val="BFBFBF"/>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700" b="0" i="0">
                <a:solidFill>
                  <a:srgbClr val="BFBFBF"/>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700" b="0" i="0">
                <a:solidFill>
                  <a:srgbClr val="BFBFBF"/>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0E0E0E"/>
          </a:solidFill>
          <a:ln w="6858">
            <a:solidFill>
              <a:srgbClr val="3A3A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6B6B6B"/>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700" b="0" i="0">
                <a:solidFill>
                  <a:srgbClr val="6B6B6B"/>
                </a:solidFill>
                <a:latin typeface="Trenda IG Text"/>
              </a:rPr>
              <a:t>not needed for Health Cloud</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700" b="1" i="0" spc="150">
                <a:solidFill>
                  <a:srgbClr val="FF0069"/>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700" b="0" i="0">
                <a:solidFill>
                  <a:srgbClr val="FFFFFF"/>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700" b="0" i="0">
                <a:solidFill>
                  <a:srgbClr val="FFFFFF"/>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700" b="0" i="0">
                <a:solidFill>
                  <a:srgbClr val="FFFFFF"/>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700" b="0" i="0">
                <a:solidFill>
                  <a:srgbClr val="FFFFFF"/>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700" b="0" i="0">
                <a:solidFill>
                  <a:srgbClr val="FFFFFF"/>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700" b="0" i="0">
                <a:solidFill>
                  <a:srgbClr val="BFBFBF"/>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FFFFF"/>
                </a:solidFill>
                <a:latin typeface="Trenda IG Text"/>
              </a:rPr>
              <a:t>WHERE OUTPUT LANDS</a:t>
            </a:r>
            <a:r>
              <a:rPr sz="700" b="0" i="0">
                <a:solidFill>
                  <a:srgbClr val="BFBFBF"/>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Jira</a:t>
            </a:r>
            <a:r>
              <a:rPr sz="700" b="0" i="0">
                <a:solidFill>
                  <a:srgbClr val="BFBFBF"/>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Confluence</a:t>
            </a:r>
            <a:r>
              <a:rPr sz="700" b="0" i="0">
                <a:solidFill>
                  <a:srgbClr val="BFBFBF"/>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Git</a:t>
            </a:r>
            <a:r>
              <a:rPr sz="700" b="0" i="0">
                <a:solidFill>
                  <a:srgbClr val="BFBFBF"/>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Salesforce DEV</a:t>
            </a:r>
            <a:r>
              <a:rPr sz="700" b="0" i="0">
                <a:solidFill>
                  <a:srgbClr val="BFBFBF"/>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Copado</a:t>
            </a:r>
            <a:r>
              <a:rPr sz="700" b="0" i="0">
                <a:solidFill>
                  <a:srgbClr val="BFBFBF"/>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Zephyr Scale</a:t>
            </a:r>
            <a:r>
              <a:rPr sz="700" b="0" i="0">
                <a:solidFill>
                  <a:srgbClr val="BFBFBF"/>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700" b="1" i="0">
                <a:solidFill>
                  <a:srgbClr val="FF0069"/>
                </a:solidFill>
                <a:latin typeface="Trenda IG Text"/>
              </a:rPr>
              <a:t>Production: the owning team's pipeline after CAB. No agent path.</a:t>
            </a:r>
          </a:p>
        </p:txBody>
      </p:sp>
      <p:sp>
        <p:nvSpPr>
          <p:cNvPr id="152" name="Shape 136"/>
          <p:cNvSpPr/>
          <p:nvPr/>
        </p:nvSpPr>
        <p:spPr>
          <a:xfrm>
            <a:off x="411480"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~2 weeks → ~2 days</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per Health Cloud task, story to UAT</a:t>
            </a:r>
          </a:p>
        </p:txBody>
      </p:sp>
      <p:sp>
        <p:nvSpPr>
          <p:cNvPr id="156" name="Shape 140"/>
          <p:cNvSpPr/>
          <p:nvPr/>
        </p:nvSpPr>
        <p:spPr>
          <a:xfrm>
            <a:off x="4245864"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H1, H2, H3, H4 and CAB, as today</a:t>
            </a:r>
          </a:p>
        </p:txBody>
      </p:sp>
      <p:sp>
        <p:nvSpPr>
          <p:cNvPr id="160" name="Shape 144"/>
          <p:cNvSpPr/>
          <p:nvPr/>
        </p:nvSpPr>
        <p:spPr>
          <a:xfrm>
            <a:off x="8080247"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700" b="1" i="0" spc="120">
                <a:solidFill>
                  <a:srgbClr val="FFFFFF"/>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rIns="0" tIns="0" bIns="0" anchor="ctr">
            <a:spAutoFit/>
          </a:bodyPr>
          <a:lstStyle/>
          <a:p>
            <a:r>
              <a:rPr sz="700" b="1" i="0">
                <a:solidFill>
                  <a:srgbClr val="FFFFFF"/>
                </a:solidFill>
                <a:latin typeface="Trenda IG Text"/>
              </a:rPr>
              <a:t>REVIEW</a:t>
            </a:r>
          </a:p>
          <a:p>
            <a:r>
              <a:rPr sz="700" b="0" i="0">
                <a:solidFill>
                  <a:srgbClr val="8C8C8C"/>
                </a:solidFill>
                <a:latin typeface="Courier New"/>
              </a:rPr>
              <a:t>Collibra</a:t>
            </a:r>
          </a:p>
        </p:txBody>
      </p:sp>
      <p:sp>
        <p:nvSpPr>
          <p:cNvPr id="10" name="Shape 8"/>
          <p:cNvSpPr/>
          <p:nvPr/>
        </p:nvSpPr>
        <p:spPr>
          <a:xfrm>
            <a:off x="411480" y="2020824"/>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rIns="0" tIns="0" bIns="0" anchor="ctr">
            <a:spAutoFit/>
          </a:bodyPr>
          <a:lstStyle/>
          <a:p>
            <a:r>
              <a:rPr sz="700" b="1" i="0">
                <a:solidFill>
                  <a:srgbClr val="FFFFFF"/>
                </a:solidFill>
                <a:latin typeface="Trenda IG Text"/>
              </a:rPr>
              <a:t>GOVERNANCE</a:t>
            </a:r>
          </a:p>
          <a:p>
            <a:r>
              <a:rPr sz="700" b="0" i="0">
                <a:solidFill>
                  <a:srgbClr val="8C8C8C"/>
                </a:solidFill>
                <a:latin typeface="Courier New"/>
              </a:rPr>
              <a:t>datarepository</a:t>
            </a:r>
          </a:p>
        </p:txBody>
      </p:sp>
      <p:sp>
        <p:nvSpPr>
          <p:cNvPr id="14" name="Shape 11"/>
          <p:cNvSpPr/>
          <p:nvPr/>
        </p:nvSpPr>
        <p:spPr>
          <a:xfrm>
            <a:off x="411480" y="2578608"/>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rIns="0" tIns="0" bIns="0" anchor="ctr">
            <a:spAutoFit/>
          </a:bodyPr>
          <a:lstStyle/>
          <a:p>
            <a:r>
              <a:rPr sz="700" b="1" i="0">
                <a:solidFill>
                  <a:srgbClr val="FFFFFF"/>
                </a:solidFill>
                <a:latin typeface="Trenda IG Text"/>
              </a:rPr>
              <a:t>COMPUTE</a:t>
            </a:r>
          </a:p>
          <a:p>
            <a:r>
              <a:rPr sz="700" b="0" i="0">
                <a:solidFill>
                  <a:srgbClr val="8C8C8C"/>
                </a:solidFill>
                <a:latin typeface="Courier New"/>
              </a:rPr>
              <a:t>datalake</a:t>
            </a:r>
          </a:p>
        </p:txBody>
      </p:sp>
      <p:sp>
        <p:nvSpPr>
          <p:cNvPr id="18" name="Shape 14"/>
          <p:cNvSpPr/>
          <p:nvPr/>
        </p:nvSpPr>
        <p:spPr>
          <a:xfrm>
            <a:off x="411480" y="3136392"/>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rIns="0" tIns="0" bIns="0" anchor="ctr">
            <a:spAutoFit/>
          </a:bodyPr>
          <a:lstStyle/>
          <a:p>
            <a:r>
              <a:rPr sz="700" b="1" i="0">
                <a:solidFill>
                  <a:srgbClr val="FFFFFF"/>
                </a:solidFill>
                <a:latin typeface="Trenda IG Text"/>
              </a:rPr>
              <a:t>TARGET</a:t>
            </a:r>
          </a:p>
          <a:p>
            <a:r>
              <a:rPr sz="700" b="0" i="0">
                <a:solidFill>
                  <a:srgbClr val="8C8C8C"/>
                </a:solidFill>
                <a:latin typeface="Courier New"/>
              </a:rPr>
              <a:t>dataplace</a:t>
            </a:r>
          </a:p>
        </p:txBody>
      </p:sp>
      <p:cxnSp>
        <p:nvCxnSpPr>
          <p:cNvPr id="22" name="Arrow 17"/>
          <p:cNvCxnSpPr/>
          <p:nvPr/>
        </p:nvCxnSpPr>
        <p:spPr>
          <a:xfrm>
            <a:off x="2386584"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609344"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609344" y="2322576"/>
            <a:ext cx="555955" cy="146304"/>
          </a:xfrm>
          <a:prstGeom prst="rect">
            <a:avLst/>
          </a:prstGeom>
          <a:noFill/>
        </p:spPr>
        <p:txBody>
          <a:bodyPr wrap="square" lIns="0" rIns="0" tIns="0" bIns="0" anchor="ctr">
            <a:spAutoFit/>
          </a:bodyPr>
          <a:lstStyle/>
          <a:p>
            <a:pPr algn="ctr"/>
            <a:r>
              <a:rPr sz="700" b="1" i="0">
                <a:solidFill>
                  <a:srgbClr val="BFBFBF"/>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2B2508"/>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505456" y="1517904"/>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505456" y="1764792"/>
            <a:ext cx="555955" cy="146304"/>
          </a:xfrm>
          <a:prstGeom prst="rect">
            <a:avLst/>
          </a:prstGeom>
          <a:noFill/>
        </p:spPr>
        <p:txBody>
          <a:bodyPr wrap="square" lIns="0" rIns="0" tIns="0" bIns="0" anchor="ctr">
            <a:spAutoFit/>
          </a:bodyPr>
          <a:lstStyle/>
          <a:p>
            <a:pPr algn="ctr"/>
            <a:r>
              <a:rPr sz="700" b="1" i="0">
                <a:solidFill>
                  <a:srgbClr val="BFBFBF"/>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401568"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401568" y="2322576"/>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2B2508"/>
          </a:solidFill>
          <a:ln w="7620">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401568"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401568" y="2880360"/>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297680"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297680" y="2880360"/>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93792" y="3191256"/>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93792" y="3438144"/>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89904"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89904" y="2322576"/>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000000"/>
          </a:solid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93792"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93792" y="2880360"/>
            <a:ext cx="555955" cy="146304"/>
          </a:xfrm>
          <a:prstGeom prst="rect">
            <a:avLst/>
          </a:prstGeom>
          <a:noFill/>
        </p:spPr>
        <p:txBody>
          <a:bodyPr wrap="square" lIns="0" rIns="0" tIns="0" bIns="0" anchor="ctr">
            <a:spAutoFit/>
          </a:bodyPr>
          <a:lstStyle/>
          <a:p>
            <a:pPr algn="ctr"/>
            <a:r>
              <a:rPr sz="700" b="1" i="0">
                <a:solidFill>
                  <a:srgbClr val="FF0069"/>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700" b="1" i="0">
                <a:solidFill>
                  <a:srgbClr val="FF0069"/>
                </a:solidFill>
                <a:latin typeface="Trenda IG Text"/>
              </a:rPr>
              <a:t>Fail-closed: </a:t>
            </a:r>
            <a:r>
              <a:rPr sz="700" b="0" i="0">
                <a:solidFill>
                  <a:srgbClr val="BFBFBF"/>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700" b="1" i="0" spc="120">
                <a:solidFill>
                  <a:srgbClr val="FFD7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700" b="1" i="0">
                <a:solidFill>
                  <a:srgbClr val="8C8C8C"/>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700" b="1" i="0">
                <a:solidFill>
                  <a:srgbClr val="8C8C8C"/>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700" b="1" i="0">
                <a:solidFill>
                  <a:srgbClr val="8C8C8C"/>
                </a:solidFill>
                <a:latin typeface="Trenda IG Text"/>
              </a:rPr>
              <a:t>HIPAA implication</a:t>
            </a:r>
          </a:p>
        </p:txBody>
      </p:sp>
      <p:sp>
        <p:nvSpPr>
          <p:cNvPr id="81" name="Shape 76"/>
          <p:cNvSpPr/>
          <p:nvPr/>
        </p:nvSpPr>
        <p:spPr>
          <a:xfrm>
            <a:off x="7187184" y="1682496"/>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700" b="1" i="0">
                <a:solidFill>
                  <a:srgbClr val="FF0069"/>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700" b="0" i="0">
                <a:solidFill>
                  <a:srgbClr val="FFFFFF"/>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700" b="0" i="0">
                <a:solidFill>
                  <a:srgbClr val="BFBFBF"/>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700" b="1" i="0">
                <a:solidFill>
                  <a:srgbClr val="FFD700"/>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700" b="0" i="0">
                <a:solidFill>
                  <a:srgbClr val="FFFFFF"/>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700" b="0" i="0">
                <a:solidFill>
                  <a:srgbClr val="BFBFBF"/>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700" b="1" i="0">
                <a:solidFill>
                  <a:srgbClr val="00D6F2"/>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700" b="0" i="0">
                <a:solidFill>
                  <a:srgbClr val="FFFFFF"/>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700" b="0" i="0">
                <a:solidFill>
                  <a:srgbClr val="BFBFBF"/>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700" b="0" i="0">
                <a:solidFill>
                  <a:srgbClr val="FFFFFF"/>
                </a:solidFill>
                <a:latin typeface="Trenda IG Text"/>
              </a:rPr>
              <a:t>A token, a count, a diagnosis combination or a small cohort can remain sensitive. </a:t>
            </a:r>
            <a:r>
              <a:rPr sz="700" b="1" i="0">
                <a:solidFill>
                  <a:srgbClr val="FFD7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700" b="1" i="0" spc="120">
                <a:solidFill>
                  <a:srgbClr val="FF0069"/>
                </a:solidFill>
                <a:latin typeface="Trenda IG Text"/>
              </a:rPr>
              <a:t>WHAT MASKING ALONE DOES NOT GIVE US, AND WHAT WE ADD</a:t>
            </a:r>
            <a:r>
              <a:rPr sz="700" b="0" i="0">
                <a:solidFill>
                  <a:srgbClr val="BFBFBF"/>
                </a:solidFill>
                <a:latin typeface="Trenda IG Text"/>
              </a:rPr>
              <a:t>   proposed design</a:t>
            </a:r>
          </a:p>
        </p:txBody>
      </p:sp>
      <p:sp>
        <p:nvSpPr>
          <p:cNvPr id="98" name="Shape 93"/>
          <p:cNvSpPr/>
          <p:nvPr/>
        </p:nvSpPr>
        <p:spPr>
          <a:xfrm>
            <a:off x="411480" y="4187952"/>
            <a:ext cx="2759202" cy="1536192"/>
          </a:xfrm>
          <a:prstGeom prst="roundRect">
            <a:avLst>
              <a:gd name="adj" fmla="val 5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1  </a:t>
            </a:r>
            <a:r>
              <a:rPr sz="720" b="1" i="0">
                <a:solidFill>
                  <a:srgbClr val="000000"/>
                </a:solidFill>
                <a:latin typeface="Trenda IG Text"/>
              </a:rPr>
              <a:t>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32943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Agents get aggregates by default; tokenized rows only for an authorized task</a:t>
            </a:r>
          </a:p>
        </p:txBody>
      </p:sp>
      <p:sp>
        <p:nvSpPr>
          <p:cNvPr id="110" name="Shape 105"/>
          <p:cNvSpPr/>
          <p:nvPr/>
        </p:nvSpPr>
        <p:spPr>
          <a:xfrm>
            <a:off x="3280410" y="4187952"/>
            <a:ext cx="2759202" cy="1536192"/>
          </a:xfrm>
          <a:prstGeom prst="roundRect">
            <a:avLst>
              <a:gd name="adj" fmla="val 5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FFFFFE"/>
                </a:solidFill>
                <a:latin typeface="Trenda IG Text"/>
              </a:rPr>
              <a:t>2  </a:t>
            </a:r>
            <a:r>
              <a:rPr sz="720" b="1" i="0">
                <a:solidFill>
                  <a:srgbClr val="FFFFFE"/>
                </a:solidFill>
                <a:latin typeface="Trenda IG Text"/>
              </a:rPr>
              <a:t>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198364" y="4251960"/>
            <a:ext cx="749808" cy="146304"/>
          </a:xfrm>
          <a:prstGeom prst="rect">
            <a:avLst/>
          </a:prstGeom>
          <a:noFill/>
        </p:spPr>
        <p:txBody>
          <a:bodyPr wrap="square" lIns="0" rIns="0" tIns="0" bIns="0" anchor="ctr">
            <a:spAutoFit/>
          </a:bodyPr>
          <a:lstStyle/>
          <a:p>
            <a:pPr algn="ctr"/>
            <a:r>
              <a:rPr sz="700" b="1" i="0" spc="80">
                <a:solidFill>
                  <a:srgbClr val="FFFFFE"/>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Campaign Compliance Passport records purpose, rule version and approvals</a:t>
            </a:r>
          </a:p>
        </p:txBody>
      </p:sp>
      <p:sp>
        <p:nvSpPr>
          <p:cNvPr id="122" name="Shape 117"/>
          <p:cNvSpPr/>
          <p:nvPr/>
        </p:nvSpPr>
        <p:spPr>
          <a:xfrm>
            <a:off x="6149340" y="4187952"/>
            <a:ext cx="2759202" cy="1536192"/>
          </a:xfrm>
          <a:prstGeom prst="roundRect">
            <a:avLst>
              <a:gd name="adj" fmla="val 5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3  </a:t>
            </a:r>
            <a:r>
              <a:rPr sz="720" b="1" i="0">
                <a:solidFill>
                  <a:srgbClr val="000000"/>
                </a:solidFill>
                <a:latin typeface="Trenda IG Text"/>
              </a:rPr>
              <a:t>Tenant isolation</a:t>
            </a:r>
          </a:p>
        </p:txBody>
      </p:sp>
      <p:sp>
        <p:nvSpPr>
          <p:cNvPr id="125" name="Shape 120"/>
          <p:cNvSpPr/>
          <p:nvPr/>
        </p:nvSpPr>
        <p:spPr>
          <a:xfrm>
            <a:off x="806729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06729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No cross-tenant joins; proven with negative-access tests</a:t>
            </a:r>
          </a:p>
        </p:txBody>
      </p:sp>
      <p:sp>
        <p:nvSpPr>
          <p:cNvPr id="134" name="Shape 129"/>
          <p:cNvSpPr/>
          <p:nvPr/>
        </p:nvSpPr>
        <p:spPr>
          <a:xfrm>
            <a:off x="9018270" y="4187952"/>
            <a:ext cx="2759202" cy="1536192"/>
          </a:xfrm>
          <a:prstGeom prst="roundRect">
            <a:avLst>
              <a:gd name="adj" fmla="val 5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4  </a:t>
            </a:r>
            <a:r>
              <a:rPr sz="720" b="1" i="0">
                <a:solidFill>
                  <a:srgbClr val="000000"/>
                </a:solidFill>
                <a:latin typeface="Trenda IG Text"/>
              </a:rPr>
              <a:t>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093622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06262B"/>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700" b="1" i="0" spc="100">
                <a:solidFill>
                  <a:srgbClr val="00D6F2"/>
                </a:solidFill>
                <a:latin typeface="Trenda IG Text"/>
              </a:rPr>
              <a:t>HOW WE PROVE IT  </a:t>
            </a:r>
            <a:r>
              <a:rPr sz="700" b="0" i="0">
                <a:solidFill>
                  <a:srgbClr val="FFFFFF"/>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FFFFFF"/>
                </a:solidFill>
                <a:latin typeface="Trenda IG Text"/>
              </a:rPr>
              <a:t>PROPOSED items are design, not production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000000"/>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700" b="1" i="0" spc="100">
                <a:solidFill>
                  <a:srgbClr val="FFFFFE"/>
                </a:solidFill>
                <a:latin typeface="Trenda IG Text"/>
              </a:rPr>
              <a:t>1  GOVERN THE DATA IN GOOGLE CLOUD</a:t>
            </a:r>
          </a:p>
        </p:txBody>
      </p:sp>
      <p:sp>
        <p:nvSpPr>
          <p:cNvPr id="9" name="Shape 7"/>
          <p:cNvSpPr/>
          <p:nvPr/>
        </p:nvSpPr>
        <p:spPr>
          <a:xfrm>
            <a:off x="548640" y="1481328"/>
            <a:ext cx="2068372" cy="877824"/>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700" b="1" i="0">
                <a:solidFill>
                  <a:srgbClr val="FFFFFF"/>
                </a:solidFill>
                <a:latin typeface="Trenda IG Text"/>
              </a:rPr>
              <a:t>Sources</a:t>
            </a:r>
          </a:p>
        </p:txBody>
      </p:sp>
      <p:sp>
        <p:nvSpPr>
          <p:cNvPr id="14" name="Text 11"/>
          <p:cNvSpPr txBox="1"/>
          <p:nvPr/>
        </p:nvSpPr>
        <p:spPr>
          <a:xfrm>
            <a:off x="640080"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2A1A0C"/>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Bronze</a:t>
            </a:r>
          </a:p>
        </p:txBody>
      </p:sp>
      <p:sp>
        <p:nvSpPr>
          <p:cNvPr id="20" name="Text 17"/>
          <p:cNvSpPr txBox="1"/>
          <p:nvPr/>
        </p:nvSpPr>
        <p:spPr>
          <a:xfrm>
            <a:off x="2854756"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Approved raw extracts with lineage and timestamps. Restricted access.</a:t>
            </a:r>
          </a:p>
        </p:txBody>
      </p:sp>
      <p:cxnSp>
        <p:nvCxnSpPr>
          <p:cNvPr id="21" name="Arrow 18"/>
          <p:cNvCxnSpPr/>
          <p:nvPr/>
        </p:nvCxnSpPr>
        <p:spPr>
          <a:xfrm>
            <a:off x="4831689"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DLP + Collibra</a:t>
            </a:r>
          </a:p>
        </p:txBody>
      </p:sp>
      <p:sp>
        <p:nvSpPr>
          <p:cNvPr id="26" name="Text 23"/>
          <p:cNvSpPr txBox="1"/>
          <p:nvPr/>
        </p:nvSpPr>
        <p:spPr>
          <a:xfrm>
            <a:off x="5069433"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DLP classifies, the Collibra steward approves, policy tags mask PHI.</a:t>
            </a:r>
          </a:p>
        </p:txBody>
      </p:sp>
      <p:cxnSp>
        <p:nvCxnSpPr>
          <p:cNvPr id="27" name="Arrow 24"/>
          <p:cNvCxnSpPr/>
          <p:nvPr/>
        </p:nvCxnSpPr>
        <p:spPr>
          <a:xfrm>
            <a:off x="7046366"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1F2124"/>
          </a:solidFill>
          <a:ln w="15875">
            <a:solidFill>
              <a:srgbClr val="A8A9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Silver</a:t>
            </a:r>
          </a:p>
        </p:txBody>
      </p:sp>
      <p:sp>
        <p:nvSpPr>
          <p:cNvPr id="32" name="Text 29"/>
          <p:cNvSpPr txBox="1"/>
          <p:nvPr/>
        </p:nvSpPr>
        <p:spPr>
          <a:xfrm>
            <a:off x="7284110"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Gold B · eligibility</a:t>
            </a:r>
          </a:p>
        </p:txBody>
      </p:sp>
      <p:sp>
        <p:nvSpPr>
          <p:cNvPr id="37" name="Text 34"/>
          <p:cNvSpPr txBox="1"/>
          <p:nvPr/>
        </p:nvSpPr>
        <p:spPr>
          <a:xfrm>
            <a:off x="9498787" y="1764792"/>
            <a:ext cx="1885492" cy="100583"/>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2011680"/>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rIns="0" tIns="0" bIns="0" anchor="ctr">
            <a:spAutoFit/>
          </a:bodyPr>
          <a:lstStyle/>
          <a:p>
            <a:r>
              <a:rPr sz="700" b="1" i="0">
                <a:solidFill>
                  <a:srgbClr val="FFFFFF"/>
                </a:solidFill>
                <a:latin typeface="Trenda IG Text"/>
              </a:rPr>
              <a:t>Gold A · intelligence</a:t>
            </a:r>
          </a:p>
        </p:txBody>
      </p:sp>
      <p:sp>
        <p:nvSpPr>
          <p:cNvPr id="43" name="Text 39"/>
          <p:cNvSpPr txBox="1"/>
          <p:nvPr/>
        </p:nvSpPr>
        <p:spPr>
          <a:xfrm>
            <a:off x="9498787" y="2231136"/>
            <a:ext cx="1885492" cy="100583"/>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Aggregates: Heart, Maternity, General, more</a:t>
            </a:r>
          </a:p>
        </p:txBody>
      </p:sp>
      <p:cxnSp>
        <p:nvCxnSpPr>
          <p:cNvPr id="44" name="Arrow 40"/>
          <p:cNvCxnSpPr/>
          <p:nvPr/>
        </p:nvCxnSpPr>
        <p:spPr>
          <a:xfrm>
            <a:off x="9261043" y="168706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700" b="1" i="0" spc="80">
                <a:solidFill>
                  <a:srgbClr val="FFFFFE"/>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700" b="1" i="0" spc="100">
                <a:solidFill>
                  <a:srgbClr val="FFFFFE"/>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700" b="1" i="0">
                <a:solidFill>
                  <a:srgbClr val="FFFFFF"/>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700" b="1" i="0">
                <a:solidFill>
                  <a:srgbClr val="FFFFFF"/>
                </a:solidFill>
                <a:latin typeface="Trenda IG Text"/>
              </a:rPr>
              <a:t>Planning agents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Orchestrator, Strategist and Analytics read the graph and Gold A; counts only.</a:t>
            </a:r>
          </a:p>
        </p:txBody>
      </p:sp>
      <p:sp>
        <p:nvSpPr>
          <p:cNvPr id="64" name="Shape 58"/>
          <p:cNvSpPr/>
          <p:nvPr/>
        </p:nvSpPr>
        <p:spPr>
          <a:xfrm>
            <a:off x="4239768" y="2944368"/>
            <a:ext cx="1699259" cy="71323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700" b="1" i="0">
                <a:solidFill>
                  <a:srgbClr val="FFFFFF"/>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700" b="0" i="0">
                <a:solidFill>
                  <a:srgbClr val="BFBFBF"/>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700" b="1" i="0">
                <a:solidFill>
                  <a:srgbClr val="FFFFFF"/>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06262B"/>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700" b="1" i="0">
                <a:solidFill>
                  <a:srgbClr val="00D6F2"/>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700" b="0" i="0">
                <a:solidFill>
                  <a:srgbClr val="BFBFBF"/>
                </a:solidFill>
                <a:latin typeface="Trenda IG Text"/>
              </a:rPr>
              <a:t>Test contacts only; checks consent, STOP, links, hours. </a:t>
            </a:r>
            <a:r>
              <a:rPr sz="700" b="1" i="0">
                <a:solidFill>
                  <a:srgbClr val="FF0069"/>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700" b="1" i="0">
                <a:solidFill>
                  <a:srgbClr val="FFFFFF"/>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700" b="0" i="0">
                <a:solidFill>
                  <a:srgbClr val="BFBFBF"/>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700" b="1" i="0" spc="100">
                <a:solidFill>
                  <a:srgbClr val="8C8C8C"/>
                </a:solidFill>
                <a:latin typeface="Trenda IG Text"/>
              </a:rPr>
              <a:t>CONTEXT + OVERSIGHT</a:t>
            </a:r>
          </a:p>
          <a:p>
            <a:pPr>
              <a:spcAft>
                <a:spcPts val="100"/>
              </a:spcAft>
            </a:pPr>
            <a:r>
              <a:rPr sz="700" b="0" i="0">
                <a:solidFill>
                  <a:srgbClr val="8C8C8C"/>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700" b="1" i="0">
                <a:solidFill>
                  <a:srgbClr val="FFFFFF"/>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700" b="1" i="0">
                <a:solidFill>
                  <a:srgbClr val="FFFFFF"/>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700" b="1" i="0">
                <a:solidFill>
                  <a:srgbClr val="FFFFFF"/>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700" b="0" i="0">
                <a:solidFill>
                  <a:srgbClr val="BFBFBF"/>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952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359152"/>
            <a:ext cx="0" cy="9144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143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700" b="1" i="0" spc="80">
                <a:solidFill>
                  <a:srgbClr val="FFFFFE"/>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000000"/>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700" b="1" i="0" spc="100">
                <a:solidFill>
                  <a:srgbClr val="000000"/>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700" b="1" i="0">
                <a:solidFill>
                  <a:srgbClr val="FFFFFF"/>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14</a:t>
            </a:r>
          </a:p>
        </p:txBody>
      </p:sp>
      <p:pic>
        <p:nvPicPr>
          <p:cNvPr id="139" name="Picture 138" descr="people.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700" b="1" i="0">
                <a:solidFill>
                  <a:srgbClr val="FFFFFF"/>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700" b="0" i="0">
                <a:solidFill>
                  <a:srgbClr val="BFBFBF"/>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77055" y="4837176"/>
            <a:ext cx="1792224" cy="7680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22775" y="487375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22775" y="487375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15</a:t>
            </a:r>
          </a:p>
        </p:txBody>
      </p:sp>
      <p:sp>
        <p:nvSpPr>
          <p:cNvPr id="148" name="Text 136"/>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700" b="1" i="0">
                <a:solidFill>
                  <a:srgbClr val="FFFFFF"/>
                </a:solidFill>
                <a:latin typeface="Trenda IG Text"/>
              </a:rPr>
              <a:t>Policy engine + activation gateway</a:t>
            </a:r>
          </a:p>
        </p:txBody>
      </p:sp>
      <p:sp>
        <p:nvSpPr>
          <p:cNvPr id="149" name="Text 137"/>
          <p:cNvSpPr txBox="1"/>
          <p:nvPr/>
        </p:nvSpPr>
        <p:spPr>
          <a:xfrm>
            <a:off x="3950207" y="5184648"/>
            <a:ext cx="1664207" cy="411479"/>
          </a:xfrm>
          <a:prstGeom prst="rect">
            <a:avLst/>
          </a:prstGeom>
          <a:noFill/>
        </p:spPr>
        <p:txBody>
          <a:bodyPr wrap="square" lIns="0" rIns="0" tIns="0" bIns="0" anchor="t">
            <a:spAutoFit/>
          </a:bodyPr>
          <a:lstStyle/>
          <a:p>
            <a:r>
              <a:rPr sz="700" b="0" i="0">
                <a:solidFill>
                  <a:srgbClr val="BFBFBF"/>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700" b="1" i="0">
                <a:solidFill>
                  <a:srgbClr val="FFFFFF"/>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141414"/>
          </a:solidFill>
          <a:ln w="7620">
            <a:solidFill>
              <a:srgbClr val="00D6F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700" b="1" i="0">
                <a:solidFill>
                  <a:srgbClr val="FFFFFF"/>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700" b="1" i="0">
                <a:solidFill>
                  <a:srgbClr val="FFFFFF"/>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700" b="1" i="0">
                <a:solidFill>
                  <a:srgbClr val="FFFFFF"/>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700" b="1" i="0">
                <a:solidFill>
                  <a:srgbClr val="FFFFFF"/>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700" b="1" i="0">
                <a:solidFill>
                  <a:srgbClr val="FFFFFF"/>
                </a:solidFill>
                <a:latin typeface="Trenda IG Text"/>
              </a:rPr>
              <a:t>Measurement</a:t>
            </a:r>
          </a:p>
        </p:txBody>
      </p:sp>
      <p:cxnSp>
        <p:nvCxnSpPr>
          <p:cNvPr id="176" name="Arrow 162"/>
          <p:cNvCxnSpPr/>
          <p:nvPr/>
        </p:nvCxnSpPr>
        <p:spPr>
          <a:xfrm>
            <a:off x="10863072" y="5193792"/>
            <a:ext cx="0" cy="54864"/>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87068"/>
            <a:ext cx="246889"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87068"/>
            <a:ext cx="0" cy="2756916"/>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920240"/>
            <a:ext cx="0" cy="381304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920240"/>
            <a:ext cx="246888"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700" b="1" i="0" spc="80">
                <a:solidFill>
                  <a:srgbClr val="000000"/>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700" b="1" i="0" spc="120">
                <a:solidFill>
                  <a:srgbClr val="FF0069"/>
                </a:solidFill>
                <a:latin typeface="Trenda IG Text"/>
              </a:rPr>
              <a:t>SAFEGUARDS</a:t>
            </a:r>
          </a:p>
          <a:p>
            <a:pPr>
              <a:spcAft>
                <a:spcPts val="100"/>
              </a:spcAft>
            </a:pPr>
            <a:r>
              <a:rPr sz="700" b="0" i="0">
                <a:solidFill>
                  <a:srgbClr val="8C8C8C"/>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Send-time re-checks + feedback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0  </a:t>
            </a:r>
            <a:r>
              <a:rPr sz="700" b="1" i="0">
                <a:solidFill>
                  <a:srgbClr val="000000"/>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before 1</a:t>
            </a:r>
          </a:p>
        </p:txBody>
      </p:sp>
      <p:sp>
        <p:nvSpPr>
          <p:cNvPr id="11" name="Shape 10"/>
          <p:cNvSpPr/>
          <p:nvPr/>
        </p:nvSpPr>
        <p:spPr>
          <a:xfrm>
            <a:off x="502920"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2157984"/>
            <a:ext cx="1304979" cy="420623"/>
          </a:xfrm>
          <a:prstGeom prst="rect">
            <a:avLst/>
          </a:prstGeom>
          <a:noFill/>
        </p:spPr>
        <p:txBody>
          <a:bodyPr wrap="square" lIns="0" rIns="0" tIns="0" bIns="0" anchor="t">
            <a:spAutoFit/>
          </a:bodyPr>
          <a:lstStyle/>
          <a:p>
            <a:r>
              <a:rPr sz="700" b="0" i="0">
                <a:solidFill>
                  <a:srgbClr val="FFFFFF"/>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596896"/>
            <a:ext cx="1304979" cy="420623"/>
          </a:xfrm>
          <a:prstGeom prst="rect">
            <a:avLst/>
          </a:prstGeom>
          <a:noFill/>
        </p:spPr>
        <p:txBody>
          <a:bodyPr wrap="square" lIns="0" rIns="0" tIns="0" bIns="0" anchor="t">
            <a:spAutoFit/>
          </a:bodyPr>
          <a:lstStyle/>
          <a:p>
            <a:r>
              <a:rPr sz="700" b="0" i="0">
                <a:solidFill>
                  <a:srgbClr val="FFFFFF"/>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3035808"/>
            <a:ext cx="1304979" cy="420623"/>
          </a:xfrm>
          <a:prstGeom prst="rect">
            <a:avLst/>
          </a:prstGeom>
          <a:noFill/>
        </p:spPr>
        <p:txBody>
          <a:bodyPr wrap="square" lIns="0" rIns="0" tIns="0" bIns="0" anchor="t">
            <a:spAutoFit/>
          </a:bodyPr>
          <a:lstStyle/>
          <a:p>
            <a:r>
              <a:rPr sz="700" b="0" i="0">
                <a:solidFill>
                  <a:srgbClr val="FFFFFF"/>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12648" y="3474720"/>
            <a:ext cx="1304979" cy="420623"/>
          </a:xfrm>
          <a:prstGeom prst="rect">
            <a:avLst/>
          </a:prstGeom>
          <a:noFill/>
        </p:spPr>
        <p:txBody>
          <a:bodyPr wrap="square" lIns="0" rIns="0" tIns="0" bIns="0" anchor="t">
            <a:spAutoFit/>
          </a:bodyPr>
          <a:lstStyle/>
          <a:p>
            <a:r>
              <a:rPr sz="700" b="0" i="0">
                <a:solidFill>
                  <a:srgbClr val="FFFFFF"/>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1  </a:t>
            </a:r>
            <a:r>
              <a:rPr sz="700" b="1" i="0">
                <a:solidFill>
                  <a:srgbClr val="FFFFFE"/>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 · 2 · 4 · 5 · 6</a:t>
            </a:r>
          </a:p>
        </p:txBody>
      </p:sp>
      <p:sp>
        <p:nvSpPr>
          <p:cNvPr id="27" name="Shape 26"/>
          <p:cNvSpPr/>
          <p:nvPr/>
        </p:nvSpPr>
        <p:spPr>
          <a:xfrm>
            <a:off x="2137083"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46811" y="2157984"/>
            <a:ext cx="1304979" cy="420623"/>
          </a:xfrm>
          <a:prstGeom prst="rect">
            <a:avLst/>
          </a:prstGeom>
          <a:noFill/>
        </p:spPr>
        <p:txBody>
          <a:bodyPr wrap="square" lIns="0" rIns="0" tIns="0" bIns="0" anchor="t">
            <a:spAutoFit/>
          </a:bodyPr>
          <a:lstStyle/>
          <a:p>
            <a:r>
              <a:rPr sz="700" b="0" i="0">
                <a:solidFill>
                  <a:srgbClr val="FFFFFF"/>
                </a:solidFill>
                <a:latin typeface="Trenda IG Text"/>
              </a:rPr>
              <a:t>Approved sources into Bronze</a:t>
            </a:r>
          </a:p>
        </p:txBody>
      </p:sp>
      <p:sp>
        <p:nvSpPr>
          <p:cNvPr id="29" name="Shape 28"/>
          <p:cNvSpPr/>
          <p:nvPr/>
        </p:nvSpPr>
        <p:spPr>
          <a:xfrm>
            <a:off x="2137083" y="2679191"/>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46811" y="2596896"/>
            <a:ext cx="1304979" cy="420623"/>
          </a:xfrm>
          <a:prstGeom prst="rect">
            <a:avLst/>
          </a:prstGeom>
          <a:noFill/>
        </p:spPr>
        <p:txBody>
          <a:bodyPr wrap="square" lIns="0" rIns="0" tIns="0" bIns="0" anchor="t">
            <a:spAutoFit/>
          </a:bodyPr>
          <a:lstStyle/>
          <a:p>
            <a:r>
              <a:rPr sz="700" b="0" i="0">
                <a:solidFill>
                  <a:srgbClr val="FFFFFF"/>
                </a:solidFill>
                <a:latin typeface="Trenda IG Text"/>
              </a:rPr>
              <a:t>Silver: identities, encounters, contacts, consent; keeps everyone</a:t>
            </a:r>
          </a:p>
        </p:txBody>
      </p:sp>
      <p:sp>
        <p:nvSpPr>
          <p:cNvPr id="31" name="Shape 30"/>
          <p:cNvSpPr/>
          <p:nvPr/>
        </p:nvSpPr>
        <p:spPr>
          <a:xfrm>
            <a:off x="2137083" y="3118103"/>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46811" y="3035808"/>
            <a:ext cx="1304979" cy="420623"/>
          </a:xfrm>
          <a:prstGeom prst="rect">
            <a:avLst/>
          </a:prstGeom>
          <a:noFill/>
        </p:spPr>
        <p:txBody>
          <a:bodyPr wrap="square" lIns="0" rIns="0" tIns="0" bIns="0" anchor="t">
            <a:spAutoFit/>
          </a:bodyPr>
          <a:lstStyle/>
          <a:p>
            <a:r>
              <a:rPr sz="700" b="0" i="0">
                <a:solidFill>
                  <a:srgbClr val="FFFFFF"/>
                </a:solidFill>
                <a:latin typeface="Trenda IG Text"/>
              </a:rPr>
              <a:t>Gold B (restricted) and Gold A (aggregates)</a:t>
            </a:r>
          </a:p>
        </p:txBody>
      </p:sp>
      <p:sp>
        <p:nvSpPr>
          <p:cNvPr id="33" name="Shape 32"/>
          <p:cNvSpPr/>
          <p:nvPr/>
        </p:nvSpPr>
        <p:spPr>
          <a:xfrm>
            <a:off x="2137083" y="355701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46811" y="3474720"/>
            <a:ext cx="1304979" cy="420623"/>
          </a:xfrm>
          <a:prstGeom prst="rect">
            <a:avLst/>
          </a:prstGeom>
          <a:noFill/>
        </p:spPr>
        <p:txBody>
          <a:bodyPr wrap="square" lIns="0" rIns="0" tIns="0" bIns="0" anchor="t">
            <a:spAutoFit/>
          </a:bodyPr>
          <a:lstStyle/>
          <a:p>
            <a:r>
              <a:rPr sz="700" b="0" i="0">
                <a:solidFill>
                  <a:srgbClr val="FFFFFF"/>
                </a:solidFill>
                <a:latin typeface="Trenda IG Text"/>
              </a:rPr>
              <a:t>Synthetic data first</a:t>
            </a:r>
          </a:p>
        </p:txBody>
      </p:sp>
      <p:sp>
        <p:nvSpPr>
          <p:cNvPr id="35" name="Shape 34"/>
          <p:cNvSpPr/>
          <p:nvPr/>
        </p:nvSpPr>
        <p:spPr>
          <a:xfrm>
            <a:off x="211879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2  </a:t>
            </a:r>
            <a:r>
              <a:rPr sz="700" b="1" i="0">
                <a:solidFill>
                  <a:srgbClr val="FFFFFE"/>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3</a:t>
            </a:r>
          </a:p>
        </p:txBody>
      </p:sp>
      <p:sp>
        <p:nvSpPr>
          <p:cNvPr id="43" name="Shape 42"/>
          <p:cNvSpPr/>
          <p:nvPr/>
        </p:nvSpPr>
        <p:spPr>
          <a:xfrm>
            <a:off x="3771246"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80974" y="2157984"/>
            <a:ext cx="1304979" cy="548640"/>
          </a:xfrm>
          <a:prstGeom prst="rect">
            <a:avLst/>
          </a:prstGeom>
          <a:noFill/>
        </p:spPr>
        <p:txBody>
          <a:bodyPr wrap="square" lIns="0" rIns="0" tIns="0" bIns="0" anchor="t">
            <a:spAutoFit/>
          </a:bodyPr>
          <a:lstStyle/>
          <a:p>
            <a:r>
              <a:rPr sz="700" b="0" i="0">
                <a:solidFill>
                  <a:srgbClr val="FFFFFF"/>
                </a:solidFill>
                <a:latin typeface="Trenda IG Text"/>
              </a:rPr>
              <a:t>DLP, Collibra steward approval, policy tags, masking, row access</a:t>
            </a:r>
          </a:p>
        </p:txBody>
      </p:sp>
      <p:sp>
        <p:nvSpPr>
          <p:cNvPr id="45" name="Shape 44"/>
          <p:cNvSpPr/>
          <p:nvPr/>
        </p:nvSpPr>
        <p:spPr>
          <a:xfrm>
            <a:off x="3771246" y="2807208"/>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80974" y="2724912"/>
            <a:ext cx="1304979" cy="548640"/>
          </a:xfrm>
          <a:prstGeom prst="rect">
            <a:avLst/>
          </a:prstGeom>
          <a:noFill/>
        </p:spPr>
        <p:txBody>
          <a:bodyPr wrap="square" lIns="0" rIns="0" tIns="0" bIns="0" anchor="t">
            <a:spAutoFit/>
          </a:bodyPr>
          <a:lstStyle/>
          <a:p>
            <a:r>
              <a:rPr sz="700" b="0" i="0">
                <a:solidFill>
                  <a:srgbClr val="FFFFFF"/>
                </a:solidFill>
                <a:latin typeface="Trenda IG Text"/>
              </a:rPr>
              <a:t>Separate service identities; fail-closed policy removal</a:t>
            </a:r>
          </a:p>
        </p:txBody>
      </p:sp>
      <p:sp>
        <p:nvSpPr>
          <p:cNvPr id="47" name="Shape 46"/>
          <p:cNvSpPr/>
          <p:nvPr/>
        </p:nvSpPr>
        <p:spPr>
          <a:xfrm>
            <a:off x="3771246" y="337413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80974" y="3291839"/>
            <a:ext cx="1304979" cy="548640"/>
          </a:xfrm>
          <a:prstGeom prst="rect">
            <a:avLst/>
          </a:prstGeom>
          <a:noFill/>
        </p:spPr>
        <p:txBody>
          <a:bodyPr wrap="square" lIns="0" rIns="0" tIns="0" bIns="0" anchor="t">
            <a:spAutoFit/>
          </a:bodyPr>
          <a:lstStyle/>
          <a:p>
            <a:r>
              <a:rPr sz="700" b="0" i="0">
                <a:solidFill>
                  <a:srgbClr val="FFFFFF"/>
                </a:solidFill>
                <a:latin typeface="Trenda IG Text"/>
              </a:rPr>
              <a:t>Negative-access tests</a:t>
            </a:r>
          </a:p>
        </p:txBody>
      </p:sp>
      <p:sp>
        <p:nvSpPr>
          <p:cNvPr id="49" name="Shape 48"/>
          <p:cNvSpPr/>
          <p:nvPr/>
        </p:nvSpPr>
        <p:spPr>
          <a:xfrm>
            <a:off x="3752958"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3  </a:t>
            </a:r>
            <a:r>
              <a:rPr sz="700" b="1" i="0">
                <a:solidFill>
                  <a:srgbClr val="FFFFFE"/>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6 → 7 · 8 · 9</a:t>
            </a:r>
          </a:p>
        </p:txBody>
      </p:sp>
      <p:sp>
        <p:nvSpPr>
          <p:cNvPr id="57" name="Shape 56"/>
          <p:cNvSpPr/>
          <p:nvPr/>
        </p:nvSpPr>
        <p:spPr>
          <a:xfrm>
            <a:off x="5405410"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15138" y="2157984"/>
            <a:ext cx="1304979" cy="548640"/>
          </a:xfrm>
          <a:prstGeom prst="rect">
            <a:avLst/>
          </a:prstGeom>
          <a:noFill/>
        </p:spPr>
        <p:txBody>
          <a:bodyPr wrap="square" lIns="0" rIns="0" tIns="0" bIns="0" anchor="t">
            <a:spAutoFit/>
          </a:bodyPr>
          <a:lstStyle/>
          <a:p>
            <a:r>
              <a:rPr sz="700" b="0" i="0">
                <a:solidFill>
                  <a:srgbClr val="FFFFFF"/>
                </a:solidFill>
                <a:latin typeface="Trenda IG Text"/>
              </a:rPr>
              <a:t>Knowledge graph and Tableau on Gold A only</a:t>
            </a:r>
          </a:p>
        </p:txBody>
      </p:sp>
      <p:sp>
        <p:nvSpPr>
          <p:cNvPr id="59" name="Shape 58"/>
          <p:cNvSpPr/>
          <p:nvPr/>
        </p:nvSpPr>
        <p:spPr>
          <a:xfrm>
            <a:off x="5405410" y="2807208"/>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15138" y="2724912"/>
            <a:ext cx="1304979" cy="548640"/>
          </a:xfrm>
          <a:prstGeom prst="rect">
            <a:avLst/>
          </a:prstGeom>
          <a:noFill/>
        </p:spPr>
        <p:txBody>
          <a:bodyPr wrap="square" lIns="0" rIns="0" tIns="0" bIns="0" anchor="t">
            <a:spAutoFit/>
          </a:bodyPr>
          <a:lstStyle/>
          <a:p>
            <a:r>
              <a:rPr sz="700" b="0" i="0">
                <a:solidFill>
                  <a:srgbClr val="FFFFFF"/>
                </a:solidFill>
                <a:latin typeface="Trenda IG Text"/>
              </a:rPr>
              <a:t>Codex prompt; Orchestrator, Strategist, Analytics</a:t>
            </a:r>
          </a:p>
        </p:txBody>
      </p:sp>
      <p:sp>
        <p:nvSpPr>
          <p:cNvPr id="61" name="Shape 60"/>
          <p:cNvSpPr/>
          <p:nvPr/>
        </p:nvSpPr>
        <p:spPr>
          <a:xfrm>
            <a:off x="5405410" y="337413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15138" y="3291839"/>
            <a:ext cx="1304979" cy="548640"/>
          </a:xfrm>
          <a:prstGeom prst="rect">
            <a:avLst/>
          </a:prstGeom>
          <a:noFill/>
        </p:spPr>
        <p:txBody>
          <a:bodyPr wrap="square" lIns="0" rIns="0" tIns="0" bIns="0" anchor="t">
            <a:spAutoFit/>
          </a:bodyPr>
          <a:lstStyle/>
          <a:p>
            <a:r>
              <a:rPr sz="700" b="0" i="0">
                <a:solidFill>
                  <a:srgbClr val="FFFFFF"/>
                </a:solidFill>
                <a:latin typeface="Trenda IG Text"/>
              </a:rPr>
              <a:t>Opportunity Brief and G1</a:t>
            </a:r>
          </a:p>
        </p:txBody>
      </p:sp>
      <p:sp>
        <p:nvSpPr>
          <p:cNvPr id="63" name="Shape 62"/>
          <p:cNvSpPr/>
          <p:nvPr/>
        </p:nvSpPr>
        <p:spPr>
          <a:xfrm>
            <a:off x="538712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4  </a:t>
            </a:r>
            <a:r>
              <a:rPr sz="700" b="1" i="0">
                <a:solidFill>
                  <a:srgbClr val="000000"/>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10 · 11 · 12</a:t>
            </a:r>
          </a:p>
        </p:txBody>
      </p:sp>
      <p:sp>
        <p:nvSpPr>
          <p:cNvPr id="71" name="Shape 70"/>
          <p:cNvSpPr/>
          <p:nvPr/>
        </p:nvSpPr>
        <p:spPr>
          <a:xfrm>
            <a:off x="7039573"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49301" y="2157984"/>
            <a:ext cx="1304979" cy="548640"/>
          </a:xfrm>
          <a:prstGeom prst="rect">
            <a:avLst/>
          </a:prstGeom>
          <a:noFill/>
        </p:spPr>
        <p:txBody>
          <a:bodyPr wrap="square" lIns="0" rIns="0" tIns="0" bIns="0" anchor="t">
            <a:spAutoFit/>
          </a:bodyPr>
          <a:lstStyle/>
          <a:p>
            <a:r>
              <a:rPr sz="700" b="0" i="0">
                <a:solidFill>
                  <a:srgbClr val="FFFFFF"/>
                </a:solidFill>
                <a:latin typeface="Trenda IG Text"/>
              </a:rPr>
              <a:t>Campaign Design Agent: journey + data extension, paused</a:t>
            </a:r>
          </a:p>
        </p:txBody>
      </p:sp>
      <p:sp>
        <p:nvSpPr>
          <p:cNvPr id="73" name="Shape 72"/>
          <p:cNvSpPr/>
          <p:nvPr/>
        </p:nvSpPr>
        <p:spPr>
          <a:xfrm>
            <a:off x="7039573" y="280720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49301" y="2724912"/>
            <a:ext cx="1304979" cy="548640"/>
          </a:xfrm>
          <a:prstGeom prst="rect">
            <a:avLst/>
          </a:prstGeom>
          <a:noFill/>
        </p:spPr>
        <p:txBody>
          <a:bodyPr wrap="square" lIns="0" rIns="0" tIns="0" bIns="0" anchor="t">
            <a:spAutoFit/>
          </a:bodyPr>
          <a:lstStyle/>
          <a:p>
            <a:r>
              <a:rPr sz="700" b="0" i="0">
                <a:solidFill>
                  <a:srgbClr val="FFFFFF"/>
                </a:solidFill>
                <a:latin typeface="Trenda IG Text"/>
              </a:rPr>
              <a:t>Testing loop: test contacts, failure modes, 5-retry cap</a:t>
            </a:r>
          </a:p>
        </p:txBody>
      </p:sp>
      <p:sp>
        <p:nvSpPr>
          <p:cNvPr id="75" name="Shape 74"/>
          <p:cNvSpPr/>
          <p:nvPr/>
        </p:nvSpPr>
        <p:spPr>
          <a:xfrm>
            <a:off x="7039573" y="337413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49301" y="3291839"/>
            <a:ext cx="1304979" cy="548640"/>
          </a:xfrm>
          <a:prstGeom prst="rect">
            <a:avLst/>
          </a:prstGeom>
          <a:noFill/>
        </p:spPr>
        <p:txBody>
          <a:bodyPr wrap="square" lIns="0" rIns="0" tIns="0" bIns="0" anchor="t">
            <a:spAutoFit/>
          </a:bodyPr>
          <a:lstStyle/>
          <a:p>
            <a:r>
              <a:rPr sz="700" b="0" i="0">
                <a:solidFill>
                  <a:srgbClr val="FFFFFF"/>
                </a:solidFill>
                <a:latin typeface="Trenda IG Text"/>
              </a:rPr>
              <a:t>G3 approval flow</a:t>
            </a:r>
          </a:p>
        </p:txBody>
      </p:sp>
      <p:sp>
        <p:nvSpPr>
          <p:cNvPr id="77" name="Shape 76"/>
          <p:cNvSpPr/>
          <p:nvPr/>
        </p:nvSpPr>
        <p:spPr>
          <a:xfrm>
            <a:off x="702128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5  </a:t>
            </a:r>
            <a:r>
              <a:rPr sz="700" b="1" i="0">
                <a:solidFill>
                  <a:srgbClr val="000000"/>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2B2508"/>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13 → 19</a:t>
            </a:r>
          </a:p>
        </p:txBody>
      </p:sp>
      <p:sp>
        <p:nvSpPr>
          <p:cNvPr id="85" name="Shape 84"/>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783465" y="2157984"/>
            <a:ext cx="1304979" cy="332841"/>
          </a:xfrm>
          <a:prstGeom prst="rect">
            <a:avLst/>
          </a:prstGeom>
          <a:noFill/>
        </p:spPr>
        <p:txBody>
          <a:bodyPr wrap="square" lIns="0" rIns="0" tIns="0" bIns="0" anchor="t">
            <a:spAutoFit/>
          </a:bodyPr>
          <a:lstStyle/>
          <a:p>
            <a:r>
              <a:rPr sz="700" b="0" i="0">
                <a:solidFill>
                  <a:srgbClr val="FFFFFF"/>
                </a:solidFill>
                <a:latin typeface="Trenda IG Text"/>
              </a:rPr>
              <a:t>Eligibility service on Gold B</a:t>
            </a:r>
          </a:p>
        </p:txBody>
      </p:sp>
      <p:sp>
        <p:nvSpPr>
          <p:cNvPr id="87" name="Shape 86"/>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783465" y="2509113"/>
            <a:ext cx="1304979" cy="332841"/>
          </a:xfrm>
          <a:prstGeom prst="rect">
            <a:avLst/>
          </a:prstGeom>
          <a:noFill/>
        </p:spPr>
        <p:txBody>
          <a:bodyPr wrap="square" lIns="0" rIns="0" tIns="0" bIns="0" anchor="t">
            <a:spAutoFit/>
          </a:bodyPr>
          <a:lstStyle/>
          <a:p>
            <a:r>
              <a:rPr sz="700" b="0" i="0">
                <a:solidFill>
                  <a:srgbClr val="FFFFFF"/>
                </a:solidFill>
                <a:latin typeface="Trenda IG Text"/>
              </a:rPr>
              <a:t>G2 masked pre-send report</a:t>
            </a:r>
          </a:p>
        </p:txBody>
      </p:sp>
      <p:sp>
        <p:nvSpPr>
          <p:cNvPr id="89" name="Shape 88"/>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783465" y="2860243"/>
            <a:ext cx="1304979" cy="332841"/>
          </a:xfrm>
          <a:prstGeom prst="rect">
            <a:avLst/>
          </a:prstGeom>
          <a:noFill/>
        </p:spPr>
        <p:txBody>
          <a:bodyPr wrap="square" lIns="0" rIns="0" tIns="0" bIns="0" anchor="t">
            <a:spAutoFit/>
          </a:bodyPr>
          <a:lstStyle/>
          <a:p>
            <a:r>
              <a:rPr sz="700" b="0" i="0">
                <a:solidFill>
                  <a:srgbClr val="FFFFFF"/>
                </a:solidFill>
                <a:latin typeface="Trenda IG Text"/>
              </a:rPr>
              <a:t>Gateway + Compliance Passport</a:t>
            </a:r>
          </a:p>
        </p:txBody>
      </p:sp>
      <p:sp>
        <p:nvSpPr>
          <p:cNvPr id="91" name="Shape 90"/>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783465" y="3211372"/>
            <a:ext cx="1304979" cy="332841"/>
          </a:xfrm>
          <a:prstGeom prst="rect">
            <a:avLst/>
          </a:prstGeom>
          <a:noFill/>
        </p:spPr>
        <p:txBody>
          <a:bodyPr wrap="square" lIns="0" rIns="0" tIns="0" bIns="0" anchor="t">
            <a:spAutoFit/>
          </a:bodyPr>
          <a:lstStyle/>
          <a:p>
            <a:r>
              <a:rPr sz="700" b="0" i="0">
                <a:solidFill>
                  <a:srgbClr val="FFFFFF"/>
                </a:solidFill>
                <a:latin typeface="Trenda IG Text"/>
              </a:rPr>
              <a:t>Path A (Data Cloud) first; Path B after parity</a:t>
            </a:r>
          </a:p>
        </p:txBody>
      </p:sp>
      <p:sp>
        <p:nvSpPr>
          <p:cNvPr id="93" name="Shape 92"/>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783465" y="3562502"/>
            <a:ext cx="1304979" cy="332841"/>
          </a:xfrm>
          <a:prstGeom prst="rect">
            <a:avLst/>
          </a:prstGeom>
          <a:noFill/>
        </p:spPr>
        <p:txBody>
          <a:bodyPr wrap="square" lIns="0" rIns="0" tIns="0" bIns="0" anchor="t">
            <a:spAutoFit/>
          </a:bodyPr>
          <a:lstStyle/>
          <a:p>
            <a:r>
              <a:rPr sz="700" b="0" i="0">
                <a:solidFill>
                  <a:srgbClr val="FFFFFF"/>
                </a:solidFill>
                <a:latin typeface="Trenda IG Text"/>
              </a:rPr>
              <a:t>Pilot: synthetic, then a small real audience</a:t>
            </a:r>
          </a:p>
        </p:txBody>
      </p:sp>
      <p:sp>
        <p:nvSpPr>
          <p:cNvPr id="95" name="Shape 94"/>
          <p:cNvSpPr/>
          <p:nvPr/>
        </p:nvSpPr>
        <p:spPr>
          <a:xfrm>
            <a:off x="8655449"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3950208"/>
            <a:ext cx="1341555" cy="658368"/>
          </a:xfrm>
          <a:prstGeom prst="rect">
            <a:avLst/>
          </a:prstGeom>
          <a:noFill/>
        </p:spPr>
        <p:txBody>
          <a:bodyPr wrap="square" lIns="0" rIns="0" tIns="0" bIns="0" anchor="ctr">
            <a:spAutoFit/>
          </a:bodyPr>
          <a:lstStyle/>
          <a:p>
            <a:pPr>
              <a:spcAft>
                <a:spcPts val="100"/>
              </a:spcAft>
            </a:pPr>
            <a:r>
              <a:rPr sz="700" b="1" i="0">
                <a:solidFill>
                  <a:srgbClr val="FFD700"/>
                </a:solidFill>
                <a:latin typeface="Trenda IG Text"/>
              </a:rPr>
              <a:t>EXIT  </a:t>
            </a:r>
          </a:p>
          <a:p>
            <a:pPr>
              <a:spcAft>
                <a:spcPts val="100"/>
              </a:spcAft>
            </a:pPr>
            <a:r>
              <a:rPr sz="700" b="1" i="0">
                <a:solidFill>
                  <a:srgbClr val="FFFFFF"/>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6  </a:t>
            </a:r>
            <a:r>
              <a:rPr sz="700" b="1" i="0">
                <a:solidFill>
                  <a:srgbClr val="000000"/>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20 + feedback</a:t>
            </a:r>
          </a:p>
        </p:txBody>
      </p:sp>
      <p:sp>
        <p:nvSpPr>
          <p:cNvPr id="103" name="Shape 102"/>
          <p:cNvSpPr/>
          <p:nvPr/>
        </p:nvSpPr>
        <p:spPr>
          <a:xfrm>
            <a:off x="10307900"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17628" y="2157984"/>
            <a:ext cx="1304979" cy="548640"/>
          </a:xfrm>
          <a:prstGeom prst="rect">
            <a:avLst/>
          </a:prstGeom>
          <a:noFill/>
        </p:spPr>
        <p:txBody>
          <a:bodyPr wrap="square" lIns="0" rIns="0" tIns="0" bIns="0" anchor="t">
            <a:spAutoFit/>
          </a:bodyPr>
          <a:lstStyle/>
          <a:p>
            <a:r>
              <a:rPr sz="700" b="0" i="0">
                <a:solidFill>
                  <a:srgbClr val="FFFFFF"/>
                </a:solidFill>
                <a:latin typeface="Trenda IG Text"/>
              </a:rPr>
              <a:t>Measurement vs holdout; refresh Gold A</a:t>
            </a:r>
          </a:p>
        </p:txBody>
      </p:sp>
      <p:sp>
        <p:nvSpPr>
          <p:cNvPr id="105" name="Shape 104"/>
          <p:cNvSpPr/>
          <p:nvPr/>
        </p:nvSpPr>
        <p:spPr>
          <a:xfrm>
            <a:off x="10307900" y="280720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17628" y="2724912"/>
            <a:ext cx="1304979" cy="548640"/>
          </a:xfrm>
          <a:prstGeom prst="rect">
            <a:avLst/>
          </a:prstGeom>
          <a:noFill/>
        </p:spPr>
        <p:txBody>
          <a:bodyPr wrap="square" lIns="0" rIns="0" tIns="0" bIns="0" anchor="t">
            <a:spAutoFit/>
          </a:bodyPr>
          <a:lstStyle/>
          <a:p>
            <a:r>
              <a:rPr sz="700" b="0" i="0">
                <a:solidFill>
                  <a:srgbClr val="FFFFFF"/>
                </a:solidFill>
                <a:latin typeface="Trenda IG Text"/>
              </a:rPr>
              <a:t>Compare with the Phase 0 baseline: first real speed and ROI</a:t>
            </a:r>
          </a:p>
        </p:txBody>
      </p:sp>
      <p:sp>
        <p:nvSpPr>
          <p:cNvPr id="107" name="Shape 106"/>
          <p:cNvSpPr/>
          <p:nvPr/>
        </p:nvSpPr>
        <p:spPr>
          <a:xfrm>
            <a:off x="10307900" y="337413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17628" y="3291839"/>
            <a:ext cx="1304979" cy="548640"/>
          </a:xfrm>
          <a:prstGeom prst="rect">
            <a:avLst/>
          </a:prstGeom>
          <a:noFill/>
        </p:spPr>
        <p:txBody>
          <a:bodyPr wrap="square" lIns="0" rIns="0" tIns="0" bIns="0" anchor="t">
            <a:spAutoFit/>
          </a:bodyPr>
          <a:lstStyle/>
          <a:p>
            <a:r>
              <a:rPr sz="700" b="0" i="0">
                <a:solidFill>
                  <a:srgbClr val="FFFFFF"/>
                </a:solidFill>
                <a:latin typeface="Trenda IG Text"/>
              </a:rPr>
              <a:t>More templates, Path B, monitoring, multi-tenancy</a:t>
            </a:r>
          </a:p>
        </p:txBody>
      </p:sp>
      <p:sp>
        <p:nvSpPr>
          <p:cNvPr id="109" name="Shape 108"/>
          <p:cNvSpPr/>
          <p:nvPr/>
        </p:nvSpPr>
        <p:spPr>
          <a:xfrm>
            <a:off x="1028961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700" b="1" i="0" spc="80">
                <a:solidFill>
                  <a:srgbClr val="FF0069"/>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700" b="1" i="0" spc="80">
                <a:solidFill>
                  <a:srgbClr val="FFFFFE"/>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700" b="1" i="0">
                <a:solidFill>
                  <a:srgbClr val="FF0069"/>
                </a:solidFill>
                <a:latin typeface="Trenda IG Text"/>
              </a:rPr>
              <a:t>SYNTHETIC GOLD A FIRST</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700" b="1" i="0" spc="80">
                <a:solidFill>
                  <a:srgbClr val="000000"/>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700" b="1" i="0" spc="120">
                <a:solidFill>
                  <a:srgbClr val="FFFFFF"/>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Governance before agents</a:t>
            </a:r>
          </a:p>
          <a:p>
            <a:pPr>
              <a:spcAft>
                <a:spcPts val="100"/>
              </a:spcAft>
            </a:pPr>
            <a:r>
              <a:rPr sz="700" b="0" i="0">
                <a:solidFill>
                  <a:srgbClr val="BFBFBF"/>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Build and test before release</a:t>
            </a:r>
          </a:p>
          <a:p>
            <a:pPr>
              <a:spcAft>
                <a:spcPts val="100"/>
              </a:spcAft>
            </a:pPr>
            <a:r>
              <a:rPr sz="700" b="0" i="0">
                <a:solidFill>
                  <a:srgbClr val="BFBFBF"/>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Data Cloud before direct</a:t>
            </a:r>
          </a:p>
          <a:p>
            <a:pPr>
              <a:spcAft>
                <a:spcPts val="100"/>
              </a:spcAft>
            </a:pPr>
            <a:r>
              <a:rPr sz="700" b="0" i="0">
                <a:solidFill>
                  <a:srgbClr val="BFBFBF"/>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700" b="1" i="0">
                <a:solidFill>
                  <a:srgbClr val="FFFFFF"/>
                </a:solidFill>
                <a:latin typeface="Trenda IG Text"/>
              </a:rPr>
              <a:t>Nothing in Phase 5 touches real patients until Phases 2 and 4 pass their exits. </a:t>
            </a:r>
            <a:r>
              <a:rPr sz="700" b="0" i="0">
                <a:solidFill>
                  <a:srgbClr val="BFBFBF"/>
                </a:solidFill>
                <a:latin typeface="Trenda IG Text"/>
              </a:rPr>
              <a:t>No speed or ROI number is committed before Phase 6 compares the pilot with today's baseline.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Articles in Google Cloud keep every answer accurate. Booking, cancelling and rescheduling go through the scheduling system of record, only after the caller is verified.</a:t>
            </a:r>
          </a:p>
        </p:txBody>
      </p:sp>
      <p:sp>
        <p:nvSpPr>
          <p:cNvPr id="5" name="Shape 4"/>
          <p:cNvSpPr/>
          <p:nvPr/>
        </p:nvSpPr>
        <p:spPr>
          <a:xfrm>
            <a:off x="411480" y="1188720"/>
            <a:ext cx="1874519" cy="960120"/>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F2F2F2"/>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700" b="0" i="0">
                <a:solidFill>
                  <a:srgbClr val="B3B3B3"/>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F2F2F2"/>
                </a:solidFill>
                <a:latin typeface="Trenda IG Text"/>
              </a:rPr>
              <a:t>Sierra</a:t>
            </a:r>
          </a:p>
          <a:p>
            <a:pPr>
              <a:lnSpc>
                <a:spcPct val="90000"/>
              </a:lnSpc>
            </a:pPr>
            <a:r>
              <a:rPr sz="700" b="0" i="0">
                <a:solidFill>
                  <a:srgbClr val="B3B3B3"/>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Answers questions</a:t>
            </a:r>
          </a:p>
          <a:p>
            <a:pPr>
              <a:spcAft>
                <a:spcPts val="100"/>
              </a:spcAft>
            </a:pPr>
            <a:r>
              <a:rPr sz="700" b="0" i="0">
                <a:solidFill>
                  <a:srgbClr val="B3B3B3"/>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Verifies the caller</a:t>
            </a:r>
          </a:p>
          <a:p>
            <a:pPr>
              <a:spcAft>
                <a:spcPts val="100"/>
              </a:spcAft>
            </a:pPr>
            <a:r>
              <a:rPr sz="700" b="0" i="0">
                <a:solidFill>
                  <a:srgbClr val="B3B3B3"/>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Books, cancels, reschedules</a:t>
            </a:r>
          </a:p>
          <a:p>
            <a:pPr>
              <a:spcAft>
                <a:spcPts val="100"/>
              </a:spcAft>
            </a:pPr>
            <a:r>
              <a:rPr sz="700" b="0" i="0">
                <a:solidFill>
                  <a:srgbClr val="B3B3B3"/>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Hands off to a person</a:t>
            </a:r>
          </a:p>
          <a:p>
            <a:pPr>
              <a:spcAft>
                <a:spcPts val="100"/>
              </a:spcAft>
            </a:pPr>
            <a:r>
              <a:rPr sz="700" b="0" i="0">
                <a:solidFill>
                  <a:srgbClr val="B3B3B3"/>
                </a:solidFill>
                <a:latin typeface="Trenda IG Text"/>
              </a:rPr>
              <a:t>when it should not decide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700" b="1" i="0" spc="120">
                <a:solidFill>
                  <a:srgbClr val="F2F2F2"/>
                </a:solidFill>
                <a:latin typeface="Trenda IG Text"/>
              </a:rPr>
              <a:t>1  KNOWLEDGE PATH</a:t>
            </a:r>
            <a:r>
              <a:rPr sz="700" b="0" i="0">
                <a:solidFill>
                  <a:srgbClr val="B3B3B3"/>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700" b="1" i="0" spc="120">
                <a:solidFill>
                  <a:srgbClr val="F2F2F2"/>
                </a:solidFill>
                <a:latin typeface="Trenda IG Text"/>
              </a:rPr>
              <a:t>2  PATIENT PATH</a:t>
            </a:r>
            <a:r>
              <a:rPr sz="700" b="0" i="0">
                <a:solidFill>
                  <a:srgbClr val="B3B3B3"/>
                </a:solidFill>
                <a:latin typeface="Trenda IG Text"/>
              </a:rPr>
              <a:t>   PHI · verified caller only · this patient only</a:t>
            </a:r>
          </a:p>
        </p:txBody>
      </p:sp>
      <p:sp>
        <p:nvSpPr>
          <p:cNvPr id="26" name="Shape 24"/>
          <p:cNvSpPr/>
          <p:nvPr/>
        </p:nvSpPr>
        <p:spPr>
          <a:xfrm>
            <a:off x="2578608"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700" b="1" i="0">
                <a:solidFill>
                  <a:srgbClr val="F2F2F2"/>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FFD7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700" b="0" i="0">
                <a:solidFill>
                  <a:srgbClr val="B3B3B3"/>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Synced to Sierra on every change, so no stale answer.</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700" b="0" i="0">
                <a:solidFill>
                  <a:srgbClr val="00D6F2"/>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700" b="1" i="0" spc="100">
                <a:solidFill>
                  <a:srgbClr val="8C8C8C"/>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700" b="0" i="0">
                <a:solidFill>
                  <a:srgbClr val="F2F2F2"/>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700" b="0" i="0">
                <a:solidFill>
                  <a:srgbClr val="F2F2F2"/>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700" b="0" i="0">
                <a:solidFill>
                  <a:srgbClr val="F2F2F2"/>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5C5C5C"/>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700" b="1" i="0" spc="80">
                <a:solidFill>
                  <a:srgbClr val="00D6F2"/>
                </a:solidFill>
                <a:latin typeface="Trenda IG Text"/>
              </a:rPr>
              <a:t>NO PATIENT RECORDS IN THE KNOWLEDGE BASE</a:t>
            </a:r>
          </a:p>
        </p:txBody>
      </p:sp>
      <p:sp>
        <p:nvSpPr>
          <p:cNvPr id="63" name="Shape 59"/>
          <p:cNvSpPr/>
          <p:nvPr/>
        </p:nvSpPr>
        <p:spPr>
          <a:xfrm>
            <a:off x="2578608" y="3721608"/>
            <a:ext cx="1600200" cy="91440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197864" cy="237744"/>
          </a:xfrm>
          <a:prstGeom prst="rect">
            <a:avLst/>
          </a:prstGeom>
          <a:noFill/>
        </p:spPr>
        <p:txBody>
          <a:bodyPr wrap="square" lIns="0" rIns="0" tIns="0" bIns="0" anchor="ctr">
            <a:spAutoFit/>
          </a:bodyPr>
          <a:lstStyle/>
          <a:p>
            <a:r>
              <a:rPr sz="700" b="1" i="0">
                <a:solidFill>
                  <a:srgbClr val="FFD700"/>
                </a:solidFill>
                <a:latin typeface="Trenda IG Text"/>
              </a:rPr>
              <a:t>Verify the caller</a:t>
            </a:r>
          </a:p>
        </p:txBody>
      </p:sp>
      <p:sp>
        <p:nvSpPr>
          <p:cNvPr id="66" name="Text 61"/>
          <p:cNvSpPr txBox="1"/>
          <p:nvPr/>
        </p:nvSpPr>
        <p:spPr>
          <a:xfrm>
            <a:off x="2670048" y="4050792"/>
            <a:ext cx="1435608" cy="548640"/>
          </a:xfrm>
          <a:prstGeom prst="rect">
            <a:avLst/>
          </a:prstGeom>
          <a:noFill/>
        </p:spPr>
        <p:txBody>
          <a:bodyPr wrap="square" lIns="0" rIns="0" tIns="0" bIns="0" anchor="t">
            <a:spAutoFit/>
          </a:bodyPr>
          <a:lstStyle/>
          <a:p>
            <a:r>
              <a:rPr sz="700" b="0" i="0">
                <a:solidFill>
                  <a:srgbClr val="B3B3B3"/>
                </a:solidFill>
                <a:latin typeface="Trenda IG Text"/>
              </a:rPr>
              <a:t>Date of birth plus a one-time code, before any patient detail.</a:t>
            </a:r>
          </a:p>
        </p:txBody>
      </p:sp>
      <p:sp>
        <p:nvSpPr>
          <p:cNvPr id="67" name="Differentiator Border 63"/>
          <p:cNvSpPr/>
          <p:nvPr/>
        </p:nvSpPr>
        <p:spPr>
          <a:xfrm>
            <a:off x="4361688" y="3721608"/>
            <a:ext cx="2331720" cy="9144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379976" y="3739896"/>
            <a:ext cx="2295144" cy="87782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471416" y="3776472"/>
            <a:ext cx="2112263" cy="237744"/>
          </a:xfrm>
          <a:prstGeom prst="rect">
            <a:avLst/>
          </a:prstGeom>
          <a:noFill/>
        </p:spPr>
        <p:txBody>
          <a:bodyPr wrap="square" lIns="0" rIns="0" tIns="0" bIns="0" anchor="ctr">
            <a:spAutoFit/>
          </a:bodyPr>
          <a:lstStyle/>
          <a:p>
            <a:r>
              <a:rPr sz="700" b="1" i="0">
                <a:solidFill>
                  <a:srgbClr val="F2F2F2"/>
                </a:solidFill>
                <a:latin typeface="Trenda IG Text"/>
              </a:rPr>
              <a:t>Scoped scheduling API</a:t>
            </a:r>
          </a:p>
        </p:txBody>
      </p:sp>
      <p:sp>
        <p:nvSpPr>
          <p:cNvPr id="70" name="Text 66"/>
          <p:cNvSpPr txBox="1"/>
          <p:nvPr/>
        </p:nvSpPr>
        <p:spPr>
          <a:xfrm>
            <a:off x="4471416" y="4032504"/>
            <a:ext cx="2130551" cy="566927"/>
          </a:xfrm>
          <a:prstGeom prst="rect">
            <a:avLst/>
          </a:prstGeom>
          <a:noFill/>
        </p:spPr>
        <p:txBody>
          <a:bodyPr wrap="square" lIns="0" rIns="0" tIns="0" bIns="0" anchor="t">
            <a:spAutoFit/>
          </a:bodyPr>
          <a:lstStyle/>
          <a:p>
            <a:r>
              <a:rPr sz="700" b="0" i="0">
                <a:solidFill>
                  <a:srgbClr val="B3B3B3"/>
                </a:solidFill>
                <a:latin typeface="Trenda IG Text"/>
              </a:rPr>
              <a:t>Returns only this patient's data and minimum fields. Enforces the rules; the agent never writes queries.</a:t>
            </a:r>
          </a:p>
        </p:txBody>
      </p:sp>
      <p:sp>
        <p:nvSpPr>
          <p:cNvPr id="71" name="Shape 67"/>
          <p:cNvSpPr/>
          <p:nvPr/>
        </p:nvSpPr>
        <p:spPr>
          <a:xfrm>
            <a:off x="6876288" y="3721608"/>
            <a:ext cx="2212848" cy="914400"/>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8"/>
          <p:cNvSpPr/>
          <p:nvPr/>
        </p:nvSpPr>
        <p:spPr>
          <a:xfrm>
            <a:off x="6967728" y="3794760"/>
            <a:ext cx="329184"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9"/>
          <p:cNvSpPr txBox="1"/>
          <p:nvPr/>
        </p:nvSpPr>
        <p:spPr>
          <a:xfrm>
            <a:off x="6967728" y="3794760"/>
            <a:ext cx="329184" cy="182880"/>
          </a:xfrm>
          <a:prstGeom prst="rect">
            <a:avLst/>
          </a:prstGeom>
          <a:noFill/>
        </p:spPr>
        <p:txBody>
          <a:bodyPr wrap="square" lIns="0" rIns="0" tIns="0" bIns="0" anchor="ctr">
            <a:spAutoFit/>
          </a:bodyPr>
          <a:lstStyle/>
          <a:p>
            <a:pPr algn="ctr"/>
            <a:r>
              <a:rPr sz="700" b="1" i="0">
                <a:solidFill>
                  <a:srgbClr val="F2F2F2"/>
                </a:solidFill>
                <a:latin typeface="Trenda IG Text"/>
              </a:rPr>
              <a:t>Epic</a:t>
            </a:r>
          </a:p>
        </p:txBody>
      </p:sp>
      <p:sp>
        <p:nvSpPr>
          <p:cNvPr id="74" name="Text 70"/>
          <p:cNvSpPr txBox="1"/>
          <p:nvPr/>
        </p:nvSpPr>
        <p:spPr>
          <a:xfrm>
            <a:off x="7351776" y="3767328"/>
            <a:ext cx="1664207" cy="237744"/>
          </a:xfrm>
          <a:prstGeom prst="rect">
            <a:avLst/>
          </a:prstGeom>
          <a:noFill/>
        </p:spPr>
        <p:txBody>
          <a:bodyPr wrap="square" lIns="0" rIns="0" tIns="0" bIns="0" anchor="ctr">
            <a:spAutoFit/>
          </a:bodyPr>
          <a:lstStyle/>
          <a:p>
            <a:r>
              <a:rPr sz="700" b="1" i="0">
                <a:solidFill>
                  <a:srgbClr val="F2F2F2"/>
                </a:solidFill>
                <a:latin typeface="Trenda IG Text"/>
              </a:rPr>
              <a:t>Scheduling system of record</a:t>
            </a:r>
          </a:p>
        </p:txBody>
      </p:sp>
      <p:sp>
        <p:nvSpPr>
          <p:cNvPr id="75" name="Text 71"/>
          <p:cNvSpPr txBox="1"/>
          <p:nvPr/>
        </p:nvSpPr>
        <p:spPr>
          <a:xfrm>
            <a:off x="6967728" y="4050792"/>
            <a:ext cx="2048255" cy="548640"/>
          </a:xfrm>
          <a:prstGeom prst="rect">
            <a:avLst/>
          </a:prstGeom>
          <a:noFill/>
        </p:spPr>
        <p:txBody>
          <a:bodyPr wrap="square" lIns="0" rIns="0" tIns="0" bIns="0" anchor="t">
            <a:spAutoFit/>
          </a:bodyPr>
          <a:lstStyle/>
          <a:p>
            <a:r>
              <a:rPr sz="700" b="0" i="0">
                <a:solidFill>
                  <a:srgbClr val="B3B3B3"/>
                </a:solidFill>
                <a:latin typeface="Trenda IG Text"/>
              </a:rPr>
              <a:t>Live availability; book, cancel, reschedule written here. Never a GCP copy, which can lag.</a:t>
            </a:r>
          </a:p>
        </p:txBody>
      </p:sp>
      <p:cxnSp>
        <p:nvCxnSpPr>
          <p:cNvPr id="76" name="Arrow 72"/>
          <p:cNvCxnSpPr/>
          <p:nvPr/>
        </p:nvCxnSpPr>
        <p:spPr>
          <a:xfrm>
            <a:off x="4178808" y="4178808"/>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3"/>
          <p:cNvCxnSpPr/>
          <p:nvPr/>
        </p:nvCxnSpPr>
        <p:spPr>
          <a:xfrm>
            <a:off x="6693408" y="4069080"/>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4"/>
          <p:cNvCxnSpPr/>
          <p:nvPr/>
        </p:nvCxnSpPr>
        <p:spPr>
          <a:xfrm flipH="1">
            <a:off x="6693408" y="4288536"/>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5"/>
          <p:cNvCxnSpPr/>
          <p:nvPr/>
        </p:nvCxnSpPr>
        <p:spPr>
          <a:xfrm>
            <a:off x="2286000" y="4178808"/>
            <a:ext cx="292608"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Text 76"/>
          <p:cNvSpPr txBox="1"/>
          <p:nvPr/>
        </p:nvSpPr>
        <p:spPr>
          <a:xfrm>
            <a:off x="2578608" y="4764024"/>
            <a:ext cx="960120" cy="201168"/>
          </a:xfrm>
          <a:prstGeom prst="rect">
            <a:avLst/>
          </a:prstGeom>
          <a:noFill/>
        </p:spPr>
        <p:txBody>
          <a:bodyPr wrap="square" lIns="0" rIns="0" tIns="0" bIns="0" anchor="ctr">
            <a:spAutoFit/>
          </a:bodyPr>
          <a:lstStyle/>
          <a:p>
            <a:r>
              <a:rPr sz="700" b="1" i="0" spc="100">
                <a:solidFill>
                  <a:srgbClr val="8C8C8C"/>
                </a:solidFill>
                <a:latin typeface="Trenda IG Text"/>
              </a:rPr>
              <a:t>RULES IN THE API</a:t>
            </a:r>
          </a:p>
        </p:txBody>
      </p:sp>
      <p:sp>
        <p:nvSpPr>
          <p:cNvPr id="81" name="Shape 77"/>
          <p:cNvSpPr/>
          <p:nvPr/>
        </p:nvSpPr>
        <p:spPr>
          <a:xfrm>
            <a:off x="3566160" y="4764024"/>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8"/>
          <p:cNvSpPr txBox="1"/>
          <p:nvPr/>
        </p:nvSpPr>
        <p:spPr>
          <a:xfrm>
            <a:off x="3566160" y="4764024"/>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cancellation window</a:t>
            </a:r>
          </a:p>
        </p:txBody>
      </p:sp>
      <p:sp>
        <p:nvSpPr>
          <p:cNvPr id="83" name="Shape 79"/>
          <p:cNvSpPr/>
          <p:nvPr/>
        </p:nvSpPr>
        <p:spPr>
          <a:xfrm>
            <a:off x="4707331" y="4764024"/>
            <a:ext cx="94366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0"/>
          <p:cNvSpPr txBox="1"/>
          <p:nvPr/>
        </p:nvSpPr>
        <p:spPr>
          <a:xfrm>
            <a:off x="4707331" y="4764024"/>
            <a:ext cx="943660" cy="201168"/>
          </a:xfrm>
          <a:prstGeom prst="rect">
            <a:avLst/>
          </a:prstGeom>
          <a:noFill/>
        </p:spPr>
        <p:txBody>
          <a:bodyPr wrap="square" lIns="0" rIns="0" tIns="0" bIns="0" anchor="ctr">
            <a:spAutoFit/>
          </a:bodyPr>
          <a:lstStyle/>
          <a:p>
            <a:pPr algn="ctr"/>
            <a:r>
              <a:rPr sz="700" b="0" i="0">
                <a:solidFill>
                  <a:srgbClr val="F2F2F2"/>
                </a:solidFill>
                <a:latin typeface="Trenda IG Text"/>
              </a:rPr>
              <a:t>reschedule rules</a:t>
            </a:r>
          </a:p>
        </p:txBody>
      </p:sp>
      <p:sp>
        <p:nvSpPr>
          <p:cNvPr id="85" name="Shape 81"/>
          <p:cNvSpPr/>
          <p:nvPr/>
        </p:nvSpPr>
        <p:spPr>
          <a:xfrm>
            <a:off x="5705856" y="4764024"/>
            <a:ext cx="705916"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2"/>
          <p:cNvSpPr txBox="1"/>
          <p:nvPr/>
        </p:nvSpPr>
        <p:spPr>
          <a:xfrm>
            <a:off x="5705856" y="4764024"/>
            <a:ext cx="705916" cy="201168"/>
          </a:xfrm>
          <a:prstGeom prst="rect">
            <a:avLst/>
          </a:prstGeom>
          <a:noFill/>
        </p:spPr>
        <p:txBody>
          <a:bodyPr wrap="square" lIns="0" rIns="0" tIns="0" bIns="0" anchor="ctr">
            <a:spAutoFit/>
          </a:bodyPr>
          <a:lstStyle/>
          <a:p>
            <a:pPr algn="ctr"/>
            <a:r>
              <a:rPr sz="700" b="0" i="0">
                <a:solidFill>
                  <a:srgbClr val="F2F2F2"/>
                </a:solidFill>
                <a:latin typeface="Trenda IG Text"/>
              </a:rPr>
              <a:t>visit types</a:t>
            </a:r>
          </a:p>
        </p:txBody>
      </p:sp>
      <p:sp>
        <p:nvSpPr>
          <p:cNvPr id="87" name="Shape 83"/>
          <p:cNvSpPr/>
          <p:nvPr/>
        </p:nvSpPr>
        <p:spPr>
          <a:xfrm>
            <a:off x="6466636" y="4764024"/>
            <a:ext cx="118140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4"/>
          <p:cNvSpPr txBox="1"/>
          <p:nvPr/>
        </p:nvSpPr>
        <p:spPr>
          <a:xfrm>
            <a:off x="6466636" y="4764024"/>
            <a:ext cx="1181404" cy="201168"/>
          </a:xfrm>
          <a:prstGeom prst="rect">
            <a:avLst/>
          </a:prstGeom>
          <a:noFill/>
        </p:spPr>
        <p:txBody>
          <a:bodyPr wrap="square" lIns="0" rIns="0" tIns="0" bIns="0" anchor="ctr">
            <a:spAutoFit/>
          </a:bodyPr>
          <a:lstStyle/>
          <a:p>
            <a:pPr algn="ctr"/>
            <a:r>
              <a:rPr sz="700" b="0" i="0">
                <a:solidFill>
                  <a:srgbClr val="F2F2F2"/>
                </a:solidFill>
                <a:latin typeface="Trenda IG Text"/>
              </a:rPr>
              <a:t>provider restrictions</a:t>
            </a:r>
          </a:p>
        </p:txBody>
      </p:sp>
      <p:sp>
        <p:nvSpPr>
          <p:cNvPr id="89" name="Shape 85"/>
          <p:cNvSpPr/>
          <p:nvPr/>
        </p:nvSpPr>
        <p:spPr>
          <a:xfrm>
            <a:off x="7702905" y="4764024"/>
            <a:ext cx="848563"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6"/>
          <p:cNvSpPr txBox="1"/>
          <p:nvPr/>
        </p:nvSpPr>
        <p:spPr>
          <a:xfrm>
            <a:off x="7702905" y="4764024"/>
            <a:ext cx="848563" cy="201168"/>
          </a:xfrm>
          <a:prstGeom prst="rect">
            <a:avLst/>
          </a:prstGeom>
          <a:noFill/>
        </p:spPr>
        <p:txBody>
          <a:bodyPr wrap="square" lIns="0" rIns="0" tIns="0" bIns="0" anchor="ctr">
            <a:spAutoFit/>
          </a:bodyPr>
          <a:lstStyle/>
          <a:p>
            <a:pPr algn="ctr"/>
            <a:r>
              <a:rPr sz="700" b="0" i="0">
                <a:solidFill>
                  <a:srgbClr val="F2F2F2"/>
                </a:solidFill>
                <a:latin typeface="Trenda IG Text"/>
              </a:rPr>
              <a:t>minimum fields</a:t>
            </a:r>
          </a:p>
        </p:txBody>
      </p:sp>
      <p:sp>
        <p:nvSpPr>
          <p:cNvPr id="91" name="Shape 87"/>
          <p:cNvSpPr/>
          <p:nvPr/>
        </p:nvSpPr>
        <p:spPr>
          <a:xfrm>
            <a:off x="9189720" y="1188720"/>
            <a:ext cx="2587752" cy="404164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8"/>
          <p:cNvSpPr/>
          <p:nvPr/>
        </p:nvSpPr>
        <p:spPr>
          <a:xfrm>
            <a:off x="9189720" y="1188720"/>
            <a:ext cx="258775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9299448" y="1188720"/>
            <a:ext cx="2368296" cy="256032"/>
          </a:xfrm>
          <a:prstGeom prst="rect">
            <a:avLst/>
          </a:prstGeom>
          <a:noFill/>
        </p:spPr>
        <p:txBody>
          <a:bodyPr wrap="square" lIns="0" rIns="0" tIns="0" bIns="0" anchor="ctr">
            <a:spAutoFit/>
          </a:bodyPr>
          <a:lstStyle/>
          <a:p>
            <a:r>
              <a:rPr sz="700" b="1" i="0" spc="120">
                <a:solidFill>
                  <a:srgbClr val="F2F2F2"/>
                </a:solidFill>
                <a:latin typeface="Trenda IG Text"/>
              </a:rPr>
              <a:t>3  AFTER EVERY CALL</a:t>
            </a:r>
          </a:p>
        </p:txBody>
      </p:sp>
      <p:sp>
        <p:nvSpPr>
          <p:cNvPr id="94" name="Shape 90"/>
          <p:cNvSpPr/>
          <p:nvPr/>
        </p:nvSpPr>
        <p:spPr>
          <a:xfrm>
            <a:off x="9299448" y="1554480"/>
            <a:ext cx="2368296" cy="74980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5" name="Picture 94" descr="people.png"/>
          <p:cNvPicPr>
            <a:picLocks noChangeAspect="1"/>
          </p:cNvPicPr>
          <p:nvPr/>
        </p:nvPicPr>
        <p:blipFill>
          <a:blip r:embed="rId2"/>
          <a:stretch>
            <a:fillRect/>
          </a:stretch>
        </p:blipFill>
        <p:spPr>
          <a:xfrm>
            <a:off x="9390888" y="1627632"/>
            <a:ext cx="182880" cy="182880"/>
          </a:xfrm>
          <a:prstGeom prst="rect">
            <a:avLst/>
          </a:prstGeom>
        </p:spPr>
      </p:pic>
      <p:sp>
        <p:nvSpPr>
          <p:cNvPr id="96" name="Text 91"/>
          <p:cNvSpPr txBox="1"/>
          <p:nvPr/>
        </p:nvSpPr>
        <p:spPr>
          <a:xfrm>
            <a:off x="9628632" y="1600200"/>
            <a:ext cx="1965960" cy="237744"/>
          </a:xfrm>
          <a:prstGeom prst="rect">
            <a:avLst/>
          </a:prstGeom>
          <a:noFill/>
        </p:spPr>
        <p:txBody>
          <a:bodyPr wrap="square" lIns="0" rIns="0" tIns="0" bIns="0" anchor="ctr">
            <a:spAutoFit/>
          </a:bodyPr>
          <a:lstStyle/>
          <a:p>
            <a:r>
              <a:rPr sz="700" b="1" i="0">
                <a:solidFill>
                  <a:srgbClr val="FFD700"/>
                </a:solidFill>
                <a:latin typeface="Trenda IG Text"/>
              </a:rPr>
              <a:t>Hand-off to a person</a:t>
            </a:r>
          </a:p>
        </p:txBody>
      </p:sp>
      <p:sp>
        <p:nvSpPr>
          <p:cNvPr id="97" name="Text 92"/>
          <p:cNvSpPr txBox="1"/>
          <p:nvPr/>
        </p:nvSpPr>
        <p:spPr>
          <a:xfrm>
            <a:off x="9390888" y="1883664"/>
            <a:ext cx="2203703" cy="384047"/>
          </a:xfrm>
          <a:prstGeom prst="rect">
            <a:avLst/>
          </a:prstGeom>
          <a:noFill/>
        </p:spPr>
        <p:txBody>
          <a:bodyPr wrap="square" lIns="0" rIns="0" tIns="0" bIns="0" anchor="t">
            <a:spAutoFit/>
          </a:bodyPr>
          <a:lstStyle/>
          <a:p>
            <a:r>
              <a:rPr sz="700" b="0" i="0">
                <a:solidFill>
                  <a:srgbClr val="B3B3B3"/>
                </a:solidFill>
                <a:latin typeface="Trenda IG Text"/>
              </a:rPr>
              <a:t>Identity not verified, upset caller or a clinical question.</a:t>
            </a:r>
          </a:p>
        </p:txBody>
      </p:sp>
      <p:sp>
        <p:nvSpPr>
          <p:cNvPr id="98" name="Shape 93"/>
          <p:cNvSpPr/>
          <p:nvPr/>
        </p:nvSpPr>
        <p:spPr>
          <a:xfrm>
            <a:off x="9299448" y="24323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4"/>
          <p:cNvSpPr txBox="1"/>
          <p:nvPr/>
        </p:nvSpPr>
        <p:spPr>
          <a:xfrm>
            <a:off x="9390888" y="2487168"/>
            <a:ext cx="2203704" cy="201168"/>
          </a:xfrm>
          <a:prstGeom prst="rect">
            <a:avLst/>
          </a:prstGeom>
          <a:noFill/>
        </p:spPr>
        <p:txBody>
          <a:bodyPr wrap="square" lIns="0" rIns="0" tIns="0" bIns="0" anchor="ctr">
            <a:spAutoFit/>
          </a:bodyPr>
          <a:lstStyle/>
          <a:p>
            <a:r>
              <a:rPr sz="700" b="1" i="0">
                <a:solidFill>
                  <a:srgbClr val="F2F2F2"/>
                </a:solidFill>
                <a:latin typeface="Trenda IG Text"/>
              </a:rPr>
              <a:t>Masked transcripts</a:t>
            </a:r>
          </a:p>
        </p:txBody>
      </p:sp>
      <p:sp>
        <p:nvSpPr>
          <p:cNvPr id="100" name="Text 95"/>
          <p:cNvSpPr txBox="1"/>
          <p:nvPr/>
        </p:nvSpPr>
        <p:spPr>
          <a:xfrm>
            <a:off x="9390888" y="2715768"/>
            <a:ext cx="2185415" cy="512064"/>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Recordings hold PHI: access control, retention limits, masked before analytics.</a:t>
            </a:r>
          </a:p>
        </p:txBody>
      </p:sp>
      <p:sp>
        <p:nvSpPr>
          <p:cNvPr id="101" name="Shape 96"/>
          <p:cNvSpPr/>
          <p:nvPr/>
        </p:nvSpPr>
        <p:spPr>
          <a:xfrm>
            <a:off x="9299448" y="33467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googlebigquery.png"/>
          <p:cNvPicPr>
            <a:picLocks noChangeAspect="1"/>
          </p:cNvPicPr>
          <p:nvPr/>
        </p:nvPicPr>
        <p:blipFill>
          <a:blip r:embed="rId4"/>
          <a:stretch>
            <a:fillRect/>
          </a:stretch>
        </p:blipFill>
        <p:spPr>
          <a:xfrm>
            <a:off x="9390888" y="3410712"/>
            <a:ext cx="182880" cy="182880"/>
          </a:xfrm>
          <a:prstGeom prst="rect">
            <a:avLst/>
          </a:prstGeom>
        </p:spPr>
      </p:pic>
      <p:sp>
        <p:nvSpPr>
          <p:cNvPr id="103" name="Text 97"/>
          <p:cNvSpPr txBox="1"/>
          <p:nvPr/>
        </p:nvSpPr>
        <p:spPr>
          <a:xfrm>
            <a:off x="9628632" y="3401568"/>
            <a:ext cx="1965960" cy="201168"/>
          </a:xfrm>
          <a:prstGeom prst="rect">
            <a:avLst/>
          </a:prstGeom>
          <a:noFill/>
        </p:spPr>
        <p:txBody>
          <a:bodyPr wrap="square" lIns="0" rIns="0" tIns="0" bIns="0" anchor="ctr">
            <a:spAutoFit/>
          </a:bodyPr>
          <a:lstStyle/>
          <a:p>
            <a:r>
              <a:rPr sz="700" b="1" i="0">
                <a:solidFill>
                  <a:srgbClr val="F2F2F2"/>
                </a:solidFill>
                <a:latin typeface="Trenda IG Text"/>
              </a:rPr>
              <a:t>Outcomes to Gold A</a:t>
            </a:r>
          </a:p>
        </p:txBody>
      </p:sp>
      <p:sp>
        <p:nvSpPr>
          <p:cNvPr id="104" name="Text 98"/>
          <p:cNvSpPr txBox="1"/>
          <p:nvPr/>
        </p:nvSpPr>
        <p:spPr>
          <a:xfrm>
            <a:off x="9390888" y="3630168"/>
            <a:ext cx="2185415" cy="512064"/>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Booked, cancelled, rescheduled, escalated, as aggregates for measurement.</a:t>
            </a:r>
          </a:p>
        </p:txBody>
      </p:sp>
      <p:sp>
        <p:nvSpPr>
          <p:cNvPr id="105" name="Shape 99"/>
          <p:cNvSpPr/>
          <p:nvPr/>
        </p:nvSpPr>
        <p:spPr>
          <a:xfrm>
            <a:off x="9299448" y="42611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0"/>
          <p:cNvSpPr txBox="1"/>
          <p:nvPr/>
        </p:nvSpPr>
        <p:spPr>
          <a:xfrm>
            <a:off x="9390888" y="4315968"/>
            <a:ext cx="2203704" cy="201168"/>
          </a:xfrm>
          <a:prstGeom prst="rect">
            <a:avLst/>
          </a:prstGeom>
          <a:noFill/>
        </p:spPr>
        <p:txBody>
          <a:bodyPr wrap="square" lIns="0" rIns="0" tIns="0" bIns="0" anchor="ctr">
            <a:spAutoFit/>
          </a:bodyPr>
          <a:lstStyle/>
          <a:p>
            <a:r>
              <a:rPr sz="700" b="1" i="0">
                <a:solidFill>
                  <a:srgbClr val="F2F2F2"/>
                </a:solidFill>
                <a:latin typeface="Trenda IG Text"/>
              </a:rPr>
              <a:t>Test calls before go-live</a:t>
            </a:r>
          </a:p>
        </p:txBody>
      </p:sp>
      <p:sp>
        <p:nvSpPr>
          <p:cNvPr id="107" name="Text 101"/>
          <p:cNvSpPr txBox="1"/>
          <p:nvPr/>
        </p:nvSpPr>
        <p:spPr>
          <a:xfrm>
            <a:off x="9390888" y="4544568"/>
            <a:ext cx="2185415" cy="512064"/>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Wrong caller, outside the window, a question no article covers.</a:t>
            </a:r>
          </a:p>
        </p:txBody>
      </p:sp>
      <p:sp>
        <p:nvSpPr>
          <p:cNvPr id="108" name="Text 10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SAFEGUARDS</a:t>
            </a:r>
          </a:p>
          <a:p>
            <a:pPr>
              <a:spcAft>
                <a:spcPts val="100"/>
              </a:spcAft>
            </a:pPr>
            <a:r>
              <a:rPr sz="700" b="0" i="0">
                <a:solidFill>
                  <a:srgbClr val="8C8C8C"/>
                </a:solidFill>
                <a:latin typeface="Trenda IG Text"/>
              </a:rPr>
              <a:t>accurate, and safe for patients</a:t>
            </a:r>
          </a:p>
        </p:txBody>
      </p:sp>
      <p:sp>
        <p:nvSpPr>
          <p:cNvPr id="109" name="Shape 103"/>
          <p:cNvSpPr/>
          <p:nvPr/>
        </p:nvSpPr>
        <p:spPr>
          <a:xfrm>
            <a:off x="164592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Shape 10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5"/>
          <p:cNvSpPr txBox="1"/>
          <p:nvPr/>
        </p:nvSpPr>
        <p:spPr>
          <a:xfrm>
            <a:off x="179222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BAA with Sierra</a:t>
            </a:r>
          </a:p>
          <a:p>
            <a:pPr>
              <a:spcAft>
                <a:spcPts val="100"/>
              </a:spcAft>
            </a:pPr>
            <a:r>
              <a:rPr sz="700" b="0" i="0">
                <a:solidFill>
                  <a:srgbClr val="B3B3B3"/>
                </a:solidFill>
                <a:latin typeface="Trenda IG Text"/>
              </a:rPr>
              <a:t>calls carry PHI</a:t>
            </a:r>
          </a:p>
        </p:txBody>
      </p:sp>
      <p:sp>
        <p:nvSpPr>
          <p:cNvPr id="112" name="Shape 106"/>
          <p:cNvSpPr/>
          <p:nvPr/>
        </p:nvSpPr>
        <p:spPr>
          <a:xfrm>
            <a:off x="3349752"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7"/>
          <p:cNvSpPr/>
          <p:nvPr/>
        </p:nvSpPr>
        <p:spPr>
          <a:xfrm>
            <a:off x="334975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8"/>
          <p:cNvSpPr txBox="1"/>
          <p:nvPr/>
        </p:nvSpPr>
        <p:spPr>
          <a:xfrm>
            <a:off x="3496056"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Verify before any PHI</a:t>
            </a:r>
          </a:p>
          <a:p>
            <a:pPr>
              <a:spcAft>
                <a:spcPts val="100"/>
              </a:spcAft>
            </a:pPr>
            <a:r>
              <a:rPr sz="700" b="0" i="0">
                <a:solidFill>
                  <a:srgbClr val="B3B3B3"/>
                </a:solidFill>
                <a:latin typeface="Trenda IG Text"/>
              </a:rPr>
              <a:t>then this patient only</a:t>
            </a:r>
          </a:p>
        </p:txBody>
      </p:sp>
      <p:sp>
        <p:nvSpPr>
          <p:cNvPr id="115" name="Shape 109"/>
          <p:cNvSpPr/>
          <p:nvPr/>
        </p:nvSpPr>
        <p:spPr>
          <a:xfrm>
            <a:off x="5053584"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0"/>
          <p:cNvSpPr/>
          <p:nvPr/>
        </p:nvSpPr>
        <p:spPr>
          <a:xfrm>
            <a:off x="50535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1"/>
          <p:cNvSpPr txBox="1"/>
          <p:nvPr/>
        </p:nvSpPr>
        <p:spPr>
          <a:xfrm>
            <a:off x="5199888"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System of record</a:t>
            </a:r>
          </a:p>
          <a:p>
            <a:pPr>
              <a:spcAft>
                <a:spcPts val="100"/>
              </a:spcAft>
            </a:pPr>
            <a:r>
              <a:rPr sz="700" b="0" i="0">
                <a:solidFill>
                  <a:srgbClr val="B3B3B3"/>
                </a:solidFill>
                <a:latin typeface="Trenda IG Text"/>
              </a:rPr>
              <a:t>never a GCP copy</a:t>
            </a:r>
          </a:p>
        </p:txBody>
      </p:sp>
      <p:sp>
        <p:nvSpPr>
          <p:cNvPr id="118" name="Shape 112"/>
          <p:cNvSpPr/>
          <p:nvPr/>
        </p:nvSpPr>
        <p:spPr>
          <a:xfrm>
            <a:off x="6757416"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13"/>
          <p:cNvSpPr/>
          <p:nvPr/>
        </p:nvSpPr>
        <p:spPr>
          <a:xfrm>
            <a:off x="6757416"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4"/>
          <p:cNvSpPr txBox="1"/>
          <p:nvPr/>
        </p:nvSpPr>
        <p:spPr>
          <a:xfrm>
            <a:off x="6903720"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Rules in the API</a:t>
            </a:r>
          </a:p>
          <a:p>
            <a:pPr>
              <a:spcAft>
                <a:spcPts val="100"/>
              </a:spcAft>
            </a:pPr>
            <a:r>
              <a:rPr sz="700" b="0" i="0">
                <a:solidFill>
                  <a:srgbClr val="B3B3B3"/>
                </a:solidFill>
                <a:latin typeface="Trenda IG Text"/>
              </a:rPr>
              <a:t>not only in an article</a:t>
            </a:r>
          </a:p>
        </p:txBody>
      </p:sp>
      <p:sp>
        <p:nvSpPr>
          <p:cNvPr id="121" name="Shape 115"/>
          <p:cNvSpPr/>
          <p:nvPr/>
        </p:nvSpPr>
        <p:spPr>
          <a:xfrm>
            <a:off x="8461248"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Shape 116"/>
          <p:cNvSpPr/>
          <p:nvPr/>
        </p:nvSpPr>
        <p:spPr>
          <a:xfrm>
            <a:off x="8461248"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7"/>
          <p:cNvSpPr txBox="1"/>
          <p:nvPr/>
        </p:nvSpPr>
        <p:spPr>
          <a:xfrm>
            <a:off x="8607552"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Governed articles</a:t>
            </a:r>
          </a:p>
          <a:p>
            <a:pPr>
              <a:spcAft>
                <a:spcPts val="100"/>
              </a:spcAft>
            </a:pPr>
            <a:r>
              <a:rPr sz="700" b="0" i="0">
                <a:solidFill>
                  <a:srgbClr val="B3B3B3"/>
                </a:solidFill>
                <a:latin typeface="Trenda IG Text"/>
              </a:rPr>
              <a:t>owner, version, PHI-scanned</a:t>
            </a:r>
          </a:p>
        </p:txBody>
      </p:sp>
      <p:sp>
        <p:nvSpPr>
          <p:cNvPr id="124" name="Shape 118"/>
          <p:cNvSpPr/>
          <p:nvPr/>
        </p:nvSpPr>
        <p:spPr>
          <a:xfrm>
            <a:off x="1016508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Shape 119"/>
          <p:cNvSpPr/>
          <p:nvPr/>
        </p:nvSpPr>
        <p:spPr>
          <a:xfrm>
            <a:off x="1016508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0"/>
          <p:cNvSpPr txBox="1"/>
          <p:nvPr/>
        </p:nvSpPr>
        <p:spPr>
          <a:xfrm>
            <a:off x="1031138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Tested before release</a:t>
            </a:r>
          </a:p>
          <a:p>
            <a:pPr>
              <a:spcAft>
                <a:spcPts val="100"/>
              </a:spcAft>
            </a:pPr>
            <a:r>
              <a:rPr sz="700" b="0" i="0">
                <a:solidFill>
                  <a:srgbClr val="B3B3B3"/>
                </a:solidFill>
                <a:latin typeface="Trenda IG Text"/>
              </a:rPr>
              <a:t>scripted test calls</a:t>
            </a:r>
          </a:p>
        </p:txBody>
      </p:sp>
      <p:sp>
        <p:nvSpPr>
          <p:cNvPr id="127" name="Shape 1"/>
          <p:cNvSpPr/>
          <p:nvPr/>
        </p:nvSpPr>
        <p:spPr>
          <a:xfrm>
            <a:off x="9464040" y="182880"/>
            <a:ext cx="2313432" cy="274320"/>
          </a:xfrm>
          <a:prstGeom prst="roundRect">
            <a:avLst>
              <a:gd name="adj" fmla="val 50000"/>
            </a:avLst>
          </a:prstGeom>
          <a:noFill/>
          <a:ln w="2222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2"/>
          <p:cNvSpPr txBox="1"/>
          <p:nvPr/>
        </p:nvSpPr>
        <p:spPr>
          <a:xfrm>
            <a:off x="9464040" y="182880"/>
            <a:ext cx="2313432" cy="274320"/>
          </a:xfrm>
          <a:prstGeom prst="rect">
            <a:avLst/>
          </a:prstGeom>
          <a:noFill/>
        </p:spPr>
        <p:txBody>
          <a:bodyPr wrap="square" lIns="0" rIns="0" tIns="0" bIns="0" anchor="ctr">
            <a:spAutoFit/>
          </a:bodyPr>
          <a:lstStyle/>
          <a:p>
            <a:pPr algn="ctr"/>
            <a:r>
              <a:rPr sz="800" b="1" i="0" spc="150">
                <a:solidFill>
                  <a:srgbClr val="FFFFFF"/>
                </a:solidFill>
                <a:latin typeface="Trenda IG Text"/>
              </a:rPr>
              <a:t>KEY DIFFERENTIATOR</a:t>
            </a:r>
          </a:p>
        </p:txBody>
      </p:sp>
      <p:sp>
        <p:nvSpPr>
          <p:cNvPr id="129" name="Shape 3"/>
          <p:cNvSpPr/>
          <p:nvPr/>
        </p:nvSpPr>
        <p:spPr>
          <a:xfrm>
            <a:off x="411480" y="1097280"/>
            <a:ext cx="11365992" cy="365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Shape 4"/>
          <p:cNvSpPr/>
          <p:nvPr/>
        </p:nvSpPr>
        <p:spPr>
          <a:xfrm>
            <a:off x="393192" y="2359152"/>
            <a:ext cx="1911095" cy="2889504"/>
          </a:xfrm>
          <a:prstGeom prst="roundRect">
            <a:avLst>
              <a:gd name="adj" fmla="val 4000"/>
            </a:avLst>
          </a:prstGeom>
          <a:noFill/>
          <a:ln w="2857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PLATFORM FIT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Platform fit: one harness for every pod, every job</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campaigns and the Sierra voice agent share one graph, one governance layer and one approval flow. Each agent is built once and serves every pod at once.</a:t>
            </a:r>
          </a:p>
        </p:txBody>
      </p:sp>
      <p:sp>
        <p:nvSpPr>
          <p:cNvPr id="5" name="Text 4"/>
          <p:cNvSpPr txBox="1"/>
          <p:nvPr/>
        </p:nvSpPr>
        <p:spPr>
          <a:xfrm>
            <a:off x="411480" y="1188720"/>
            <a:ext cx="1371600" cy="45720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ONE HARNESS</a:t>
            </a:r>
          </a:p>
          <a:p>
            <a:pPr>
              <a:spcAft>
                <a:spcPts val="100"/>
              </a:spcAft>
            </a:pPr>
            <a:r>
              <a:rPr sz="700" b="0" i="0">
                <a:solidFill>
                  <a:srgbClr val="8C8C8C"/>
                </a:solidFill>
                <a:latin typeface="Trenda IG Text"/>
              </a:rPr>
              <a:t>three jobs</a:t>
            </a:r>
          </a:p>
        </p:txBody>
      </p:sp>
      <p:sp>
        <p:nvSpPr>
          <p:cNvPr id="6" name="Shape 5"/>
          <p:cNvSpPr/>
          <p:nvPr/>
        </p:nvSpPr>
        <p:spPr>
          <a:xfrm>
            <a:off x="1783080" y="1188720"/>
            <a:ext cx="2240280" cy="457200"/>
          </a:xfrm>
          <a:prstGeom prst="roundRect">
            <a:avLst>
              <a:gd name="adj" fmla="val 12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penai-white.png"/>
          <p:cNvPicPr>
            <a:picLocks noChangeAspect="1"/>
          </p:cNvPicPr>
          <p:nvPr/>
        </p:nvPicPr>
        <p:blipFill>
          <a:blip r:embed="rId2"/>
          <a:stretch>
            <a:fillRect/>
          </a:stretch>
        </p:blipFill>
        <p:spPr>
          <a:xfrm>
            <a:off x="1892807" y="1316736"/>
            <a:ext cx="201168" cy="201168"/>
          </a:xfrm>
          <a:prstGeom prst="rect">
            <a:avLst/>
          </a:prstGeom>
        </p:spPr>
      </p:pic>
      <p:sp>
        <p:nvSpPr>
          <p:cNvPr id="8" name="Text 6"/>
          <p:cNvSpPr txBox="1"/>
          <p:nvPr/>
        </p:nvSpPr>
        <p:spPr>
          <a:xfrm>
            <a:off x="2167127" y="1188720"/>
            <a:ext cx="1783080" cy="457200"/>
          </a:xfrm>
          <a:prstGeom prst="rect">
            <a:avLst/>
          </a:prstGeom>
          <a:noFill/>
        </p:spPr>
        <p:txBody>
          <a:bodyPr wrap="square" lIns="0" rIns="0" tIns="0" bIns="0" anchor="ctr">
            <a:spAutoFit/>
          </a:bodyPr>
          <a:lstStyle/>
          <a:p>
            <a:r>
              <a:rPr sz="720" b="1" i="0">
                <a:solidFill>
                  <a:srgbClr val="F2F2F2"/>
                </a:solidFill>
                <a:latin typeface="Trenda IG Text"/>
              </a:rPr>
              <a:t>Delivery</a:t>
            </a:r>
          </a:p>
          <a:p>
            <a:r>
              <a:rPr sz="700" b="0" i="0">
                <a:solidFill>
                  <a:srgbClr val="B3B3B3"/>
                </a:solidFill>
                <a:latin typeface="Trenda IG Text"/>
              </a:rPr>
              <a:t>Codex to production · every pod</a:t>
            </a:r>
          </a:p>
        </p:txBody>
      </p:sp>
      <p:sp>
        <p:nvSpPr>
          <p:cNvPr id="9" name="Shape 7"/>
          <p:cNvSpPr/>
          <p:nvPr/>
        </p:nvSpPr>
        <p:spPr>
          <a:xfrm>
            <a:off x="4133088" y="1188720"/>
            <a:ext cx="2240280" cy="457200"/>
          </a:xfrm>
          <a:prstGeom prst="roundRect">
            <a:avLst>
              <a:gd name="adj" fmla="val 12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alesforce.png"/>
          <p:cNvPicPr>
            <a:picLocks noChangeAspect="1"/>
          </p:cNvPicPr>
          <p:nvPr/>
        </p:nvPicPr>
        <p:blipFill>
          <a:blip r:embed="rId3"/>
          <a:stretch>
            <a:fillRect/>
          </a:stretch>
        </p:blipFill>
        <p:spPr>
          <a:xfrm>
            <a:off x="4242816" y="1316736"/>
            <a:ext cx="201168" cy="201168"/>
          </a:xfrm>
          <a:prstGeom prst="rect">
            <a:avLst/>
          </a:prstGeom>
        </p:spPr>
      </p:pic>
      <p:sp>
        <p:nvSpPr>
          <p:cNvPr id="11" name="Text 8"/>
          <p:cNvSpPr txBox="1"/>
          <p:nvPr/>
        </p:nvSpPr>
        <p:spPr>
          <a:xfrm>
            <a:off x="4517136" y="1188720"/>
            <a:ext cx="1783080" cy="457200"/>
          </a:xfrm>
          <a:prstGeom prst="rect">
            <a:avLst/>
          </a:prstGeom>
          <a:noFill/>
        </p:spPr>
        <p:txBody>
          <a:bodyPr wrap="square" lIns="0" rIns="0" tIns="0" bIns="0" anchor="ctr">
            <a:spAutoFit/>
          </a:bodyPr>
          <a:lstStyle/>
          <a:p>
            <a:r>
              <a:rPr sz="720" b="1" i="0">
                <a:solidFill>
                  <a:srgbClr val="F2F2F2"/>
                </a:solidFill>
                <a:latin typeface="Trenda IG Text"/>
              </a:rPr>
              <a:t>Campaigns</a:t>
            </a:r>
          </a:p>
          <a:p>
            <a:r>
              <a:rPr sz="700" b="0" i="0">
                <a:solidFill>
                  <a:srgbClr val="B3B3B3"/>
                </a:solidFill>
                <a:latin typeface="Trenda IG Text"/>
              </a:rPr>
              <a:t>Marketing Cloud on governed GCP data</a:t>
            </a:r>
          </a:p>
        </p:txBody>
      </p:sp>
      <p:sp>
        <p:nvSpPr>
          <p:cNvPr id="12" name="Shape 9"/>
          <p:cNvSpPr/>
          <p:nvPr/>
        </p:nvSpPr>
        <p:spPr>
          <a:xfrm>
            <a:off x="6483096" y="1188720"/>
            <a:ext cx="2240280" cy="457200"/>
          </a:xfrm>
          <a:prstGeom prst="roundRect">
            <a:avLst>
              <a:gd name="adj" fmla="val 12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0"/>
          <p:cNvSpPr txBox="1"/>
          <p:nvPr/>
        </p:nvSpPr>
        <p:spPr>
          <a:xfrm>
            <a:off x="6592824" y="1188720"/>
            <a:ext cx="2057400" cy="457200"/>
          </a:xfrm>
          <a:prstGeom prst="rect">
            <a:avLst/>
          </a:prstGeom>
          <a:noFill/>
        </p:spPr>
        <p:txBody>
          <a:bodyPr wrap="square" lIns="0" rIns="0" tIns="0" bIns="0" anchor="ctr">
            <a:spAutoFit/>
          </a:bodyPr>
          <a:lstStyle/>
          <a:p>
            <a:r>
              <a:rPr sz="720" b="1" i="0">
                <a:solidFill>
                  <a:srgbClr val="F2F2F2"/>
                </a:solidFill>
                <a:latin typeface="Trenda IG Text"/>
              </a:rPr>
              <a:t>Sierra voice agent</a:t>
            </a:r>
          </a:p>
          <a:p>
            <a:r>
              <a:rPr sz="700" b="0" i="0">
                <a:solidFill>
                  <a:srgbClr val="B3B3B3"/>
                </a:solidFill>
                <a:latin typeface="Trenda IG Text"/>
              </a:rPr>
              <a:t>bookings, reschedules, questions</a:t>
            </a:r>
          </a:p>
        </p:txBody>
      </p:sp>
      <p:sp>
        <p:nvSpPr>
          <p:cNvPr id="14" name="Text 11"/>
          <p:cNvSpPr txBox="1"/>
          <p:nvPr/>
        </p:nvSpPr>
        <p:spPr>
          <a:xfrm>
            <a:off x="8878824" y="1188720"/>
            <a:ext cx="2898648" cy="457200"/>
          </a:xfrm>
          <a:prstGeom prst="rect">
            <a:avLst/>
          </a:prstGeom>
          <a:noFill/>
        </p:spPr>
        <p:txBody>
          <a:bodyPr wrap="square" lIns="0" rIns="0" tIns="0" bIns="0" anchor="ctr">
            <a:spAutoFit/>
          </a:bodyPr>
          <a:lstStyle/>
          <a:p>
            <a:pPr>
              <a:spcAft>
                <a:spcPts val="100"/>
              </a:spcAft>
            </a:pPr>
            <a:r>
              <a:rPr sz="700" b="1" i="0" spc="100">
                <a:solidFill>
                  <a:srgbClr val="00D6F2"/>
                </a:solidFill>
                <a:latin typeface="Trenda IG Text"/>
              </a:rPr>
              <a:t>SHARED BY ALL THREE</a:t>
            </a:r>
          </a:p>
          <a:p>
            <a:pPr>
              <a:spcAft>
                <a:spcPts val="100"/>
              </a:spcAft>
            </a:pPr>
            <a:r>
              <a:rPr sz="700" b="0" i="0">
                <a:solidFill>
                  <a:srgbClr val="B3B3B3"/>
                </a:solidFill>
                <a:latin typeface="Trenda IG Text"/>
              </a:rPr>
              <a:t>knowledge graph · governance · evals · approvals · change passport</a:t>
            </a:r>
          </a:p>
        </p:txBody>
      </p:sp>
      <p:sp>
        <p:nvSpPr>
          <p:cNvPr id="15" name="Shape 12"/>
          <p:cNvSpPr/>
          <p:nvPr/>
        </p:nvSpPr>
        <p:spPr>
          <a:xfrm>
            <a:off x="411480" y="1783080"/>
            <a:ext cx="2185415" cy="3310128"/>
          </a:xfrm>
          <a:prstGeom prst="roundRect">
            <a:avLst>
              <a:gd name="adj" fmla="val 2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3"/>
          <p:cNvSpPr/>
          <p:nvPr/>
        </p:nvSpPr>
        <p:spPr>
          <a:xfrm>
            <a:off x="411480" y="1783080"/>
            <a:ext cx="2185415"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521208"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WE BUILD</a:t>
            </a:r>
          </a:p>
        </p:txBody>
      </p:sp>
      <p:sp>
        <p:nvSpPr>
          <p:cNvPr id="18" name="Shape 15"/>
          <p:cNvSpPr/>
          <p:nvPr/>
        </p:nvSpPr>
        <p:spPr>
          <a:xfrm>
            <a:off x="521208"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6"/>
          <p:cNvSpPr/>
          <p:nvPr/>
        </p:nvSpPr>
        <p:spPr>
          <a:xfrm>
            <a:off x="521208" y="213055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7"/>
          <p:cNvSpPr txBox="1"/>
          <p:nvPr/>
        </p:nvSpPr>
        <p:spPr>
          <a:xfrm>
            <a:off x="630936" y="216712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One definition per agent</a:t>
            </a:r>
          </a:p>
          <a:p>
            <a:pPr>
              <a:spcAft>
                <a:spcPts val="200"/>
              </a:spcAft>
            </a:pPr>
            <a:r>
              <a:rPr sz="700" b="0" i="0">
                <a:solidFill>
                  <a:srgbClr val="B3B3B3"/>
                </a:solidFill>
                <a:latin typeface="Trenda IG Text"/>
              </a:rPr>
              <a:t>plus a skill pack per pod; a new pod adds skills, not agents</a:t>
            </a:r>
          </a:p>
        </p:txBody>
      </p:sp>
      <p:sp>
        <p:nvSpPr>
          <p:cNvPr id="21" name="Shape 18"/>
          <p:cNvSpPr/>
          <p:nvPr/>
        </p:nvSpPr>
        <p:spPr>
          <a:xfrm>
            <a:off x="521208"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19"/>
          <p:cNvSpPr/>
          <p:nvPr/>
        </p:nvSpPr>
        <p:spPr>
          <a:xfrm>
            <a:off x="521208" y="288493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0"/>
          <p:cNvSpPr txBox="1"/>
          <p:nvPr/>
        </p:nvSpPr>
        <p:spPr>
          <a:xfrm>
            <a:off x="630936" y="292150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Versioned</a:t>
            </a:r>
          </a:p>
          <a:p>
            <a:pPr>
              <a:spcAft>
                <a:spcPts val="200"/>
              </a:spcAft>
            </a:pPr>
            <a:r>
              <a:rPr sz="700" b="0" i="0">
                <a:solidFill>
                  <a:srgbClr val="B3B3B3"/>
                </a:solidFill>
                <a:latin typeface="Trenda IG Text"/>
              </a:rPr>
              <a:t>prompts, skills and model pinned in config; roll back in one step</a:t>
            </a:r>
          </a:p>
        </p:txBody>
      </p:sp>
      <p:sp>
        <p:nvSpPr>
          <p:cNvPr id="24" name="Shape 21"/>
          <p:cNvSpPr/>
          <p:nvPr/>
        </p:nvSpPr>
        <p:spPr>
          <a:xfrm>
            <a:off x="521208"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2"/>
          <p:cNvSpPr/>
          <p:nvPr/>
        </p:nvSpPr>
        <p:spPr>
          <a:xfrm>
            <a:off x="521208" y="3639311"/>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3"/>
          <p:cNvSpPr txBox="1"/>
          <p:nvPr/>
        </p:nvSpPr>
        <p:spPr>
          <a:xfrm>
            <a:off x="630936" y="3675887"/>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Eval gate</a:t>
            </a:r>
          </a:p>
          <a:p>
            <a:pPr>
              <a:spcAft>
                <a:spcPts val="200"/>
              </a:spcAft>
            </a:pPr>
            <a:r>
              <a:rPr sz="700" b="0" i="0">
                <a:solidFill>
                  <a:srgbClr val="B3B3B3"/>
                </a:solidFill>
                <a:latin typeface="Trenda IG Text"/>
              </a:rPr>
              <a:t>a new agent version ships only if it passes its eval set</a:t>
            </a:r>
          </a:p>
        </p:txBody>
      </p:sp>
      <p:sp>
        <p:nvSpPr>
          <p:cNvPr id="27" name="Shape 24"/>
          <p:cNvSpPr/>
          <p:nvPr/>
        </p:nvSpPr>
        <p:spPr>
          <a:xfrm>
            <a:off x="521208"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5"/>
          <p:cNvSpPr/>
          <p:nvPr/>
        </p:nvSpPr>
        <p:spPr>
          <a:xfrm>
            <a:off x="521208" y="439369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6"/>
          <p:cNvSpPr txBox="1"/>
          <p:nvPr/>
        </p:nvSpPr>
        <p:spPr>
          <a:xfrm>
            <a:off x="630936" y="443026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Pod by pod</a:t>
            </a:r>
          </a:p>
          <a:p>
            <a:pPr>
              <a:spcAft>
                <a:spcPts val="200"/>
              </a:spcAft>
            </a:pPr>
            <a:r>
              <a:rPr sz="700" b="0" i="0">
                <a:solidFill>
                  <a:srgbClr val="B3B3B3"/>
                </a:solidFill>
                <a:latin typeface="Trenda IG Text"/>
              </a:rPr>
              <a:t>onboard one pod, measure it, then the next</a:t>
            </a:r>
          </a:p>
        </p:txBody>
      </p:sp>
      <p:sp>
        <p:nvSpPr>
          <p:cNvPr id="30" name="Shape 27"/>
          <p:cNvSpPr/>
          <p:nvPr/>
        </p:nvSpPr>
        <p:spPr>
          <a:xfrm>
            <a:off x="2706624" y="1783080"/>
            <a:ext cx="2185415" cy="3310128"/>
          </a:xfrm>
          <a:prstGeom prst="roundRect">
            <a:avLst>
              <a:gd name="adj" fmla="val 2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hape 28"/>
          <p:cNvSpPr/>
          <p:nvPr/>
        </p:nvSpPr>
        <p:spPr>
          <a:xfrm>
            <a:off x="2706624" y="1783080"/>
            <a:ext cx="2185415"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9"/>
          <p:cNvSpPr txBox="1"/>
          <p:nvPr/>
        </p:nvSpPr>
        <p:spPr>
          <a:xfrm>
            <a:off x="2816352"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IT SCALES</a:t>
            </a:r>
            <a:r>
              <a:rPr sz="700" b="0" i="0">
                <a:solidFill>
                  <a:srgbClr val="000000"/>
                </a:solidFill>
                <a:latin typeface="Trenda IG Text"/>
              </a:rPr>
              <a:t>   concurrency</a:t>
            </a:r>
          </a:p>
        </p:txBody>
      </p:sp>
      <p:sp>
        <p:nvSpPr>
          <p:cNvPr id="33" name="Shape 30"/>
          <p:cNvSpPr/>
          <p:nvPr/>
        </p:nvSpPr>
        <p:spPr>
          <a:xfrm>
            <a:off x="2816352"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2816352" y="213055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2926080" y="216712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One isolated run per request</a:t>
            </a:r>
          </a:p>
          <a:p>
            <a:pPr>
              <a:spcAft>
                <a:spcPts val="200"/>
              </a:spcAft>
            </a:pPr>
            <a:r>
              <a:rPr sz="700" b="0" i="0">
                <a:solidFill>
                  <a:srgbClr val="B3B3B3"/>
                </a:solidFill>
                <a:latin typeface="Trenda IG Text"/>
              </a:rPr>
              <a:t>own container, context, branch and checkpoint; no shared memory</a:t>
            </a:r>
          </a:p>
        </p:txBody>
      </p:sp>
      <p:sp>
        <p:nvSpPr>
          <p:cNvPr id="36" name="Shape 33"/>
          <p:cNvSpPr/>
          <p:nvPr/>
        </p:nvSpPr>
        <p:spPr>
          <a:xfrm>
            <a:off x="2816352"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2816352" y="288493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2926080" y="292150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Fair share for every pod</a:t>
            </a:r>
          </a:p>
          <a:p>
            <a:pPr>
              <a:spcAft>
                <a:spcPts val="200"/>
              </a:spcAft>
            </a:pPr>
            <a:r>
              <a:rPr sz="700" b="0" i="0">
                <a:solidFill>
                  <a:srgbClr val="B3B3B3"/>
                </a:solidFill>
                <a:latin typeface="Trenda IG Text"/>
              </a:rPr>
              <a:t>a per-pod cap, set in config: no pod crowds out another</a:t>
            </a:r>
          </a:p>
        </p:txBody>
      </p:sp>
      <p:sp>
        <p:nvSpPr>
          <p:cNvPr id="39" name="Shape 36"/>
          <p:cNvSpPr/>
          <p:nvPr/>
        </p:nvSpPr>
        <p:spPr>
          <a:xfrm>
            <a:off x="2816352"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7"/>
          <p:cNvSpPr/>
          <p:nvPr/>
        </p:nvSpPr>
        <p:spPr>
          <a:xfrm>
            <a:off x="2816352" y="3639311"/>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38"/>
          <p:cNvSpPr txBox="1"/>
          <p:nvPr/>
        </p:nvSpPr>
        <p:spPr>
          <a:xfrm>
            <a:off x="2926080" y="3675887"/>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Scales with demand</a:t>
            </a:r>
          </a:p>
          <a:p>
            <a:pPr>
              <a:spcAft>
                <a:spcPts val="200"/>
              </a:spcAft>
            </a:pPr>
            <a:r>
              <a:rPr sz="700" b="0" i="0">
                <a:solidFill>
                  <a:srgbClr val="B3B3B3"/>
                </a:solidFill>
                <a:latin typeface="Trenda IG Text"/>
              </a:rPr>
              <a:t>runs added as load grows, within model and API quotas; sized in Phase 0</a:t>
            </a:r>
          </a:p>
        </p:txBody>
      </p:sp>
      <p:sp>
        <p:nvSpPr>
          <p:cNvPr id="42" name="Shape 39"/>
          <p:cNvSpPr/>
          <p:nvPr/>
        </p:nvSpPr>
        <p:spPr>
          <a:xfrm>
            <a:off x="2816352"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hape 40"/>
          <p:cNvSpPr/>
          <p:nvPr/>
        </p:nvSpPr>
        <p:spPr>
          <a:xfrm>
            <a:off x="2816352" y="439369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1"/>
          <p:cNvSpPr txBox="1"/>
          <p:nvPr/>
        </p:nvSpPr>
        <p:spPr>
          <a:xfrm>
            <a:off x="2926080" y="443026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Queued, never dropped</a:t>
            </a:r>
          </a:p>
          <a:p>
            <a:pPr>
              <a:spcAft>
                <a:spcPts val="200"/>
              </a:spcAft>
            </a:pPr>
            <a:r>
              <a:rPr sz="700" b="0" i="0">
                <a:solidFill>
                  <a:srgbClr val="B3B3B3"/>
                </a:solidFill>
                <a:latin typeface="Trenda IG Text"/>
              </a:rPr>
              <a:t>waits its turn, resumes from checkpoints; the wait time is measured</a:t>
            </a:r>
          </a:p>
        </p:txBody>
      </p:sp>
      <p:sp>
        <p:nvSpPr>
          <p:cNvPr id="45" name="Shape 42"/>
          <p:cNvSpPr/>
          <p:nvPr/>
        </p:nvSpPr>
        <p:spPr>
          <a:xfrm>
            <a:off x="5001768" y="1783080"/>
            <a:ext cx="2185415" cy="3310128"/>
          </a:xfrm>
          <a:prstGeom prst="roundRect">
            <a:avLst>
              <a:gd name="adj" fmla="val 2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3"/>
          <p:cNvSpPr/>
          <p:nvPr/>
        </p:nvSpPr>
        <p:spPr>
          <a:xfrm>
            <a:off x="5001768" y="1783080"/>
            <a:ext cx="2185415"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4"/>
          <p:cNvSpPr txBox="1"/>
          <p:nvPr/>
        </p:nvSpPr>
        <p:spPr>
          <a:xfrm>
            <a:off x="5111496" y="1783080"/>
            <a:ext cx="1965959" cy="256032"/>
          </a:xfrm>
          <a:prstGeom prst="rect">
            <a:avLst/>
          </a:prstGeom>
          <a:noFill/>
        </p:spPr>
        <p:txBody>
          <a:bodyPr wrap="square" lIns="0" rIns="0" tIns="0" bIns="0" anchor="ctr">
            <a:spAutoFit/>
          </a:bodyPr>
          <a:lstStyle/>
          <a:p>
            <a:r>
              <a:rPr sz="700" b="1" i="0" spc="120">
                <a:solidFill>
                  <a:srgbClr val="FFFFFE"/>
                </a:solidFill>
                <a:latin typeface="Trenda IG Text"/>
              </a:rPr>
              <a:t>HOW IT STAYS ACCURATE</a:t>
            </a:r>
            <a:r>
              <a:rPr sz="700" b="0" i="0">
                <a:solidFill>
                  <a:srgbClr val="FFFFFE"/>
                </a:solidFill>
                <a:latin typeface="Trenda IG Text"/>
              </a:rPr>
              <a:t>   accuracy</a:t>
            </a:r>
          </a:p>
        </p:txBody>
      </p:sp>
      <p:sp>
        <p:nvSpPr>
          <p:cNvPr id="48" name="Shape 45"/>
          <p:cNvSpPr/>
          <p:nvPr/>
        </p:nvSpPr>
        <p:spPr>
          <a:xfrm>
            <a:off x="5111496"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6"/>
          <p:cNvSpPr/>
          <p:nvPr/>
        </p:nvSpPr>
        <p:spPr>
          <a:xfrm>
            <a:off x="5111496" y="213055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7"/>
          <p:cNvSpPr txBox="1"/>
          <p:nvPr/>
        </p:nvSpPr>
        <p:spPr>
          <a:xfrm>
            <a:off x="5221224" y="216712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Cited facts only</a:t>
            </a:r>
          </a:p>
          <a:p>
            <a:pPr>
              <a:spcAft>
                <a:spcPts val="200"/>
              </a:spcAft>
            </a:pPr>
            <a:r>
              <a:rPr sz="700" b="0" i="0">
                <a:solidFill>
                  <a:srgbClr val="B3B3B3"/>
                </a:solidFill>
                <a:latin typeface="Trenda IG Text"/>
              </a:rPr>
              <a:t>every fact from the graph carries its source; agents never guess</a:t>
            </a:r>
          </a:p>
        </p:txBody>
      </p:sp>
      <p:sp>
        <p:nvSpPr>
          <p:cNvPr id="51" name="Shape 48"/>
          <p:cNvSpPr/>
          <p:nvPr/>
        </p:nvSpPr>
        <p:spPr>
          <a:xfrm>
            <a:off x="5111496"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49"/>
          <p:cNvSpPr/>
          <p:nvPr/>
        </p:nvSpPr>
        <p:spPr>
          <a:xfrm>
            <a:off x="5111496" y="288493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0"/>
          <p:cNvSpPr txBox="1"/>
          <p:nvPr/>
        </p:nvSpPr>
        <p:spPr>
          <a:xfrm>
            <a:off x="5221224" y="292150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Same bar for every pod</a:t>
            </a:r>
          </a:p>
          <a:p>
            <a:pPr>
              <a:spcAft>
                <a:spcPts val="200"/>
              </a:spcAft>
            </a:pPr>
            <a:r>
              <a:rPr sz="700" b="0" i="0">
                <a:solidFill>
                  <a:srgbClr val="B3B3B3"/>
                </a:solidFill>
                <a:latin typeface="Trenda IG Text"/>
              </a:rPr>
              <a:t>every run scored before it moves; max 5 retries, then an owner</a:t>
            </a:r>
          </a:p>
        </p:txBody>
      </p:sp>
      <p:sp>
        <p:nvSpPr>
          <p:cNvPr id="54" name="Shape 51"/>
          <p:cNvSpPr/>
          <p:nvPr/>
        </p:nvSpPr>
        <p:spPr>
          <a:xfrm>
            <a:off x="5111496"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2"/>
          <p:cNvSpPr/>
          <p:nvPr/>
        </p:nvSpPr>
        <p:spPr>
          <a:xfrm>
            <a:off x="5111496" y="3639311"/>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3"/>
          <p:cNvSpPr txBox="1"/>
          <p:nvPr/>
        </p:nvSpPr>
        <p:spPr>
          <a:xfrm>
            <a:off x="5221224" y="3675887"/>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Load changes the wait, not the answer</a:t>
            </a:r>
          </a:p>
          <a:p>
            <a:pPr>
              <a:spcAft>
                <a:spcPts val="200"/>
              </a:spcAft>
            </a:pPr>
            <a:r>
              <a:rPr sz="700" b="0" i="0">
                <a:solidFill>
                  <a:srgbClr val="B3B3B3"/>
                </a:solidFill>
                <a:latin typeface="Trenda IG Text"/>
              </a:rPr>
              <a:t>runs share no memory; two pods on one object are sequenced</a:t>
            </a:r>
          </a:p>
        </p:txBody>
      </p:sp>
      <p:sp>
        <p:nvSpPr>
          <p:cNvPr id="57" name="Shape 54"/>
          <p:cNvSpPr/>
          <p:nvPr/>
        </p:nvSpPr>
        <p:spPr>
          <a:xfrm>
            <a:off x="5111496"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5"/>
          <p:cNvSpPr/>
          <p:nvPr/>
        </p:nvSpPr>
        <p:spPr>
          <a:xfrm>
            <a:off x="5111496" y="439369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6"/>
          <p:cNvSpPr txBox="1"/>
          <p:nvPr/>
        </p:nvSpPr>
        <p:spPr>
          <a:xfrm>
            <a:off x="5221224" y="443026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Measured every run</a:t>
            </a:r>
          </a:p>
          <a:p>
            <a:pPr>
              <a:spcAft>
                <a:spcPts val="200"/>
              </a:spcAft>
            </a:pPr>
            <a:r>
              <a:rPr sz="700" b="0" i="0">
                <a:solidFill>
                  <a:srgbClr val="B3B3B3"/>
                </a:solidFill>
                <a:latin typeface="Trenda IG Text"/>
              </a:rPr>
              <a:t>eval score per agent and pod, first-pass approval, defects after release</a:t>
            </a:r>
          </a:p>
        </p:txBody>
      </p:sp>
      <p:sp>
        <p:nvSpPr>
          <p:cNvPr id="60" name="Shape 57"/>
          <p:cNvSpPr/>
          <p:nvPr/>
        </p:nvSpPr>
        <p:spPr>
          <a:xfrm>
            <a:off x="7296912" y="1783080"/>
            <a:ext cx="2185415" cy="3310128"/>
          </a:xfrm>
          <a:prstGeom prst="roundRect">
            <a:avLst>
              <a:gd name="adj" fmla="val 2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8"/>
          <p:cNvSpPr/>
          <p:nvPr/>
        </p:nvSpPr>
        <p:spPr>
          <a:xfrm>
            <a:off x="7296912" y="1783080"/>
            <a:ext cx="2185415"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9"/>
          <p:cNvSpPr txBox="1"/>
          <p:nvPr/>
        </p:nvSpPr>
        <p:spPr>
          <a:xfrm>
            <a:off x="7406640"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WE PROTECT DATA</a:t>
            </a:r>
            <a:r>
              <a:rPr sz="700" b="0" i="0">
                <a:solidFill>
                  <a:srgbClr val="000000"/>
                </a:solidFill>
                <a:latin typeface="Trenda IG Text"/>
              </a:rPr>
              <a:t>   measured</a:t>
            </a:r>
          </a:p>
        </p:txBody>
      </p:sp>
      <p:sp>
        <p:nvSpPr>
          <p:cNvPr id="63" name="Shape 60"/>
          <p:cNvSpPr/>
          <p:nvPr/>
        </p:nvSpPr>
        <p:spPr>
          <a:xfrm>
            <a:off x="7406640"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1"/>
          <p:cNvSpPr/>
          <p:nvPr/>
        </p:nvSpPr>
        <p:spPr>
          <a:xfrm>
            <a:off x="7406640" y="213055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2"/>
          <p:cNvSpPr txBox="1"/>
          <p:nvPr/>
        </p:nvSpPr>
        <p:spPr>
          <a:xfrm>
            <a:off x="7516367" y="216712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Classified and approved</a:t>
            </a:r>
          </a:p>
          <a:p>
            <a:pPr>
              <a:spcAft>
                <a:spcPts val="200"/>
              </a:spcAft>
            </a:pPr>
            <a:r>
              <a:rPr sz="700" b="0" i="0">
                <a:solidFill>
                  <a:srgbClr val="B3B3B3"/>
                </a:solidFill>
                <a:latin typeface="Trenda IG Text"/>
              </a:rPr>
              <a:t>share of in-scope sensitive fields classified by DLP and approved by a Collibra steward; target 100% before use</a:t>
            </a:r>
          </a:p>
        </p:txBody>
      </p:sp>
      <p:sp>
        <p:nvSpPr>
          <p:cNvPr id="66" name="Shape 63"/>
          <p:cNvSpPr/>
          <p:nvPr/>
        </p:nvSpPr>
        <p:spPr>
          <a:xfrm>
            <a:off x="7406640"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4"/>
          <p:cNvSpPr/>
          <p:nvPr/>
        </p:nvSpPr>
        <p:spPr>
          <a:xfrm>
            <a:off x="7406640" y="288493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5"/>
          <p:cNvSpPr txBox="1"/>
          <p:nvPr/>
        </p:nvSpPr>
        <p:spPr>
          <a:xfrm>
            <a:off x="7516367" y="292150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Masked and verified</a:t>
            </a:r>
          </a:p>
          <a:p>
            <a:pPr>
              <a:spcAft>
                <a:spcPts val="200"/>
              </a:spcAft>
            </a:pPr>
            <a:r>
              <a:rPr sz="700" b="0" i="0">
                <a:solidFill>
                  <a:srgbClr val="B3B3B3"/>
                </a:solidFill>
                <a:latin typeface="Trenda IG Text"/>
              </a:rPr>
              <a:t>policy tags applied and checked against the schema every run; drift flagged</a:t>
            </a:r>
          </a:p>
        </p:txBody>
      </p:sp>
      <p:sp>
        <p:nvSpPr>
          <p:cNvPr id="69" name="Shape 66"/>
          <p:cNvSpPr/>
          <p:nvPr/>
        </p:nvSpPr>
        <p:spPr>
          <a:xfrm>
            <a:off x="7406640"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hape 67"/>
          <p:cNvSpPr/>
          <p:nvPr/>
        </p:nvSpPr>
        <p:spPr>
          <a:xfrm>
            <a:off x="7406640" y="3639311"/>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7516367" y="3675887"/>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Zero unauthorized access</a:t>
            </a:r>
          </a:p>
          <a:p>
            <a:pPr>
              <a:spcAft>
                <a:spcPts val="200"/>
              </a:spcAft>
            </a:pPr>
            <a:r>
              <a:rPr sz="700" b="0" i="0">
                <a:solidFill>
                  <a:srgbClr val="B3B3B3"/>
                </a:solidFill>
                <a:latin typeface="Trenda IG Text"/>
              </a:rPr>
              <a:t>negative-access tests each release: agent identities cannot read raw PHI</a:t>
            </a:r>
          </a:p>
        </p:txBody>
      </p:sp>
      <p:sp>
        <p:nvSpPr>
          <p:cNvPr id="72" name="Shape 69"/>
          <p:cNvSpPr/>
          <p:nvPr/>
        </p:nvSpPr>
        <p:spPr>
          <a:xfrm>
            <a:off x="7406640"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0"/>
          <p:cNvSpPr/>
          <p:nvPr/>
        </p:nvSpPr>
        <p:spPr>
          <a:xfrm>
            <a:off x="7406640" y="439369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1"/>
          <p:cNvSpPr txBox="1"/>
          <p:nvPr/>
        </p:nvSpPr>
        <p:spPr>
          <a:xfrm>
            <a:off x="7516367" y="443026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Every access audited</a:t>
            </a:r>
          </a:p>
          <a:p>
            <a:pPr>
              <a:spcAft>
                <a:spcPts val="200"/>
              </a:spcAft>
            </a:pPr>
            <a:r>
              <a:rPr sz="700" b="0" i="0">
                <a:solidFill>
                  <a:srgbClr val="B3B3B3"/>
                </a:solidFill>
                <a:latin typeface="Trenda IG Text"/>
              </a:rPr>
              <a:t>PHI access logged, release reconciled, access reviewed each quarter</a:t>
            </a:r>
          </a:p>
        </p:txBody>
      </p:sp>
      <p:sp>
        <p:nvSpPr>
          <p:cNvPr id="75" name="Shape 72"/>
          <p:cNvSpPr/>
          <p:nvPr/>
        </p:nvSpPr>
        <p:spPr>
          <a:xfrm>
            <a:off x="9592055" y="1783080"/>
            <a:ext cx="2185415" cy="3310128"/>
          </a:xfrm>
          <a:prstGeom prst="roundRect">
            <a:avLst>
              <a:gd name="adj" fmla="val 2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3"/>
          <p:cNvSpPr/>
          <p:nvPr/>
        </p:nvSpPr>
        <p:spPr>
          <a:xfrm>
            <a:off x="9592055" y="1783080"/>
            <a:ext cx="2185415"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4"/>
          <p:cNvSpPr txBox="1"/>
          <p:nvPr/>
        </p:nvSpPr>
        <p:spPr>
          <a:xfrm>
            <a:off x="9701783" y="1783080"/>
            <a:ext cx="1965959" cy="256032"/>
          </a:xfrm>
          <a:prstGeom prst="rect">
            <a:avLst/>
          </a:prstGeom>
          <a:noFill/>
        </p:spPr>
        <p:txBody>
          <a:bodyPr wrap="square" lIns="0" rIns="0" tIns="0" bIns="0" anchor="ctr">
            <a:spAutoFit/>
          </a:bodyPr>
          <a:lstStyle/>
          <a:p>
            <a:r>
              <a:rPr sz="700" b="1" i="0" spc="120">
                <a:solidFill>
                  <a:srgbClr val="FFFFFE"/>
                </a:solidFill>
                <a:latin typeface="Trenda IG Text"/>
              </a:rPr>
              <a:t>HOW WE CONTROL</a:t>
            </a:r>
          </a:p>
        </p:txBody>
      </p:sp>
      <p:sp>
        <p:nvSpPr>
          <p:cNvPr id="78" name="Shape 75"/>
          <p:cNvSpPr/>
          <p:nvPr/>
        </p:nvSpPr>
        <p:spPr>
          <a:xfrm>
            <a:off x="9701783"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hape 76"/>
          <p:cNvSpPr/>
          <p:nvPr/>
        </p:nvSpPr>
        <p:spPr>
          <a:xfrm>
            <a:off x="9701783" y="213055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7"/>
          <p:cNvSpPr txBox="1"/>
          <p:nvPr/>
        </p:nvSpPr>
        <p:spPr>
          <a:xfrm>
            <a:off x="9811511" y="216712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No production access</a:t>
            </a:r>
          </a:p>
          <a:p>
            <a:pPr>
              <a:spcAft>
                <a:spcPts val="200"/>
              </a:spcAft>
            </a:pPr>
            <a:r>
              <a:rPr sz="700" b="0" i="0">
                <a:solidFill>
                  <a:srgbClr val="B3B3B3"/>
                </a:solidFill>
                <a:latin typeface="Trenda IG Text"/>
              </a:rPr>
              <a:t>three identities, tool allowlist</a:t>
            </a:r>
          </a:p>
        </p:txBody>
      </p:sp>
      <p:sp>
        <p:nvSpPr>
          <p:cNvPr id="81" name="Shape 78"/>
          <p:cNvSpPr/>
          <p:nvPr/>
        </p:nvSpPr>
        <p:spPr>
          <a:xfrm>
            <a:off x="9701783"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9"/>
          <p:cNvSpPr/>
          <p:nvPr/>
        </p:nvSpPr>
        <p:spPr>
          <a:xfrm>
            <a:off x="9701783" y="288493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0"/>
          <p:cNvSpPr txBox="1"/>
          <p:nvPr/>
        </p:nvSpPr>
        <p:spPr>
          <a:xfrm>
            <a:off x="9811511" y="292150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Guardrails</a:t>
            </a:r>
          </a:p>
          <a:p>
            <a:pPr>
              <a:spcAft>
                <a:spcPts val="200"/>
              </a:spcAft>
            </a:pPr>
            <a:r>
              <a:rPr sz="700" b="0" i="0">
                <a:solidFill>
                  <a:srgbClr val="B3B3B3"/>
                </a:solidFill>
                <a:latin typeface="Trenda IG Text"/>
              </a:rPr>
              <a:t>Model Armor in and out; no raw PHI for agents</a:t>
            </a:r>
          </a:p>
        </p:txBody>
      </p:sp>
      <p:sp>
        <p:nvSpPr>
          <p:cNvPr id="84" name="Shape 81"/>
          <p:cNvSpPr/>
          <p:nvPr/>
        </p:nvSpPr>
        <p:spPr>
          <a:xfrm>
            <a:off x="9701783"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2"/>
          <p:cNvSpPr/>
          <p:nvPr/>
        </p:nvSpPr>
        <p:spPr>
          <a:xfrm>
            <a:off x="9701783" y="3639311"/>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3"/>
          <p:cNvSpPr txBox="1"/>
          <p:nvPr/>
        </p:nvSpPr>
        <p:spPr>
          <a:xfrm>
            <a:off x="9811511" y="3675887"/>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People decide</a:t>
            </a:r>
          </a:p>
          <a:p>
            <a:pPr>
              <a:spcAft>
                <a:spcPts val="200"/>
              </a:spcAft>
            </a:pPr>
            <a:r>
              <a:rPr sz="700" b="0" i="0">
                <a:solidFill>
                  <a:srgbClr val="B3B3B3"/>
                </a:solidFill>
                <a:latin typeface="Trenda IG Text"/>
              </a:rPr>
              <a:t>human gates H1-H4, CAB, G1-G3; change passport</a:t>
            </a:r>
          </a:p>
        </p:txBody>
      </p:sp>
      <p:sp>
        <p:nvSpPr>
          <p:cNvPr id="87" name="Shape 84"/>
          <p:cNvSpPr/>
          <p:nvPr/>
        </p:nvSpPr>
        <p:spPr>
          <a:xfrm>
            <a:off x="9701783"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5"/>
          <p:cNvSpPr/>
          <p:nvPr/>
        </p:nvSpPr>
        <p:spPr>
          <a:xfrm>
            <a:off x="9701783" y="439369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6"/>
          <p:cNvSpPr txBox="1"/>
          <p:nvPr/>
        </p:nvSpPr>
        <p:spPr>
          <a:xfrm>
            <a:off x="9811511" y="443026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Quotas + kill switch</a:t>
            </a:r>
          </a:p>
          <a:p>
            <a:pPr>
              <a:spcAft>
                <a:spcPts val="200"/>
              </a:spcAft>
            </a:pPr>
            <a:r>
              <a:rPr sz="700" b="0" i="0">
                <a:solidFill>
                  <a:srgbClr val="B3B3B3"/>
                </a:solidFill>
                <a:latin typeface="Trenda IG Text"/>
              </a:rPr>
              <a:t>per pod and per agent</a:t>
            </a:r>
          </a:p>
        </p:txBody>
      </p:sp>
      <p:sp>
        <p:nvSpPr>
          <p:cNvPr id="90" name="Text 87"/>
          <p:cNvSpPr txBox="1"/>
          <p:nvPr/>
        </p:nvSpPr>
        <p:spPr>
          <a:xfrm>
            <a:off x="411480" y="5230368"/>
            <a:ext cx="1188720" cy="100584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CORE BENEFITS</a:t>
            </a:r>
          </a:p>
          <a:p>
            <a:pPr>
              <a:spcAft>
                <a:spcPts val="100"/>
              </a:spcAft>
            </a:pPr>
            <a:r>
              <a:rPr sz="700" b="0" i="0">
                <a:solidFill>
                  <a:srgbClr val="8C8C8C"/>
                </a:solidFill>
                <a:latin typeface="Trenda IG Text"/>
              </a:rPr>
              <a:t>beyond cost</a:t>
            </a:r>
          </a:p>
        </p:txBody>
      </p:sp>
      <p:sp>
        <p:nvSpPr>
          <p:cNvPr id="91" name="Shape 88"/>
          <p:cNvSpPr/>
          <p:nvPr/>
        </p:nvSpPr>
        <p:spPr>
          <a:xfrm>
            <a:off x="164592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9"/>
          <p:cNvSpPr/>
          <p:nvPr/>
        </p:nvSpPr>
        <p:spPr>
          <a:xfrm>
            <a:off x="164592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0"/>
          <p:cNvSpPr txBox="1"/>
          <p:nvPr/>
        </p:nvSpPr>
        <p:spPr>
          <a:xfrm>
            <a:off x="1792224"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Consistency</a:t>
            </a:r>
          </a:p>
          <a:p>
            <a:pPr>
              <a:spcAft>
                <a:spcPts val="200"/>
              </a:spcAft>
            </a:pPr>
            <a:r>
              <a:rPr sz="700" b="0" i="0">
                <a:solidFill>
                  <a:srgbClr val="B3B3B3"/>
                </a:solidFill>
                <a:latin typeface="Trenda IG Text"/>
              </a:rPr>
              <a:t>Same standards and checks in every pod, every time.</a:t>
            </a:r>
          </a:p>
        </p:txBody>
      </p:sp>
      <p:sp>
        <p:nvSpPr>
          <p:cNvPr id="94" name="Shape 91"/>
          <p:cNvSpPr/>
          <p:nvPr/>
        </p:nvSpPr>
        <p:spPr>
          <a:xfrm>
            <a:off x="3349752"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2"/>
          <p:cNvSpPr/>
          <p:nvPr/>
        </p:nvSpPr>
        <p:spPr>
          <a:xfrm>
            <a:off x="3349752"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3"/>
          <p:cNvSpPr txBox="1"/>
          <p:nvPr/>
        </p:nvSpPr>
        <p:spPr>
          <a:xfrm>
            <a:off x="3496056"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Reuse</a:t>
            </a:r>
          </a:p>
          <a:p>
            <a:pPr>
              <a:spcAft>
                <a:spcPts val="200"/>
              </a:spcAft>
            </a:pPr>
            <a:r>
              <a:rPr sz="700" b="0" i="0">
                <a:solidFill>
                  <a:srgbClr val="B3B3B3"/>
                </a:solidFill>
                <a:latin typeface="Trenda IG Text"/>
              </a:rPr>
              <a:t>Build once; a new pod adds skills, not agents.</a:t>
            </a:r>
          </a:p>
        </p:txBody>
      </p:sp>
      <p:sp>
        <p:nvSpPr>
          <p:cNvPr id="97" name="Shape 94"/>
          <p:cNvSpPr/>
          <p:nvPr/>
        </p:nvSpPr>
        <p:spPr>
          <a:xfrm>
            <a:off x="5053584"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5"/>
          <p:cNvSpPr/>
          <p:nvPr/>
        </p:nvSpPr>
        <p:spPr>
          <a:xfrm>
            <a:off x="5053584"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6"/>
          <p:cNvSpPr txBox="1"/>
          <p:nvPr/>
        </p:nvSpPr>
        <p:spPr>
          <a:xfrm>
            <a:off x="5199888"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Knowledge kept</a:t>
            </a:r>
          </a:p>
          <a:p>
            <a:pPr>
              <a:spcAft>
                <a:spcPts val="200"/>
              </a:spcAft>
            </a:pPr>
            <a:r>
              <a:rPr sz="700" b="0" i="0">
                <a:solidFill>
                  <a:srgbClr val="B3B3B3"/>
                </a:solidFill>
                <a:latin typeface="Trenda IG Text"/>
              </a:rPr>
              <a:t>The graph keeps what people know when they move on.</a:t>
            </a:r>
          </a:p>
        </p:txBody>
      </p:sp>
      <p:sp>
        <p:nvSpPr>
          <p:cNvPr id="100" name="Shape 97"/>
          <p:cNvSpPr/>
          <p:nvPr/>
        </p:nvSpPr>
        <p:spPr>
          <a:xfrm>
            <a:off x="6757416"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8"/>
          <p:cNvSpPr/>
          <p:nvPr/>
        </p:nvSpPr>
        <p:spPr>
          <a:xfrm>
            <a:off x="6757416"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9"/>
          <p:cNvSpPr txBox="1"/>
          <p:nvPr/>
        </p:nvSpPr>
        <p:spPr>
          <a:xfrm>
            <a:off x="6903720"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Quality</a:t>
            </a:r>
          </a:p>
          <a:p>
            <a:pPr>
              <a:spcAft>
                <a:spcPts val="200"/>
              </a:spcAft>
            </a:pPr>
            <a:r>
              <a:rPr sz="700" b="0" i="0">
                <a:solidFill>
                  <a:srgbClr val="B3B3B3"/>
                </a:solidFill>
                <a:latin typeface="Trenda IG Text"/>
              </a:rPr>
              <a:t>Every step scored before it moves.</a:t>
            </a:r>
          </a:p>
        </p:txBody>
      </p:sp>
      <p:sp>
        <p:nvSpPr>
          <p:cNvPr id="103" name="Shape 100"/>
          <p:cNvSpPr/>
          <p:nvPr/>
        </p:nvSpPr>
        <p:spPr>
          <a:xfrm>
            <a:off x="8461248"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Shape 101"/>
          <p:cNvSpPr/>
          <p:nvPr/>
        </p:nvSpPr>
        <p:spPr>
          <a:xfrm>
            <a:off x="8461248"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2"/>
          <p:cNvSpPr txBox="1"/>
          <p:nvPr/>
        </p:nvSpPr>
        <p:spPr>
          <a:xfrm>
            <a:off x="8607552"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Auditability</a:t>
            </a:r>
          </a:p>
          <a:p>
            <a:pPr>
              <a:spcAft>
                <a:spcPts val="200"/>
              </a:spcAft>
            </a:pPr>
            <a:r>
              <a:rPr sz="700" b="0" i="0">
                <a:solidFill>
                  <a:srgbClr val="B3B3B3"/>
                </a:solidFill>
                <a:latin typeface="Trenda IG Text"/>
              </a:rPr>
              <a:t>Every step, approval and test recorded.</a:t>
            </a:r>
          </a:p>
        </p:txBody>
      </p:sp>
      <p:sp>
        <p:nvSpPr>
          <p:cNvPr id="106" name="Shape 103"/>
          <p:cNvSpPr/>
          <p:nvPr/>
        </p:nvSpPr>
        <p:spPr>
          <a:xfrm>
            <a:off x="1016508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4"/>
          <p:cNvSpPr/>
          <p:nvPr/>
        </p:nvSpPr>
        <p:spPr>
          <a:xfrm>
            <a:off x="1016508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5"/>
          <p:cNvSpPr txBox="1"/>
          <p:nvPr/>
        </p:nvSpPr>
        <p:spPr>
          <a:xfrm>
            <a:off x="10311384"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Safe by design</a:t>
            </a:r>
          </a:p>
          <a:p>
            <a:pPr>
              <a:spcAft>
                <a:spcPts val="200"/>
              </a:spcAft>
            </a:pPr>
            <a:r>
              <a:rPr sz="700" b="0" i="0">
                <a:solidFill>
                  <a:srgbClr val="B3B3B3"/>
                </a:solidFill>
                <a:latin typeface="Trenda IG Text"/>
              </a:rPr>
              <a:t>No production credentials, no raw PHI for agents.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LEAN TEAM AND COST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Lean teams on one platform: $9M back every year on a $5.0M build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Every squad of 4-5 developers becomes 1 developer directing the harness agent, plus 1 QA. People review, approve and own every change.</a:t>
            </a:r>
          </a:p>
        </p:txBody>
      </p:sp>
      <p:sp>
        <p:nvSpPr>
          <p:cNvPr id="5" name="Shape 4"/>
          <p:cNvSpPr/>
          <p:nvPr/>
        </p:nvSpPr>
        <p:spPr>
          <a:xfrm>
            <a:off x="411480" y="1188720"/>
            <a:ext cx="371551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88720"/>
            <a:ext cx="371551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88720"/>
            <a:ext cx="3496056" cy="256032"/>
          </a:xfrm>
          <a:prstGeom prst="rect">
            <a:avLst/>
          </a:prstGeom>
          <a:noFill/>
        </p:spPr>
        <p:txBody>
          <a:bodyPr wrap="square" lIns="0" rIns="0" tIns="0" bIns="0" anchor="ctr">
            <a:spAutoFit/>
          </a:bodyPr>
          <a:lstStyle/>
          <a:p>
            <a:r>
              <a:rPr sz="700" b="1" i="0" spc="120">
                <a:solidFill>
                  <a:srgbClr val="F2F2F2"/>
                </a:solidFill>
                <a:latin typeface="Trenda IG Text"/>
              </a:rPr>
              <a:t>THE SQUAD</a:t>
            </a:r>
            <a:r>
              <a:rPr sz="700" b="0" i="0">
                <a:solidFill>
                  <a:srgbClr val="B3B3B3"/>
                </a:solidFill>
                <a:latin typeface="Trenda IG Text"/>
              </a:rPr>
              <a:t>   same scope, two people</a:t>
            </a:r>
          </a:p>
        </p:txBody>
      </p:sp>
      <p:sp>
        <p:nvSpPr>
          <p:cNvPr id="8" name="Text 7"/>
          <p:cNvSpPr txBox="1"/>
          <p:nvPr/>
        </p:nvSpPr>
        <p:spPr>
          <a:xfrm>
            <a:off x="539496" y="1536192"/>
            <a:ext cx="1371600" cy="164592"/>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9" name="Shape 8"/>
          <p:cNvSpPr/>
          <p:nvPr/>
        </p:nvSpPr>
        <p:spPr>
          <a:xfrm>
            <a:off x="539496"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39496" y="1719072"/>
            <a:ext cx="648004" cy="274320"/>
          </a:xfrm>
          <a:prstGeom prst="rect">
            <a:avLst/>
          </a:prstGeom>
          <a:noFill/>
        </p:spPr>
        <p:txBody>
          <a:bodyPr wrap="square" lIns="0" rIns="0" tIns="0" bIns="0" anchor="ctr">
            <a:spAutoFit/>
          </a:bodyPr>
          <a:lstStyle/>
          <a:p>
            <a:pPr algn="ctr"/>
            <a:r>
              <a:rPr sz="700" b="1" i="0">
                <a:solidFill>
                  <a:srgbClr val="B3B3B3"/>
                </a:solidFill>
                <a:latin typeface="Trenda IG Text"/>
              </a:rPr>
              <a:t>Dev</a:t>
            </a:r>
          </a:p>
        </p:txBody>
      </p:sp>
      <p:sp>
        <p:nvSpPr>
          <p:cNvPr id="11" name="Shape 10"/>
          <p:cNvSpPr/>
          <p:nvPr/>
        </p:nvSpPr>
        <p:spPr>
          <a:xfrm>
            <a:off x="1242364"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242364" y="1719072"/>
            <a:ext cx="648004" cy="274320"/>
          </a:xfrm>
          <a:prstGeom prst="rect">
            <a:avLst/>
          </a:prstGeom>
          <a:noFill/>
        </p:spPr>
        <p:txBody>
          <a:bodyPr wrap="square" lIns="0" rIns="0" tIns="0" bIns="0" anchor="ctr">
            <a:spAutoFit/>
          </a:bodyPr>
          <a:lstStyle/>
          <a:p>
            <a:pPr algn="ctr"/>
            <a:r>
              <a:rPr sz="700" b="1" i="0">
                <a:solidFill>
                  <a:srgbClr val="B3B3B3"/>
                </a:solidFill>
                <a:latin typeface="Trenda IG Text"/>
              </a:rPr>
              <a:t>Dev</a:t>
            </a:r>
          </a:p>
        </p:txBody>
      </p:sp>
      <p:sp>
        <p:nvSpPr>
          <p:cNvPr id="13" name="Shape 12"/>
          <p:cNvSpPr/>
          <p:nvPr/>
        </p:nvSpPr>
        <p:spPr>
          <a:xfrm>
            <a:off x="1945233"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1945233" y="1719072"/>
            <a:ext cx="648004" cy="274320"/>
          </a:xfrm>
          <a:prstGeom prst="rect">
            <a:avLst/>
          </a:prstGeom>
          <a:noFill/>
        </p:spPr>
        <p:txBody>
          <a:bodyPr wrap="square" lIns="0" rIns="0" tIns="0" bIns="0" anchor="ctr">
            <a:spAutoFit/>
          </a:bodyPr>
          <a:lstStyle/>
          <a:p>
            <a:pPr algn="ctr"/>
            <a:r>
              <a:rPr sz="700" b="1" i="0">
                <a:solidFill>
                  <a:srgbClr val="B3B3B3"/>
                </a:solidFill>
                <a:latin typeface="Trenda IG Text"/>
              </a:rPr>
              <a:t>Dev</a:t>
            </a:r>
          </a:p>
        </p:txBody>
      </p:sp>
      <p:sp>
        <p:nvSpPr>
          <p:cNvPr id="15" name="Shape 14"/>
          <p:cNvSpPr/>
          <p:nvPr/>
        </p:nvSpPr>
        <p:spPr>
          <a:xfrm>
            <a:off x="2648102"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648102" y="1719072"/>
            <a:ext cx="648004" cy="274320"/>
          </a:xfrm>
          <a:prstGeom prst="rect">
            <a:avLst/>
          </a:prstGeom>
          <a:noFill/>
        </p:spPr>
        <p:txBody>
          <a:bodyPr wrap="square" lIns="0" rIns="0" tIns="0" bIns="0" anchor="ctr">
            <a:spAutoFit/>
          </a:bodyPr>
          <a:lstStyle/>
          <a:p>
            <a:pPr algn="ctr"/>
            <a:r>
              <a:rPr sz="700" b="1" i="0">
                <a:solidFill>
                  <a:srgbClr val="B3B3B3"/>
                </a:solidFill>
                <a:latin typeface="Trenda IG Text"/>
              </a:rPr>
              <a:t>Dev</a:t>
            </a:r>
          </a:p>
        </p:txBody>
      </p:sp>
      <p:sp>
        <p:nvSpPr>
          <p:cNvPr id="17" name="Shape 16"/>
          <p:cNvSpPr/>
          <p:nvPr/>
        </p:nvSpPr>
        <p:spPr>
          <a:xfrm>
            <a:off x="3350971"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3350971" y="1719072"/>
            <a:ext cx="648004" cy="274320"/>
          </a:xfrm>
          <a:prstGeom prst="rect">
            <a:avLst/>
          </a:prstGeom>
          <a:noFill/>
        </p:spPr>
        <p:txBody>
          <a:bodyPr wrap="square" lIns="0" rIns="0" tIns="0" bIns="0" anchor="ctr">
            <a:spAutoFit/>
          </a:bodyPr>
          <a:lstStyle/>
          <a:p>
            <a:pPr algn="ctr"/>
            <a:r>
              <a:rPr sz="700" b="1" i="0">
                <a:solidFill>
                  <a:srgbClr val="B3B3B3"/>
                </a:solidFill>
                <a:latin typeface="Trenda IG Text"/>
              </a:rPr>
              <a:t>QA</a:t>
            </a:r>
          </a:p>
        </p:txBody>
      </p:sp>
      <p:sp>
        <p:nvSpPr>
          <p:cNvPr id="19" name="Text 18"/>
          <p:cNvSpPr txBox="1"/>
          <p:nvPr/>
        </p:nvSpPr>
        <p:spPr>
          <a:xfrm>
            <a:off x="539496" y="2084832"/>
            <a:ext cx="1371600" cy="164592"/>
          </a:xfrm>
          <a:prstGeom prst="rect">
            <a:avLst/>
          </a:prstGeom>
          <a:noFill/>
        </p:spPr>
        <p:txBody>
          <a:bodyPr wrap="square" lIns="0" rIns="0" tIns="0" bIns="0" anchor="ctr">
            <a:spAutoFit/>
          </a:bodyPr>
          <a:lstStyle/>
          <a:p>
            <a:r>
              <a:rPr sz="700" b="1" i="0" spc="100">
                <a:solidFill>
                  <a:srgbClr val="00D6F2"/>
                </a:solidFill>
                <a:latin typeface="Trenda IG Text"/>
              </a:rPr>
              <a:t>WITH THE HARNESS</a:t>
            </a:r>
          </a:p>
        </p:txBody>
      </p:sp>
      <p:sp>
        <p:nvSpPr>
          <p:cNvPr id="20" name="Shape 19"/>
          <p:cNvSpPr/>
          <p:nvPr/>
        </p:nvSpPr>
        <p:spPr>
          <a:xfrm>
            <a:off x="539496" y="2267712"/>
            <a:ext cx="1116584" cy="274320"/>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539496" y="2267712"/>
            <a:ext cx="1116584" cy="274320"/>
          </a:xfrm>
          <a:prstGeom prst="rect">
            <a:avLst/>
          </a:prstGeom>
          <a:noFill/>
        </p:spPr>
        <p:txBody>
          <a:bodyPr wrap="square" lIns="0" rIns="0" tIns="0" bIns="0" anchor="ctr">
            <a:spAutoFit/>
          </a:bodyPr>
          <a:lstStyle/>
          <a:p>
            <a:pPr algn="ctr"/>
            <a:r>
              <a:rPr sz="700" b="1" i="0">
                <a:solidFill>
                  <a:srgbClr val="F2F2F2"/>
                </a:solidFill>
                <a:latin typeface="Trenda IG Text"/>
              </a:rPr>
              <a:t>Developer</a:t>
            </a:r>
          </a:p>
        </p:txBody>
      </p:sp>
      <p:sp>
        <p:nvSpPr>
          <p:cNvPr id="22" name="Shape 21"/>
          <p:cNvSpPr/>
          <p:nvPr/>
        </p:nvSpPr>
        <p:spPr>
          <a:xfrm>
            <a:off x="1710944" y="2267712"/>
            <a:ext cx="1116584" cy="274320"/>
          </a:xfrm>
          <a:prstGeom prst="roundRect">
            <a:avLst>
              <a:gd name="adj" fmla="val 25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1784096" y="2322576"/>
            <a:ext cx="164592" cy="164592"/>
          </a:xfrm>
          <a:prstGeom prst="rect">
            <a:avLst/>
          </a:prstGeom>
        </p:spPr>
      </p:pic>
      <p:sp>
        <p:nvSpPr>
          <p:cNvPr id="24" name="Text 22"/>
          <p:cNvSpPr txBox="1"/>
          <p:nvPr/>
        </p:nvSpPr>
        <p:spPr>
          <a:xfrm>
            <a:off x="1930400" y="2267712"/>
            <a:ext cx="860551" cy="274320"/>
          </a:xfrm>
          <a:prstGeom prst="rect">
            <a:avLst/>
          </a:prstGeom>
          <a:noFill/>
        </p:spPr>
        <p:txBody>
          <a:bodyPr wrap="square" lIns="0" rIns="0" tIns="0" bIns="0" anchor="ctr">
            <a:spAutoFit/>
          </a:bodyPr>
          <a:lstStyle/>
          <a:p>
            <a:pPr algn="ctr"/>
            <a:r>
              <a:rPr sz="700" b="1" i="0">
                <a:solidFill>
                  <a:srgbClr val="00D6F2"/>
                </a:solidFill>
                <a:latin typeface="Trenda IG Text"/>
              </a:rPr>
              <a:t>Harness agent</a:t>
            </a:r>
          </a:p>
        </p:txBody>
      </p:sp>
      <p:sp>
        <p:nvSpPr>
          <p:cNvPr id="25" name="Shape 23"/>
          <p:cNvSpPr/>
          <p:nvPr/>
        </p:nvSpPr>
        <p:spPr>
          <a:xfrm>
            <a:off x="2882392" y="2267712"/>
            <a:ext cx="1116584" cy="274320"/>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2882392" y="2267712"/>
            <a:ext cx="1116584" cy="274320"/>
          </a:xfrm>
          <a:prstGeom prst="rect">
            <a:avLst/>
          </a:prstGeom>
          <a:noFill/>
        </p:spPr>
        <p:txBody>
          <a:bodyPr wrap="square" lIns="0" rIns="0" tIns="0" bIns="0" anchor="ctr">
            <a:spAutoFit/>
          </a:bodyPr>
          <a:lstStyle/>
          <a:p>
            <a:pPr algn="ctr"/>
            <a:r>
              <a:rPr sz="700" b="1" i="0">
                <a:solidFill>
                  <a:srgbClr val="F2F2F2"/>
                </a:solidFill>
                <a:latin typeface="Trenda IG Text"/>
              </a:rPr>
              <a:t>QA</a:t>
            </a:r>
          </a:p>
        </p:txBody>
      </p:sp>
      <p:sp>
        <p:nvSpPr>
          <p:cNvPr id="27" name="Text 25"/>
          <p:cNvSpPr txBox="1"/>
          <p:nvPr/>
        </p:nvSpPr>
        <p:spPr>
          <a:xfrm>
            <a:off x="539496" y="2615184"/>
            <a:ext cx="3459480" cy="384048"/>
          </a:xfrm>
          <a:prstGeom prst="rect">
            <a:avLst/>
          </a:prstGeom>
          <a:noFill/>
        </p:spPr>
        <p:txBody>
          <a:bodyPr wrap="square" lIns="0" rIns="0" tIns="0" bIns="0" anchor="t">
            <a:spAutoFit/>
          </a:bodyPr>
          <a:lstStyle/>
          <a:p>
            <a:r>
              <a:rPr sz="700" b="1" i="0">
                <a:solidFill>
                  <a:srgbClr val="00D6F2"/>
                </a:solidFill>
                <a:latin typeface="Trenda IG Text"/>
              </a:rPr>
              <a:t>Agent </a:t>
            </a:r>
            <a:r>
              <a:rPr sz="700" b="0" i="0">
                <a:solidFill>
                  <a:srgbClr val="B3B3B3"/>
                </a:solidFill>
                <a:latin typeface="Trenda IG Text"/>
              </a:rPr>
              <a:t>drafts code, tests and the Copado package overnight. </a:t>
            </a:r>
            <a:r>
              <a:rPr sz="700" b="1" i="0">
                <a:solidFill>
                  <a:srgbClr val="F2F2F2"/>
                </a:solidFill>
                <a:latin typeface="Trenda IG Text"/>
              </a:rPr>
              <a:t>Developer </a:t>
            </a:r>
            <a:r>
              <a:rPr sz="700" b="0" i="0">
                <a:solidFill>
                  <a:srgbClr val="B3B3B3"/>
                </a:solidFill>
                <a:latin typeface="Trenda IG Text"/>
              </a:rPr>
              <a:t>directs and approves. </a:t>
            </a:r>
            <a:r>
              <a:rPr sz="700" b="1" i="0">
                <a:solidFill>
                  <a:srgbClr val="F2F2F2"/>
                </a:solidFill>
                <a:latin typeface="Trenda IG Text"/>
              </a:rPr>
              <a:t>QA </a:t>
            </a:r>
            <a:r>
              <a:rPr sz="700" b="0" i="0">
                <a:solidFill>
                  <a:srgbClr val="B3B3B3"/>
                </a:solidFill>
                <a:latin typeface="Trenda IG Text"/>
              </a:rPr>
              <a:t>signs off.</a:t>
            </a:r>
          </a:p>
        </p:txBody>
      </p:sp>
      <p:sp>
        <p:nvSpPr>
          <p:cNvPr id="28" name="Shape 26"/>
          <p:cNvSpPr/>
          <p:nvPr/>
        </p:nvSpPr>
        <p:spPr>
          <a:xfrm>
            <a:off x="4236720" y="1188720"/>
            <a:ext cx="371551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236720" y="1188720"/>
            <a:ext cx="371551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346448" y="1188720"/>
            <a:ext cx="3496056" cy="256032"/>
          </a:xfrm>
          <a:prstGeom prst="rect">
            <a:avLst/>
          </a:prstGeom>
          <a:noFill/>
        </p:spPr>
        <p:txBody>
          <a:bodyPr wrap="square" lIns="0" rIns="0" tIns="0" bIns="0" anchor="ctr">
            <a:spAutoFit/>
          </a:bodyPr>
          <a:lstStyle/>
          <a:p>
            <a:r>
              <a:rPr sz="700" b="1" i="0" spc="120">
                <a:solidFill>
                  <a:srgbClr val="F2F2F2"/>
                </a:solidFill>
                <a:latin typeface="Trenda IG Text"/>
              </a:rPr>
              <a:t>THE POD</a:t>
            </a:r>
            <a:r>
              <a:rPr sz="700" b="0" i="0">
                <a:solidFill>
                  <a:srgbClr val="B3B3B3"/>
                </a:solidFill>
                <a:latin typeface="Trenda IG Text"/>
              </a:rPr>
              <a:t>   what changes for every pod</a:t>
            </a:r>
          </a:p>
        </p:txBody>
      </p:sp>
      <p:sp>
        <p:nvSpPr>
          <p:cNvPr id="31" name="Text 29"/>
          <p:cNvSpPr txBox="1"/>
          <p:nvPr/>
        </p:nvSpPr>
        <p:spPr>
          <a:xfrm>
            <a:off x="5608320" y="1517904"/>
            <a:ext cx="914400" cy="164592"/>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32" name="Text 30"/>
          <p:cNvSpPr txBox="1"/>
          <p:nvPr/>
        </p:nvSpPr>
        <p:spPr>
          <a:xfrm>
            <a:off x="6614160" y="1517904"/>
            <a:ext cx="1280160" cy="164592"/>
          </a:xfrm>
          <a:prstGeom prst="rect">
            <a:avLst/>
          </a:prstGeom>
          <a:noFill/>
        </p:spPr>
        <p:txBody>
          <a:bodyPr wrap="square" lIns="0" rIns="0" tIns="0" bIns="0" anchor="ctr">
            <a:spAutoFit/>
          </a:bodyPr>
          <a:lstStyle/>
          <a:p>
            <a:r>
              <a:rPr sz="700" b="1" i="0" spc="100">
                <a:solidFill>
                  <a:srgbClr val="00D6F2"/>
                </a:solidFill>
                <a:latin typeface="Trenda IG Text"/>
              </a:rPr>
              <a:t>WITH THE HARNESS</a:t>
            </a:r>
          </a:p>
        </p:txBody>
      </p:sp>
      <p:sp>
        <p:nvSpPr>
          <p:cNvPr id="33" name="Shape 31"/>
          <p:cNvSpPr/>
          <p:nvPr/>
        </p:nvSpPr>
        <p:spPr>
          <a:xfrm>
            <a:off x="4364736" y="1700784"/>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2"/>
          <p:cNvSpPr txBox="1"/>
          <p:nvPr/>
        </p:nvSpPr>
        <p:spPr>
          <a:xfrm>
            <a:off x="4437888" y="1700784"/>
            <a:ext cx="1188720" cy="228600"/>
          </a:xfrm>
          <a:prstGeom prst="rect">
            <a:avLst/>
          </a:prstGeom>
          <a:noFill/>
        </p:spPr>
        <p:txBody>
          <a:bodyPr wrap="square" lIns="0" rIns="0" tIns="0" bIns="0" anchor="ctr">
            <a:spAutoFit/>
          </a:bodyPr>
          <a:lstStyle/>
          <a:p>
            <a:r>
              <a:rPr sz="700" b="1" i="0">
                <a:solidFill>
                  <a:srgbClr val="F2F2F2"/>
                </a:solidFill>
                <a:latin typeface="Trenda IG Text"/>
              </a:rPr>
              <a:t>New engineer productive</a:t>
            </a:r>
          </a:p>
        </p:txBody>
      </p:sp>
      <p:sp>
        <p:nvSpPr>
          <p:cNvPr id="35" name="Text 33"/>
          <p:cNvSpPr txBox="1"/>
          <p:nvPr/>
        </p:nvSpPr>
        <p:spPr>
          <a:xfrm>
            <a:off x="5608320" y="1700784"/>
            <a:ext cx="987552" cy="228600"/>
          </a:xfrm>
          <a:prstGeom prst="rect">
            <a:avLst/>
          </a:prstGeom>
          <a:noFill/>
        </p:spPr>
        <p:txBody>
          <a:bodyPr wrap="square" lIns="0" rIns="0" tIns="0" bIns="0" anchor="ctr">
            <a:spAutoFit/>
          </a:bodyPr>
          <a:lstStyle/>
          <a:p>
            <a:r>
              <a:rPr sz="700" b="0" i="0">
                <a:solidFill>
                  <a:srgbClr val="B3B3B3"/>
                </a:solidFill>
                <a:latin typeface="Trenda IG Text"/>
              </a:rPr>
              <a:t>4-6 weeks</a:t>
            </a:r>
          </a:p>
        </p:txBody>
      </p:sp>
      <p:sp>
        <p:nvSpPr>
          <p:cNvPr id="36" name="Text 34"/>
          <p:cNvSpPr txBox="1"/>
          <p:nvPr/>
        </p:nvSpPr>
        <p:spPr>
          <a:xfrm>
            <a:off x="6614160" y="1700784"/>
            <a:ext cx="1429512" cy="228600"/>
          </a:xfrm>
          <a:prstGeom prst="rect">
            <a:avLst/>
          </a:prstGeom>
          <a:noFill/>
        </p:spPr>
        <p:txBody>
          <a:bodyPr wrap="square" lIns="0" rIns="0" tIns="0" bIns="0" anchor="ctr">
            <a:spAutoFit/>
          </a:bodyPr>
          <a:lstStyle/>
          <a:p>
            <a:r>
              <a:rPr sz="700" b="1" i="0">
                <a:solidFill>
                  <a:srgbClr val="00D6F2"/>
                </a:solidFill>
                <a:latin typeface="Trenda IG Text"/>
              </a:rPr>
              <a:t>about 1 week</a:t>
            </a:r>
          </a:p>
        </p:txBody>
      </p:sp>
      <p:sp>
        <p:nvSpPr>
          <p:cNvPr id="37" name="Shape 35"/>
          <p:cNvSpPr/>
          <p:nvPr/>
        </p:nvSpPr>
        <p:spPr>
          <a:xfrm>
            <a:off x="4364736" y="1965960"/>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6"/>
          <p:cNvSpPr txBox="1"/>
          <p:nvPr/>
        </p:nvSpPr>
        <p:spPr>
          <a:xfrm>
            <a:off x="4437888" y="1965960"/>
            <a:ext cx="1188720" cy="228600"/>
          </a:xfrm>
          <a:prstGeom prst="rect">
            <a:avLst/>
          </a:prstGeom>
          <a:noFill/>
        </p:spPr>
        <p:txBody>
          <a:bodyPr wrap="square" lIns="0" rIns="0" tIns="0" bIns="0" anchor="ctr">
            <a:spAutoFit/>
          </a:bodyPr>
          <a:lstStyle/>
          <a:p>
            <a:r>
              <a:rPr sz="700" b="1" i="0">
                <a:solidFill>
                  <a:srgbClr val="F2F2F2"/>
                </a:solidFill>
                <a:latin typeface="Trenda IG Text"/>
              </a:rPr>
              <a:t>Delivery each day</a:t>
            </a:r>
          </a:p>
        </p:txBody>
      </p:sp>
      <p:sp>
        <p:nvSpPr>
          <p:cNvPr id="39" name="Text 37"/>
          <p:cNvSpPr txBox="1"/>
          <p:nvPr/>
        </p:nvSpPr>
        <p:spPr>
          <a:xfrm>
            <a:off x="5608320" y="1965960"/>
            <a:ext cx="987552" cy="228600"/>
          </a:xfrm>
          <a:prstGeom prst="rect">
            <a:avLst/>
          </a:prstGeom>
          <a:noFill/>
        </p:spPr>
        <p:txBody>
          <a:bodyPr wrap="square" lIns="0" rIns="0" tIns="0" bIns="0" anchor="ctr">
            <a:spAutoFit/>
          </a:bodyPr>
          <a:lstStyle/>
          <a:p>
            <a:r>
              <a:rPr sz="700" b="0" i="0">
                <a:solidFill>
                  <a:srgbClr val="B3B3B3"/>
                </a:solidFill>
                <a:latin typeface="Trenda IG Text"/>
              </a:rPr>
              <a:t>office hours</a:t>
            </a:r>
          </a:p>
        </p:txBody>
      </p:sp>
      <p:sp>
        <p:nvSpPr>
          <p:cNvPr id="40" name="Text 38"/>
          <p:cNvSpPr txBox="1"/>
          <p:nvPr/>
        </p:nvSpPr>
        <p:spPr>
          <a:xfrm>
            <a:off x="6614160" y="1965960"/>
            <a:ext cx="1429512" cy="228600"/>
          </a:xfrm>
          <a:prstGeom prst="rect">
            <a:avLst/>
          </a:prstGeom>
          <a:noFill/>
        </p:spPr>
        <p:txBody>
          <a:bodyPr wrap="square" lIns="0" rIns="0" tIns="0" bIns="0" anchor="ctr">
            <a:spAutoFit/>
          </a:bodyPr>
          <a:lstStyle/>
          <a:p>
            <a:r>
              <a:rPr sz="700" b="1" i="0">
                <a:solidFill>
                  <a:srgbClr val="00D6F2"/>
                </a:solidFill>
                <a:latin typeface="Trenda IG Text"/>
              </a:rPr>
              <a:t>about 20 hours</a:t>
            </a:r>
          </a:p>
        </p:txBody>
      </p:sp>
      <p:sp>
        <p:nvSpPr>
          <p:cNvPr id="41" name="Shape 39"/>
          <p:cNvSpPr/>
          <p:nvPr/>
        </p:nvSpPr>
        <p:spPr>
          <a:xfrm>
            <a:off x="4364736" y="2231136"/>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0"/>
          <p:cNvSpPr txBox="1"/>
          <p:nvPr/>
        </p:nvSpPr>
        <p:spPr>
          <a:xfrm>
            <a:off x="4437888" y="2231136"/>
            <a:ext cx="1188720" cy="228600"/>
          </a:xfrm>
          <a:prstGeom prst="rect">
            <a:avLst/>
          </a:prstGeom>
          <a:noFill/>
        </p:spPr>
        <p:txBody>
          <a:bodyPr wrap="square" lIns="0" rIns="0" tIns="0" bIns="0" anchor="ctr">
            <a:spAutoFit/>
          </a:bodyPr>
          <a:lstStyle/>
          <a:p>
            <a:r>
              <a:rPr sz="700" b="1" i="0">
                <a:solidFill>
                  <a:srgbClr val="F2F2F2"/>
                </a:solidFill>
                <a:latin typeface="Trenda IG Text"/>
              </a:rPr>
              <a:t>Changes checked</a:t>
            </a:r>
          </a:p>
        </p:txBody>
      </p:sp>
      <p:sp>
        <p:nvSpPr>
          <p:cNvPr id="43" name="Text 41"/>
          <p:cNvSpPr txBox="1"/>
          <p:nvPr/>
        </p:nvSpPr>
        <p:spPr>
          <a:xfrm>
            <a:off x="5608320" y="2231136"/>
            <a:ext cx="987552" cy="228600"/>
          </a:xfrm>
          <a:prstGeom prst="rect">
            <a:avLst/>
          </a:prstGeom>
          <a:noFill/>
        </p:spPr>
        <p:txBody>
          <a:bodyPr wrap="square" lIns="0" rIns="0" tIns="0" bIns="0" anchor="ctr">
            <a:spAutoFit/>
          </a:bodyPr>
          <a:lstStyle/>
          <a:p>
            <a:r>
              <a:rPr sz="700" b="0" i="0">
                <a:solidFill>
                  <a:srgbClr val="B3B3B3"/>
                </a:solidFill>
                <a:latin typeface="Trenda IG Text"/>
              </a:rPr>
              <a:t>depends on reviewer</a:t>
            </a:r>
          </a:p>
        </p:txBody>
      </p:sp>
      <p:sp>
        <p:nvSpPr>
          <p:cNvPr id="44" name="Text 42"/>
          <p:cNvSpPr txBox="1"/>
          <p:nvPr/>
        </p:nvSpPr>
        <p:spPr>
          <a:xfrm>
            <a:off x="6614160" y="2231136"/>
            <a:ext cx="1429512" cy="228600"/>
          </a:xfrm>
          <a:prstGeom prst="rect">
            <a:avLst/>
          </a:prstGeom>
          <a:noFill/>
        </p:spPr>
        <p:txBody>
          <a:bodyPr wrap="square" lIns="0" rIns="0" tIns="0" bIns="0" anchor="ctr">
            <a:spAutoFit/>
          </a:bodyPr>
          <a:lstStyle/>
          <a:p>
            <a:r>
              <a:rPr sz="700" b="1" i="0">
                <a:solidFill>
                  <a:srgbClr val="00D6F2"/>
                </a:solidFill>
                <a:latin typeface="Trenda IG Text"/>
              </a:rPr>
              <a:t>100%, same standards</a:t>
            </a:r>
          </a:p>
        </p:txBody>
      </p:sp>
      <p:sp>
        <p:nvSpPr>
          <p:cNvPr id="45" name="Shape 43"/>
          <p:cNvSpPr/>
          <p:nvPr/>
        </p:nvSpPr>
        <p:spPr>
          <a:xfrm>
            <a:off x="4364736" y="2496312"/>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4"/>
          <p:cNvSpPr txBox="1"/>
          <p:nvPr/>
        </p:nvSpPr>
        <p:spPr>
          <a:xfrm>
            <a:off x="4437888" y="2496312"/>
            <a:ext cx="1188720" cy="228600"/>
          </a:xfrm>
          <a:prstGeom prst="rect">
            <a:avLst/>
          </a:prstGeom>
          <a:noFill/>
        </p:spPr>
        <p:txBody>
          <a:bodyPr wrap="square" lIns="0" rIns="0" tIns="0" bIns="0" anchor="ctr">
            <a:spAutoFit/>
          </a:bodyPr>
          <a:lstStyle/>
          <a:p>
            <a:r>
              <a:rPr sz="700" b="1" i="0">
                <a:solidFill>
                  <a:srgbClr val="F2F2F2"/>
                </a:solidFill>
                <a:latin typeface="Trenda IG Text"/>
              </a:rPr>
              <a:t>New pod live</a:t>
            </a:r>
          </a:p>
        </p:txBody>
      </p:sp>
      <p:sp>
        <p:nvSpPr>
          <p:cNvPr id="47" name="Text 45"/>
          <p:cNvSpPr txBox="1"/>
          <p:nvPr/>
        </p:nvSpPr>
        <p:spPr>
          <a:xfrm>
            <a:off x="5608320" y="2496312"/>
            <a:ext cx="987552" cy="228600"/>
          </a:xfrm>
          <a:prstGeom prst="rect">
            <a:avLst/>
          </a:prstGeom>
          <a:noFill/>
        </p:spPr>
        <p:txBody>
          <a:bodyPr wrap="square" lIns="0" rIns="0" tIns="0" bIns="0" anchor="ctr">
            <a:spAutoFit/>
          </a:bodyPr>
          <a:lstStyle/>
          <a:p>
            <a:r>
              <a:rPr sz="700" b="0" i="0">
                <a:solidFill>
                  <a:srgbClr val="B3B3B3"/>
                </a:solidFill>
                <a:latin typeface="Trenda IG Text"/>
              </a:rPr>
              <a:t>about 2 months</a:t>
            </a:r>
          </a:p>
        </p:txBody>
      </p:sp>
      <p:sp>
        <p:nvSpPr>
          <p:cNvPr id="48" name="Text 46"/>
          <p:cNvSpPr txBox="1"/>
          <p:nvPr/>
        </p:nvSpPr>
        <p:spPr>
          <a:xfrm>
            <a:off x="6614160" y="2496312"/>
            <a:ext cx="1429512" cy="228600"/>
          </a:xfrm>
          <a:prstGeom prst="rect">
            <a:avLst/>
          </a:prstGeom>
          <a:noFill/>
        </p:spPr>
        <p:txBody>
          <a:bodyPr wrap="square" lIns="0" rIns="0" tIns="0" bIns="0" anchor="ctr">
            <a:spAutoFit/>
          </a:bodyPr>
          <a:lstStyle/>
          <a:p>
            <a:r>
              <a:rPr sz="700" b="1" i="0">
                <a:solidFill>
                  <a:srgbClr val="00D6F2"/>
                </a:solidFill>
                <a:latin typeface="Trenda IG Text"/>
              </a:rPr>
              <a:t>2 weeks</a:t>
            </a:r>
          </a:p>
        </p:txBody>
      </p:sp>
      <p:sp>
        <p:nvSpPr>
          <p:cNvPr id="49" name="Text 47"/>
          <p:cNvSpPr txBox="1"/>
          <p:nvPr/>
        </p:nvSpPr>
        <p:spPr>
          <a:xfrm>
            <a:off x="4364736" y="2779776"/>
            <a:ext cx="3459480" cy="329184"/>
          </a:xfrm>
          <a:prstGeom prst="rect">
            <a:avLst/>
          </a:prstGeom>
          <a:noFill/>
        </p:spPr>
        <p:txBody>
          <a:bodyPr wrap="square" lIns="0" rIns="0" tIns="0" bIns="0" anchor="ctr">
            <a:spAutoFit/>
          </a:bodyPr>
          <a:lstStyle/>
          <a:p>
            <a:r>
              <a:rPr sz="700" b="0" i="0">
                <a:solidFill>
                  <a:srgbClr val="8C8C8C"/>
                </a:solidFill>
                <a:latin typeface="Trenda IG Text"/>
              </a:rPr>
              <a:t>Pilot targets, baselined per pod.</a:t>
            </a:r>
          </a:p>
        </p:txBody>
      </p:sp>
      <p:sp>
        <p:nvSpPr>
          <p:cNvPr id="50" name="Shape 48"/>
          <p:cNvSpPr/>
          <p:nvPr/>
        </p:nvSpPr>
        <p:spPr>
          <a:xfrm>
            <a:off x="8061960" y="1188720"/>
            <a:ext cx="371551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9"/>
          <p:cNvSpPr/>
          <p:nvPr/>
        </p:nvSpPr>
        <p:spPr>
          <a:xfrm>
            <a:off x="8061960" y="1188720"/>
            <a:ext cx="371551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0"/>
          <p:cNvSpPr txBox="1"/>
          <p:nvPr/>
        </p:nvSpPr>
        <p:spPr>
          <a:xfrm>
            <a:off x="8171687" y="1188720"/>
            <a:ext cx="3496056" cy="256032"/>
          </a:xfrm>
          <a:prstGeom prst="rect">
            <a:avLst/>
          </a:prstGeom>
          <a:noFill/>
        </p:spPr>
        <p:txBody>
          <a:bodyPr wrap="square" lIns="0" rIns="0" tIns="0" bIns="0" anchor="ctr">
            <a:spAutoFit/>
          </a:bodyPr>
          <a:lstStyle/>
          <a:p>
            <a:r>
              <a:rPr sz="700" b="1" i="0" spc="120">
                <a:solidFill>
                  <a:srgbClr val="F2F2F2"/>
                </a:solidFill>
                <a:latin typeface="Trenda IG Text"/>
              </a:rPr>
              <a:t>THE BUILD AND RUN</a:t>
            </a:r>
            <a:r>
              <a:rPr sz="700" b="0" i="0">
                <a:solidFill>
                  <a:srgbClr val="B3B3B3"/>
                </a:solidFill>
                <a:latin typeface="Trenda IG Text"/>
              </a:rPr>
              <a:t>   fixed fee, paid by gate</a:t>
            </a:r>
          </a:p>
        </p:txBody>
      </p:sp>
      <p:sp>
        <p:nvSpPr>
          <p:cNvPr id="53" name="Shape 51"/>
          <p:cNvSpPr/>
          <p:nvPr/>
        </p:nvSpPr>
        <p:spPr>
          <a:xfrm>
            <a:off x="8189976" y="1554480"/>
            <a:ext cx="1104391"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2"/>
          <p:cNvSpPr txBox="1"/>
          <p:nvPr/>
        </p:nvSpPr>
        <p:spPr>
          <a:xfrm>
            <a:off x="8281416" y="1591056"/>
            <a:ext cx="976376" cy="402336"/>
          </a:xfrm>
          <a:prstGeom prst="rect">
            <a:avLst/>
          </a:prstGeom>
          <a:noFill/>
        </p:spPr>
        <p:txBody>
          <a:bodyPr wrap="square" lIns="0" rIns="0" tIns="0" bIns="0" anchor="ctr">
            <a:spAutoFit/>
          </a:bodyPr>
          <a:lstStyle/>
          <a:p>
            <a:r>
              <a:rPr sz="1600" b="0" i="0">
                <a:solidFill>
                  <a:srgbClr val="F2F2F2"/>
                </a:solidFill>
                <a:latin typeface="Trenda IG Text"/>
              </a:rPr>
              <a:t>17</a:t>
            </a:r>
          </a:p>
        </p:txBody>
      </p:sp>
      <p:sp>
        <p:nvSpPr>
          <p:cNvPr id="55" name="Text 53"/>
          <p:cNvSpPr txBox="1"/>
          <p:nvPr/>
        </p:nvSpPr>
        <p:spPr>
          <a:xfrm>
            <a:off x="8281416" y="1993392"/>
            <a:ext cx="976376" cy="420624"/>
          </a:xfrm>
          <a:prstGeom prst="rect">
            <a:avLst/>
          </a:prstGeom>
          <a:noFill/>
        </p:spPr>
        <p:txBody>
          <a:bodyPr wrap="square" lIns="0" rIns="0" tIns="0" bIns="0" anchor="t">
            <a:spAutoFit/>
          </a:bodyPr>
          <a:lstStyle/>
          <a:p>
            <a:r>
              <a:rPr sz="700" b="0" i="0">
                <a:solidFill>
                  <a:srgbClr val="B3B3B3"/>
                </a:solidFill>
                <a:latin typeface="Trenda IG Text"/>
              </a:rPr>
              <a:t>people at peak, 10 roles</a:t>
            </a:r>
          </a:p>
        </p:txBody>
      </p:sp>
      <p:sp>
        <p:nvSpPr>
          <p:cNvPr id="56" name="Shape 54"/>
          <p:cNvSpPr/>
          <p:nvPr/>
        </p:nvSpPr>
        <p:spPr>
          <a:xfrm>
            <a:off x="9367520" y="1554480"/>
            <a:ext cx="1104391"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5"/>
          <p:cNvSpPr txBox="1"/>
          <p:nvPr/>
        </p:nvSpPr>
        <p:spPr>
          <a:xfrm>
            <a:off x="9458960" y="1591056"/>
            <a:ext cx="976376" cy="402336"/>
          </a:xfrm>
          <a:prstGeom prst="rect">
            <a:avLst/>
          </a:prstGeom>
          <a:noFill/>
        </p:spPr>
        <p:txBody>
          <a:bodyPr wrap="square" lIns="0" rIns="0" tIns="0" bIns="0" anchor="ctr">
            <a:spAutoFit/>
          </a:bodyPr>
          <a:lstStyle/>
          <a:p>
            <a:r>
              <a:rPr sz="1600" b="0" i="0">
                <a:solidFill>
                  <a:srgbClr val="F2F2F2"/>
                </a:solidFill>
                <a:latin typeface="Trenda IG Text"/>
              </a:rPr>
              <a:t>18</a:t>
            </a:r>
          </a:p>
        </p:txBody>
      </p:sp>
      <p:sp>
        <p:nvSpPr>
          <p:cNvPr id="58" name="Text 56"/>
          <p:cNvSpPr txBox="1"/>
          <p:nvPr/>
        </p:nvSpPr>
        <p:spPr>
          <a:xfrm>
            <a:off x="9458960" y="1993392"/>
            <a:ext cx="976376" cy="420624"/>
          </a:xfrm>
          <a:prstGeom prst="rect">
            <a:avLst/>
          </a:prstGeom>
          <a:noFill/>
        </p:spPr>
        <p:txBody>
          <a:bodyPr wrap="square" lIns="0" rIns="0" tIns="0" bIns="0" anchor="t">
            <a:spAutoFit/>
          </a:bodyPr>
          <a:lstStyle/>
          <a:p>
            <a:r>
              <a:rPr sz="700" b="0" i="0">
                <a:solidFill>
                  <a:srgbClr val="B3B3B3"/>
                </a:solidFill>
                <a:latin typeface="Trenda IG Text"/>
              </a:rPr>
              <a:t>months, seven phases</a:t>
            </a:r>
          </a:p>
        </p:txBody>
      </p:sp>
      <p:sp>
        <p:nvSpPr>
          <p:cNvPr id="59" name="Shape 57"/>
          <p:cNvSpPr/>
          <p:nvPr/>
        </p:nvSpPr>
        <p:spPr>
          <a:xfrm>
            <a:off x="10545064" y="1554480"/>
            <a:ext cx="1104391"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8"/>
          <p:cNvSpPr txBox="1"/>
          <p:nvPr/>
        </p:nvSpPr>
        <p:spPr>
          <a:xfrm>
            <a:off x="10636504" y="1591056"/>
            <a:ext cx="976376" cy="402336"/>
          </a:xfrm>
          <a:prstGeom prst="rect">
            <a:avLst/>
          </a:prstGeom>
          <a:noFill/>
        </p:spPr>
        <p:txBody>
          <a:bodyPr wrap="square" lIns="0" rIns="0" tIns="0" bIns="0" anchor="ctr">
            <a:spAutoFit/>
          </a:bodyPr>
          <a:lstStyle/>
          <a:p>
            <a:r>
              <a:rPr sz="1600" b="0" i="0">
                <a:solidFill>
                  <a:srgbClr val="F2F2F2"/>
                </a:solidFill>
                <a:latin typeface="Trenda IG Text"/>
              </a:rPr>
              <a:t>$4.79M</a:t>
            </a:r>
          </a:p>
        </p:txBody>
      </p:sp>
      <p:sp>
        <p:nvSpPr>
          <p:cNvPr id="61" name="Text 59"/>
          <p:cNvSpPr txBox="1"/>
          <p:nvPr/>
        </p:nvSpPr>
        <p:spPr>
          <a:xfrm>
            <a:off x="10636504" y="1993392"/>
            <a:ext cx="976376" cy="420624"/>
          </a:xfrm>
          <a:prstGeom prst="rect">
            <a:avLst/>
          </a:prstGeom>
          <a:noFill/>
        </p:spPr>
        <p:txBody>
          <a:bodyPr wrap="square" lIns="0" rIns="0" tIns="0" bIns="0" anchor="t">
            <a:spAutoFit/>
          </a:bodyPr>
          <a:lstStyle/>
          <a:p>
            <a:r>
              <a:rPr sz="700" b="0" i="0">
                <a:solidFill>
                  <a:srgbClr val="B3B3B3"/>
                </a:solidFill>
                <a:latin typeface="Trenda IG Text"/>
              </a:rPr>
              <a:t>fixed fee, paid as each gate is signed</a:t>
            </a:r>
          </a:p>
        </p:txBody>
      </p:sp>
      <p:sp>
        <p:nvSpPr>
          <p:cNvPr id="62" name="Text 60"/>
          <p:cNvSpPr txBox="1"/>
          <p:nvPr/>
        </p:nvSpPr>
        <p:spPr>
          <a:xfrm>
            <a:off x="8189976" y="2542032"/>
            <a:ext cx="3459480" cy="457200"/>
          </a:xfrm>
          <a:prstGeom prst="rect">
            <a:avLst/>
          </a:prstGeom>
          <a:noFill/>
        </p:spPr>
        <p:txBody>
          <a:bodyPr wrap="square" lIns="0" rIns="0" tIns="0" bIns="0" anchor="t">
            <a:spAutoFit/>
          </a:bodyPr>
          <a:lstStyle/>
          <a:p>
            <a:r>
              <a:rPr sz="700" b="1" i="0">
                <a:solidFill>
                  <a:srgbClr val="F2F2F2"/>
                </a:solidFill>
                <a:latin typeface="Trenda IG Text"/>
              </a:rPr>
              <a:t>From month 19 </a:t>
            </a:r>
            <a:r>
              <a:rPr sz="700" b="0" i="0">
                <a:solidFill>
                  <a:srgbClr val="B3B3B3"/>
                </a:solidFill>
                <a:latin typeface="Trenda IG Text"/>
              </a:rPr>
              <a:t>a run team of 4 keeps the graph, agents and evals current: about $1.24M a year with platform usage.</a:t>
            </a:r>
          </a:p>
        </p:txBody>
      </p:sp>
      <p:sp>
        <p:nvSpPr>
          <p:cNvPr id="63" name="Shape 61"/>
          <p:cNvSpPr/>
          <p:nvPr/>
        </p:nvSpPr>
        <p:spPr>
          <a:xfrm>
            <a:off x="411480" y="3291840"/>
            <a:ext cx="1136599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2"/>
          <p:cNvSpPr/>
          <p:nvPr/>
        </p:nvSpPr>
        <p:spPr>
          <a:xfrm>
            <a:off x="411480" y="3291840"/>
            <a:ext cx="1136599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3"/>
          <p:cNvSpPr txBox="1"/>
          <p:nvPr/>
        </p:nvSpPr>
        <p:spPr>
          <a:xfrm>
            <a:off x="521208" y="3291840"/>
            <a:ext cx="11146536" cy="256032"/>
          </a:xfrm>
          <a:prstGeom prst="rect">
            <a:avLst/>
          </a:prstGeom>
          <a:noFill/>
        </p:spPr>
        <p:txBody>
          <a:bodyPr wrap="square" lIns="0" rIns="0" tIns="0" bIns="0" anchor="ctr">
            <a:spAutoFit/>
          </a:bodyPr>
          <a:lstStyle/>
          <a:p>
            <a:r>
              <a:rPr sz="700" b="1" i="0" spc="120">
                <a:solidFill>
                  <a:srgbClr val="F2F2F2"/>
                </a:solidFill>
                <a:latin typeface="Trenda IG Text"/>
              </a:rPr>
              <a:t>THE RETURN</a:t>
            </a:r>
            <a:r>
              <a:rPr sz="700" b="0" i="0">
                <a:solidFill>
                  <a:srgbClr val="B3B3B3"/>
                </a:solidFill>
                <a:latin typeface="Trenda IG Text"/>
              </a:rPr>
              <a:t>   target · first full year after go-live</a:t>
            </a:r>
          </a:p>
        </p:txBody>
      </p:sp>
      <p:sp>
        <p:nvSpPr>
          <p:cNvPr id="66" name="Shape 64"/>
          <p:cNvSpPr/>
          <p:nvPr/>
        </p:nvSpPr>
        <p:spPr>
          <a:xfrm>
            <a:off x="539496"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5"/>
          <p:cNvSpPr txBox="1"/>
          <p:nvPr/>
        </p:nvSpPr>
        <p:spPr>
          <a:xfrm>
            <a:off x="667512"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$16M</a:t>
            </a:r>
          </a:p>
        </p:txBody>
      </p:sp>
      <p:sp>
        <p:nvSpPr>
          <p:cNvPr id="68" name="Text 66"/>
          <p:cNvSpPr txBox="1"/>
          <p:nvPr/>
        </p:nvSpPr>
        <p:spPr>
          <a:xfrm>
            <a:off x="667512"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a year today</a:t>
            </a:r>
          </a:p>
        </p:txBody>
      </p:sp>
      <p:sp>
        <p:nvSpPr>
          <p:cNvPr id="69" name="Text 67"/>
          <p:cNvSpPr txBox="1"/>
          <p:nvPr/>
        </p:nvSpPr>
        <p:spPr>
          <a:xfrm>
            <a:off x="667512" y="4654296"/>
            <a:ext cx="1577340" cy="201168"/>
          </a:xfrm>
          <a:prstGeom prst="rect">
            <a:avLst/>
          </a:prstGeom>
          <a:noFill/>
        </p:spPr>
        <p:txBody>
          <a:bodyPr wrap="square" lIns="0" rIns="0" tIns="0" bIns="0" anchor="ctr">
            <a:spAutoFit/>
          </a:bodyPr>
          <a:lstStyle/>
          <a:p>
            <a:r>
              <a:rPr sz="700" b="0" i="0">
                <a:solidFill>
                  <a:srgbClr val="B3B3B3"/>
                </a:solidFill>
                <a:latin typeface="Trenda IG Text"/>
              </a:rPr>
              <a:t>as provided by Ascension</a:t>
            </a:r>
          </a:p>
        </p:txBody>
      </p:sp>
      <p:sp>
        <p:nvSpPr>
          <p:cNvPr id="70" name="Shape 68"/>
          <p:cNvSpPr/>
          <p:nvPr/>
        </p:nvSpPr>
        <p:spPr>
          <a:xfrm>
            <a:off x="2427732"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9"/>
          <p:cNvSpPr txBox="1"/>
          <p:nvPr/>
        </p:nvSpPr>
        <p:spPr>
          <a:xfrm>
            <a:off x="2555748"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$7M</a:t>
            </a:r>
          </a:p>
        </p:txBody>
      </p:sp>
      <p:sp>
        <p:nvSpPr>
          <p:cNvPr id="72" name="Text 70"/>
          <p:cNvSpPr txBox="1"/>
          <p:nvPr/>
        </p:nvSpPr>
        <p:spPr>
          <a:xfrm>
            <a:off x="2555748"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a year with the harness</a:t>
            </a:r>
          </a:p>
        </p:txBody>
      </p:sp>
      <p:sp>
        <p:nvSpPr>
          <p:cNvPr id="73" name="Text 71"/>
          <p:cNvSpPr txBox="1"/>
          <p:nvPr/>
        </p:nvSpPr>
        <p:spPr>
          <a:xfrm>
            <a:off x="2555748" y="4654296"/>
            <a:ext cx="1577340" cy="201168"/>
          </a:xfrm>
          <a:prstGeom prst="rect">
            <a:avLst/>
          </a:prstGeom>
          <a:noFill/>
        </p:spPr>
        <p:txBody>
          <a:bodyPr wrap="square" lIns="0" rIns="0" tIns="0" bIns="0" anchor="ctr">
            <a:spAutoFit/>
          </a:bodyPr>
          <a:lstStyle/>
          <a:p>
            <a:r>
              <a:rPr sz="700" b="0" i="0">
                <a:solidFill>
                  <a:srgbClr val="B3B3B3"/>
                </a:solidFill>
                <a:latin typeface="Trenda IG Text"/>
              </a:rPr>
              <a:t>agents and run team included</a:t>
            </a:r>
          </a:p>
        </p:txBody>
      </p:sp>
      <p:sp>
        <p:nvSpPr>
          <p:cNvPr id="74" name="Differentiator Border 73"/>
          <p:cNvSpPr/>
          <p:nvPr/>
        </p:nvSpPr>
        <p:spPr>
          <a:xfrm>
            <a:off x="4315968" y="3639312"/>
            <a:ext cx="1796796" cy="14904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4"/>
          <p:cNvSpPr/>
          <p:nvPr/>
        </p:nvSpPr>
        <p:spPr>
          <a:xfrm>
            <a:off x="4334255" y="3657600"/>
            <a:ext cx="1760220" cy="145389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4443983" y="3977639"/>
            <a:ext cx="1577340" cy="457200"/>
          </a:xfrm>
          <a:prstGeom prst="rect">
            <a:avLst/>
          </a:prstGeom>
          <a:noFill/>
        </p:spPr>
        <p:txBody>
          <a:bodyPr wrap="square" lIns="0" rIns="0" tIns="0" bIns="0" anchor="ctr">
            <a:spAutoFit/>
          </a:bodyPr>
          <a:lstStyle/>
          <a:p>
            <a:r>
              <a:rPr sz="2200" b="0" i="0">
                <a:solidFill>
                  <a:srgbClr val="00D6F2"/>
                </a:solidFill>
                <a:latin typeface="Trenda IG Text"/>
              </a:rPr>
              <a:t>$9M</a:t>
            </a:r>
          </a:p>
        </p:txBody>
      </p:sp>
      <p:sp>
        <p:nvSpPr>
          <p:cNvPr id="77" name="Text 76"/>
          <p:cNvSpPr txBox="1"/>
          <p:nvPr/>
        </p:nvSpPr>
        <p:spPr>
          <a:xfrm>
            <a:off x="4443983"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saved every year</a:t>
            </a:r>
          </a:p>
        </p:txBody>
      </p:sp>
      <p:sp>
        <p:nvSpPr>
          <p:cNvPr id="78" name="Text 77"/>
          <p:cNvSpPr txBox="1"/>
          <p:nvPr/>
        </p:nvSpPr>
        <p:spPr>
          <a:xfrm>
            <a:off x="4443983" y="4654296"/>
            <a:ext cx="1577340" cy="201168"/>
          </a:xfrm>
          <a:prstGeom prst="rect">
            <a:avLst/>
          </a:prstGeom>
          <a:noFill/>
        </p:spPr>
        <p:txBody>
          <a:bodyPr wrap="square" lIns="0" rIns="0" tIns="0" bIns="0" anchor="ctr">
            <a:spAutoFit/>
          </a:bodyPr>
          <a:lstStyle/>
          <a:p>
            <a:r>
              <a:rPr sz="700" b="0" i="0">
                <a:solidFill>
                  <a:srgbClr val="B3B3B3"/>
                </a:solidFill>
                <a:latin typeface="Trenda IG Text"/>
              </a:rPr>
              <a:t>from go-live</a:t>
            </a:r>
          </a:p>
        </p:txBody>
      </p:sp>
      <p:sp>
        <p:nvSpPr>
          <p:cNvPr id="79" name="Shape 78"/>
          <p:cNvSpPr/>
          <p:nvPr/>
        </p:nvSpPr>
        <p:spPr>
          <a:xfrm>
            <a:off x="6204204"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6332220"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$5.0M</a:t>
            </a:r>
          </a:p>
        </p:txBody>
      </p:sp>
      <p:sp>
        <p:nvSpPr>
          <p:cNvPr id="81" name="Text 80"/>
          <p:cNvSpPr txBox="1"/>
          <p:nvPr/>
        </p:nvSpPr>
        <p:spPr>
          <a:xfrm>
            <a:off x="6332220"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invested once</a:t>
            </a:r>
          </a:p>
        </p:txBody>
      </p:sp>
      <p:sp>
        <p:nvSpPr>
          <p:cNvPr id="82" name="Text 81"/>
          <p:cNvSpPr txBox="1"/>
          <p:nvPr/>
        </p:nvSpPr>
        <p:spPr>
          <a:xfrm>
            <a:off x="6332220" y="4654296"/>
            <a:ext cx="1577340" cy="201168"/>
          </a:xfrm>
          <a:prstGeom prst="rect">
            <a:avLst/>
          </a:prstGeom>
          <a:noFill/>
        </p:spPr>
        <p:txBody>
          <a:bodyPr wrap="square" lIns="0" rIns="0" tIns="0" bIns="0" anchor="ctr">
            <a:spAutoFit/>
          </a:bodyPr>
          <a:lstStyle/>
          <a:p>
            <a:r>
              <a:rPr sz="700" b="0" i="0">
                <a:solidFill>
                  <a:srgbClr val="B3B3B3"/>
                </a:solidFill>
                <a:latin typeface="Trenda IG Text"/>
              </a:rPr>
              <a:t>$4.79M build + $0.23M usage</a:t>
            </a:r>
          </a:p>
        </p:txBody>
      </p:sp>
      <p:sp>
        <p:nvSpPr>
          <p:cNvPr id="83" name="Shape 82"/>
          <p:cNvSpPr/>
          <p:nvPr/>
        </p:nvSpPr>
        <p:spPr>
          <a:xfrm>
            <a:off x="8220456" y="3639312"/>
            <a:ext cx="3429000" cy="69951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Shape 83"/>
          <p:cNvSpPr/>
          <p:nvPr/>
        </p:nvSpPr>
        <p:spPr>
          <a:xfrm>
            <a:off x="8220456" y="3639312"/>
            <a:ext cx="45720" cy="699515"/>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8385048" y="3639312"/>
            <a:ext cx="3191256" cy="699515"/>
          </a:xfrm>
          <a:prstGeom prst="rect">
            <a:avLst/>
          </a:prstGeom>
          <a:noFill/>
        </p:spPr>
        <p:txBody>
          <a:bodyPr wrap="square" lIns="0" rIns="0" tIns="0" bIns="0" anchor="ctr">
            <a:spAutoFit/>
          </a:bodyPr>
          <a:lstStyle/>
          <a:p>
            <a:pPr>
              <a:spcAft>
                <a:spcPts val="200"/>
              </a:spcAft>
            </a:pPr>
            <a:r>
              <a:rPr sz="800" b="1" i="0">
                <a:solidFill>
                  <a:srgbClr val="00D6F2"/>
                </a:solidFill>
                <a:latin typeface="Trenda IG Text"/>
              </a:rPr>
              <a:t>Paid back in under 7 months</a:t>
            </a:r>
          </a:p>
          <a:p>
            <a:pPr>
              <a:spcAft>
                <a:spcPts val="200"/>
              </a:spcAft>
            </a:pPr>
            <a:r>
              <a:rPr sz="700" b="0" i="0">
                <a:solidFill>
                  <a:srgbClr val="B3B3B3"/>
                </a:solidFill>
                <a:latin typeface="Trenda IG Text"/>
              </a:rPr>
              <a:t>80% first-year return; 1.8x the investment back in year one</a:t>
            </a:r>
          </a:p>
        </p:txBody>
      </p:sp>
      <p:sp>
        <p:nvSpPr>
          <p:cNvPr id="86" name="Shape 85"/>
          <p:cNvSpPr/>
          <p:nvPr/>
        </p:nvSpPr>
        <p:spPr>
          <a:xfrm>
            <a:off x="8220456" y="4430268"/>
            <a:ext cx="3429000" cy="69951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6"/>
          <p:cNvSpPr/>
          <p:nvPr/>
        </p:nvSpPr>
        <p:spPr>
          <a:xfrm>
            <a:off x="8220456" y="4430268"/>
            <a:ext cx="45720" cy="699515"/>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385048" y="4430268"/>
            <a:ext cx="3191256" cy="699515"/>
          </a:xfrm>
          <a:prstGeom prst="rect">
            <a:avLst/>
          </a:prstGeom>
          <a:noFill/>
        </p:spPr>
        <p:txBody>
          <a:bodyPr wrap="square" lIns="0" rIns="0" tIns="0" bIns="0" anchor="ctr">
            <a:spAutoFit/>
          </a:bodyPr>
          <a:lstStyle/>
          <a:p>
            <a:pPr>
              <a:spcAft>
                <a:spcPts val="200"/>
              </a:spcAft>
            </a:pPr>
            <a:r>
              <a:rPr sz="800" b="1" i="0">
                <a:solidFill>
                  <a:srgbClr val="FFD700"/>
                </a:solidFill>
                <a:latin typeface="Trenda IG Text"/>
              </a:rPr>
              <a:t>Floor we commit to</a:t>
            </a:r>
          </a:p>
          <a:p>
            <a:pPr>
              <a:spcAft>
                <a:spcPts val="200"/>
              </a:spcAft>
            </a:pPr>
            <a:r>
              <a:rPr sz="700" b="0" i="0">
                <a:solidFill>
                  <a:srgbClr val="B3B3B3"/>
                </a:solidFill>
                <a:latin typeface="Trenda IG Text"/>
              </a:rPr>
              <a:t>20-25% lower net run cost per pod, against its own baseline</a:t>
            </a:r>
          </a:p>
        </p:txBody>
      </p:sp>
      <p:sp>
        <p:nvSpPr>
          <p:cNvPr id="89" name="Text 88"/>
          <p:cNvSpPr txBox="1"/>
          <p:nvPr/>
        </p:nvSpPr>
        <p:spPr>
          <a:xfrm>
            <a:off x="411480" y="5394960"/>
            <a:ext cx="1188720" cy="64008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KEEP IT HONEST</a:t>
            </a:r>
          </a:p>
          <a:p>
            <a:pPr>
              <a:spcAft>
                <a:spcPts val="100"/>
              </a:spcAft>
            </a:pPr>
            <a:r>
              <a:rPr sz="700" b="0" i="0">
                <a:solidFill>
                  <a:srgbClr val="8C8C8C"/>
                </a:solidFill>
                <a:latin typeface="Trenda IG Text"/>
              </a:rPr>
              <a:t>how the numbers hold</a:t>
            </a:r>
          </a:p>
        </p:txBody>
      </p:sp>
      <p:sp>
        <p:nvSpPr>
          <p:cNvPr id="90" name="Shape 89"/>
          <p:cNvSpPr/>
          <p:nvPr/>
        </p:nvSpPr>
        <p:spPr>
          <a:xfrm>
            <a:off x="1645920"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hape 90"/>
          <p:cNvSpPr/>
          <p:nvPr/>
        </p:nvSpPr>
        <p:spPr>
          <a:xfrm>
            <a:off x="1645920"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1773936"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Baseline every pod first</a:t>
            </a:r>
          </a:p>
          <a:p>
            <a:pPr>
              <a:spcAft>
                <a:spcPts val="100"/>
              </a:spcAft>
            </a:pPr>
            <a:r>
              <a:rPr sz="700" b="0" i="0">
                <a:solidFill>
                  <a:srgbClr val="B3B3B3"/>
                </a:solidFill>
                <a:latin typeface="Trenda IG Text"/>
              </a:rPr>
              <a:t>savings counted against each pod's own numbers</a:t>
            </a:r>
          </a:p>
        </p:txBody>
      </p:sp>
      <p:sp>
        <p:nvSpPr>
          <p:cNvPr id="93" name="Shape 92"/>
          <p:cNvSpPr/>
          <p:nvPr/>
        </p:nvSpPr>
        <p:spPr>
          <a:xfrm>
            <a:off x="4201668"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Shape 93"/>
          <p:cNvSpPr/>
          <p:nvPr/>
        </p:nvSpPr>
        <p:spPr>
          <a:xfrm>
            <a:off x="4201668"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329683"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Year 1 at 60-70%</a:t>
            </a:r>
          </a:p>
          <a:p>
            <a:pPr>
              <a:spcAft>
                <a:spcPts val="100"/>
              </a:spcAft>
            </a:pPr>
            <a:r>
              <a:rPr sz="700" b="0" i="0">
                <a:solidFill>
                  <a:srgbClr val="B3B3B3"/>
                </a:solidFill>
                <a:latin typeface="Trenda IG Text"/>
              </a:rPr>
              <a:t>of steady state while pods onboard</a:t>
            </a:r>
          </a:p>
        </p:txBody>
      </p:sp>
      <p:sp>
        <p:nvSpPr>
          <p:cNvPr id="96" name="Shape 95"/>
          <p:cNvSpPr/>
          <p:nvPr/>
        </p:nvSpPr>
        <p:spPr>
          <a:xfrm>
            <a:off x="6757416"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6"/>
          <p:cNvSpPr/>
          <p:nvPr/>
        </p:nvSpPr>
        <p:spPr>
          <a:xfrm>
            <a:off x="6757416"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6885431"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Approvals stay human</a:t>
            </a:r>
          </a:p>
          <a:p>
            <a:pPr>
              <a:spcAft>
                <a:spcPts val="100"/>
              </a:spcAft>
            </a:pPr>
            <a:r>
              <a:rPr sz="700" b="0" i="0">
                <a:solidFill>
                  <a:srgbClr val="B3B3B3"/>
                </a:solidFill>
                <a:latin typeface="Trenda IG Text"/>
              </a:rPr>
              <a:t>UAT and CAB take the same time</a:t>
            </a:r>
          </a:p>
        </p:txBody>
      </p:sp>
      <p:sp>
        <p:nvSpPr>
          <p:cNvPr id="99" name="Shape 98"/>
          <p:cNvSpPr/>
          <p:nvPr/>
        </p:nvSpPr>
        <p:spPr>
          <a:xfrm>
            <a:off x="9313164"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99"/>
          <p:cNvSpPr/>
          <p:nvPr/>
        </p:nvSpPr>
        <p:spPr>
          <a:xfrm>
            <a:off x="9313164"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9441180"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Delivery only</a:t>
            </a:r>
          </a:p>
          <a:p>
            <a:pPr>
              <a:spcAft>
                <a:spcPts val="100"/>
              </a:spcAft>
            </a:pPr>
            <a:r>
              <a:rPr sz="700" b="0" i="0">
                <a:solidFill>
                  <a:srgbClr val="B3B3B3"/>
                </a:solidFill>
                <a:latin typeface="Trenda IG Text"/>
              </a:rPr>
              <a:t>campaign data platform and Sierra sized after Phase 0</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