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62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62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Answers questions</a:t>
            </a:r>
          </a:p>
          <a:p>
            <a:pPr>
              <a:spcAft>
                <a:spcPts val="100"/>
              </a:spcAft>
            </a:pPr>
            <a:r>
              <a:rPr sz="58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Verifies the caller</a:t>
            </a:r>
          </a:p>
          <a:p>
            <a:pPr>
              <a:spcAft>
                <a:spcPts val="100"/>
              </a:spcAft>
            </a:pPr>
            <a:r>
              <a:rPr sz="58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Books, cancels, reschedules</a:t>
            </a:r>
          </a:p>
          <a:p>
            <a:pPr>
              <a:spcAft>
                <a:spcPts val="100"/>
              </a:spcAft>
            </a:pPr>
            <a:r>
              <a:rPr sz="58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Hands off to a person</a:t>
            </a:r>
          </a:p>
          <a:p>
            <a:pPr>
              <a:spcAft>
                <a:spcPts val="100"/>
              </a:spcAft>
            </a:pPr>
            <a:r>
              <a:rPr sz="58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640" b="1" i="0" spc="120">
                <a:solidFill>
                  <a:srgbClr val="F2F2F2"/>
                </a:solidFill>
                <a:latin typeface="Trenda IG Text"/>
              </a:rPr>
              <a:t>1  KNOWLEDGE PATH</a:t>
            </a:r>
            <a:r>
              <a:rPr sz="64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640" b="1" i="0" spc="120">
                <a:solidFill>
                  <a:srgbClr val="F2F2F2"/>
                </a:solidFill>
                <a:latin typeface="Trenda IG Text"/>
              </a:rPr>
              <a:t>2  PATIENT PATH</a:t>
            </a:r>
            <a:r>
              <a:rPr sz="64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66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6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56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54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56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56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56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52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6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6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54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6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54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56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56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56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56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64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6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68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68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68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SAFEGUARDS</a:t>
            </a:r>
          </a:p>
          <a:p>
            <a:pPr>
              <a:spcAft>
                <a:spcPts val="100"/>
              </a:spcAft>
            </a:pPr>
            <a:r>
              <a:rPr sz="52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6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6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6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6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6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600" b="0" i="0">
                <a:solidFill>
                  <a:srgbClr val="B3B3B3"/>
                </a:solidFill>
                <a:latin typeface="Trenda IG Text"/>
              </a:rPr>
              <a:t>scripted test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SQUAD</a:t>
            </a:r>
            <a:r>
              <a:rPr sz="64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54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64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6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64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600" b="1" i="0">
                <a:solidFill>
                  <a:srgbClr val="00D6F2"/>
                </a:solidFill>
                <a:latin typeface="Trenda IG Text"/>
              </a:rPr>
              <a:t>Agent </a:t>
            </a:r>
            <a:r>
              <a:rPr sz="600" b="0" i="0">
                <a:solidFill>
                  <a:srgbClr val="B3B3B3"/>
                </a:solidFill>
                <a:latin typeface="Trenda IG Text"/>
              </a:rPr>
              <a:t>drafts code, tests and the Copado package overnight. </a:t>
            </a:r>
            <a:r>
              <a:rPr sz="600" b="1" i="0">
                <a:solidFill>
                  <a:srgbClr val="F2F2F2"/>
                </a:solidFill>
                <a:latin typeface="Trenda IG Text"/>
              </a:rPr>
              <a:t>Developer </a:t>
            </a:r>
            <a:r>
              <a:rPr sz="600" b="0" i="0">
                <a:solidFill>
                  <a:srgbClr val="B3B3B3"/>
                </a:solidFill>
                <a:latin typeface="Trenda IG Text"/>
              </a:rPr>
              <a:t>directs and approves. </a:t>
            </a:r>
            <a:r>
              <a:rPr sz="600" b="1" i="0">
                <a:solidFill>
                  <a:srgbClr val="F2F2F2"/>
                </a:solidFill>
                <a:latin typeface="Trenda IG Text"/>
              </a:rPr>
              <a:t>QA </a:t>
            </a:r>
            <a:r>
              <a:rPr sz="6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POD</a:t>
            </a:r>
            <a:r>
              <a:rPr sz="640" b="0" i="0">
                <a:solidFill>
                  <a:srgbClr val="B3B3B3"/>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540" b="1" i="0" spc="100">
                <a:solidFill>
                  <a:srgbClr val="8C8C8C"/>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33" name="Shape 31"/>
          <p:cNvSpPr/>
          <p:nvPr/>
        </p:nvSpPr>
        <p:spPr>
          <a:xfrm>
            <a:off x="4364736" y="1700784"/>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600" b="1" i="0">
                <a:solidFill>
                  <a:srgbClr val="F2F2F2"/>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600" b="0" i="0">
                <a:solidFill>
                  <a:srgbClr val="B3B3B3"/>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600" b="1" i="0">
                <a:solidFill>
                  <a:srgbClr val="00D6F2"/>
                </a:solidFill>
                <a:latin typeface="Trenda IG Text"/>
              </a:rPr>
              <a:t>about 1 week</a:t>
            </a:r>
          </a:p>
        </p:txBody>
      </p:sp>
      <p:sp>
        <p:nvSpPr>
          <p:cNvPr id="37" name="Shape 35"/>
          <p:cNvSpPr/>
          <p:nvPr/>
        </p:nvSpPr>
        <p:spPr>
          <a:xfrm>
            <a:off x="4364736" y="1965960"/>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600" b="1" i="0">
                <a:solidFill>
                  <a:srgbClr val="F2F2F2"/>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600" b="0" i="0">
                <a:solidFill>
                  <a:srgbClr val="B3B3B3"/>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600" b="1" i="0">
                <a:solidFill>
                  <a:srgbClr val="00D6F2"/>
                </a:solidFill>
                <a:latin typeface="Trenda IG Text"/>
              </a:rPr>
              <a:t>about 20 hours</a:t>
            </a:r>
          </a:p>
        </p:txBody>
      </p:sp>
      <p:sp>
        <p:nvSpPr>
          <p:cNvPr id="41" name="Shape 39"/>
          <p:cNvSpPr/>
          <p:nvPr/>
        </p:nvSpPr>
        <p:spPr>
          <a:xfrm>
            <a:off x="4364736" y="2231136"/>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600" b="1" i="0">
                <a:solidFill>
                  <a:srgbClr val="F2F2F2"/>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600" b="0" i="0">
                <a:solidFill>
                  <a:srgbClr val="B3B3B3"/>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600" b="1" i="0">
                <a:solidFill>
                  <a:srgbClr val="00D6F2"/>
                </a:solidFill>
                <a:latin typeface="Trenda IG Text"/>
              </a:rPr>
              <a:t>100%, same standards</a:t>
            </a:r>
          </a:p>
        </p:txBody>
      </p:sp>
      <p:sp>
        <p:nvSpPr>
          <p:cNvPr id="45" name="Shape 43"/>
          <p:cNvSpPr/>
          <p:nvPr/>
        </p:nvSpPr>
        <p:spPr>
          <a:xfrm>
            <a:off x="4364736" y="2496312"/>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600" b="1" i="0">
                <a:solidFill>
                  <a:srgbClr val="F2F2F2"/>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600" b="0" i="0">
                <a:solidFill>
                  <a:srgbClr val="B3B3B3"/>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600" b="1" i="0">
                <a:solidFill>
                  <a:srgbClr val="00D6F2"/>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590" b="0" i="0">
                <a:solidFill>
                  <a:srgbClr val="8C8C8C"/>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BUILD AND RUN</a:t>
            </a:r>
            <a:r>
              <a:rPr sz="640" b="0" i="0">
                <a:solidFill>
                  <a:srgbClr val="B3B3B3"/>
                </a:solidFill>
                <a:latin typeface="Trenda IG Text"/>
              </a:rPr>
              <a:t>   fixed fee, paid by gate</a:t>
            </a:r>
          </a:p>
        </p:txBody>
      </p:sp>
      <p:sp>
        <p:nvSpPr>
          <p:cNvPr id="53" name="Shape 51"/>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590" b="0" i="0">
                <a:solidFill>
                  <a:srgbClr val="B3B3B3"/>
                </a:solidFill>
                <a:latin typeface="Trenda IG Text"/>
              </a:rPr>
              <a:t>people at peak, 10 roles</a:t>
            </a:r>
          </a:p>
        </p:txBody>
      </p:sp>
      <p:sp>
        <p:nvSpPr>
          <p:cNvPr id="56" name="Shape 54"/>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590" b="0" i="0">
                <a:solidFill>
                  <a:srgbClr val="B3B3B3"/>
                </a:solidFill>
                <a:latin typeface="Trenda IG Text"/>
              </a:rPr>
              <a:t>months, seven phases</a:t>
            </a:r>
          </a:p>
        </p:txBody>
      </p:sp>
      <p:sp>
        <p:nvSpPr>
          <p:cNvPr id="59" name="Shape 57"/>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590" b="0" i="0">
                <a:solidFill>
                  <a:srgbClr val="B3B3B3"/>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600" b="1" i="0">
                <a:solidFill>
                  <a:srgbClr val="F2F2F2"/>
                </a:solidFill>
                <a:latin typeface="Trenda IG Text"/>
              </a:rPr>
              <a:t>From month 19 </a:t>
            </a:r>
            <a:r>
              <a:rPr sz="600" b="0" i="0">
                <a:solidFill>
                  <a:srgbClr val="B3B3B3"/>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640" b="1" i="0" spc="120">
                <a:solidFill>
                  <a:srgbClr val="F2F2F2"/>
                </a:solidFill>
                <a:latin typeface="Trenda IG Text"/>
              </a:rPr>
              <a:t>THE RETURN</a:t>
            </a:r>
            <a:r>
              <a:rPr sz="640" b="0" i="0">
                <a:solidFill>
                  <a:srgbClr val="B3B3B3"/>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as provided by Ascension</a:t>
            </a:r>
          </a:p>
        </p:txBody>
      </p:sp>
      <p:sp>
        <p:nvSpPr>
          <p:cNvPr id="70" name="Shape 68"/>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from go-live</a:t>
            </a:r>
          </a:p>
        </p:txBody>
      </p:sp>
      <p:sp>
        <p:nvSpPr>
          <p:cNvPr id="79" name="Shape 78"/>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$4.79M build + $0.23M usage</a:t>
            </a:r>
          </a:p>
        </p:txBody>
      </p:sp>
      <p:sp>
        <p:nvSpPr>
          <p:cNvPr id="83" name="Shape 82"/>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640" b="0" i="0">
                <a:solidFill>
                  <a:srgbClr val="B3B3B3"/>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640" b="0" i="0">
                <a:solidFill>
                  <a:srgbClr val="B3B3B3"/>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KEEP IT HONEST</a:t>
            </a:r>
          </a:p>
          <a:p>
            <a:pPr>
              <a:spcAft>
                <a:spcPts val="100"/>
              </a:spcAft>
            </a:pPr>
            <a:r>
              <a:rPr sz="520" b="0" i="0">
                <a:solidFill>
                  <a:srgbClr val="8C8C8C"/>
                </a:solidFill>
                <a:latin typeface="Trenda IG Text"/>
              </a:rPr>
              <a:t>how the numbers hold</a:t>
            </a:r>
          </a:p>
        </p:txBody>
      </p:sp>
      <p:sp>
        <p:nvSpPr>
          <p:cNvPr id="90" name="Shape 89"/>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600" b="0" i="0">
                <a:solidFill>
                  <a:srgbClr val="B3B3B3"/>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600" b="0" i="0">
                <a:solidFill>
                  <a:srgbClr val="B3B3B3"/>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600" b="0" i="0">
                <a:solidFill>
                  <a:srgbClr val="B3B3B3"/>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6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