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318" r:id="rId3"/>
    <p:sldId id="319" r:id="rId11"/>
    <p:sldId id="320" r:id="rId12"/>
    <p:sldId id="321" r:id="rId13"/>
    <p:sldId id="322" r:id="rId14"/>
    <p:sldId id="323"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the same Agentic Harness now does two jobs. For Health Cloud it takes a Jira story to a tested, approved change. For Marketing Cloud it plans and prepares campaigns on governed Google Cloud data, where agents only ever see masked data and people release the right patients.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One agent team: seven delivery agents and four data agents   (about 2 minutes)</a:t>
            </a:r>
          </a:p>
          <a:p/>
          <a:p>
            <a:r>
              <a:t>KEY MESSAGE</a:t>
            </a:r>
          </a:p>
          <a:p>
            <a:r>
              <a:t>The seven delivery agents are unchanged and serve every pod. Four data agents are added for campaigns on governed Google Cloud data. They only ever see masked data, and people approve at every gate.</a:t>
            </a:r>
          </a:p>
          <a:p/>
          <a:p>
            <a:r>
              <a:t>WALK IT</a:t>
            </a:r>
          </a:p>
          <a:p>
            <a:r>
              <a:t>- Left: what the agents read. The engineering sources (Jira, Confluence, Salesforce, Git, Copado, Drive) for every pod. Google Cloud governed data, masked by Collibra policy, only for Marketing Cloud pods: counts and segments, never a patient.</a:t>
            </a:r>
          </a:p>
          <a:p>
            <a:r>
              <a:t>- Middle: the seven delivery agents, then the four data agents: Campaign Strategist (ranks campaigns), Audience (builds the audience on masked views), Privacy Guard (consent first, minimum fields, the pre-send report), Measurement (lift and learning). The Developer Agent builds Marketing Cloud journeys with its Marketing Cloud skills.</a:t>
            </a:r>
          </a:p>
          <a:p>
            <a:r>
              <a:t>- Right: what changes per pod. Health Cloud pods use the delivery agents; Marketing Cloud pods use the delivery and the data agents.</a:t>
            </a:r>
          </a:p>
          <a:p>
            <a:r>
              <a:t>- Bottom: two governed paths. The delivery path is unchanged; the campaign path releases only the minimum fields after a masked pre-send review.</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The platform, now with the data harness   (about 2 minutes)</a:t>
            </a:r>
          </a:p>
          <a:p/>
          <a:p>
            <a:r>
              <a:t>KEY MESSAGE</a:t>
            </a:r>
          </a:p>
          <a:p>
            <a:r>
              <a:t>Codex is the engine; the Agentic Harness is everything around it. The data harness adds three things: a data context built on masked BigQuery data, a Privacy Guard and Collibra masking in Govern, and a masked pre-send review in Looker.</a:t>
            </a:r>
          </a:p>
          <a:p/>
          <a:p>
            <a:r>
              <a:t>WALK IT</a:t>
            </a:r>
          </a:p>
          <a:p>
            <a:r>
              <a:t>- Surface: where people work. Codex (a Jira number for a delivery story, or a campaign question), the Salesforce LWC console, the approval page, the masked pre-send review in Looker, and Jira.</a:t>
            </a:r>
          </a:p>
          <a:p>
            <a:r>
              <a:t>- Runtime and Registry: unchanged. Durable runs, one agent task per step; tools, skills and templates, now including campaign skills and journey templates.</a:t>
            </a:r>
          </a:p>
          <a:p>
            <a:r>
              <a:t>- Context: the knowledge graph and cited retrieval, plus the new data context: masked BigQuery aggregates through Collibra policy tags.</a:t>
            </a:r>
          </a:p>
          <a:p>
            <a:r>
              <a:t>- Govern: Change Guardian, Model Armor guardrails, identities, human gates, evals and the change passport, plus Collibra masking and the Privacy Guard (consent first, minimum fields).</a:t>
            </a:r>
          </a:p>
          <a:p>
            <a:r>
              <a:t>- Bottom: it all runs on what Ascension already owns, including BigQuery, Collibra, DLP, Looker and Spanner.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Health Cloud: a story from Codex to production   (about 3 minutes)</a:t>
            </a:r>
          </a:p>
          <a:p/>
          <a:p>
            <a:r>
              <a:t>KEY MESSAGE</a:t>
            </a:r>
          </a:p>
          <a:p>
            <a:r>
              <a:t>For Health Cloud the harness delivers a change, not a campaign, so it needs the engineering context, not patient data. The governed GCP data source is shown grey: it is not used for delivery stories.</a:t>
            </a:r>
          </a:p>
          <a:p/>
          <a:p>
            <a:r>
              <a:t>WALK IT</a:t>
            </a:r>
          </a:p>
          <a:p>
            <a:r>
              <a:t>1 A team member enters NS-1234 in Codex or the Salesforce console: an HFN validation rule for Texas CIN.</a:t>
            </a:r>
          </a:p>
          <a:p>
            <a:r>
              <a:t>2 The Requirements Agent reads Jira and Confluence and the knowledge graph; the product owner approves the brief (H1).</a:t>
            </a:r>
          </a:p>
          <a:p>
            <a:r>
              <a:t>3 The Architect Agent checks what already exists, its impact and its owners; the Change Guardian names affected pods; the architect and pod owners approve (H2).</a:t>
            </a:r>
          </a:p>
          <a:p>
            <a:r>
              <a:t>4 The Developer Agent builds in the DEV sandbox on its own branch.</a:t>
            </a:r>
          </a:p>
          <a:p>
            <a:r>
              <a:t>5 The Review and Test Agents check code, security and sharing, and run the tests; a failed check goes back to the Developer Agent, at most five times, then to a named owner; the tech lead approves (H3).</a:t>
            </a:r>
          </a:p>
          <a:p>
            <a:r>
              <a:t>6 The Release Agent promotes through Copado to SIT and UAT; business signs UAT (H4); CAB approves; the owning team deploys to production. No agent holds a production credential.</a:t>
            </a:r>
          </a:p>
          <a:p>
            <a:r>
              <a:t>Every step is scored by evals and recorded in the change passport.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Marketing Cloud: campaigns on governed GCP data   (about 3 minutes)</a:t>
            </a:r>
          </a:p>
          <a:p/>
          <a:p>
            <a:r>
              <a:t>KEY MESSAGE</a:t>
            </a:r>
          </a:p>
          <a:p>
            <a:r>
              <a:t>For Marketing Cloud the governed GCP data is required: it is where the patients are. Agents only ever see it masked; people review a masked pre-send report; only then are the minimum fields released for Marketing Cloud to pull, and the journey starts by itself.</a:t>
            </a:r>
          </a:p>
          <a:p/>
          <a:p>
            <a:r>
              <a:t>WALK IT (follow the numbers)</a:t>
            </a:r>
          </a:p>
          <a:p>
            <a:r>
              <a:t>- Sources: Epic, athenahealth, Strata, SFDC leads, SFMC engagement, CallRail, forms and direct mail land in BigQuery; DLP classifies, the Collibra steward approves, policy tags mask PHI.</a:t>
            </a:r>
          </a:p>
          <a:p>
            <a:r>
              <a:t>1 The marketer asks in Codex: "What are the top 10 campaigns I can run for heart patients?"</a:t>
            </a:r>
          </a:p>
          <a:p>
            <a:r>
              <a:t>2-3 The Campaign Strategist reads the knowledge graph built on masked data and ranks campaigns.</a:t>
            </a:r>
          </a:p>
          <a:p>
            <a:r>
              <a:t>4 The marketer picks (G1).</a:t>
            </a:r>
          </a:p>
          <a:p>
            <a:r>
              <a:t>5-6 The Audience Agent and Privacy Guard build the audience on masked views, consent first: tokens and counts per run ID.</a:t>
            </a:r>
          </a:p>
          <a:p>
            <a:r>
              <a:t>7 The SME and tech lead approve the masked pre-send report (G2).</a:t>
            </a:r>
          </a:p>
          <a:p>
            <a:r>
              <a:t>8 The Developer Agent builds the data extension, the pull and the journey from approved templates; clinical and compliance approve (G3).</a:t>
            </a:r>
          </a:p>
          <a:p>
            <a:r>
              <a:t>9 Only after G2 and G3: token, name, email, phone, condition group and discharge date go to the release store, time-limited.</a:t>
            </a:r>
          </a:p>
          <a:p>
            <a:r>
              <a:t>10 Marketing Cloud pulls; new records start the journey; consent and STOP are re-checked at send.</a:t>
            </a:r>
          </a:p>
          <a:p>
            <a:r>
              <a:t>11 Engagement comes back; the Measurement Agent measures lift and the graph learns.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How PHI is masked in Google Cloud   (about 3 minutes)</a:t>
            </a:r>
          </a:p>
          <a:p/>
          <a:p>
            <a:r>
              <a:t>KEY MESSAGE</a:t>
            </a:r>
          </a:p>
          <a:p>
            <a:r>
              <a:t>Sensitive BigQuery columns are found by scanning, approved by a data steward in Collibra, then protected automatically with masking or raw-access policies inside BigQuery. Agents, dashboards and reviewers only ever see the masked values.</a:t>
            </a:r>
          </a:p>
          <a:p/>
          <a:p>
            <a:r>
              <a:t>WALK IT (the approved path, left to right)</a:t>
            </a:r>
          </a:p>
          <a:p>
            <a:r>
              <a:t>- DLP classification: Cloud DLP scans BigQuery columns and proposes an infotype for each (person name, identifier, phone). Results land in the fgac_governance dataset, in the governance tier asc-ahnat-datarepository.</a:t>
            </a:r>
          </a:p>
          <a:p>
            <a:r>
              <a:t>- Steward review: a data steward approves or rejects each classification in Collibra. Nothing changes before that sign-off; Collibra stays the source of truth.</a:t>
            </a:r>
          </a:p>
          <a:p>
            <a:r>
              <a:t>- Reviewed classifications: one governed table (adc_collibra_reviewed_classifications), keyed by project, dataset, table and column.</a:t>
            </a:r>
          </a:p>
          <a:p>
            <a:r>
              <a:t>- Rollout gate: production is enabled project by project; each run logs the promotion SQL for a person to run.</a:t>
            </a:r>
          </a:p>
          <a:p>
            <a:r>
              <a:t>- Data Policy Tagger: a Cloud Run job, the same code in every environment, configured per environment, with a dry-run mode.</a:t>
            </a:r>
          </a:p>
          <a:p>
            <a:r>
              <a:t>- Policies applied: column-level data policies in BigQuery: SHA-256 masking for text and bytes, a numeric-safe policy for numbers. People and agents without raw access see masked values.</a:t>
            </a:r>
          </a:p>
          <a:p>
            <a:r>
              <a:t>- Bindings and validation: every policy is recorded and the table schema is read back to prove it took effect.</a:t>
            </a:r>
          </a:p>
          <a:p/>
          <a:p>
            <a:r>
              <a:t>REJECTED PATH</a:t>
            </a:r>
          </a:p>
          <a:p>
            <a:r>
              <a:t>If the steward rejects, the policy remover clears the policy, the binding is retired and the column can be reprocessed. The remover is in progress.</a:t>
            </a:r>
          </a:p>
          <a:p/>
          <a:p>
            <a:r>
              <a:t>WHO SEES WHAT (right)</a:t>
            </a:r>
          </a:p>
          <a:p>
            <a:r>
              <a:t>Agents and the knowledge graph see masked values and aggregates. The pre-send review shows a masked report. Only the release step, under a raw-access service account and only after G2 and G3, reads only the fields a campaign needs.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0.png"/><Relationship Id="rId9" Type="http://schemas.openxmlformats.org/officeDocument/2006/relationships/image" Target="../media/image17.png"/><Relationship Id="rId10" Type="http://schemas.openxmlformats.org/officeDocument/2006/relationships/image" Target="../media/image12.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9.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20.png"/><Relationship Id="rId8" Type="http://schemas.openxmlformats.org/officeDocument/2006/relationships/image" Target="../media/image17.png"/><Relationship Id="rId9" Type="http://schemas.openxmlformats.org/officeDocument/2006/relationships/image" Target="../media/image9.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a:latin typeface="Trenda IG Text Semibold"/>
              </a:rPr>
              <a:t>Ascension AGENTIC HARNESS</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a:solidFill>
                  <a:srgbClr val="A6A6A6"/>
                </a:solidFill>
                <a:ea typeface="Calibri"/>
                <a:cs typeface="Calibri"/>
              </a:rPr>
              <a:t>One harness, two jobs: Health Cloud delivery from Codex, and Marketing Cloud campaigns on governed, masked Google Cloud data.</a:t>
            </a: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a:solidFill>
                  <a:srgbClr val="00D6F2"/>
                </a:solidFill>
                <a:latin typeface="Trenda IG Text Semibold"/>
                <a:ea typeface="Calibri"/>
                <a:cs typeface="Calibri"/>
              </a:rPr>
              <a:t>AGENTS FOR DELIVERY AND DATA</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AGENT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One agent team: seven delivery agents and four data agents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Delivery agents build and release changes for every pod. Data agents plan and prepare campaigns on masked Google Cloud data. People approve at every gate.</a:t>
            </a:r>
          </a:p>
        </p:txBody>
      </p:sp>
      <p:sp>
        <p:nvSpPr>
          <p:cNvPr id="5" name="Shape 4"/>
          <p:cNvSpPr/>
          <p:nvPr/>
        </p:nvSpPr>
        <p:spPr>
          <a:xfrm>
            <a:off x="411480" y="1170432"/>
            <a:ext cx="2514600" cy="27432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02920" y="1170432"/>
            <a:ext cx="2331720" cy="274320"/>
          </a:xfrm>
          <a:prstGeom prst="rect">
            <a:avLst/>
          </a:prstGeom>
          <a:noFill/>
        </p:spPr>
        <p:txBody>
          <a:bodyPr wrap="square" lIns="0" rIns="0" tIns="0" bIns="0" anchor="ctr">
            <a:spAutoFit/>
          </a:bodyPr>
          <a:lstStyle/>
          <a:p>
            <a:r>
              <a:rPr sz="700" b="1" i="0" spc="150">
                <a:solidFill>
                  <a:srgbClr val="FFFFFF"/>
                </a:solidFill>
                <a:latin typeface="Trenda IG Text"/>
              </a:rPr>
              <a:t>WHAT AGENTS READ</a:t>
            </a:r>
          </a:p>
        </p:txBody>
      </p:sp>
      <p:sp>
        <p:nvSpPr>
          <p:cNvPr id="7" name="Shape 6"/>
          <p:cNvSpPr/>
          <p:nvPr/>
        </p:nvSpPr>
        <p:spPr>
          <a:xfrm>
            <a:off x="411480" y="1444752"/>
            <a:ext cx="2514600" cy="3995928"/>
          </a:xfrm>
          <a:prstGeom prst="rect">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jira.png"/>
          <p:cNvPicPr>
            <a:picLocks noChangeAspect="1"/>
          </p:cNvPicPr>
          <p:nvPr/>
        </p:nvPicPr>
        <p:blipFill>
          <a:blip r:embed="rId2"/>
          <a:stretch>
            <a:fillRect/>
          </a:stretch>
        </p:blipFill>
        <p:spPr>
          <a:xfrm>
            <a:off x="521208" y="1609344"/>
            <a:ext cx="201168" cy="201168"/>
          </a:xfrm>
          <a:prstGeom prst="rect">
            <a:avLst/>
          </a:prstGeom>
        </p:spPr>
      </p:pic>
      <p:sp>
        <p:nvSpPr>
          <p:cNvPr id="9" name="Text 7"/>
          <p:cNvSpPr txBox="1"/>
          <p:nvPr/>
        </p:nvSpPr>
        <p:spPr>
          <a:xfrm>
            <a:off x="795528" y="1554480"/>
            <a:ext cx="2057400" cy="329184"/>
          </a:xfrm>
          <a:prstGeom prst="rect">
            <a:avLst/>
          </a:prstGeom>
          <a:noFill/>
        </p:spPr>
        <p:txBody>
          <a:bodyPr wrap="square" lIns="0" rIns="0" tIns="0" bIns="0" anchor="ctr">
            <a:spAutoFit/>
          </a:bodyPr>
          <a:lstStyle/>
          <a:p>
            <a:r>
              <a:rPr sz="740" b="1" i="0">
                <a:solidFill>
                  <a:srgbClr val="FFFFFF"/>
                </a:solidFill>
                <a:latin typeface="Trenda IG Text"/>
              </a:rPr>
              <a:t>Jira</a:t>
            </a:r>
          </a:p>
          <a:p>
            <a:r>
              <a:rPr sz="600" b="0" i="0">
                <a:solidFill>
                  <a:srgbClr val="8C8C8C"/>
                </a:solidFill>
                <a:latin typeface="Trenda IG Text"/>
              </a:rPr>
              <a:t>stories, criteria, history</a:t>
            </a:r>
          </a:p>
        </p:txBody>
      </p:sp>
      <p:pic>
        <p:nvPicPr>
          <p:cNvPr id="10" name="Picture 9" descr="confluence.png"/>
          <p:cNvPicPr>
            <a:picLocks noChangeAspect="1"/>
          </p:cNvPicPr>
          <p:nvPr/>
        </p:nvPicPr>
        <p:blipFill>
          <a:blip r:embed="rId3"/>
          <a:stretch>
            <a:fillRect/>
          </a:stretch>
        </p:blipFill>
        <p:spPr>
          <a:xfrm>
            <a:off x="521208" y="1993392"/>
            <a:ext cx="201168" cy="201168"/>
          </a:xfrm>
          <a:prstGeom prst="rect">
            <a:avLst/>
          </a:prstGeom>
        </p:spPr>
      </p:pic>
      <p:sp>
        <p:nvSpPr>
          <p:cNvPr id="11" name="Text 8"/>
          <p:cNvSpPr txBox="1"/>
          <p:nvPr/>
        </p:nvSpPr>
        <p:spPr>
          <a:xfrm>
            <a:off x="795528" y="1938528"/>
            <a:ext cx="2057400" cy="329184"/>
          </a:xfrm>
          <a:prstGeom prst="rect">
            <a:avLst/>
          </a:prstGeom>
          <a:noFill/>
        </p:spPr>
        <p:txBody>
          <a:bodyPr wrap="square" lIns="0" rIns="0" tIns="0" bIns="0" anchor="ctr">
            <a:spAutoFit/>
          </a:bodyPr>
          <a:lstStyle/>
          <a:p>
            <a:r>
              <a:rPr sz="740" b="1" i="0">
                <a:solidFill>
                  <a:srgbClr val="FFFFFF"/>
                </a:solidFill>
                <a:latin typeface="Trenda IG Text"/>
              </a:rPr>
              <a:t>Confluence</a:t>
            </a:r>
          </a:p>
          <a:p>
            <a:r>
              <a:rPr sz="600" b="0" i="0">
                <a:solidFill>
                  <a:srgbClr val="8C8C8C"/>
                </a:solidFill>
                <a:latin typeface="Trenda IG Text"/>
              </a:rPr>
              <a:t>designs, business rules</a:t>
            </a:r>
          </a:p>
        </p:txBody>
      </p:sp>
      <p:pic>
        <p:nvPicPr>
          <p:cNvPr id="12" name="Picture 11" descr="salesforce.png"/>
          <p:cNvPicPr>
            <a:picLocks noChangeAspect="1"/>
          </p:cNvPicPr>
          <p:nvPr/>
        </p:nvPicPr>
        <p:blipFill>
          <a:blip r:embed="rId4"/>
          <a:stretch>
            <a:fillRect/>
          </a:stretch>
        </p:blipFill>
        <p:spPr>
          <a:xfrm>
            <a:off x="521208" y="2377440"/>
            <a:ext cx="201168" cy="201168"/>
          </a:xfrm>
          <a:prstGeom prst="rect">
            <a:avLst/>
          </a:prstGeom>
        </p:spPr>
      </p:pic>
      <p:sp>
        <p:nvSpPr>
          <p:cNvPr id="13" name="Text 9"/>
          <p:cNvSpPr txBox="1"/>
          <p:nvPr/>
        </p:nvSpPr>
        <p:spPr>
          <a:xfrm>
            <a:off x="795528" y="2322576"/>
            <a:ext cx="2057400" cy="329184"/>
          </a:xfrm>
          <a:prstGeom prst="rect">
            <a:avLst/>
          </a:prstGeom>
          <a:noFill/>
        </p:spPr>
        <p:txBody>
          <a:bodyPr wrap="square" lIns="0" rIns="0" tIns="0" bIns="0" anchor="ctr">
            <a:spAutoFit/>
          </a:bodyPr>
          <a:lstStyle/>
          <a:p>
            <a:r>
              <a:rPr sz="740" b="1" i="0">
                <a:solidFill>
                  <a:srgbClr val="FFFFFF"/>
                </a:solidFill>
                <a:latin typeface="Trenda IG Text"/>
              </a:rPr>
              <a:t>Salesforce</a:t>
            </a:r>
          </a:p>
          <a:p>
            <a:r>
              <a:rPr sz="600" b="0" i="0">
                <a:solidFill>
                  <a:srgbClr val="8C8C8C"/>
                </a:solidFill>
                <a:latin typeface="Trenda IG Text"/>
              </a:rPr>
              <a:t>objects, Flows, Apex, journeys</a:t>
            </a:r>
          </a:p>
        </p:txBody>
      </p:sp>
      <p:pic>
        <p:nvPicPr>
          <p:cNvPr id="14" name="Picture 13" descr="git.png"/>
          <p:cNvPicPr>
            <a:picLocks noChangeAspect="1"/>
          </p:cNvPicPr>
          <p:nvPr/>
        </p:nvPicPr>
        <p:blipFill>
          <a:blip r:embed="rId5"/>
          <a:stretch>
            <a:fillRect/>
          </a:stretch>
        </p:blipFill>
        <p:spPr>
          <a:xfrm>
            <a:off x="521208" y="2761488"/>
            <a:ext cx="201168" cy="201168"/>
          </a:xfrm>
          <a:prstGeom prst="rect">
            <a:avLst/>
          </a:prstGeom>
        </p:spPr>
      </p:pic>
      <p:sp>
        <p:nvSpPr>
          <p:cNvPr id="15" name="Text 10"/>
          <p:cNvSpPr txBox="1"/>
          <p:nvPr/>
        </p:nvSpPr>
        <p:spPr>
          <a:xfrm>
            <a:off x="795528" y="2706624"/>
            <a:ext cx="2057400" cy="329184"/>
          </a:xfrm>
          <a:prstGeom prst="rect">
            <a:avLst/>
          </a:prstGeom>
          <a:noFill/>
        </p:spPr>
        <p:txBody>
          <a:bodyPr wrap="square" lIns="0" rIns="0" tIns="0" bIns="0" anchor="ctr">
            <a:spAutoFit/>
          </a:bodyPr>
          <a:lstStyle/>
          <a:p>
            <a:r>
              <a:rPr sz="740" b="1" i="0">
                <a:solidFill>
                  <a:srgbClr val="FFFFFF"/>
                </a:solidFill>
                <a:latin typeface="Trenda IG Text"/>
              </a:rPr>
              <a:t>Git</a:t>
            </a:r>
          </a:p>
          <a:p>
            <a:r>
              <a:rPr sz="600" b="0" i="0">
                <a:solidFill>
                  <a:srgbClr val="8C8C8C"/>
                </a:solidFill>
                <a:latin typeface="Trenda IG Text"/>
              </a:rPr>
              <a:t>Apex, LWC, metadata</a:t>
            </a:r>
          </a:p>
        </p:txBody>
      </p:sp>
      <p:sp>
        <p:nvSpPr>
          <p:cNvPr id="16" name="Shape 11"/>
          <p:cNvSpPr/>
          <p:nvPr/>
        </p:nvSpPr>
        <p:spPr>
          <a:xfrm>
            <a:off x="521208" y="3163824"/>
            <a:ext cx="201168" cy="182880"/>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2"/>
          <p:cNvSpPr txBox="1"/>
          <p:nvPr/>
        </p:nvSpPr>
        <p:spPr>
          <a:xfrm>
            <a:off x="521208" y="3163824"/>
            <a:ext cx="201168" cy="182880"/>
          </a:xfrm>
          <a:prstGeom prst="rect">
            <a:avLst/>
          </a:prstGeom>
          <a:noFill/>
        </p:spPr>
        <p:txBody>
          <a:bodyPr wrap="square" lIns="0" rIns="0" tIns="0" bIns="0" anchor="ctr">
            <a:spAutoFit/>
          </a:bodyPr>
          <a:lstStyle/>
          <a:p>
            <a:pPr algn="ctr"/>
            <a:r>
              <a:rPr sz="520" b="1" i="0" spc="80">
                <a:solidFill>
                  <a:srgbClr val="BFBFBF"/>
                </a:solidFill>
                <a:latin typeface="Trenda IG Text"/>
              </a:rPr>
              <a:t>Co</a:t>
            </a:r>
          </a:p>
        </p:txBody>
      </p:sp>
      <p:sp>
        <p:nvSpPr>
          <p:cNvPr id="18" name="Text 13"/>
          <p:cNvSpPr txBox="1"/>
          <p:nvPr/>
        </p:nvSpPr>
        <p:spPr>
          <a:xfrm>
            <a:off x="795528" y="3090672"/>
            <a:ext cx="2057400" cy="329184"/>
          </a:xfrm>
          <a:prstGeom prst="rect">
            <a:avLst/>
          </a:prstGeom>
          <a:noFill/>
        </p:spPr>
        <p:txBody>
          <a:bodyPr wrap="square" lIns="0" rIns="0" tIns="0" bIns="0" anchor="ctr">
            <a:spAutoFit/>
          </a:bodyPr>
          <a:lstStyle/>
          <a:p>
            <a:r>
              <a:rPr sz="740" b="1" i="0">
                <a:solidFill>
                  <a:srgbClr val="FFFFFF"/>
                </a:solidFill>
                <a:latin typeface="Trenda IG Text"/>
              </a:rPr>
              <a:t>Copado</a:t>
            </a:r>
          </a:p>
          <a:p>
            <a:r>
              <a:rPr sz="600" b="0" i="0">
                <a:solidFill>
                  <a:srgbClr val="8C8C8C"/>
                </a:solidFill>
                <a:latin typeface="Trenda IG Text"/>
              </a:rPr>
              <a:t>releases, test runs</a:t>
            </a:r>
          </a:p>
        </p:txBody>
      </p:sp>
      <p:pic>
        <p:nvPicPr>
          <p:cNvPr id="19" name="Picture 18" descr="googledrive.png"/>
          <p:cNvPicPr>
            <a:picLocks noChangeAspect="1"/>
          </p:cNvPicPr>
          <p:nvPr/>
        </p:nvPicPr>
        <p:blipFill>
          <a:blip r:embed="rId6"/>
          <a:stretch>
            <a:fillRect/>
          </a:stretch>
        </p:blipFill>
        <p:spPr>
          <a:xfrm>
            <a:off x="521208" y="3529584"/>
            <a:ext cx="201168" cy="201168"/>
          </a:xfrm>
          <a:prstGeom prst="rect">
            <a:avLst/>
          </a:prstGeom>
        </p:spPr>
      </p:pic>
      <p:sp>
        <p:nvSpPr>
          <p:cNvPr id="20" name="Text 14"/>
          <p:cNvSpPr txBox="1"/>
          <p:nvPr/>
        </p:nvSpPr>
        <p:spPr>
          <a:xfrm>
            <a:off x="795528" y="3474720"/>
            <a:ext cx="2057400" cy="329184"/>
          </a:xfrm>
          <a:prstGeom prst="rect">
            <a:avLst/>
          </a:prstGeom>
          <a:noFill/>
        </p:spPr>
        <p:txBody>
          <a:bodyPr wrap="square" lIns="0" rIns="0" tIns="0" bIns="0" anchor="ctr">
            <a:spAutoFit/>
          </a:bodyPr>
          <a:lstStyle/>
          <a:p>
            <a:r>
              <a:rPr sz="740" b="1" i="0">
                <a:solidFill>
                  <a:srgbClr val="FFFFFF"/>
                </a:solidFill>
                <a:latin typeface="Trenda IG Text"/>
              </a:rPr>
              <a:t>Google Drive</a:t>
            </a:r>
          </a:p>
          <a:p>
            <a:r>
              <a:rPr sz="600" b="0" i="0">
                <a:solidFill>
                  <a:srgbClr val="8C8C8C"/>
                </a:solidFill>
                <a:latin typeface="Trenda IG Text"/>
              </a:rPr>
              <a:t>specs, mapping sheets</a:t>
            </a:r>
          </a:p>
        </p:txBody>
      </p:sp>
      <p:sp>
        <p:nvSpPr>
          <p:cNvPr id="21" name="Text 15"/>
          <p:cNvSpPr txBox="1"/>
          <p:nvPr/>
        </p:nvSpPr>
        <p:spPr>
          <a:xfrm>
            <a:off x="521208" y="3877055"/>
            <a:ext cx="2295144" cy="182880"/>
          </a:xfrm>
          <a:prstGeom prst="rect">
            <a:avLst/>
          </a:prstGeom>
          <a:noFill/>
        </p:spPr>
        <p:txBody>
          <a:bodyPr wrap="square" lIns="0" rIns="0" tIns="0" bIns="0" anchor="t">
            <a:spAutoFit/>
          </a:bodyPr>
          <a:lstStyle/>
          <a:p>
            <a:r>
              <a:rPr sz="580" b="1" i="0" spc="120">
                <a:solidFill>
                  <a:srgbClr val="FF0069"/>
                </a:solidFill>
                <a:latin typeface="Trenda IG Text"/>
              </a:rPr>
              <a:t>FOR MARKETING CLOUD PODS</a:t>
            </a:r>
          </a:p>
        </p:txBody>
      </p:sp>
      <p:sp>
        <p:nvSpPr>
          <p:cNvPr id="22" name="Shape 16"/>
          <p:cNvSpPr/>
          <p:nvPr/>
        </p:nvSpPr>
        <p:spPr>
          <a:xfrm>
            <a:off x="502920" y="4087368"/>
            <a:ext cx="2331720" cy="786384"/>
          </a:xfrm>
          <a:prstGeom prst="roundRect">
            <a:avLst>
              <a:gd name="adj" fmla="val 8000"/>
            </a:avLst>
          </a:prstGeom>
          <a:solidFill>
            <a:srgbClr val="2B0716"/>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ooglecloud.png"/>
          <p:cNvPicPr>
            <a:picLocks noChangeAspect="1"/>
          </p:cNvPicPr>
          <p:nvPr/>
        </p:nvPicPr>
        <p:blipFill>
          <a:blip r:embed="rId7"/>
          <a:stretch>
            <a:fillRect/>
          </a:stretch>
        </p:blipFill>
        <p:spPr>
          <a:xfrm>
            <a:off x="594360" y="4160520"/>
            <a:ext cx="201168" cy="201168"/>
          </a:xfrm>
          <a:prstGeom prst="rect">
            <a:avLst/>
          </a:prstGeom>
        </p:spPr>
      </p:pic>
      <p:sp>
        <p:nvSpPr>
          <p:cNvPr id="24" name="Text 17"/>
          <p:cNvSpPr txBox="1"/>
          <p:nvPr/>
        </p:nvSpPr>
        <p:spPr>
          <a:xfrm>
            <a:off x="868680" y="4133087"/>
            <a:ext cx="1874519" cy="237744"/>
          </a:xfrm>
          <a:prstGeom prst="rect">
            <a:avLst/>
          </a:prstGeom>
          <a:noFill/>
        </p:spPr>
        <p:txBody>
          <a:bodyPr wrap="square" lIns="0" rIns="0" tIns="0" bIns="0" anchor="ctr">
            <a:spAutoFit/>
          </a:bodyPr>
          <a:lstStyle/>
          <a:p>
            <a:r>
              <a:rPr sz="780" b="1" i="0">
                <a:solidFill>
                  <a:srgbClr val="FFFFFF"/>
                </a:solidFill>
                <a:latin typeface="Trenda IG Text"/>
              </a:rPr>
              <a:t>Governed GCP data</a:t>
            </a:r>
          </a:p>
        </p:txBody>
      </p:sp>
      <p:sp>
        <p:nvSpPr>
          <p:cNvPr id="25" name="Text 18"/>
          <p:cNvSpPr txBox="1"/>
          <p:nvPr/>
        </p:nvSpPr>
        <p:spPr>
          <a:xfrm>
            <a:off x="594360" y="4389120"/>
            <a:ext cx="2148840" cy="457200"/>
          </a:xfrm>
          <a:prstGeom prst="rect">
            <a:avLst/>
          </a:prstGeom>
          <a:noFill/>
        </p:spPr>
        <p:txBody>
          <a:bodyPr wrap="square" lIns="0" rIns="0" tIns="0" bIns="0" anchor="t">
            <a:spAutoFit/>
          </a:bodyPr>
          <a:lstStyle/>
          <a:p>
            <a:r>
              <a:rPr sz="630" b="0" i="0">
                <a:solidFill>
                  <a:srgbClr val="BFBFBF"/>
                </a:solidFill>
                <a:latin typeface="Trenda IG Text"/>
              </a:rPr>
              <a:t>Masked by Collibra policy: agents see counts and segments, never a patient.</a:t>
            </a:r>
          </a:p>
        </p:txBody>
      </p:sp>
      <p:sp>
        <p:nvSpPr>
          <p:cNvPr id="26" name="Text 19"/>
          <p:cNvSpPr txBox="1"/>
          <p:nvPr/>
        </p:nvSpPr>
        <p:spPr>
          <a:xfrm>
            <a:off x="521208" y="5056632"/>
            <a:ext cx="2295144" cy="329184"/>
          </a:xfrm>
          <a:prstGeom prst="rect">
            <a:avLst/>
          </a:prstGeom>
          <a:noFill/>
        </p:spPr>
        <p:txBody>
          <a:bodyPr wrap="square" lIns="0" rIns="0" tIns="0" bIns="0" anchor="ctr">
            <a:spAutoFit/>
          </a:bodyPr>
          <a:lstStyle/>
          <a:p>
            <a:r>
              <a:rPr sz="620" b="0" i="0">
                <a:solidFill>
                  <a:srgbClr val="8C8C8C"/>
                </a:solidFill>
                <a:latin typeface="Trenda IG Text"/>
              </a:rPr>
              <a:t>Every fact is cited with its source and SHA-256.</a:t>
            </a:r>
          </a:p>
        </p:txBody>
      </p:sp>
      <p:sp>
        <p:nvSpPr>
          <p:cNvPr id="27" name="Shape 20"/>
          <p:cNvSpPr/>
          <p:nvPr/>
        </p:nvSpPr>
        <p:spPr>
          <a:xfrm>
            <a:off x="3063240" y="1170432"/>
            <a:ext cx="580644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1"/>
          <p:cNvSpPr txBox="1"/>
          <p:nvPr/>
        </p:nvSpPr>
        <p:spPr>
          <a:xfrm>
            <a:off x="3154680" y="1170432"/>
            <a:ext cx="5623559" cy="274320"/>
          </a:xfrm>
          <a:prstGeom prst="rect">
            <a:avLst/>
          </a:prstGeom>
          <a:noFill/>
        </p:spPr>
        <p:txBody>
          <a:bodyPr wrap="square" lIns="0" rIns="0" tIns="0" bIns="0" anchor="ctr">
            <a:spAutoFit/>
          </a:bodyPr>
          <a:lstStyle/>
          <a:p>
            <a:r>
              <a:rPr sz="700" b="1" i="0" spc="150">
                <a:solidFill>
                  <a:srgbClr val="000000"/>
                </a:solidFill>
                <a:latin typeface="Trenda IG Text"/>
              </a:rPr>
              <a:t>DELIVERY AGENTS</a:t>
            </a:r>
            <a:r>
              <a:rPr sz="700" b="0" i="0">
                <a:solidFill>
                  <a:srgbClr val="000000"/>
                </a:solidFill>
                <a:latin typeface="Trenda IG Text"/>
              </a:rPr>
              <a:t>   the same on every pod</a:t>
            </a:r>
          </a:p>
        </p:txBody>
      </p:sp>
      <p:sp>
        <p:nvSpPr>
          <p:cNvPr id="29" name="Shape 22"/>
          <p:cNvSpPr/>
          <p:nvPr/>
        </p:nvSpPr>
        <p:spPr>
          <a:xfrm>
            <a:off x="3063240" y="1499616"/>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hape 23"/>
          <p:cNvSpPr/>
          <p:nvPr/>
        </p:nvSpPr>
        <p:spPr>
          <a:xfrm>
            <a:off x="3136392" y="153847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4"/>
          <p:cNvSpPr txBox="1"/>
          <p:nvPr/>
        </p:nvSpPr>
        <p:spPr>
          <a:xfrm>
            <a:off x="3136392" y="153847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sp>
        <p:nvSpPr>
          <p:cNvPr id="32" name="Text 25"/>
          <p:cNvSpPr txBox="1"/>
          <p:nvPr/>
        </p:nvSpPr>
        <p:spPr>
          <a:xfrm>
            <a:off x="3410712" y="1499616"/>
            <a:ext cx="1508760" cy="278892"/>
          </a:xfrm>
          <a:prstGeom prst="rect">
            <a:avLst/>
          </a:prstGeom>
          <a:noFill/>
        </p:spPr>
        <p:txBody>
          <a:bodyPr wrap="square" lIns="0" rIns="0" tIns="0" bIns="0" anchor="ctr">
            <a:spAutoFit/>
          </a:bodyPr>
          <a:lstStyle/>
          <a:p>
            <a:r>
              <a:rPr sz="760" b="1" i="0">
                <a:solidFill>
                  <a:srgbClr val="FFFFFF"/>
                </a:solidFill>
                <a:latin typeface="Trenda IG Text"/>
              </a:rPr>
              <a:t>Orchestrator</a:t>
            </a:r>
          </a:p>
        </p:txBody>
      </p:sp>
      <p:sp>
        <p:nvSpPr>
          <p:cNvPr id="33" name="Text 26"/>
          <p:cNvSpPr txBox="1"/>
          <p:nvPr/>
        </p:nvSpPr>
        <p:spPr>
          <a:xfrm>
            <a:off x="4937760" y="1499616"/>
            <a:ext cx="2926079" cy="278892"/>
          </a:xfrm>
          <a:prstGeom prst="rect">
            <a:avLst/>
          </a:prstGeom>
          <a:noFill/>
        </p:spPr>
        <p:txBody>
          <a:bodyPr wrap="square" lIns="0" rIns="0" tIns="0" bIns="0" anchor="ctr">
            <a:spAutoFit/>
          </a:bodyPr>
          <a:lstStyle/>
          <a:p>
            <a:r>
              <a:rPr sz="640" b="0" i="0">
                <a:solidFill>
                  <a:srgbClr val="BFBFBF"/>
                </a:solidFill>
                <a:latin typeface="Trenda IG Text"/>
              </a:rPr>
              <a:t>Classifies the task, gathers context, routes the chain, enforces gates</a:t>
            </a:r>
          </a:p>
        </p:txBody>
      </p:sp>
      <p:sp>
        <p:nvSpPr>
          <p:cNvPr id="34" name="Shape 27"/>
          <p:cNvSpPr/>
          <p:nvPr/>
        </p:nvSpPr>
        <p:spPr>
          <a:xfrm>
            <a:off x="7955279" y="1556766"/>
            <a:ext cx="822960" cy="164592"/>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7955279" y="1556766"/>
            <a:ext cx="822960" cy="164592"/>
          </a:xfrm>
          <a:prstGeom prst="rect">
            <a:avLst/>
          </a:prstGeom>
          <a:noFill/>
        </p:spPr>
        <p:txBody>
          <a:bodyPr wrap="square" lIns="0" rIns="0" tIns="0" bIns="0" anchor="ctr">
            <a:spAutoFit/>
          </a:bodyPr>
          <a:lstStyle/>
          <a:p>
            <a:pPr algn="ctr"/>
            <a:r>
              <a:rPr sz="560" b="1" i="0" spc="80">
                <a:solidFill>
                  <a:srgbClr val="00D6F2"/>
                </a:solidFill>
                <a:latin typeface="Trenda IG Text"/>
              </a:rPr>
              <a:t>COORDINATES</a:t>
            </a:r>
          </a:p>
        </p:txBody>
      </p:sp>
      <p:sp>
        <p:nvSpPr>
          <p:cNvPr id="36" name="Shape 29"/>
          <p:cNvSpPr/>
          <p:nvPr/>
        </p:nvSpPr>
        <p:spPr>
          <a:xfrm>
            <a:off x="3063240" y="1815084"/>
            <a:ext cx="5806440" cy="2788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0"/>
          <p:cNvSpPr/>
          <p:nvPr/>
        </p:nvSpPr>
        <p:spPr>
          <a:xfrm>
            <a:off x="3136392" y="1853946"/>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1"/>
          <p:cNvSpPr txBox="1"/>
          <p:nvPr/>
        </p:nvSpPr>
        <p:spPr>
          <a:xfrm>
            <a:off x="3136392" y="185394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39" name="Text 32"/>
          <p:cNvSpPr txBox="1"/>
          <p:nvPr/>
        </p:nvSpPr>
        <p:spPr>
          <a:xfrm>
            <a:off x="3410712" y="1815084"/>
            <a:ext cx="1508760" cy="278892"/>
          </a:xfrm>
          <a:prstGeom prst="rect">
            <a:avLst/>
          </a:prstGeom>
          <a:noFill/>
        </p:spPr>
        <p:txBody>
          <a:bodyPr wrap="square" lIns="0" rIns="0" tIns="0" bIns="0" anchor="ctr">
            <a:spAutoFit/>
          </a:bodyPr>
          <a:lstStyle/>
          <a:p>
            <a:r>
              <a:rPr sz="760" b="1" i="0">
                <a:solidFill>
                  <a:srgbClr val="FFFFFF"/>
                </a:solidFill>
                <a:latin typeface="Trenda IG Text"/>
              </a:rPr>
              <a:t>Requirements Agent</a:t>
            </a:r>
          </a:p>
        </p:txBody>
      </p:sp>
      <p:sp>
        <p:nvSpPr>
          <p:cNvPr id="40" name="Text 33"/>
          <p:cNvSpPr txBox="1"/>
          <p:nvPr/>
        </p:nvSpPr>
        <p:spPr>
          <a:xfrm>
            <a:off x="4937760" y="1815084"/>
            <a:ext cx="2926079" cy="278892"/>
          </a:xfrm>
          <a:prstGeom prst="rect">
            <a:avLst/>
          </a:prstGeom>
          <a:noFill/>
        </p:spPr>
        <p:txBody>
          <a:bodyPr wrap="square" lIns="0" rIns="0" tIns="0" bIns="0" anchor="ctr">
            <a:spAutoFit/>
          </a:bodyPr>
          <a:lstStyle/>
          <a:p>
            <a:r>
              <a:rPr sz="640" b="0" i="0">
                <a:solidFill>
                  <a:srgbClr val="BFBFBF"/>
                </a:solidFill>
                <a:latin typeface="Trenda IG Text"/>
              </a:rPr>
              <a:t>Jira story and Confluence design into a clear brief</a:t>
            </a:r>
          </a:p>
        </p:txBody>
      </p:sp>
      <p:sp>
        <p:nvSpPr>
          <p:cNvPr id="41" name="Shape 34"/>
          <p:cNvSpPr/>
          <p:nvPr/>
        </p:nvSpPr>
        <p:spPr>
          <a:xfrm>
            <a:off x="7955279" y="1872234"/>
            <a:ext cx="822960" cy="164592"/>
          </a:xfrm>
          <a:prstGeom prst="roundRect">
            <a:avLst>
              <a:gd name="adj" fmla="val 50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35"/>
          <p:cNvSpPr txBox="1"/>
          <p:nvPr/>
        </p:nvSpPr>
        <p:spPr>
          <a:xfrm>
            <a:off x="7955279" y="1872234"/>
            <a:ext cx="822960" cy="164592"/>
          </a:xfrm>
          <a:prstGeom prst="rect">
            <a:avLst/>
          </a:prstGeom>
          <a:noFill/>
        </p:spPr>
        <p:txBody>
          <a:bodyPr wrap="square" lIns="0" rIns="0" tIns="0" bIns="0" anchor="ctr">
            <a:spAutoFit/>
          </a:bodyPr>
          <a:lstStyle/>
          <a:p>
            <a:pPr algn="ctr"/>
            <a:r>
              <a:rPr sz="560" b="1" i="0" spc="80">
                <a:solidFill>
                  <a:srgbClr val="FFD700"/>
                </a:solidFill>
                <a:latin typeface="Trenda IG Text"/>
              </a:rPr>
              <a:t>HUMAN GATE</a:t>
            </a:r>
          </a:p>
        </p:txBody>
      </p:sp>
      <p:sp>
        <p:nvSpPr>
          <p:cNvPr id="43" name="Shape 36"/>
          <p:cNvSpPr/>
          <p:nvPr/>
        </p:nvSpPr>
        <p:spPr>
          <a:xfrm>
            <a:off x="3063240" y="2130552"/>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37"/>
          <p:cNvSpPr/>
          <p:nvPr/>
        </p:nvSpPr>
        <p:spPr>
          <a:xfrm>
            <a:off x="3136392" y="2169414"/>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38"/>
          <p:cNvSpPr txBox="1"/>
          <p:nvPr/>
        </p:nvSpPr>
        <p:spPr>
          <a:xfrm>
            <a:off x="3136392" y="2169414"/>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sp>
        <p:nvSpPr>
          <p:cNvPr id="46" name="Text 39"/>
          <p:cNvSpPr txBox="1"/>
          <p:nvPr/>
        </p:nvSpPr>
        <p:spPr>
          <a:xfrm>
            <a:off x="3410712" y="2130552"/>
            <a:ext cx="1508760" cy="278892"/>
          </a:xfrm>
          <a:prstGeom prst="rect">
            <a:avLst/>
          </a:prstGeom>
          <a:noFill/>
        </p:spPr>
        <p:txBody>
          <a:bodyPr wrap="square" lIns="0" rIns="0" tIns="0" bIns="0" anchor="ctr">
            <a:spAutoFit/>
          </a:bodyPr>
          <a:lstStyle/>
          <a:p>
            <a:r>
              <a:rPr sz="760" b="1" i="0">
                <a:solidFill>
                  <a:srgbClr val="FFFFFF"/>
                </a:solidFill>
                <a:latin typeface="Trenda IG Text"/>
              </a:rPr>
              <a:t>Architect Agent</a:t>
            </a:r>
          </a:p>
        </p:txBody>
      </p:sp>
      <p:sp>
        <p:nvSpPr>
          <p:cNvPr id="47" name="Text 40"/>
          <p:cNvSpPr txBox="1"/>
          <p:nvPr/>
        </p:nvSpPr>
        <p:spPr>
          <a:xfrm>
            <a:off x="4937760" y="2130552"/>
            <a:ext cx="2926079" cy="278892"/>
          </a:xfrm>
          <a:prstGeom prst="rect">
            <a:avLst/>
          </a:prstGeom>
          <a:noFill/>
        </p:spPr>
        <p:txBody>
          <a:bodyPr wrap="square" lIns="0" rIns="0" tIns="0" bIns="0" anchor="ctr">
            <a:spAutoFit/>
          </a:bodyPr>
          <a:lstStyle/>
          <a:p>
            <a:r>
              <a:rPr sz="640" b="0" i="0">
                <a:solidFill>
                  <a:srgbClr val="BFBFBF"/>
                </a:solidFill>
                <a:latin typeface="Trenda IG Text"/>
              </a:rPr>
              <a:t>Impact, reuse and risk from the graph; the change plan</a:t>
            </a:r>
          </a:p>
        </p:txBody>
      </p:sp>
      <p:sp>
        <p:nvSpPr>
          <p:cNvPr id="48" name="Shape 41"/>
          <p:cNvSpPr/>
          <p:nvPr/>
        </p:nvSpPr>
        <p:spPr>
          <a:xfrm>
            <a:off x="7955279" y="2187702"/>
            <a:ext cx="822960" cy="164592"/>
          </a:xfrm>
          <a:prstGeom prst="roundRect">
            <a:avLst>
              <a:gd name="adj" fmla="val 50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2"/>
          <p:cNvSpPr txBox="1"/>
          <p:nvPr/>
        </p:nvSpPr>
        <p:spPr>
          <a:xfrm>
            <a:off x="7955279" y="2187702"/>
            <a:ext cx="822960" cy="164592"/>
          </a:xfrm>
          <a:prstGeom prst="rect">
            <a:avLst/>
          </a:prstGeom>
          <a:noFill/>
        </p:spPr>
        <p:txBody>
          <a:bodyPr wrap="square" lIns="0" rIns="0" tIns="0" bIns="0" anchor="ctr">
            <a:spAutoFit/>
          </a:bodyPr>
          <a:lstStyle/>
          <a:p>
            <a:pPr algn="ctr"/>
            <a:r>
              <a:rPr sz="560" b="1" i="0" spc="80">
                <a:solidFill>
                  <a:srgbClr val="FFD700"/>
                </a:solidFill>
                <a:latin typeface="Trenda IG Text"/>
              </a:rPr>
              <a:t>HUMAN GATE</a:t>
            </a:r>
          </a:p>
        </p:txBody>
      </p:sp>
      <p:sp>
        <p:nvSpPr>
          <p:cNvPr id="50" name="Shape 43"/>
          <p:cNvSpPr/>
          <p:nvPr/>
        </p:nvSpPr>
        <p:spPr>
          <a:xfrm>
            <a:off x="3063240" y="2446020"/>
            <a:ext cx="5806440" cy="2788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4"/>
          <p:cNvSpPr/>
          <p:nvPr/>
        </p:nvSpPr>
        <p:spPr>
          <a:xfrm>
            <a:off x="3136392" y="2484882"/>
            <a:ext cx="201168" cy="201168"/>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5"/>
          <p:cNvSpPr txBox="1"/>
          <p:nvPr/>
        </p:nvSpPr>
        <p:spPr>
          <a:xfrm>
            <a:off x="3136392" y="2484882"/>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4</a:t>
            </a:r>
          </a:p>
        </p:txBody>
      </p:sp>
      <p:sp>
        <p:nvSpPr>
          <p:cNvPr id="53" name="Text 46"/>
          <p:cNvSpPr txBox="1"/>
          <p:nvPr/>
        </p:nvSpPr>
        <p:spPr>
          <a:xfrm>
            <a:off x="3410712" y="2446020"/>
            <a:ext cx="1508760" cy="278892"/>
          </a:xfrm>
          <a:prstGeom prst="rect">
            <a:avLst/>
          </a:prstGeom>
          <a:noFill/>
        </p:spPr>
        <p:txBody>
          <a:bodyPr wrap="square" lIns="0" rIns="0" tIns="0" bIns="0" anchor="ctr">
            <a:spAutoFit/>
          </a:bodyPr>
          <a:lstStyle/>
          <a:p>
            <a:r>
              <a:rPr sz="760" b="1" i="0">
                <a:solidFill>
                  <a:srgbClr val="FFFFFF"/>
                </a:solidFill>
                <a:latin typeface="Trenda IG Text"/>
              </a:rPr>
              <a:t>Developer Agent</a:t>
            </a:r>
          </a:p>
        </p:txBody>
      </p:sp>
      <p:sp>
        <p:nvSpPr>
          <p:cNvPr id="54" name="Text 47"/>
          <p:cNvSpPr txBox="1"/>
          <p:nvPr/>
        </p:nvSpPr>
        <p:spPr>
          <a:xfrm>
            <a:off x="4937760" y="2446020"/>
            <a:ext cx="2926079" cy="278892"/>
          </a:xfrm>
          <a:prstGeom prst="rect">
            <a:avLst/>
          </a:prstGeom>
          <a:noFill/>
        </p:spPr>
        <p:txBody>
          <a:bodyPr wrap="square" lIns="0" rIns="0" tIns="0" bIns="0" anchor="ctr">
            <a:spAutoFit/>
          </a:bodyPr>
          <a:lstStyle/>
          <a:p>
            <a:r>
              <a:rPr sz="640" b="0" i="0">
                <a:solidFill>
                  <a:srgbClr val="BFBFBF"/>
                </a:solidFill>
                <a:latin typeface="Trenda IG Text"/>
              </a:rPr>
              <a:t>Builds to Ascension standards in DEV; journeys for Marketing Cloud</a:t>
            </a:r>
          </a:p>
        </p:txBody>
      </p:sp>
      <p:sp>
        <p:nvSpPr>
          <p:cNvPr id="55" name="Shape 48"/>
          <p:cNvSpPr/>
          <p:nvPr/>
        </p:nvSpPr>
        <p:spPr>
          <a:xfrm>
            <a:off x="7955279" y="2503170"/>
            <a:ext cx="822960" cy="164592"/>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49"/>
          <p:cNvSpPr txBox="1"/>
          <p:nvPr/>
        </p:nvSpPr>
        <p:spPr>
          <a:xfrm>
            <a:off x="7955279" y="2503170"/>
            <a:ext cx="822960" cy="164592"/>
          </a:xfrm>
          <a:prstGeom prst="rect">
            <a:avLst/>
          </a:prstGeom>
          <a:noFill/>
        </p:spPr>
        <p:txBody>
          <a:bodyPr wrap="square" lIns="0" rIns="0" tIns="0" bIns="0" anchor="ctr">
            <a:spAutoFit/>
          </a:bodyPr>
          <a:lstStyle/>
          <a:p>
            <a:pPr algn="ctr"/>
            <a:r>
              <a:rPr sz="560" b="1" i="0" spc="80">
                <a:solidFill>
                  <a:srgbClr val="56E13B"/>
                </a:solidFill>
                <a:latin typeface="Trenda IG Text"/>
              </a:rPr>
              <a:t>AI-LED</a:t>
            </a:r>
          </a:p>
        </p:txBody>
      </p:sp>
      <p:sp>
        <p:nvSpPr>
          <p:cNvPr id="57" name="Shape 50"/>
          <p:cNvSpPr/>
          <p:nvPr/>
        </p:nvSpPr>
        <p:spPr>
          <a:xfrm>
            <a:off x="3063240" y="2761487"/>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1"/>
          <p:cNvSpPr/>
          <p:nvPr/>
        </p:nvSpPr>
        <p:spPr>
          <a:xfrm>
            <a:off x="3136392" y="2800349"/>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3136392" y="2800349"/>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5</a:t>
            </a:r>
          </a:p>
        </p:txBody>
      </p:sp>
      <p:sp>
        <p:nvSpPr>
          <p:cNvPr id="60" name="Text 53"/>
          <p:cNvSpPr txBox="1"/>
          <p:nvPr/>
        </p:nvSpPr>
        <p:spPr>
          <a:xfrm>
            <a:off x="3410712" y="2761487"/>
            <a:ext cx="1508760" cy="278892"/>
          </a:xfrm>
          <a:prstGeom prst="rect">
            <a:avLst/>
          </a:prstGeom>
          <a:noFill/>
        </p:spPr>
        <p:txBody>
          <a:bodyPr wrap="square" lIns="0" rIns="0" tIns="0" bIns="0" anchor="ctr">
            <a:spAutoFit/>
          </a:bodyPr>
          <a:lstStyle/>
          <a:p>
            <a:r>
              <a:rPr sz="760" b="1" i="0">
                <a:solidFill>
                  <a:srgbClr val="FFFFFF"/>
                </a:solidFill>
                <a:latin typeface="Trenda IG Text"/>
              </a:rPr>
              <a:t>Review Agent</a:t>
            </a:r>
          </a:p>
        </p:txBody>
      </p:sp>
      <p:sp>
        <p:nvSpPr>
          <p:cNvPr id="61" name="Text 54"/>
          <p:cNvSpPr txBox="1"/>
          <p:nvPr/>
        </p:nvSpPr>
        <p:spPr>
          <a:xfrm>
            <a:off x="4937760" y="2761487"/>
            <a:ext cx="2926079" cy="278892"/>
          </a:xfrm>
          <a:prstGeom prst="rect">
            <a:avLst/>
          </a:prstGeom>
          <a:noFill/>
        </p:spPr>
        <p:txBody>
          <a:bodyPr wrap="square" lIns="0" rIns="0" tIns="0" bIns="0" anchor="ctr">
            <a:spAutoFit/>
          </a:bodyPr>
          <a:lstStyle/>
          <a:p>
            <a:r>
              <a:rPr sz="640" b="0" i="0">
                <a:solidFill>
                  <a:srgbClr val="BFBFBF"/>
                </a:solidFill>
                <a:latin typeface="Trenda IG Text"/>
              </a:rPr>
              <a:t>Quality, security and Ascension coding standards</a:t>
            </a:r>
          </a:p>
        </p:txBody>
      </p:sp>
      <p:sp>
        <p:nvSpPr>
          <p:cNvPr id="62" name="Shape 55"/>
          <p:cNvSpPr/>
          <p:nvPr/>
        </p:nvSpPr>
        <p:spPr>
          <a:xfrm>
            <a:off x="7955279" y="2818637"/>
            <a:ext cx="822960" cy="164592"/>
          </a:xfrm>
          <a:prstGeom prst="roundRect">
            <a:avLst>
              <a:gd name="adj" fmla="val 50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7955279" y="2818637"/>
            <a:ext cx="822960" cy="164592"/>
          </a:xfrm>
          <a:prstGeom prst="rect">
            <a:avLst/>
          </a:prstGeom>
          <a:noFill/>
        </p:spPr>
        <p:txBody>
          <a:bodyPr wrap="square" lIns="0" rIns="0" tIns="0" bIns="0" anchor="ctr">
            <a:spAutoFit/>
          </a:bodyPr>
          <a:lstStyle/>
          <a:p>
            <a:pPr algn="ctr"/>
            <a:r>
              <a:rPr sz="560" b="1" i="0" spc="80">
                <a:solidFill>
                  <a:srgbClr val="FFD700"/>
                </a:solidFill>
                <a:latin typeface="Trenda IG Text"/>
              </a:rPr>
              <a:t>HUMAN GATE</a:t>
            </a:r>
          </a:p>
        </p:txBody>
      </p:sp>
      <p:sp>
        <p:nvSpPr>
          <p:cNvPr id="64" name="Shape 57"/>
          <p:cNvSpPr/>
          <p:nvPr/>
        </p:nvSpPr>
        <p:spPr>
          <a:xfrm>
            <a:off x="3063240" y="3076955"/>
            <a:ext cx="5806440" cy="2788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8"/>
          <p:cNvSpPr/>
          <p:nvPr/>
        </p:nvSpPr>
        <p:spPr>
          <a:xfrm>
            <a:off x="3136392" y="3115817"/>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59"/>
          <p:cNvSpPr txBox="1"/>
          <p:nvPr/>
        </p:nvSpPr>
        <p:spPr>
          <a:xfrm>
            <a:off x="3136392" y="3115817"/>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6</a:t>
            </a:r>
          </a:p>
        </p:txBody>
      </p:sp>
      <p:sp>
        <p:nvSpPr>
          <p:cNvPr id="67" name="Text 60"/>
          <p:cNvSpPr txBox="1"/>
          <p:nvPr/>
        </p:nvSpPr>
        <p:spPr>
          <a:xfrm>
            <a:off x="3410712" y="3076955"/>
            <a:ext cx="1508760" cy="278892"/>
          </a:xfrm>
          <a:prstGeom prst="rect">
            <a:avLst/>
          </a:prstGeom>
          <a:noFill/>
        </p:spPr>
        <p:txBody>
          <a:bodyPr wrap="square" lIns="0" rIns="0" tIns="0" bIns="0" anchor="ctr">
            <a:spAutoFit/>
          </a:bodyPr>
          <a:lstStyle/>
          <a:p>
            <a:r>
              <a:rPr sz="760" b="1" i="0">
                <a:solidFill>
                  <a:srgbClr val="FFFFFF"/>
                </a:solidFill>
                <a:latin typeface="Trenda IG Text"/>
              </a:rPr>
              <a:t>Test Agent</a:t>
            </a:r>
          </a:p>
        </p:txBody>
      </p:sp>
      <p:sp>
        <p:nvSpPr>
          <p:cNvPr id="68" name="Text 61"/>
          <p:cNvSpPr txBox="1"/>
          <p:nvPr/>
        </p:nvSpPr>
        <p:spPr>
          <a:xfrm>
            <a:off x="4937760" y="3076955"/>
            <a:ext cx="2926079" cy="278892"/>
          </a:xfrm>
          <a:prstGeom prst="rect">
            <a:avLst/>
          </a:prstGeom>
          <a:noFill/>
        </p:spPr>
        <p:txBody>
          <a:bodyPr wrap="square" lIns="0" rIns="0" tIns="0" bIns="0" anchor="ctr">
            <a:spAutoFit/>
          </a:bodyPr>
          <a:lstStyle/>
          <a:p>
            <a:r>
              <a:rPr sz="640" b="0" i="0">
                <a:solidFill>
                  <a:srgbClr val="BFBFBF"/>
                </a:solidFill>
                <a:latin typeface="Trenda IG Text"/>
              </a:rPr>
              <a:t>Unit, regression and performance tests; Zephyr to Copado</a:t>
            </a:r>
          </a:p>
        </p:txBody>
      </p:sp>
      <p:sp>
        <p:nvSpPr>
          <p:cNvPr id="69" name="Shape 62"/>
          <p:cNvSpPr/>
          <p:nvPr/>
        </p:nvSpPr>
        <p:spPr>
          <a:xfrm>
            <a:off x="7955279" y="3134105"/>
            <a:ext cx="822960" cy="164592"/>
          </a:xfrm>
          <a:prstGeom prst="roundRect">
            <a:avLst>
              <a:gd name="adj" fmla="val 50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7955279" y="3134105"/>
            <a:ext cx="822960" cy="164592"/>
          </a:xfrm>
          <a:prstGeom prst="rect">
            <a:avLst/>
          </a:prstGeom>
          <a:noFill/>
        </p:spPr>
        <p:txBody>
          <a:bodyPr wrap="square" lIns="0" rIns="0" tIns="0" bIns="0" anchor="ctr">
            <a:spAutoFit/>
          </a:bodyPr>
          <a:lstStyle/>
          <a:p>
            <a:pPr algn="ctr"/>
            <a:r>
              <a:rPr sz="560" b="1" i="0" spc="80">
                <a:solidFill>
                  <a:srgbClr val="FFD700"/>
                </a:solidFill>
                <a:latin typeface="Trenda IG Text"/>
              </a:rPr>
              <a:t>HUMAN GATE</a:t>
            </a:r>
          </a:p>
        </p:txBody>
      </p:sp>
      <p:sp>
        <p:nvSpPr>
          <p:cNvPr id="71" name="Shape 64"/>
          <p:cNvSpPr/>
          <p:nvPr/>
        </p:nvSpPr>
        <p:spPr>
          <a:xfrm>
            <a:off x="3063240" y="3392423"/>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5"/>
          <p:cNvSpPr/>
          <p:nvPr/>
        </p:nvSpPr>
        <p:spPr>
          <a:xfrm>
            <a:off x="3136392" y="3431285"/>
            <a:ext cx="201168" cy="201168"/>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3136392" y="3431285"/>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7</a:t>
            </a:r>
          </a:p>
        </p:txBody>
      </p:sp>
      <p:sp>
        <p:nvSpPr>
          <p:cNvPr id="74" name="Text 67"/>
          <p:cNvSpPr txBox="1"/>
          <p:nvPr/>
        </p:nvSpPr>
        <p:spPr>
          <a:xfrm>
            <a:off x="3410712" y="3392423"/>
            <a:ext cx="1508760" cy="278892"/>
          </a:xfrm>
          <a:prstGeom prst="rect">
            <a:avLst/>
          </a:prstGeom>
          <a:noFill/>
        </p:spPr>
        <p:txBody>
          <a:bodyPr wrap="square" lIns="0" rIns="0" tIns="0" bIns="0" anchor="ctr">
            <a:spAutoFit/>
          </a:bodyPr>
          <a:lstStyle/>
          <a:p>
            <a:r>
              <a:rPr sz="760" b="1" i="0">
                <a:solidFill>
                  <a:srgbClr val="FFFFFF"/>
                </a:solidFill>
                <a:latin typeface="Trenda IG Text"/>
              </a:rPr>
              <a:t>Release Agent</a:t>
            </a:r>
          </a:p>
        </p:txBody>
      </p:sp>
      <p:sp>
        <p:nvSpPr>
          <p:cNvPr id="75" name="Text 68"/>
          <p:cNvSpPr txBox="1"/>
          <p:nvPr/>
        </p:nvSpPr>
        <p:spPr>
          <a:xfrm>
            <a:off x="4937760" y="3392423"/>
            <a:ext cx="2926079" cy="278892"/>
          </a:xfrm>
          <a:prstGeom prst="rect">
            <a:avLst/>
          </a:prstGeom>
          <a:noFill/>
        </p:spPr>
        <p:txBody>
          <a:bodyPr wrap="square" lIns="0" rIns="0" tIns="0" bIns="0" anchor="ctr">
            <a:spAutoFit/>
          </a:bodyPr>
          <a:lstStyle/>
          <a:p>
            <a:r>
              <a:rPr sz="640" b="0" i="0">
                <a:solidFill>
                  <a:srgbClr val="BFBFBF"/>
                </a:solidFill>
                <a:latin typeface="Trenda IG Text"/>
              </a:rPr>
              <a:t>Packages and promotes through Copado to lower environments</a:t>
            </a:r>
          </a:p>
        </p:txBody>
      </p:sp>
      <p:sp>
        <p:nvSpPr>
          <p:cNvPr id="76" name="Shape 69"/>
          <p:cNvSpPr/>
          <p:nvPr/>
        </p:nvSpPr>
        <p:spPr>
          <a:xfrm>
            <a:off x="7955279" y="3449573"/>
            <a:ext cx="822960" cy="164592"/>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7955279" y="3449573"/>
            <a:ext cx="822960" cy="164592"/>
          </a:xfrm>
          <a:prstGeom prst="rect">
            <a:avLst/>
          </a:prstGeom>
          <a:noFill/>
        </p:spPr>
        <p:txBody>
          <a:bodyPr wrap="square" lIns="0" rIns="0" tIns="0" bIns="0" anchor="ctr">
            <a:spAutoFit/>
          </a:bodyPr>
          <a:lstStyle/>
          <a:p>
            <a:pPr algn="ctr"/>
            <a:r>
              <a:rPr sz="560" b="1" i="0" spc="80">
                <a:solidFill>
                  <a:srgbClr val="56E13B"/>
                </a:solidFill>
                <a:latin typeface="Trenda IG Text"/>
              </a:rPr>
              <a:t>AI-LED</a:t>
            </a:r>
          </a:p>
        </p:txBody>
      </p:sp>
      <p:sp>
        <p:nvSpPr>
          <p:cNvPr id="78" name="Shape 71"/>
          <p:cNvSpPr/>
          <p:nvPr/>
        </p:nvSpPr>
        <p:spPr>
          <a:xfrm>
            <a:off x="3063240" y="3762755"/>
            <a:ext cx="5806440"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3154680" y="3762755"/>
            <a:ext cx="5623559" cy="274320"/>
          </a:xfrm>
          <a:prstGeom prst="rect">
            <a:avLst/>
          </a:prstGeom>
          <a:noFill/>
        </p:spPr>
        <p:txBody>
          <a:bodyPr wrap="square" lIns="0" rIns="0" tIns="0" bIns="0" anchor="ctr">
            <a:spAutoFit/>
          </a:bodyPr>
          <a:lstStyle/>
          <a:p>
            <a:r>
              <a:rPr sz="700" b="1" i="0" spc="150">
                <a:solidFill>
                  <a:srgbClr val="FFFFFF"/>
                </a:solidFill>
                <a:latin typeface="Trenda IG Text"/>
              </a:rPr>
              <a:t>DATA AGENTS</a:t>
            </a:r>
            <a:r>
              <a:rPr sz="700" b="0" i="0">
                <a:solidFill>
                  <a:srgbClr val="FFFFFF"/>
                </a:solidFill>
                <a:latin typeface="Trenda IG Text"/>
              </a:rPr>
              <a:t>   new: campaigns on governed, masked data</a:t>
            </a:r>
          </a:p>
        </p:txBody>
      </p:sp>
      <p:sp>
        <p:nvSpPr>
          <p:cNvPr id="80" name="Shape 73"/>
          <p:cNvSpPr/>
          <p:nvPr/>
        </p:nvSpPr>
        <p:spPr>
          <a:xfrm>
            <a:off x="3063240" y="4091939"/>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4"/>
          <p:cNvSpPr/>
          <p:nvPr/>
        </p:nvSpPr>
        <p:spPr>
          <a:xfrm>
            <a:off x="3136392" y="4130801"/>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5"/>
          <p:cNvSpPr txBox="1"/>
          <p:nvPr/>
        </p:nvSpPr>
        <p:spPr>
          <a:xfrm>
            <a:off x="3136392" y="4130801"/>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8</a:t>
            </a:r>
          </a:p>
        </p:txBody>
      </p:sp>
      <p:sp>
        <p:nvSpPr>
          <p:cNvPr id="83" name="Text 76"/>
          <p:cNvSpPr txBox="1"/>
          <p:nvPr/>
        </p:nvSpPr>
        <p:spPr>
          <a:xfrm>
            <a:off x="3410712" y="4091939"/>
            <a:ext cx="1508760" cy="278892"/>
          </a:xfrm>
          <a:prstGeom prst="rect">
            <a:avLst/>
          </a:prstGeom>
          <a:noFill/>
        </p:spPr>
        <p:txBody>
          <a:bodyPr wrap="square" lIns="0" rIns="0" tIns="0" bIns="0" anchor="ctr">
            <a:spAutoFit/>
          </a:bodyPr>
          <a:lstStyle/>
          <a:p>
            <a:r>
              <a:rPr sz="760" b="1" i="0">
                <a:solidFill>
                  <a:srgbClr val="FFFFFF"/>
                </a:solidFill>
                <a:latin typeface="Trenda IG Text"/>
              </a:rPr>
              <a:t>Campaign Strategist</a:t>
            </a:r>
          </a:p>
        </p:txBody>
      </p:sp>
      <p:sp>
        <p:nvSpPr>
          <p:cNvPr id="84" name="Text 77"/>
          <p:cNvSpPr txBox="1"/>
          <p:nvPr/>
        </p:nvSpPr>
        <p:spPr>
          <a:xfrm>
            <a:off x="4937760" y="4091939"/>
            <a:ext cx="2926079" cy="278892"/>
          </a:xfrm>
          <a:prstGeom prst="rect">
            <a:avLst/>
          </a:prstGeom>
          <a:noFill/>
        </p:spPr>
        <p:txBody>
          <a:bodyPr wrap="square" lIns="0" rIns="0" tIns="0" bIns="0" anchor="ctr">
            <a:spAutoFit/>
          </a:bodyPr>
          <a:lstStyle/>
          <a:p>
            <a:r>
              <a:rPr sz="640" b="0" i="0">
                <a:solidFill>
                  <a:srgbClr val="BFBFBF"/>
                </a:solidFill>
                <a:latin typeface="Trenda IG Text"/>
              </a:rPr>
              <a:t>Ranks campaigns from the masked graph: size, care gap, consent, past lift</a:t>
            </a:r>
          </a:p>
        </p:txBody>
      </p:sp>
      <p:sp>
        <p:nvSpPr>
          <p:cNvPr id="85" name="Shape 78"/>
          <p:cNvSpPr/>
          <p:nvPr/>
        </p:nvSpPr>
        <p:spPr>
          <a:xfrm>
            <a:off x="7955279" y="4149089"/>
            <a:ext cx="822960" cy="164592"/>
          </a:xfrm>
          <a:prstGeom prst="roundRect">
            <a:avLst>
              <a:gd name="adj" fmla="val 50000"/>
            </a:avLst>
          </a:prstGeom>
          <a:no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79"/>
          <p:cNvSpPr txBox="1"/>
          <p:nvPr/>
        </p:nvSpPr>
        <p:spPr>
          <a:xfrm>
            <a:off x="7955279" y="4149089"/>
            <a:ext cx="822960" cy="164592"/>
          </a:xfrm>
          <a:prstGeom prst="rect">
            <a:avLst/>
          </a:prstGeom>
          <a:noFill/>
        </p:spPr>
        <p:txBody>
          <a:bodyPr wrap="square" lIns="0" rIns="0" tIns="0" bIns="0" anchor="ctr">
            <a:spAutoFit/>
          </a:bodyPr>
          <a:lstStyle/>
          <a:p>
            <a:pPr algn="ctr"/>
            <a:r>
              <a:rPr sz="560" b="1" i="0" spc="80">
                <a:solidFill>
                  <a:srgbClr val="FFD700"/>
                </a:solidFill>
                <a:latin typeface="Trenda IG Text"/>
              </a:rPr>
              <a:t>HUMAN GATE</a:t>
            </a:r>
          </a:p>
        </p:txBody>
      </p:sp>
      <p:sp>
        <p:nvSpPr>
          <p:cNvPr id="87" name="Shape 80"/>
          <p:cNvSpPr/>
          <p:nvPr/>
        </p:nvSpPr>
        <p:spPr>
          <a:xfrm>
            <a:off x="3063240" y="4407407"/>
            <a:ext cx="5806440" cy="2788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1"/>
          <p:cNvSpPr/>
          <p:nvPr/>
        </p:nvSpPr>
        <p:spPr>
          <a:xfrm>
            <a:off x="3136392" y="4446269"/>
            <a:ext cx="201168" cy="201168"/>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2"/>
          <p:cNvSpPr txBox="1"/>
          <p:nvPr/>
        </p:nvSpPr>
        <p:spPr>
          <a:xfrm>
            <a:off x="3136392" y="4446269"/>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9</a:t>
            </a:r>
          </a:p>
        </p:txBody>
      </p:sp>
      <p:sp>
        <p:nvSpPr>
          <p:cNvPr id="90" name="Text 83"/>
          <p:cNvSpPr txBox="1"/>
          <p:nvPr/>
        </p:nvSpPr>
        <p:spPr>
          <a:xfrm>
            <a:off x="3410712" y="4407407"/>
            <a:ext cx="1508760" cy="278892"/>
          </a:xfrm>
          <a:prstGeom prst="rect">
            <a:avLst/>
          </a:prstGeom>
          <a:noFill/>
        </p:spPr>
        <p:txBody>
          <a:bodyPr wrap="square" lIns="0" rIns="0" tIns="0" bIns="0" anchor="ctr">
            <a:spAutoFit/>
          </a:bodyPr>
          <a:lstStyle/>
          <a:p>
            <a:r>
              <a:rPr sz="760" b="1" i="0">
                <a:solidFill>
                  <a:srgbClr val="FFFFFF"/>
                </a:solidFill>
                <a:latin typeface="Trenda IG Text"/>
              </a:rPr>
              <a:t>Audience Agent</a:t>
            </a:r>
          </a:p>
        </p:txBody>
      </p:sp>
      <p:sp>
        <p:nvSpPr>
          <p:cNvPr id="91" name="Text 84"/>
          <p:cNvSpPr txBox="1"/>
          <p:nvPr/>
        </p:nvSpPr>
        <p:spPr>
          <a:xfrm>
            <a:off x="4937760" y="4407407"/>
            <a:ext cx="2926079" cy="278892"/>
          </a:xfrm>
          <a:prstGeom prst="rect">
            <a:avLst/>
          </a:prstGeom>
          <a:noFill/>
        </p:spPr>
        <p:txBody>
          <a:bodyPr wrap="square" lIns="0" rIns="0" tIns="0" bIns="0" anchor="ctr">
            <a:spAutoFit/>
          </a:bodyPr>
          <a:lstStyle/>
          <a:p>
            <a:r>
              <a:rPr sz="640" b="0" i="0">
                <a:solidFill>
                  <a:srgbClr val="BFBFBF"/>
                </a:solidFill>
                <a:latin typeface="Trenda IG Text"/>
              </a:rPr>
              <a:t>Builds the audience on masked views as a BigQuery job: tokens and counts only</a:t>
            </a:r>
          </a:p>
        </p:txBody>
      </p:sp>
      <p:sp>
        <p:nvSpPr>
          <p:cNvPr id="92" name="Shape 85"/>
          <p:cNvSpPr/>
          <p:nvPr/>
        </p:nvSpPr>
        <p:spPr>
          <a:xfrm>
            <a:off x="7955279" y="4464557"/>
            <a:ext cx="822960" cy="164592"/>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6"/>
          <p:cNvSpPr txBox="1"/>
          <p:nvPr/>
        </p:nvSpPr>
        <p:spPr>
          <a:xfrm>
            <a:off x="7955279" y="4464557"/>
            <a:ext cx="822960" cy="164592"/>
          </a:xfrm>
          <a:prstGeom prst="rect">
            <a:avLst/>
          </a:prstGeom>
          <a:noFill/>
        </p:spPr>
        <p:txBody>
          <a:bodyPr wrap="square" lIns="0" rIns="0" tIns="0" bIns="0" anchor="ctr">
            <a:spAutoFit/>
          </a:bodyPr>
          <a:lstStyle/>
          <a:p>
            <a:pPr algn="ctr"/>
            <a:r>
              <a:rPr sz="560" b="1" i="0" spc="80">
                <a:solidFill>
                  <a:srgbClr val="56E13B"/>
                </a:solidFill>
                <a:latin typeface="Trenda IG Text"/>
              </a:rPr>
              <a:t>AI-LED</a:t>
            </a:r>
          </a:p>
        </p:txBody>
      </p:sp>
      <p:sp>
        <p:nvSpPr>
          <p:cNvPr id="94" name="Shape 87"/>
          <p:cNvSpPr/>
          <p:nvPr/>
        </p:nvSpPr>
        <p:spPr>
          <a:xfrm>
            <a:off x="3063240" y="4722875"/>
            <a:ext cx="5806440" cy="278892"/>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3136392" y="4761737"/>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3136392" y="4761737"/>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10</a:t>
            </a:r>
          </a:p>
        </p:txBody>
      </p:sp>
      <p:sp>
        <p:nvSpPr>
          <p:cNvPr id="97" name="Text 90"/>
          <p:cNvSpPr txBox="1"/>
          <p:nvPr/>
        </p:nvSpPr>
        <p:spPr>
          <a:xfrm>
            <a:off x="3410712" y="4722875"/>
            <a:ext cx="1508760" cy="278892"/>
          </a:xfrm>
          <a:prstGeom prst="rect">
            <a:avLst/>
          </a:prstGeom>
          <a:noFill/>
        </p:spPr>
        <p:txBody>
          <a:bodyPr wrap="square" lIns="0" rIns="0" tIns="0" bIns="0" anchor="ctr">
            <a:spAutoFit/>
          </a:bodyPr>
          <a:lstStyle/>
          <a:p>
            <a:r>
              <a:rPr sz="760" b="1" i="0">
                <a:solidFill>
                  <a:srgbClr val="FFFFFF"/>
                </a:solidFill>
                <a:latin typeface="Trenda IG Text"/>
              </a:rPr>
              <a:t>Privacy Guard</a:t>
            </a:r>
          </a:p>
        </p:txBody>
      </p:sp>
      <p:sp>
        <p:nvSpPr>
          <p:cNvPr id="98" name="Text 91"/>
          <p:cNvSpPr txBox="1"/>
          <p:nvPr/>
        </p:nvSpPr>
        <p:spPr>
          <a:xfrm>
            <a:off x="4937760" y="4722875"/>
            <a:ext cx="2926079" cy="278892"/>
          </a:xfrm>
          <a:prstGeom prst="rect">
            <a:avLst/>
          </a:prstGeom>
          <a:noFill/>
        </p:spPr>
        <p:txBody>
          <a:bodyPr wrap="square" lIns="0" rIns="0" tIns="0" bIns="0" anchor="ctr">
            <a:spAutoFit/>
          </a:bodyPr>
          <a:lstStyle/>
          <a:p>
            <a:r>
              <a:rPr sz="640" b="0" i="0">
                <a:solidFill>
                  <a:srgbClr val="BFBFBF"/>
                </a:solidFill>
                <a:latin typeface="Trenda IG Text"/>
              </a:rPr>
              <a:t>Consent first, minimum fields; writes the masked pre-send report</a:t>
            </a:r>
          </a:p>
        </p:txBody>
      </p:sp>
      <p:sp>
        <p:nvSpPr>
          <p:cNvPr id="99" name="Shape 92"/>
          <p:cNvSpPr/>
          <p:nvPr/>
        </p:nvSpPr>
        <p:spPr>
          <a:xfrm>
            <a:off x="7955279" y="4780025"/>
            <a:ext cx="822960" cy="164592"/>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3"/>
          <p:cNvSpPr txBox="1"/>
          <p:nvPr/>
        </p:nvSpPr>
        <p:spPr>
          <a:xfrm>
            <a:off x="7955279" y="4780025"/>
            <a:ext cx="822960" cy="164592"/>
          </a:xfrm>
          <a:prstGeom prst="rect">
            <a:avLst/>
          </a:prstGeom>
          <a:noFill/>
        </p:spPr>
        <p:txBody>
          <a:bodyPr wrap="square" lIns="0" rIns="0" tIns="0" bIns="0" anchor="ctr">
            <a:spAutoFit/>
          </a:bodyPr>
          <a:lstStyle/>
          <a:p>
            <a:pPr algn="ctr"/>
            <a:r>
              <a:rPr sz="560" b="1" i="0" spc="80">
                <a:solidFill>
                  <a:srgbClr val="FF0069"/>
                </a:solidFill>
                <a:latin typeface="Trenda IG Text"/>
              </a:rPr>
              <a:t>GUARD</a:t>
            </a:r>
          </a:p>
        </p:txBody>
      </p:sp>
      <p:sp>
        <p:nvSpPr>
          <p:cNvPr id="101" name="Shape 94"/>
          <p:cNvSpPr/>
          <p:nvPr/>
        </p:nvSpPr>
        <p:spPr>
          <a:xfrm>
            <a:off x="3063240" y="5038343"/>
            <a:ext cx="5806440" cy="27889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95"/>
          <p:cNvSpPr/>
          <p:nvPr/>
        </p:nvSpPr>
        <p:spPr>
          <a:xfrm>
            <a:off x="3136392" y="5077205"/>
            <a:ext cx="201168" cy="201168"/>
          </a:xfrm>
          <a:prstGeom prst="ellipse">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96"/>
          <p:cNvSpPr txBox="1"/>
          <p:nvPr/>
        </p:nvSpPr>
        <p:spPr>
          <a:xfrm>
            <a:off x="3136392" y="5077205"/>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11</a:t>
            </a:r>
          </a:p>
        </p:txBody>
      </p:sp>
      <p:sp>
        <p:nvSpPr>
          <p:cNvPr id="104" name="Text 97"/>
          <p:cNvSpPr txBox="1"/>
          <p:nvPr/>
        </p:nvSpPr>
        <p:spPr>
          <a:xfrm>
            <a:off x="3410712" y="5038343"/>
            <a:ext cx="1508760" cy="278892"/>
          </a:xfrm>
          <a:prstGeom prst="rect">
            <a:avLst/>
          </a:prstGeom>
          <a:noFill/>
        </p:spPr>
        <p:txBody>
          <a:bodyPr wrap="square" lIns="0" rIns="0" tIns="0" bIns="0" anchor="ctr">
            <a:spAutoFit/>
          </a:bodyPr>
          <a:lstStyle/>
          <a:p>
            <a:r>
              <a:rPr sz="760" b="1" i="0">
                <a:solidFill>
                  <a:srgbClr val="FFFFFF"/>
                </a:solidFill>
                <a:latin typeface="Trenda IG Text"/>
              </a:rPr>
              <a:t>Measurement Agent</a:t>
            </a:r>
          </a:p>
        </p:txBody>
      </p:sp>
      <p:sp>
        <p:nvSpPr>
          <p:cNvPr id="105" name="Text 98"/>
          <p:cNvSpPr txBox="1"/>
          <p:nvPr/>
        </p:nvSpPr>
        <p:spPr>
          <a:xfrm>
            <a:off x="4937760" y="5038343"/>
            <a:ext cx="2926079" cy="278892"/>
          </a:xfrm>
          <a:prstGeom prst="rect">
            <a:avLst/>
          </a:prstGeom>
          <a:noFill/>
        </p:spPr>
        <p:txBody>
          <a:bodyPr wrap="square" lIns="0" rIns="0" tIns="0" bIns="0" anchor="ctr">
            <a:spAutoFit/>
          </a:bodyPr>
          <a:lstStyle/>
          <a:p>
            <a:r>
              <a:rPr sz="640" b="0" i="0">
                <a:solidFill>
                  <a:srgbClr val="BFBFBF"/>
                </a:solidFill>
                <a:latin typeface="Trenda IG Text"/>
              </a:rPr>
              <a:t>Lift against a holdout; writes what worked back to the graph</a:t>
            </a:r>
          </a:p>
        </p:txBody>
      </p:sp>
      <p:sp>
        <p:nvSpPr>
          <p:cNvPr id="106" name="Shape 99"/>
          <p:cNvSpPr/>
          <p:nvPr/>
        </p:nvSpPr>
        <p:spPr>
          <a:xfrm>
            <a:off x="7955279" y="5095493"/>
            <a:ext cx="822960" cy="164592"/>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955279" y="5095493"/>
            <a:ext cx="822960" cy="164592"/>
          </a:xfrm>
          <a:prstGeom prst="rect">
            <a:avLst/>
          </a:prstGeom>
          <a:noFill/>
        </p:spPr>
        <p:txBody>
          <a:bodyPr wrap="square" lIns="0" rIns="0" tIns="0" bIns="0" anchor="ctr">
            <a:spAutoFit/>
          </a:bodyPr>
          <a:lstStyle/>
          <a:p>
            <a:pPr algn="ctr"/>
            <a:r>
              <a:rPr sz="560" b="1" i="0" spc="80">
                <a:solidFill>
                  <a:srgbClr val="56E13B"/>
                </a:solidFill>
                <a:latin typeface="Trenda IG Text"/>
              </a:rPr>
              <a:t>AI-LED</a:t>
            </a:r>
          </a:p>
        </p:txBody>
      </p:sp>
      <p:sp>
        <p:nvSpPr>
          <p:cNvPr id="108" name="Shape 101"/>
          <p:cNvSpPr/>
          <p:nvPr/>
        </p:nvSpPr>
        <p:spPr>
          <a:xfrm>
            <a:off x="9006840" y="1170432"/>
            <a:ext cx="2770632" cy="27432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2"/>
          <p:cNvSpPr txBox="1"/>
          <p:nvPr/>
        </p:nvSpPr>
        <p:spPr>
          <a:xfrm>
            <a:off x="9098280" y="1170432"/>
            <a:ext cx="2587751" cy="274320"/>
          </a:xfrm>
          <a:prstGeom prst="rect">
            <a:avLst/>
          </a:prstGeom>
          <a:noFill/>
        </p:spPr>
        <p:txBody>
          <a:bodyPr wrap="square" lIns="0" rIns="0" tIns="0" bIns="0" anchor="ctr">
            <a:spAutoFit/>
          </a:bodyPr>
          <a:lstStyle/>
          <a:p>
            <a:r>
              <a:rPr sz="700" b="1" i="0" spc="150">
                <a:solidFill>
                  <a:srgbClr val="FFFFFF"/>
                </a:solidFill>
                <a:latin typeface="Trenda IG Text"/>
              </a:rPr>
              <a:t>POD SKILLS</a:t>
            </a:r>
            <a:r>
              <a:rPr sz="700" b="0" i="0">
                <a:solidFill>
                  <a:srgbClr val="FFFFFF"/>
                </a:solidFill>
                <a:latin typeface="Trenda IG Text"/>
              </a:rPr>
              <a:t>   what changes per pod</a:t>
            </a:r>
          </a:p>
        </p:txBody>
      </p:sp>
      <p:sp>
        <p:nvSpPr>
          <p:cNvPr id="110" name="Shape 103"/>
          <p:cNvSpPr/>
          <p:nvPr/>
        </p:nvSpPr>
        <p:spPr>
          <a:xfrm>
            <a:off x="9006840" y="1444752"/>
            <a:ext cx="2770632" cy="3995928"/>
          </a:xfrm>
          <a:prstGeom prst="rect">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1" name="Picture 110" descr="salesforce.png"/>
          <p:cNvPicPr>
            <a:picLocks noChangeAspect="1"/>
          </p:cNvPicPr>
          <p:nvPr/>
        </p:nvPicPr>
        <p:blipFill>
          <a:blip r:embed="rId4"/>
          <a:stretch>
            <a:fillRect/>
          </a:stretch>
        </p:blipFill>
        <p:spPr>
          <a:xfrm>
            <a:off x="9116567" y="1563624"/>
            <a:ext cx="182880" cy="182880"/>
          </a:xfrm>
          <a:prstGeom prst="rect">
            <a:avLst/>
          </a:prstGeom>
        </p:spPr>
      </p:pic>
      <p:sp>
        <p:nvSpPr>
          <p:cNvPr id="112" name="Text 104"/>
          <p:cNvSpPr txBox="1"/>
          <p:nvPr/>
        </p:nvSpPr>
        <p:spPr>
          <a:xfrm>
            <a:off x="9363455" y="1554480"/>
            <a:ext cx="2551176" cy="201168"/>
          </a:xfrm>
          <a:prstGeom prst="rect">
            <a:avLst/>
          </a:prstGeom>
          <a:noFill/>
        </p:spPr>
        <p:txBody>
          <a:bodyPr wrap="square" lIns="0" rIns="0" tIns="0" bIns="0" anchor="ctr">
            <a:spAutoFit/>
          </a:bodyPr>
          <a:lstStyle/>
          <a:p>
            <a:r>
              <a:rPr sz="800" b="1" i="0">
                <a:solidFill>
                  <a:srgbClr val="FFFFFF"/>
                </a:solidFill>
                <a:latin typeface="Trenda IG Text"/>
              </a:rPr>
              <a:t>Health Cloud pods</a:t>
            </a:r>
          </a:p>
        </p:txBody>
      </p:sp>
      <p:sp>
        <p:nvSpPr>
          <p:cNvPr id="113" name="Text 105"/>
          <p:cNvSpPr txBox="1"/>
          <p:nvPr/>
        </p:nvSpPr>
        <p:spPr>
          <a:xfrm>
            <a:off x="9116567" y="1755648"/>
            <a:ext cx="2551176" cy="182880"/>
          </a:xfrm>
          <a:prstGeom prst="rect">
            <a:avLst/>
          </a:prstGeom>
          <a:noFill/>
        </p:spPr>
        <p:txBody>
          <a:bodyPr wrap="square" lIns="0" rIns="0" tIns="0" bIns="0" anchor="t">
            <a:spAutoFit/>
          </a:bodyPr>
          <a:lstStyle/>
          <a:p>
            <a:r>
              <a:rPr sz="600" b="0" i="0">
                <a:solidFill>
                  <a:srgbClr val="8C8C8C"/>
                </a:solidFill>
                <a:latin typeface="Trenda IG Text"/>
              </a:rPr>
              <a:t>Network Services, Clinical Transformation, Contact Center</a:t>
            </a:r>
          </a:p>
        </p:txBody>
      </p:sp>
      <p:sp>
        <p:nvSpPr>
          <p:cNvPr id="114" name="Text 106"/>
          <p:cNvSpPr txBox="1"/>
          <p:nvPr/>
        </p:nvSpPr>
        <p:spPr>
          <a:xfrm>
            <a:off x="9116567" y="1938528"/>
            <a:ext cx="2551176" cy="329184"/>
          </a:xfrm>
          <a:prstGeom prst="rect">
            <a:avLst/>
          </a:prstGeom>
          <a:noFill/>
        </p:spPr>
        <p:txBody>
          <a:bodyPr wrap="square" lIns="0" rIns="0" tIns="0" bIns="0" anchor="t">
            <a:spAutoFit/>
          </a:bodyPr>
          <a:lstStyle/>
          <a:p>
            <a:r>
              <a:rPr sz="660" b="0" i="0">
                <a:solidFill>
                  <a:srgbClr val="FFFFFF"/>
                </a:solidFill>
                <a:latin typeface="Trenda IG Text"/>
              </a:rPr>
              <a:t>Apex, Flows, LWC, sharing, Health Cloud objects</a:t>
            </a:r>
          </a:p>
        </p:txBody>
      </p:sp>
      <p:sp>
        <p:nvSpPr>
          <p:cNvPr id="115" name="Shape 107"/>
          <p:cNvSpPr/>
          <p:nvPr/>
        </p:nvSpPr>
        <p:spPr>
          <a:xfrm>
            <a:off x="9116567" y="2267712"/>
            <a:ext cx="937259" cy="164592"/>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08"/>
          <p:cNvSpPr txBox="1"/>
          <p:nvPr/>
        </p:nvSpPr>
        <p:spPr>
          <a:xfrm>
            <a:off x="9116567" y="2267712"/>
            <a:ext cx="937259" cy="164592"/>
          </a:xfrm>
          <a:prstGeom prst="rect">
            <a:avLst/>
          </a:prstGeom>
          <a:noFill/>
        </p:spPr>
        <p:txBody>
          <a:bodyPr wrap="square" lIns="0" rIns="0" tIns="0" bIns="0" anchor="ctr">
            <a:spAutoFit/>
          </a:bodyPr>
          <a:lstStyle/>
          <a:p>
            <a:pPr algn="ctr"/>
            <a:r>
              <a:rPr sz="560" b="1" i="0" spc="80">
                <a:solidFill>
                  <a:srgbClr val="00D6F2"/>
                </a:solidFill>
                <a:latin typeface="Trenda IG Text"/>
              </a:rPr>
              <a:t>DELIVERY AGENTS</a:t>
            </a:r>
          </a:p>
        </p:txBody>
      </p:sp>
      <p:pic>
        <p:nvPicPr>
          <p:cNvPr id="117" name="Picture 116" descr="salesforce.png"/>
          <p:cNvPicPr>
            <a:picLocks noChangeAspect="1"/>
          </p:cNvPicPr>
          <p:nvPr/>
        </p:nvPicPr>
        <p:blipFill>
          <a:blip r:embed="rId4"/>
          <a:stretch>
            <a:fillRect/>
          </a:stretch>
        </p:blipFill>
        <p:spPr>
          <a:xfrm>
            <a:off x="9116567" y="2587752"/>
            <a:ext cx="182880" cy="182880"/>
          </a:xfrm>
          <a:prstGeom prst="rect">
            <a:avLst/>
          </a:prstGeom>
        </p:spPr>
      </p:pic>
      <p:sp>
        <p:nvSpPr>
          <p:cNvPr id="118" name="Text 109"/>
          <p:cNvSpPr txBox="1"/>
          <p:nvPr/>
        </p:nvSpPr>
        <p:spPr>
          <a:xfrm>
            <a:off x="9363455" y="2578608"/>
            <a:ext cx="2551176" cy="201168"/>
          </a:xfrm>
          <a:prstGeom prst="rect">
            <a:avLst/>
          </a:prstGeom>
          <a:noFill/>
        </p:spPr>
        <p:txBody>
          <a:bodyPr wrap="square" lIns="0" rIns="0" tIns="0" bIns="0" anchor="ctr">
            <a:spAutoFit/>
          </a:bodyPr>
          <a:lstStyle/>
          <a:p>
            <a:r>
              <a:rPr sz="800" b="1" i="0">
                <a:solidFill>
                  <a:srgbClr val="FF0069"/>
                </a:solidFill>
                <a:latin typeface="Trenda IG Text"/>
              </a:rPr>
              <a:t>Marketing Cloud pods</a:t>
            </a:r>
          </a:p>
        </p:txBody>
      </p:sp>
      <p:sp>
        <p:nvSpPr>
          <p:cNvPr id="119" name="Text 110"/>
          <p:cNvSpPr txBox="1"/>
          <p:nvPr/>
        </p:nvSpPr>
        <p:spPr>
          <a:xfrm>
            <a:off x="9116567" y="2779776"/>
            <a:ext cx="2551176" cy="182880"/>
          </a:xfrm>
          <a:prstGeom prst="rect">
            <a:avLst/>
          </a:prstGeom>
          <a:noFill/>
        </p:spPr>
        <p:txBody>
          <a:bodyPr wrap="square" lIns="0" rIns="0" tIns="0" bIns="0" anchor="t">
            <a:spAutoFit/>
          </a:bodyPr>
          <a:lstStyle/>
          <a:p>
            <a:r>
              <a:rPr sz="600" b="0" i="0">
                <a:solidFill>
                  <a:srgbClr val="8C8C8C"/>
                </a:solidFill>
                <a:latin typeface="Trenda IG Text"/>
              </a:rPr>
              <a:t>Nudge / Demand, VBC outreach</a:t>
            </a:r>
          </a:p>
        </p:txBody>
      </p:sp>
      <p:sp>
        <p:nvSpPr>
          <p:cNvPr id="120" name="Text 111"/>
          <p:cNvSpPr txBox="1"/>
          <p:nvPr/>
        </p:nvSpPr>
        <p:spPr>
          <a:xfrm>
            <a:off x="9116567" y="2962656"/>
            <a:ext cx="2551176" cy="329184"/>
          </a:xfrm>
          <a:prstGeom prst="rect">
            <a:avLst/>
          </a:prstGeom>
          <a:noFill/>
        </p:spPr>
        <p:txBody>
          <a:bodyPr wrap="square" lIns="0" rIns="0" tIns="0" bIns="0" anchor="t">
            <a:spAutoFit/>
          </a:bodyPr>
          <a:lstStyle/>
          <a:p>
            <a:r>
              <a:rPr sz="660" b="0" i="0">
                <a:solidFill>
                  <a:srgbClr val="FFFFFF"/>
                </a:solidFill>
                <a:latin typeface="Trenda IG Text"/>
              </a:rPr>
              <a:t>Data Cloud, SFMC SQL, AMPscript, journeys</a:t>
            </a:r>
          </a:p>
        </p:txBody>
      </p:sp>
      <p:sp>
        <p:nvSpPr>
          <p:cNvPr id="121" name="Shape 112"/>
          <p:cNvSpPr/>
          <p:nvPr/>
        </p:nvSpPr>
        <p:spPr>
          <a:xfrm>
            <a:off x="9116567" y="3291840"/>
            <a:ext cx="1289304" cy="164592"/>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13"/>
          <p:cNvSpPr txBox="1"/>
          <p:nvPr/>
        </p:nvSpPr>
        <p:spPr>
          <a:xfrm>
            <a:off x="9116567" y="3291840"/>
            <a:ext cx="1289304" cy="164592"/>
          </a:xfrm>
          <a:prstGeom prst="rect">
            <a:avLst/>
          </a:prstGeom>
          <a:noFill/>
        </p:spPr>
        <p:txBody>
          <a:bodyPr wrap="square" lIns="0" rIns="0" tIns="0" bIns="0" anchor="ctr">
            <a:spAutoFit/>
          </a:bodyPr>
          <a:lstStyle/>
          <a:p>
            <a:pPr algn="ctr"/>
            <a:r>
              <a:rPr sz="560" b="1" i="0" spc="80">
                <a:solidFill>
                  <a:srgbClr val="FF0069"/>
                </a:solidFill>
                <a:latin typeface="Trenda IG Text"/>
              </a:rPr>
              <a:t>DELIVERY + DATA AGENTS</a:t>
            </a:r>
          </a:p>
        </p:txBody>
      </p:sp>
      <p:sp>
        <p:nvSpPr>
          <p:cNvPr id="123" name="Shape 114"/>
          <p:cNvSpPr/>
          <p:nvPr/>
        </p:nvSpPr>
        <p:spPr>
          <a:xfrm>
            <a:off x="10460736" y="3291840"/>
            <a:ext cx="585216" cy="164592"/>
          </a:xfrm>
          <a:prstGeom prst="roundRect">
            <a:avLst>
              <a:gd name="adj" fmla="val 50000"/>
            </a:avLst>
          </a:prstGeom>
          <a:no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5"/>
          <p:cNvSpPr txBox="1"/>
          <p:nvPr/>
        </p:nvSpPr>
        <p:spPr>
          <a:xfrm>
            <a:off x="10460736" y="3291840"/>
            <a:ext cx="585216" cy="164592"/>
          </a:xfrm>
          <a:prstGeom prst="rect">
            <a:avLst/>
          </a:prstGeom>
          <a:noFill/>
        </p:spPr>
        <p:txBody>
          <a:bodyPr wrap="square" lIns="0" rIns="0" tIns="0" bIns="0" anchor="ctr">
            <a:spAutoFit/>
          </a:bodyPr>
          <a:lstStyle/>
          <a:p>
            <a:pPr algn="ctr"/>
            <a:r>
              <a:rPr sz="560" b="1" i="0" spc="80">
                <a:solidFill>
                  <a:srgbClr val="FF0069"/>
                </a:solidFill>
                <a:latin typeface="Trenda IG Text"/>
              </a:rPr>
              <a:t>GCP DATA</a:t>
            </a:r>
          </a:p>
        </p:txBody>
      </p:sp>
      <p:sp>
        <p:nvSpPr>
          <p:cNvPr id="125" name="Text 116"/>
          <p:cNvSpPr txBox="1"/>
          <p:nvPr/>
        </p:nvSpPr>
        <p:spPr>
          <a:xfrm>
            <a:off x="9116567" y="3602736"/>
            <a:ext cx="2551176" cy="201168"/>
          </a:xfrm>
          <a:prstGeom prst="rect">
            <a:avLst/>
          </a:prstGeom>
          <a:noFill/>
        </p:spPr>
        <p:txBody>
          <a:bodyPr wrap="square" lIns="0" rIns="0" tIns="0" bIns="0" anchor="ctr">
            <a:spAutoFit/>
          </a:bodyPr>
          <a:lstStyle/>
          <a:p>
            <a:r>
              <a:rPr sz="800" b="1" i="0">
                <a:solidFill>
                  <a:srgbClr val="FFFFFF"/>
                </a:solidFill>
                <a:latin typeface="Trenda IG Text"/>
              </a:rPr>
              <a:t>QA, all pods</a:t>
            </a:r>
          </a:p>
        </p:txBody>
      </p:sp>
      <p:sp>
        <p:nvSpPr>
          <p:cNvPr id="126" name="Text 117"/>
          <p:cNvSpPr txBox="1"/>
          <p:nvPr/>
        </p:nvSpPr>
        <p:spPr>
          <a:xfrm>
            <a:off x="9116567" y="3803904"/>
            <a:ext cx="2551176" cy="182880"/>
          </a:xfrm>
          <a:prstGeom prst="rect">
            <a:avLst/>
          </a:prstGeom>
          <a:noFill/>
        </p:spPr>
        <p:txBody>
          <a:bodyPr wrap="square" lIns="0" rIns="0" tIns="0" bIns="0" anchor="t">
            <a:spAutoFit/>
          </a:bodyPr>
          <a:lstStyle/>
          <a:p>
            <a:r>
              <a:rPr sz="600" b="0" i="0">
                <a:solidFill>
                  <a:srgbClr val="8C8C8C"/>
                </a:solidFill>
                <a:latin typeface="Trenda IG Text"/>
              </a:rPr>
              <a:t>Every release</a:t>
            </a:r>
          </a:p>
        </p:txBody>
      </p:sp>
      <p:sp>
        <p:nvSpPr>
          <p:cNvPr id="127" name="Text 118"/>
          <p:cNvSpPr txBox="1"/>
          <p:nvPr/>
        </p:nvSpPr>
        <p:spPr>
          <a:xfrm>
            <a:off x="9116567" y="3986784"/>
            <a:ext cx="2551176" cy="329184"/>
          </a:xfrm>
          <a:prstGeom prst="rect">
            <a:avLst/>
          </a:prstGeom>
          <a:noFill/>
        </p:spPr>
        <p:txBody>
          <a:bodyPr wrap="square" lIns="0" rIns="0" tIns="0" bIns="0" anchor="t">
            <a:spAutoFit/>
          </a:bodyPr>
          <a:lstStyle/>
          <a:p>
            <a:r>
              <a:rPr sz="660" b="0" i="0">
                <a:solidFill>
                  <a:srgbClr val="FFFFFF"/>
                </a:solidFill>
                <a:latin typeface="Trenda IG Text"/>
              </a:rPr>
              <a:t>Zephyr test cases, Copado robotic and regression</a:t>
            </a:r>
          </a:p>
        </p:txBody>
      </p:sp>
      <p:sp>
        <p:nvSpPr>
          <p:cNvPr id="128" name="Shape 119"/>
          <p:cNvSpPr/>
          <p:nvPr/>
        </p:nvSpPr>
        <p:spPr>
          <a:xfrm>
            <a:off x="9098280" y="4873752"/>
            <a:ext cx="2587751" cy="457200"/>
          </a:xfrm>
          <a:prstGeom prst="roundRect">
            <a:avLst>
              <a:gd name="adj" fmla="val 10000"/>
            </a:avLst>
          </a:prstGeom>
          <a:solidFill>
            <a:srgbClr val="2B07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0"/>
          <p:cNvSpPr txBox="1"/>
          <p:nvPr/>
        </p:nvSpPr>
        <p:spPr>
          <a:xfrm>
            <a:off x="9189719" y="4873752"/>
            <a:ext cx="2404872" cy="457200"/>
          </a:xfrm>
          <a:prstGeom prst="rect">
            <a:avLst/>
          </a:prstGeom>
          <a:noFill/>
        </p:spPr>
        <p:txBody>
          <a:bodyPr wrap="square" lIns="0" rIns="0" tIns="0" bIns="0" anchor="ctr">
            <a:spAutoFit/>
          </a:bodyPr>
          <a:lstStyle/>
          <a:p>
            <a:r>
              <a:rPr sz="660" b="0" i="0">
                <a:solidFill>
                  <a:srgbClr val="FFFFFF"/>
                </a:solidFill>
                <a:latin typeface="Trenda IG Text"/>
              </a:rPr>
              <a:t>A new pod adds its sources and skills, not new agents.</a:t>
            </a:r>
          </a:p>
        </p:txBody>
      </p:sp>
      <p:sp>
        <p:nvSpPr>
          <p:cNvPr id="130" name="Text 121"/>
          <p:cNvSpPr txBox="1"/>
          <p:nvPr/>
        </p:nvSpPr>
        <p:spPr>
          <a:xfrm>
            <a:off x="411480" y="5559552"/>
            <a:ext cx="1188720" cy="292608"/>
          </a:xfrm>
          <a:prstGeom prst="rect">
            <a:avLst/>
          </a:prstGeom>
          <a:noFill/>
        </p:spPr>
        <p:txBody>
          <a:bodyPr wrap="square" lIns="0" rIns="0" tIns="0" bIns="0" anchor="ctr">
            <a:spAutoFit/>
          </a:bodyPr>
          <a:lstStyle/>
          <a:p>
            <a:r>
              <a:rPr sz="640" b="1" i="0" spc="120">
                <a:solidFill>
                  <a:srgbClr val="00D6F2"/>
                </a:solidFill>
                <a:latin typeface="Trenda IG Text"/>
              </a:rPr>
              <a:t>DELIVERY PATH</a:t>
            </a:r>
          </a:p>
        </p:txBody>
      </p:sp>
      <p:sp>
        <p:nvSpPr>
          <p:cNvPr id="131" name="Shape 122"/>
          <p:cNvSpPr/>
          <p:nvPr/>
        </p:nvSpPr>
        <p:spPr>
          <a:xfrm>
            <a:off x="1645920"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23"/>
          <p:cNvSpPr txBox="1"/>
          <p:nvPr/>
        </p:nvSpPr>
        <p:spPr>
          <a:xfrm>
            <a:off x="1645920"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AI build</a:t>
            </a:r>
          </a:p>
        </p:txBody>
      </p:sp>
      <p:cxnSp>
        <p:nvCxnSpPr>
          <p:cNvPr id="133" name="Arrow 124"/>
          <p:cNvCxnSpPr/>
          <p:nvPr/>
        </p:nvCxnSpPr>
        <p:spPr>
          <a:xfrm>
            <a:off x="2706624"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Shape 125"/>
          <p:cNvSpPr/>
          <p:nvPr/>
        </p:nvSpPr>
        <p:spPr>
          <a:xfrm>
            <a:off x="2779776"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26"/>
          <p:cNvSpPr txBox="1"/>
          <p:nvPr/>
        </p:nvSpPr>
        <p:spPr>
          <a:xfrm>
            <a:off x="2779776"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Copado</a:t>
            </a:r>
          </a:p>
        </p:txBody>
      </p:sp>
      <p:cxnSp>
        <p:nvCxnSpPr>
          <p:cNvPr id="136" name="Arrow 127"/>
          <p:cNvCxnSpPr/>
          <p:nvPr/>
        </p:nvCxnSpPr>
        <p:spPr>
          <a:xfrm>
            <a:off x="3840480"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7" name="Shape 128"/>
          <p:cNvSpPr/>
          <p:nvPr/>
        </p:nvSpPr>
        <p:spPr>
          <a:xfrm>
            <a:off x="3913632"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29"/>
          <p:cNvSpPr txBox="1"/>
          <p:nvPr/>
        </p:nvSpPr>
        <p:spPr>
          <a:xfrm>
            <a:off x="3913632"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Quality gates</a:t>
            </a:r>
          </a:p>
        </p:txBody>
      </p:sp>
      <p:cxnSp>
        <p:nvCxnSpPr>
          <p:cNvPr id="139" name="Arrow 130"/>
          <p:cNvCxnSpPr/>
          <p:nvPr/>
        </p:nvCxnSpPr>
        <p:spPr>
          <a:xfrm>
            <a:off x="4974336"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0" name="Shape 131"/>
          <p:cNvSpPr/>
          <p:nvPr/>
        </p:nvSpPr>
        <p:spPr>
          <a:xfrm>
            <a:off x="5047488"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32"/>
          <p:cNvSpPr txBox="1"/>
          <p:nvPr/>
        </p:nvSpPr>
        <p:spPr>
          <a:xfrm>
            <a:off x="5047488"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DEV</a:t>
            </a:r>
          </a:p>
        </p:txBody>
      </p:sp>
      <p:cxnSp>
        <p:nvCxnSpPr>
          <p:cNvPr id="142" name="Arrow 133"/>
          <p:cNvCxnSpPr/>
          <p:nvPr/>
        </p:nvCxnSpPr>
        <p:spPr>
          <a:xfrm>
            <a:off x="6108192"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Shape 134"/>
          <p:cNvSpPr/>
          <p:nvPr/>
        </p:nvSpPr>
        <p:spPr>
          <a:xfrm>
            <a:off x="6181344"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 135"/>
          <p:cNvSpPr txBox="1"/>
          <p:nvPr/>
        </p:nvSpPr>
        <p:spPr>
          <a:xfrm>
            <a:off x="6181344"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SIT</a:t>
            </a:r>
          </a:p>
        </p:txBody>
      </p:sp>
      <p:cxnSp>
        <p:nvCxnSpPr>
          <p:cNvPr id="145" name="Arrow 136"/>
          <p:cNvCxnSpPr/>
          <p:nvPr/>
        </p:nvCxnSpPr>
        <p:spPr>
          <a:xfrm>
            <a:off x="7242048"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6" name="Shape 137"/>
          <p:cNvSpPr/>
          <p:nvPr/>
        </p:nvSpPr>
        <p:spPr>
          <a:xfrm>
            <a:off x="7315200" y="5559552"/>
            <a:ext cx="1060704" cy="292608"/>
          </a:xfrm>
          <a:prstGeom prst="roundRect">
            <a:avLst>
              <a:gd name="adj" fmla="val 30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38"/>
          <p:cNvSpPr txBox="1"/>
          <p:nvPr/>
        </p:nvSpPr>
        <p:spPr>
          <a:xfrm>
            <a:off x="7315200" y="5559552"/>
            <a:ext cx="1060704" cy="292608"/>
          </a:xfrm>
          <a:prstGeom prst="rect">
            <a:avLst/>
          </a:prstGeom>
          <a:noFill/>
        </p:spPr>
        <p:txBody>
          <a:bodyPr wrap="square" lIns="0" rIns="0" tIns="0" bIns="0" anchor="ctr">
            <a:spAutoFit/>
          </a:bodyPr>
          <a:lstStyle/>
          <a:p>
            <a:pPr algn="ctr"/>
            <a:r>
              <a:rPr sz="660" b="1" i="0">
                <a:solidFill>
                  <a:srgbClr val="FFD700"/>
                </a:solidFill>
                <a:latin typeface="Trenda IG Text"/>
              </a:rPr>
              <a:t>UAT</a:t>
            </a:r>
          </a:p>
        </p:txBody>
      </p:sp>
      <p:cxnSp>
        <p:nvCxnSpPr>
          <p:cNvPr id="148" name="Arrow 139"/>
          <p:cNvCxnSpPr/>
          <p:nvPr/>
        </p:nvCxnSpPr>
        <p:spPr>
          <a:xfrm>
            <a:off x="8375904"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9" name="Shape 140"/>
          <p:cNvSpPr/>
          <p:nvPr/>
        </p:nvSpPr>
        <p:spPr>
          <a:xfrm>
            <a:off x="8449056" y="5559552"/>
            <a:ext cx="1060704" cy="292608"/>
          </a:xfrm>
          <a:prstGeom prst="roundRect">
            <a:avLst>
              <a:gd name="adj" fmla="val 30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41"/>
          <p:cNvSpPr txBox="1"/>
          <p:nvPr/>
        </p:nvSpPr>
        <p:spPr>
          <a:xfrm>
            <a:off x="8449056" y="5559552"/>
            <a:ext cx="1060704" cy="292608"/>
          </a:xfrm>
          <a:prstGeom prst="rect">
            <a:avLst/>
          </a:prstGeom>
          <a:noFill/>
        </p:spPr>
        <p:txBody>
          <a:bodyPr wrap="square" lIns="0" rIns="0" tIns="0" bIns="0" anchor="ctr">
            <a:spAutoFit/>
          </a:bodyPr>
          <a:lstStyle/>
          <a:p>
            <a:pPr algn="ctr"/>
            <a:r>
              <a:rPr sz="660" b="1" i="0">
                <a:solidFill>
                  <a:srgbClr val="FFD700"/>
                </a:solidFill>
                <a:latin typeface="Trenda IG Text"/>
              </a:rPr>
              <a:t>Human approval</a:t>
            </a:r>
          </a:p>
        </p:txBody>
      </p:sp>
      <p:cxnSp>
        <p:nvCxnSpPr>
          <p:cNvPr id="151" name="Arrow 142"/>
          <p:cNvCxnSpPr/>
          <p:nvPr/>
        </p:nvCxnSpPr>
        <p:spPr>
          <a:xfrm>
            <a:off x="9509760"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2" name="Shape 143"/>
          <p:cNvSpPr/>
          <p:nvPr/>
        </p:nvSpPr>
        <p:spPr>
          <a:xfrm>
            <a:off x="9582912" y="5559552"/>
            <a:ext cx="1060704" cy="292608"/>
          </a:xfrm>
          <a:prstGeom prst="roundRect">
            <a:avLst>
              <a:gd name="adj" fmla="val 30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4"/>
          <p:cNvSpPr txBox="1"/>
          <p:nvPr/>
        </p:nvSpPr>
        <p:spPr>
          <a:xfrm>
            <a:off x="9582912" y="5559552"/>
            <a:ext cx="1060704" cy="292608"/>
          </a:xfrm>
          <a:prstGeom prst="rect">
            <a:avLst/>
          </a:prstGeom>
          <a:noFill/>
        </p:spPr>
        <p:txBody>
          <a:bodyPr wrap="square" lIns="0" rIns="0" tIns="0" bIns="0" anchor="ctr">
            <a:spAutoFit/>
          </a:bodyPr>
          <a:lstStyle/>
          <a:p>
            <a:pPr algn="ctr"/>
            <a:r>
              <a:rPr sz="660" b="1" i="0">
                <a:solidFill>
                  <a:srgbClr val="FFD700"/>
                </a:solidFill>
                <a:latin typeface="Trenda IG Text"/>
              </a:rPr>
              <a:t>CAB</a:t>
            </a:r>
          </a:p>
        </p:txBody>
      </p:sp>
      <p:cxnSp>
        <p:nvCxnSpPr>
          <p:cNvPr id="154" name="Arrow 145"/>
          <p:cNvCxnSpPr/>
          <p:nvPr/>
        </p:nvCxnSpPr>
        <p:spPr>
          <a:xfrm>
            <a:off x="10643616"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46"/>
          <p:cNvSpPr/>
          <p:nvPr/>
        </p:nvSpPr>
        <p:spPr>
          <a:xfrm>
            <a:off x="10716768" y="5559552"/>
            <a:ext cx="1060704" cy="292608"/>
          </a:xfrm>
          <a:prstGeom prst="roundRect">
            <a:avLst>
              <a:gd name="adj" fmla="val 30000"/>
            </a:avLst>
          </a:prstGeom>
          <a:solidFill>
            <a:srgbClr val="141414"/>
          </a:solidFill>
          <a:ln w="1143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7"/>
          <p:cNvSpPr txBox="1"/>
          <p:nvPr/>
        </p:nvSpPr>
        <p:spPr>
          <a:xfrm>
            <a:off x="10716768" y="5559552"/>
            <a:ext cx="1060704" cy="292608"/>
          </a:xfrm>
          <a:prstGeom prst="rect">
            <a:avLst/>
          </a:prstGeom>
          <a:noFill/>
        </p:spPr>
        <p:txBody>
          <a:bodyPr wrap="square" lIns="0" rIns="0" tIns="0" bIns="0" anchor="ctr">
            <a:spAutoFit/>
          </a:bodyPr>
          <a:lstStyle/>
          <a:p>
            <a:pPr algn="ctr"/>
            <a:r>
              <a:rPr sz="660" b="0" i="0">
                <a:solidFill>
                  <a:srgbClr val="FFFFFF"/>
                </a:solidFill>
                <a:latin typeface="Trenda IG Text"/>
              </a:rPr>
              <a:t>PROD</a:t>
            </a:r>
          </a:p>
        </p:txBody>
      </p:sp>
      <p:sp>
        <p:nvSpPr>
          <p:cNvPr id="157" name="Text 148"/>
          <p:cNvSpPr txBox="1"/>
          <p:nvPr/>
        </p:nvSpPr>
        <p:spPr>
          <a:xfrm>
            <a:off x="411480" y="5925312"/>
            <a:ext cx="1188720" cy="292608"/>
          </a:xfrm>
          <a:prstGeom prst="rect">
            <a:avLst/>
          </a:prstGeom>
          <a:noFill/>
        </p:spPr>
        <p:txBody>
          <a:bodyPr wrap="square" lIns="0" rIns="0" tIns="0" bIns="0" anchor="ctr">
            <a:spAutoFit/>
          </a:bodyPr>
          <a:lstStyle/>
          <a:p>
            <a:r>
              <a:rPr sz="640" b="1" i="0" spc="120">
                <a:solidFill>
                  <a:srgbClr val="FF0069"/>
                </a:solidFill>
                <a:latin typeface="Trenda IG Text"/>
              </a:rPr>
              <a:t>CAMPAIGN PATH</a:t>
            </a:r>
          </a:p>
        </p:txBody>
      </p:sp>
      <p:sp>
        <p:nvSpPr>
          <p:cNvPr id="158" name="Shape 149"/>
          <p:cNvSpPr/>
          <p:nvPr/>
        </p:nvSpPr>
        <p:spPr>
          <a:xfrm>
            <a:off x="1645920" y="5925312"/>
            <a:ext cx="1627632" cy="292608"/>
          </a:xfrm>
          <a:prstGeom prst="roundRect">
            <a:avLst>
              <a:gd name="adj" fmla="val 30000"/>
            </a:avLst>
          </a:prstGeom>
          <a:solidFill>
            <a:srgbClr val="141414"/>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50"/>
          <p:cNvSpPr txBox="1"/>
          <p:nvPr/>
        </p:nvSpPr>
        <p:spPr>
          <a:xfrm>
            <a:off x="1645920" y="5925312"/>
            <a:ext cx="1627632" cy="292608"/>
          </a:xfrm>
          <a:prstGeom prst="rect">
            <a:avLst/>
          </a:prstGeom>
          <a:noFill/>
        </p:spPr>
        <p:txBody>
          <a:bodyPr wrap="square" lIns="0" rIns="0" tIns="0" bIns="0" anchor="ctr">
            <a:spAutoFit/>
          </a:bodyPr>
          <a:lstStyle/>
          <a:p>
            <a:pPr algn="ctr"/>
            <a:r>
              <a:rPr sz="660" b="0" i="0">
                <a:solidFill>
                  <a:srgbClr val="FFFFFF"/>
                </a:solidFill>
                <a:latin typeface="Trenda IG Text"/>
              </a:rPr>
              <a:t>Ask in Codex</a:t>
            </a:r>
          </a:p>
        </p:txBody>
      </p:sp>
      <p:cxnSp>
        <p:nvCxnSpPr>
          <p:cNvPr id="160" name="Arrow 151"/>
          <p:cNvCxnSpPr/>
          <p:nvPr/>
        </p:nvCxnSpPr>
        <p:spPr>
          <a:xfrm>
            <a:off x="3273552"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Shape 152"/>
          <p:cNvSpPr/>
          <p:nvPr/>
        </p:nvSpPr>
        <p:spPr>
          <a:xfrm>
            <a:off x="3346704" y="5925312"/>
            <a:ext cx="1627632" cy="292608"/>
          </a:xfrm>
          <a:prstGeom prst="roundRect">
            <a:avLst>
              <a:gd name="adj" fmla="val 30000"/>
            </a:avLst>
          </a:prstGeom>
          <a:solidFill>
            <a:srgbClr val="141414"/>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53"/>
          <p:cNvSpPr txBox="1"/>
          <p:nvPr/>
        </p:nvSpPr>
        <p:spPr>
          <a:xfrm>
            <a:off x="3346704" y="5925312"/>
            <a:ext cx="1627632" cy="292608"/>
          </a:xfrm>
          <a:prstGeom prst="rect">
            <a:avLst/>
          </a:prstGeom>
          <a:noFill/>
        </p:spPr>
        <p:txBody>
          <a:bodyPr wrap="square" lIns="0" rIns="0" tIns="0" bIns="0" anchor="ctr">
            <a:spAutoFit/>
          </a:bodyPr>
          <a:lstStyle/>
          <a:p>
            <a:pPr algn="ctr"/>
            <a:r>
              <a:rPr sz="660" b="0" i="0">
                <a:solidFill>
                  <a:srgbClr val="FFFFFF"/>
                </a:solidFill>
                <a:latin typeface="Trenda IG Text"/>
              </a:rPr>
              <a:t>Masked audience</a:t>
            </a:r>
          </a:p>
        </p:txBody>
      </p:sp>
      <p:cxnSp>
        <p:nvCxnSpPr>
          <p:cNvPr id="163" name="Arrow 154"/>
          <p:cNvCxnSpPr/>
          <p:nvPr/>
        </p:nvCxnSpPr>
        <p:spPr>
          <a:xfrm>
            <a:off x="4974336"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55"/>
          <p:cNvSpPr/>
          <p:nvPr/>
        </p:nvSpPr>
        <p:spPr>
          <a:xfrm>
            <a:off x="5047488" y="5925312"/>
            <a:ext cx="1627632" cy="292608"/>
          </a:xfrm>
          <a:prstGeom prst="roundRect">
            <a:avLst>
              <a:gd name="adj" fmla="val 30000"/>
            </a:avLst>
          </a:prstGeom>
          <a:solidFill>
            <a:srgbClr val="2B2508"/>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6"/>
          <p:cNvSpPr txBox="1"/>
          <p:nvPr/>
        </p:nvSpPr>
        <p:spPr>
          <a:xfrm>
            <a:off x="5047488" y="5925312"/>
            <a:ext cx="1627632" cy="292608"/>
          </a:xfrm>
          <a:prstGeom prst="rect">
            <a:avLst/>
          </a:prstGeom>
          <a:noFill/>
        </p:spPr>
        <p:txBody>
          <a:bodyPr wrap="square" lIns="0" rIns="0" tIns="0" bIns="0" anchor="ctr">
            <a:spAutoFit/>
          </a:bodyPr>
          <a:lstStyle/>
          <a:p>
            <a:pPr algn="ctr"/>
            <a:r>
              <a:rPr sz="660" b="1" i="0">
                <a:solidFill>
                  <a:srgbClr val="FFD700"/>
                </a:solidFill>
                <a:latin typeface="Trenda IG Text"/>
              </a:rPr>
              <a:t>Pre-send review</a:t>
            </a:r>
          </a:p>
        </p:txBody>
      </p:sp>
      <p:cxnSp>
        <p:nvCxnSpPr>
          <p:cNvPr id="166" name="Arrow 157"/>
          <p:cNvCxnSpPr/>
          <p:nvPr/>
        </p:nvCxnSpPr>
        <p:spPr>
          <a:xfrm>
            <a:off x="6675120"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58"/>
          <p:cNvSpPr/>
          <p:nvPr/>
        </p:nvSpPr>
        <p:spPr>
          <a:xfrm>
            <a:off x="6748272" y="5925312"/>
            <a:ext cx="1627632" cy="292608"/>
          </a:xfrm>
          <a:prstGeom prst="roundRect">
            <a:avLst>
              <a:gd name="adj" fmla="val 30000"/>
            </a:avLst>
          </a:prstGeom>
          <a:solidFill>
            <a:srgbClr val="141414"/>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9"/>
          <p:cNvSpPr txBox="1"/>
          <p:nvPr/>
        </p:nvSpPr>
        <p:spPr>
          <a:xfrm>
            <a:off x="6748272" y="5925312"/>
            <a:ext cx="1627632" cy="292608"/>
          </a:xfrm>
          <a:prstGeom prst="rect">
            <a:avLst/>
          </a:prstGeom>
          <a:noFill/>
        </p:spPr>
        <p:txBody>
          <a:bodyPr wrap="square" lIns="0" rIns="0" tIns="0" bIns="0" anchor="ctr">
            <a:spAutoFit/>
          </a:bodyPr>
          <a:lstStyle/>
          <a:p>
            <a:pPr algn="ctr"/>
            <a:r>
              <a:rPr sz="660" b="0" i="0">
                <a:solidFill>
                  <a:srgbClr val="FFFFFF"/>
                </a:solidFill>
                <a:latin typeface="Trenda IG Text"/>
              </a:rPr>
              <a:t>Release minimum fields</a:t>
            </a:r>
          </a:p>
        </p:txBody>
      </p:sp>
      <p:cxnSp>
        <p:nvCxnSpPr>
          <p:cNvPr id="169" name="Arrow 160"/>
          <p:cNvCxnSpPr/>
          <p:nvPr/>
        </p:nvCxnSpPr>
        <p:spPr>
          <a:xfrm>
            <a:off x="8375904"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Shape 161"/>
          <p:cNvSpPr/>
          <p:nvPr/>
        </p:nvSpPr>
        <p:spPr>
          <a:xfrm>
            <a:off x="8449056" y="5925312"/>
            <a:ext cx="1627632" cy="292608"/>
          </a:xfrm>
          <a:prstGeom prst="roundRect">
            <a:avLst>
              <a:gd name="adj" fmla="val 30000"/>
            </a:avLst>
          </a:prstGeom>
          <a:solidFill>
            <a:srgbClr val="141414"/>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 162"/>
          <p:cNvSpPr txBox="1"/>
          <p:nvPr/>
        </p:nvSpPr>
        <p:spPr>
          <a:xfrm>
            <a:off x="8449056" y="5925312"/>
            <a:ext cx="1627632" cy="292608"/>
          </a:xfrm>
          <a:prstGeom prst="rect">
            <a:avLst/>
          </a:prstGeom>
          <a:noFill/>
        </p:spPr>
        <p:txBody>
          <a:bodyPr wrap="square" lIns="0" rIns="0" tIns="0" bIns="0" anchor="ctr">
            <a:spAutoFit/>
          </a:bodyPr>
          <a:lstStyle/>
          <a:p>
            <a:pPr algn="ctr"/>
            <a:r>
              <a:rPr sz="660" b="0" i="0">
                <a:solidFill>
                  <a:srgbClr val="FFFFFF"/>
                </a:solidFill>
                <a:latin typeface="Trenda IG Text"/>
              </a:rPr>
              <a:t>SFMC pulls</a:t>
            </a:r>
          </a:p>
        </p:txBody>
      </p:sp>
      <p:cxnSp>
        <p:nvCxnSpPr>
          <p:cNvPr id="172" name="Arrow 163"/>
          <p:cNvCxnSpPr/>
          <p:nvPr/>
        </p:nvCxnSpPr>
        <p:spPr>
          <a:xfrm>
            <a:off x="10076688"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Shape 164"/>
          <p:cNvSpPr/>
          <p:nvPr/>
        </p:nvSpPr>
        <p:spPr>
          <a:xfrm>
            <a:off x="10149840" y="5925312"/>
            <a:ext cx="1627632" cy="292608"/>
          </a:xfrm>
          <a:prstGeom prst="roundRect">
            <a:avLst>
              <a:gd name="adj" fmla="val 30000"/>
            </a:avLst>
          </a:prstGeom>
          <a:solidFill>
            <a:srgbClr val="141414"/>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5"/>
          <p:cNvSpPr txBox="1"/>
          <p:nvPr/>
        </p:nvSpPr>
        <p:spPr>
          <a:xfrm>
            <a:off x="10149840" y="5925312"/>
            <a:ext cx="1627632" cy="292608"/>
          </a:xfrm>
          <a:prstGeom prst="rect">
            <a:avLst/>
          </a:prstGeom>
          <a:noFill/>
        </p:spPr>
        <p:txBody>
          <a:bodyPr wrap="square" lIns="0" rIns="0" tIns="0" bIns="0" anchor="ctr">
            <a:spAutoFit/>
          </a:bodyPr>
          <a:lstStyle/>
          <a:p>
            <a:pPr algn="ctr"/>
            <a:r>
              <a:rPr sz="660" b="0" i="0">
                <a:solidFill>
                  <a:srgbClr val="FFFFFF"/>
                </a:solidFill>
                <a:latin typeface="Trenda IG Text"/>
              </a:rPr>
              <a:t>Journey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PLATFORM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Agentic Harness platform, now with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Codex is the engine; the harness is everything around it. New: a masked data context, Collibra masking and a Privacy Guard, and a masked pre-send review.</a:t>
            </a:r>
          </a:p>
        </p:txBody>
      </p:sp>
      <p:sp>
        <p:nvSpPr>
          <p:cNvPr id="5" name="Shape 4"/>
          <p:cNvSpPr/>
          <p:nvPr/>
        </p:nvSpPr>
        <p:spPr>
          <a:xfrm>
            <a:off x="1463040" y="1161288"/>
            <a:ext cx="1531619" cy="32918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1463040" y="1161288"/>
            <a:ext cx="1531619" cy="329184"/>
          </a:xfrm>
          <a:prstGeom prst="rect">
            <a:avLst/>
          </a:prstGeom>
          <a:noFill/>
        </p:spPr>
        <p:txBody>
          <a:bodyPr wrap="square" lIns="0" rIns="0" tIns="0" bIns="0" anchor="ctr">
            <a:spAutoFit/>
          </a:bodyPr>
          <a:lstStyle/>
          <a:p>
            <a:pPr algn="ctr"/>
            <a:r>
              <a:rPr sz="850" b="0" i="0">
                <a:solidFill>
                  <a:srgbClr val="FFFFFF"/>
                </a:solidFill>
                <a:latin typeface="Trenda IG Text"/>
              </a:rPr>
              <a:t>7 delivery agents</a:t>
            </a:r>
          </a:p>
        </p:txBody>
      </p:sp>
      <p:sp>
        <p:nvSpPr>
          <p:cNvPr id="7" name="Shape 6"/>
          <p:cNvSpPr/>
          <p:nvPr/>
        </p:nvSpPr>
        <p:spPr>
          <a:xfrm>
            <a:off x="3131820" y="1161288"/>
            <a:ext cx="1257300" cy="329184"/>
          </a:xfrm>
          <a:prstGeom prst="roundRect">
            <a:avLst>
              <a:gd name="adj" fmla="val 50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3131820" y="1161288"/>
            <a:ext cx="1257300" cy="329184"/>
          </a:xfrm>
          <a:prstGeom prst="rect">
            <a:avLst/>
          </a:prstGeom>
          <a:noFill/>
        </p:spPr>
        <p:txBody>
          <a:bodyPr wrap="square" lIns="0" rIns="0" tIns="0" bIns="0" anchor="ctr">
            <a:spAutoFit/>
          </a:bodyPr>
          <a:lstStyle/>
          <a:p>
            <a:pPr algn="ctr"/>
            <a:r>
              <a:rPr sz="850" b="0" i="0">
                <a:solidFill>
                  <a:srgbClr val="FFFFFF"/>
                </a:solidFill>
                <a:latin typeface="Trenda IG Text"/>
              </a:rPr>
              <a:t>4 data agents</a:t>
            </a:r>
          </a:p>
        </p:txBody>
      </p:sp>
      <p:sp>
        <p:nvSpPr>
          <p:cNvPr id="9" name="Shape 8"/>
          <p:cNvSpPr/>
          <p:nvPr/>
        </p:nvSpPr>
        <p:spPr>
          <a:xfrm>
            <a:off x="4526279" y="1161288"/>
            <a:ext cx="1394460" cy="32918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4526279" y="1161288"/>
            <a:ext cx="1394460" cy="329184"/>
          </a:xfrm>
          <a:prstGeom prst="rect">
            <a:avLst/>
          </a:prstGeom>
          <a:noFill/>
        </p:spPr>
        <p:txBody>
          <a:bodyPr wrap="square" lIns="0" rIns="0" tIns="0" bIns="0" anchor="ctr">
            <a:spAutoFit/>
          </a:bodyPr>
          <a:lstStyle/>
          <a:p>
            <a:pPr algn="ctr"/>
            <a:r>
              <a:rPr sz="850" b="0" i="0">
                <a:solidFill>
                  <a:srgbClr val="FFFFFF"/>
                </a:solidFill>
                <a:latin typeface="Trenda IG Text"/>
              </a:rPr>
              <a:t>9-step workflow</a:t>
            </a:r>
          </a:p>
        </p:txBody>
      </p:sp>
      <p:sp>
        <p:nvSpPr>
          <p:cNvPr id="11" name="Shape 10"/>
          <p:cNvSpPr/>
          <p:nvPr/>
        </p:nvSpPr>
        <p:spPr>
          <a:xfrm>
            <a:off x="6057899" y="1161288"/>
            <a:ext cx="1188719" cy="329184"/>
          </a:xfrm>
          <a:prstGeom prst="roundRect">
            <a:avLst>
              <a:gd name="adj" fmla="val 50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057899" y="1161288"/>
            <a:ext cx="1188719" cy="329184"/>
          </a:xfrm>
          <a:prstGeom prst="rect">
            <a:avLst/>
          </a:prstGeom>
          <a:noFill/>
        </p:spPr>
        <p:txBody>
          <a:bodyPr wrap="square" lIns="0" rIns="0" tIns="0" bIns="0" anchor="ctr">
            <a:spAutoFit/>
          </a:bodyPr>
          <a:lstStyle/>
          <a:p>
            <a:pPr algn="ctr"/>
            <a:r>
              <a:rPr sz="850" b="0" i="0">
                <a:solidFill>
                  <a:srgbClr val="FFFFFF"/>
                </a:solidFill>
                <a:latin typeface="Trenda IG Text"/>
              </a:rPr>
              <a:t>Campaign run</a:t>
            </a:r>
          </a:p>
        </p:txBody>
      </p:sp>
      <p:sp>
        <p:nvSpPr>
          <p:cNvPr id="13" name="Shape 12"/>
          <p:cNvSpPr/>
          <p:nvPr/>
        </p:nvSpPr>
        <p:spPr>
          <a:xfrm>
            <a:off x="7383779" y="1161288"/>
            <a:ext cx="1394460" cy="32918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7383779" y="1161288"/>
            <a:ext cx="1394460" cy="329184"/>
          </a:xfrm>
          <a:prstGeom prst="rect">
            <a:avLst/>
          </a:prstGeom>
          <a:noFill/>
        </p:spPr>
        <p:txBody>
          <a:bodyPr wrap="square" lIns="0" rIns="0" tIns="0" bIns="0" anchor="ctr">
            <a:spAutoFit/>
          </a:bodyPr>
          <a:lstStyle/>
          <a:p>
            <a:pPr algn="ctr"/>
            <a:r>
              <a:rPr sz="850" b="0" i="0">
                <a:solidFill>
                  <a:srgbClr val="FFFFFF"/>
                </a:solidFill>
                <a:latin typeface="Trenda IG Text"/>
              </a:rPr>
              <a:t>Pod skill packs</a:t>
            </a:r>
          </a:p>
        </p:txBody>
      </p:sp>
      <p:sp>
        <p:nvSpPr>
          <p:cNvPr id="15" name="Shape 14"/>
          <p:cNvSpPr/>
          <p:nvPr/>
        </p:nvSpPr>
        <p:spPr>
          <a:xfrm>
            <a:off x="411480" y="1627632"/>
            <a:ext cx="8366760" cy="3639312"/>
          </a:xfrm>
          <a:prstGeom prst="roundRect">
            <a:avLst>
              <a:gd name="adj" fmla="val 3000"/>
            </a:avLst>
          </a:prstGeom>
          <a:noFill/>
          <a:ln w="12700">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5"/>
          <p:cNvSpPr/>
          <p:nvPr/>
        </p:nvSpPr>
        <p:spPr>
          <a:xfrm>
            <a:off x="548640" y="1755648"/>
            <a:ext cx="1691640" cy="3383280"/>
          </a:xfrm>
          <a:prstGeom prst="roundRect">
            <a:avLst>
              <a:gd name="adj" fmla="val 5000"/>
            </a:avLst>
          </a:prstGeom>
          <a:no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rness.png"/>
          <p:cNvPicPr>
            <a:picLocks noChangeAspect="1"/>
          </p:cNvPicPr>
          <p:nvPr/>
        </p:nvPicPr>
        <p:blipFill>
          <a:blip r:embed="rId2"/>
          <a:stretch>
            <a:fillRect/>
          </a:stretch>
        </p:blipFill>
        <p:spPr>
          <a:xfrm>
            <a:off x="658368" y="1865376"/>
            <a:ext cx="256032" cy="256032"/>
          </a:xfrm>
          <a:prstGeom prst="rect">
            <a:avLst/>
          </a:prstGeom>
        </p:spPr>
      </p:pic>
      <p:sp>
        <p:nvSpPr>
          <p:cNvPr id="18" name="Text 16"/>
          <p:cNvSpPr txBox="1"/>
          <p:nvPr/>
        </p:nvSpPr>
        <p:spPr>
          <a:xfrm>
            <a:off x="987552" y="1810512"/>
            <a:ext cx="1179576" cy="384048"/>
          </a:xfrm>
          <a:prstGeom prst="rect">
            <a:avLst/>
          </a:prstGeom>
          <a:noFill/>
        </p:spPr>
        <p:txBody>
          <a:bodyPr wrap="square" lIns="0" rIns="0" tIns="0" bIns="0" anchor="t">
            <a:spAutoFit/>
          </a:bodyPr>
          <a:lstStyle/>
          <a:p>
            <a:pPr>
              <a:lnSpc>
                <a:spcPct val="90000"/>
              </a:lnSpc>
            </a:pPr>
            <a:r>
              <a:rPr sz="1000" b="0" i="0">
                <a:solidFill>
                  <a:srgbClr val="FFFFFF"/>
                </a:solidFill>
                <a:latin typeface="Trenda IG Text"/>
              </a:rPr>
              <a:t>Harness</a:t>
            </a:r>
          </a:p>
          <a:p>
            <a:pPr>
              <a:lnSpc>
                <a:spcPct val="90000"/>
              </a:lnSpc>
            </a:pPr>
            <a:r>
              <a:rPr sz="1000" b="0" i="0">
                <a:solidFill>
                  <a:srgbClr val="FFFFFF"/>
                </a:solidFill>
                <a:latin typeface="Trenda IG Text"/>
              </a:rPr>
              <a:t>Surface</a:t>
            </a:r>
          </a:p>
        </p:txBody>
      </p:sp>
      <p:pic>
        <p:nvPicPr>
          <p:cNvPr id="19" name="Picture 18" descr="openai-white.png"/>
          <p:cNvPicPr>
            <a:picLocks noChangeAspect="1"/>
          </p:cNvPicPr>
          <p:nvPr/>
        </p:nvPicPr>
        <p:blipFill>
          <a:blip r:embed="rId3"/>
          <a:stretch>
            <a:fillRect/>
          </a:stretch>
        </p:blipFill>
        <p:spPr>
          <a:xfrm>
            <a:off x="658368" y="2322576"/>
            <a:ext cx="182880" cy="182880"/>
          </a:xfrm>
          <a:prstGeom prst="rect">
            <a:avLst/>
          </a:prstGeom>
        </p:spPr>
      </p:pic>
      <p:sp>
        <p:nvSpPr>
          <p:cNvPr id="20" name="Text 17"/>
          <p:cNvSpPr txBox="1"/>
          <p:nvPr/>
        </p:nvSpPr>
        <p:spPr>
          <a:xfrm>
            <a:off x="914400" y="2313432"/>
            <a:ext cx="1252728" cy="182880"/>
          </a:xfrm>
          <a:prstGeom prst="rect">
            <a:avLst/>
          </a:prstGeom>
          <a:noFill/>
        </p:spPr>
        <p:txBody>
          <a:bodyPr wrap="square" lIns="0" rIns="0" tIns="0" bIns="0" anchor="ctr">
            <a:spAutoFit/>
          </a:bodyPr>
          <a:lstStyle/>
          <a:p>
            <a:r>
              <a:rPr sz="800" b="1" i="0">
                <a:solidFill>
                  <a:srgbClr val="FFFFFF"/>
                </a:solidFill>
                <a:latin typeface="Trenda IG Text"/>
              </a:rPr>
              <a:t>Codex</a:t>
            </a:r>
          </a:p>
        </p:txBody>
      </p:sp>
      <p:sp>
        <p:nvSpPr>
          <p:cNvPr id="21" name="Text 18"/>
          <p:cNvSpPr txBox="1"/>
          <p:nvPr/>
        </p:nvSpPr>
        <p:spPr>
          <a:xfrm>
            <a:off x="914400" y="2496312"/>
            <a:ext cx="1252728" cy="274320"/>
          </a:xfrm>
          <a:prstGeom prst="rect">
            <a:avLst/>
          </a:prstGeom>
          <a:noFill/>
        </p:spPr>
        <p:txBody>
          <a:bodyPr wrap="square" lIns="0" rIns="0" tIns="0" bIns="0" anchor="t">
            <a:spAutoFit/>
          </a:bodyPr>
          <a:lstStyle/>
          <a:p>
            <a:r>
              <a:rPr sz="630" b="0" i="0">
                <a:solidFill>
                  <a:srgbClr val="BFBFBF"/>
                </a:solidFill>
                <a:latin typeface="Trenda IG Text"/>
              </a:rPr>
              <a:t>a Jira number, or a campaign ask</a:t>
            </a:r>
          </a:p>
        </p:txBody>
      </p:sp>
      <p:pic>
        <p:nvPicPr>
          <p:cNvPr id="22" name="Picture 21" descr="salesforce.png"/>
          <p:cNvPicPr>
            <a:picLocks noChangeAspect="1"/>
          </p:cNvPicPr>
          <p:nvPr/>
        </p:nvPicPr>
        <p:blipFill>
          <a:blip r:embed="rId4"/>
          <a:stretch>
            <a:fillRect/>
          </a:stretch>
        </p:blipFill>
        <p:spPr>
          <a:xfrm>
            <a:off x="658368" y="2871216"/>
            <a:ext cx="182880" cy="182880"/>
          </a:xfrm>
          <a:prstGeom prst="rect">
            <a:avLst/>
          </a:prstGeom>
        </p:spPr>
      </p:pic>
      <p:sp>
        <p:nvSpPr>
          <p:cNvPr id="23" name="Text 19"/>
          <p:cNvSpPr txBox="1"/>
          <p:nvPr/>
        </p:nvSpPr>
        <p:spPr>
          <a:xfrm>
            <a:off x="914400" y="2862072"/>
            <a:ext cx="1252728" cy="182880"/>
          </a:xfrm>
          <a:prstGeom prst="rect">
            <a:avLst/>
          </a:prstGeom>
          <a:noFill/>
        </p:spPr>
        <p:txBody>
          <a:bodyPr wrap="square" lIns="0" rIns="0" tIns="0" bIns="0" anchor="ctr">
            <a:spAutoFit/>
          </a:bodyPr>
          <a:lstStyle/>
          <a:p>
            <a:r>
              <a:rPr sz="800" b="1" i="0">
                <a:solidFill>
                  <a:srgbClr val="FFFFFF"/>
                </a:solidFill>
                <a:latin typeface="Trenda IG Text"/>
              </a:rPr>
              <a:t>Salesforce LWC</a:t>
            </a:r>
          </a:p>
        </p:txBody>
      </p:sp>
      <p:sp>
        <p:nvSpPr>
          <p:cNvPr id="24" name="Text 20"/>
          <p:cNvSpPr txBox="1"/>
          <p:nvPr/>
        </p:nvSpPr>
        <p:spPr>
          <a:xfrm>
            <a:off x="914400" y="3044952"/>
            <a:ext cx="1252728" cy="274320"/>
          </a:xfrm>
          <a:prstGeom prst="rect">
            <a:avLst/>
          </a:prstGeom>
          <a:noFill/>
        </p:spPr>
        <p:txBody>
          <a:bodyPr wrap="square" lIns="0" rIns="0" tIns="0" bIns="0" anchor="t">
            <a:spAutoFit/>
          </a:bodyPr>
          <a:lstStyle/>
          <a:p>
            <a:r>
              <a:rPr sz="630" b="0" i="0">
                <a:solidFill>
                  <a:srgbClr val="BFBFBF"/>
                </a:solidFill>
                <a:latin typeface="Trenda IG Text"/>
              </a:rPr>
              <a:t>the Agentic Harness console</a:t>
            </a:r>
          </a:p>
        </p:txBody>
      </p:sp>
      <p:pic>
        <p:nvPicPr>
          <p:cNvPr id="25" name="Picture 24" descr="people.png"/>
          <p:cNvPicPr>
            <a:picLocks noChangeAspect="1"/>
          </p:cNvPicPr>
          <p:nvPr/>
        </p:nvPicPr>
        <p:blipFill>
          <a:blip r:embed="rId5"/>
          <a:stretch>
            <a:fillRect/>
          </a:stretch>
        </p:blipFill>
        <p:spPr>
          <a:xfrm>
            <a:off x="658368" y="3419856"/>
            <a:ext cx="182880" cy="182880"/>
          </a:xfrm>
          <a:prstGeom prst="rect">
            <a:avLst/>
          </a:prstGeom>
        </p:spPr>
      </p:pic>
      <p:sp>
        <p:nvSpPr>
          <p:cNvPr id="26" name="Text 21"/>
          <p:cNvSpPr txBox="1"/>
          <p:nvPr/>
        </p:nvSpPr>
        <p:spPr>
          <a:xfrm>
            <a:off x="914400" y="3410712"/>
            <a:ext cx="1252728" cy="182880"/>
          </a:xfrm>
          <a:prstGeom prst="rect">
            <a:avLst/>
          </a:prstGeom>
          <a:noFill/>
        </p:spPr>
        <p:txBody>
          <a:bodyPr wrap="square" lIns="0" rIns="0" tIns="0" bIns="0" anchor="ctr">
            <a:spAutoFit/>
          </a:bodyPr>
          <a:lstStyle/>
          <a:p>
            <a:r>
              <a:rPr sz="800" b="1" i="0">
                <a:solidFill>
                  <a:srgbClr val="FFFFFF"/>
                </a:solidFill>
                <a:latin typeface="Trenda IG Text"/>
              </a:rPr>
              <a:t>Approval page</a:t>
            </a:r>
          </a:p>
        </p:txBody>
      </p:sp>
      <p:sp>
        <p:nvSpPr>
          <p:cNvPr id="27" name="Text 22"/>
          <p:cNvSpPr txBox="1"/>
          <p:nvPr/>
        </p:nvSpPr>
        <p:spPr>
          <a:xfrm>
            <a:off x="914400" y="3593592"/>
            <a:ext cx="1252728" cy="274320"/>
          </a:xfrm>
          <a:prstGeom prst="rect">
            <a:avLst/>
          </a:prstGeom>
          <a:noFill/>
        </p:spPr>
        <p:txBody>
          <a:bodyPr wrap="square" lIns="0" rIns="0" tIns="0" bIns="0" anchor="t">
            <a:spAutoFit/>
          </a:bodyPr>
          <a:lstStyle/>
          <a:p>
            <a:r>
              <a:rPr sz="630" b="0" i="0">
                <a:solidFill>
                  <a:srgbClr val="BFBFBF"/>
                </a:solidFill>
                <a:latin typeface="Trenda IG Text"/>
              </a:rPr>
              <a:t>SSO · H1-H4 · G1-G3</a:t>
            </a:r>
          </a:p>
        </p:txBody>
      </p:sp>
      <p:pic>
        <p:nvPicPr>
          <p:cNvPr id="28" name="Picture 27" descr="looker.png"/>
          <p:cNvPicPr>
            <a:picLocks noChangeAspect="1"/>
          </p:cNvPicPr>
          <p:nvPr/>
        </p:nvPicPr>
        <p:blipFill>
          <a:blip r:embed="rId6"/>
          <a:stretch>
            <a:fillRect/>
          </a:stretch>
        </p:blipFill>
        <p:spPr>
          <a:xfrm>
            <a:off x="658368" y="3968496"/>
            <a:ext cx="182880" cy="182880"/>
          </a:xfrm>
          <a:prstGeom prst="rect">
            <a:avLst/>
          </a:prstGeom>
        </p:spPr>
      </p:pic>
      <p:sp>
        <p:nvSpPr>
          <p:cNvPr id="29" name="Text 23"/>
          <p:cNvSpPr txBox="1"/>
          <p:nvPr/>
        </p:nvSpPr>
        <p:spPr>
          <a:xfrm>
            <a:off x="914400" y="3959352"/>
            <a:ext cx="1252728" cy="182880"/>
          </a:xfrm>
          <a:prstGeom prst="rect">
            <a:avLst/>
          </a:prstGeom>
          <a:noFill/>
        </p:spPr>
        <p:txBody>
          <a:bodyPr wrap="square" lIns="0" rIns="0" tIns="0" bIns="0" anchor="ctr">
            <a:spAutoFit/>
          </a:bodyPr>
          <a:lstStyle/>
          <a:p>
            <a:r>
              <a:rPr sz="800" b="1" i="0">
                <a:solidFill>
                  <a:srgbClr val="FFFFFF"/>
                </a:solidFill>
                <a:latin typeface="Trenda IG Text"/>
              </a:rPr>
              <a:t>Looker review</a:t>
            </a:r>
          </a:p>
        </p:txBody>
      </p:sp>
      <p:sp>
        <p:nvSpPr>
          <p:cNvPr id="30" name="Text 24"/>
          <p:cNvSpPr txBox="1"/>
          <p:nvPr/>
        </p:nvSpPr>
        <p:spPr>
          <a:xfrm>
            <a:off x="914400" y="4142232"/>
            <a:ext cx="1252728" cy="274320"/>
          </a:xfrm>
          <a:prstGeom prst="rect">
            <a:avLst/>
          </a:prstGeom>
          <a:noFill/>
        </p:spPr>
        <p:txBody>
          <a:bodyPr wrap="square" lIns="0" rIns="0" tIns="0" bIns="0" anchor="t">
            <a:spAutoFit/>
          </a:bodyPr>
          <a:lstStyle/>
          <a:p>
            <a:r>
              <a:rPr sz="630" b="0" i="0">
                <a:solidFill>
                  <a:srgbClr val="BFBFBF"/>
                </a:solidFill>
                <a:latin typeface="Trenda IG Text"/>
              </a:rPr>
              <a:t>the masked pre-send report</a:t>
            </a:r>
          </a:p>
        </p:txBody>
      </p:sp>
      <p:sp>
        <p:nvSpPr>
          <p:cNvPr id="31" name="Shape 25"/>
          <p:cNvSpPr/>
          <p:nvPr/>
        </p:nvSpPr>
        <p:spPr>
          <a:xfrm>
            <a:off x="1819656" y="3986784"/>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6"/>
          <p:cNvSpPr txBox="1"/>
          <p:nvPr/>
        </p:nvSpPr>
        <p:spPr>
          <a:xfrm>
            <a:off x="1819656" y="3986784"/>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pic>
        <p:nvPicPr>
          <p:cNvPr id="33" name="Picture 32" descr="jira.png"/>
          <p:cNvPicPr>
            <a:picLocks noChangeAspect="1"/>
          </p:cNvPicPr>
          <p:nvPr/>
        </p:nvPicPr>
        <p:blipFill>
          <a:blip r:embed="rId7"/>
          <a:stretch>
            <a:fillRect/>
          </a:stretch>
        </p:blipFill>
        <p:spPr>
          <a:xfrm>
            <a:off x="658368" y="4517136"/>
            <a:ext cx="182880" cy="182880"/>
          </a:xfrm>
          <a:prstGeom prst="rect">
            <a:avLst/>
          </a:prstGeom>
        </p:spPr>
      </p:pic>
      <p:sp>
        <p:nvSpPr>
          <p:cNvPr id="34" name="Text 27"/>
          <p:cNvSpPr txBox="1"/>
          <p:nvPr/>
        </p:nvSpPr>
        <p:spPr>
          <a:xfrm>
            <a:off x="914400" y="4507992"/>
            <a:ext cx="1252728" cy="182880"/>
          </a:xfrm>
          <a:prstGeom prst="rect">
            <a:avLst/>
          </a:prstGeom>
          <a:noFill/>
        </p:spPr>
        <p:txBody>
          <a:bodyPr wrap="square" lIns="0" rIns="0" tIns="0" bIns="0" anchor="ctr">
            <a:spAutoFit/>
          </a:bodyPr>
          <a:lstStyle/>
          <a:p>
            <a:r>
              <a:rPr sz="800" b="1" i="0">
                <a:solidFill>
                  <a:srgbClr val="FFFFFF"/>
                </a:solidFill>
                <a:latin typeface="Trenda IG Text"/>
              </a:rPr>
              <a:t>Jira</a:t>
            </a:r>
          </a:p>
        </p:txBody>
      </p:sp>
      <p:sp>
        <p:nvSpPr>
          <p:cNvPr id="35" name="Text 28"/>
          <p:cNvSpPr txBox="1"/>
          <p:nvPr/>
        </p:nvSpPr>
        <p:spPr>
          <a:xfrm>
            <a:off x="914400" y="4690872"/>
            <a:ext cx="1252728" cy="274320"/>
          </a:xfrm>
          <a:prstGeom prst="rect">
            <a:avLst/>
          </a:prstGeom>
          <a:noFill/>
        </p:spPr>
        <p:txBody>
          <a:bodyPr wrap="square" lIns="0" rIns="0" tIns="0" bIns="0" anchor="t">
            <a:spAutoFit/>
          </a:bodyPr>
          <a:lstStyle/>
          <a:p>
            <a:r>
              <a:rPr sz="630" b="0" i="0">
                <a:solidFill>
                  <a:srgbClr val="BFBFBF"/>
                </a:solidFill>
                <a:latin typeface="Trenda IG Text"/>
              </a:rPr>
              <a:t>status of every step</a:t>
            </a:r>
          </a:p>
        </p:txBody>
      </p:sp>
      <p:sp>
        <p:nvSpPr>
          <p:cNvPr id="36" name="Shape 29"/>
          <p:cNvSpPr/>
          <p:nvPr/>
        </p:nvSpPr>
        <p:spPr>
          <a:xfrm>
            <a:off x="2377440" y="1755648"/>
            <a:ext cx="3886200" cy="822960"/>
          </a:xfrm>
          <a:prstGeom prst="roundRect">
            <a:avLst>
              <a:gd name="adj" fmla="val 5000"/>
            </a:avLst>
          </a:prstGeom>
          <a:no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0"/>
          <p:cNvSpPr txBox="1"/>
          <p:nvPr/>
        </p:nvSpPr>
        <p:spPr>
          <a:xfrm>
            <a:off x="2487168" y="1810512"/>
            <a:ext cx="1188720" cy="237744"/>
          </a:xfrm>
          <a:prstGeom prst="rect">
            <a:avLst/>
          </a:prstGeom>
          <a:noFill/>
        </p:spPr>
        <p:txBody>
          <a:bodyPr wrap="square" lIns="0" rIns="0" tIns="0" bIns="0" anchor="ctr">
            <a:spAutoFit/>
          </a:bodyPr>
          <a:lstStyle/>
          <a:p>
            <a:r>
              <a:rPr sz="1000" b="1" i="0">
                <a:solidFill>
                  <a:srgbClr val="FFFFFF"/>
                </a:solidFill>
                <a:latin typeface="Trenda IG Text"/>
              </a:rPr>
              <a:t>Runtime</a:t>
            </a:r>
          </a:p>
        </p:txBody>
      </p:sp>
      <p:sp>
        <p:nvSpPr>
          <p:cNvPr id="38" name="Text 31"/>
          <p:cNvSpPr txBox="1"/>
          <p:nvPr/>
        </p:nvSpPr>
        <p:spPr>
          <a:xfrm>
            <a:off x="2487168" y="2048255"/>
            <a:ext cx="1097280" cy="457200"/>
          </a:xfrm>
          <a:prstGeom prst="rect">
            <a:avLst/>
          </a:prstGeom>
          <a:noFill/>
        </p:spPr>
        <p:txBody>
          <a:bodyPr wrap="square" lIns="0" rIns="0" tIns="0" bIns="0" anchor="t">
            <a:spAutoFit/>
          </a:bodyPr>
          <a:lstStyle/>
          <a:p>
            <a:r>
              <a:rPr sz="600" b="0" i="0">
                <a:solidFill>
                  <a:srgbClr val="8C8C8C"/>
                </a:solidFill>
                <a:latin typeface="Trenda IG Text"/>
              </a:rPr>
              <a:t>Runs every story or campaign as a durable workflow.</a:t>
            </a:r>
          </a:p>
        </p:txBody>
      </p:sp>
      <p:sp>
        <p:nvSpPr>
          <p:cNvPr id="39" name="Text 32"/>
          <p:cNvSpPr txBox="1"/>
          <p:nvPr/>
        </p:nvSpPr>
        <p:spPr>
          <a:xfrm>
            <a:off x="365760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Orchestration</a:t>
            </a:r>
          </a:p>
        </p:txBody>
      </p:sp>
      <p:sp>
        <p:nvSpPr>
          <p:cNvPr id="40" name="Text 33"/>
          <p:cNvSpPr txBox="1"/>
          <p:nvPr/>
        </p:nvSpPr>
        <p:spPr>
          <a:xfrm>
            <a:off x="3657600" y="2029967"/>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Cloud Workflows</a:t>
            </a:r>
          </a:p>
        </p:txBody>
      </p:sp>
      <p:sp>
        <p:nvSpPr>
          <p:cNvPr id="41" name="Text 34"/>
          <p:cNvSpPr txBox="1"/>
          <p:nvPr/>
        </p:nvSpPr>
        <p:spPr>
          <a:xfrm>
            <a:off x="448056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Dispatcher</a:t>
            </a:r>
          </a:p>
        </p:txBody>
      </p:sp>
      <p:sp>
        <p:nvSpPr>
          <p:cNvPr id="42" name="Text 35"/>
          <p:cNvSpPr txBox="1"/>
          <p:nvPr/>
        </p:nvSpPr>
        <p:spPr>
          <a:xfrm>
            <a:off x="4480560" y="2029967"/>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one agent task per step</a:t>
            </a:r>
          </a:p>
        </p:txBody>
      </p:sp>
      <p:sp>
        <p:nvSpPr>
          <p:cNvPr id="43" name="Text 36"/>
          <p:cNvSpPr txBox="1"/>
          <p:nvPr/>
        </p:nvSpPr>
        <p:spPr>
          <a:xfrm>
            <a:off x="5303520" y="1828800"/>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State + memory</a:t>
            </a:r>
          </a:p>
        </p:txBody>
      </p:sp>
      <p:sp>
        <p:nvSpPr>
          <p:cNvPr id="44" name="Text 37"/>
          <p:cNvSpPr txBox="1"/>
          <p:nvPr/>
        </p:nvSpPr>
        <p:spPr>
          <a:xfrm>
            <a:off x="5303520" y="2029967"/>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Firestore checkpoints</a:t>
            </a:r>
          </a:p>
        </p:txBody>
      </p:sp>
      <p:sp>
        <p:nvSpPr>
          <p:cNvPr id="45" name="Shape 38"/>
          <p:cNvSpPr/>
          <p:nvPr/>
        </p:nvSpPr>
        <p:spPr>
          <a:xfrm>
            <a:off x="2377440" y="2651760"/>
            <a:ext cx="3886200" cy="868680"/>
          </a:xfrm>
          <a:prstGeom prst="roundRect">
            <a:avLst>
              <a:gd name="adj" fmla="val 5000"/>
            </a:avLst>
          </a:prstGeom>
          <a:no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39"/>
          <p:cNvSpPr txBox="1"/>
          <p:nvPr/>
        </p:nvSpPr>
        <p:spPr>
          <a:xfrm>
            <a:off x="2487168" y="2706624"/>
            <a:ext cx="1188720" cy="237744"/>
          </a:xfrm>
          <a:prstGeom prst="rect">
            <a:avLst/>
          </a:prstGeom>
          <a:noFill/>
        </p:spPr>
        <p:txBody>
          <a:bodyPr wrap="square" lIns="0" rIns="0" tIns="0" bIns="0" anchor="ctr">
            <a:spAutoFit/>
          </a:bodyPr>
          <a:lstStyle/>
          <a:p>
            <a:r>
              <a:rPr sz="1000" b="1" i="0">
                <a:solidFill>
                  <a:srgbClr val="FFFFFF"/>
                </a:solidFill>
                <a:latin typeface="Trenda IG Text"/>
              </a:rPr>
              <a:t>Registry</a:t>
            </a:r>
          </a:p>
        </p:txBody>
      </p:sp>
      <p:sp>
        <p:nvSpPr>
          <p:cNvPr id="47" name="Text 40"/>
          <p:cNvSpPr txBox="1"/>
          <p:nvPr/>
        </p:nvSpPr>
        <p:spPr>
          <a:xfrm>
            <a:off x="2487168" y="2944368"/>
            <a:ext cx="1097280" cy="457200"/>
          </a:xfrm>
          <a:prstGeom prst="rect">
            <a:avLst/>
          </a:prstGeom>
          <a:noFill/>
        </p:spPr>
        <p:txBody>
          <a:bodyPr wrap="square" lIns="0" rIns="0" tIns="0" bIns="0" anchor="t">
            <a:spAutoFit/>
          </a:bodyPr>
          <a:lstStyle/>
          <a:p>
            <a:r>
              <a:rPr sz="600" b="0" i="0">
                <a:solidFill>
                  <a:srgbClr val="8C8C8C"/>
                </a:solidFill>
                <a:latin typeface="Trenda IG Text"/>
              </a:rPr>
              <a:t>What agents may use.</a:t>
            </a:r>
          </a:p>
        </p:txBody>
      </p:sp>
      <p:sp>
        <p:nvSpPr>
          <p:cNvPr id="48" name="Text 41"/>
          <p:cNvSpPr txBox="1"/>
          <p:nvPr/>
        </p:nvSpPr>
        <p:spPr>
          <a:xfrm>
            <a:off x="365760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Tools</a:t>
            </a:r>
          </a:p>
        </p:txBody>
      </p:sp>
      <p:sp>
        <p:nvSpPr>
          <p:cNvPr id="49" name="Text 42"/>
          <p:cNvSpPr txBox="1"/>
          <p:nvPr/>
        </p:nvSpPr>
        <p:spPr>
          <a:xfrm>
            <a:off x="3657600" y="2926080"/>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MCP gateway tools</a:t>
            </a:r>
          </a:p>
        </p:txBody>
      </p:sp>
      <p:sp>
        <p:nvSpPr>
          <p:cNvPr id="50" name="Text 43"/>
          <p:cNvSpPr txBox="1"/>
          <p:nvPr/>
        </p:nvSpPr>
        <p:spPr>
          <a:xfrm>
            <a:off x="448056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Skills</a:t>
            </a:r>
          </a:p>
        </p:txBody>
      </p:sp>
      <p:sp>
        <p:nvSpPr>
          <p:cNvPr id="51" name="Text 44"/>
          <p:cNvSpPr txBox="1"/>
          <p:nvPr/>
        </p:nvSpPr>
        <p:spPr>
          <a:xfrm>
            <a:off x="4480560" y="2926080"/>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Health, Marketing, QA, campaign</a:t>
            </a:r>
          </a:p>
        </p:txBody>
      </p:sp>
      <p:sp>
        <p:nvSpPr>
          <p:cNvPr id="52" name="Shape 45"/>
          <p:cNvSpPr/>
          <p:nvPr/>
        </p:nvSpPr>
        <p:spPr>
          <a:xfrm>
            <a:off x="4704588" y="3319272"/>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46"/>
          <p:cNvSpPr txBox="1"/>
          <p:nvPr/>
        </p:nvSpPr>
        <p:spPr>
          <a:xfrm>
            <a:off x="4704588" y="3319272"/>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sp>
        <p:nvSpPr>
          <p:cNvPr id="54" name="Text 47"/>
          <p:cNvSpPr txBox="1"/>
          <p:nvPr/>
        </p:nvSpPr>
        <p:spPr>
          <a:xfrm>
            <a:off x="5303520" y="2724912"/>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Templates</a:t>
            </a:r>
          </a:p>
        </p:txBody>
      </p:sp>
      <p:sp>
        <p:nvSpPr>
          <p:cNvPr id="55" name="Text 48"/>
          <p:cNvSpPr txBox="1"/>
          <p:nvPr/>
        </p:nvSpPr>
        <p:spPr>
          <a:xfrm>
            <a:off x="5303520" y="2926080"/>
            <a:ext cx="777239" cy="365760"/>
          </a:xfrm>
          <a:prstGeom prst="rect">
            <a:avLst/>
          </a:prstGeom>
          <a:noFill/>
        </p:spPr>
        <p:txBody>
          <a:bodyPr wrap="square" lIns="0" rIns="0" tIns="0" bIns="0" anchor="t">
            <a:spAutoFit/>
          </a:bodyPr>
          <a:lstStyle/>
          <a:p>
            <a:pPr algn="ctr"/>
            <a:r>
              <a:rPr sz="600" b="0" i="0">
                <a:solidFill>
                  <a:srgbClr val="BFBFBF"/>
                </a:solidFill>
                <a:latin typeface="Trenda IG Text"/>
              </a:rPr>
              <a:t>briefs, designs, journeys</a:t>
            </a:r>
          </a:p>
        </p:txBody>
      </p:sp>
      <p:sp>
        <p:nvSpPr>
          <p:cNvPr id="56" name="Shape 49"/>
          <p:cNvSpPr/>
          <p:nvPr/>
        </p:nvSpPr>
        <p:spPr>
          <a:xfrm>
            <a:off x="5527548" y="3319272"/>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0"/>
          <p:cNvSpPr txBox="1"/>
          <p:nvPr/>
        </p:nvSpPr>
        <p:spPr>
          <a:xfrm>
            <a:off x="5527548" y="3319272"/>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sp>
        <p:nvSpPr>
          <p:cNvPr id="58" name="Shape 51"/>
          <p:cNvSpPr/>
          <p:nvPr/>
        </p:nvSpPr>
        <p:spPr>
          <a:xfrm>
            <a:off x="2377440" y="3593591"/>
            <a:ext cx="3886200" cy="1545336"/>
          </a:xfrm>
          <a:prstGeom prst="roundRect">
            <a:avLst>
              <a:gd name="adj" fmla="val 5000"/>
            </a:avLst>
          </a:prstGeom>
          <a:no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2487168" y="3648456"/>
            <a:ext cx="1188720" cy="237744"/>
          </a:xfrm>
          <a:prstGeom prst="rect">
            <a:avLst/>
          </a:prstGeom>
          <a:noFill/>
        </p:spPr>
        <p:txBody>
          <a:bodyPr wrap="square" lIns="0" rIns="0" tIns="0" bIns="0" anchor="ctr">
            <a:spAutoFit/>
          </a:bodyPr>
          <a:lstStyle/>
          <a:p>
            <a:r>
              <a:rPr sz="1000" b="1" i="0">
                <a:solidFill>
                  <a:srgbClr val="FFFFFF"/>
                </a:solidFill>
                <a:latin typeface="Trenda IG Text"/>
              </a:rPr>
              <a:t>Context</a:t>
            </a:r>
          </a:p>
        </p:txBody>
      </p:sp>
      <p:sp>
        <p:nvSpPr>
          <p:cNvPr id="60" name="Text 53"/>
          <p:cNvSpPr txBox="1"/>
          <p:nvPr/>
        </p:nvSpPr>
        <p:spPr>
          <a:xfrm>
            <a:off x="2487168" y="3886200"/>
            <a:ext cx="1097280" cy="457200"/>
          </a:xfrm>
          <a:prstGeom prst="rect">
            <a:avLst/>
          </a:prstGeom>
          <a:noFill/>
        </p:spPr>
        <p:txBody>
          <a:bodyPr wrap="square" lIns="0" rIns="0" tIns="0" bIns="0" anchor="t">
            <a:spAutoFit/>
          </a:bodyPr>
          <a:lstStyle/>
          <a:p>
            <a:r>
              <a:rPr sz="600" b="0" i="0">
                <a:solidFill>
                  <a:srgbClr val="8C8C8C"/>
                </a:solidFill>
                <a:latin typeface="Trenda IG Text"/>
              </a:rPr>
              <a:t>What agents know, always cited.</a:t>
            </a:r>
          </a:p>
        </p:txBody>
      </p:sp>
      <p:sp>
        <p:nvSpPr>
          <p:cNvPr id="61" name="Text 54"/>
          <p:cNvSpPr txBox="1"/>
          <p:nvPr/>
        </p:nvSpPr>
        <p:spPr>
          <a:xfrm>
            <a:off x="3657600" y="3666744"/>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Knowledge graph</a:t>
            </a:r>
          </a:p>
        </p:txBody>
      </p:sp>
      <p:sp>
        <p:nvSpPr>
          <p:cNvPr id="62" name="Text 55"/>
          <p:cNvSpPr txBox="1"/>
          <p:nvPr/>
        </p:nvSpPr>
        <p:spPr>
          <a:xfrm>
            <a:off x="3657600" y="3867911"/>
            <a:ext cx="777239" cy="329184"/>
          </a:xfrm>
          <a:prstGeom prst="rect">
            <a:avLst/>
          </a:prstGeom>
          <a:noFill/>
        </p:spPr>
        <p:txBody>
          <a:bodyPr wrap="square" lIns="0" rIns="0" tIns="0" bIns="0" anchor="t">
            <a:spAutoFit/>
          </a:bodyPr>
          <a:lstStyle/>
          <a:p>
            <a:pPr algn="ctr"/>
            <a:r>
              <a:rPr sz="600" b="0" i="0">
                <a:solidFill>
                  <a:srgbClr val="BFBFBF"/>
                </a:solidFill>
                <a:latin typeface="Trenda IG Text"/>
              </a:rPr>
              <a:t>Spanner Graph, GQL</a:t>
            </a:r>
          </a:p>
        </p:txBody>
      </p:sp>
      <p:sp>
        <p:nvSpPr>
          <p:cNvPr id="63" name="Text 56"/>
          <p:cNvSpPr txBox="1"/>
          <p:nvPr/>
        </p:nvSpPr>
        <p:spPr>
          <a:xfrm>
            <a:off x="4480560" y="3666744"/>
            <a:ext cx="777239" cy="182880"/>
          </a:xfrm>
          <a:prstGeom prst="rect">
            <a:avLst/>
          </a:prstGeom>
          <a:noFill/>
        </p:spPr>
        <p:txBody>
          <a:bodyPr wrap="square" lIns="0" rIns="0" tIns="0" bIns="0" anchor="ctr">
            <a:spAutoFit/>
          </a:bodyPr>
          <a:lstStyle/>
          <a:p>
            <a:pPr algn="ctr"/>
            <a:r>
              <a:rPr sz="740" b="1" i="0">
                <a:solidFill>
                  <a:srgbClr val="FFFFFF"/>
                </a:solidFill>
                <a:latin typeface="Trenda IG Text"/>
              </a:rPr>
              <a:t>Cited retrieval</a:t>
            </a:r>
          </a:p>
        </p:txBody>
      </p:sp>
      <p:sp>
        <p:nvSpPr>
          <p:cNvPr id="64" name="Text 57"/>
          <p:cNvSpPr txBox="1"/>
          <p:nvPr/>
        </p:nvSpPr>
        <p:spPr>
          <a:xfrm>
            <a:off x="4480560" y="3867911"/>
            <a:ext cx="777239" cy="329184"/>
          </a:xfrm>
          <a:prstGeom prst="rect">
            <a:avLst/>
          </a:prstGeom>
          <a:noFill/>
        </p:spPr>
        <p:txBody>
          <a:bodyPr wrap="square" lIns="0" rIns="0" tIns="0" bIns="0" anchor="t">
            <a:spAutoFit/>
          </a:bodyPr>
          <a:lstStyle/>
          <a:p>
            <a:pPr algn="ctr"/>
            <a:r>
              <a:rPr sz="600" b="0" i="0">
                <a:solidFill>
                  <a:srgbClr val="BFBFBF"/>
                </a:solidFill>
                <a:latin typeface="Trenda IG Text"/>
              </a:rPr>
              <a:t>Graph API over MCP</a:t>
            </a:r>
          </a:p>
        </p:txBody>
      </p:sp>
      <p:sp>
        <p:nvSpPr>
          <p:cNvPr id="65" name="Text 58"/>
          <p:cNvSpPr txBox="1"/>
          <p:nvPr/>
        </p:nvSpPr>
        <p:spPr>
          <a:xfrm>
            <a:off x="5303520" y="3666744"/>
            <a:ext cx="777239" cy="182880"/>
          </a:xfrm>
          <a:prstGeom prst="rect">
            <a:avLst/>
          </a:prstGeom>
          <a:noFill/>
        </p:spPr>
        <p:txBody>
          <a:bodyPr wrap="square" lIns="0" rIns="0" tIns="0" bIns="0" anchor="ctr">
            <a:spAutoFit/>
          </a:bodyPr>
          <a:lstStyle/>
          <a:p>
            <a:pPr algn="ctr"/>
            <a:r>
              <a:rPr sz="740" b="1" i="0">
                <a:solidFill>
                  <a:srgbClr val="FF0069"/>
                </a:solidFill>
                <a:latin typeface="Trenda IG Text"/>
              </a:rPr>
              <a:t>Data context</a:t>
            </a:r>
          </a:p>
        </p:txBody>
      </p:sp>
      <p:sp>
        <p:nvSpPr>
          <p:cNvPr id="66" name="Text 59"/>
          <p:cNvSpPr txBox="1"/>
          <p:nvPr/>
        </p:nvSpPr>
        <p:spPr>
          <a:xfrm>
            <a:off x="5303520" y="3867911"/>
            <a:ext cx="777239" cy="329184"/>
          </a:xfrm>
          <a:prstGeom prst="rect">
            <a:avLst/>
          </a:prstGeom>
          <a:noFill/>
        </p:spPr>
        <p:txBody>
          <a:bodyPr wrap="square" lIns="0" rIns="0" tIns="0" bIns="0" anchor="t">
            <a:spAutoFit/>
          </a:bodyPr>
          <a:lstStyle/>
          <a:p>
            <a:pPr algn="ctr"/>
            <a:r>
              <a:rPr sz="600" b="0" i="0">
                <a:solidFill>
                  <a:srgbClr val="BFBFBF"/>
                </a:solidFill>
                <a:latin typeface="Trenda IG Text"/>
              </a:rPr>
              <a:t>masked BigQuery aggregates</a:t>
            </a:r>
          </a:p>
        </p:txBody>
      </p:sp>
      <p:sp>
        <p:nvSpPr>
          <p:cNvPr id="67" name="Shape 60"/>
          <p:cNvSpPr/>
          <p:nvPr/>
        </p:nvSpPr>
        <p:spPr>
          <a:xfrm>
            <a:off x="5527548" y="4160520"/>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1"/>
          <p:cNvSpPr txBox="1"/>
          <p:nvPr/>
        </p:nvSpPr>
        <p:spPr>
          <a:xfrm>
            <a:off x="5527548" y="4160520"/>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sp>
        <p:nvSpPr>
          <p:cNvPr id="69" name="Text 62"/>
          <p:cNvSpPr txBox="1"/>
          <p:nvPr/>
        </p:nvSpPr>
        <p:spPr>
          <a:xfrm>
            <a:off x="2487168" y="4398264"/>
            <a:ext cx="914400" cy="146304"/>
          </a:xfrm>
          <a:prstGeom prst="rect">
            <a:avLst/>
          </a:prstGeom>
          <a:noFill/>
        </p:spPr>
        <p:txBody>
          <a:bodyPr wrap="square" lIns="0" rIns="0" tIns="0" bIns="0" anchor="t">
            <a:spAutoFit/>
          </a:bodyPr>
          <a:lstStyle/>
          <a:p>
            <a:r>
              <a:rPr sz="580" b="1" i="0" spc="150">
                <a:solidFill>
                  <a:srgbClr val="FFD700"/>
                </a:solidFill>
                <a:latin typeface="Trenda IG Text"/>
              </a:rPr>
              <a:t>SOURCES</a:t>
            </a:r>
          </a:p>
        </p:txBody>
      </p:sp>
      <p:sp>
        <p:nvSpPr>
          <p:cNvPr id="70" name="Shape 63"/>
          <p:cNvSpPr/>
          <p:nvPr/>
        </p:nvSpPr>
        <p:spPr>
          <a:xfrm>
            <a:off x="2487168" y="4581144"/>
            <a:ext cx="358444"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4"/>
          <p:cNvSpPr txBox="1"/>
          <p:nvPr/>
        </p:nvSpPr>
        <p:spPr>
          <a:xfrm>
            <a:off x="2487168" y="4581144"/>
            <a:ext cx="358444" cy="182880"/>
          </a:xfrm>
          <a:prstGeom prst="rect">
            <a:avLst/>
          </a:prstGeom>
          <a:noFill/>
        </p:spPr>
        <p:txBody>
          <a:bodyPr wrap="square" lIns="0" rIns="0" tIns="0" bIns="0" anchor="ctr">
            <a:spAutoFit/>
          </a:bodyPr>
          <a:lstStyle/>
          <a:p>
            <a:pPr algn="ctr"/>
            <a:r>
              <a:rPr sz="590" b="0" i="0">
                <a:solidFill>
                  <a:srgbClr val="FFFFFF"/>
                </a:solidFill>
                <a:latin typeface="Trenda IG Text"/>
              </a:rPr>
              <a:t>Jira</a:t>
            </a:r>
          </a:p>
        </p:txBody>
      </p:sp>
      <p:sp>
        <p:nvSpPr>
          <p:cNvPr id="72" name="Shape 65"/>
          <p:cNvSpPr/>
          <p:nvPr/>
        </p:nvSpPr>
        <p:spPr>
          <a:xfrm>
            <a:off x="2900476" y="4581144"/>
            <a:ext cx="676656"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2900476" y="4581144"/>
            <a:ext cx="676656" cy="182880"/>
          </a:xfrm>
          <a:prstGeom prst="rect">
            <a:avLst/>
          </a:prstGeom>
          <a:noFill/>
        </p:spPr>
        <p:txBody>
          <a:bodyPr wrap="square" lIns="0" rIns="0" tIns="0" bIns="0" anchor="ctr">
            <a:spAutoFit/>
          </a:bodyPr>
          <a:lstStyle/>
          <a:p>
            <a:pPr algn="ctr"/>
            <a:r>
              <a:rPr sz="590" b="0" i="0">
                <a:solidFill>
                  <a:srgbClr val="FFFFFF"/>
                </a:solidFill>
                <a:latin typeface="Trenda IG Text"/>
              </a:rPr>
              <a:t>Confluence</a:t>
            </a:r>
          </a:p>
        </p:txBody>
      </p:sp>
      <p:sp>
        <p:nvSpPr>
          <p:cNvPr id="74" name="Shape 67"/>
          <p:cNvSpPr/>
          <p:nvPr/>
        </p:nvSpPr>
        <p:spPr>
          <a:xfrm>
            <a:off x="3631996" y="4581144"/>
            <a:ext cx="676656"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68"/>
          <p:cNvSpPr txBox="1"/>
          <p:nvPr/>
        </p:nvSpPr>
        <p:spPr>
          <a:xfrm>
            <a:off x="3631996" y="4581144"/>
            <a:ext cx="676656" cy="182880"/>
          </a:xfrm>
          <a:prstGeom prst="rect">
            <a:avLst/>
          </a:prstGeom>
          <a:noFill/>
        </p:spPr>
        <p:txBody>
          <a:bodyPr wrap="square" lIns="0" rIns="0" tIns="0" bIns="0" anchor="ctr">
            <a:spAutoFit/>
          </a:bodyPr>
          <a:lstStyle/>
          <a:p>
            <a:pPr algn="ctr"/>
            <a:r>
              <a:rPr sz="590" b="0" i="0">
                <a:solidFill>
                  <a:srgbClr val="FFFFFF"/>
                </a:solidFill>
                <a:latin typeface="Trenda IG Text"/>
              </a:rPr>
              <a:t>Salesforce</a:t>
            </a:r>
          </a:p>
        </p:txBody>
      </p:sp>
      <p:sp>
        <p:nvSpPr>
          <p:cNvPr id="76" name="Shape 69"/>
          <p:cNvSpPr/>
          <p:nvPr/>
        </p:nvSpPr>
        <p:spPr>
          <a:xfrm>
            <a:off x="4363516" y="4581144"/>
            <a:ext cx="305409"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4363516" y="4581144"/>
            <a:ext cx="305409" cy="182880"/>
          </a:xfrm>
          <a:prstGeom prst="rect">
            <a:avLst/>
          </a:prstGeom>
          <a:noFill/>
        </p:spPr>
        <p:txBody>
          <a:bodyPr wrap="square" lIns="0" rIns="0" tIns="0" bIns="0" anchor="ctr">
            <a:spAutoFit/>
          </a:bodyPr>
          <a:lstStyle/>
          <a:p>
            <a:pPr algn="ctr"/>
            <a:r>
              <a:rPr sz="590" b="0" i="0">
                <a:solidFill>
                  <a:srgbClr val="FFFFFF"/>
                </a:solidFill>
                <a:latin typeface="Trenda IG Text"/>
              </a:rPr>
              <a:t>Git</a:t>
            </a:r>
          </a:p>
        </p:txBody>
      </p:sp>
      <p:sp>
        <p:nvSpPr>
          <p:cNvPr id="78" name="Shape 71"/>
          <p:cNvSpPr/>
          <p:nvPr/>
        </p:nvSpPr>
        <p:spPr>
          <a:xfrm>
            <a:off x="4723790" y="4581144"/>
            <a:ext cx="464515"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4723790" y="4581144"/>
            <a:ext cx="464515" cy="182880"/>
          </a:xfrm>
          <a:prstGeom prst="rect">
            <a:avLst/>
          </a:prstGeom>
          <a:noFill/>
        </p:spPr>
        <p:txBody>
          <a:bodyPr wrap="square" lIns="0" rIns="0" tIns="0" bIns="0" anchor="ctr">
            <a:spAutoFit/>
          </a:bodyPr>
          <a:lstStyle/>
          <a:p>
            <a:pPr algn="ctr"/>
            <a:r>
              <a:rPr sz="590" b="0" i="0">
                <a:solidFill>
                  <a:srgbClr val="FFFFFF"/>
                </a:solidFill>
                <a:latin typeface="Trenda IG Text"/>
              </a:rPr>
              <a:t>Copado</a:t>
            </a:r>
          </a:p>
        </p:txBody>
      </p:sp>
      <p:sp>
        <p:nvSpPr>
          <p:cNvPr id="80" name="Shape 73"/>
          <p:cNvSpPr/>
          <p:nvPr/>
        </p:nvSpPr>
        <p:spPr>
          <a:xfrm>
            <a:off x="5243169" y="4581144"/>
            <a:ext cx="782726"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4"/>
          <p:cNvSpPr txBox="1"/>
          <p:nvPr/>
        </p:nvSpPr>
        <p:spPr>
          <a:xfrm>
            <a:off x="5243169" y="4581144"/>
            <a:ext cx="782726" cy="182880"/>
          </a:xfrm>
          <a:prstGeom prst="rect">
            <a:avLst/>
          </a:prstGeom>
          <a:noFill/>
        </p:spPr>
        <p:txBody>
          <a:bodyPr wrap="square" lIns="0" rIns="0" tIns="0" bIns="0" anchor="ctr">
            <a:spAutoFit/>
          </a:bodyPr>
          <a:lstStyle/>
          <a:p>
            <a:pPr algn="ctr"/>
            <a:r>
              <a:rPr sz="590" b="0" i="0">
                <a:solidFill>
                  <a:srgbClr val="FFFFFF"/>
                </a:solidFill>
                <a:latin typeface="Trenda IG Text"/>
              </a:rPr>
              <a:t>Google Drive</a:t>
            </a:r>
          </a:p>
        </p:txBody>
      </p:sp>
      <p:sp>
        <p:nvSpPr>
          <p:cNvPr id="82" name="Shape 75"/>
          <p:cNvSpPr/>
          <p:nvPr/>
        </p:nvSpPr>
        <p:spPr>
          <a:xfrm>
            <a:off x="2487168" y="4818888"/>
            <a:ext cx="1366113" cy="182880"/>
          </a:xfrm>
          <a:prstGeom prst="roundRect">
            <a:avLst>
              <a:gd name="adj" fmla="val 40000"/>
            </a:avLst>
          </a:prstGeom>
          <a:solidFill>
            <a:srgbClr val="2B0716"/>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6"/>
          <p:cNvSpPr txBox="1"/>
          <p:nvPr/>
        </p:nvSpPr>
        <p:spPr>
          <a:xfrm>
            <a:off x="2487168" y="4818888"/>
            <a:ext cx="1366113" cy="182880"/>
          </a:xfrm>
          <a:prstGeom prst="rect">
            <a:avLst/>
          </a:prstGeom>
          <a:noFill/>
        </p:spPr>
        <p:txBody>
          <a:bodyPr wrap="square" lIns="0" rIns="0" tIns="0" bIns="0" anchor="ctr">
            <a:spAutoFit/>
          </a:bodyPr>
          <a:lstStyle/>
          <a:p>
            <a:pPr algn="ctr"/>
            <a:r>
              <a:rPr sz="590" b="1" i="0">
                <a:solidFill>
                  <a:srgbClr val="FF0069"/>
                </a:solidFill>
                <a:latin typeface="Trenda IG Text"/>
              </a:rPr>
              <a:t>GCP · BigQuery (masked)</a:t>
            </a:r>
          </a:p>
        </p:txBody>
      </p:sp>
      <p:sp>
        <p:nvSpPr>
          <p:cNvPr id="84" name="Shape 77"/>
          <p:cNvSpPr/>
          <p:nvPr/>
        </p:nvSpPr>
        <p:spPr>
          <a:xfrm>
            <a:off x="6400800" y="1755648"/>
            <a:ext cx="2240280" cy="3383280"/>
          </a:xfrm>
          <a:prstGeom prst="roundRect">
            <a:avLst>
              <a:gd name="adj" fmla="val 5000"/>
            </a:avLst>
          </a:prstGeom>
          <a:noFill/>
          <a:ln w="1905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78"/>
          <p:cNvSpPr txBox="1"/>
          <p:nvPr/>
        </p:nvSpPr>
        <p:spPr>
          <a:xfrm>
            <a:off x="6528816" y="1810512"/>
            <a:ext cx="2057400" cy="256032"/>
          </a:xfrm>
          <a:prstGeom prst="rect">
            <a:avLst/>
          </a:prstGeom>
          <a:noFill/>
        </p:spPr>
        <p:txBody>
          <a:bodyPr wrap="square" lIns="0" rIns="0" tIns="0" bIns="0" anchor="ctr">
            <a:spAutoFit/>
          </a:bodyPr>
          <a:lstStyle/>
          <a:p>
            <a:r>
              <a:rPr sz="1000" b="0" i="0">
                <a:solidFill>
                  <a:srgbClr val="FFFFFF"/>
                </a:solidFill>
                <a:latin typeface="Trenda IG Text"/>
              </a:rPr>
              <a:t>Harness Govern</a:t>
            </a:r>
          </a:p>
        </p:txBody>
      </p:sp>
      <p:sp>
        <p:nvSpPr>
          <p:cNvPr id="86" name="Text 79"/>
          <p:cNvSpPr txBox="1"/>
          <p:nvPr/>
        </p:nvSpPr>
        <p:spPr>
          <a:xfrm>
            <a:off x="6528816" y="2057400"/>
            <a:ext cx="2057400" cy="182880"/>
          </a:xfrm>
          <a:prstGeom prst="rect">
            <a:avLst/>
          </a:prstGeom>
          <a:noFill/>
        </p:spPr>
        <p:txBody>
          <a:bodyPr wrap="square" lIns="0" rIns="0" tIns="0" bIns="0" anchor="t">
            <a:spAutoFit/>
          </a:bodyPr>
          <a:lstStyle/>
          <a:p>
            <a:r>
              <a:rPr sz="600" b="0" i="0">
                <a:solidFill>
                  <a:srgbClr val="8C8C8C"/>
                </a:solidFill>
                <a:latin typeface="Trenda IG Text"/>
              </a:rPr>
              <a:t>Safe, controlled and measurable.</a:t>
            </a:r>
          </a:p>
        </p:txBody>
      </p:sp>
      <p:sp>
        <p:nvSpPr>
          <p:cNvPr id="87" name="Text 80"/>
          <p:cNvSpPr txBox="1"/>
          <p:nvPr/>
        </p:nvSpPr>
        <p:spPr>
          <a:xfrm>
            <a:off x="6528816" y="2340864"/>
            <a:ext cx="1691640" cy="310896"/>
          </a:xfrm>
          <a:prstGeom prst="rect">
            <a:avLst/>
          </a:prstGeom>
          <a:noFill/>
        </p:spPr>
        <p:txBody>
          <a:bodyPr wrap="square" lIns="0" rIns="0" tIns="0" bIns="0" anchor="ctr">
            <a:spAutoFit/>
          </a:bodyPr>
          <a:lstStyle/>
          <a:p>
            <a:r>
              <a:rPr sz="740" b="1" i="0">
                <a:solidFill>
                  <a:srgbClr val="FFFFFF"/>
                </a:solidFill>
                <a:latin typeface="Trenda IG Text"/>
              </a:rPr>
              <a:t>Change Guardian</a:t>
            </a:r>
          </a:p>
        </p:txBody>
      </p:sp>
      <p:sp>
        <p:nvSpPr>
          <p:cNvPr id="88" name="Text 81"/>
          <p:cNvSpPr txBox="1"/>
          <p:nvPr/>
        </p:nvSpPr>
        <p:spPr>
          <a:xfrm>
            <a:off x="6528816" y="2688336"/>
            <a:ext cx="1691640" cy="310896"/>
          </a:xfrm>
          <a:prstGeom prst="rect">
            <a:avLst/>
          </a:prstGeom>
          <a:noFill/>
        </p:spPr>
        <p:txBody>
          <a:bodyPr wrap="square" lIns="0" rIns="0" tIns="0" bIns="0" anchor="ctr">
            <a:spAutoFit/>
          </a:bodyPr>
          <a:lstStyle/>
          <a:p>
            <a:r>
              <a:rPr sz="740" b="1" i="0">
                <a:solidFill>
                  <a:srgbClr val="FFFFFF"/>
                </a:solidFill>
                <a:latin typeface="Trenda IG Text"/>
              </a:rPr>
              <a:t>Guardrails in + out · Model Armor</a:t>
            </a:r>
          </a:p>
        </p:txBody>
      </p:sp>
      <p:sp>
        <p:nvSpPr>
          <p:cNvPr id="89" name="Text 82"/>
          <p:cNvSpPr txBox="1"/>
          <p:nvPr/>
        </p:nvSpPr>
        <p:spPr>
          <a:xfrm>
            <a:off x="6528816" y="3035808"/>
            <a:ext cx="1691640" cy="310896"/>
          </a:xfrm>
          <a:prstGeom prst="rect">
            <a:avLst/>
          </a:prstGeom>
          <a:noFill/>
        </p:spPr>
        <p:txBody>
          <a:bodyPr wrap="square" lIns="0" rIns="0" tIns="0" bIns="0" anchor="ctr">
            <a:spAutoFit/>
          </a:bodyPr>
          <a:lstStyle/>
          <a:p>
            <a:r>
              <a:rPr sz="740" b="1" i="0">
                <a:solidFill>
                  <a:srgbClr val="FFFFFF"/>
                </a:solidFill>
                <a:latin typeface="Trenda IG Text"/>
              </a:rPr>
              <a:t>Identity + access</a:t>
            </a:r>
          </a:p>
        </p:txBody>
      </p:sp>
      <p:sp>
        <p:nvSpPr>
          <p:cNvPr id="90" name="Text 83"/>
          <p:cNvSpPr txBox="1"/>
          <p:nvPr/>
        </p:nvSpPr>
        <p:spPr>
          <a:xfrm>
            <a:off x="6528816" y="3383279"/>
            <a:ext cx="1691640" cy="310896"/>
          </a:xfrm>
          <a:prstGeom prst="rect">
            <a:avLst/>
          </a:prstGeom>
          <a:noFill/>
        </p:spPr>
        <p:txBody>
          <a:bodyPr wrap="square" lIns="0" rIns="0" tIns="0" bIns="0" anchor="ctr">
            <a:spAutoFit/>
          </a:bodyPr>
          <a:lstStyle/>
          <a:p>
            <a:r>
              <a:rPr sz="740" b="1" i="0">
                <a:solidFill>
                  <a:srgbClr val="FF0069"/>
                </a:solidFill>
                <a:latin typeface="Trenda IG Text"/>
              </a:rPr>
              <a:t>Collibra masking + DLP</a:t>
            </a:r>
          </a:p>
        </p:txBody>
      </p:sp>
      <p:sp>
        <p:nvSpPr>
          <p:cNvPr id="91" name="Shape 84"/>
          <p:cNvSpPr/>
          <p:nvPr/>
        </p:nvSpPr>
        <p:spPr>
          <a:xfrm>
            <a:off x="8202167" y="3474720"/>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5"/>
          <p:cNvSpPr txBox="1"/>
          <p:nvPr/>
        </p:nvSpPr>
        <p:spPr>
          <a:xfrm>
            <a:off x="8202167" y="3474720"/>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sp>
        <p:nvSpPr>
          <p:cNvPr id="93" name="Text 86"/>
          <p:cNvSpPr txBox="1"/>
          <p:nvPr/>
        </p:nvSpPr>
        <p:spPr>
          <a:xfrm>
            <a:off x="6528816" y="3730752"/>
            <a:ext cx="1691640" cy="310896"/>
          </a:xfrm>
          <a:prstGeom prst="rect">
            <a:avLst/>
          </a:prstGeom>
          <a:noFill/>
        </p:spPr>
        <p:txBody>
          <a:bodyPr wrap="square" lIns="0" rIns="0" tIns="0" bIns="0" anchor="ctr">
            <a:spAutoFit/>
          </a:bodyPr>
          <a:lstStyle/>
          <a:p>
            <a:r>
              <a:rPr sz="740" b="1" i="0">
                <a:solidFill>
                  <a:srgbClr val="FF0069"/>
                </a:solidFill>
                <a:latin typeface="Trenda IG Text"/>
              </a:rPr>
              <a:t>Privacy Guard: consent first</a:t>
            </a:r>
          </a:p>
        </p:txBody>
      </p:sp>
      <p:sp>
        <p:nvSpPr>
          <p:cNvPr id="94" name="Shape 87"/>
          <p:cNvSpPr/>
          <p:nvPr/>
        </p:nvSpPr>
        <p:spPr>
          <a:xfrm>
            <a:off x="8202167" y="3822191"/>
            <a:ext cx="329184" cy="137160"/>
          </a:xfrm>
          <a:prstGeom prst="roundRect">
            <a:avLst>
              <a:gd name="adj" fmla="val 50000"/>
            </a:avLst>
          </a:prstGeom>
          <a:solidFill>
            <a:srgbClr val="00D6F2"/>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88"/>
          <p:cNvSpPr txBox="1"/>
          <p:nvPr/>
        </p:nvSpPr>
        <p:spPr>
          <a:xfrm>
            <a:off x="8202167" y="3822191"/>
            <a:ext cx="329184" cy="137160"/>
          </a:xfrm>
          <a:prstGeom prst="rect">
            <a:avLst/>
          </a:prstGeom>
          <a:noFill/>
        </p:spPr>
        <p:txBody>
          <a:bodyPr wrap="square" lIns="0" rIns="0" tIns="0" bIns="0" anchor="ctr">
            <a:spAutoFit/>
          </a:bodyPr>
          <a:lstStyle/>
          <a:p>
            <a:pPr algn="ctr"/>
            <a:r>
              <a:rPr sz="500" b="1" i="0" spc="80">
                <a:solidFill>
                  <a:srgbClr val="000000"/>
                </a:solidFill>
                <a:latin typeface="Trenda IG Text"/>
              </a:rPr>
              <a:t>NEW</a:t>
            </a:r>
          </a:p>
        </p:txBody>
      </p:sp>
      <p:sp>
        <p:nvSpPr>
          <p:cNvPr id="96" name="Text 89"/>
          <p:cNvSpPr txBox="1"/>
          <p:nvPr/>
        </p:nvSpPr>
        <p:spPr>
          <a:xfrm>
            <a:off x="6528816" y="4078224"/>
            <a:ext cx="1691640" cy="310896"/>
          </a:xfrm>
          <a:prstGeom prst="rect">
            <a:avLst/>
          </a:prstGeom>
          <a:noFill/>
        </p:spPr>
        <p:txBody>
          <a:bodyPr wrap="square" lIns="0" rIns="0" tIns="0" bIns="0" anchor="ctr">
            <a:spAutoFit/>
          </a:bodyPr>
          <a:lstStyle/>
          <a:p>
            <a:r>
              <a:rPr sz="740" b="1" i="0">
                <a:solidFill>
                  <a:srgbClr val="FFFFFF"/>
                </a:solidFill>
                <a:latin typeface="Trenda IG Text"/>
              </a:rPr>
              <a:t>Human gates H1-H4, CAB, G1-G3</a:t>
            </a:r>
          </a:p>
        </p:txBody>
      </p:sp>
      <p:sp>
        <p:nvSpPr>
          <p:cNvPr id="97" name="Text 90"/>
          <p:cNvSpPr txBox="1"/>
          <p:nvPr/>
        </p:nvSpPr>
        <p:spPr>
          <a:xfrm>
            <a:off x="6528816" y="4425696"/>
            <a:ext cx="1691640" cy="310896"/>
          </a:xfrm>
          <a:prstGeom prst="rect">
            <a:avLst/>
          </a:prstGeom>
          <a:noFill/>
        </p:spPr>
        <p:txBody>
          <a:bodyPr wrap="square" lIns="0" rIns="0" tIns="0" bIns="0" anchor="ctr">
            <a:spAutoFit/>
          </a:bodyPr>
          <a:lstStyle/>
          <a:p>
            <a:r>
              <a:rPr sz="740" b="1" i="0">
                <a:solidFill>
                  <a:srgbClr val="FFFFFF"/>
                </a:solidFill>
                <a:latin typeface="Trenda IG Text"/>
              </a:rPr>
              <a:t>Evaluation set</a:t>
            </a:r>
          </a:p>
        </p:txBody>
      </p:sp>
      <p:sp>
        <p:nvSpPr>
          <p:cNvPr id="98" name="Text 91"/>
          <p:cNvSpPr txBox="1"/>
          <p:nvPr/>
        </p:nvSpPr>
        <p:spPr>
          <a:xfrm>
            <a:off x="6528816" y="4773168"/>
            <a:ext cx="1691640" cy="310896"/>
          </a:xfrm>
          <a:prstGeom prst="rect">
            <a:avLst/>
          </a:prstGeom>
          <a:noFill/>
        </p:spPr>
        <p:txBody>
          <a:bodyPr wrap="square" lIns="0" rIns="0" tIns="0" bIns="0" anchor="ctr">
            <a:spAutoFit/>
          </a:bodyPr>
          <a:lstStyle/>
          <a:p>
            <a:r>
              <a:rPr sz="740" b="1" i="0">
                <a:solidFill>
                  <a:srgbClr val="FFFFFF"/>
                </a:solidFill>
                <a:latin typeface="Trenda IG Text"/>
              </a:rPr>
              <a:t>Observability + change passport</a:t>
            </a:r>
          </a:p>
        </p:txBody>
      </p:sp>
      <p:sp>
        <p:nvSpPr>
          <p:cNvPr id="99" name="Text 92"/>
          <p:cNvSpPr txBox="1"/>
          <p:nvPr/>
        </p:nvSpPr>
        <p:spPr>
          <a:xfrm>
            <a:off x="8915400" y="1645920"/>
            <a:ext cx="2862072" cy="237744"/>
          </a:xfrm>
          <a:prstGeom prst="rect">
            <a:avLst/>
          </a:prstGeom>
          <a:noFill/>
        </p:spPr>
        <p:txBody>
          <a:bodyPr wrap="square" lIns="0" rIns="0" tIns="0" bIns="0" anchor="ctr">
            <a:spAutoFit/>
          </a:bodyPr>
          <a:lstStyle/>
          <a:p>
            <a:r>
              <a:rPr sz="1100" b="1" i="0">
                <a:solidFill>
                  <a:srgbClr val="FF0069"/>
                </a:solidFill>
                <a:latin typeface="Trenda IG Text"/>
              </a:rPr>
              <a:t>Differentiators</a:t>
            </a:r>
          </a:p>
        </p:txBody>
      </p:sp>
      <p:sp>
        <p:nvSpPr>
          <p:cNvPr id="100" name="Shape 93"/>
          <p:cNvSpPr/>
          <p:nvPr/>
        </p:nvSpPr>
        <p:spPr>
          <a:xfrm>
            <a:off x="8915400" y="1938528"/>
            <a:ext cx="2862072" cy="1024128"/>
          </a:xfrm>
          <a:prstGeom prst="roundRect">
            <a:avLst>
              <a:gd name="adj" fmla="val 10000"/>
            </a:avLst>
          </a:prstGeom>
          <a:solidFill>
            <a:srgbClr val="14141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4"/>
          <p:cNvSpPr/>
          <p:nvPr/>
        </p:nvSpPr>
        <p:spPr>
          <a:xfrm>
            <a:off x="9025128" y="2066544"/>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5"/>
          <p:cNvSpPr txBox="1"/>
          <p:nvPr/>
        </p:nvSpPr>
        <p:spPr>
          <a:xfrm>
            <a:off x="9025128" y="2066544"/>
            <a:ext cx="274320" cy="274320"/>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sp>
        <p:nvSpPr>
          <p:cNvPr id="103" name="Text 96"/>
          <p:cNvSpPr txBox="1"/>
          <p:nvPr/>
        </p:nvSpPr>
        <p:spPr>
          <a:xfrm>
            <a:off x="9390888" y="2029968"/>
            <a:ext cx="2313432" cy="237744"/>
          </a:xfrm>
          <a:prstGeom prst="rect">
            <a:avLst/>
          </a:prstGeom>
          <a:noFill/>
        </p:spPr>
        <p:txBody>
          <a:bodyPr wrap="square" lIns="0" rIns="0" tIns="0" bIns="0" anchor="ctr">
            <a:spAutoFit/>
          </a:bodyPr>
          <a:lstStyle/>
          <a:p>
            <a:r>
              <a:rPr sz="840" b="1" i="0">
                <a:solidFill>
                  <a:srgbClr val="FFFFFF"/>
                </a:solidFill>
                <a:latin typeface="Trenda IG Text"/>
              </a:rPr>
              <a:t>Grounded in the org and its data</a:t>
            </a:r>
          </a:p>
        </p:txBody>
      </p:sp>
      <p:sp>
        <p:nvSpPr>
          <p:cNvPr id="104" name="Text 97"/>
          <p:cNvSpPr txBox="1"/>
          <p:nvPr/>
        </p:nvSpPr>
        <p:spPr>
          <a:xfrm>
            <a:off x="9390888" y="2286000"/>
            <a:ext cx="2313432" cy="420624"/>
          </a:xfrm>
          <a:prstGeom prst="rect">
            <a:avLst/>
          </a:prstGeom>
          <a:noFill/>
        </p:spPr>
        <p:txBody>
          <a:bodyPr wrap="square" lIns="0" rIns="0" tIns="0" bIns="0" anchor="t">
            <a:spAutoFit/>
          </a:bodyPr>
          <a:lstStyle/>
          <a:p>
            <a:r>
              <a:rPr sz="650" b="0" i="0">
                <a:solidFill>
                  <a:srgbClr val="BFBFBF"/>
                </a:solidFill>
                <a:latin typeface="Trenda IG Text"/>
              </a:rPr>
              <a:t>Agents read a cited graph of the delivery estate, and masked aggregates for campaigns.</a:t>
            </a:r>
          </a:p>
        </p:txBody>
      </p:sp>
      <p:sp>
        <p:nvSpPr>
          <p:cNvPr id="105" name="Text 98"/>
          <p:cNvSpPr txBox="1"/>
          <p:nvPr/>
        </p:nvSpPr>
        <p:spPr>
          <a:xfrm>
            <a:off x="9390888" y="2706624"/>
            <a:ext cx="2313432" cy="182880"/>
          </a:xfrm>
          <a:prstGeom prst="rect">
            <a:avLst/>
          </a:prstGeom>
          <a:noFill/>
        </p:spPr>
        <p:txBody>
          <a:bodyPr wrap="square" lIns="0" rIns="0" tIns="0" bIns="0" anchor="t">
            <a:spAutoFit/>
          </a:bodyPr>
          <a:lstStyle/>
          <a:p>
            <a:r>
              <a:rPr sz="650" b="0" i="0">
                <a:solidFill>
                  <a:srgbClr val="FF0069"/>
                </a:solidFill>
                <a:latin typeface="Trenda IG Text"/>
              </a:rPr>
              <a:t>Ask before build.</a:t>
            </a:r>
          </a:p>
        </p:txBody>
      </p:sp>
      <p:sp>
        <p:nvSpPr>
          <p:cNvPr id="106" name="Shape 99"/>
          <p:cNvSpPr/>
          <p:nvPr/>
        </p:nvSpPr>
        <p:spPr>
          <a:xfrm>
            <a:off x="8915400" y="3054096"/>
            <a:ext cx="2862072" cy="1024128"/>
          </a:xfrm>
          <a:prstGeom prst="roundRect">
            <a:avLst>
              <a:gd name="adj" fmla="val 10000"/>
            </a:avLst>
          </a:prstGeom>
          <a:solidFill>
            <a:srgbClr val="14141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hape 100"/>
          <p:cNvSpPr/>
          <p:nvPr/>
        </p:nvSpPr>
        <p:spPr>
          <a:xfrm>
            <a:off x="9025128" y="3182112"/>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1"/>
          <p:cNvSpPr txBox="1"/>
          <p:nvPr/>
        </p:nvSpPr>
        <p:spPr>
          <a:xfrm>
            <a:off x="9025128" y="3182112"/>
            <a:ext cx="274320" cy="274320"/>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109" name="Text 102"/>
          <p:cNvSpPr txBox="1"/>
          <p:nvPr/>
        </p:nvSpPr>
        <p:spPr>
          <a:xfrm>
            <a:off x="9390888" y="3145536"/>
            <a:ext cx="2313432" cy="237744"/>
          </a:xfrm>
          <a:prstGeom prst="rect">
            <a:avLst/>
          </a:prstGeom>
          <a:noFill/>
        </p:spPr>
        <p:txBody>
          <a:bodyPr wrap="square" lIns="0" rIns="0" tIns="0" bIns="0" anchor="ctr">
            <a:spAutoFit/>
          </a:bodyPr>
          <a:lstStyle/>
          <a:p>
            <a:r>
              <a:rPr sz="840" b="1" i="0">
                <a:solidFill>
                  <a:srgbClr val="FFFFFF"/>
                </a:solidFill>
                <a:latin typeface="Trenda IG Text"/>
              </a:rPr>
              <a:t>No pod breaks another</a:t>
            </a:r>
          </a:p>
        </p:txBody>
      </p:sp>
      <p:sp>
        <p:nvSpPr>
          <p:cNvPr id="110" name="Text 103"/>
          <p:cNvSpPr txBox="1"/>
          <p:nvPr/>
        </p:nvSpPr>
        <p:spPr>
          <a:xfrm>
            <a:off x="9390888" y="3401568"/>
            <a:ext cx="2313432" cy="420624"/>
          </a:xfrm>
          <a:prstGeom prst="rect">
            <a:avLst/>
          </a:prstGeom>
          <a:noFill/>
        </p:spPr>
        <p:txBody>
          <a:bodyPr wrap="square" lIns="0" rIns="0" tIns="0" bIns="0" anchor="t">
            <a:spAutoFit/>
          </a:bodyPr>
          <a:lstStyle/>
          <a:p>
            <a:r>
              <a:rPr sz="650" b="0" i="0">
                <a:solidFill>
                  <a:srgbClr val="BFBFBF"/>
                </a:solidFill>
                <a:latin typeface="Trenda IG Text"/>
              </a:rPr>
              <a:t>The Change Guardian checks every change against who owns and uses it.</a:t>
            </a:r>
          </a:p>
        </p:txBody>
      </p:sp>
      <p:sp>
        <p:nvSpPr>
          <p:cNvPr id="111" name="Text 104"/>
          <p:cNvSpPr txBox="1"/>
          <p:nvPr/>
        </p:nvSpPr>
        <p:spPr>
          <a:xfrm>
            <a:off x="9390888" y="3822191"/>
            <a:ext cx="2313432" cy="182880"/>
          </a:xfrm>
          <a:prstGeom prst="rect">
            <a:avLst/>
          </a:prstGeom>
          <a:noFill/>
        </p:spPr>
        <p:txBody>
          <a:bodyPr wrap="square" lIns="0" rIns="0" tIns="0" bIns="0" anchor="t">
            <a:spAutoFit/>
          </a:bodyPr>
          <a:lstStyle/>
          <a:p>
            <a:r>
              <a:rPr sz="650" b="0" i="0">
                <a:solidFill>
                  <a:srgbClr val="FF0069"/>
                </a:solidFill>
                <a:latin typeface="Trenda IG Text"/>
              </a:rPr>
              <a:t>Governed by design.</a:t>
            </a:r>
          </a:p>
        </p:txBody>
      </p:sp>
      <p:sp>
        <p:nvSpPr>
          <p:cNvPr id="112" name="Shape 105"/>
          <p:cNvSpPr/>
          <p:nvPr/>
        </p:nvSpPr>
        <p:spPr>
          <a:xfrm>
            <a:off x="8915400" y="4169663"/>
            <a:ext cx="2862072" cy="1024128"/>
          </a:xfrm>
          <a:prstGeom prst="roundRect">
            <a:avLst>
              <a:gd name="adj" fmla="val 10000"/>
            </a:avLst>
          </a:prstGeom>
          <a:solidFill>
            <a:srgbClr val="14141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6"/>
          <p:cNvSpPr/>
          <p:nvPr/>
        </p:nvSpPr>
        <p:spPr>
          <a:xfrm>
            <a:off x="9025128" y="4297679"/>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7"/>
          <p:cNvSpPr txBox="1"/>
          <p:nvPr/>
        </p:nvSpPr>
        <p:spPr>
          <a:xfrm>
            <a:off x="9025128" y="4297679"/>
            <a:ext cx="274320" cy="274320"/>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sp>
        <p:nvSpPr>
          <p:cNvPr id="115" name="Text 108"/>
          <p:cNvSpPr txBox="1"/>
          <p:nvPr/>
        </p:nvSpPr>
        <p:spPr>
          <a:xfrm>
            <a:off x="9390888" y="4261103"/>
            <a:ext cx="2313432" cy="237744"/>
          </a:xfrm>
          <a:prstGeom prst="rect">
            <a:avLst/>
          </a:prstGeom>
          <a:noFill/>
        </p:spPr>
        <p:txBody>
          <a:bodyPr wrap="square" lIns="0" rIns="0" tIns="0" bIns="0" anchor="ctr">
            <a:spAutoFit/>
          </a:bodyPr>
          <a:lstStyle/>
          <a:p>
            <a:r>
              <a:rPr sz="840" b="1" i="0">
                <a:solidFill>
                  <a:srgbClr val="FFFFFF"/>
                </a:solidFill>
                <a:latin typeface="Trenda IG Text"/>
              </a:rPr>
              <a:t>Agents never see a patient</a:t>
            </a:r>
          </a:p>
        </p:txBody>
      </p:sp>
      <p:sp>
        <p:nvSpPr>
          <p:cNvPr id="116" name="Text 109"/>
          <p:cNvSpPr txBox="1"/>
          <p:nvPr/>
        </p:nvSpPr>
        <p:spPr>
          <a:xfrm>
            <a:off x="9390888" y="4517136"/>
            <a:ext cx="2313432" cy="420624"/>
          </a:xfrm>
          <a:prstGeom prst="rect">
            <a:avLst/>
          </a:prstGeom>
          <a:noFill/>
        </p:spPr>
        <p:txBody>
          <a:bodyPr wrap="square" lIns="0" rIns="0" tIns="0" bIns="0" anchor="t">
            <a:spAutoFit/>
          </a:bodyPr>
          <a:lstStyle/>
          <a:p>
            <a:r>
              <a:rPr sz="650" b="0" i="0">
                <a:solidFill>
                  <a:srgbClr val="BFBFBF"/>
                </a:solidFill>
                <a:latin typeface="Trenda IG Text"/>
              </a:rPr>
              <a:t>Collibra policy masks PHI; only counts and tokens; minimum fields released after review.</a:t>
            </a:r>
          </a:p>
        </p:txBody>
      </p:sp>
      <p:sp>
        <p:nvSpPr>
          <p:cNvPr id="117" name="Text 110"/>
          <p:cNvSpPr txBox="1"/>
          <p:nvPr/>
        </p:nvSpPr>
        <p:spPr>
          <a:xfrm>
            <a:off x="9390888" y="4937759"/>
            <a:ext cx="2313432" cy="182880"/>
          </a:xfrm>
          <a:prstGeom prst="rect">
            <a:avLst/>
          </a:prstGeom>
          <a:noFill/>
        </p:spPr>
        <p:txBody>
          <a:bodyPr wrap="square" lIns="0" rIns="0" tIns="0" bIns="0" anchor="t">
            <a:spAutoFit/>
          </a:bodyPr>
          <a:lstStyle/>
          <a:p>
            <a:r>
              <a:rPr sz="650" b="0" i="0">
                <a:solidFill>
                  <a:srgbClr val="FF0069"/>
                </a:solidFill>
                <a:latin typeface="Trenda IG Text"/>
              </a:rPr>
              <a:t>Private by design.</a:t>
            </a:r>
          </a:p>
        </p:txBody>
      </p:sp>
      <p:sp>
        <p:nvSpPr>
          <p:cNvPr id="118" name="Shape 111"/>
          <p:cNvSpPr/>
          <p:nvPr/>
        </p:nvSpPr>
        <p:spPr>
          <a:xfrm>
            <a:off x="411480" y="5394960"/>
            <a:ext cx="11365992" cy="868680"/>
          </a:xfrm>
          <a:prstGeom prst="roundRect">
            <a:avLst>
              <a:gd name="adj" fmla="val 4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2"/>
          <p:cNvSpPr txBox="1"/>
          <p:nvPr/>
        </p:nvSpPr>
        <p:spPr>
          <a:xfrm>
            <a:off x="731520" y="5468112"/>
            <a:ext cx="1828800" cy="182880"/>
          </a:xfrm>
          <a:prstGeom prst="rect">
            <a:avLst/>
          </a:prstGeom>
          <a:noFill/>
        </p:spPr>
        <p:txBody>
          <a:bodyPr wrap="square" lIns="0" rIns="0" tIns="0" bIns="0" anchor="t">
            <a:spAutoFit/>
          </a:bodyPr>
          <a:lstStyle/>
          <a:p>
            <a:r>
              <a:rPr sz="600" b="1" i="0" spc="150">
                <a:solidFill>
                  <a:srgbClr val="FFFFFF"/>
                </a:solidFill>
                <a:latin typeface="Trenda IG Text"/>
              </a:rPr>
              <a:t>ASCENSION CORE COMPONENTS</a:t>
            </a:r>
          </a:p>
        </p:txBody>
      </p:sp>
      <p:sp>
        <p:nvSpPr>
          <p:cNvPr id="120" name="Text 113"/>
          <p:cNvSpPr txBox="1"/>
          <p:nvPr/>
        </p:nvSpPr>
        <p:spPr>
          <a:xfrm>
            <a:off x="731520" y="5724144"/>
            <a:ext cx="1828800" cy="457200"/>
          </a:xfrm>
          <a:prstGeom prst="rect">
            <a:avLst/>
          </a:prstGeom>
          <a:noFill/>
        </p:spPr>
        <p:txBody>
          <a:bodyPr wrap="square" lIns="0" rIns="0" tIns="0" bIns="0" anchor="t">
            <a:spAutoFit/>
          </a:bodyPr>
          <a:lstStyle/>
          <a:p>
            <a:r>
              <a:rPr sz="1100" b="0" i="0">
                <a:solidFill>
                  <a:srgbClr val="FFFFFF"/>
                </a:solidFill>
                <a:latin typeface="Trenda IG Text"/>
              </a:rPr>
              <a:t>Infrastructure</a:t>
            </a:r>
          </a:p>
          <a:p>
            <a:r>
              <a:rPr sz="650" b="0" i="0">
                <a:solidFill>
                  <a:srgbClr val="BFBFBF"/>
                </a:solidFill>
                <a:latin typeface="Trenda IG Text"/>
              </a:rPr>
              <a:t>Runs in Ascension's cloud</a:t>
            </a:r>
          </a:p>
        </p:txBody>
      </p:sp>
      <p:pic>
        <p:nvPicPr>
          <p:cNvPr id="121" name="Picture 120" descr="salesforce.png"/>
          <p:cNvPicPr>
            <a:picLocks noChangeAspect="1"/>
          </p:cNvPicPr>
          <p:nvPr/>
        </p:nvPicPr>
        <p:blipFill>
          <a:blip r:embed="rId4"/>
          <a:stretch>
            <a:fillRect/>
          </a:stretch>
        </p:blipFill>
        <p:spPr>
          <a:xfrm>
            <a:off x="2743200" y="5522976"/>
            <a:ext cx="201168" cy="201168"/>
          </a:xfrm>
          <a:prstGeom prst="rect">
            <a:avLst/>
          </a:prstGeom>
        </p:spPr>
      </p:pic>
      <p:sp>
        <p:nvSpPr>
          <p:cNvPr id="122" name="Text 114"/>
          <p:cNvSpPr txBox="1"/>
          <p:nvPr/>
        </p:nvSpPr>
        <p:spPr>
          <a:xfrm>
            <a:off x="3017520"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Salesforce</a:t>
            </a:r>
          </a:p>
        </p:txBody>
      </p:sp>
      <p:sp>
        <p:nvSpPr>
          <p:cNvPr id="123" name="Text 115"/>
          <p:cNvSpPr txBox="1"/>
          <p:nvPr/>
        </p:nvSpPr>
        <p:spPr>
          <a:xfrm>
            <a:off x="3017520" y="5760720"/>
            <a:ext cx="1404518" cy="411480"/>
          </a:xfrm>
          <a:prstGeom prst="rect">
            <a:avLst/>
          </a:prstGeom>
          <a:noFill/>
        </p:spPr>
        <p:txBody>
          <a:bodyPr wrap="square" lIns="0" rIns="0" tIns="0" bIns="0" anchor="t">
            <a:spAutoFit/>
          </a:bodyPr>
          <a:lstStyle/>
          <a:p>
            <a:r>
              <a:rPr sz="660" b="0" i="0">
                <a:solidFill>
                  <a:srgbClr val="BFBFBF"/>
                </a:solidFill>
                <a:latin typeface="Trenda IG Text"/>
              </a:rPr>
              <a:t>Health, Marketing + Data Cloud</a:t>
            </a:r>
          </a:p>
        </p:txBody>
      </p:sp>
      <p:pic>
        <p:nvPicPr>
          <p:cNvPr id="124" name="Picture 123" descr="git.png"/>
          <p:cNvPicPr>
            <a:picLocks noChangeAspect="1"/>
          </p:cNvPicPr>
          <p:nvPr/>
        </p:nvPicPr>
        <p:blipFill>
          <a:blip r:embed="rId8"/>
          <a:stretch>
            <a:fillRect/>
          </a:stretch>
        </p:blipFill>
        <p:spPr>
          <a:xfrm>
            <a:off x="4513478" y="5522976"/>
            <a:ext cx="201168" cy="201168"/>
          </a:xfrm>
          <a:prstGeom prst="rect">
            <a:avLst/>
          </a:prstGeom>
        </p:spPr>
      </p:pic>
      <p:sp>
        <p:nvSpPr>
          <p:cNvPr id="125" name="Text 116"/>
          <p:cNvSpPr txBox="1"/>
          <p:nvPr/>
        </p:nvSpPr>
        <p:spPr>
          <a:xfrm>
            <a:off x="4787798"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Delivery</a:t>
            </a:r>
          </a:p>
        </p:txBody>
      </p:sp>
      <p:sp>
        <p:nvSpPr>
          <p:cNvPr id="126" name="Text 117"/>
          <p:cNvSpPr txBox="1"/>
          <p:nvPr/>
        </p:nvSpPr>
        <p:spPr>
          <a:xfrm>
            <a:off x="4787798" y="5760720"/>
            <a:ext cx="1404518" cy="411480"/>
          </a:xfrm>
          <a:prstGeom prst="rect">
            <a:avLst/>
          </a:prstGeom>
          <a:noFill/>
        </p:spPr>
        <p:txBody>
          <a:bodyPr wrap="square" lIns="0" rIns="0" tIns="0" bIns="0" anchor="t">
            <a:spAutoFit/>
          </a:bodyPr>
          <a:lstStyle/>
          <a:p>
            <a:r>
              <a:rPr sz="660" b="0" i="0">
                <a:solidFill>
                  <a:srgbClr val="BFBFBF"/>
                </a:solidFill>
                <a:latin typeface="Trenda IG Text"/>
              </a:rPr>
              <a:t>Copado, Git, Jira, Zephyr</a:t>
            </a:r>
          </a:p>
        </p:txBody>
      </p:sp>
      <p:pic>
        <p:nvPicPr>
          <p:cNvPr id="127" name="Picture 126" descr="googlebigquery.png"/>
          <p:cNvPicPr>
            <a:picLocks noChangeAspect="1"/>
          </p:cNvPicPr>
          <p:nvPr/>
        </p:nvPicPr>
        <p:blipFill>
          <a:blip r:embed="rId9"/>
          <a:stretch>
            <a:fillRect/>
          </a:stretch>
        </p:blipFill>
        <p:spPr>
          <a:xfrm>
            <a:off x="6283756" y="5522976"/>
            <a:ext cx="201168" cy="201168"/>
          </a:xfrm>
          <a:prstGeom prst="rect">
            <a:avLst/>
          </a:prstGeom>
        </p:spPr>
      </p:pic>
      <p:sp>
        <p:nvSpPr>
          <p:cNvPr id="128" name="Text 118"/>
          <p:cNvSpPr txBox="1"/>
          <p:nvPr/>
        </p:nvSpPr>
        <p:spPr>
          <a:xfrm>
            <a:off x="6558076" y="5504688"/>
            <a:ext cx="1404518" cy="237744"/>
          </a:xfrm>
          <a:prstGeom prst="rect">
            <a:avLst/>
          </a:prstGeom>
          <a:noFill/>
        </p:spPr>
        <p:txBody>
          <a:bodyPr wrap="square" lIns="0" rIns="0" tIns="0" bIns="0" anchor="ctr">
            <a:spAutoFit/>
          </a:bodyPr>
          <a:lstStyle/>
          <a:p>
            <a:r>
              <a:rPr sz="900" b="1" i="0">
                <a:solidFill>
                  <a:srgbClr val="FF0069"/>
                </a:solidFill>
                <a:latin typeface="Trenda IG Text"/>
              </a:rPr>
              <a:t>Data</a:t>
            </a:r>
          </a:p>
        </p:txBody>
      </p:sp>
      <p:sp>
        <p:nvSpPr>
          <p:cNvPr id="129" name="Text 119"/>
          <p:cNvSpPr txBox="1"/>
          <p:nvPr/>
        </p:nvSpPr>
        <p:spPr>
          <a:xfrm>
            <a:off x="6558076" y="5760720"/>
            <a:ext cx="1404518" cy="411480"/>
          </a:xfrm>
          <a:prstGeom prst="rect">
            <a:avLst/>
          </a:prstGeom>
          <a:noFill/>
        </p:spPr>
        <p:txBody>
          <a:bodyPr wrap="square" lIns="0" rIns="0" tIns="0" bIns="0" anchor="t">
            <a:spAutoFit/>
          </a:bodyPr>
          <a:lstStyle/>
          <a:p>
            <a:r>
              <a:rPr sz="660" b="0" i="0">
                <a:solidFill>
                  <a:srgbClr val="BFBFBF"/>
                </a:solidFill>
                <a:latin typeface="Trenda IG Text"/>
              </a:rPr>
              <a:t>BigQuery, Collibra, DLP, Looker, Spanner</a:t>
            </a:r>
          </a:p>
        </p:txBody>
      </p:sp>
      <p:pic>
        <p:nvPicPr>
          <p:cNvPr id="130" name="Picture 129" descr="openai-white.png"/>
          <p:cNvPicPr>
            <a:picLocks noChangeAspect="1"/>
          </p:cNvPicPr>
          <p:nvPr/>
        </p:nvPicPr>
        <p:blipFill>
          <a:blip r:embed="rId3"/>
          <a:stretch>
            <a:fillRect/>
          </a:stretch>
        </p:blipFill>
        <p:spPr>
          <a:xfrm>
            <a:off x="8054035" y="5522976"/>
            <a:ext cx="201168" cy="201168"/>
          </a:xfrm>
          <a:prstGeom prst="rect">
            <a:avLst/>
          </a:prstGeom>
        </p:spPr>
      </p:pic>
      <p:sp>
        <p:nvSpPr>
          <p:cNvPr id="131" name="Text 120"/>
          <p:cNvSpPr txBox="1"/>
          <p:nvPr/>
        </p:nvSpPr>
        <p:spPr>
          <a:xfrm>
            <a:off x="8328355"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Models</a:t>
            </a:r>
          </a:p>
        </p:txBody>
      </p:sp>
      <p:sp>
        <p:nvSpPr>
          <p:cNvPr id="132" name="Text 121"/>
          <p:cNvSpPr txBox="1"/>
          <p:nvPr/>
        </p:nvSpPr>
        <p:spPr>
          <a:xfrm>
            <a:off x="8328355" y="5760720"/>
            <a:ext cx="1404518" cy="411480"/>
          </a:xfrm>
          <a:prstGeom prst="rect">
            <a:avLst/>
          </a:prstGeom>
          <a:noFill/>
        </p:spPr>
        <p:txBody>
          <a:bodyPr wrap="square" lIns="0" rIns="0" tIns="0" bIns="0" anchor="t">
            <a:spAutoFit/>
          </a:bodyPr>
          <a:lstStyle/>
          <a:p>
            <a:r>
              <a:rPr sz="660" b="0" i="0">
                <a:solidFill>
                  <a:srgbClr val="BFBFBF"/>
                </a:solidFill>
                <a:latin typeface="Trenda IG Text"/>
              </a:rPr>
              <a:t>Codex Enterprise; model in config; tools via MCP</a:t>
            </a:r>
          </a:p>
        </p:txBody>
      </p:sp>
      <p:pic>
        <p:nvPicPr>
          <p:cNvPr id="133" name="Picture 132" descr="googlecloud.png"/>
          <p:cNvPicPr>
            <a:picLocks noChangeAspect="1"/>
          </p:cNvPicPr>
          <p:nvPr/>
        </p:nvPicPr>
        <p:blipFill>
          <a:blip r:embed="rId10"/>
          <a:stretch>
            <a:fillRect/>
          </a:stretch>
        </p:blipFill>
        <p:spPr>
          <a:xfrm>
            <a:off x="9824313" y="5522976"/>
            <a:ext cx="201168" cy="201168"/>
          </a:xfrm>
          <a:prstGeom prst="rect">
            <a:avLst/>
          </a:prstGeom>
        </p:spPr>
      </p:pic>
      <p:sp>
        <p:nvSpPr>
          <p:cNvPr id="134" name="Text 122"/>
          <p:cNvSpPr txBox="1"/>
          <p:nvPr/>
        </p:nvSpPr>
        <p:spPr>
          <a:xfrm>
            <a:off x="10098633" y="5504688"/>
            <a:ext cx="1404518" cy="237744"/>
          </a:xfrm>
          <a:prstGeom prst="rect">
            <a:avLst/>
          </a:prstGeom>
          <a:noFill/>
        </p:spPr>
        <p:txBody>
          <a:bodyPr wrap="square" lIns="0" rIns="0" tIns="0" bIns="0" anchor="ctr">
            <a:spAutoFit/>
          </a:bodyPr>
          <a:lstStyle/>
          <a:p>
            <a:r>
              <a:rPr sz="900" b="1" i="0">
                <a:solidFill>
                  <a:srgbClr val="FFFFFF"/>
                </a:solidFill>
                <a:latin typeface="Trenda IG Text"/>
              </a:rPr>
              <a:t>Cloud</a:t>
            </a:r>
          </a:p>
        </p:txBody>
      </p:sp>
      <p:sp>
        <p:nvSpPr>
          <p:cNvPr id="135" name="Text 123"/>
          <p:cNvSpPr txBox="1"/>
          <p:nvPr/>
        </p:nvSpPr>
        <p:spPr>
          <a:xfrm>
            <a:off x="10098633" y="5760720"/>
            <a:ext cx="1404518" cy="411480"/>
          </a:xfrm>
          <a:prstGeom prst="rect">
            <a:avLst/>
          </a:prstGeom>
          <a:noFill/>
        </p:spPr>
        <p:txBody>
          <a:bodyPr wrap="square" lIns="0" rIns="0" tIns="0" bIns="0" anchor="t">
            <a:spAutoFit/>
          </a:bodyPr>
          <a:lstStyle/>
          <a:p>
            <a:r>
              <a:rPr sz="660" b="0" i="0">
                <a:solidFill>
                  <a:srgbClr val="BFBFBF"/>
                </a:solidFill>
                <a:latin typeface="Trenda IG Text"/>
              </a:rPr>
              <a:t>Google Cloud: Cloud Run, VPC-SC, CMEK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HEALTH CLOUD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Health Cloud: one story from Codex to production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Example: NS-1234, an HFN validation rule for Texas CIN. Delivery needs the engineering context, not patient data, so the GCP data source stays out (grey).</a:t>
            </a:r>
          </a:p>
        </p:txBody>
      </p:sp>
      <p:sp>
        <p:nvSpPr>
          <p:cNvPr id="5" name="Shape 4"/>
          <p:cNvSpPr/>
          <p:nvPr/>
        </p:nvSpPr>
        <p:spPr>
          <a:xfrm>
            <a:off x="411480" y="1188720"/>
            <a:ext cx="2788920" cy="713232"/>
          </a:xfrm>
          <a:prstGeom prst="roundRect">
            <a:avLst>
              <a:gd name="adj" fmla="val 10000"/>
            </a:avLst>
          </a:prstGeom>
          <a:solidFill>
            <a:srgbClr val="000000"/>
          </a:solidFill>
          <a:ln w="1587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84632" y="1261872"/>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484632" y="1261872"/>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pic>
        <p:nvPicPr>
          <p:cNvPr id="8" name="Picture 7" descr="openai-white.png"/>
          <p:cNvPicPr>
            <a:picLocks noChangeAspect="1"/>
          </p:cNvPicPr>
          <p:nvPr/>
        </p:nvPicPr>
        <p:blipFill>
          <a:blip r:embed="rId2"/>
          <a:stretch>
            <a:fillRect/>
          </a:stretch>
        </p:blipFill>
        <p:spPr>
          <a:xfrm>
            <a:off x="749808" y="1252728"/>
            <a:ext cx="201168" cy="201168"/>
          </a:xfrm>
          <a:prstGeom prst="rect">
            <a:avLst/>
          </a:prstGeom>
        </p:spPr>
      </p:pic>
      <p:sp>
        <p:nvSpPr>
          <p:cNvPr id="9" name="Text 7"/>
          <p:cNvSpPr txBox="1"/>
          <p:nvPr/>
        </p:nvSpPr>
        <p:spPr>
          <a:xfrm>
            <a:off x="1005840" y="1234440"/>
            <a:ext cx="2103120" cy="237744"/>
          </a:xfrm>
          <a:prstGeom prst="rect">
            <a:avLst/>
          </a:prstGeom>
          <a:noFill/>
        </p:spPr>
        <p:txBody>
          <a:bodyPr wrap="square" lIns="0" rIns="0" tIns="0" bIns="0" anchor="ctr">
            <a:spAutoFit/>
          </a:bodyPr>
          <a:lstStyle/>
          <a:p>
            <a:r>
              <a:rPr sz="800" b="1" i="0">
                <a:solidFill>
                  <a:srgbClr val="FFFFFF"/>
                </a:solidFill>
                <a:latin typeface="Trenda IG Text"/>
              </a:rPr>
              <a:t>Start in Codex or the LWC</a:t>
            </a:r>
          </a:p>
        </p:txBody>
      </p:sp>
      <p:sp>
        <p:nvSpPr>
          <p:cNvPr id="10" name="Text 8"/>
          <p:cNvSpPr txBox="1"/>
          <p:nvPr/>
        </p:nvSpPr>
        <p:spPr>
          <a:xfrm>
            <a:off x="521207" y="1517904"/>
            <a:ext cx="2606040" cy="365760"/>
          </a:xfrm>
          <a:prstGeom prst="rect">
            <a:avLst/>
          </a:prstGeom>
          <a:noFill/>
        </p:spPr>
        <p:txBody>
          <a:bodyPr wrap="square" lIns="0" rIns="0" tIns="0" bIns="0" anchor="t">
            <a:spAutoFit/>
          </a:bodyPr>
          <a:lstStyle/>
          <a:p>
            <a:r>
              <a:rPr sz="680" b="0" i="0">
                <a:solidFill>
                  <a:srgbClr val="BFBFBF"/>
                </a:solidFill>
                <a:latin typeface="Courier New"/>
              </a:rPr>
              <a:t>“Deliver NS-1234: HFN validation rule for Texas CIN”</a:t>
            </a:r>
          </a:p>
        </p:txBody>
      </p:sp>
      <p:sp>
        <p:nvSpPr>
          <p:cNvPr id="11" name="Shape 9"/>
          <p:cNvSpPr/>
          <p:nvPr/>
        </p:nvSpPr>
        <p:spPr>
          <a:xfrm>
            <a:off x="3337560" y="1188720"/>
            <a:ext cx="2721864" cy="713232"/>
          </a:xfrm>
          <a:prstGeom prst="roundRect">
            <a:avLst>
              <a:gd name="adj" fmla="val 7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3429000"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Run orchestration</a:t>
            </a:r>
          </a:p>
        </p:txBody>
      </p:sp>
      <p:sp>
        <p:nvSpPr>
          <p:cNvPr id="13" name="Text 11"/>
          <p:cNvSpPr txBox="1"/>
          <p:nvPr/>
        </p:nvSpPr>
        <p:spPr>
          <a:xfrm>
            <a:off x="3429000" y="1472184"/>
            <a:ext cx="2538983" cy="402336"/>
          </a:xfrm>
          <a:prstGeom prst="rect">
            <a:avLst/>
          </a:prstGeom>
          <a:noFill/>
        </p:spPr>
        <p:txBody>
          <a:bodyPr wrap="square" lIns="0" rIns="0" tIns="0" bIns="0" anchor="t">
            <a:spAutoFit/>
          </a:bodyPr>
          <a:lstStyle/>
          <a:p>
            <a:pPr>
              <a:spcAft>
                <a:spcPts val="100"/>
              </a:spcAft>
            </a:pPr>
            <a:r>
              <a:rPr sz="650" b="0" i="0">
                <a:solidFill>
                  <a:srgbClr val="BFBFBF"/>
                </a:solidFill>
                <a:latin typeface="Trenda IG Text"/>
              </a:rPr>
              <a:t>Cloud Workflows: 9 steps, checkpoints, resumable</a:t>
            </a:r>
          </a:p>
        </p:txBody>
      </p:sp>
      <p:sp>
        <p:nvSpPr>
          <p:cNvPr id="14" name="Shape 12"/>
          <p:cNvSpPr/>
          <p:nvPr/>
        </p:nvSpPr>
        <p:spPr>
          <a:xfrm>
            <a:off x="6196584" y="1188720"/>
            <a:ext cx="2721864" cy="713232"/>
          </a:xfrm>
          <a:prstGeom prst="roundRect">
            <a:avLst>
              <a:gd name="adj" fmla="val 7000"/>
            </a:avLst>
          </a:prstGeom>
          <a:solidFill>
            <a:srgbClr val="2B0716"/>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3"/>
          <p:cNvSpPr txBox="1"/>
          <p:nvPr/>
        </p:nvSpPr>
        <p:spPr>
          <a:xfrm>
            <a:off x="6288023"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Tool gateway</a:t>
            </a:r>
          </a:p>
        </p:txBody>
      </p:sp>
      <p:sp>
        <p:nvSpPr>
          <p:cNvPr id="16" name="Text 14"/>
          <p:cNvSpPr txBox="1"/>
          <p:nvPr/>
        </p:nvSpPr>
        <p:spPr>
          <a:xfrm>
            <a:off x="6288023" y="1472184"/>
            <a:ext cx="2538983" cy="402336"/>
          </a:xfrm>
          <a:prstGeom prst="rect">
            <a:avLst/>
          </a:prstGeom>
          <a:noFill/>
        </p:spPr>
        <p:txBody>
          <a:bodyPr wrap="square" lIns="0" rIns="0" tIns="0" bIns="0" anchor="t">
            <a:spAutoFit/>
          </a:bodyPr>
          <a:lstStyle/>
          <a:p>
            <a:pPr>
              <a:spcAft>
                <a:spcPts val="100"/>
              </a:spcAft>
            </a:pPr>
            <a:r>
              <a:rPr sz="650" b="0" i="0">
                <a:solidFill>
                  <a:srgbClr val="BFBFBF"/>
                </a:solidFill>
                <a:latin typeface="Trenda IG Text"/>
              </a:rPr>
              <a:t>3 identities: read, develop, release; no production</a:t>
            </a:r>
          </a:p>
        </p:txBody>
      </p:sp>
      <p:sp>
        <p:nvSpPr>
          <p:cNvPr id="17" name="Shape 15"/>
          <p:cNvSpPr/>
          <p:nvPr/>
        </p:nvSpPr>
        <p:spPr>
          <a:xfrm>
            <a:off x="9055608" y="1188720"/>
            <a:ext cx="2721864" cy="713232"/>
          </a:xfrm>
          <a:prstGeom prst="roundRect">
            <a:avLst>
              <a:gd name="adj" fmla="val 7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9147047" y="1243584"/>
            <a:ext cx="2557272" cy="201168"/>
          </a:xfrm>
          <a:prstGeom prst="rect">
            <a:avLst/>
          </a:prstGeom>
          <a:noFill/>
        </p:spPr>
        <p:txBody>
          <a:bodyPr wrap="square" lIns="0" rIns="0" tIns="0" bIns="0" anchor="ctr">
            <a:spAutoFit/>
          </a:bodyPr>
          <a:lstStyle/>
          <a:p>
            <a:r>
              <a:rPr sz="800" b="1" i="0">
                <a:solidFill>
                  <a:srgbClr val="FFFFFF"/>
                </a:solidFill>
                <a:latin typeface="Trenda IG Text"/>
              </a:rPr>
              <a:t>Evals on every step</a:t>
            </a:r>
          </a:p>
        </p:txBody>
      </p:sp>
      <p:sp>
        <p:nvSpPr>
          <p:cNvPr id="19" name="Text 17"/>
          <p:cNvSpPr txBox="1"/>
          <p:nvPr/>
        </p:nvSpPr>
        <p:spPr>
          <a:xfrm>
            <a:off x="9147047" y="1472184"/>
            <a:ext cx="2538983" cy="402336"/>
          </a:xfrm>
          <a:prstGeom prst="rect">
            <a:avLst/>
          </a:prstGeom>
          <a:noFill/>
        </p:spPr>
        <p:txBody>
          <a:bodyPr wrap="square" lIns="0" rIns="0" tIns="0" bIns="0" anchor="t">
            <a:spAutoFit/>
          </a:bodyPr>
          <a:lstStyle/>
          <a:p>
            <a:pPr>
              <a:spcAft>
                <a:spcPts val="100"/>
              </a:spcAft>
            </a:pPr>
            <a:r>
              <a:rPr sz="650" b="0" i="0">
                <a:solidFill>
                  <a:srgbClr val="BFBFBF"/>
                </a:solidFill>
                <a:latin typeface="Trenda IG Text"/>
              </a:rPr>
              <a:t>Scored before it moves; max 5 retries, then a named owner</a:t>
            </a:r>
          </a:p>
        </p:txBody>
      </p:sp>
      <p:cxnSp>
        <p:nvCxnSpPr>
          <p:cNvPr id="20" name="Arrow 18"/>
          <p:cNvCxnSpPr/>
          <p:nvPr/>
        </p:nvCxnSpPr>
        <p:spPr>
          <a:xfrm>
            <a:off x="3200400" y="1545336"/>
            <a:ext cx="137160"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19"/>
          <p:cNvSpPr/>
          <p:nvPr/>
        </p:nvSpPr>
        <p:spPr>
          <a:xfrm>
            <a:off x="434339" y="2194560"/>
            <a:ext cx="1463040" cy="1115568"/>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0"/>
          <p:cNvSpPr/>
          <p:nvPr/>
        </p:nvSpPr>
        <p:spPr>
          <a:xfrm>
            <a:off x="507491"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1"/>
          <p:cNvSpPr txBox="1"/>
          <p:nvPr/>
        </p:nvSpPr>
        <p:spPr>
          <a:xfrm>
            <a:off x="507491" y="225856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24" name="Text 22"/>
          <p:cNvSpPr txBox="1"/>
          <p:nvPr/>
        </p:nvSpPr>
        <p:spPr>
          <a:xfrm>
            <a:off x="763523"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Requirements Agent</a:t>
            </a:r>
          </a:p>
        </p:txBody>
      </p:sp>
      <p:sp>
        <p:nvSpPr>
          <p:cNvPr id="25" name="Text 23"/>
          <p:cNvSpPr txBox="1"/>
          <p:nvPr/>
        </p:nvSpPr>
        <p:spPr>
          <a:xfrm>
            <a:off x="525779" y="2478024"/>
            <a:ext cx="1280160" cy="804671"/>
          </a:xfrm>
          <a:prstGeom prst="rect">
            <a:avLst/>
          </a:prstGeom>
          <a:noFill/>
        </p:spPr>
        <p:txBody>
          <a:bodyPr wrap="square" lIns="0" rIns="0" tIns="0" bIns="0" anchor="t">
            <a:spAutoFit/>
          </a:bodyPr>
          <a:lstStyle/>
          <a:p>
            <a:pPr>
              <a:spcAft>
                <a:spcPts val="100"/>
              </a:spcAft>
            </a:pPr>
            <a:r>
              <a:rPr sz="630" b="0" i="0">
                <a:solidFill>
                  <a:srgbClr val="BFBFBF"/>
                </a:solidFill>
                <a:latin typeface="Trenda IG Text"/>
              </a:rPr>
              <a:t>Brief from the Jira story + Confluence design; open questions flagged.</a:t>
            </a:r>
          </a:p>
        </p:txBody>
      </p:sp>
      <p:sp>
        <p:nvSpPr>
          <p:cNvPr id="26" name="Shape 24"/>
          <p:cNvSpPr/>
          <p:nvPr/>
        </p:nvSpPr>
        <p:spPr>
          <a:xfrm>
            <a:off x="937259" y="3364991"/>
            <a:ext cx="457200" cy="155448"/>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5"/>
          <p:cNvSpPr txBox="1"/>
          <p:nvPr/>
        </p:nvSpPr>
        <p:spPr>
          <a:xfrm>
            <a:off x="937259" y="3364991"/>
            <a:ext cx="457200" cy="155448"/>
          </a:xfrm>
          <a:prstGeom prst="rect">
            <a:avLst/>
          </a:prstGeom>
          <a:noFill/>
        </p:spPr>
        <p:txBody>
          <a:bodyPr wrap="square" lIns="0" rIns="0" tIns="0" bIns="0" anchor="ctr">
            <a:spAutoFit/>
          </a:bodyPr>
          <a:lstStyle/>
          <a:p>
            <a:pPr algn="ctr"/>
            <a:r>
              <a:rPr sz="560" b="1" i="0" spc="80">
                <a:solidFill>
                  <a:srgbClr val="000000"/>
                </a:solidFill>
                <a:latin typeface="Trenda IG Text"/>
              </a:rPr>
              <a:t>EVALS</a:t>
            </a:r>
          </a:p>
        </p:txBody>
      </p:sp>
      <p:sp>
        <p:nvSpPr>
          <p:cNvPr id="28" name="Shape 26"/>
          <p:cNvSpPr/>
          <p:nvPr/>
        </p:nvSpPr>
        <p:spPr>
          <a:xfrm>
            <a:off x="1988819"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eople-black.png"/>
          <p:cNvPicPr>
            <a:picLocks noChangeAspect="1"/>
          </p:cNvPicPr>
          <p:nvPr/>
        </p:nvPicPr>
        <p:blipFill>
          <a:blip r:embed="rId3"/>
          <a:stretch>
            <a:fillRect/>
          </a:stretch>
        </p:blipFill>
        <p:spPr>
          <a:xfrm>
            <a:off x="2180844" y="2286000"/>
            <a:ext cx="182880" cy="182880"/>
          </a:xfrm>
          <a:prstGeom prst="rect">
            <a:avLst/>
          </a:prstGeom>
        </p:spPr>
      </p:pic>
      <p:sp>
        <p:nvSpPr>
          <p:cNvPr id="30" name="Text 27"/>
          <p:cNvSpPr txBox="1"/>
          <p:nvPr/>
        </p:nvSpPr>
        <p:spPr>
          <a:xfrm>
            <a:off x="2016251"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H1</a:t>
            </a:r>
          </a:p>
        </p:txBody>
      </p:sp>
      <p:sp>
        <p:nvSpPr>
          <p:cNvPr id="31" name="Text 28"/>
          <p:cNvSpPr txBox="1"/>
          <p:nvPr/>
        </p:nvSpPr>
        <p:spPr>
          <a:xfrm>
            <a:off x="2016251" y="2761488"/>
            <a:ext cx="512064" cy="502920"/>
          </a:xfrm>
          <a:prstGeom prst="rect">
            <a:avLst/>
          </a:prstGeom>
          <a:noFill/>
        </p:spPr>
        <p:txBody>
          <a:bodyPr wrap="square" lIns="0" rIns="0" tIns="0" bIns="0" anchor="t">
            <a:spAutoFit/>
          </a:bodyPr>
          <a:lstStyle/>
          <a:p>
            <a:pPr algn="ctr"/>
            <a:r>
              <a:rPr sz="600" b="0" i="0">
                <a:solidFill>
                  <a:srgbClr val="000000"/>
                </a:solidFill>
                <a:latin typeface="Trenda IG Text"/>
              </a:rPr>
              <a:t>product owner</a:t>
            </a:r>
          </a:p>
        </p:txBody>
      </p:sp>
      <p:sp>
        <p:nvSpPr>
          <p:cNvPr id="32" name="Shape 29"/>
          <p:cNvSpPr/>
          <p:nvPr/>
        </p:nvSpPr>
        <p:spPr>
          <a:xfrm>
            <a:off x="2647187" y="2194560"/>
            <a:ext cx="1463040" cy="1115568"/>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hape 30"/>
          <p:cNvSpPr/>
          <p:nvPr/>
        </p:nvSpPr>
        <p:spPr>
          <a:xfrm>
            <a:off x="2720339"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1"/>
          <p:cNvSpPr txBox="1"/>
          <p:nvPr/>
        </p:nvSpPr>
        <p:spPr>
          <a:xfrm>
            <a:off x="2720339" y="225856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sp>
        <p:nvSpPr>
          <p:cNvPr id="35" name="Text 32"/>
          <p:cNvSpPr txBox="1"/>
          <p:nvPr/>
        </p:nvSpPr>
        <p:spPr>
          <a:xfrm>
            <a:off x="2976371" y="2249424"/>
            <a:ext cx="1060703" cy="201168"/>
          </a:xfrm>
          <a:prstGeom prst="rect">
            <a:avLst/>
          </a:prstGeom>
          <a:noFill/>
        </p:spPr>
        <p:txBody>
          <a:bodyPr wrap="square" lIns="0" rIns="0" tIns="0" bIns="0" anchor="ctr">
            <a:spAutoFit/>
          </a:bodyPr>
          <a:lstStyle/>
          <a:p>
            <a:r>
              <a:rPr sz="740" b="1" i="0">
                <a:solidFill>
                  <a:srgbClr val="FFFFFF"/>
                </a:solidFill>
                <a:latin typeface="Trenda IG Text"/>
              </a:rPr>
              <a:t>Architect Agent</a:t>
            </a:r>
          </a:p>
        </p:txBody>
      </p:sp>
      <p:sp>
        <p:nvSpPr>
          <p:cNvPr id="36" name="Text 33"/>
          <p:cNvSpPr txBox="1"/>
          <p:nvPr/>
        </p:nvSpPr>
        <p:spPr>
          <a:xfrm>
            <a:off x="2738627" y="2478024"/>
            <a:ext cx="1280160" cy="804671"/>
          </a:xfrm>
          <a:prstGeom prst="rect">
            <a:avLst/>
          </a:prstGeom>
          <a:noFill/>
        </p:spPr>
        <p:txBody>
          <a:bodyPr wrap="square" lIns="0" rIns="0" tIns="0" bIns="0" anchor="t">
            <a:spAutoFit/>
          </a:bodyPr>
          <a:lstStyle/>
          <a:p>
            <a:pPr>
              <a:spcAft>
                <a:spcPts val="100"/>
              </a:spcAft>
            </a:pPr>
            <a:r>
              <a:rPr sz="630" b="0" i="0">
                <a:solidFill>
                  <a:srgbClr val="BFBFBF"/>
                </a:solidFill>
                <a:latin typeface="Trenda IG Text"/>
              </a:rPr>
              <a:t>Reuse and impact from the graph; Change Guardian names affected pods.</a:t>
            </a:r>
          </a:p>
        </p:txBody>
      </p:sp>
      <p:sp>
        <p:nvSpPr>
          <p:cNvPr id="37" name="Shape 34"/>
          <p:cNvSpPr/>
          <p:nvPr/>
        </p:nvSpPr>
        <p:spPr>
          <a:xfrm>
            <a:off x="3150107" y="3364991"/>
            <a:ext cx="457200" cy="155448"/>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3150107" y="3364991"/>
            <a:ext cx="457200" cy="155448"/>
          </a:xfrm>
          <a:prstGeom prst="rect">
            <a:avLst/>
          </a:prstGeom>
          <a:noFill/>
        </p:spPr>
        <p:txBody>
          <a:bodyPr wrap="square" lIns="0" rIns="0" tIns="0" bIns="0" anchor="ctr">
            <a:spAutoFit/>
          </a:bodyPr>
          <a:lstStyle/>
          <a:p>
            <a:pPr algn="ctr"/>
            <a:r>
              <a:rPr sz="560" b="1" i="0" spc="80">
                <a:solidFill>
                  <a:srgbClr val="000000"/>
                </a:solidFill>
                <a:latin typeface="Trenda IG Text"/>
              </a:rPr>
              <a:t>EVALS</a:t>
            </a:r>
          </a:p>
        </p:txBody>
      </p:sp>
      <p:sp>
        <p:nvSpPr>
          <p:cNvPr id="39" name="Shape 36"/>
          <p:cNvSpPr/>
          <p:nvPr/>
        </p:nvSpPr>
        <p:spPr>
          <a:xfrm>
            <a:off x="4201668"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people-black.png"/>
          <p:cNvPicPr>
            <a:picLocks noChangeAspect="1"/>
          </p:cNvPicPr>
          <p:nvPr/>
        </p:nvPicPr>
        <p:blipFill>
          <a:blip r:embed="rId3"/>
          <a:stretch>
            <a:fillRect/>
          </a:stretch>
        </p:blipFill>
        <p:spPr>
          <a:xfrm>
            <a:off x="4393692" y="2286000"/>
            <a:ext cx="182880" cy="182880"/>
          </a:xfrm>
          <a:prstGeom prst="rect">
            <a:avLst/>
          </a:prstGeom>
        </p:spPr>
      </p:pic>
      <p:sp>
        <p:nvSpPr>
          <p:cNvPr id="41" name="Text 37"/>
          <p:cNvSpPr txBox="1"/>
          <p:nvPr/>
        </p:nvSpPr>
        <p:spPr>
          <a:xfrm>
            <a:off x="4229100"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H2</a:t>
            </a:r>
          </a:p>
        </p:txBody>
      </p:sp>
      <p:sp>
        <p:nvSpPr>
          <p:cNvPr id="42" name="Text 38"/>
          <p:cNvSpPr txBox="1"/>
          <p:nvPr/>
        </p:nvSpPr>
        <p:spPr>
          <a:xfrm>
            <a:off x="4229100" y="2761488"/>
            <a:ext cx="512064" cy="502920"/>
          </a:xfrm>
          <a:prstGeom prst="rect">
            <a:avLst/>
          </a:prstGeom>
          <a:noFill/>
        </p:spPr>
        <p:txBody>
          <a:bodyPr wrap="square" lIns="0" rIns="0" tIns="0" bIns="0" anchor="t">
            <a:spAutoFit/>
          </a:bodyPr>
          <a:lstStyle/>
          <a:p>
            <a:pPr algn="ctr"/>
            <a:r>
              <a:rPr sz="600" b="0" i="0">
                <a:solidFill>
                  <a:srgbClr val="000000"/>
                </a:solidFill>
                <a:latin typeface="Trenda IG Text"/>
              </a:rPr>
              <a:t>architect + pod owners</a:t>
            </a:r>
          </a:p>
        </p:txBody>
      </p:sp>
      <p:sp>
        <p:nvSpPr>
          <p:cNvPr id="43" name="Shape 39"/>
          <p:cNvSpPr/>
          <p:nvPr/>
        </p:nvSpPr>
        <p:spPr>
          <a:xfrm>
            <a:off x="4860036" y="2194560"/>
            <a:ext cx="1463040" cy="1115568"/>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0"/>
          <p:cNvSpPr/>
          <p:nvPr/>
        </p:nvSpPr>
        <p:spPr>
          <a:xfrm>
            <a:off x="493318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1"/>
          <p:cNvSpPr txBox="1"/>
          <p:nvPr/>
        </p:nvSpPr>
        <p:spPr>
          <a:xfrm>
            <a:off x="4933188" y="225856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4</a:t>
            </a:r>
          </a:p>
        </p:txBody>
      </p:sp>
      <p:sp>
        <p:nvSpPr>
          <p:cNvPr id="46" name="Text 42"/>
          <p:cNvSpPr txBox="1"/>
          <p:nvPr/>
        </p:nvSpPr>
        <p:spPr>
          <a:xfrm>
            <a:off x="5189220" y="2249424"/>
            <a:ext cx="1060703" cy="201168"/>
          </a:xfrm>
          <a:prstGeom prst="rect">
            <a:avLst/>
          </a:prstGeom>
          <a:noFill/>
        </p:spPr>
        <p:txBody>
          <a:bodyPr wrap="square" lIns="0" rIns="0" tIns="0" bIns="0" anchor="ctr">
            <a:spAutoFit/>
          </a:bodyPr>
          <a:lstStyle/>
          <a:p>
            <a:r>
              <a:rPr sz="740" b="1" i="0">
                <a:solidFill>
                  <a:srgbClr val="FFFFFF"/>
                </a:solidFill>
                <a:latin typeface="Trenda IG Text"/>
              </a:rPr>
              <a:t>Developer Agent</a:t>
            </a:r>
          </a:p>
        </p:txBody>
      </p:sp>
      <p:sp>
        <p:nvSpPr>
          <p:cNvPr id="47" name="Text 43"/>
          <p:cNvSpPr txBox="1"/>
          <p:nvPr/>
        </p:nvSpPr>
        <p:spPr>
          <a:xfrm>
            <a:off x="4951475" y="2478024"/>
            <a:ext cx="1280160" cy="804671"/>
          </a:xfrm>
          <a:prstGeom prst="rect">
            <a:avLst/>
          </a:prstGeom>
          <a:noFill/>
        </p:spPr>
        <p:txBody>
          <a:bodyPr wrap="square" lIns="0" rIns="0" tIns="0" bIns="0" anchor="t">
            <a:spAutoFit/>
          </a:bodyPr>
          <a:lstStyle/>
          <a:p>
            <a:pPr>
              <a:spcAft>
                <a:spcPts val="100"/>
              </a:spcAft>
            </a:pPr>
            <a:r>
              <a:rPr sz="630" b="0" i="0">
                <a:solidFill>
                  <a:srgbClr val="BFBFBF"/>
                </a:solidFill>
                <a:latin typeface="Trenda IG Text"/>
              </a:rPr>
              <a:t>Validation rule, Flow and tests in the DEV sandbox, on its own branch.</a:t>
            </a:r>
          </a:p>
        </p:txBody>
      </p:sp>
      <p:sp>
        <p:nvSpPr>
          <p:cNvPr id="48" name="Shape 44"/>
          <p:cNvSpPr/>
          <p:nvPr/>
        </p:nvSpPr>
        <p:spPr>
          <a:xfrm>
            <a:off x="5362955" y="3364991"/>
            <a:ext cx="457200" cy="155448"/>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5362955" y="3364991"/>
            <a:ext cx="457200" cy="155448"/>
          </a:xfrm>
          <a:prstGeom prst="rect">
            <a:avLst/>
          </a:prstGeom>
          <a:noFill/>
        </p:spPr>
        <p:txBody>
          <a:bodyPr wrap="square" lIns="0" rIns="0" tIns="0" bIns="0" anchor="ctr">
            <a:spAutoFit/>
          </a:bodyPr>
          <a:lstStyle/>
          <a:p>
            <a:pPr algn="ctr"/>
            <a:r>
              <a:rPr sz="560" b="1" i="0" spc="80">
                <a:solidFill>
                  <a:srgbClr val="000000"/>
                </a:solidFill>
                <a:latin typeface="Trenda IG Text"/>
              </a:rPr>
              <a:t>EVALS</a:t>
            </a:r>
          </a:p>
        </p:txBody>
      </p:sp>
      <p:sp>
        <p:nvSpPr>
          <p:cNvPr id="50" name="Shape 46"/>
          <p:cNvSpPr/>
          <p:nvPr/>
        </p:nvSpPr>
        <p:spPr>
          <a:xfrm>
            <a:off x="6414516" y="2194560"/>
            <a:ext cx="1463040" cy="1115568"/>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7"/>
          <p:cNvSpPr/>
          <p:nvPr/>
        </p:nvSpPr>
        <p:spPr>
          <a:xfrm>
            <a:off x="6487668"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6487668" y="225856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5</a:t>
            </a:r>
          </a:p>
        </p:txBody>
      </p:sp>
      <p:sp>
        <p:nvSpPr>
          <p:cNvPr id="53" name="Text 49"/>
          <p:cNvSpPr txBox="1"/>
          <p:nvPr/>
        </p:nvSpPr>
        <p:spPr>
          <a:xfrm>
            <a:off x="6743700"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Review + Test Agents</a:t>
            </a:r>
          </a:p>
        </p:txBody>
      </p:sp>
      <p:sp>
        <p:nvSpPr>
          <p:cNvPr id="54" name="Text 50"/>
          <p:cNvSpPr txBox="1"/>
          <p:nvPr/>
        </p:nvSpPr>
        <p:spPr>
          <a:xfrm>
            <a:off x="6505955" y="2478024"/>
            <a:ext cx="1280160" cy="804671"/>
          </a:xfrm>
          <a:prstGeom prst="rect">
            <a:avLst/>
          </a:prstGeom>
          <a:noFill/>
        </p:spPr>
        <p:txBody>
          <a:bodyPr wrap="square" lIns="0" rIns="0" tIns="0" bIns="0" anchor="t">
            <a:spAutoFit/>
          </a:bodyPr>
          <a:lstStyle/>
          <a:p>
            <a:pPr>
              <a:spcAft>
                <a:spcPts val="100"/>
              </a:spcAft>
            </a:pPr>
            <a:r>
              <a:rPr sz="630" b="0" i="0">
                <a:solidFill>
                  <a:srgbClr val="BFBFBF"/>
                </a:solidFill>
                <a:latin typeface="Trenda IG Text"/>
              </a:rPr>
              <a:t>Code, security and sharing checks; Apex tests and Zephyr cases.</a:t>
            </a:r>
          </a:p>
        </p:txBody>
      </p:sp>
      <p:sp>
        <p:nvSpPr>
          <p:cNvPr id="55" name="Shape 51"/>
          <p:cNvSpPr/>
          <p:nvPr/>
        </p:nvSpPr>
        <p:spPr>
          <a:xfrm>
            <a:off x="6917436" y="3364991"/>
            <a:ext cx="457200" cy="155448"/>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6917436" y="3364991"/>
            <a:ext cx="457200" cy="155448"/>
          </a:xfrm>
          <a:prstGeom prst="rect">
            <a:avLst/>
          </a:prstGeom>
          <a:noFill/>
        </p:spPr>
        <p:txBody>
          <a:bodyPr wrap="square" lIns="0" rIns="0" tIns="0" bIns="0" anchor="ctr">
            <a:spAutoFit/>
          </a:bodyPr>
          <a:lstStyle/>
          <a:p>
            <a:pPr algn="ctr"/>
            <a:r>
              <a:rPr sz="560" b="1" i="0" spc="80">
                <a:solidFill>
                  <a:srgbClr val="000000"/>
                </a:solidFill>
                <a:latin typeface="Trenda IG Text"/>
              </a:rPr>
              <a:t>EVALS</a:t>
            </a:r>
          </a:p>
        </p:txBody>
      </p:sp>
      <p:sp>
        <p:nvSpPr>
          <p:cNvPr id="57" name="Shape 53"/>
          <p:cNvSpPr/>
          <p:nvPr/>
        </p:nvSpPr>
        <p:spPr>
          <a:xfrm>
            <a:off x="7968996"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people-black.png"/>
          <p:cNvPicPr>
            <a:picLocks noChangeAspect="1"/>
          </p:cNvPicPr>
          <p:nvPr/>
        </p:nvPicPr>
        <p:blipFill>
          <a:blip r:embed="rId3"/>
          <a:stretch>
            <a:fillRect/>
          </a:stretch>
        </p:blipFill>
        <p:spPr>
          <a:xfrm>
            <a:off x="8161020" y="2286000"/>
            <a:ext cx="182880" cy="182880"/>
          </a:xfrm>
          <a:prstGeom prst="rect">
            <a:avLst/>
          </a:prstGeom>
        </p:spPr>
      </p:pic>
      <p:sp>
        <p:nvSpPr>
          <p:cNvPr id="59" name="Text 54"/>
          <p:cNvSpPr txBox="1"/>
          <p:nvPr/>
        </p:nvSpPr>
        <p:spPr>
          <a:xfrm>
            <a:off x="7996427"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H3</a:t>
            </a:r>
          </a:p>
        </p:txBody>
      </p:sp>
      <p:sp>
        <p:nvSpPr>
          <p:cNvPr id="60" name="Text 55"/>
          <p:cNvSpPr txBox="1"/>
          <p:nvPr/>
        </p:nvSpPr>
        <p:spPr>
          <a:xfrm>
            <a:off x="7996427" y="2761488"/>
            <a:ext cx="512064" cy="502920"/>
          </a:xfrm>
          <a:prstGeom prst="rect">
            <a:avLst/>
          </a:prstGeom>
          <a:noFill/>
        </p:spPr>
        <p:txBody>
          <a:bodyPr wrap="square" lIns="0" rIns="0" tIns="0" bIns="0" anchor="t">
            <a:spAutoFit/>
          </a:bodyPr>
          <a:lstStyle/>
          <a:p>
            <a:pPr algn="ctr"/>
            <a:r>
              <a:rPr sz="600" b="0" i="0">
                <a:solidFill>
                  <a:srgbClr val="000000"/>
                </a:solidFill>
                <a:latin typeface="Trenda IG Text"/>
              </a:rPr>
              <a:t>tech lead + security</a:t>
            </a:r>
          </a:p>
        </p:txBody>
      </p:sp>
      <p:sp>
        <p:nvSpPr>
          <p:cNvPr id="61" name="Shape 56"/>
          <p:cNvSpPr/>
          <p:nvPr/>
        </p:nvSpPr>
        <p:spPr>
          <a:xfrm>
            <a:off x="8627364" y="2194560"/>
            <a:ext cx="1463040" cy="1115568"/>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57"/>
          <p:cNvSpPr/>
          <p:nvPr/>
        </p:nvSpPr>
        <p:spPr>
          <a:xfrm>
            <a:off x="8700516" y="225856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8"/>
          <p:cNvSpPr txBox="1"/>
          <p:nvPr/>
        </p:nvSpPr>
        <p:spPr>
          <a:xfrm>
            <a:off x="8700516" y="225856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6</a:t>
            </a:r>
          </a:p>
        </p:txBody>
      </p:sp>
      <p:sp>
        <p:nvSpPr>
          <p:cNvPr id="64" name="Text 59"/>
          <p:cNvSpPr txBox="1"/>
          <p:nvPr/>
        </p:nvSpPr>
        <p:spPr>
          <a:xfrm>
            <a:off x="8956548" y="2249424"/>
            <a:ext cx="1060704" cy="201168"/>
          </a:xfrm>
          <a:prstGeom prst="rect">
            <a:avLst/>
          </a:prstGeom>
          <a:noFill/>
        </p:spPr>
        <p:txBody>
          <a:bodyPr wrap="square" lIns="0" rIns="0" tIns="0" bIns="0" anchor="ctr">
            <a:spAutoFit/>
          </a:bodyPr>
          <a:lstStyle/>
          <a:p>
            <a:r>
              <a:rPr sz="740" b="1" i="0">
                <a:solidFill>
                  <a:srgbClr val="FFFFFF"/>
                </a:solidFill>
                <a:latin typeface="Trenda IG Text"/>
              </a:rPr>
              <a:t>Release Agent</a:t>
            </a:r>
          </a:p>
        </p:txBody>
      </p:sp>
      <p:sp>
        <p:nvSpPr>
          <p:cNvPr id="65" name="Text 60"/>
          <p:cNvSpPr txBox="1"/>
          <p:nvPr/>
        </p:nvSpPr>
        <p:spPr>
          <a:xfrm>
            <a:off x="8718804" y="2478024"/>
            <a:ext cx="1280160" cy="804671"/>
          </a:xfrm>
          <a:prstGeom prst="rect">
            <a:avLst/>
          </a:prstGeom>
          <a:noFill/>
        </p:spPr>
        <p:txBody>
          <a:bodyPr wrap="square" lIns="0" rIns="0" tIns="0" bIns="0" anchor="t">
            <a:spAutoFit/>
          </a:bodyPr>
          <a:lstStyle/>
          <a:p>
            <a:pPr>
              <a:spcAft>
                <a:spcPts val="100"/>
              </a:spcAft>
            </a:pPr>
            <a:r>
              <a:rPr sz="630" b="0" i="0">
                <a:solidFill>
                  <a:srgbClr val="BFBFBF"/>
                </a:solidFill>
                <a:latin typeface="Trenda IG Text"/>
              </a:rPr>
              <a:t>Copado promotion to SIT, then UAT; rollback plan and CAB pack.</a:t>
            </a:r>
          </a:p>
        </p:txBody>
      </p:sp>
      <p:sp>
        <p:nvSpPr>
          <p:cNvPr id="66" name="Shape 61"/>
          <p:cNvSpPr/>
          <p:nvPr/>
        </p:nvSpPr>
        <p:spPr>
          <a:xfrm>
            <a:off x="9130284" y="3364991"/>
            <a:ext cx="457200" cy="155448"/>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2"/>
          <p:cNvSpPr txBox="1"/>
          <p:nvPr/>
        </p:nvSpPr>
        <p:spPr>
          <a:xfrm>
            <a:off x="9130284" y="3364991"/>
            <a:ext cx="457200" cy="155448"/>
          </a:xfrm>
          <a:prstGeom prst="rect">
            <a:avLst/>
          </a:prstGeom>
          <a:noFill/>
        </p:spPr>
        <p:txBody>
          <a:bodyPr wrap="square" lIns="0" rIns="0" tIns="0" bIns="0" anchor="ctr">
            <a:spAutoFit/>
          </a:bodyPr>
          <a:lstStyle/>
          <a:p>
            <a:pPr algn="ctr"/>
            <a:r>
              <a:rPr sz="560" b="1" i="0" spc="80">
                <a:solidFill>
                  <a:srgbClr val="000000"/>
                </a:solidFill>
                <a:latin typeface="Trenda IG Text"/>
              </a:rPr>
              <a:t>EVALS</a:t>
            </a:r>
          </a:p>
        </p:txBody>
      </p:sp>
      <p:sp>
        <p:nvSpPr>
          <p:cNvPr id="68" name="Shape 63"/>
          <p:cNvSpPr/>
          <p:nvPr/>
        </p:nvSpPr>
        <p:spPr>
          <a:xfrm>
            <a:off x="10181844"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people-black.png"/>
          <p:cNvPicPr>
            <a:picLocks noChangeAspect="1"/>
          </p:cNvPicPr>
          <p:nvPr/>
        </p:nvPicPr>
        <p:blipFill>
          <a:blip r:embed="rId3"/>
          <a:stretch>
            <a:fillRect/>
          </a:stretch>
        </p:blipFill>
        <p:spPr>
          <a:xfrm>
            <a:off x="10373868" y="2286000"/>
            <a:ext cx="182880" cy="182880"/>
          </a:xfrm>
          <a:prstGeom prst="rect">
            <a:avLst/>
          </a:prstGeom>
        </p:spPr>
      </p:pic>
      <p:sp>
        <p:nvSpPr>
          <p:cNvPr id="70" name="Text 64"/>
          <p:cNvSpPr txBox="1"/>
          <p:nvPr/>
        </p:nvSpPr>
        <p:spPr>
          <a:xfrm>
            <a:off x="10209276" y="2468879"/>
            <a:ext cx="512064" cy="274320"/>
          </a:xfrm>
          <a:prstGeom prst="rect">
            <a:avLst/>
          </a:prstGeom>
          <a:noFill/>
        </p:spPr>
        <p:txBody>
          <a:bodyPr wrap="square" lIns="0" rIns="0" tIns="0" bIns="0" anchor="ctr">
            <a:spAutoFit/>
          </a:bodyPr>
          <a:lstStyle/>
          <a:p>
            <a:pPr algn="ctr"/>
            <a:r>
              <a:rPr sz="850" b="1" i="0">
                <a:solidFill>
                  <a:srgbClr val="000000"/>
                </a:solidFill>
                <a:latin typeface="Trenda IG Text"/>
              </a:rPr>
              <a:t>H4 · CAB</a:t>
            </a:r>
          </a:p>
        </p:txBody>
      </p:sp>
      <p:sp>
        <p:nvSpPr>
          <p:cNvPr id="71" name="Text 65"/>
          <p:cNvSpPr txBox="1"/>
          <p:nvPr/>
        </p:nvSpPr>
        <p:spPr>
          <a:xfrm>
            <a:off x="10209276" y="2761488"/>
            <a:ext cx="512064" cy="502920"/>
          </a:xfrm>
          <a:prstGeom prst="rect">
            <a:avLst/>
          </a:prstGeom>
          <a:noFill/>
        </p:spPr>
        <p:txBody>
          <a:bodyPr wrap="square" lIns="0" rIns="0" tIns="0" bIns="0" anchor="t">
            <a:spAutoFit/>
          </a:bodyPr>
          <a:lstStyle/>
          <a:p>
            <a:pPr algn="ctr"/>
            <a:r>
              <a:rPr sz="600" b="0" i="0">
                <a:solidFill>
                  <a:srgbClr val="000000"/>
                </a:solidFill>
                <a:latin typeface="Trenda IG Text"/>
              </a:rPr>
              <a:t>business UAT, then CAB</a:t>
            </a:r>
          </a:p>
        </p:txBody>
      </p:sp>
      <p:sp>
        <p:nvSpPr>
          <p:cNvPr id="72" name="Shape 66"/>
          <p:cNvSpPr/>
          <p:nvPr/>
        </p:nvSpPr>
        <p:spPr>
          <a:xfrm>
            <a:off x="10840212" y="2194560"/>
            <a:ext cx="914400" cy="1115568"/>
          </a:xfrm>
          <a:prstGeom prst="roundRect">
            <a:avLst>
              <a:gd name="adj" fmla="val 10000"/>
            </a:avLst>
          </a:prstGeom>
          <a:noFill/>
          <a:ln w="1270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7"/>
          <p:cNvSpPr txBox="1"/>
          <p:nvPr/>
        </p:nvSpPr>
        <p:spPr>
          <a:xfrm>
            <a:off x="10895076" y="2286000"/>
            <a:ext cx="804672" cy="237744"/>
          </a:xfrm>
          <a:prstGeom prst="rect">
            <a:avLst/>
          </a:prstGeom>
          <a:noFill/>
        </p:spPr>
        <p:txBody>
          <a:bodyPr wrap="square" lIns="0" rIns="0" tIns="0" bIns="0" anchor="ctr">
            <a:spAutoFit/>
          </a:bodyPr>
          <a:lstStyle/>
          <a:p>
            <a:pPr algn="ctr"/>
            <a:r>
              <a:rPr sz="800" b="1" i="0">
                <a:solidFill>
                  <a:srgbClr val="FFFFFF"/>
                </a:solidFill>
                <a:latin typeface="Trenda IG Text"/>
              </a:rPr>
              <a:t>Production</a:t>
            </a:r>
          </a:p>
        </p:txBody>
      </p:sp>
      <p:sp>
        <p:nvSpPr>
          <p:cNvPr id="74" name="Text 68"/>
          <p:cNvSpPr txBox="1"/>
          <p:nvPr/>
        </p:nvSpPr>
        <p:spPr>
          <a:xfrm>
            <a:off x="10895076" y="2578608"/>
            <a:ext cx="804672" cy="640080"/>
          </a:xfrm>
          <a:prstGeom prst="rect">
            <a:avLst/>
          </a:prstGeom>
          <a:noFill/>
        </p:spPr>
        <p:txBody>
          <a:bodyPr wrap="square" lIns="0" rIns="0" tIns="0" bIns="0" anchor="t">
            <a:spAutoFit/>
          </a:bodyPr>
          <a:lstStyle/>
          <a:p>
            <a:pPr algn="ctr"/>
            <a:r>
              <a:rPr sz="620" b="0" i="0">
                <a:solidFill>
                  <a:srgbClr val="BFBFBF"/>
                </a:solidFill>
                <a:latin typeface="Trenda IG Text"/>
              </a:rPr>
              <a:t>the owning team deploys; no agent credential</a:t>
            </a:r>
          </a:p>
        </p:txBody>
      </p:sp>
      <p:cxnSp>
        <p:nvCxnSpPr>
          <p:cNvPr id="75" name="Arrow 69"/>
          <p:cNvCxnSpPr/>
          <p:nvPr/>
        </p:nvCxnSpPr>
        <p:spPr>
          <a:xfrm>
            <a:off x="1897379"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0"/>
          <p:cNvCxnSpPr/>
          <p:nvPr/>
        </p:nvCxnSpPr>
        <p:spPr>
          <a:xfrm>
            <a:off x="2555748"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1"/>
          <p:cNvCxnSpPr/>
          <p:nvPr/>
        </p:nvCxnSpPr>
        <p:spPr>
          <a:xfrm>
            <a:off x="4110227"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2"/>
          <p:cNvCxnSpPr/>
          <p:nvPr/>
        </p:nvCxnSpPr>
        <p:spPr>
          <a:xfrm>
            <a:off x="4768596"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3"/>
          <p:cNvCxnSpPr/>
          <p:nvPr/>
        </p:nvCxnSpPr>
        <p:spPr>
          <a:xfrm>
            <a:off x="6323075"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Arrow 74"/>
          <p:cNvCxnSpPr/>
          <p:nvPr/>
        </p:nvCxnSpPr>
        <p:spPr>
          <a:xfrm>
            <a:off x="7877556"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Arrow 75"/>
          <p:cNvCxnSpPr/>
          <p:nvPr/>
        </p:nvCxnSpPr>
        <p:spPr>
          <a:xfrm>
            <a:off x="8535924" y="2752344"/>
            <a:ext cx="91439"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Arrow 76"/>
          <p:cNvCxnSpPr/>
          <p:nvPr/>
        </p:nvCxnSpPr>
        <p:spPr>
          <a:xfrm>
            <a:off x="10090404"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Arrow 77"/>
          <p:cNvCxnSpPr/>
          <p:nvPr/>
        </p:nvCxnSpPr>
        <p:spPr>
          <a:xfrm>
            <a:off x="10748772" y="2752344"/>
            <a:ext cx="91440" cy="0"/>
          </a:xfrm>
          <a:prstGeom prst="line">
            <a:avLst/>
          </a:prstGeom>
          <a:ln w="127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78"/>
          <p:cNvCxnSpPr/>
          <p:nvPr/>
        </p:nvCxnSpPr>
        <p:spPr>
          <a:xfrm>
            <a:off x="1165859" y="1901952"/>
            <a:ext cx="0" cy="292608"/>
          </a:xfrm>
          <a:prstGeom prst="line">
            <a:avLst/>
          </a:prstGeom>
          <a:ln w="22225">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Arrow 79"/>
          <p:cNvCxnSpPr/>
          <p:nvPr/>
        </p:nvCxnSpPr>
        <p:spPr>
          <a:xfrm flipV="1">
            <a:off x="6734555" y="2066543"/>
            <a:ext cx="0" cy="128017"/>
          </a:xfrm>
          <a:prstGeom prst="line">
            <a:avLst/>
          </a:prstGeom>
          <a:ln w="2222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6" name="Arrow 80"/>
          <p:cNvCxnSpPr/>
          <p:nvPr/>
        </p:nvCxnSpPr>
        <p:spPr>
          <a:xfrm flipH="1">
            <a:off x="6003036" y="2066543"/>
            <a:ext cx="731519" cy="0"/>
          </a:xfrm>
          <a:prstGeom prst="line">
            <a:avLst/>
          </a:prstGeom>
          <a:ln w="2222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87" name="Arrow 81"/>
          <p:cNvCxnSpPr/>
          <p:nvPr/>
        </p:nvCxnSpPr>
        <p:spPr>
          <a:xfrm>
            <a:off x="6003036" y="2066543"/>
            <a:ext cx="0" cy="128017"/>
          </a:xfrm>
          <a:prstGeom prst="line">
            <a:avLst/>
          </a:prstGeom>
          <a:ln w="2222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Shape 82"/>
          <p:cNvSpPr/>
          <p:nvPr/>
        </p:nvSpPr>
        <p:spPr>
          <a:xfrm>
            <a:off x="6825996" y="1984248"/>
            <a:ext cx="1783080" cy="164592"/>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3"/>
          <p:cNvSpPr txBox="1"/>
          <p:nvPr/>
        </p:nvSpPr>
        <p:spPr>
          <a:xfrm>
            <a:off x="6825996" y="1984248"/>
            <a:ext cx="1783080" cy="164592"/>
          </a:xfrm>
          <a:prstGeom prst="rect">
            <a:avLst/>
          </a:prstGeom>
          <a:noFill/>
        </p:spPr>
        <p:txBody>
          <a:bodyPr wrap="square" lIns="0" rIns="0" tIns="0" bIns="0" anchor="ctr">
            <a:spAutoFit/>
          </a:bodyPr>
          <a:lstStyle/>
          <a:p>
            <a:pPr algn="ctr"/>
            <a:r>
              <a:rPr sz="560" b="1" i="0" spc="80">
                <a:solidFill>
                  <a:srgbClr val="FFFFFF"/>
                </a:solidFill>
                <a:latin typeface="Trenda IG Text"/>
              </a:rPr>
              <a:t>5 → 4  FAIL → FIX · MAX 5, THEN OWNER</a:t>
            </a:r>
          </a:p>
        </p:txBody>
      </p:sp>
      <p:sp>
        <p:nvSpPr>
          <p:cNvPr id="90" name="Shape 84"/>
          <p:cNvSpPr/>
          <p:nvPr/>
        </p:nvSpPr>
        <p:spPr>
          <a:xfrm>
            <a:off x="411480" y="3703320"/>
            <a:ext cx="6903720" cy="1572768"/>
          </a:xfrm>
          <a:prstGeom prst="roundRect">
            <a:avLst>
              <a:gd name="adj" fmla="val 5000"/>
            </a:avLst>
          </a:prstGeom>
          <a:solidFill>
            <a:srgbClr val="1A1630"/>
          </a:solid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85"/>
          <p:cNvSpPr txBox="1"/>
          <p:nvPr/>
        </p:nvSpPr>
        <p:spPr>
          <a:xfrm>
            <a:off x="539496" y="3758183"/>
            <a:ext cx="6629400" cy="219456"/>
          </a:xfrm>
          <a:prstGeom prst="rect">
            <a:avLst/>
          </a:prstGeom>
          <a:noFill/>
        </p:spPr>
        <p:txBody>
          <a:bodyPr wrap="square" lIns="0" rIns="0" tIns="0" bIns="0" anchor="ctr">
            <a:spAutoFit/>
          </a:bodyPr>
          <a:lstStyle/>
          <a:p>
            <a:r>
              <a:rPr sz="700" b="1" i="0" spc="150">
                <a:solidFill>
                  <a:srgbClr val="8B7CD8"/>
                </a:solidFill>
                <a:latin typeface="Trenda IG Text"/>
              </a:rPr>
              <a:t>ENGINEERING CONTEXT KNOWLEDGE GRAPH</a:t>
            </a:r>
            <a:r>
              <a:rPr sz="700" b="0" i="0">
                <a:solidFill>
                  <a:srgbClr val="BFBFBF"/>
                </a:solidFill>
                <a:latin typeface="Trenda IG Text"/>
              </a:rPr>
              <a:t>   Spanner Graph · every fact cited</a:t>
            </a:r>
          </a:p>
        </p:txBody>
      </p:sp>
      <p:sp>
        <p:nvSpPr>
          <p:cNvPr id="92" name="Shape 86"/>
          <p:cNvSpPr/>
          <p:nvPr/>
        </p:nvSpPr>
        <p:spPr>
          <a:xfrm>
            <a:off x="539496"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jira.png"/>
          <p:cNvPicPr>
            <a:picLocks noChangeAspect="1"/>
          </p:cNvPicPr>
          <p:nvPr/>
        </p:nvPicPr>
        <p:blipFill>
          <a:blip r:embed="rId4"/>
          <a:stretch>
            <a:fillRect/>
          </a:stretch>
        </p:blipFill>
        <p:spPr>
          <a:xfrm>
            <a:off x="612648" y="4114800"/>
            <a:ext cx="182880" cy="182880"/>
          </a:xfrm>
          <a:prstGeom prst="rect">
            <a:avLst/>
          </a:prstGeom>
        </p:spPr>
      </p:pic>
      <p:sp>
        <p:nvSpPr>
          <p:cNvPr id="94" name="Text 87"/>
          <p:cNvSpPr txBox="1"/>
          <p:nvPr/>
        </p:nvSpPr>
        <p:spPr>
          <a:xfrm>
            <a:off x="841248"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Jira</a:t>
            </a:r>
          </a:p>
        </p:txBody>
      </p:sp>
      <p:sp>
        <p:nvSpPr>
          <p:cNvPr id="95" name="Text 88"/>
          <p:cNvSpPr txBox="1"/>
          <p:nvPr/>
        </p:nvSpPr>
        <p:spPr>
          <a:xfrm>
            <a:off x="612648" y="4343400"/>
            <a:ext cx="777239" cy="256032"/>
          </a:xfrm>
          <a:prstGeom prst="rect">
            <a:avLst/>
          </a:prstGeom>
          <a:noFill/>
        </p:spPr>
        <p:txBody>
          <a:bodyPr wrap="square" lIns="0" rIns="0" tIns="0" bIns="0" anchor="t">
            <a:spAutoFit/>
          </a:bodyPr>
          <a:lstStyle/>
          <a:p>
            <a:r>
              <a:rPr sz="580" b="0" i="0">
                <a:solidFill>
                  <a:srgbClr val="BFBFBF"/>
                </a:solidFill>
                <a:latin typeface="Trenda IG Text"/>
              </a:rPr>
              <a:t>stories, history</a:t>
            </a:r>
          </a:p>
        </p:txBody>
      </p:sp>
      <p:sp>
        <p:nvSpPr>
          <p:cNvPr id="96" name="Shape 89"/>
          <p:cNvSpPr/>
          <p:nvPr/>
        </p:nvSpPr>
        <p:spPr>
          <a:xfrm>
            <a:off x="1499616"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confluence.png"/>
          <p:cNvPicPr>
            <a:picLocks noChangeAspect="1"/>
          </p:cNvPicPr>
          <p:nvPr/>
        </p:nvPicPr>
        <p:blipFill>
          <a:blip r:embed="rId5"/>
          <a:stretch>
            <a:fillRect/>
          </a:stretch>
        </p:blipFill>
        <p:spPr>
          <a:xfrm>
            <a:off x="1572768" y="4114800"/>
            <a:ext cx="182880" cy="182880"/>
          </a:xfrm>
          <a:prstGeom prst="rect">
            <a:avLst/>
          </a:prstGeom>
        </p:spPr>
      </p:pic>
      <p:sp>
        <p:nvSpPr>
          <p:cNvPr id="98" name="Text 90"/>
          <p:cNvSpPr txBox="1"/>
          <p:nvPr/>
        </p:nvSpPr>
        <p:spPr>
          <a:xfrm>
            <a:off x="1801368"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Confluence</a:t>
            </a:r>
          </a:p>
        </p:txBody>
      </p:sp>
      <p:sp>
        <p:nvSpPr>
          <p:cNvPr id="99" name="Text 91"/>
          <p:cNvSpPr txBox="1"/>
          <p:nvPr/>
        </p:nvSpPr>
        <p:spPr>
          <a:xfrm>
            <a:off x="1572768" y="4343400"/>
            <a:ext cx="777239" cy="256032"/>
          </a:xfrm>
          <a:prstGeom prst="rect">
            <a:avLst/>
          </a:prstGeom>
          <a:noFill/>
        </p:spPr>
        <p:txBody>
          <a:bodyPr wrap="square" lIns="0" rIns="0" tIns="0" bIns="0" anchor="t">
            <a:spAutoFit/>
          </a:bodyPr>
          <a:lstStyle/>
          <a:p>
            <a:r>
              <a:rPr sz="580" b="0" i="0">
                <a:solidFill>
                  <a:srgbClr val="BFBFBF"/>
                </a:solidFill>
                <a:latin typeface="Trenda IG Text"/>
              </a:rPr>
              <a:t>designs, rules</a:t>
            </a:r>
          </a:p>
        </p:txBody>
      </p:sp>
      <p:sp>
        <p:nvSpPr>
          <p:cNvPr id="100" name="Shape 92"/>
          <p:cNvSpPr/>
          <p:nvPr/>
        </p:nvSpPr>
        <p:spPr>
          <a:xfrm>
            <a:off x="2459735"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1" name="Picture 100" descr="salesforce.png"/>
          <p:cNvPicPr>
            <a:picLocks noChangeAspect="1"/>
          </p:cNvPicPr>
          <p:nvPr/>
        </p:nvPicPr>
        <p:blipFill>
          <a:blip r:embed="rId6"/>
          <a:stretch>
            <a:fillRect/>
          </a:stretch>
        </p:blipFill>
        <p:spPr>
          <a:xfrm>
            <a:off x="2532887" y="4114800"/>
            <a:ext cx="182880" cy="182880"/>
          </a:xfrm>
          <a:prstGeom prst="rect">
            <a:avLst/>
          </a:prstGeom>
        </p:spPr>
      </p:pic>
      <p:sp>
        <p:nvSpPr>
          <p:cNvPr id="102" name="Text 93"/>
          <p:cNvSpPr txBox="1"/>
          <p:nvPr/>
        </p:nvSpPr>
        <p:spPr>
          <a:xfrm>
            <a:off x="276148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Salesforce</a:t>
            </a:r>
          </a:p>
        </p:txBody>
      </p:sp>
      <p:sp>
        <p:nvSpPr>
          <p:cNvPr id="103" name="Text 94"/>
          <p:cNvSpPr txBox="1"/>
          <p:nvPr/>
        </p:nvSpPr>
        <p:spPr>
          <a:xfrm>
            <a:off x="2532887" y="4343400"/>
            <a:ext cx="777239" cy="256032"/>
          </a:xfrm>
          <a:prstGeom prst="rect">
            <a:avLst/>
          </a:prstGeom>
          <a:noFill/>
        </p:spPr>
        <p:txBody>
          <a:bodyPr wrap="square" lIns="0" rIns="0" tIns="0" bIns="0" anchor="t">
            <a:spAutoFit/>
          </a:bodyPr>
          <a:lstStyle/>
          <a:p>
            <a:r>
              <a:rPr sz="580" b="0" i="0">
                <a:solidFill>
                  <a:srgbClr val="BFBFBF"/>
                </a:solidFill>
                <a:latin typeface="Trenda IG Text"/>
              </a:rPr>
              <a:t>Health Cloud metadata</a:t>
            </a:r>
          </a:p>
        </p:txBody>
      </p:sp>
      <p:sp>
        <p:nvSpPr>
          <p:cNvPr id="104" name="Shape 95"/>
          <p:cNvSpPr/>
          <p:nvPr/>
        </p:nvSpPr>
        <p:spPr>
          <a:xfrm>
            <a:off x="3419855"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5" name="Picture 104" descr="git.png"/>
          <p:cNvPicPr>
            <a:picLocks noChangeAspect="1"/>
          </p:cNvPicPr>
          <p:nvPr/>
        </p:nvPicPr>
        <p:blipFill>
          <a:blip r:embed="rId7"/>
          <a:stretch>
            <a:fillRect/>
          </a:stretch>
        </p:blipFill>
        <p:spPr>
          <a:xfrm>
            <a:off x="3493007" y="4114800"/>
            <a:ext cx="182880" cy="182880"/>
          </a:xfrm>
          <a:prstGeom prst="rect">
            <a:avLst/>
          </a:prstGeom>
        </p:spPr>
      </p:pic>
      <p:sp>
        <p:nvSpPr>
          <p:cNvPr id="106" name="Text 96"/>
          <p:cNvSpPr txBox="1"/>
          <p:nvPr/>
        </p:nvSpPr>
        <p:spPr>
          <a:xfrm>
            <a:off x="372160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Git</a:t>
            </a:r>
          </a:p>
        </p:txBody>
      </p:sp>
      <p:sp>
        <p:nvSpPr>
          <p:cNvPr id="107" name="Text 97"/>
          <p:cNvSpPr txBox="1"/>
          <p:nvPr/>
        </p:nvSpPr>
        <p:spPr>
          <a:xfrm>
            <a:off x="3493007" y="4343400"/>
            <a:ext cx="777239" cy="256032"/>
          </a:xfrm>
          <a:prstGeom prst="rect">
            <a:avLst/>
          </a:prstGeom>
          <a:noFill/>
        </p:spPr>
        <p:txBody>
          <a:bodyPr wrap="square" lIns="0" rIns="0" tIns="0" bIns="0" anchor="t">
            <a:spAutoFit/>
          </a:bodyPr>
          <a:lstStyle/>
          <a:p>
            <a:r>
              <a:rPr sz="580" b="0" i="0">
                <a:solidFill>
                  <a:srgbClr val="BFBFBF"/>
                </a:solidFill>
                <a:latin typeface="Trenda IG Text"/>
              </a:rPr>
              <a:t>Apex, LWC, tests</a:t>
            </a:r>
          </a:p>
        </p:txBody>
      </p:sp>
      <p:sp>
        <p:nvSpPr>
          <p:cNvPr id="108" name="Shape 98"/>
          <p:cNvSpPr/>
          <p:nvPr/>
        </p:nvSpPr>
        <p:spPr>
          <a:xfrm>
            <a:off x="4379975"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99"/>
          <p:cNvSpPr/>
          <p:nvPr/>
        </p:nvSpPr>
        <p:spPr>
          <a:xfrm>
            <a:off x="4453127" y="4123944"/>
            <a:ext cx="182880" cy="164592"/>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0"/>
          <p:cNvSpPr txBox="1"/>
          <p:nvPr/>
        </p:nvSpPr>
        <p:spPr>
          <a:xfrm>
            <a:off x="4453127" y="4123944"/>
            <a:ext cx="182880" cy="164592"/>
          </a:xfrm>
          <a:prstGeom prst="rect">
            <a:avLst/>
          </a:prstGeom>
          <a:noFill/>
        </p:spPr>
        <p:txBody>
          <a:bodyPr wrap="square" lIns="0" rIns="0" tIns="0" bIns="0" anchor="ctr">
            <a:spAutoFit/>
          </a:bodyPr>
          <a:lstStyle/>
          <a:p>
            <a:pPr algn="ctr"/>
            <a:r>
              <a:rPr sz="500" b="1" i="0" spc="80">
                <a:solidFill>
                  <a:srgbClr val="BFBFBF"/>
                </a:solidFill>
                <a:latin typeface="Trenda IG Text"/>
              </a:rPr>
              <a:t>Co</a:t>
            </a:r>
          </a:p>
        </p:txBody>
      </p:sp>
      <p:sp>
        <p:nvSpPr>
          <p:cNvPr id="111" name="Text 101"/>
          <p:cNvSpPr txBox="1"/>
          <p:nvPr/>
        </p:nvSpPr>
        <p:spPr>
          <a:xfrm>
            <a:off x="468172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Copado</a:t>
            </a:r>
          </a:p>
        </p:txBody>
      </p:sp>
      <p:sp>
        <p:nvSpPr>
          <p:cNvPr id="112" name="Text 102"/>
          <p:cNvSpPr txBox="1"/>
          <p:nvPr/>
        </p:nvSpPr>
        <p:spPr>
          <a:xfrm>
            <a:off x="4453127" y="4343400"/>
            <a:ext cx="777239" cy="256032"/>
          </a:xfrm>
          <a:prstGeom prst="rect">
            <a:avLst/>
          </a:prstGeom>
          <a:noFill/>
        </p:spPr>
        <p:txBody>
          <a:bodyPr wrap="square" lIns="0" rIns="0" tIns="0" bIns="0" anchor="t">
            <a:spAutoFit/>
          </a:bodyPr>
          <a:lstStyle/>
          <a:p>
            <a:r>
              <a:rPr sz="580" b="0" i="0">
                <a:solidFill>
                  <a:srgbClr val="BFBFBF"/>
                </a:solidFill>
                <a:latin typeface="Trenda IG Text"/>
              </a:rPr>
              <a:t>releases, test runs</a:t>
            </a:r>
          </a:p>
        </p:txBody>
      </p:sp>
      <p:sp>
        <p:nvSpPr>
          <p:cNvPr id="113" name="Shape 103"/>
          <p:cNvSpPr/>
          <p:nvPr/>
        </p:nvSpPr>
        <p:spPr>
          <a:xfrm>
            <a:off x="5340095" y="4050791"/>
            <a:ext cx="886967" cy="566928"/>
          </a:xfrm>
          <a:prstGeom prst="roundRect">
            <a:avLst>
              <a:gd name="adj" fmla="val 10000"/>
            </a:avLst>
          </a:prstGeom>
          <a:solidFill>
            <a:srgbClr val="141414"/>
          </a:solidFill>
          <a:ln w="1143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googledrive.png"/>
          <p:cNvPicPr>
            <a:picLocks noChangeAspect="1"/>
          </p:cNvPicPr>
          <p:nvPr/>
        </p:nvPicPr>
        <p:blipFill>
          <a:blip r:embed="rId8"/>
          <a:stretch>
            <a:fillRect/>
          </a:stretch>
        </p:blipFill>
        <p:spPr>
          <a:xfrm>
            <a:off x="5413247" y="4114800"/>
            <a:ext cx="182880" cy="182880"/>
          </a:xfrm>
          <a:prstGeom prst="rect">
            <a:avLst/>
          </a:prstGeom>
        </p:spPr>
      </p:pic>
      <p:sp>
        <p:nvSpPr>
          <p:cNvPr id="115" name="Text 104"/>
          <p:cNvSpPr txBox="1"/>
          <p:nvPr/>
        </p:nvSpPr>
        <p:spPr>
          <a:xfrm>
            <a:off x="5641847" y="4087368"/>
            <a:ext cx="557783" cy="219456"/>
          </a:xfrm>
          <a:prstGeom prst="rect">
            <a:avLst/>
          </a:prstGeom>
          <a:noFill/>
        </p:spPr>
        <p:txBody>
          <a:bodyPr wrap="square" lIns="0" rIns="0" tIns="0" bIns="0" anchor="ctr">
            <a:spAutoFit/>
          </a:bodyPr>
          <a:lstStyle/>
          <a:p>
            <a:r>
              <a:rPr sz="700" b="1" i="0">
                <a:solidFill>
                  <a:srgbClr val="FFFFFF"/>
                </a:solidFill>
                <a:latin typeface="Trenda IG Text"/>
              </a:rPr>
              <a:t>Google Drive</a:t>
            </a:r>
          </a:p>
        </p:txBody>
      </p:sp>
      <p:sp>
        <p:nvSpPr>
          <p:cNvPr id="116" name="Text 105"/>
          <p:cNvSpPr txBox="1"/>
          <p:nvPr/>
        </p:nvSpPr>
        <p:spPr>
          <a:xfrm>
            <a:off x="5413247" y="4343400"/>
            <a:ext cx="777239" cy="256032"/>
          </a:xfrm>
          <a:prstGeom prst="rect">
            <a:avLst/>
          </a:prstGeom>
          <a:noFill/>
        </p:spPr>
        <p:txBody>
          <a:bodyPr wrap="square" lIns="0" rIns="0" tIns="0" bIns="0" anchor="t">
            <a:spAutoFit/>
          </a:bodyPr>
          <a:lstStyle/>
          <a:p>
            <a:r>
              <a:rPr sz="580" b="0" i="0">
                <a:solidFill>
                  <a:srgbClr val="BFBFBF"/>
                </a:solidFill>
                <a:latin typeface="Trenda IG Text"/>
              </a:rPr>
              <a:t>specs</a:t>
            </a:r>
          </a:p>
        </p:txBody>
      </p:sp>
      <p:sp>
        <p:nvSpPr>
          <p:cNvPr id="117" name="Shape 106"/>
          <p:cNvSpPr/>
          <p:nvPr/>
        </p:nvSpPr>
        <p:spPr>
          <a:xfrm>
            <a:off x="6300215" y="4050791"/>
            <a:ext cx="886967" cy="566928"/>
          </a:xfrm>
          <a:prstGeom prst="roundRect">
            <a:avLst>
              <a:gd name="adj" fmla="val 10000"/>
            </a:avLst>
          </a:prstGeom>
          <a:solidFill>
            <a:srgbClr val="0E0E0E"/>
          </a:solidFill>
          <a:ln w="11430">
            <a:solidFill>
              <a:srgbClr val="3A3A3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googlecloud-grey.png"/>
          <p:cNvPicPr>
            <a:picLocks noChangeAspect="1"/>
          </p:cNvPicPr>
          <p:nvPr/>
        </p:nvPicPr>
        <p:blipFill>
          <a:blip r:embed="rId9"/>
          <a:stretch>
            <a:fillRect/>
          </a:stretch>
        </p:blipFill>
        <p:spPr>
          <a:xfrm>
            <a:off x="6373367" y="4114800"/>
            <a:ext cx="182880" cy="182880"/>
          </a:xfrm>
          <a:prstGeom prst="rect">
            <a:avLst/>
          </a:prstGeom>
        </p:spPr>
      </p:pic>
      <p:sp>
        <p:nvSpPr>
          <p:cNvPr id="119" name="Text 107"/>
          <p:cNvSpPr txBox="1"/>
          <p:nvPr/>
        </p:nvSpPr>
        <p:spPr>
          <a:xfrm>
            <a:off x="6601967" y="4087368"/>
            <a:ext cx="557783" cy="219456"/>
          </a:xfrm>
          <a:prstGeom prst="rect">
            <a:avLst/>
          </a:prstGeom>
          <a:noFill/>
        </p:spPr>
        <p:txBody>
          <a:bodyPr wrap="square" lIns="0" rIns="0" tIns="0" bIns="0" anchor="ctr">
            <a:spAutoFit/>
          </a:bodyPr>
          <a:lstStyle/>
          <a:p>
            <a:r>
              <a:rPr sz="700" b="1" i="0">
                <a:solidFill>
                  <a:srgbClr val="6B6B6B"/>
                </a:solidFill>
                <a:latin typeface="Trenda IG Text"/>
              </a:rPr>
              <a:t>GCP data</a:t>
            </a:r>
          </a:p>
        </p:txBody>
      </p:sp>
      <p:sp>
        <p:nvSpPr>
          <p:cNvPr id="120" name="Text 108"/>
          <p:cNvSpPr txBox="1"/>
          <p:nvPr/>
        </p:nvSpPr>
        <p:spPr>
          <a:xfrm>
            <a:off x="6373367" y="4306824"/>
            <a:ext cx="777239" cy="292608"/>
          </a:xfrm>
          <a:prstGeom prst="rect">
            <a:avLst/>
          </a:prstGeom>
          <a:noFill/>
        </p:spPr>
        <p:txBody>
          <a:bodyPr wrap="square" lIns="0" rIns="0" tIns="0" bIns="0" anchor="t">
            <a:spAutoFit/>
          </a:bodyPr>
          <a:lstStyle/>
          <a:p>
            <a:r>
              <a:rPr sz="560" b="0" i="0">
                <a:solidFill>
                  <a:srgbClr val="6B6B6B"/>
                </a:solidFill>
                <a:latin typeface="Trenda IG Text"/>
              </a:rPr>
              <a:t>not needed for Health Cloud stories</a:t>
            </a:r>
          </a:p>
        </p:txBody>
      </p:sp>
      <p:sp>
        <p:nvSpPr>
          <p:cNvPr id="121" name="Text 109"/>
          <p:cNvSpPr txBox="1"/>
          <p:nvPr/>
        </p:nvSpPr>
        <p:spPr>
          <a:xfrm>
            <a:off x="539496" y="4709160"/>
            <a:ext cx="1188720" cy="182880"/>
          </a:xfrm>
          <a:prstGeom prst="rect">
            <a:avLst/>
          </a:prstGeom>
          <a:noFill/>
        </p:spPr>
        <p:txBody>
          <a:bodyPr wrap="square" lIns="0" rIns="0" tIns="0" bIns="0" anchor="ctr">
            <a:spAutoFit/>
          </a:bodyPr>
          <a:lstStyle/>
          <a:p>
            <a:r>
              <a:rPr sz="580" b="1" i="0" spc="150">
                <a:solidFill>
                  <a:srgbClr val="8B7CD8"/>
                </a:solidFill>
                <a:latin typeface="Trenda IG Text"/>
              </a:rPr>
              <a:t>AGENTS ASK</a:t>
            </a:r>
          </a:p>
        </p:txBody>
      </p:sp>
      <p:sp>
        <p:nvSpPr>
          <p:cNvPr id="122" name="Shape 110"/>
          <p:cNvSpPr/>
          <p:nvPr/>
        </p:nvSpPr>
        <p:spPr>
          <a:xfrm>
            <a:off x="1316736" y="4709160"/>
            <a:ext cx="804672"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11"/>
          <p:cNvSpPr txBox="1"/>
          <p:nvPr/>
        </p:nvSpPr>
        <p:spPr>
          <a:xfrm>
            <a:off x="1316736" y="4709160"/>
            <a:ext cx="804672" cy="182880"/>
          </a:xfrm>
          <a:prstGeom prst="rect">
            <a:avLst/>
          </a:prstGeom>
          <a:noFill/>
        </p:spPr>
        <p:txBody>
          <a:bodyPr wrap="square" lIns="0" rIns="0" tIns="0" bIns="0" anchor="ctr">
            <a:spAutoFit/>
          </a:bodyPr>
          <a:lstStyle/>
          <a:p>
            <a:pPr algn="ctr"/>
            <a:r>
              <a:rPr sz="580" b="0" i="0">
                <a:solidFill>
                  <a:srgbClr val="FFFFFF"/>
                </a:solidFill>
                <a:latin typeface="Courier New"/>
              </a:rPr>
              <a:t>graph.exists</a:t>
            </a:r>
          </a:p>
        </p:txBody>
      </p:sp>
      <p:sp>
        <p:nvSpPr>
          <p:cNvPr id="124" name="Shape 112"/>
          <p:cNvSpPr/>
          <p:nvPr/>
        </p:nvSpPr>
        <p:spPr>
          <a:xfrm>
            <a:off x="2176272" y="4709160"/>
            <a:ext cx="1024127"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13"/>
          <p:cNvSpPr txBox="1"/>
          <p:nvPr/>
        </p:nvSpPr>
        <p:spPr>
          <a:xfrm>
            <a:off x="2176272" y="4709160"/>
            <a:ext cx="1024127" cy="182880"/>
          </a:xfrm>
          <a:prstGeom prst="rect">
            <a:avLst/>
          </a:prstGeom>
          <a:noFill/>
        </p:spPr>
        <p:txBody>
          <a:bodyPr wrap="square" lIns="0" rIns="0" tIns="0" bIns="0" anchor="ctr">
            <a:spAutoFit/>
          </a:bodyPr>
          <a:lstStyle/>
          <a:p>
            <a:pPr algn="ctr"/>
            <a:r>
              <a:rPr sz="580" b="0" i="0">
                <a:solidFill>
                  <a:srgbClr val="FFFFFF"/>
                </a:solidFill>
                <a:latin typeface="Courier New"/>
              </a:rPr>
              <a:t>graph.find_reuse</a:t>
            </a:r>
          </a:p>
        </p:txBody>
      </p:sp>
      <p:sp>
        <p:nvSpPr>
          <p:cNvPr id="126" name="Shape 114"/>
          <p:cNvSpPr/>
          <p:nvPr/>
        </p:nvSpPr>
        <p:spPr>
          <a:xfrm>
            <a:off x="3255263" y="4709160"/>
            <a:ext cx="1133856"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15"/>
          <p:cNvSpPr txBox="1"/>
          <p:nvPr/>
        </p:nvSpPr>
        <p:spPr>
          <a:xfrm>
            <a:off x="3255263" y="4709160"/>
            <a:ext cx="1133856" cy="182880"/>
          </a:xfrm>
          <a:prstGeom prst="rect">
            <a:avLst/>
          </a:prstGeom>
          <a:noFill/>
        </p:spPr>
        <p:txBody>
          <a:bodyPr wrap="square" lIns="0" rIns="0" tIns="0" bIns="0" anchor="ctr">
            <a:spAutoFit/>
          </a:bodyPr>
          <a:lstStyle/>
          <a:p>
            <a:pPr algn="ctr"/>
            <a:r>
              <a:rPr sz="580" b="0" i="0">
                <a:solidFill>
                  <a:srgbClr val="FFFFFF"/>
                </a:solidFill>
                <a:latin typeface="Courier New"/>
              </a:rPr>
              <a:t>graph.blast_radius</a:t>
            </a:r>
          </a:p>
        </p:txBody>
      </p:sp>
      <p:sp>
        <p:nvSpPr>
          <p:cNvPr id="128" name="Shape 116"/>
          <p:cNvSpPr/>
          <p:nvPr/>
        </p:nvSpPr>
        <p:spPr>
          <a:xfrm>
            <a:off x="4443983" y="4709160"/>
            <a:ext cx="804672"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17"/>
          <p:cNvSpPr txBox="1"/>
          <p:nvPr/>
        </p:nvSpPr>
        <p:spPr>
          <a:xfrm>
            <a:off x="4443983" y="4709160"/>
            <a:ext cx="804672" cy="182880"/>
          </a:xfrm>
          <a:prstGeom prst="rect">
            <a:avLst/>
          </a:prstGeom>
          <a:noFill/>
        </p:spPr>
        <p:txBody>
          <a:bodyPr wrap="square" lIns="0" rIns="0" tIns="0" bIns="0" anchor="ctr">
            <a:spAutoFit/>
          </a:bodyPr>
          <a:lstStyle/>
          <a:p>
            <a:pPr algn="ctr"/>
            <a:r>
              <a:rPr sz="580" b="0" i="0">
                <a:solidFill>
                  <a:srgbClr val="FFFFFF"/>
                </a:solidFill>
                <a:latin typeface="Courier New"/>
              </a:rPr>
              <a:t>graph.owners</a:t>
            </a:r>
          </a:p>
        </p:txBody>
      </p:sp>
      <p:sp>
        <p:nvSpPr>
          <p:cNvPr id="130" name="Shape 118"/>
          <p:cNvSpPr/>
          <p:nvPr/>
        </p:nvSpPr>
        <p:spPr>
          <a:xfrm>
            <a:off x="5303519" y="4709160"/>
            <a:ext cx="1188719" cy="182880"/>
          </a:xfrm>
          <a:prstGeom prst="roundRect">
            <a:avLst>
              <a:gd name="adj" fmla="val 40000"/>
            </a:avLst>
          </a:prstGeom>
          <a:solidFill>
            <a:srgbClr val="1E1E1E"/>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19"/>
          <p:cNvSpPr txBox="1"/>
          <p:nvPr/>
        </p:nvSpPr>
        <p:spPr>
          <a:xfrm>
            <a:off x="5303519" y="4709160"/>
            <a:ext cx="1188719" cy="182880"/>
          </a:xfrm>
          <a:prstGeom prst="rect">
            <a:avLst/>
          </a:prstGeom>
          <a:noFill/>
        </p:spPr>
        <p:txBody>
          <a:bodyPr wrap="square" lIns="0" rIns="0" tIns="0" bIns="0" anchor="ctr">
            <a:spAutoFit/>
          </a:bodyPr>
          <a:lstStyle/>
          <a:p>
            <a:pPr algn="ctr"/>
            <a:r>
              <a:rPr sz="580" b="0" i="0">
                <a:solidFill>
                  <a:srgbClr val="FFFFFF"/>
                </a:solidFill>
                <a:latin typeface="Courier New"/>
              </a:rPr>
              <a:t>graph.context_slice</a:t>
            </a:r>
          </a:p>
        </p:txBody>
      </p:sp>
      <p:sp>
        <p:nvSpPr>
          <p:cNvPr id="132" name="Text 120"/>
          <p:cNvSpPr txBox="1"/>
          <p:nvPr/>
        </p:nvSpPr>
        <p:spPr>
          <a:xfrm>
            <a:off x="539496" y="4965192"/>
            <a:ext cx="6629400" cy="237744"/>
          </a:xfrm>
          <a:prstGeom prst="rect">
            <a:avLst/>
          </a:prstGeom>
          <a:noFill/>
        </p:spPr>
        <p:txBody>
          <a:bodyPr wrap="square" lIns="0" rIns="0" tIns="0" bIns="0" anchor="ctr">
            <a:spAutoFit/>
          </a:bodyPr>
          <a:lstStyle/>
          <a:p>
            <a:r>
              <a:rPr sz="640" b="0" i="0">
                <a:solidFill>
                  <a:srgbClr val="BFBFBF"/>
                </a:solidFill>
                <a:latin typeface="Trenda IG Text"/>
              </a:rPr>
              <a:t>A bounded, cited context slice for each step, never a raw org dump. Agents never write queries.</a:t>
            </a:r>
          </a:p>
        </p:txBody>
      </p:sp>
      <p:cxnSp>
        <p:nvCxnSpPr>
          <p:cNvPr id="133" name="Arrow 121"/>
          <p:cNvCxnSpPr/>
          <p:nvPr/>
        </p:nvCxnSpPr>
        <p:spPr>
          <a:xfrm flipV="1">
            <a:off x="708659" y="3310128"/>
            <a:ext cx="0" cy="393192"/>
          </a:xfrm>
          <a:prstGeom prst="line">
            <a:avLst/>
          </a:prstGeom>
          <a:ln w="19050">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Arrow 122"/>
          <p:cNvCxnSpPr/>
          <p:nvPr/>
        </p:nvCxnSpPr>
        <p:spPr>
          <a:xfrm flipV="1">
            <a:off x="2921507" y="3310128"/>
            <a:ext cx="0" cy="393192"/>
          </a:xfrm>
          <a:prstGeom prst="line">
            <a:avLst/>
          </a:prstGeom>
          <a:ln w="19050">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 name="Shape 123"/>
          <p:cNvSpPr/>
          <p:nvPr/>
        </p:nvSpPr>
        <p:spPr>
          <a:xfrm>
            <a:off x="7452360" y="3703320"/>
            <a:ext cx="4325112" cy="1572768"/>
          </a:xfrm>
          <a:prstGeom prst="roundRect">
            <a:avLst>
              <a:gd name="adj" fmla="val 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24"/>
          <p:cNvSpPr txBox="1"/>
          <p:nvPr/>
        </p:nvSpPr>
        <p:spPr>
          <a:xfrm>
            <a:off x="7580376" y="3758183"/>
            <a:ext cx="4050792" cy="219456"/>
          </a:xfrm>
          <a:prstGeom prst="rect">
            <a:avLst/>
          </a:prstGeom>
          <a:noFill/>
        </p:spPr>
        <p:txBody>
          <a:bodyPr wrap="square" lIns="0" rIns="0" tIns="0" bIns="0" anchor="ctr">
            <a:spAutoFit/>
          </a:bodyPr>
          <a:lstStyle/>
          <a:p>
            <a:r>
              <a:rPr sz="700" b="1" i="0" spc="150">
                <a:solidFill>
                  <a:srgbClr val="FFFFFF"/>
                </a:solidFill>
                <a:latin typeface="Trenda IG Text"/>
              </a:rPr>
              <a:t>WHERE OUTPUT LANDS</a:t>
            </a:r>
            <a:r>
              <a:rPr sz="700" b="0" i="0">
                <a:solidFill>
                  <a:srgbClr val="BFBFBF"/>
                </a:solidFill>
                <a:latin typeface="Trenda IG Text"/>
              </a:rPr>
              <a:t>   through the tool gateway</a:t>
            </a:r>
          </a:p>
        </p:txBody>
      </p:sp>
      <p:pic>
        <p:nvPicPr>
          <p:cNvPr id="137" name="Picture 136" descr="jira.png"/>
          <p:cNvPicPr>
            <a:picLocks noChangeAspect="1"/>
          </p:cNvPicPr>
          <p:nvPr/>
        </p:nvPicPr>
        <p:blipFill>
          <a:blip r:embed="rId4"/>
          <a:stretch>
            <a:fillRect/>
          </a:stretch>
        </p:blipFill>
        <p:spPr>
          <a:xfrm>
            <a:off x="7580376" y="4078224"/>
            <a:ext cx="182880" cy="182880"/>
          </a:xfrm>
          <a:prstGeom prst="rect">
            <a:avLst/>
          </a:prstGeom>
        </p:spPr>
      </p:pic>
      <p:sp>
        <p:nvSpPr>
          <p:cNvPr id="138" name="Text 125"/>
          <p:cNvSpPr txBox="1"/>
          <p:nvPr/>
        </p:nvSpPr>
        <p:spPr>
          <a:xfrm>
            <a:off x="7827264" y="4032504"/>
            <a:ext cx="1783080" cy="292608"/>
          </a:xfrm>
          <a:prstGeom prst="rect">
            <a:avLst/>
          </a:prstGeom>
          <a:noFill/>
        </p:spPr>
        <p:txBody>
          <a:bodyPr wrap="square" lIns="0" rIns="0" tIns="0" bIns="0" anchor="ctr">
            <a:spAutoFit/>
          </a:bodyPr>
          <a:lstStyle/>
          <a:p>
            <a:r>
              <a:rPr sz="700" b="1" i="0">
                <a:solidFill>
                  <a:srgbClr val="FFFFFF"/>
                </a:solidFill>
                <a:latin typeface="Trenda IG Text"/>
              </a:rPr>
              <a:t>Jira</a:t>
            </a:r>
            <a:r>
              <a:rPr sz="600" b="0" i="0">
                <a:solidFill>
                  <a:srgbClr val="BFBFBF"/>
                </a:solidFill>
                <a:latin typeface="Trenda IG Text"/>
              </a:rPr>
              <a:t>  brief, status to Done</a:t>
            </a:r>
          </a:p>
        </p:txBody>
      </p:sp>
      <p:pic>
        <p:nvPicPr>
          <p:cNvPr id="139" name="Picture 138" descr="confluence.png"/>
          <p:cNvPicPr>
            <a:picLocks noChangeAspect="1"/>
          </p:cNvPicPr>
          <p:nvPr/>
        </p:nvPicPr>
        <p:blipFill>
          <a:blip r:embed="rId5"/>
          <a:stretch>
            <a:fillRect/>
          </a:stretch>
        </p:blipFill>
        <p:spPr>
          <a:xfrm>
            <a:off x="9637776" y="4078224"/>
            <a:ext cx="182880" cy="182880"/>
          </a:xfrm>
          <a:prstGeom prst="rect">
            <a:avLst/>
          </a:prstGeom>
        </p:spPr>
      </p:pic>
      <p:sp>
        <p:nvSpPr>
          <p:cNvPr id="140" name="Text 126"/>
          <p:cNvSpPr txBox="1"/>
          <p:nvPr/>
        </p:nvSpPr>
        <p:spPr>
          <a:xfrm>
            <a:off x="9884664" y="4032504"/>
            <a:ext cx="1783080" cy="292608"/>
          </a:xfrm>
          <a:prstGeom prst="rect">
            <a:avLst/>
          </a:prstGeom>
          <a:noFill/>
        </p:spPr>
        <p:txBody>
          <a:bodyPr wrap="square" lIns="0" rIns="0" tIns="0" bIns="0" anchor="ctr">
            <a:spAutoFit/>
          </a:bodyPr>
          <a:lstStyle/>
          <a:p>
            <a:r>
              <a:rPr sz="700" b="1" i="0">
                <a:solidFill>
                  <a:srgbClr val="FFFFFF"/>
                </a:solidFill>
                <a:latin typeface="Trenda IG Text"/>
              </a:rPr>
              <a:t>Confluence</a:t>
            </a:r>
            <a:r>
              <a:rPr sz="600" b="0" i="0">
                <a:solidFill>
                  <a:srgbClr val="BFBFBF"/>
                </a:solidFill>
                <a:latin typeface="Trenda IG Text"/>
              </a:rPr>
              <a:t>  design draft, as-built</a:t>
            </a:r>
          </a:p>
        </p:txBody>
      </p:sp>
      <p:pic>
        <p:nvPicPr>
          <p:cNvPr id="141" name="Picture 140" descr="git.png"/>
          <p:cNvPicPr>
            <a:picLocks noChangeAspect="1"/>
          </p:cNvPicPr>
          <p:nvPr/>
        </p:nvPicPr>
        <p:blipFill>
          <a:blip r:embed="rId7"/>
          <a:stretch>
            <a:fillRect/>
          </a:stretch>
        </p:blipFill>
        <p:spPr>
          <a:xfrm>
            <a:off x="7580376" y="4398264"/>
            <a:ext cx="182880" cy="182880"/>
          </a:xfrm>
          <a:prstGeom prst="rect">
            <a:avLst/>
          </a:prstGeom>
        </p:spPr>
      </p:pic>
      <p:sp>
        <p:nvSpPr>
          <p:cNvPr id="142" name="Text 127"/>
          <p:cNvSpPr txBox="1"/>
          <p:nvPr/>
        </p:nvSpPr>
        <p:spPr>
          <a:xfrm>
            <a:off x="7827264" y="4352544"/>
            <a:ext cx="1783080" cy="292608"/>
          </a:xfrm>
          <a:prstGeom prst="rect">
            <a:avLst/>
          </a:prstGeom>
          <a:noFill/>
        </p:spPr>
        <p:txBody>
          <a:bodyPr wrap="square" lIns="0" rIns="0" tIns="0" bIns="0" anchor="ctr">
            <a:spAutoFit/>
          </a:bodyPr>
          <a:lstStyle/>
          <a:p>
            <a:r>
              <a:rPr sz="700" b="1" i="0">
                <a:solidFill>
                  <a:srgbClr val="FFFFFF"/>
                </a:solidFill>
                <a:latin typeface="Trenda IG Text"/>
              </a:rPr>
              <a:t>Git</a:t>
            </a:r>
            <a:r>
              <a:rPr sz="600" b="0" i="0">
                <a:solidFill>
                  <a:srgbClr val="BFBFBF"/>
                </a:solidFill>
                <a:latin typeface="Trenda IG Text"/>
              </a:rPr>
              <a:t>  branch, pull request</a:t>
            </a:r>
          </a:p>
        </p:txBody>
      </p:sp>
      <p:pic>
        <p:nvPicPr>
          <p:cNvPr id="143" name="Picture 142" descr="salesforce.png"/>
          <p:cNvPicPr>
            <a:picLocks noChangeAspect="1"/>
          </p:cNvPicPr>
          <p:nvPr/>
        </p:nvPicPr>
        <p:blipFill>
          <a:blip r:embed="rId6"/>
          <a:stretch>
            <a:fillRect/>
          </a:stretch>
        </p:blipFill>
        <p:spPr>
          <a:xfrm>
            <a:off x="9637776" y="4398264"/>
            <a:ext cx="182880" cy="182880"/>
          </a:xfrm>
          <a:prstGeom prst="rect">
            <a:avLst/>
          </a:prstGeom>
        </p:spPr>
      </p:pic>
      <p:sp>
        <p:nvSpPr>
          <p:cNvPr id="144" name="Text 128"/>
          <p:cNvSpPr txBox="1"/>
          <p:nvPr/>
        </p:nvSpPr>
        <p:spPr>
          <a:xfrm>
            <a:off x="9884664" y="4352544"/>
            <a:ext cx="1783080" cy="292608"/>
          </a:xfrm>
          <a:prstGeom prst="rect">
            <a:avLst/>
          </a:prstGeom>
          <a:noFill/>
        </p:spPr>
        <p:txBody>
          <a:bodyPr wrap="square" lIns="0" rIns="0" tIns="0" bIns="0" anchor="ctr">
            <a:spAutoFit/>
          </a:bodyPr>
          <a:lstStyle/>
          <a:p>
            <a:r>
              <a:rPr sz="700" b="1" i="0">
                <a:solidFill>
                  <a:srgbClr val="FFFFFF"/>
                </a:solidFill>
                <a:latin typeface="Trenda IG Text"/>
              </a:rPr>
              <a:t>Salesforce DEV</a:t>
            </a:r>
            <a:r>
              <a:rPr sz="600" b="0" i="0">
                <a:solidFill>
                  <a:srgbClr val="BFBFBF"/>
                </a:solidFill>
                <a:latin typeface="Trenda IG Text"/>
              </a:rPr>
              <a:t>  deploy, Apex tests</a:t>
            </a:r>
          </a:p>
        </p:txBody>
      </p:sp>
      <p:sp>
        <p:nvSpPr>
          <p:cNvPr id="145" name="Shape 129"/>
          <p:cNvSpPr/>
          <p:nvPr/>
        </p:nvSpPr>
        <p:spPr>
          <a:xfrm>
            <a:off x="7580376" y="4727448"/>
            <a:ext cx="182880" cy="164592"/>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 130"/>
          <p:cNvSpPr txBox="1"/>
          <p:nvPr/>
        </p:nvSpPr>
        <p:spPr>
          <a:xfrm>
            <a:off x="7580376" y="4727448"/>
            <a:ext cx="182880" cy="164592"/>
          </a:xfrm>
          <a:prstGeom prst="rect">
            <a:avLst/>
          </a:prstGeom>
          <a:noFill/>
        </p:spPr>
        <p:txBody>
          <a:bodyPr wrap="square" lIns="0" rIns="0" tIns="0" bIns="0" anchor="ctr">
            <a:spAutoFit/>
          </a:bodyPr>
          <a:lstStyle/>
          <a:p>
            <a:pPr algn="ctr"/>
            <a:r>
              <a:rPr sz="500" b="1" i="0" spc="80">
                <a:solidFill>
                  <a:srgbClr val="BFBFBF"/>
                </a:solidFill>
                <a:latin typeface="Trenda IG Text"/>
              </a:rPr>
              <a:t>Co</a:t>
            </a:r>
          </a:p>
        </p:txBody>
      </p:sp>
      <p:sp>
        <p:nvSpPr>
          <p:cNvPr id="147" name="Text 131"/>
          <p:cNvSpPr txBox="1"/>
          <p:nvPr/>
        </p:nvSpPr>
        <p:spPr>
          <a:xfrm>
            <a:off x="7827264" y="4672584"/>
            <a:ext cx="1783080" cy="292608"/>
          </a:xfrm>
          <a:prstGeom prst="rect">
            <a:avLst/>
          </a:prstGeom>
          <a:noFill/>
        </p:spPr>
        <p:txBody>
          <a:bodyPr wrap="square" lIns="0" rIns="0" tIns="0" bIns="0" anchor="ctr">
            <a:spAutoFit/>
          </a:bodyPr>
          <a:lstStyle/>
          <a:p>
            <a:r>
              <a:rPr sz="700" b="1" i="0">
                <a:solidFill>
                  <a:srgbClr val="FFFFFF"/>
                </a:solidFill>
                <a:latin typeface="Trenda IG Text"/>
              </a:rPr>
              <a:t>Copado</a:t>
            </a:r>
            <a:r>
              <a:rPr sz="600" b="0" i="0">
                <a:solidFill>
                  <a:srgbClr val="BFBFBF"/>
                </a:solidFill>
                <a:latin typeface="Trenda IG Text"/>
              </a:rPr>
              <a:t>  SIT, then UAT</a:t>
            </a:r>
          </a:p>
        </p:txBody>
      </p:sp>
      <p:sp>
        <p:nvSpPr>
          <p:cNvPr id="148" name="Shape 132"/>
          <p:cNvSpPr/>
          <p:nvPr/>
        </p:nvSpPr>
        <p:spPr>
          <a:xfrm>
            <a:off x="9637776" y="4727448"/>
            <a:ext cx="182880" cy="164592"/>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 133"/>
          <p:cNvSpPr txBox="1"/>
          <p:nvPr/>
        </p:nvSpPr>
        <p:spPr>
          <a:xfrm>
            <a:off x="9637776" y="4727448"/>
            <a:ext cx="182880" cy="164592"/>
          </a:xfrm>
          <a:prstGeom prst="rect">
            <a:avLst/>
          </a:prstGeom>
          <a:noFill/>
        </p:spPr>
        <p:txBody>
          <a:bodyPr wrap="square" lIns="0" rIns="0" tIns="0" bIns="0" anchor="ctr">
            <a:spAutoFit/>
          </a:bodyPr>
          <a:lstStyle/>
          <a:p>
            <a:pPr algn="ctr"/>
            <a:r>
              <a:rPr sz="500" b="1" i="0" spc="80">
                <a:solidFill>
                  <a:srgbClr val="BFBFBF"/>
                </a:solidFill>
                <a:latin typeface="Trenda IG Text"/>
              </a:rPr>
              <a:t>ZS</a:t>
            </a:r>
          </a:p>
        </p:txBody>
      </p:sp>
      <p:sp>
        <p:nvSpPr>
          <p:cNvPr id="150" name="Text 134"/>
          <p:cNvSpPr txBox="1"/>
          <p:nvPr/>
        </p:nvSpPr>
        <p:spPr>
          <a:xfrm>
            <a:off x="9884664" y="4672584"/>
            <a:ext cx="1783080" cy="292608"/>
          </a:xfrm>
          <a:prstGeom prst="rect">
            <a:avLst/>
          </a:prstGeom>
          <a:noFill/>
        </p:spPr>
        <p:txBody>
          <a:bodyPr wrap="square" lIns="0" rIns="0" tIns="0" bIns="0" anchor="ctr">
            <a:spAutoFit/>
          </a:bodyPr>
          <a:lstStyle/>
          <a:p>
            <a:r>
              <a:rPr sz="700" b="1" i="0">
                <a:solidFill>
                  <a:srgbClr val="FFFFFF"/>
                </a:solidFill>
                <a:latin typeface="Trenda IG Text"/>
              </a:rPr>
              <a:t>Zephyr Scale</a:t>
            </a:r>
            <a:r>
              <a:rPr sz="600" b="0" i="0">
                <a:solidFill>
                  <a:srgbClr val="BFBFBF"/>
                </a:solidFill>
                <a:latin typeface="Trenda IG Text"/>
              </a:rPr>
              <a:t>  cases, results</a:t>
            </a:r>
          </a:p>
        </p:txBody>
      </p:sp>
      <p:sp>
        <p:nvSpPr>
          <p:cNvPr id="151" name="Text 135"/>
          <p:cNvSpPr txBox="1"/>
          <p:nvPr/>
        </p:nvSpPr>
        <p:spPr>
          <a:xfrm>
            <a:off x="7580376" y="5001768"/>
            <a:ext cx="4050792" cy="201168"/>
          </a:xfrm>
          <a:prstGeom prst="rect">
            <a:avLst/>
          </a:prstGeom>
          <a:noFill/>
        </p:spPr>
        <p:txBody>
          <a:bodyPr wrap="square" lIns="0" rIns="0" tIns="0" bIns="0" anchor="ctr">
            <a:spAutoFit/>
          </a:bodyPr>
          <a:lstStyle/>
          <a:p>
            <a:r>
              <a:rPr sz="640" b="1" i="0">
                <a:solidFill>
                  <a:srgbClr val="FF0069"/>
                </a:solidFill>
                <a:latin typeface="Trenda IG Text"/>
              </a:rPr>
              <a:t>Production: the owning team's pipeline after CAB. No agent path.</a:t>
            </a:r>
          </a:p>
        </p:txBody>
      </p:sp>
      <p:sp>
        <p:nvSpPr>
          <p:cNvPr id="152" name="Shape 136"/>
          <p:cNvSpPr/>
          <p:nvPr/>
        </p:nvSpPr>
        <p:spPr>
          <a:xfrm>
            <a:off x="411480"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Shape 137"/>
          <p:cNvSpPr/>
          <p:nvPr/>
        </p:nvSpPr>
        <p:spPr>
          <a:xfrm>
            <a:off x="411480" y="5440680"/>
            <a:ext cx="54864" cy="7772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 138"/>
          <p:cNvSpPr txBox="1"/>
          <p:nvPr/>
        </p:nvSpPr>
        <p:spPr>
          <a:xfrm>
            <a:off x="612648"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~2 weeks → ~2 days</a:t>
            </a:r>
          </a:p>
        </p:txBody>
      </p:sp>
      <p:sp>
        <p:nvSpPr>
          <p:cNvPr id="155" name="Text 139"/>
          <p:cNvSpPr txBox="1"/>
          <p:nvPr/>
        </p:nvSpPr>
        <p:spPr>
          <a:xfrm>
            <a:off x="612648"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per Health Cloud task, story to UAT</a:t>
            </a:r>
          </a:p>
        </p:txBody>
      </p:sp>
      <p:sp>
        <p:nvSpPr>
          <p:cNvPr id="156" name="Shape 140"/>
          <p:cNvSpPr/>
          <p:nvPr/>
        </p:nvSpPr>
        <p:spPr>
          <a:xfrm>
            <a:off x="4245864"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Shape 141"/>
          <p:cNvSpPr/>
          <p:nvPr/>
        </p:nvSpPr>
        <p:spPr>
          <a:xfrm>
            <a:off x="4245864" y="5440680"/>
            <a:ext cx="54864" cy="77724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 142"/>
          <p:cNvSpPr txBox="1"/>
          <p:nvPr/>
        </p:nvSpPr>
        <p:spPr>
          <a:xfrm>
            <a:off x="4447032"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People approve</a:t>
            </a:r>
          </a:p>
        </p:txBody>
      </p:sp>
      <p:sp>
        <p:nvSpPr>
          <p:cNvPr id="159" name="Text 143"/>
          <p:cNvSpPr txBox="1"/>
          <p:nvPr/>
        </p:nvSpPr>
        <p:spPr>
          <a:xfrm>
            <a:off x="4447032"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H1, H2, H3, H4 and CAB, as today</a:t>
            </a:r>
          </a:p>
        </p:txBody>
      </p:sp>
      <p:sp>
        <p:nvSpPr>
          <p:cNvPr id="160" name="Shape 144"/>
          <p:cNvSpPr/>
          <p:nvPr/>
        </p:nvSpPr>
        <p:spPr>
          <a:xfrm>
            <a:off x="8080247" y="5440680"/>
            <a:ext cx="3697223" cy="7772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45"/>
          <p:cNvSpPr/>
          <p:nvPr/>
        </p:nvSpPr>
        <p:spPr>
          <a:xfrm>
            <a:off x="8080247" y="5440680"/>
            <a:ext cx="54864" cy="7772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46"/>
          <p:cNvSpPr txBox="1"/>
          <p:nvPr/>
        </p:nvSpPr>
        <p:spPr>
          <a:xfrm>
            <a:off x="8281416" y="5513832"/>
            <a:ext cx="3422904" cy="365760"/>
          </a:xfrm>
          <a:prstGeom prst="rect">
            <a:avLst/>
          </a:prstGeom>
          <a:noFill/>
        </p:spPr>
        <p:txBody>
          <a:bodyPr wrap="square" lIns="0" rIns="0" tIns="0" bIns="0" anchor="ctr">
            <a:spAutoFit/>
          </a:bodyPr>
          <a:lstStyle/>
          <a:p>
            <a:r>
              <a:rPr sz="1400" b="0" i="0">
                <a:solidFill>
                  <a:srgbClr val="FFFFFF"/>
                </a:solidFill>
                <a:latin typeface="Trenda IG Text"/>
              </a:rPr>
              <a:t>Change passport</a:t>
            </a:r>
          </a:p>
        </p:txBody>
      </p:sp>
      <p:sp>
        <p:nvSpPr>
          <p:cNvPr id="163" name="Text 147"/>
          <p:cNvSpPr txBox="1"/>
          <p:nvPr/>
        </p:nvSpPr>
        <p:spPr>
          <a:xfrm>
            <a:off x="8281416" y="5879592"/>
            <a:ext cx="3422904" cy="274320"/>
          </a:xfrm>
          <a:prstGeom prst="rect">
            <a:avLst/>
          </a:prstGeom>
          <a:noFill/>
        </p:spPr>
        <p:txBody>
          <a:bodyPr wrap="square" lIns="0" rIns="0" tIns="0" bIns="0" anchor="ctr">
            <a:spAutoFit/>
          </a:bodyPr>
          <a:lstStyle/>
          <a:p>
            <a:r>
              <a:rPr sz="700" b="0" i="0">
                <a:solidFill>
                  <a:srgbClr val="BFBFBF"/>
                </a:solidFill>
                <a:latin typeface="Trenda IG Text"/>
              </a:rPr>
              <a:t>every step, approval and test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MARKETING CLOUD CAMPAIGNS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Marketing Cloud: ask in Codex, agents work masked, people release the right patients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Here the governed GCP data is required. Agents see counts and tokens; a masked pre-send report is approved before the minimum fields reach Marketing Cloud.</a:t>
            </a:r>
          </a:p>
        </p:txBody>
      </p:sp>
      <p:sp>
        <p:nvSpPr>
          <p:cNvPr id="5" name="Shape 4"/>
          <p:cNvSpPr/>
          <p:nvPr/>
        </p:nvSpPr>
        <p:spPr>
          <a:xfrm>
            <a:off x="411480" y="1170432"/>
            <a:ext cx="9079992" cy="1005840"/>
          </a:xfrm>
          <a:prstGeom prst="roundRect">
            <a:avLst>
              <a:gd name="adj" fmla="val 3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274320" cy="100584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people.png"/>
          <p:cNvPicPr>
            <a:picLocks noChangeAspect="1"/>
          </p:cNvPicPr>
          <p:nvPr/>
        </p:nvPicPr>
        <p:blipFill>
          <a:blip r:embed="rId2"/>
          <a:stretch>
            <a:fillRect/>
          </a:stretch>
        </p:blipFill>
        <p:spPr>
          <a:xfrm>
            <a:off x="448056" y="1243584"/>
            <a:ext cx="201168" cy="201168"/>
          </a:xfrm>
          <a:prstGeom prst="rect">
            <a:avLst/>
          </a:prstGeom>
        </p:spPr>
      </p:pic>
      <p:sp>
        <p:nvSpPr>
          <p:cNvPr id="8" name="Text 6"/>
          <p:cNvSpPr txBox="1"/>
          <p:nvPr/>
        </p:nvSpPr>
        <p:spPr>
          <a:xfrm rot="16200000">
            <a:off x="182879" y="1682495"/>
            <a:ext cx="731520" cy="256032"/>
          </a:xfrm>
          <a:prstGeom prst="rect">
            <a:avLst/>
          </a:prstGeom>
          <a:noFill/>
        </p:spPr>
        <p:txBody>
          <a:bodyPr wrap="square" lIns="0" rIns="0" tIns="0" bIns="0" anchor="ctr">
            <a:spAutoFit/>
          </a:bodyPr>
          <a:lstStyle/>
          <a:p>
            <a:pPr algn="ctr"/>
            <a:r>
              <a:rPr sz="660" b="1" i="0" spc="150">
                <a:solidFill>
                  <a:srgbClr val="FFFFFF"/>
                </a:solidFill>
                <a:latin typeface="Trenda IG Text"/>
              </a:rPr>
              <a:t>PEOPLE</a:t>
            </a:r>
          </a:p>
        </p:txBody>
      </p:sp>
      <p:sp>
        <p:nvSpPr>
          <p:cNvPr id="9" name="Shape 7"/>
          <p:cNvSpPr/>
          <p:nvPr/>
        </p:nvSpPr>
        <p:spPr>
          <a:xfrm>
            <a:off x="411480" y="2249424"/>
            <a:ext cx="9079992" cy="950976"/>
          </a:xfrm>
          <a:prstGeom prst="roundRect">
            <a:avLst>
              <a:gd name="adj" fmla="val 3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411480" y="2249424"/>
            <a:ext cx="274320" cy="950976"/>
          </a:xfrm>
          <a:prstGeom prst="rect">
            <a:avLst/>
          </a:prstGeom>
          <a:solidFill>
            <a:srgbClr val="0A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arness.png"/>
          <p:cNvPicPr>
            <a:picLocks noChangeAspect="1"/>
          </p:cNvPicPr>
          <p:nvPr/>
        </p:nvPicPr>
        <p:blipFill>
          <a:blip r:embed="rId3"/>
          <a:stretch>
            <a:fillRect/>
          </a:stretch>
        </p:blipFill>
        <p:spPr>
          <a:xfrm>
            <a:off x="448056" y="2322576"/>
            <a:ext cx="201168" cy="201168"/>
          </a:xfrm>
          <a:prstGeom prst="rect">
            <a:avLst/>
          </a:prstGeom>
        </p:spPr>
      </p:pic>
      <p:sp>
        <p:nvSpPr>
          <p:cNvPr id="12" name="Text 9"/>
          <p:cNvSpPr txBox="1"/>
          <p:nvPr/>
        </p:nvSpPr>
        <p:spPr>
          <a:xfrm rot="16200000">
            <a:off x="210311" y="2734056"/>
            <a:ext cx="676656" cy="256032"/>
          </a:xfrm>
          <a:prstGeom prst="rect">
            <a:avLst/>
          </a:prstGeom>
          <a:noFill/>
        </p:spPr>
        <p:txBody>
          <a:bodyPr wrap="square" lIns="0" rIns="0" tIns="0" bIns="0" anchor="ctr">
            <a:spAutoFit/>
          </a:bodyPr>
          <a:lstStyle/>
          <a:p>
            <a:pPr algn="ctr"/>
            <a:r>
              <a:rPr sz="660" b="1" i="0" spc="150">
                <a:solidFill>
                  <a:srgbClr val="FFFFFF"/>
                </a:solidFill>
                <a:latin typeface="Trenda IG Text"/>
              </a:rPr>
              <a:t>HARNESS</a:t>
            </a:r>
          </a:p>
        </p:txBody>
      </p:sp>
      <p:sp>
        <p:nvSpPr>
          <p:cNvPr id="13" name="Shape 10"/>
          <p:cNvSpPr/>
          <p:nvPr/>
        </p:nvSpPr>
        <p:spPr>
          <a:xfrm>
            <a:off x="411480" y="3273552"/>
            <a:ext cx="9079992" cy="1865376"/>
          </a:xfrm>
          <a:prstGeom prst="roundRect">
            <a:avLst>
              <a:gd name="adj" fmla="val 3000"/>
            </a:avLst>
          </a:prstGeom>
          <a:solidFill>
            <a:srgbClr val="000000"/>
          </a:solidFill>
          <a:ln w="1270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hape 11"/>
          <p:cNvSpPr/>
          <p:nvPr/>
        </p:nvSpPr>
        <p:spPr>
          <a:xfrm>
            <a:off x="411480" y="3273552"/>
            <a:ext cx="274320" cy="1865376"/>
          </a:xfrm>
          <a:prstGeom prst="rect">
            <a:avLst/>
          </a:prstGeom>
          <a:solidFill>
            <a:srgbClr val="3A0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ooglecloud.png"/>
          <p:cNvPicPr>
            <a:picLocks noChangeAspect="1"/>
          </p:cNvPicPr>
          <p:nvPr/>
        </p:nvPicPr>
        <p:blipFill>
          <a:blip r:embed="rId4"/>
          <a:stretch>
            <a:fillRect/>
          </a:stretch>
        </p:blipFill>
        <p:spPr>
          <a:xfrm>
            <a:off x="448056" y="3346704"/>
            <a:ext cx="201168" cy="201168"/>
          </a:xfrm>
          <a:prstGeom prst="rect">
            <a:avLst/>
          </a:prstGeom>
        </p:spPr>
      </p:pic>
      <p:sp>
        <p:nvSpPr>
          <p:cNvPr id="16" name="Text 12"/>
          <p:cNvSpPr txBox="1"/>
          <p:nvPr/>
        </p:nvSpPr>
        <p:spPr>
          <a:xfrm rot="16200000">
            <a:off x="-246888" y="4215384"/>
            <a:ext cx="1591056" cy="256032"/>
          </a:xfrm>
          <a:prstGeom prst="rect">
            <a:avLst/>
          </a:prstGeom>
          <a:noFill/>
        </p:spPr>
        <p:txBody>
          <a:bodyPr wrap="square" lIns="0" rIns="0" tIns="0" bIns="0" anchor="ctr">
            <a:spAutoFit/>
          </a:bodyPr>
          <a:lstStyle/>
          <a:p>
            <a:pPr algn="ctr"/>
            <a:r>
              <a:rPr sz="660" b="1" i="0" spc="150">
                <a:solidFill>
                  <a:srgbClr val="FFFFFF"/>
                </a:solidFill>
                <a:latin typeface="Trenda IG Text"/>
              </a:rPr>
              <a:t>GOOGLE CLOUD</a:t>
            </a:r>
          </a:p>
        </p:txBody>
      </p:sp>
      <p:sp>
        <p:nvSpPr>
          <p:cNvPr id="17" name="Shape 13"/>
          <p:cNvSpPr/>
          <p:nvPr/>
        </p:nvSpPr>
        <p:spPr>
          <a:xfrm>
            <a:off x="804672" y="1307592"/>
            <a:ext cx="2057400" cy="749808"/>
          </a:xfrm>
          <a:prstGeom prst="roundRect">
            <a:avLst>
              <a:gd name="adj" fmla="val 10000"/>
            </a:avLst>
          </a:prstGeom>
          <a:solidFill>
            <a:srgbClr val="000000"/>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hape 14"/>
          <p:cNvSpPr/>
          <p:nvPr/>
        </p:nvSpPr>
        <p:spPr>
          <a:xfrm>
            <a:off x="868680" y="136245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5"/>
          <p:cNvSpPr txBox="1"/>
          <p:nvPr/>
        </p:nvSpPr>
        <p:spPr>
          <a:xfrm>
            <a:off x="868680" y="136245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a:t>
            </a:r>
          </a:p>
        </p:txBody>
      </p:sp>
      <p:pic>
        <p:nvPicPr>
          <p:cNvPr id="20" name="Picture 19" descr="openai-white.png"/>
          <p:cNvPicPr>
            <a:picLocks noChangeAspect="1"/>
          </p:cNvPicPr>
          <p:nvPr/>
        </p:nvPicPr>
        <p:blipFill>
          <a:blip r:embed="rId5"/>
          <a:stretch>
            <a:fillRect/>
          </a:stretch>
        </p:blipFill>
        <p:spPr>
          <a:xfrm>
            <a:off x="1124712" y="1371600"/>
            <a:ext cx="164592" cy="164592"/>
          </a:xfrm>
          <a:prstGeom prst="rect">
            <a:avLst/>
          </a:prstGeom>
        </p:spPr>
      </p:pic>
      <p:sp>
        <p:nvSpPr>
          <p:cNvPr id="21" name="Text 16"/>
          <p:cNvSpPr txBox="1"/>
          <p:nvPr/>
        </p:nvSpPr>
        <p:spPr>
          <a:xfrm>
            <a:off x="1335024" y="1353312"/>
            <a:ext cx="1472184" cy="201168"/>
          </a:xfrm>
          <a:prstGeom prst="rect">
            <a:avLst/>
          </a:prstGeom>
          <a:noFill/>
        </p:spPr>
        <p:txBody>
          <a:bodyPr wrap="square" lIns="0" rIns="0" tIns="0" bIns="0" anchor="ctr">
            <a:spAutoFit/>
          </a:bodyPr>
          <a:lstStyle/>
          <a:p>
            <a:r>
              <a:rPr sz="760" b="1" i="0">
                <a:solidFill>
                  <a:srgbClr val="FFFFFF"/>
                </a:solidFill>
                <a:latin typeface="Trenda IG Text"/>
              </a:rPr>
              <a:t>Ask in Codex</a:t>
            </a:r>
          </a:p>
        </p:txBody>
      </p:sp>
      <p:sp>
        <p:nvSpPr>
          <p:cNvPr id="22" name="Text 17"/>
          <p:cNvSpPr txBox="1"/>
          <p:nvPr/>
        </p:nvSpPr>
        <p:spPr>
          <a:xfrm>
            <a:off x="914400" y="1581912"/>
            <a:ext cx="1856231" cy="457199"/>
          </a:xfrm>
          <a:prstGeom prst="rect">
            <a:avLst/>
          </a:prstGeom>
          <a:noFill/>
        </p:spPr>
        <p:txBody>
          <a:bodyPr wrap="square" lIns="0" rIns="0" tIns="0" bIns="0" anchor="t">
            <a:spAutoFit/>
          </a:bodyPr>
          <a:lstStyle/>
          <a:p>
            <a:pPr>
              <a:spcAft>
                <a:spcPts val="100"/>
              </a:spcAft>
            </a:pPr>
            <a:r>
              <a:rPr sz="630" b="0" i="0">
                <a:solidFill>
                  <a:srgbClr val="BFBFBF"/>
                </a:solidFill>
                <a:latin typeface="Courier New"/>
              </a:rPr>
              <a:t>“Top 10 campaigns I can run for heart patients?”</a:t>
            </a:r>
          </a:p>
          <a:p>
            <a:pPr>
              <a:spcAft>
                <a:spcPts val="100"/>
              </a:spcAft>
            </a:pPr>
            <a:r>
              <a:rPr sz="630" b="0" i="0">
                <a:solidFill>
                  <a:srgbClr val="8C8C8C"/>
                </a:solidFill>
                <a:latin typeface="Courier New"/>
              </a:rPr>
              <a:t>or: “Run a campaign for heart patients”</a:t>
            </a:r>
          </a:p>
        </p:txBody>
      </p:sp>
      <p:sp>
        <p:nvSpPr>
          <p:cNvPr id="23" name="Shape 18"/>
          <p:cNvSpPr/>
          <p:nvPr/>
        </p:nvSpPr>
        <p:spPr>
          <a:xfrm>
            <a:off x="2980944" y="1307592"/>
            <a:ext cx="2057400" cy="749808"/>
          </a:xfrm>
          <a:prstGeom prst="roundRect">
            <a:avLst>
              <a:gd name="adj" fmla="val 7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19"/>
          <p:cNvSpPr/>
          <p:nvPr/>
        </p:nvSpPr>
        <p:spPr>
          <a:xfrm>
            <a:off x="3054096" y="1371600"/>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0"/>
          <p:cNvSpPr txBox="1"/>
          <p:nvPr/>
        </p:nvSpPr>
        <p:spPr>
          <a:xfrm>
            <a:off x="3054096" y="1371600"/>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4</a:t>
            </a:r>
          </a:p>
        </p:txBody>
      </p:sp>
      <p:sp>
        <p:nvSpPr>
          <p:cNvPr id="26" name="Shape 21"/>
          <p:cNvSpPr/>
          <p:nvPr/>
        </p:nvSpPr>
        <p:spPr>
          <a:xfrm>
            <a:off x="4700016" y="1380744"/>
            <a:ext cx="265176" cy="164592"/>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2"/>
          <p:cNvSpPr txBox="1"/>
          <p:nvPr/>
        </p:nvSpPr>
        <p:spPr>
          <a:xfrm>
            <a:off x="4700016" y="1380744"/>
            <a:ext cx="265176" cy="164592"/>
          </a:xfrm>
          <a:prstGeom prst="rect">
            <a:avLst/>
          </a:prstGeom>
          <a:noFill/>
        </p:spPr>
        <p:txBody>
          <a:bodyPr wrap="square" lIns="0" rIns="0" tIns="0" bIns="0" anchor="ctr">
            <a:spAutoFit/>
          </a:bodyPr>
          <a:lstStyle/>
          <a:p>
            <a:pPr algn="ctr"/>
            <a:r>
              <a:rPr sz="560" b="1" i="0" spc="80">
                <a:solidFill>
                  <a:srgbClr val="000000"/>
                </a:solidFill>
                <a:latin typeface="Trenda IG Text"/>
              </a:rPr>
              <a:t>G1</a:t>
            </a:r>
          </a:p>
        </p:txBody>
      </p:sp>
      <p:sp>
        <p:nvSpPr>
          <p:cNvPr id="28" name="Text 23"/>
          <p:cNvSpPr txBox="1"/>
          <p:nvPr/>
        </p:nvSpPr>
        <p:spPr>
          <a:xfrm>
            <a:off x="3310127" y="1362456"/>
            <a:ext cx="1335024" cy="201168"/>
          </a:xfrm>
          <a:prstGeom prst="rect">
            <a:avLst/>
          </a:prstGeom>
          <a:noFill/>
        </p:spPr>
        <p:txBody>
          <a:bodyPr wrap="square" lIns="0" rIns="0" tIns="0" bIns="0" anchor="ctr">
            <a:spAutoFit/>
          </a:bodyPr>
          <a:lstStyle/>
          <a:p>
            <a:r>
              <a:rPr sz="800" b="1" i="0">
                <a:solidFill>
                  <a:srgbClr val="FFFFFF"/>
                </a:solidFill>
                <a:latin typeface="Trenda IG Text"/>
              </a:rPr>
              <a:t>Ranked list · pick</a:t>
            </a:r>
          </a:p>
        </p:txBody>
      </p:sp>
      <p:sp>
        <p:nvSpPr>
          <p:cNvPr id="29" name="Text 24"/>
          <p:cNvSpPr txBox="1"/>
          <p:nvPr/>
        </p:nvSpPr>
        <p:spPr>
          <a:xfrm>
            <a:off x="3072384" y="1591056"/>
            <a:ext cx="1874519" cy="438911"/>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1  CHF post-discharge SMS nudge</a:t>
            </a:r>
          </a:p>
          <a:p>
            <a:pPr>
              <a:spcAft>
                <a:spcPts val="100"/>
              </a:spcAft>
            </a:pPr>
            <a:r>
              <a:rPr sz="600" b="0" i="0">
                <a:solidFill>
                  <a:srgbClr val="BFBFBF"/>
                </a:solidFill>
                <a:latin typeface="Trenda IG Text"/>
              </a:rPr>
              <a:t>2  Cardiac rehab referral</a:t>
            </a:r>
          </a:p>
          <a:p>
            <a:pPr>
              <a:spcAft>
                <a:spcPts val="100"/>
              </a:spcAft>
            </a:pPr>
            <a:r>
              <a:rPr sz="600" b="0" i="0">
                <a:solidFill>
                  <a:srgbClr val="BFBFBF"/>
                </a:solidFill>
                <a:latin typeface="Trenda IG Text"/>
              </a:rPr>
              <a:t>3  Statin refill reminder …</a:t>
            </a:r>
          </a:p>
        </p:txBody>
      </p:sp>
      <p:sp>
        <p:nvSpPr>
          <p:cNvPr id="30" name="Shape 25"/>
          <p:cNvSpPr/>
          <p:nvPr/>
        </p:nvSpPr>
        <p:spPr>
          <a:xfrm>
            <a:off x="5157216" y="1307592"/>
            <a:ext cx="2057400" cy="749808"/>
          </a:xfrm>
          <a:prstGeom prst="roundRect">
            <a:avLst>
              <a:gd name="adj" fmla="val 7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hape 26"/>
          <p:cNvSpPr/>
          <p:nvPr/>
        </p:nvSpPr>
        <p:spPr>
          <a:xfrm>
            <a:off x="5230368" y="1371600"/>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7"/>
          <p:cNvSpPr txBox="1"/>
          <p:nvPr/>
        </p:nvSpPr>
        <p:spPr>
          <a:xfrm>
            <a:off x="5230368" y="1371600"/>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7</a:t>
            </a:r>
          </a:p>
        </p:txBody>
      </p:sp>
      <p:pic>
        <p:nvPicPr>
          <p:cNvPr id="33" name="Picture 32" descr="looker.png"/>
          <p:cNvPicPr>
            <a:picLocks noChangeAspect="1"/>
          </p:cNvPicPr>
          <p:nvPr/>
        </p:nvPicPr>
        <p:blipFill>
          <a:blip r:embed="rId6"/>
          <a:stretch>
            <a:fillRect/>
          </a:stretch>
        </p:blipFill>
        <p:spPr>
          <a:xfrm>
            <a:off x="5486400" y="1371600"/>
            <a:ext cx="182880" cy="182880"/>
          </a:xfrm>
          <a:prstGeom prst="rect">
            <a:avLst/>
          </a:prstGeom>
        </p:spPr>
      </p:pic>
      <p:sp>
        <p:nvSpPr>
          <p:cNvPr id="34" name="Shape 28"/>
          <p:cNvSpPr/>
          <p:nvPr/>
        </p:nvSpPr>
        <p:spPr>
          <a:xfrm>
            <a:off x="6876288" y="1380744"/>
            <a:ext cx="265176" cy="164592"/>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9"/>
          <p:cNvSpPr txBox="1"/>
          <p:nvPr/>
        </p:nvSpPr>
        <p:spPr>
          <a:xfrm>
            <a:off x="6876288" y="1380744"/>
            <a:ext cx="265176" cy="164592"/>
          </a:xfrm>
          <a:prstGeom prst="rect">
            <a:avLst/>
          </a:prstGeom>
          <a:noFill/>
        </p:spPr>
        <p:txBody>
          <a:bodyPr wrap="square" lIns="0" rIns="0" tIns="0" bIns="0" anchor="ctr">
            <a:spAutoFit/>
          </a:bodyPr>
          <a:lstStyle/>
          <a:p>
            <a:pPr algn="ctr"/>
            <a:r>
              <a:rPr sz="560" b="1" i="0" spc="80">
                <a:solidFill>
                  <a:srgbClr val="000000"/>
                </a:solidFill>
                <a:latin typeface="Trenda IG Text"/>
              </a:rPr>
              <a:t>G2</a:t>
            </a:r>
          </a:p>
        </p:txBody>
      </p:sp>
      <p:sp>
        <p:nvSpPr>
          <p:cNvPr id="36" name="Text 30"/>
          <p:cNvSpPr txBox="1"/>
          <p:nvPr/>
        </p:nvSpPr>
        <p:spPr>
          <a:xfrm>
            <a:off x="5724144" y="1362456"/>
            <a:ext cx="1097280" cy="201168"/>
          </a:xfrm>
          <a:prstGeom prst="rect">
            <a:avLst/>
          </a:prstGeom>
          <a:noFill/>
        </p:spPr>
        <p:txBody>
          <a:bodyPr wrap="square" lIns="0" rIns="0" tIns="0" bIns="0" anchor="ctr">
            <a:spAutoFit/>
          </a:bodyPr>
          <a:lstStyle/>
          <a:p>
            <a:r>
              <a:rPr sz="800" b="1" i="0">
                <a:solidFill>
                  <a:srgbClr val="FFFFFF"/>
                </a:solidFill>
                <a:latin typeface="Trenda IG Text"/>
              </a:rPr>
              <a:t>Pre-send review</a:t>
            </a:r>
          </a:p>
        </p:txBody>
      </p:sp>
      <p:sp>
        <p:nvSpPr>
          <p:cNvPr id="37" name="Text 31"/>
          <p:cNvSpPr txBox="1"/>
          <p:nvPr/>
        </p:nvSpPr>
        <p:spPr>
          <a:xfrm>
            <a:off x="5248655" y="1591056"/>
            <a:ext cx="1874519" cy="438911"/>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SME + tech lead approve a masked report: counts, consent, exclusions.</a:t>
            </a:r>
          </a:p>
          <a:p>
            <a:pPr>
              <a:spcAft>
                <a:spcPts val="100"/>
              </a:spcAft>
            </a:pPr>
            <a:r>
              <a:rPr sz="600" b="1" i="0">
                <a:solidFill>
                  <a:srgbClr val="FF0069"/>
                </a:solidFill>
                <a:latin typeface="Trenda IG Text"/>
              </a:rPr>
              <a:t>No PHI on screen.</a:t>
            </a:r>
          </a:p>
        </p:txBody>
      </p:sp>
      <p:sp>
        <p:nvSpPr>
          <p:cNvPr id="38" name="Shape 32"/>
          <p:cNvSpPr/>
          <p:nvPr/>
        </p:nvSpPr>
        <p:spPr>
          <a:xfrm>
            <a:off x="7333488" y="1307592"/>
            <a:ext cx="2057400" cy="749808"/>
          </a:xfrm>
          <a:prstGeom prst="roundRect">
            <a:avLst>
              <a:gd name="adj" fmla="val 7000"/>
            </a:avLst>
          </a:prstGeom>
          <a:solidFill>
            <a:srgbClr val="2B250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33"/>
          <p:cNvSpPr/>
          <p:nvPr/>
        </p:nvSpPr>
        <p:spPr>
          <a:xfrm>
            <a:off x="9052560" y="1380744"/>
            <a:ext cx="265176" cy="164592"/>
          </a:xfrm>
          <a:prstGeom prst="roundRect">
            <a:avLst>
              <a:gd name="adj" fmla="val 50000"/>
            </a:avLst>
          </a:prstGeom>
          <a:solidFill>
            <a:srgbClr val="FFD700"/>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4"/>
          <p:cNvSpPr txBox="1"/>
          <p:nvPr/>
        </p:nvSpPr>
        <p:spPr>
          <a:xfrm>
            <a:off x="9052560" y="1380744"/>
            <a:ext cx="265176" cy="164592"/>
          </a:xfrm>
          <a:prstGeom prst="rect">
            <a:avLst/>
          </a:prstGeom>
          <a:noFill/>
        </p:spPr>
        <p:txBody>
          <a:bodyPr wrap="square" lIns="0" rIns="0" tIns="0" bIns="0" anchor="ctr">
            <a:spAutoFit/>
          </a:bodyPr>
          <a:lstStyle/>
          <a:p>
            <a:pPr algn="ctr"/>
            <a:r>
              <a:rPr sz="560" b="1" i="0" spc="80">
                <a:solidFill>
                  <a:srgbClr val="000000"/>
                </a:solidFill>
                <a:latin typeface="Trenda IG Text"/>
              </a:rPr>
              <a:t>G3</a:t>
            </a:r>
          </a:p>
        </p:txBody>
      </p:sp>
      <p:sp>
        <p:nvSpPr>
          <p:cNvPr id="41" name="Text 35"/>
          <p:cNvSpPr txBox="1"/>
          <p:nvPr/>
        </p:nvSpPr>
        <p:spPr>
          <a:xfrm>
            <a:off x="7424927" y="1362456"/>
            <a:ext cx="1572768" cy="201168"/>
          </a:xfrm>
          <a:prstGeom prst="rect">
            <a:avLst/>
          </a:prstGeom>
          <a:noFill/>
        </p:spPr>
        <p:txBody>
          <a:bodyPr wrap="square" lIns="0" rIns="0" tIns="0" bIns="0" anchor="ctr">
            <a:spAutoFit/>
          </a:bodyPr>
          <a:lstStyle/>
          <a:p>
            <a:r>
              <a:rPr sz="800" b="1" i="0">
                <a:solidFill>
                  <a:srgbClr val="FFFFFF"/>
                </a:solidFill>
                <a:latin typeface="Trenda IG Text"/>
              </a:rPr>
              <a:t>Approve journey + content</a:t>
            </a:r>
          </a:p>
        </p:txBody>
      </p:sp>
      <p:sp>
        <p:nvSpPr>
          <p:cNvPr id="42" name="Text 36"/>
          <p:cNvSpPr txBox="1"/>
          <p:nvPr/>
        </p:nvSpPr>
        <p:spPr>
          <a:xfrm>
            <a:off x="7424927" y="1591056"/>
            <a:ext cx="1874519" cy="438911"/>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Clinical and compliance approve messages and journey; it waits, active, for entries.</a:t>
            </a:r>
          </a:p>
        </p:txBody>
      </p:sp>
      <p:sp>
        <p:nvSpPr>
          <p:cNvPr id="43" name="Shape 37"/>
          <p:cNvSpPr/>
          <p:nvPr/>
        </p:nvSpPr>
        <p:spPr>
          <a:xfrm>
            <a:off x="804672" y="2395728"/>
            <a:ext cx="2057400" cy="676656"/>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38"/>
          <p:cNvSpPr/>
          <p:nvPr/>
        </p:nvSpPr>
        <p:spPr>
          <a:xfrm>
            <a:off x="877824" y="245973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39"/>
          <p:cNvSpPr txBox="1"/>
          <p:nvPr/>
        </p:nvSpPr>
        <p:spPr>
          <a:xfrm>
            <a:off x="877824" y="24597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2</a:t>
            </a:r>
          </a:p>
        </p:txBody>
      </p:sp>
      <p:sp>
        <p:nvSpPr>
          <p:cNvPr id="46" name="Text 40"/>
          <p:cNvSpPr txBox="1"/>
          <p:nvPr/>
        </p:nvSpPr>
        <p:spPr>
          <a:xfrm>
            <a:off x="1133856" y="2450592"/>
            <a:ext cx="1655063" cy="201168"/>
          </a:xfrm>
          <a:prstGeom prst="rect">
            <a:avLst/>
          </a:prstGeom>
          <a:noFill/>
        </p:spPr>
        <p:txBody>
          <a:bodyPr wrap="square" lIns="0" rIns="0" tIns="0" bIns="0" anchor="ctr">
            <a:spAutoFit/>
          </a:bodyPr>
          <a:lstStyle/>
          <a:p>
            <a:r>
              <a:rPr sz="800" b="1" i="0">
                <a:solidFill>
                  <a:srgbClr val="FFFFFF"/>
                </a:solidFill>
                <a:latin typeface="Trenda IG Text"/>
              </a:rPr>
              <a:t>Campaign Strategist</a:t>
            </a:r>
          </a:p>
        </p:txBody>
      </p:sp>
      <p:sp>
        <p:nvSpPr>
          <p:cNvPr id="47" name="Text 41"/>
          <p:cNvSpPr txBox="1"/>
          <p:nvPr/>
        </p:nvSpPr>
        <p:spPr>
          <a:xfrm>
            <a:off x="896112" y="2679192"/>
            <a:ext cx="1874519" cy="365759"/>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Reads the masked graph; ranks by size, care gap, consent, past lift.</a:t>
            </a:r>
          </a:p>
        </p:txBody>
      </p:sp>
      <p:sp>
        <p:nvSpPr>
          <p:cNvPr id="48" name="Shape 42"/>
          <p:cNvSpPr/>
          <p:nvPr/>
        </p:nvSpPr>
        <p:spPr>
          <a:xfrm>
            <a:off x="2980944" y="2395728"/>
            <a:ext cx="2057400" cy="676656"/>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hape 43"/>
          <p:cNvSpPr/>
          <p:nvPr/>
        </p:nvSpPr>
        <p:spPr>
          <a:xfrm>
            <a:off x="3054096" y="245973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4"/>
          <p:cNvSpPr txBox="1"/>
          <p:nvPr/>
        </p:nvSpPr>
        <p:spPr>
          <a:xfrm>
            <a:off x="3054096" y="24597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5</a:t>
            </a:r>
          </a:p>
        </p:txBody>
      </p:sp>
      <p:sp>
        <p:nvSpPr>
          <p:cNvPr id="51" name="Text 45"/>
          <p:cNvSpPr txBox="1"/>
          <p:nvPr/>
        </p:nvSpPr>
        <p:spPr>
          <a:xfrm>
            <a:off x="3310127" y="2450592"/>
            <a:ext cx="1655064" cy="201168"/>
          </a:xfrm>
          <a:prstGeom prst="rect">
            <a:avLst/>
          </a:prstGeom>
          <a:noFill/>
        </p:spPr>
        <p:txBody>
          <a:bodyPr wrap="square" lIns="0" rIns="0" tIns="0" bIns="0" anchor="ctr">
            <a:spAutoFit/>
          </a:bodyPr>
          <a:lstStyle/>
          <a:p>
            <a:r>
              <a:rPr sz="800" b="1" i="0">
                <a:solidFill>
                  <a:srgbClr val="FFFFFF"/>
                </a:solidFill>
                <a:latin typeface="Trenda IG Text"/>
              </a:rPr>
              <a:t>Audience + Privacy Guard</a:t>
            </a:r>
          </a:p>
        </p:txBody>
      </p:sp>
      <p:sp>
        <p:nvSpPr>
          <p:cNvPr id="52" name="Text 46"/>
          <p:cNvSpPr txBox="1"/>
          <p:nvPr/>
        </p:nvSpPr>
        <p:spPr>
          <a:xfrm>
            <a:off x="3072384" y="2679192"/>
            <a:ext cx="1874519" cy="365759"/>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Consent first: opt-in per channel, STOP, deceased, readmitted, duplicates out.</a:t>
            </a:r>
          </a:p>
        </p:txBody>
      </p:sp>
      <p:sp>
        <p:nvSpPr>
          <p:cNvPr id="53" name="Shape 47"/>
          <p:cNvSpPr/>
          <p:nvPr/>
        </p:nvSpPr>
        <p:spPr>
          <a:xfrm>
            <a:off x="5157216" y="2395728"/>
            <a:ext cx="2057400" cy="676656"/>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48"/>
          <p:cNvSpPr/>
          <p:nvPr/>
        </p:nvSpPr>
        <p:spPr>
          <a:xfrm>
            <a:off x="5230368" y="245973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49"/>
          <p:cNvSpPr txBox="1"/>
          <p:nvPr/>
        </p:nvSpPr>
        <p:spPr>
          <a:xfrm>
            <a:off x="5230368" y="24597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11</a:t>
            </a:r>
          </a:p>
        </p:txBody>
      </p:sp>
      <p:sp>
        <p:nvSpPr>
          <p:cNvPr id="56" name="Text 50"/>
          <p:cNvSpPr txBox="1"/>
          <p:nvPr/>
        </p:nvSpPr>
        <p:spPr>
          <a:xfrm>
            <a:off x="5486400" y="2450592"/>
            <a:ext cx="1655063" cy="201168"/>
          </a:xfrm>
          <a:prstGeom prst="rect">
            <a:avLst/>
          </a:prstGeom>
          <a:noFill/>
        </p:spPr>
        <p:txBody>
          <a:bodyPr wrap="square" lIns="0" rIns="0" tIns="0" bIns="0" anchor="ctr">
            <a:spAutoFit/>
          </a:bodyPr>
          <a:lstStyle/>
          <a:p>
            <a:r>
              <a:rPr sz="800" b="1" i="0">
                <a:solidFill>
                  <a:srgbClr val="FFFFFF"/>
                </a:solidFill>
                <a:latin typeface="Trenda IG Text"/>
              </a:rPr>
              <a:t>Measurement Agent</a:t>
            </a:r>
          </a:p>
        </p:txBody>
      </p:sp>
      <p:sp>
        <p:nvSpPr>
          <p:cNvPr id="57" name="Text 51"/>
          <p:cNvSpPr txBox="1"/>
          <p:nvPr/>
        </p:nvSpPr>
        <p:spPr>
          <a:xfrm>
            <a:off x="5248655" y="2679192"/>
            <a:ext cx="1874519" cy="365759"/>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Lift against a holdout; writes what worked back to the graph.</a:t>
            </a:r>
          </a:p>
        </p:txBody>
      </p:sp>
      <p:sp>
        <p:nvSpPr>
          <p:cNvPr id="58" name="Shape 52"/>
          <p:cNvSpPr/>
          <p:nvPr/>
        </p:nvSpPr>
        <p:spPr>
          <a:xfrm>
            <a:off x="7333488" y="2395728"/>
            <a:ext cx="2057400" cy="676656"/>
          </a:xfrm>
          <a:prstGeom prst="roundRect">
            <a:avLst>
              <a:gd name="adj" fmla="val 7000"/>
            </a:avLst>
          </a:prstGeom>
          <a:solidFill>
            <a:srgbClr val="141414"/>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hape 53"/>
          <p:cNvSpPr/>
          <p:nvPr/>
        </p:nvSpPr>
        <p:spPr>
          <a:xfrm>
            <a:off x="7406640" y="2459736"/>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4"/>
          <p:cNvSpPr txBox="1"/>
          <p:nvPr/>
        </p:nvSpPr>
        <p:spPr>
          <a:xfrm>
            <a:off x="7406640" y="245973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8</a:t>
            </a:r>
          </a:p>
        </p:txBody>
      </p:sp>
      <p:sp>
        <p:nvSpPr>
          <p:cNvPr id="61" name="Text 55"/>
          <p:cNvSpPr txBox="1"/>
          <p:nvPr/>
        </p:nvSpPr>
        <p:spPr>
          <a:xfrm>
            <a:off x="7662671" y="2450592"/>
            <a:ext cx="1655064" cy="201168"/>
          </a:xfrm>
          <a:prstGeom prst="rect">
            <a:avLst/>
          </a:prstGeom>
          <a:noFill/>
        </p:spPr>
        <p:txBody>
          <a:bodyPr wrap="square" lIns="0" rIns="0" tIns="0" bIns="0" anchor="ctr">
            <a:spAutoFit/>
          </a:bodyPr>
          <a:lstStyle/>
          <a:p>
            <a:r>
              <a:rPr sz="800" b="1" i="0">
                <a:solidFill>
                  <a:srgbClr val="FFFFFF"/>
                </a:solidFill>
                <a:latin typeface="Trenda IG Text"/>
              </a:rPr>
              <a:t>Developer Agent · journeys</a:t>
            </a:r>
          </a:p>
        </p:txBody>
      </p:sp>
      <p:sp>
        <p:nvSpPr>
          <p:cNvPr id="62" name="Text 56"/>
          <p:cNvSpPr txBox="1"/>
          <p:nvPr/>
        </p:nvSpPr>
        <p:spPr>
          <a:xfrm>
            <a:off x="7424927" y="2679192"/>
            <a:ext cx="1874519" cy="365759"/>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Builds the data extension, the pull and the journey from approved templates.</a:t>
            </a:r>
          </a:p>
        </p:txBody>
      </p:sp>
      <p:sp>
        <p:nvSpPr>
          <p:cNvPr id="63" name="Shape 57"/>
          <p:cNvSpPr/>
          <p:nvPr/>
        </p:nvSpPr>
        <p:spPr>
          <a:xfrm>
            <a:off x="804672" y="3383280"/>
            <a:ext cx="2057400" cy="868680"/>
          </a:xfrm>
          <a:prstGeom prst="roundRect">
            <a:avLst>
              <a:gd name="adj" fmla="val 7000"/>
            </a:avLst>
          </a:prstGeom>
          <a:solidFill>
            <a:srgbClr val="1A1630"/>
          </a:solidFill>
          <a:ln w="12700">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58"/>
          <p:cNvSpPr/>
          <p:nvPr/>
        </p:nvSpPr>
        <p:spPr>
          <a:xfrm>
            <a:off x="877824" y="3447288"/>
            <a:ext cx="201168" cy="201168"/>
          </a:xfrm>
          <a:prstGeom prst="ellipse">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59"/>
          <p:cNvSpPr txBox="1"/>
          <p:nvPr/>
        </p:nvSpPr>
        <p:spPr>
          <a:xfrm>
            <a:off x="877824" y="344728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3</a:t>
            </a:r>
          </a:p>
        </p:txBody>
      </p:sp>
      <p:pic>
        <p:nvPicPr>
          <p:cNvPr id="66" name="Picture 65" descr="googlecloudspanner.png"/>
          <p:cNvPicPr>
            <a:picLocks noChangeAspect="1"/>
          </p:cNvPicPr>
          <p:nvPr/>
        </p:nvPicPr>
        <p:blipFill>
          <a:blip r:embed="rId7"/>
          <a:stretch>
            <a:fillRect/>
          </a:stretch>
        </p:blipFill>
        <p:spPr>
          <a:xfrm>
            <a:off x="1133856" y="3447288"/>
            <a:ext cx="182880" cy="182880"/>
          </a:xfrm>
          <a:prstGeom prst="rect">
            <a:avLst/>
          </a:prstGeom>
        </p:spPr>
      </p:pic>
      <p:sp>
        <p:nvSpPr>
          <p:cNvPr id="67" name="Text 60"/>
          <p:cNvSpPr txBox="1"/>
          <p:nvPr/>
        </p:nvSpPr>
        <p:spPr>
          <a:xfrm>
            <a:off x="1371600" y="3438144"/>
            <a:ext cx="1417319" cy="201168"/>
          </a:xfrm>
          <a:prstGeom prst="rect">
            <a:avLst/>
          </a:prstGeom>
          <a:noFill/>
        </p:spPr>
        <p:txBody>
          <a:bodyPr wrap="square" lIns="0" rIns="0" tIns="0" bIns="0" anchor="ctr">
            <a:spAutoFit/>
          </a:bodyPr>
          <a:lstStyle/>
          <a:p>
            <a:r>
              <a:rPr sz="800" b="1" i="0">
                <a:solidFill>
                  <a:srgbClr val="FFFFFF"/>
                </a:solidFill>
                <a:latin typeface="Trenda IG Text"/>
              </a:rPr>
              <a:t>Knowledge graph</a:t>
            </a:r>
          </a:p>
        </p:txBody>
      </p:sp>
      <p:sp>
        <p:nvSpPr>
          <p:cNvPr id="68" name="Text 61"/>
          <p:cNvSpPr txBox="1"/>
          <p:nvPr/>
        </p:nvSpPr>
        <p:spPr>
          <a:xfrm>
            <a:off x="896112" y="3666744"/>
            <a:ext cx="1874519" cy="557783"/>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Segments, counts, care gaps, consent coverage, past lift.</a:t>
            </a:r>
          </a:p>
          <a:p>
            <a:pPr>
              <a:spcAft>
                <a:spcPts val="100"/>
              </a:spcAft>
            </a:pPr>
            <a:r>
              <a:rPr sz="600" b="1" i="0">
                <a:solidFill>
                  <a:srgbClr val="FF0069"/>
                </a:solidFill>
                <a:latin typeface="Trenda IG Text"/>
              </a:rPr>
              <a:t>Masked: no patient visible.</a:t>
            </a:r>
          </a:p>
        </p:txBody>
      </p:sp>
      <p:sp>
        <p:nvSpPr>
          <p:cNvPr id="69" name="Shape 62"/>
          <p:cNvSpPr/>
          <p:nvPr/>
        </p:nvSpPr>
        <p:spPr>
          <a:xfrm>
            <a:off x="2980944" y="3383280"/>
            <a:ext cx="2057400" cy="868680"/>
          </a:xfrm>
          <a:prstGeom prst="roundRect">
            <a:avLst>
              <a:gd name="adj" fmla="val 7000"/>
            </a:avLst>
          </a:prstGeom>
          <a:solidFill>
            <a:srgbClr val="141414"/>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hape 63"/>
          <p:cNvSpPr/>
          <p:nvPr/>
        </p:nvSpPr>
        <p:spPr>
          <a:xfrm>
            <a:off x="3054096" y="3447288"/>
            <a:ext cx="201168" cy="201168"/>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4"/>
          <p:cNvSpPr txBox="1"/>
          <p:nvPr/>
        </p:nvSpPr>
        <p:spPr>
          <a:xfrm>
            <a:off x="3054096" y="344728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6</a:t>
            </a:r>
          </a:p>
        </p:txBody>
      </p:sp>
      <p:pic>
        <p:nvPicPr>
          <p:cNvPr id="72" name="Picture 71" descr="googlebigquery.png"/>
          <p:cNvPicPr>
            <a:picLocks noChangeAspect="1"/>
          </p:cNvPicPr>
          <p:nvPr/>
        </p:nvPicPr>
        <p:blipFill>
          <a:blip r:embed="rId8"/>
          <a:stretch>
            <a:fillRect/>
          </a:stretch>
        </p:blipFill>
        <p:spPr>
          <a:xfrm>
            <a:off x="3310127" y="3447288"/>
            <a:ext cx="182880" cy="182880"/>
          </a:xfrm>
          <a:prstGeom prst="rect">
            <a:avLst/>
          </a:prstGeom>
        </p:spPr>
      </p:pic>
      <p:sp>
        <p:nvSpPr>
          <p:cNvPr id="73" name="Text 65"/>
          <p:cNvSpPr txBox="1"/>
          <p:nvPr/>
        </p:nvSpPr>
        <p:spPr>
          <a:xfrm>
            <a:off x="3547872" y="3438144"/>
            <a:ext cx="1417319" cy="201168"/>
          </a:xfrm>
          <a:prstGeom prst="rect">
            <a:avLst/>
          </a:prstGeom>
          <a:noFill/>
        </p:spPr>
        <p:txBody>
          <a:bodyPr wrap="square" lIns="0" rIns="0" tIns="0" bIns="0" anchor="ctr">
            <a:spAutoFit/>
          </a:bodyPr>
          <a:lstStyle/>
          <a:p>
            <a:r>
              <a:rPr sz="800" b="1" i="0">
                <a:solidFill>
                  <a:srgbClr val="FFFFFF"/>
                </a:solidFill>
                <a:latin typeface="Trenda IG Text"/>
              </a:rPr>
              <a:t>Masked audience · BigQuery</a:t>
            </a:r>
          </a:p>
        </p:txBody>
      </p:sp>
      <p:sp>
        <p:nvSpPr>
          <p:cNvPr id="74" name="Text 66"/>
          <p:cNvSpPr txBox="1"/>
          <p:nvPr/>
        </p:nvSpPr>
        <p:spPr>
          <a:xfrm>
            <a:off x="3072384" y="3666744"/>
            <a:ext cx="1874519" cy="557783"/>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Tokens and counts per run ID; holdout set aside.</a:t>
            </a:r>
          </a:p>
          <a:p>
            <a:pPr>
              <a:spcAft>
                <a:spcPts val="100"/>
              </a:spcAft>
            </a:pPr>
            <a:r>
              <a:rPr sz="600" b="1" i="0">
                <a:solidFill>
                  <a:srgbClr val="FF0069"/>
                </a:solidFill>
                <a:latin typeface="Trenda IG Text"/>
              </a:rPr>
              <a:t>Agents never unmask.</a:t>
            </a:r>
          </a:p>
        </p:txBody>
      </p:sp>
      <p:sp>
        <p:nvSpPr>
          <p:cNvPr id="75" name="Shape 67"/>
          <p:cNvSpPr/>
          <p:nvPr/>
        </p:nvSpPr>
        <p:spPr>
          <a:xfrm>
            <a:off x="5157216" y="3383280"/>
            <a:ext cx="2057400" cy="868680"/>
          </a:xfrm>
          <a:prstGeom prst="roundRect">
            <a:avLst>
              <a:gd name="adj" fmla="val 7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6" name="Picture 75" descr="googlebigquery.png"/>
          <p:cNvPicPr>
            <a:picLocks noChangeAspect="1"/>
          </p:cNvPicPr>
          <p:nvPr/>
        </p:nvPicPr>
        <p:blipFill>
          <a:blip r:embed="rId8"/>
          <a:stretch>
            <a:fillRect/>
          </a:stretch>
        </p:blipFill>
        <p:spPr>
          <a:xfrm>
            <a:off x="5248655" y="3447288"/>
            <a:ext cx="182880" cy="182880"/>
          </a:xfrm>
          <a:prstGeom prst="rect">
            <a:avLst/>
          </a:prstGeom>
        </p:spPr>
      </p:pic>
      <p:sp>
        <p:nvSpPr>
          <p:cNvPr id="77" name="Text 68"/>
          <p:cNvSpPr txBox="1"/>
          <p:nvPr/>
        </p:nvSpPr>
        <p:spPr>
          <a:xfrm>
            <a:off x="5486399" y="3438144"/>
            <a:ext cx="1655064" cy="201168"/>
          </a:xfrm>
          <a:prstGeom prst="rect">
            <a:avLst/>
          </a:prstGeom>
          <a:noFill/>
        </p:spPr>
        <p:txBody>
          <a:bodyPr wrap="square" lIns="0" rIns="0" tIns="0" bIns="0" anchor="ctr">
            <a:spAutoFit/>
          </a:bodyPr>
          <a:lstStyle/>
          <a:p>
            <a:r>
              <a:rPr sz="800" b="1" i="0">
                <a:solidFill>
                  <a:srgbClr val="FFFFFF"/>
                </a:solidFill>
                <a:latin typeface="Trenda IG Text"/>
              </a:rPr>
              <a:t>ROI engine</a:t>
            </a:r>
          </a:p>
        </p:txBody>
      </p:sp>
      <p:sp>
        <p:nvSpPr>
          <p:cNvPr id="78" name="Text 69"/>
          <p:cNvSpPr txBox="1"/>
          <p:nvPr/>
        </p:nvSpPr>
        <p:spPr>
          <a:xfrm>
            <a:off x="5248655" y="3666744"/>
            <a:ext cx="1874519" cy="557783"/>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EUID matching, attribution, lift vs holdout, Contribution Margin.</a:t>
            </a:r>
          </a:p>
        </p:txBody>
      </p:sp>
      <p:sp>
        <p:nvSpPr>
          <p:cNvPr id="79" name="Differentiator Border 71"/>
          <p:cNvSpPr/>
          <p:nvPr/>
        </p:nvSpPr>
        <p:spPr>
          <a:xfrm>
            <a:off x="7333488" y="3383280"/>
            <a:ext cx="2057400" cy="86868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hape 72"/>
          <p:cNvSpPr/>
          <p:nvPr/>
        </p:nvSpPr>
        <p:spPr>
          <a:xfrm>
            <a:off x="7370063" y="3419856"/>
            <a:ext cx="1984248" cy="7955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3"/>
          <p:cNvSpPr/>
          <p:nvPr/>
        </p:nvSpPr>
        <p:spPr>
          <a:xfrm>
            <a:off x="7415783" y="3465576"/>
            <a:ext cx="201168" cy="20116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4"/>
          <p:cNvSpPr txBox="1"/>
          <p:nvPr/>
        </p:nvSpPr>
        <p:spPr>
          <a:xfrm>
            <a:off x="7415783" y="3465576"/>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9</a:t>
            </a:r>
          </a:p>
        </p:txBody>
      </p:sp>
      <p:pic>
        <p:nvPicPr>
          <p:cNvPr id="83" name="Picture 82" descr="googlecloudspanner.png"/>
          <p:cNvPicPr>
            <a:picLocks noChangeAspect="1"/>
          </p:cNvPicPr>
          <p:nvPr/>
        </p:nvPicPr>
        <p:blipFill>
          <a:blip r:embed="rId7"/>
          <a:stretch>
            <a:fillRect/>
          </a:stretch>
        </p:blipFill>
        <p:spPr>
          <a:xfrm>
            <a:off x="7671815" y="3465576"/>
            <a:ext cx="182880" cy="182880"/>
          </a:xfrm>
          <a:prstGeom prst="rect">
            <a:avLst/>
          </a:prstGeom>
        </p:spPr>
      </p:pic>
      <p:sp>
        <p:nvSpPr>
          <p:cNvPr id="84" name="Text 75"/>
          <p:cNvSpPr txBox="1"/>
          <p:nvPr/>
        </p:nvSpPr>
        <p:spPr>
          <a:xfrm>
            <a:off x="7900415" y="3447288"/>
            <a:ext cx="1417319" cy="219456"/>
          </a:xfrm>
          <a:prstGeom prst="rect">
            <a:avLst/>
          </a:prstGeom>
          <a:noFill/>
        </p:spPr>
        <p:txBody>
          <a:bodyPr wrap="square" lIns="0" rIns="0" tIns="0" bIns="0" anchor="ctr">
            <a:spAutoFit/>
          </a:bodyPr>
          <a:lstStyle/>
          <a:p>
            <a:r>
              <a:rPr sz="760" b="1" i="0">
                <a:solidFill>
                  <a:srgbClr val="FFFFFF"/>
                </a:solidFill>
                <a:latin typeface="Trenda IG Text"/>
              </a:rPr>
              <a:t>Release store · Spanner</a:t>
            </a:r>
          </a:p>
        </p:txBody>
      </p:sp>
      <p:sp>
        <p:nvSpPr>
          <p:cNvPr id="85" name="Text 76"/>
          <p:cNvSpPr txBox="1"/>
          <p:nvPr/>
        </p:nvSpPr>
        <p:spPr>
          <a:xfrm>
            <a:off x="7443215" y="3685032"/>
            <a:ext cx="1837943" cy="521208"/>
          </a:xfrm>
          <a:prstGeom prst="rect">
            <a:avLst/>
          </a:prstGeom>
          <a:noFill/>
        </p:spPr>
        <p:txBody>
          <a:bodyPr wrap="square" lIns="0" rIns="0" tIns="0" bIns="0" anchor="t">
            <a:spAutoFit/>
          </a:bodyPr>
          <a:lstStyle/>
          <a:p>
            <a:r>
              <a:rPr sz="600" b="1" i="0">
                <a:solidFill>
                  <a:srgbClr val="FFD700"/>
                </a:solidFill>
                <a:latin typeface="Trenda IG Text"/>
              </a:rPr>
              <a:t>Only after G2 + G3: </a:t>
            </a:r>
            <a:r>
              <a:rPr sz="600" b="0" i="0">
                <a:solidFill>
                  <a:srgbClr val="BFBFBF"/>
                </a:solidFill>
                <a:latin typeface="Trenda IG Text"/>
              </a:rPr>
              <a:t>token, name, email, phone, condition group, discharge date. Time-limited, read-only API.</a:t>
            </a:r>
          </a:p>
        </p:txBody>
      </p:sp>
      <p:sp>
        <p:nvSpPr>
          <p:cNvPr id="86" name="Shape 77"/>
          <p:cNvSpPr/>
          <p:nvPr/>
        </p:nvSpPr>
        <p:spPr>
          <a:xfrm>
            <a:off x="804672" y="4572000"/>
            <a:ext cx="8586215" cy="457200"/>
          </a:xfrm>
          <a:prstGeom prst="roundRect">
            <a:avLst>
              <a:gd name="adj" fmla="val 20000"/>
            </a:avLst>
          </a:prstGeom>
          <a:solidFill>
            <a:srgbClr val="2B0716"/>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78"/>
          <p:cNvSpPr/>
          <p:nvPr/>
        </p:nvSpPr>
        <p:spPr>
          <a:xfrm>
            <a:off x="896112" y="4718304"/>
            <a:ext cx="731520" cy="164592"/>
          </a:xfrm>
          <a:prstGeom prst="roundRect">
            <a:avLst>
              <a:gd name="adj" fmla="val 50000"/>
            </a:avLst>
          </a:prstGeom>
          <a:solidFill>
            <a:srgbClr val="FF0069"/>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79"/>
          <p:cNvSpPr txBox="1"/>
          <p:nvPr/>
        </p:nvSpPr>
        <p:spPr>
          <a:xfrm>
            <a:off x="896112" y="4718304"/>
            <a:ext cx="731520" cy="164592"/>
          </a:xfrm>
          <a:prstGeom prst="rect">
            <a:avLst/>
          </a:prstGeom>
          <a:noFill/>
        </p:spPr>
        <p:txBody>
          <a:bodyPr wrap="square" lIns="0" rIns="0" tIns="0" bIns="0" anchor="ctr">
            <a:spAutoFit/>
          </a:bodyPr>
          <a:lstStyle/>
          <a:p>
            <a:pPr algn="ctr"/>
            <a:r>
              <a:rPr sz="560" b="1" i="0" spc="80">
                <a:solidFill>
                  <a:srgbClr val="FFFFFF"/>
                </a:solidFill>
                <a:latin typeface="Trenda IG Text"/>
              </a:rPr>
              <a:t>REQUIRED</a:t>
            </a:r>
          </a:p>
        </p:txBody>
      </p:sp>
      <p:sp>
        <p:nvSpPr>
          <p:cNvPr id="89" name="Text 80"/>
          <p:cNvSpPr txBox="1"/>
          <p:nvPr/>
        </p:nvSpPr>
        <p:spPr>
          <a:xfrm>
            <a:off x="1719072" y="4572000"/>
            <a:ext cx="7580375" cy="457200"/>
          </a:xfrm>
          <a:prstGeom prst="rect">
            <a:avLst/>
          </a:prstGeom>
          <a:noFill/>
        </p:spPr>
        <p:txBody>
          <a:bodyPr wrap="square" lIns="0" rIns="0" tIns="0" bIns="0" anchor="ctr">
            <a:spAutoFit/>
          </a:bodyPr>
          <a:lstStyle/>
          <a:p>
            <a:r>
              <a:rPr sz="630" b="0" i="0">
                <a:solidFill>
                  <a:srgbClr val="BFBFBF"/>
                </a:solidFill>
                <a:latin typeface="Trenda IG Text"/>
              </a:rPr>
              <a:t>Epic · athenahealth · Strata · SFDC leads · SFMC engagement · CallRail · forms · direct mail</a:t>
            </a:r>
            <a:r>
              <a:rPr sz="630" b="1" i="0">
                <a:solidFill>
                  <a:srgbClr val="FFFFFF"/>
                </a:solidFill>
                <a:latin typeface="Trenda IG Text"/>
              </a:rPr>
              <a:t>  → BigQuery →  </a:t>
            </a:r>
            <a:r>
              <a:rPr sz="630" b="0" i="0">
                <a:solidFill>
                  <a:srgbClr val="FF0069"/>
                </a:solidFill>
                <a:latin typeface="Trenda IG Text"/>
              </a:rPr>
              <a:t>DLP classifies, Collibra steward approves, policy tags mask PHI</a:t>
            </a:r>
          </a:p>
        </p:txBody>
      </p:sp>
      <p:cxnSp>
        <p:nvCxnSpPr>
          <p:cNvPr id="90" name="Arrow 81"/>
          <p:cNvCxnSpPr/>
          <p:nvPr/>
        </p:nvCxnSpPr>
        <p:spPr>
          <a:xfrm>
            <a:off x="1833372" y="2057400"/>
            <a:ext cx="0" cy="338328"/>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2"/>
          <p:cNvCxnSpPr/>
          <p:nvPr/>
        </p:nvCxnSpPr>
        <p:spPr>
          <a:xfrm>
            <a:off x="1696212" y="3072384"/>
            <a:ext cx="0" cy="310896"/>
          </a:xfrm>
          <a:prstGeom prst="line">
            <a:avLst/>
          </a:prstGeom>
          <a:ln w="19050">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3"/>
          <p:cNvCxnSpPr/>
          <p:nvPr/>
        </p:nvCxnSpPr>
        <p:spPr>
          <a:xfrm flipV="1">
            <a:off x="1970531" y="3072384"/>
            <a:ext cx="0" cy="310896"/>
          </a:xfrm>
          <a:prstGeom prst="line">
            <a:avLst/>
          </a:prstGeom>
          <a:ln w="19050">
            <a:solidFill>
              <a:srgbClr val="8B7C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4"/>
          <p:cNvCxnSpPr/>
          <p:nvPr/>
        </p:nvCxnSpPr>
        <p:spPr>
          <a:xfrm>
            <a:off x="2862072" y="2734056"/>
            <a:ext cx="59436"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94" name="Arrow 85"/>
          <p:cNvCxnSpPr/>
          <p:nvPr/>
        </p:nvCxnSpPr>
        <p:spPr>
          <a:xfrm flipV="1">
            <a:off x="2921508" y="1682495"/>
            <a:ext cx="0" cy="1051561"/>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95" name="Arrow 86"/>
          <p:cNvCxnSpPr/>
          <p:nvPr/>
        </p:nvCxnSpPr>
        <p:spPr>
          <a:xfrm>
            <a:off x="2921508" y="1682495"/>
            <a:ext cx="59436"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Arrow 87"/>
          <p:cNvCxnSpPr/>
          <p:nvPr/>
        </p:nvCxnSpPr>
        <p:spPr>
          <a:xfrm>
            <a:off x="4009644" y="2057400"/>
            <a:ext cx="0" cy="338328"/>
          </a:xfrm>
          <a:prstGeom prst="line">
            <a:avLst/>
          </a:prstGeom>
          <a:ln w="19050">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Arrow 88"/>
          <p:cNvCxnSpPr/>
          <p:nvPr/>
        </p:nvCxnSpPr>
        <p:spPr>
          <a:xfrm>
            <a:off x="4009644" y="3072384"/>
            <a:ext cx="0" cy="310896"/>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Arrow 89"/>
          <p:cNvCxnSpPr/>
          <p:nvPr/>
        </p:nvCxnSpPr>
        <p:spPr>
          <a:xfrm>
            <a:off x="5038344" y="3931920"/>
            <a:ext cx="59436" cy="0"/>
          </a:xfrm>
          <a:prstGeom prst="line">
            <a:avLst/>
          </a:prstGeom>
          <a:ln w="190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99" name="Arrow 90"/>
          <p:cNvCxnSpPr/>
          <p:nvPr/>
        </p:nvCxnSpPr>
        <p:spPr>
          <a:xfrm flipV="1">
            <a:off x="5097780" y="1682495"/>
            <a:ext cx="0" cy="2249425"/>
          </a:xfrm>
          <a:prstGeom prst="line">
            <a:avLst/>
          </a:prstGeom>
          <a:ln w="190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100" name="Arrow 91"/>
          <p:cNvCxnSpPr/>
          <p:nvPr/>
        </p:nvCxnSpPr>
        <p:spPr>
          <a:xfrm>
            <a:off x="5097780" y="1682495"/>
            <a:ext cx="59436" cy="0"/>
          </a:xfrm>
          <a:prstGeom prst="line">
            <a:avLst/>
          </a:prstGeom>
          <a:ln w="19050">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Arrow 92"/>
          <p:cNvCxnSpPr/>
          <p:nvPr/>
        </p:nvCxnSpPr>
        <p:spPr>
          <a:xfrm>
            <a:off x="7214616" y="1682495"/>
            <a:ext cx="59436" cy="0"/>
          </a:xfrm>
          <a:prstGeom prst="line">
            <a:avLst/>
          </a:prstGeom>
          <a:ln w="22225">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02" name="Arrow 93"/>
          <p:cNvCxnSpPr/>
          <p:nvPr/>
        </p:nvCxnSpPr>
        <p:spPr>
          <a:xfrm>
            <a:off x="7274052" y="1682495"/>
            <a:ext cx="0" cy="1051561"/>
          </a:xfrm>
          <a:prstGeom prst="line">
            <a:avLst/>
          </a:prstGeom>
          <a:ln w="22225">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03" name="Arrow 94"/>
          <p:cNvCxnSpPr/>
          <p:nvPr/>
        </p:nvCxnSpPr>
        <p:spPr>
          <a:xfrm>
            <a:off x="7274052" y="2734056"/>
            <a:ext cx="59436" cy="0"/>
          </a:xfrm>
          <a:prstGeom prst="line">
            <a:avLst/>
          </a:prstGeom>
          <a:ln w="22225">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Arrow 95"/>
          <p:cNvCxnSpPr/>
          <p:nvPr/>
        </p:nvCxnSpPr>
        <p:spPr>
          <a:xfrm flipV="1">
            <a:off x="8362188" y="2057400"/>
            <a:ext cx="0" cy="338328"/>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Arrow 96"/>
          <p:cNvCxnSpPr/>
          <p:nvPr/>
        </p:nvCxnSpPr>
        <p:spPr>
          <a:xfrm>
            <a:off x="9390888" y="1682495"/>
            <a:ext cx="59436" cy="0"/>
          </a:xfrm>
          <a:prstGeom prst="line">
            <a:avLst/>
          </a:prstGeom>
          <a:ln w="22225">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06" name="Arrow 97"/>
          <p:cNvCxnSpPr/>
          <p:nvPr/>
        </p:nvCxnSpPr>
        <p:spPr>
          <a:xfrm>
            <a:off x="9450324" y="1682495"/>
            <a:ext cx="0" cy="1929385"/>
          </a:xfrm>
          <a:prstGeom prst="line">
            <a:avLst/>
          </a:prstGeom>
          <a:ln w="22225">
            <a:solidFill>
              <a:srgbClr val="FFD700"/>
            </a:solidFill>
          </a:ln>
        </p:spPr>
        <p:style>
          <a:lnRef idx="2">
            <a:schemeClr val="accent1"/>
          </a:lnRef>
          <a:fillRef idx="0">
            <a:schemeClr val="accent1"/>
          </a:fillRef>
          <a:effectRef idx="1">
            <a:schemeClr val="accent1"/>
          </a:effectRef>
          <a:fontRef idx="minor">
            <a:schemeClr val="tx1"/>
          </a:fontRef>
        </p:style>
      </p:cxnSp>
      <p:cxnSp>
        <p:nvCxnSpPr>
          <p:cNvPr id="107" name="Arrow 98"/>
          <p:cNvCxnSpPr/>
          <p:nvPr/>
        </p:nvCxnSpPr>
        <p:spPr>
          <a:xfrm flipH="1">
            <a:off x="9390888" y="3611880"/>
            <a:ext cx="59436" cy="0"/>
          </a:xfrm>
          <a:prstGeom prst="line">
            <a:avLst/>
          </a:prstGeom>
          <a:ln w="22225">
            <a:solidFill>
              <a:srgbClr val="FFD7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Arrow 99"/>
          <p:cNvCxnSpPr/>
          <p:nvPr/>
        </p:nvCxnSpPr>
        <p:spPr>
          <a:xfrm flipV="1">
            <a:off x="6185916" y="3072384"/>
            <a:ext cx="0" cy="310896"/>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9" name="Arrow 100"/>
          <p:cNvCxnSpPr/>
          <p:nvPr/>
        </p:nvCxnSpPr>
        <p:spPr>
          <a:xfrm>
            <a:off x="5614416" y="4251960"/>
            <a:ext cx="0" cy="155448"/>
          </a:xfrm>
          <a:prstGeom prst="line">
            <a:avLst/>
          </a:prstGeom>
          <a:ln w="19050">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10" name="Arrow 101"/>
          <p:cNvCxnSpPr/>
          <p:nvPr/>
        </p:nvCxnSpPr>
        <p:spPr>
          <a:xfrm flipH="1">
            <a:off x="1833372" y="4407408"/>
            <a:ext cx="3781044" cy="0"/>
          </a:xfrm>
          <a:prstGeom prst="line">
            <a:avLst/>
          </a:prstGeom>
          <a:ln w="19050">
            <a:solidFill>
              <a:srgbClr val="56E13B"/>
            </a:solidFill>
          </a:ln>
        </p:spPr>
        <p:style>
          <a:lnRef idx="2">
            <a:schemeClr val="accent1"/>
          </a:lnRef>
          <a:fillRef idx="0">
            <a:schemeClr val="accent1"/>
          </a:fillRef>
          <a:effectRef idx="1">
            <a:schemeClr val="accent1"/>
          </a:effectRef>
          <a:fontRef idx="minor">
            <a:schemeClr val="tx1"/>
          </a:fontRef>
        </p:style>
      </p:cxnSp>
      <p:cxnSp>
        <p:nvCxnSpPr>
          <p:cNvPr id="111" name="Arrow 102"/>
          <p:cNvCxnSpPr/>
          <p:nvPr/>
        </p:nvCxnSpPr>
        <p:spPr>
          <a:xfrm flipV="1">
            <a:off x="1833372" y="4251960"/>
            <a:ext cx="0" cy="155448"/>
          </a:xfrm>
          <a:prstGeom prst="line">
            <a:avLst/>
          </a:prstGeom>
          <a:ln w="19050">
            <a:solidFill>
              <a:srgbClr val="56E1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2" name="Shape 103"/>
          <p:cNvSpPr/>
          <p:nvPr/>
        </p:nvSpPr>
        <p:spPr>
          <a:xfrm>
            <a:off x="1970531" y="4325112"/>
            <a:ext cx="2743200" cy="164592"/>
          </a:xfrm>
          <a:prstGeom prst="roundRect">
            <a:avLst>
              <a:gd name="adj" fmla="val 50000"/>
            </a:avLst>
          </a:prstGeom>
          <a:solidFill>
            <a:srgbClr val="56E13B"/>
          </a:solid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 104"/>
          <p:cNvSpPr txBox="1"/>
          <p:nvPr/>
        </p:nvSpPr>
        <p:spPr>
          <a:xfrm>
            <a:off x="1970531" y="4325112"/>
            <a:ext cx="2743200" cy="164592"/>
          </a:xfrm>
          <a:prstGeom prst="rect">
            <a:avLst/>
          </a:prstGeom>
          <a:noFill/>
        </p:spPr>
        <p:txBody>
          <a:bodyPr wrap="square" lIns="0" rIns="0" tIns="0" bIns="0" anchor="ctr">
            <a:spAutoFit/>
          </a:bodyPr>
          <a:lstStyle/>
          <a:p>
            <a:pPr algn="ctr"/>
            <a:r>
              <a:rPr sz="560" b="1" i="0" spc="80">
                <a:solidFill>
                  <a:srgbClr val="000000"/>
                </a:solidFill>
                <a:latin typeface="Trenda IG Text"/>
              </a:rPr>
              <a:t>← WHAT WORKED IMPROVES THE NEXT SUGGESTION</a:t>
            </a:r>
          </a:p>
        </p:txBody>
      </p:sp>
      <p:sp>
        <p:nvSpPr>
          <p:cNvPr id="114" name="Shape 105"/>
          <p:cNvSpPr/>
          <p:nvPr/>
        </p:nvSpPr>
        <p:spPr>
          <a:xfrm>
            <a:off x="9646920" y="1170432"/>
            <a:ext cx="2130552"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5" name="Picture 114" descr="salesforce.png"/>
          <p:cNvPicPr>
            <a:picLocks noChangeAspect="1"/>
          </p:cNvPicPr>
          <p:nvPr/>
        </p:nvPicPr>
        <p:blipFill>
          <a:blip r:embed="rId9"/>
          <a:stretch>
            <a:fillRect/>
          </a:stretch>
        </p:blipFill>
        <p:spPr>
          <a:xfrm>
            <a:off x="9720072" y="1197864"/>
            <a:ext cx="219456" cy="219456"/>
          </a:xfrm>
          <a:prstGeom prst="rect">
            <a:avLst/>
          </a:prstGeom>
        </p:spPr>
      </p:pic>
      <p:sp>
        <p:nvSpPr>
          <p:cNvPr id="116" name="Text 106"/>
          <p:cNvSpPr txBox="1"/>
          <p:nvPr/>
        </p:nvSpPr>
        <p:spPr>
          <a:xfrm>
            <a:off x="10012680" y="1170432"/>
            <a:ext cx="1673352" cy="274320"/>
          </a:xfrm>
          <a:prstGeom prst="rect">
            <a:avLst/>
          </a:prstGeom>
          <a:noFill/>
        </p:spPr>
        <p:txBody>
          <a:bodyPr wrap="square" lIns="0" rIns="0" tIns="0" bIns="0" anchor="ctr">
            <a:spAutoFit/>
          </a:bodyPr>
          <a:lstStyle/>
          <a:p>
            <a:r>
              <a:rPr sz="700" b="1" i="0" spc="150">
                <a:solidFill>
                  <a:srgbClr val="000000"/>
                </a:solidFill>
                <a:latin typeface="Trenda IG Text"/>
              </a:rPr>
              <a:t>MARKETING CLOUD</a:t>
            </a:r>
          </a:p>
        </p:txBody>
      </p:sp>
      <p:sp>
        <p:nvSpPr>
          <p:cNvPr id="117" name="Shape 107"/>
          <p:cNvSpPr/>
          <p:nvPr/>
        </p:nvSpPr>
        <p:spPr>
          <a:xfrm>
            <a:off x="9646920" y="1444752"/>
            <a:ext cx="2130552" cy="3694176"/>
          </a:xfrm>
          <a:prstGeom prst="rect">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Shape 108"/>
          <p:cNvSpPr/>
          <p:nvPr/>
        </p:nvSpPr>
        <p:spPr>
          <a:xfrm>
            <a:off x="9738360" y="1554480"/>
            <a:ext cx="1947672" cy="566928"/>
          </a:xfrm>
          <a:prstGeom prst="roundRect">
            <a:avLst>
              <a:gd name="adj" fmla="val 7000"/>
            </a:avLst>
          </a:prstGeom>
          <a:solidFill>
            <a:srgbClr val="000000"/>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09"/>
          <p:cNvSpPr txBox="1"/>
          <p:nvPr/>
        </p:nvSpPr>
        <p:spPr>
          <a:xfrm>
            <a:off x="9829800" y="1609344"/>
            <a:ext cx="1783080" cy="201168"/>
          </a:xfrm>
          <a:prstGeom prst="rect">
            <a:avLst/>
          </a:prstGeom>
          <a:noFill/>
        </p:spPr>
        <p:txBody>
          <a:bodyPr wrap="square" lIns="0" rIns="0" tIns="0" bIns="0" anchor="ctr">
            <a:spAutoFit/>
          </a:bodyPr>
          <a:lstStyle/>
          <a:p>
            <a:r>
              <a:rPr sz="800" b="1" i="0">
                <a:solidFill>
                  <a:srgbClr val="FFFFFF"/>
                </a:solidFill>
                <a:latin typeface="Trenda IG Text"/>
              </a:rPr>
              <a:t>SMS or email nudge</a:t>
            </a:r>
          </a:p>
        </p:txBody>
      </p:sp>
      <p:sp>
        <p:nvSpPr>
          <p:cNvPr id="120" name="Text 110"/>
          <p:cNvSpPr txBox="1"/>
          <p:nvPr/>
        </p:nvSpPr>
        <p:spPr>
          <a:xfrm>
            <a:off x="9829800" y="1837943"/>
            <a:ext cx="1764792" cy="256031"/>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Consent, STOP, frequency caps re-checked at send.</a:t>
            </a:r>
          </a:p>
        </p:txBody>
      </p:sp>
      <p:sp>
        <p:nvSpPr>
          <p:cNvPr id="121" name="Shape 111"/>
          <p:cNvSpPr/>
          <p:nvPr/>
        </p:nvSpPr>
        <p:spPr>
          <a:xfrm>
            <a:off x="9738360" y="2267712"/>
            <a:ext cx="1947672" cy="694944"/>
          </a:xfrm>
          <a:prstGeom prst="roundRect">
            <a:avLst>
              <a:gd name="adj" fmla="val 7000"/>
            </a:avLst>
          </a:prstGeom>
          <a:solidFill>
            <a:srgbClr val="000000"/>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12"/>
          <p:cNvSpPr txBox="1"/>
          <p:nvPr/>
        </p:nvSpPr>
        <p:spPr>
          <a:xfrm>
            <a:off x="9829800" y="2322576"/>
            <a:ext cx="1783080" cy="201168"/>
          </a:xfrm>
          <a:prstGeom prst="rect">
            <a:avLst/>
          </a:prstGeom>
          <a:noFill/>
        </p:spPr>
        <p:txBody>
          <a:bodyPr wrap="square" lIns="0" rIns="0" tIns="0" bIns="0" anchor="ctr">
            <a:spAutoFit/>
          </a:bodyPr>
          <a:lstStyle/>
          <a:p>
            <a:r>
              <a:rPr sz="800" b="1" i="0">
                <a:solidFill>
                  <a:srgbClr val="FFFFFF"/>
                </a:solidFill>
                <a:latin typeface="Trenda IG Text"/>
              </a:rPr>
              <a:t>Journey starts itself</a:t>
            </a:r>
          </a:p>
        </p:txBody>
      </p:sp>
      <p:sp>
        <p:nvSpPr>
          <p:cNvPr id="123" name="Text 113"/>
          <p:cNvSpPr txBox="1"/>
          <p:nvPr/>
        </p:nvSpPr>
        <p:spPr>
          <a:xfrm>
            <a:off x="9829800" y="2551176"/>
            <a:ext cx="1764792" cy="384048"/>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Built by the Developer Agent (8); new records in the data extension enter it.</a:t>
            </a:r>
          </a:p>
        </p:txBody>
      </p:sp>
      <p:sp>
        <p:nvSpPr>
          <p:cNvPr id="124" name="Differentiator Border 115"/>
          <p:cNvSpPr/>
          <p:nvPr/>
        </p:nvSpPr>
        <p:spPr>
          <a:xfrm>
            <a:off x="9738360" y="3108960"/>
            <a:ext cx="1947672" cy="67665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Shape 116"/>
          <p:cNvSpPr/>
          <p:nvPr/>
        </p:nvSpPr>
        <p:spPr>
          <a:xfrm>
            <a:off x="9774936" y="3145536"/>
            <a:ext cx="1874519" cy="60350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17"/>
          <p:cNvSpPr txBox="1"/>
          <p:nvPr/>
        </p:nvSpPr>
        <p:spPr>
          <a:xfrm>
            <a:off x="9848088" y="3182112"/>
            <a:ext cx="1728216" cy="201168"/>
          </a:xfrm>
          <a:prstGeom prst="rect">
            <a:avLst/>
          </a:prstGeom>
          <a:noFill/>
        </p:spPr>
        <p:txBody>
          <a:bodyPr wrap="square" lIns="0" rIns="0" tIns="0" bIns="0" anchor="ctr">
            <a:spAutoFit/>
          </a:bodyPr>
          <a:lstStyle/>
          <a:p>
            <a:r>
              <a:rPr sz="760" b="1" i="0">
                <a:solidFill>
                  <a:srgbClr val="FFFFFF"/>
                </a:solidFill>
                <a:latin typeface="Trenda IG Text"/>
              </a:rPr>
              <a:t>Campaign data extension</a:t>
            </a:r>
          </a:p>
        </p:txBody>
      </p:sp>
      <p:sp>
        <p:nvSpPr>
          <p:cNvPr id="127" name="Text 118"/>
          <p:cNvSpPr txBox="1"/>
          <p:nvPr/>
        </p:nvSpPr>
        <p:spPr>
          <a:xfrm>
            <a:off x="9848088" y="3419856"/>
            <a:ext cx="1728216" cy="310896"/>
          </a:xfrm>
          <a:prstGeom prst="rect">
            <a:avLst/>
          </a:prstGeom>
          <a:noFill/>
        </p:spPr>
        <p:txBody>
          <a:bodyPr wrap="square" lIns="0" rIns="0" tIns="0" bIns="0" anchor="t">
            <a:spAutoFit/>
          </a:bodyPr>
          <a:lstStyle/>
          <a:p>
            <a:r>
              <a:rPr sz="600" b="0" i="0">
                <a:solidFill>
                  <a:srgbClr val="BFBFBF"/>
                </a:solidFill>
                <a:latin typeface="Trenda IG Text"/>
              </a:rPr>
              <a:t>Only the released minimum fields, for this run.</a:t>
            </a:r>
          </a:p>
        </p:txBody>
      </p:sp>
      <p:sp>
        <p:nvSpPr>
          <p:cNvPr id="128" name="Shape 119"/>
          <p:cNvSpPr/>
          <p:nvPr/>
        </p:nvSpPr>
        <p:spPr>
          <a:xfrm>
            <a:off x="9738360" y="3931920"/>
            <a:ext cx="1947672" cy="749808"/>
          </a:xfrm>
          <a:prstGeom prst="roundRect">
            <a:avLst>
              <a:gd name="adj" fmla="val 7000"/>
            </a:avLst>
          </a:prstGeom>
          <a:solidFill>
            <a:srgbClr val="06262B"/>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Shape 120"/>
          <p:cNvSpPr/>
          <p:nvPr/>
        </p:nvSpPr>
        <p:spPr>
          <a:xfrm>
            <a:off x="9811512" y="3995928"/>
            <a:ext cx="201168" cy="20116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1"/>
          <p:cNvSpPr txBox="1"/>
          <p:nvPr/>
        </p:nvSpPr>
        <p:spPr>
          <a:xfrm>
            <a:off x="9811512" y="3995928"/>
            <a:ext cx="201168" cy="201168"/>
          </a:xfrm>
          <a:prstGeom prst="rect">
            <a:avLst/>
          </a:prstGeom>
          <a:noFill/>
        </p:spPr>
        <p:txBody>
          <a:bodyPr wrap="square" lIns="0" rIns="0" tIns="0" bIns="0" anchor="ctr">
            <a:spAutoFit/>
          </a:bodyPr>
          <a:lstStyle/>
          <a:p>
            <a:pPr algn="ctr"/>
            <a:r>
              <a:rPr sz="660" b="1" i="0">
                <a:solidFill>
                  <a:srgbClr val="000000"/>
                </a:solidFill>
                <a:latin typeface="Trenda IG Text"/>
              </a:rPr>
              <a:t>10</a:t>
            </a:r>
          </a:p>
        </p:txBody>
      </p:sp>
      <p:pic>
        <p:nvPicPr>
          <p:cNvPr id="131" name="Picture 130" descr="salesforce.png"/>
          <p:cNvPicPr>
            <a:picLocks noChangeAspect="1"/>
          </p:cNvPicPr>
          <p:nvPr/>
        </p:nvPicPr>
        <p:blipFill>
          <a:blip r:embed="rId9"/>
          <a:stretch>
            <a:fillRect/>
          </a:stretch>
        </p:blipFill>
        <p:spPr>
          <a:xfrm>
            <a:off x="10067544" y="3995928"/>
            <a:ext cx="182880" cy="182880"/>
          </a:xfrm>
          <a:prstGeom prst="rect">
            <a:avLst/>
          </a:prstGeom>
        </p:spPr>
      </p:pic>
      <p:sp>
        <p:nvSpPr>
          <p:cNvPr id="132" name="Text 122"/>
          <p:cNvSpPr txBox="1"/>
          <p:nvPr/>
        </p:nvSpPr>
        <p:spPr>
          <a:xfrm>
            <a:off x="10305288" y="3986783"/>
            <a:ext cx="1307592" cy="201168"/>
          </a:xfrm>
          <a:prstGeom prst="rect">
            <a:avLst/>
          </a:prstGeom>
          <a:noFill/>
        </p:spPr>
        <p:txBody>
          <a:bodyPr wrap="square" lIns="0" rIns="0" tIns="0" bIns="0" anchor="ctr">
            <a:spAutoFit/>
          </a:bodyPr>
          <a:lstStyle/>
          <a:p>
            <a:r>
              <a:rPr sz="800" b="1" i="0">
                <a:solidFill>
                  <a:srgbClr val="FFFFFF"/>
                </a:solidFill>
                <a:latin typeface="Trenda IG Text"/>
              </a:rPr>
              <a:t>Pulls the released records</a:t>
            </a:r>
          </a:p>
        </p:txBody>
      </p:sp>
      <p:sp>
        <p:nvSpPr>
          <p:cNvPr id="133" name="Text 123"/>
          <p:cNvSpPr txBox="1"/>
          <p:nvPr/>
        </p:nvSpPr>
        <p:spPr>
          <a:xfrm>
            <a:off x="9829800" y="4215383"/>
            <a:ext cx="1764792" cy="438911"/>
          </a:xfrm>
          <a:prstGeom prst="rect">
            <a:avLst/>
          </a:prstGeom>
          <a:noFill/>
        </p:spPr>
        <p:txBody>
          <a:bodyPr wrap="square" lIns="0" rIns="0" tIns="0" bIns="0" anchor="t">
            <a:spAutoFit/>
          </a:bodyPr>
          <a:lstStyle/>
          <a:p>
            <a:pPr>
              <a:spcAft>
                <a:spcPts val="100"/>
              </a:spcAft>
            </a:pPr>
            <a:r>
              <a:rPr sz="600" b="0" i="0">
                <a:solidFill>
                  <a:srgbClr val="BFBFBF"/>
                </a:solidFill>
                <a:latin typeface="Trenda IG Text"/>
              </a:rPr>
              <a:t>Automation Studio calls the read-only API, scoped to the run ID.</a:t>
            </a:r>
          </a:p>
        </p:txBody>
      </p:sp>
      <p:cxnSp>
        <p:nvCxnSpPr>
          <p:cNvPr id="134" name="Arrow 124"/>
          <p:cNvCxnSpPr/>
          <p:nvPr/>
        </p:nvCxnSpPr>
        <p:spPr>
          <a:xfrm flipV="1">
            <a:off x="10712196" y="2121408"/>
            <a:ext cx="0" cy="146304"/>
          </a:xfrm>
          <a:prstGeom prst="line">
            <a:avLst/>
          </a:prstGeom>
          <a:ln w="15875">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5" name="Arrow 125"/>
          <p:cNvCxnSpPr/>
          <p:nvPr/>
        </p:nvCxnSpPr>
        <p:spPr>
          <a:xfrm flipV="1">
            <a:off x="10712196" y="2962656"/>
            <a:ext cx="0" cy="146304"/>
          </a:xfrm>
          <a:prstGeom prst="line">
            <a:avLst/>
          </a:prstGeom>
          <a:ln w="15875">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6" name="Arrow 126"/>
          <p:cNvCxnSpPr/>
          <p:nvPr/>
        </p:nvCxnSpPr>
        <p:spPr>
          <a:xfrm flipV="1">
            <a:off x="10712196" y="3785615"/>
            <a:ext cx="0" cy="146305"/>
          </a:xfrm>
          <a:prstGeom prst="line">
            <a:avLst/>
          </a:prstGeom>
          <a:ln w="15875">
            <a:solidFill>
              <a:srgbClr val="BFBF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7" name="Arrow 127"/>
          <p:cNvCxnSpPr/>
          <p:nvPr/>
        </p:nvCxnSpPr>
        <p:spPr>
          <a:xfrm>
            <a:off x="9390888" y="3950208"/>
            <a:ext cx="347472" cy="274320"/>
          </a:xfrm>
          <a:prstGeom prst="line">
            <a:avLst/>
          </a:prstGeom>
          <a:ln w="2540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 name="Arrow 128"/>
          <p:cNvCxnSpPr/>
          <p:nvPr/>
        </p:nvCxnSpPr>
        <p:spPr>
          <a:xfrm>
            <a:off x="10712196" y="4681728"/>
            <a:ext cx="0" cy="402336"/>
          </a:xfrm>
          <a:prstGeom prst="line">
            <a:avLst/>
          </a:prstGeom>
          <a:ln w="1587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39" name="Arrow 129"/>
          <p:cNvCxnSpPr/>
          <p:nvPr/>
        </p:nvCxnSpPr>
        <p:spPr>
          <a:xfrm flipH="1">
            <a:off x="6620256" y="5084064"/>
            <a:ext cx="4091940" cy="0"/>
          </a:xfrm>
          <a:prstGeom prst="line">
            <a:avLst/>
          </a:prstGeom>
          <a:ln w="15875">
            <a:solidFill>
              <a:srgbClr val="FF0069"/>
            </a:solidFill>
          </a:ln>
        </p:spPr>
        <p:style>
          <a:lnRef idx="2">
            <a:schemeClr val="accent1"/>
          </a:lnRef>
          <a:fillRef idx="0">
            <a:schemeClr val="accent1"/>
          </a:fillRef>
          <a:effectRef idx="1">
            <a:schemeClr val="accent1"/>
          </a:effectRef>
          <a:fontRef idx="minor">
            <a:schemeClr val="tx1"/>
          </a:fontRef>
        </p:style>
      </p:cxnSp>
      <p:cxnSp>
        <p:nvCxnSpPr>
          <p:cNvPr id="140" name="Arrow 130"/>
          <p:cNvCxnSpPr/>
          <p:nvPr/>
        </p:nvCxnSpPr>
        <p:spPr>
          <a:xfrm flipV="1">
            <a:off x="6620256" y="5029200"/>
            <a:ext cx="0" cy="54864"/>
          </a:xfrm>
          <a:prstGeom prst="line">
            <a:avLst/>
          </a:prstGeom>
          <a:ln w="15875">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1" name="Text 131"/>
          <p:cNvSpPr txBox="1"/>
          <p:nvPr/>
        </p:nvSpPr>
        <p:spPr>
          <a:xfrm>
            <a:off x="10767060" y="4709160"/>
            <a:ext cx="918971" cy="274320"/>
          </a:xfrm>
          <a:prstGeom prst="rect">
            <a:avLst/>
          </a:prstGeom>
          <a:noFill/>
        </p:spPr>
        <p:txBody>
          <a:bodyPr wrap="square" lIns="0" rIns="0" tIns="0" bIns="0" anchor="ctr">
            <a:spAutoFit/>
          </a:bodyPr>
          <a:lstStyle/>
          <a:p>
            <a:r>
              <a:rPr sz="540" b="0" i="0">
                <a:solidFill>
                  <a:srgbClr val="FF0069"/>
                </a:solidFill>
                <a:latin typeface="Trenda IG Text"/>
              </a:rPr>
              <a:t>engagement back to BigQuery</a:t>
            </a:r>
          </a:p>
        </p:txBody>
      </p:sp>
      <p:sp>
        <p:nvSpPr>
          <p:cNvPr id="142" name="Shape 132"/>
          <p:cNvSpPr/>
          <p:nvPr/>
        </p:nvSpPr>
        <p:spPr>
          <a:xfrm>
            <a:off x="411480" y="5303520"/>
            <a:ext cx="2738628"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Shape 133"/>
          <p:cNvSpPr/>
          <p:nvPr/>
        </p:nvSpPr>
        <p:spPr>
          <a:xfrm>
            <a:off x="411480" y="5303520"/>
            <a:ext cx="54864" cy="56692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 134"/>
          <p:cNvSpPr txBox="1"/>
          <p:nvPr/>
        </p:nvSpPr>
        <p:spPr>
          <a:xfrm>
            <a:off x="576072" y="5340096"/>
            <a:ext cx="2500884" cy="512064"/>
          </a:xfrm>
          <a:prstGeom prst="rect">
            <a:avLst/>
          </a:prstGeom>
          <a:noFill/>
        </p:spPr>
        <p:txBody>
          <a:bodyPr wrap="square" lIns="0" rIns="0" tIns="0" bIns="0" anchor="ctr">
            <a:spAutoFit/>
          </a:bodyPr>
          <a:lstStyle/>
          <a:p>
            <a:pPr>
              <a:spcAft>
                <a:spcPts val="100"/>
              </a:spcAft>
            </a:pPr>
            <a:r>
              <a:rPr sz="800" b="1" i="0">
                <a:solidFill>
                  <a:srgbClr val="FFFFFF"/>
                </a:solidFill>
                <a:latin typeface="Trenda IG Text"/>
              </a:rPr>
              <a:t>Masked for agents and reviewers</a:t>
            </a:r>
          </a:p>
          <a:p>
            <a:pPr>
              <a:spcAft>
                <a:spcPts val="100"/>
              </a:spcAft>
            </a:pPr>
            <a:r>
              <a:rPr sz="660" b="0" i="0">
                <a:solidFill>
                  <a:srgbClr val="BFBFBF"/>
                </a:solidFill>
                <a:latin typeface="Trenda IG Text"/>
              </a:rPr>
              <a:t>Collibra policy masks PHI; agents see counts and tokens.</a:t>
            </a:r>
          </a:p>
        </p:txBody>
      </p:sp>
      <p:sp>
        <p:nvSpPr>
          <p:cNvPr id="145" name="Shape 135"/>
          <p:cNvSpPr/>
          <p:nvPr/>
        </p:nvSpPr>
        <p:spPr>
          <a:xfrm>
            <a:off x="3287268" y="5303520"/>
            <a:ext cx="2738628"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Shape 136"/>
          <p:cNvSpPr/>
          <p:nvPr/>
        </p:nvSpPr>
        <p:spPr>
          <a:xfrm>
            <a:off x="3287268" y="5303520"/>
            <a:ext cx="54864" cy="566928"/>
          </a:xfrm>
          <a:prstGeom prst="rect">
            <a:avLst/>
          </a:prstGeom>
          <a:solidFill>
            <a:srgbClr val="8B7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37"/>
          <p:cNvSpPr txBox="1"/>
          <p:nvPr/>
        </p:nvSpPr>
        <p:spPr>
          <a:xfrm>
            <a:off x="3451860" y="5340096"/>
            <a:ext cx="2500884" cy="512064"/>
          </a:xfrm>
          <a:prstGeom prst="rect">
            <a:avLst/>
          </a:prstGeom>
          <a:noFill/>
        </p:spPr>
        <p:txBody>
          <a:bodyPr wrap="square" lIns="0" rIns="0" tIns="0" bIns="0" anchor="ctr">
            <a:spAutoFit/>
          </a:bodyPr>
          <a:lstStyle/>
          <a:p>
            <a:pPr>
              <a:spcAft>
                <a:spcPts val="100"/>
              </a:spcAft>
            </a:pPr>
            <a:r>
              <a:rPr sz="800" b="1" i="0">
                <a:solidFill>
                  <a:srgbClr val="FFFFFF"/>
                </a:solidFill>
                <a:latin typeface="Trenda IG Text"/>
              </a:rPr>
              <a:t>Consent decides, people confirm</a:t>
            </a:r>
          </a:p>
          <a:p>
            <a:pPr>
              <a:spcAft>
                <a:spcPts val="100"/>
              </a:spcAft>
            </a:pPr>
            <a:r>
              <a:rPr sz="660" b="0" i="0">
                <a:solidFill>
                  <a:srgbClr val="BFBFBF"/>
                </a:solidFill>
                <a:latin typeface="Trenda IG Text"/>
              </a:rPr>
              <a:t>No consent for the channel, no message.</a:t>
            </a:r>
          </a:p>
        </p:txBody>
      </p:sp>
      <p:sp>
        <p:nvSpPr>
          <p:cNvPr id="148" name="Shape 138"/>
          <p:cNvSpPr/>
          <p:nvPr/>
        </p:nvSpPr>
        <p:spPr>
          <a:xfrm>
            <a:off x="6163056" y="5303520"/>
            <a:ext cx="2738628"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hape 139"/>
          <p:cNvSpPr/>
          <p:nvPr/>
        </p:nvSpPr>
        <p:spPr>
          <a:xfrm>
            <a:off x="6163056" y="5303520"/>
            <a:ext cx="54864" cy="5669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40"/>
          <p:cNvSpPr txBox="1"/>
          <p:nvPr/>
        </p:nvSpPr>
        <p:spPr>
          <a:xfrm>
            <a:off x="6327648" y="5340096"/>
            <a:ext cx="2500884" cy="512064"/>
          </a:xfrm>
          <a:prstGeom prst="rect">
            <a:avLst/>
          </a:prstGeom>
          <a:noFill/>
        </p:spPr>
        <p:txBody>
          <a:bodyPr wrap="square" lIns="0" rIns="0" tIns="0" bIns="0" anchor="ctr">
            <a:spAutoFit/>
          </a:bodyPr>
          <a:lstStyle/>
          <a:p>
            <a:pPr>
              <a:spcAft>
                <a:spcPts val="100"/>
              </a:spcAft>
            </a:pPr>
            <a:r>
              <a:rPr sz="800" b="1" i="0">
                <a:solidFill>
                  <a:srgbClr val="FFFFFF"/>
                </a:solidFill>
                <a:latin typeface="Trenda IG Text"/>
              </a:rPr>
              <a:t>Minimum necessary leaves</a:t>
            </a:r>
          </a:p>
          <a:p>
            <a:pPr>
              <a:spcAft>
                <a:spcPts val="100"/>
              </a:spcAft>
            </a:pPr>
            <a:r>
              <a:rPr sz="660" b="0" i="0">
                <a:solidFill>
                  <a:srgbClr val="BFBFBF"/>
                </a:solidFill>
                <a:latin typeface="Trenda IG Text"/>
              </a:rPr>
              <a:t>Only the fields a campaign needs, one run, time-limited.</a:t>
            </a:r>
          </a:p>
        </p:txBody>
      </p:sp>
      <p:sp>
        <p:nvSpPr>
          <p:cNvPr id="151" name="Shape 141"/>
          <p:cNvSpPr/>
          <p:nvPr/>
        </p:nvSpPr>
        <p:spPr>
          <a:xfrm>
            <a:off x="9038844" y="5303520"/>
            <a:ext cx="2738628" cy="56692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Shape 142"/>
          <p:cNvSpPr/>
          <p:nvPr/>
        </p:nvSpPr>
        <p:spPr>
          <a:xfrm>
            <a:off x="9038844" y="5303520"/>
            <a:ext cx="54864" cy="566928"/>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3"/>
          <p:cNvSpPr txBox="1"/>
          <p:nvPr/>
        </p:nvSpPr>
        <p:spPr>
          <a:xfrm>
            <a:off x="9203436" y="5340096"/>
            <a:ext cx="2500884" cy="512064"/>
          </a:xfrm>
          <a:prstGeom prst="rect">
            <a:avLst/>
          </a:prstGeom>
          <a:noFill/>
        </p:spPr>
        <p:txBody>
          <a:bodyPr wrap="square" lIns="0" rIns="0" tIns="0" bIns="0" anchor="ctr">
            <a:spAutoFit/>
          </a:bodyPr>
          <a:lstStyle/>
          <a:p>
            <a:pPr>
              <a:spcAft>
                <a:spcPts val="100"/>
              </a:spcAft>
            </a:pPr>
            <a:r>
              <a:rPr sz="800" b="1" i="0">
                <a:solidFill>
                  <a:srgbClr val="FFFFFF"/>
                </a:solidFill>
                <a:latin typeface="Trenda IG Text"/>
              </a:rPr>
              <a:t>Review before release</a:t>
            </a:r>
          </a:p>
          <a:p>
            <a:pPr>
              <a:spcAft>
                <a:spcPts val="100"/>
              </a:spcAft>
            </a:pPr>
            <a:r>
              <a:rPr sz="660" b="0" i="0">
                <a:solidFill>
                  <a:srgbClr val="BFBFBF"/>
                </a:solidFill>
                <a:latin typeface="Trenda IG Text"/>
              </a:rPr>
              <a:t>The data extension starts the journey, so review comes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AGENTIC HARNESS · DATA GOVERNANCE (ADDG)</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How PHI is masked in Google Cloud: classify, approve, protect, prove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BFBFBF"/>
                </a:solidFill>
                <a:latin typeface="Trenda IG Text"/>
              </a:rPr>
              <a:t>Sensitive BigQuery columns are found by scanning, approved by a Collibra data steward, then masked inside BigQuery. Agents, dashboards and reviewers only ever see masked values.</a:t>
            </a:r>
          </a:p>
        </p:txBody>
      </p:sp>
      <p:sp>
        <p:nvSpPr>
          <p:cNvPr id="5" name="Shape 4"/>
          <p:cNvSpPr/>
          <p:nvPr/>
        </p:nvSpPr>
        <p:spPr>
          <a:xfrm>
            <a:off x="411480" y="1188720"/>
            <a:ext cx="8229600"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88720"/>
            <a:ext cx="1005840" cy="84124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people.png"/>
          <p:cNvPicPr>
            <a:picLocks noChangeAspect="1"/>
          </p:cNvPicPr>
          <p:nvPr/>
        </p:nvPicPr>
        <p:blipFill>
          <a:blip r:embed="rId2"/>
          <a:stretch>
            <a:fillRect/>
          </a:stretch>
        </p:blipFill>
        <p:spPr>
          <a:xfrm>
            <a:off x="502920" y="1280160"/>
            <a:ext cx="182880" cy="182880"/>
          </a:xfrm>
          <a:prstGeom prst="rect">
            <a:avLst/>
          </a:prstGeom>
        </p:spPr>
      </p:pic>
      <p:sp>
        <p:nvSpPr>
          <p:cNvPr id="8" name="Text 6"/>
          <p:cNvSpPr txBox="1"/>
          <p:nvPr/>
        </p:nvSpPr>
        <p:spPr>
          <a:xfrm>
            <a:off x="502920" y="1536192"/>
            <a:ext cx="914400" cy="365760"/>
          </a:xfrm>
          <a:prstGeom prst="rect">
            <a:avLst/>
          </a:prstGeom>
          <a:noFill/>
        </p:spPr>
        <p:txBody>
          <a:bodyPr wrap="square" lIns="0" rIns="0" tIns="0" bIns="0" anchor="ctr">
            <a:spAutoFit/>
          </a:bodyPr>
          <a:lstStyle/>
          <a:p>
            <a:pPr>
              <a:spcAft>
                <a:spcPts val="100"/>
              </a:spcAft>
            </a:pPr>
            <a:r>
              <a:rPr sz="640" b="1" i="0" spc="120">
                <a:solidFill>
                  <a:srgbClr val="FFFFFF"/>
                </a:solidFill>
                <a:latin typeface="Trenda IG Text"/>
              </a:rPr>
              <a:t>REVIEW</a:t>
            </a:r>
          </a:p>
          <a:p>
            <a:pPr>
              <a:spcAft>
                <a:spcPts val="100"/>
              </a:spcAft>
            </a:pPr>
            <a:r>
              <a:rPr sz="520" b="0" i="0">
                <a:solidFill>
                  <a:srgbClr val="8C8C8C"/>
                </a:solidFill>
                <a:latin typeface="Courier New"/>
              </a:rPr>
              <a:t>Collibra</a:t>
            </a:r>
          </a:p>
        </p:txBody>
      </p:sp>
      <p:sp>
        <p:nvSpPr>
          <p:cNvPr id="9" name="Shape 7"/>
          <p:cNvSpPr/>
          <p:nvPr/>
        </p:nvSpPr>
        <p:spPr>
          <a:xfrm>
            <a:off x="411480" y="2103120"/>
            <a:ext cx="8229600"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411480" y="2103120"/>
            <a:ext cx="1005840" cy="84124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ooglecloud.png"/>
          <p:cNvPicPr>
            <a:picLocks noChangeAspect="1"/>
          </p:cNvPicPr>
          <p:nvPr/>
        </p:nvPicPr>
        <p:blipFill>
          <a:blip r:embed="rId3"/>
          <a:stretch>
            <a:fillRect/>
          </a:stretch>
        </p:blipFill>
        <p:spPr>
          <a:xfrm>
            <a:off x="502920" y="2194560"/>
            <a:ext cx="182880" cy="182880"/>
          </a:xfrm>
          <a:prstGeom prst="rect">
            <a:avLst/>
          </a:prstGeom>
        </p:spPr>
      </p:pic>
      <p:sp>
        <p:nvSpPr>
          <p:cNvPr id="12" name="Text 9"/>
          <p:cNvSpPr txBox="1"/>
          <p:nvPr/>
        </p:nvSpPr>
        <p:spPr>
          <a:xfrm>
            <a:off x="502920" y="2450591"/>
            <a:ext cx="914400" cy="365760"/>
          </a:xfrm>
          <a:prstGeom prst="rect">
            <a:avLst/>
          </a:prstGeom>
          <a:noFill/>
        </p:spPr>
        <p:txBody>
          <a:bodyPr wrap="square" lIns="0" rIns="0" tIns="0" bIns="0" anchor="ctr">
            <a:spAutoFit/>
          </a:bodyPr>
          <a:lstStyle/>
          <a:p>
            <a:pPr>
              <a:spcAft>
                <a:spcPts val="100"/>
              </a:spcAft>
            </a:pPr>
            <a:r>
              <a:rPr sz="640" b="1" i="0" spc="120">
                <a:solidFill>
                  <a:srgbClr val="FFFFFF"/>
                </a:solidFill>
                <a:latin typeface="Trenda IG Text"/>
              </a:rPr>
              <a:t>GOVERNANCE</a:t>
            </a:r>
          </a:p>
          <a:p>
            <a:pPr>
              <a:spcAft>
                <a:spcPts val="100"/>
              </a:spcAft>
            </a:pPr>
            <a:r>
              <a:rPr sz="520" b="0" i="0">
                <a:solidFill>
                  <a:srgbClr val="8C8C8C"/>
                </a:solidFill>
                <a:latin typeface="Courier New"/>
              </a:rPr>
              <a:t>asc-ahnat-datarepository</a:t>
            </a:r>
          </a:p>
        </p:txBody>
      </p:sp>
      <p:sp>
        <p:nvSpPr>
          <p:cNvPr id="13" name="Shape 10"/>
          <p:cNvSpPr/>
          <p:nvPr/>
        </p:nvSpPr>
        <p:spPr>
          <a:xfrm>
            <a:off x="411480" y="3017520"/>
            <a:ext cx="8229600"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hape 11"/>
          <p:cNvSpPr/>
          <p:nvPr/>
        </p:nvSpPr>
        <p:spPr>
          <a:xfrm>
            <a:off x="411480" y="3017520"/>
            <a:ext cx="1005840" cy="84124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ooglecloud.png"/>
          <p:cNvPicPr>
            <a:picLocks noChangeAspect="1"/>
          </p:cNvPicPr>
          <p:nvPr/>
        </p:nvPicPr>
        <p:blipFill>
          <a:blip r:embed="rId3"/>
          <a:stretch>
            <a:fillRect/>
          </a:stretch>
        </p:blipFill>
        <p:spPr>
          <a:xfrm>
            <a:off x="502920" y="3108960"/>
            <a:ext cx="182880" cy="182880"/>
          </a:xfrm>
          <a:prstGeom prst="rect">
            <a:avLst/>
          </a:prstGeom>
        </p:spPr>
      </p:pic>
      <p:sp>
        <p:nvSpPr>
          <p:cNvPr id="16" name="Text 12"/>
          <p:cNvSpPr txBox="1"/>
          <p:nvPr/>
        </p:nvSpPr>
        <p:spPr>
          <a:xfrm>
            <a:off x="502920" y="3364991"/>
            <a:ext cx="914400" cy="365760"/>
          </a:xfrm>
          <a:prstGeom prst="rect">
            <a:avLst/>
          </a:prstGeom>
          <a:noFill/>
        </p:spPr>
        <p:txBody>
          <a:bodyPr wrap="square" lIns="0" rIns="0" tIns="0" bIns="0" anchor="ctr">
            <a:spAutoFit/>
          </a:bodyPr>
          <a:lstStyle/>
          <a:p>
            <a:pPr>
              <a:spcAft>
                <a:spcPts val="100"/>
              </a:spcAft>
            </a:pPr>
            <a:r>
              <a:rPr sz="640" b="1" i="0" spc="120">
                <a:solidFill>
                  <a:srgbClr val="FFFFFF"/>
                </a:solidFill>
                <a:latin typeface="Trenda IG Text"/>
              </a:rPr>
              <a:t>COMPUTE</a:t>
            </a:r>
          </a:p>
          <a:p>
            <a:pPr>
              <a:spcAft>
                <a:spcPts val="100"/>
              </a:spcAft>
            </a:pPr>
            <a:r>
              <a:rPr sz="520" b="0" i="0">
                <a:solidFill>
                  <a:srgbClr val="8C8C8C"/>
                </a:solidFill>
                <a:latin typeface="Courier New"/>
              </a:rPr>
              <a:t>asc-datalake</a:t>
            </a:r>
          </a:p>
        </p:txBody>
      </p:sp>
      <p:sp>
        <p:nvSpPr>
          <p:cNvPr id="17" name="Shape 13"/>
          <p:cNvSpPr/>
          <p:nvPr/>
        </p:nvSpPr>
        <p:spPr>
          <a:xfrm>
            <a:off x="411480" y="3931920"/>
            <a:ext cx="8229600"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hape 14"/>
          <p:cNvSpPr/>
          <p:nvPr/>
        </p:nvSpPr>
        <p:spPr>
          <a:xfrm>
            <a:off x="411480" y="3931920"/>
            <a:ext cx="1005840" cy="841248"/>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googlecloud.png"/>
          <p:cNvPicPr>
            <a:picLocks noChangeAspect="1"/>
          </p:cNvPicPr>
          <p:nvPr/>
        </p:nvPicPr>
        <p:blipFill>
          <a:blip r:embed="rId3"/>
          <a:stretch>
            <a:fillRect/>
          </a:stretch>
        </p:blipFill>
        <p:spPr>
          <a:xfrm>
            <a:off x="502920" y="4023359"/>
            <a:ext cx="182880" cy="182880"/>
          </a:xfrm>
          <a:prstGeom prst="rect">
            <a:avLst/>
          </a:prstGeom>
        </p:spPr>
      </p:pic>
      <p:sp>
        <p:nvSpPr>
          <p:cNvPr id="20" name="Text 15"/>
          <p:cNvSpPr txBox="1"/>
          <p:nvPr/>
        </p:nvSpPr>
        <p:spPr>
          <a:xfrm>
            <a:off x="502920" y="4279392"/>
            <a:ext cx="914400" cy="365760"/>
          </a:xfrm>
          <a:prstGeom prst="rect">
            <a:avLst/>
          </a:prstGeom>
          <a:noFill/>
        </p:spPr>
        <p:txBody>
          <a:bodyPr wrap="square" lIns="0" rIns="0" tIns="0" bIns="0" anchor="ctr">
            <a:spAutoFit/>
          </a:bodyPr>
          <a:lstStyle/>
          <a:p>
            <a:pPr>
              <a:spcAft>
                <a:spcPts val="100"/>
              </a:spcAft>
            </a:pPr>
            <a:r>
              <a:rPr sz="640" b="1" i="0" spc="120">
                <a:solidFill>
                  <a:srgbClr val="FFFFFF"/>
                </a:solidFill>
                <a:latin typeface="Trenda IG Text"/>
              </a:rPr>
              <a:t>TARGET</a:t>
            </a:r>
          </a:p>
          <a:p>
            <a:pPr>
              <a:spcAft>
                <a:spcPts val="100"/>
              </a:spcAft>
            </a:pPr>
            <a:r>
              <a:rPr sz="520" b="0" i="0">
                <a:solidFill>
                  <a:srgbClr val="8C8C8C"/>
                </a:solidFill>
                <a:latin typeface="Courier New"/>
              </a:rPr>
              <a:t>asc-ahnat-dataplace</a:t>
            </a:r>
          </a:p>
        </p:txBody>
      </p:sp>
      <p:cxnSp>
        <p:nvCxnSpPr>
          <p:cNvPr id="21" name="Arrow 16"/>
          <p:cNvCxnSpPr/>
          <p:nvPr/>
        </p:nvCxnSpPr>
        <p:spPr>
          <a:xfrm>
            <a:off x="2542032" y="2523744"/>
            <a:ext cx="86868"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2" name="Arrow 17"/>
          <p:cNvCxnSpPr/>
          <p:nvPr/>
        </p:nvCxnSpPr>
        <p:spPr>
          <a:xfrm flipV="1">
            <a:off x="2628900" y="1609344"/>
            <a:ext cx="0" cy="91440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3" name="Arrow 18"/>
          <p:cNvCxnSpPr/>
          <p:nvPr/>
        </p:nvCxnSpPr>
        <p:spPr>
          <a:xfrm>
            <a:off x="2628900" y="16093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rrow 19"/>
          <p:cNvCxnSpPr/>
          <p:nvPr/>
        </p:nvCxnSpPr>
        <p:spPr>
          <a:xfrm>
            <a:off x="3721608" y="1609344"/>
            <a:ext cx="86868"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5" name="Arrow 20"/>
          <p:cNvCxnSpPr/>
          <p:nvPr/>
        </p:nvCxnSpPr>
        <p:spPr>
          <a:xfrm>
            <a:off x="3808476" y="1609344"/>
            <a:ext cx="0" cy="91440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6" name="Arrow 21"/>
          <p:cNvCxnSpPr/>
          <p:nvPr/>
        </p:nvCxnSpPr>
        <p:spPr>
          <a:xfrm>
            <a:off x="3808476" y="25237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rrow 22"/>
          <p:cNvCxnSpPr/>
          <p:nvPr/>
        </p:nvCxnSpPr>
        <p:spPr>
          <a:xfrm>
            <a:off x="4901183" y="2523744"/>
            <a:ext cx="86869"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8" name="Arrow 23"/>
          <p:cNvCxnSpPr/>
          <p:nvPr/>
        </p:nvCxnSpPr>
        <p:spPr>
          <a:xfrm>
            <a:off x="4988052" y="2523744"/>
            <a:ext cx="0" cy="91440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29" name="Arrow 24"/>
          <p:cNvCxnSpPr/>
          <p:nvPr/>
        </p:nvCxnSpPr>
        <p:spPr>
          <a:xfrm>
            <a:off x="4988052" y="34381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rrow 25"/>
          <p:cNvCxnSpPr/>
          <p:nvPr/>
        </p:nvCxnSpPr>
        <p:spPr>
          <a:xfrm>
            <a:off x="4901183" y="3438144"/>
            <a:ext cx="86869"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1" name="Arrow 26"/>
          <p:cNvCxnSpPr/>
          <p:nvPr/>
        </p:nvCxnSpPr>
        <p:spPr>
          <a:xfrm>
            <a:off x="4988052" y="3438144"/>
            <a:ext cx="0"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2" name="Arrow 27"/>
          <p:cNvCxnSpPr/>
          <p:nvPr/>
        </p:nvCxnSpPr>
        <p:spPr>
          <a:xfrm>
            <a:off x="4988052" y="34381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Arrow 28"/>
          <p:cNvCxnSpPr/>
          <p:nvPr/>
        </p:nvCxnSpPr>
        <p:spPr>
          <a:xfrm>
            <a:off x="6080760" y="3438144"/>
            <a:ext cx="86868"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4" name="Arrow 29"/>
          <p:cNvCxnSpPr/>
          <p:nvPr/>
        </p:nvCxnSpPr>
        <p:spPr>
          <a:xfrm>
            <a:off x="6167628" y="3438144"/>
            <a:ext cx="0" cy="91440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5" name="Arrow 30"/>
          <p:cNvCxnSpPr/>
          <p:nvPr/>
        </p:nvCxnSpPr>
        <p:spPr>
          <a:xfrm>
            <a:off x="6167628" y="43525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Arrow 31"/>
          <p:cNvCxnSpPr/>
          <p:nvPr/>
        </p:nvCxnSpPr>
        <p:spPr>
          <a:xfrm>
            <a:off x="7260336" y="4352544"/>
            <a:ext cx="86868" cy="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7" name="Arrow 32"/>
          <p:cNvCxnSpPr/>
          <p:nvPr/>
        </p:nvCxnSpPr>
        <p:spPr>
          <a:xfrm flipV="1">
            <a:off x="7347204" y="2523744"/>
            <a:ext cx="0" cy="1828800"/>
          </a:xfrm>
          <a:prstGeom prst="line">
            <a:avLst/>
          </a:prstGeom>
          <a:ln w="19050">
            <a:solidFill>
              <a:srgbClr val="00D6F2"/>
            </a:solidFill>
          </a:ln>
        </p:spPr>
        <p:style>
          <a:lnRef idx="2">
            <a:schemeClr val="accent1"/>
          </a:lnRef>
          <a:fillRef idx="0">
            <a:schemeClr val="accent1"/>
          </a:fillRef>
          <a:effectRef idx="1">
            <a:schemeClr val="accent1"/>
          </a:effectRef>
          <a:fontRef idx="minor">
            <a:schemeClr val="tx1"/>
          </a:fontRef>
        </p:style>
      </p:cxnSp>
      <p:cxnSp>
        <p:nvCxnSpPr>
          <p:cNvPr id="38" name="Arrow 33"/>
          <p:cNvCxnSpPr/>
          <p:nvPr/>
        </p:nvCxnSpPr>
        <p:spPr>
          <a:xfrm>
            <a:off x="7347204" y="2523744"/>
            <a:ext cx="86868"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Arrow 34"/>
          <p:cNvCxnSpPr/>
          <p:nvPr/>
        </p:nvCxnSpPr>
        <p:spPr>
          <a:xfrm>
            <a:off x="4901183" y="2670048"/>
            <a:ext cx="1856233" cy="0"/>
          </a:xfrm>
          <a:prstGeom prst="line">
            <a:avLst/>
          </a:prstGeom>
          <a:ln w="19050">
            <a:solidFill>
              <a:srgbClr val="FF0069"/>
            </a:solidFill>
            <a:prstDash val="dash"/>
          </a:ln>
        </p:spPr>
        <p:style>
          <a:lnRef idx="2">
            <a:schemeClr val="accent1"/>
          </a:lnRef>
          <a:fillRef idx="0">
            <a:schemeClr val="accent1"/>
          </a:fillRef>
          <a:effectRef idx="1">
            <a:schemeClr val="accent1"/>
          </a:effectRef>
          <a:fontRef idx="minor">
            <a:schemeClr val="tx1"/>
          </a:fontRef>
        </p:style>
      </p:cxnSp>
      <p:cxnSp>
        <p:nvCxnSpPr>
          <p:cNvPr id="40" name="Arrow 35"/>
          <p:cNvCxnSpPr/>
          <p:nvPr/>
        </p:nvCxnSpPr>
        <p:spPr>
          <a:xfrm>
            <a:off x="6757416" y="2670048"/>
            <a:ext cx="0" cy="466343"/>
          </a:xfrm>
          <a:prstGeom prst="line">
            <a:avLst/>
          </a:prstGeom>
          <a:ln w="19050">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Arrow 36"/>
          <p:cNvCxnSpPr/>
          <p:nvPr/>
        </p:nvCxnSpPr>
        <p:spPr>
          <a:xfrm>
            <a:off x="6757416" y="3739896"/>
            <a:ext cx="0" cy="310895"/>
          </a:xfrm>
          <a:prstGeom prst="line">
            <a:avLst/>
          </a:prstGeom>
          <a:ln w="19050">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Shape 37"/>
          <p:cNvSpPr/>
          <p:nvPr/>
        </p:nvSpPr>
        <p:spPr>
          <a:xfrm>
            <a:off x="1536192" y="2221991"/>
            <a:ext cx="1005840" cy="603504"/>
          </a:xfrm>
          <a:prstGeom prst="roundRect">
            <a:avLst>
              <a:gd name="adj" fmla="val 10000"/>
            </a:avLst>
          </a:prstGeom>
          <a:solidFill>
            <a:srgbClr val="000000"/>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38"/>
          <p:cNvSpPr txBox="1"/>
          <p:nvPr/>
        </p:nvSpPr>
        <p:spPr>
          <a:xfrm>
            <a:off x="1609344" y="22585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DLP</a:t>
            </a:r>
          </a:p>
          <a:p>
            <a:pPr>
              <a:lnSpc>
                <a:spcPct val="90000"/>
              </a:lnSpc>
            </a:pPr>
            <a:r>
              <a:rPr sz="720" b="1" i="0">
                <a:solidFill>
                  <a:srgbClr val="FFFFFF"/>
                </a:solidFill>
                <a:latin typeface="Trenda IG Text"/>
              </a:rPr>
              <a:t>classification</a:t>
            </a:r>
          </a:p>
        </p:txBody>
      </p:sp>
      <p:sp>
        <p:nvSpPr>
          <p:cNvPr id="44" name="Shape 39"/>
          <p:cNvSpPr/>
          <p:nvPr/>
        </p:nvSpPr>
        <p:spPr>
          <a:xfrm>
            <a:off x="1609344" y="2532887"/>
            <a:ext cx="493776" cy="128016"/>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0"/>
          <p:cNvSpPr txBox="1"/>
          <p:nvPr/>
        </p:nvSpPr>
        <p:spPr>
          <a:xfrm>
            <a:off x="1609344" y="2532887"/>
            <a:ext cx="493776" cy="128016"/>
          </a:xfrm>
          <a:prstGeom prst="rect">
            <a:avLst/>
          </a:prstGeom>
          <a:noFill/>
        </p:spPr>
        <p:txBody>
          <a:bodyPr wrap="square" lIns="0" rIns="0" tIns="0" bIns="0" anchor="ctr">
            <a:spAutoFit/>
          </a:bodyPr>
          <a:lstStyle/>
          <a:p>
            <a:pPr algn="ctr"/>
            <a:r>
              <a:rPr sz="459" b="1" i="0" spc="80">
                <a:solidFill>
                  <a:srgbClr val="BFBFBF"/>
                </a:solidFill>
                <a:latin typeface="Trenda IG Text"/>
              </a:rPr>
              <a:t>UPSTREAM</a:t>
            </a:r>
          </a:p>
        </p:txBody>
      </p:sp>
      <p:sp>
        <p:nvSpPr>
          <p:cNvPr id="46" name="Text 41"/>
          <p:cNvSpPr txBox="1"/>
          <p:nvPr/>
        </p:nvSpPr>
        <p:spPr>
          <a:xfrm>
            <a:off x="1609344" y="2660903"/>
            <a:ext cx="896112" cy="146304"/>
          </a:xfrm>
          <a:prstGeom prst="rect">
            <a:avLst/>
          </a:prstGeom>
          <a:noFill/>
        </p:spPr>
        <p:txBody>
          <a:bodyPr wrap="square" lIns="0" rIns="0" tIns="0" bIns="0" anchor="ctr">
            <a:spAutoFit/>
          </a:bodyPr>
          <a:lstStyle/>
          <a:p>
            <a:r>
              <a:rPr sz="560" b="0" i="0">
                <a:solidFill>
                  <a:srgbClr val="8C8C8C"/>
                </a:solidFill>
                <a:latin typeface="Courier New"/>
              </a:rPr>
              <a:t>Cloud DLP</a:t>
            </a:r>
          </a:p>
        </p:txBody>
      </p:sp>
      <p:sp>
        <p:nvSpPr>
          <p:cNvPr id="47" name="Shape 42"/>
          <p:cNvSpPr/>
          <p:nvPr/>
        </p:nvSpPr>
        <p:spPr>
          <a:xfrm>
            <a:off x="2715768" y="1307592"/>
            <a:ext cx="1005840" cy="603504"/>
          </a:xfrm>
          <a:prstGeom prst="roundRect">
            <a:avLst>
              <a:gd name="adj" fmla="val 10000"/>
            </a:avLst>
          </a:prstGeom>
          <a:solidFill>
            <a:srgbClr val="2B2508"/>
          </a:solidFill>
          <a:ln w="1587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3"/>
          <p:cNvSpPr txBox="1"/>
          <p:nvPr/>
        </p:nvSpPr>
        <p:spPr>
          <a:xfrm>
            <a:off x="2788920" y="13441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Steward</a:t>
            </a:r>
          </a:p>
          <a:p>
            <a:pPr>
              <a:lnSpc>
                <a:spcPct val="90000"/>
              </a:lnSpc>
            </a:pPr>
            <a:r>
              <a:rPr sz="720" b="1" i="0">
                <a:solidFill>
                  <a:srgbClr val="FFFFFF"/>
                </a:solidFill>
                <a:latin typeface="Trenda IG Text"/>
              </a:rPr>
              <a:t>review</a:t>
            </a:r>
          </a:p>
        </p:txBody>
      </p:sp>
      <p:sp>
        <p:nvSpPr>
          <p:cNvPr id="49" name="Shape 44"/>
          <p:cNvSpPr/>
          <p:nvPr/>
        </p:nvSpPr>
        <p:spPr>
          <a:xfrm>
            <a:off x="2788920" y="1618488"/>
            <a:ext cx="493776" cy="128016"/>
          </a:xfrm>
          <a:prstGeom prst="roundRect">
            <a:avLst>
              <a:gd name="adj" fmla="val 50000"/>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5"/>
          <p:cNvSpPr txBox="1"/>
          <p:nvPr/>
        </p:nvSpPr>
        <p:spPr>
          <a:xfrm>
            <a:off x="2788920" y="1618488"/>
            <a:ext cx="493776" cy="128016"/>
          </a:xfrm>
          <a:prstGeom prst="rect">
            <a:avLst/>
          </a:prstGeom>
          <a:noFill/>
        </p:spPr>
        <p:txBody>
          <a:bodyPr wrap="square" lIns="0" rIns="0" tIns="0" bIns="0" anchor="ctr">
            <a:spAutoFit/>
          </a:bodyPr>
          <a:lstStyle/>
          <a:p>
            <a:pPr algn="ctr"/>
            <a:r>
              <a:rPr sz="459" b="1" i="0" spc="80">
                <a:solidFill>
                  <a:srgbClr val="BFBFBF"/>
                </a:solidFill>
                <a:latin typeface="Trenda IG Text"/>
              </a:rPr>
              <a:t>UPSTREAM</a:t>
            </a:r>
          </a:p>
        </p:txBody>
      </p:sp>
      <p:sp>
        <p:nvSpPr>
          <p:cNvPr id="51" name="Text 46"/>
          <p:cNvSpPr txBox="1"/>
          <p:nvPr/>
        </p:nvSpPr>
        <p:spPr>
          <a:xfrm>
            <a:off x="2788920" y="1746504"/>
            <a:ext cx="896112" cy="146304"/>
          </a:xfrm>
          <a:prstGeom prst="rect">
            <a:avLst/>
          </a:prstGeom>
          <a:noFill/>
        </p:spPr>
        <p:txBody>
          <a:bodyPr wrap="square" lIns="0" rIns="0" tIns="0" bIns="0" anchor="ctr">
            <a:spAutoFit/>
          </a:bodyPr>
          <a:lstStyle/>
          <a:p>
            <a:r>
              <a:rPr sz="560" b="0" i="0">
                <a:solidFill>
                  <a:srgbClr val="8C8C8C"/>
                </a:solidFill>
                <a:latin typeface="Courier New"/>
              </a:rPr>
              <a:t>Collibra</a:t>
            </a:r>
          </a:p>
        </p:txBody>
      </p:sp>
      <p:sp>
        <p:nvSpPr>
          <p:cNvPr id="52" name="Shape 47"/>
          <p:cNvSpPr/>
          <p:nvPr/>
        </p:nvSpPr>
        <p:spPr>
          <a:xfrm>
            <a:off x="3895344" y="2221991"/>
            <a:ext cx="1005840" cy="603504"/>
          </a:xfrm>
          <a:prstGeom prst="roundRect">
            <a:avLst>
              <a:gd name="adj" fmla="val 10000"/>
            </a:avLst>
          </a:prstGeom>
          <a:solidFill>
            <a:srgbClr val="000000"/>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48"/>
          <p:cNvSpPr txBox="1"/>
          <p:nvPr/>
        </p:nvSpPr>
        <p:spPr>
          <a:xfrm>
            <a:off x="3968496" y="22585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Reviewed</a:t>
            </a:r>
          </a:p>
          <a:p>
            <a:pPr>
              <a:lnSpc>
                <a:spcPct val="90000"/>
              </a:lnSpc>
            </a:pPr>
            <a:r>
              <a:rPr sz="720" b="1" i="0">
                <a:solidFill>
                  <a:srgbClr val="FFFFFF"/>
                </a:solidFill>
                <a:latin typeface="Trenda IG Text"/>
              </a:rPr>
              <a:t>classifications</a:t>
            </a:r>
          </a:p>
        </p:txBody>
      </p:sp>
      <p:sp>
        <p:nvSpPr>
          <p:cNvPr id="54" name="Shape 49"/>
          <p:cNvSpPr/>
          <p:nvPr/>
        </p:nvSpPr>
        <p:spPr>
          <a:xfrm>
            <a:off x="3968496" y="2532887"/>
            <a:ext cx="356616" cy="128016"/>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0"/>
          <p:cNvSpPr txBox="1"/>
          <p:nvPr/>
        </p:nvSpPr>
        <p:spPr>
          <a:xfrm>
            <a:off x="3968496" y="2532887"/>
            <a:ext cx="356616" cy="128016"/>
          </a:xfrm>
          <a:prstGeom prst="rect">
            <a:avLst/>
          </a:prstGeom>
          <a:noFill/>
        </p:spPr>
        <p:txBody>
          <a:bodyPr wrap="square" lIns="0" rIns="0" tIns="0" bIns="0" anchor="ctr">
            <a:spAutoFit/>
          </a:bodyPr>
          <a:lstStyle/>
          <a:p>
            <a:pPr algn="ctr"/>
            <a:r>
              <a:rPr sz="459" b="1" i="0" spc="80">
                <a:solidFill>
                  <a:srgbClr val="56E13B"/>
                </a:solidFill>
                <a:latin typeface="Trenda IG Text"/>
              </a:rPr>
              <a:t>BUILT</a:t>
            </a:r>
          </a:p>
        </p:txBody>
      </p:sp>
      <p:sp>
        <p:nvSpPr>
          <p:cNvPr id="56" name="Text 51"/>
          <p:cNvSpPr txBox="1"/>
          <p:nvPr/>
        </p:nvSpPr>
        <p:spPr>
          <a:xfrm>
            <a:off x="3968496" y="2660903"/>
            <a:ext cx="896112" cy="146304"/>
          </a:xfrm>
          <a:prstGeom prst="rect">
            <a:avLst/>
          </a:prstGeom>
          <a:noFill/>
        </p:spPr>
        <p:txBody>
          <a:bodyPr wrap="square" lIns="0" rIns="0" tIns="0" bIns="0" anchor="ctr">
            <a:spAutoFit/>
          </a:bodyPr>
          <a:lstStyle/>
          <a:p>
            <a:r>
              <a:rPr sz="560" b="0" i="0">
                <a:solidFill>
                  <a:srgbClr val="8C8C8C"/>
                </a:solidFill>
                <a:latin typeface="Courier New"/>
              </a:rPr>
              <a:t>governance table</a:t>
            </a:r>
          </a:p>
        </p:txBody>
      </p:sp>
      <p:sp>
        <p:nvSpPr>
          <p:cNvPr id="57" name="Shape 52"/>
          <p:cNvSpPr/>
          <p:nvPr/>
        </p:nvSpPr>
        <p:spPr>
          <a:xfrm>
            <a:off x="3895344" y="3136391"/>
            <a:ext cx="1005840" cy="603504"/>
          </a:xfrm>
          <a:prstGeom prst="roundRect">
            <a:avLst>
              <a:gd name="adj" fmla="val 10000"/>
            </a:avLst>
          </a:prstGeom>
          <a:solidFill>
            <a:srgbClr val="2B2508"/>
          </a:solidFill>
          <a:ln w="15875">
            <a:solidFill>
              <a:srgbClr val="FFD7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3"/>
          <p:cNvSpPr txBox="1"/>
          <p:nvPr/>
        </p:nvSpPr>
        <p:spPr>
          <a:xfrm>
            <a:off x="3968496" y="31729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Rollout</a:t>
            </a:r>
          </a:p>
          <a:p>
            <a:pPr>
              <a:lnSpc>
                <a:spcPct val="90000"/>
              </a:lnSpc>
            </a:pPr>
            <a:r>
              <a:rPr sz="720" b="1" i="0">
                <a:solidFill>
                  <a:srgbClr val="FFFFFF"/>
                </a:solidFill>
                <a:latin typeface="Trenda IG Text"/>
              </a:rPr>
              <a:t>gate</a:t>
            </a:r>
          </a:p>
        </p:txBody>
      </p:sp>
      <p:sp>
        <p:nvSpPr>
          <p:cNvPr id="59" name="Shape 54"/>
          <p:cNvSpPr/>
          <p:nvPr/>
        </p:nvSpPr>
        <p:spPr>
          <a:xfrm>
            <a:off x="3968496" y="3447287"/>
            <a:ext cx="356616" cy="128016"/>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5"/>
          <p:cNvSpPr txBox="1"/>
          <p:nvPr/>
        </p:nvSpPr>
        <p:spPr>
          <a:xfrm>
            <a:off x="3968496" y="3447287"/>
            <a:ext cx="356616" cy="128016"/>
          </a:xfrm>
          <a:prstGeom prst="rect">
            <a:avLst/>
          </a:prstGeom>
          <a:noFill/>
        </p:spPr>
        <p:txBody>
          <a:bodyPr wrap="square" lIns="0" rIns="0" tIns="0" bIns="0" anchor="ctr">
            <a:spAutoFit/>
          </a:bodyPr>
          <a:lstStyle/>
          <a:p>
            <a:pPr algn="ctr"/>
            <a:r>
              <a:rPr sz="459" b="1" i="0" spc="80">
                <a:solidFill>
                  <a:srgbClr val="56E13B"/>
                </a:solidFill>
                <a:latin typeface="Trenda IG Text"/>
              </a:rPr>
              <a:t>BUILT</a:t>
            </a:r>
          </a:p>
        </p:txBody>
      </p:sp>
      <p:sp>
        <p:nvSpPr>
          <p:cNvPr id="61" name="Text 56"/>
          <p:cNvSpPr txBox="1"/>
          <p:nvPr/>
        </p:nvSpPr>
        <p:spPr>
          <a:xfrm>
            <a:off x="3968496" y="3575303"/>
            <a:ext cx="896112" cy="146304"/>
          </a:xfrm>
          <a:prstGeom prst="rect">
            <a:avLst/>
          </a:prstGeom>
          <a:noFill/>
        </p:spPr>
        <p:txBody>
          <a:bodyPr wrap="square" lIns="0" rIns="0" tIns="0" bIns="0" anchor="ctr">
            <a:spAutoFit/>
          </a:bodyPr>
          <a:lstStyle/>
          <a:p>
            <a:r>
              <a:rPr sz="560" b="0" i="0">
                <a:solidFill>
                  <a:srgbClr val="8C8C8C"/>
                </a:solidFill>
                <a:latin typeface="Courier New"/>
              </a:rPr>
              <a:t>per project</a:t>
            </a:r>
          </a:p>
        </p:txBody>
      </p:sp>
      <p:sp>
        <p:nvSpPr>
          <p:cNvPr id="62" name="Shape 57"/>
          <p:cNvSpPr/>
          <p:nvPr/>
        </p:nvSpPr>
        <p:spPr>
          <a:xfrm>
            <a:off x="5074920" y="3136391"/>
            <a:ext cx="1005840" cy="603504"/>
          </a:xfrm>
          <a:prstGeom prst="roundRect">
            <a:avLst>
              <a:gd name="adj" fmla="val 10000"/>
            </a:avLst>
          </a:prstGeom>
          <a:solidFill>
            <a:srgbClr val="000000"/>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8"/>
          <p:cNvSpPr txBox="1"/>
          <p:nvPr/>
        </p:nvSpPr>
        <p:spPr>
          <a:xfrm>
            <a:off x="5148072" y="31729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Data Policy</a:t>
            </a:r>
          </a:p>
          <a:p>
            <a:pPr>
              <a:lnSpc>
                <a:spcPct val="90000"/>
              </a:lnSpc>
            </a:pPr>
            <a:r>
              <a:rPr sz="720" b="1" i="0">
                <a:solidFill>
                  <a:srgbClr val="FFFFFF"/>
                </a:solidFill>
                <a:latin typeface="Trenda IG Text"/>
              </a:rPr>
              <a:t>Tagger</a:t>
            </a:r>
          </a:p>
        </p:txBody>
      </p:sp>
      <p:sp>
        <p:nvSpPr>
          <p:cNvPr id="64" name="Shape 59"/>
          <p:cNvSpPr/>
          <p:nvPr/>
        </p:nvSpPr>
        <p:spPr>
          <a:xfrm>
            <a:off x="5148072" y="3447287"/>
            <a:ext cx="630936" cy="128016"/>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0"/>
          <p:cNvSpPr txBox="1"/>
          <p:nvPr/>
        </p:nvSpPr>
        <p:spPr>
          <a:xfrm>
            <a:off x="5148072" y="3447287"/>
            <a:ext cx="630936" cy="128016"/>
          </a:xfrm>
          <a:prstGeom prst="rect">
            <a:avLst/>
          </a:prstGeom>
          <a:noFill/>
        </p:spPr>
        <p:txBody>
          <a:bodyPr wrap="square" lIns="0" rIns="0" tIns="0" bIns="0" anchor="ctr">
            <a:spAutoFit/>
          </a:bodyPr>
          <a:lstStyle/>
          <a:p>
            <a:pPr algn="ctr"/>
            <a:r>
              <a:rPr sz="459" b="1" i="0" spc="80">
                <a:solidFill>
                  <a:srgbClr val="00D6F2"/>
                </a:solidFill>
                <a:latin typeface="Trenda IG Text"/>
              </a:rPr>
              <a:t>LIVE IN DEV</a:t>
            </a:r>
          </a:p>
        </p:txBody>
      </p:sp>
      <p:sp>
        <p:nvSpPr>
          <p:cNvPr id="66" name="Text 61"/>
          <p:cNvSpPr txBox="1"/>
          <p:nvPr/>
        </p:nvSpPr>
        <p:spPr>
          <a:xfrm>
            <a:off x="5148072" y="3575303"/>
            <a:ext cx="896112" cy="146304"/>
          </a:xfrm>
          <a:prstGeom prst="rect">
            <a:avLst/>
          </a:prstGeom>
          <a:noFill/>
        </p:spPr>
        <p:txBody>
          <a:bodyPr wrap="square" lIns="0" rIns="0" tIns="0" bIns="0" anchor="ctr">
            <a:spAutoFit/>
          </a:bodyPr>
          <a:lstStyle/>
          <a:p>
            <a:r>
              <a:rPr sz="560" b="0" i="0">
                <a:solidFill>
                  <a:srgbClr val="8C8C8C"/>
                </a:solidFill>
                <a:latin typeface="Courier New"/>
              </a:rPr>
              <a:t>Cloud Run job</a:t>
            </a:r>
          </a:p>
        </p:txBody>
      </p:sp>
      <p:sp>
        <p:nvSpPr>
          <p:cNvPr id="67" name="Shape 62"/>
          <p:cNvSpPr/>
          <p:nvPr/>
        </p:nvSpPr>
        <p:spPr>
          <a:xfrm>
            <a:off x="6254496" y="4050791"/>
            <a:ext cx="1005840" cy="603504"/>
          </a:xfrm>
          <a:prstGeom prst="roundRect">
            <a:avLst>
              <a:gd name="adj" fmla="val 10000"/>
            </a:avLst>
          </a:prstGeom>
          <a:solidFill>
            <a:srgbClr val="000000"/>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3"/>
          <p:cNvSpPr txBox="1"/>
          <p:nvPr/>
        </p:nvSpPr>
        <p:spPr>
          <a:xfrm>
            <a:off x="6327648" y="40873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Policies</a:t>
            </a:r>
          </a:p>
          <a:p>
            <a:pPr>
              <a:lnSpc>
                <a:spcPct val="90000"/>
              </a:lnSpc>
            </a:pPr>
            <a:r>
              <a:rPr sz="720" b="1" i="0">
                <a:solidFill>
                  <a:srgbClr val="FFFFFF"/>
                </a:solidFill>
                <a:latin typeface="Trenda IG Text"/>
              </a:rPr>
              <a:t>applied</a:t>
            </a:r>
          </a:p>
        </p:txBody>
      </p:sp>
      <p:sp>
        <p:nvSpPr>
          <p:cNvPr id="69" name="Shape 64"/>
          <p:cNvSpPr/>
          <p:nvPr/>
        </p:nvSpPr>
        <p:spPr>
          <a:xfrm>
            <a:off x="6327648" y="4361688"/>
            <a:ext cx="630936" cy="128016"/>
          </a:xfrm>
          <a:prstGeom prst="roundRect">
            <a:avLst>
              <a:gd name="adj" fmla="val 50000"/>
            </a:avLst>
          </a:prstGeom>
          <a:no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5"/>
          <p:cNvSpPr txBox="1"/>
          <p:nvPr/>
        </p:nvSpPr>
        <p:spPr>
          <a:xfrm>
            <a:off x="6327648" y="4361688"/>
            <a:ext cx="630936" cy="128016"/>
          </a:xfrm>
          <a:prstGeom prst="rect">
            <a:avLst/>
          </a:prstGeom>
          <a:noFill/>
        </p:spPr>
        <p:txBody>
          <a:bodyPr wrap="square" lIns="0" rIns="0" tIns="0" bIns="0" anchor="ctr">
            <a:spAutoFit/>
          </a:bodyPr>
          <a:lstStyle/>
          <a:p>
            <a:pPr algn="ctr"/>
            <a:r>
              <a:rPr sz="459" b="1" i="0" spc="80">
                <a:solidFill>
                  <a:srgbClr val="00D6F2"/>
                </a:solidFill>
                <a:latin typeface="Trenda IG Text"/>
              </a:rPr>
              <a:t>LIVE IN DEV</a:t>
            </a:r>
          </a:p>
        </p:txBody>
      </p:sp>
      <p:sp>
        <p:nvSpPr>
          <p:cNvPr id="71" name="Text 66"/>
          <p:cNvSpPr txBox="1"/>
          <p:nvPr/>
        </p:nvSpPr>
        <p:spPr>
          <a:xfrm>
            <a:off x="6327648" y="4489704"/>
            <a:ext cx="896112" cy="146304"/>
          </a:xfrm>
          <a:prstGeom prst="rect">
            <a:avLst/>
          </a:prstGeom>
          <a:noFill/>
        </p:spPr>
        <p:txBody>
          <a:bodyPr wrap="square" lIns="0" rIns="0" tIns="0" bIns="0" anchor="ctr">
            <a:spAutoFit/>
          </a:bodyPr>
          <a:lstStyle/>
          <a:p>
            <a:r>
              <a:rPr sz="560" b="0" i="0">
                <a:solidFill>
                  <a:srgbClr val="8C8C8C"/>
                </a:solidFill>
                <a:latin typeface="Courier New"/>
              </a:rPr>
              <a:t>BigQuery columns</a:t>
            </a:r>
          </a:p>
        </p:txBody>
      </p:sp>
      <p:sp>
        <p:nvSpPr>
          <p:cNvPr id="72" name="Shape 67"/>
          <p:cNvSpPr/>
          <p:nvPr/>
        </p:nvSpPr>
        <p:spPr>
          <a:xfrm>
            <a:off x="7434072" y="2221991"/>
            <a:ext cx="1005840" cy="603504"/>
          </a:xfrm>
          <a:prstGeom prst="roundRect">
            <a:avLst>
              <a:gd name="adj" fmla="val 10000"/>
            </a:avLst>
          </a:prstGeom>
          <a:solidFill>
            <a:srgbClr val="000000"/>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8"/>
          <p:cNvSpPr txBox="1"/>
          <p:nvPr/>
        </p:nvSpPr>
        <p:spPr>
          <a:xfrm>
            <a:off x="7507224" y="22585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Bindings +</a:t>
            </a:r>
          </a:p>
          <a:p>
            <a:pPr>
              <a:lnSpc>
                <a:spcPct val="90000"/>
              </a:lnSpc>
            </a:pPr>
            <a:r>
              <a:rPr sz="720" b="1" i="0">
                <a:solidFill>
                  <a:srgbClr val="FFFFFF"/>
                </a:solidFill>
                <a:latin typeface="Trenda IG Text"/>
              </a:rPr>
              <a:t>validation</a:t>
            </a:r>
          </a:p>
        </p:txBody>
      </p:sp>
      <p:sp>
        <p:nvSpPr>
          <p:cNvPr id="74" name="Shape 69"/>
          <p:cNvSpPr/>
          <p:nvPr/>
        </p:nvSpPr>
        <p:spPr>
          <a:xfrm>
            <a:off x="7507224" y="2532887"/>
            <a:ext cx="356616" cy="128016"/>
          </a:xfrm>
          <a:prstGeom prst="roundRect">
            <a:avLst>
              <a:gd name="adj" fmla="val 50000"/>
            </a:avLst>
          </a:prstGeom>
          <a:noFill/>
          <a:ln w="9525">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0"/>
          <p:cNvSpPr txBox="1"/>
          <p:nvPr/>
        </p:nvSpPr>
        <p:spPr>
          <a:xfrm>
            <a:off x="7507224" y="2532887"/>
            <a:ext cx="356616" cy="128016"/>
          </a:xfrm>
          <a:prstGeom prst="rect">
            <a:avLst/>
          </a:prstGeom>
          <a:noFill/>
        </p:spPr>
        <p:txBody>
          <a:bodyPr wrap="square" lIns="0" rIns="0" tIns="0" bIns="0" anchor="ctr">
            <a:spAutoFit/>
          </a:bodyPr>
          <a:lstStyle/>
          <a:p>
            <a:pPr algn="ctr"/>
            <a:r>
              <a:rPr sz="459" b="1" i="0" spc="80">
                <a:solidFill>
                  <a:srgbClr val="56E13B"/>
                </a:solidFill>
                <a:latin typeface="Trenda IG Text"/>
              </a:rPr>
              <a:t>BUILT</a:t>
            </a:r>
          </a:p>
        </p:txBody>
      </p:sp>
      <p:sp>
        <p:nvSpPr>
          <p:cNvPr id="76" name="Text 71"/>
          <p:cNvSpPr txBox="1"/>
          <p:nvPr/>
        </p:nvSpPr>
        <p:spPr>
          <a:xfrm>
            <a:off x="7507224" y="2660903"/>
            <a:ext cx="896112" cy="146304"/>
          </a:xfrm>
          <a:prstGeom prst="rect">
            <a:avLst/>
          </a:prstGeom>
          <a:noFill/>
        </p:spPr>
        <p:txBody>
          <a:bodyPr wrap="square" lIns="0" rIns="0" tIns="0" bIns="0" anchor="ctr">
            <a:spAutoFit/>
          </a:bodyPr>
          <a:lstStyle/>
          <a:p>
            <a:r>
              <a:rPr sz="560" b="0" i="0">
                <a:solidFill>
                  <a:srgbClr val="8C8C8C"/>
                </a:solidFill>
                <a:latin typeface="Courier New"/>
              </a:rPr>
              <a:t>audit trail</a:t>
            </a:r>
          </a:p>
        </p:txBody>
      </p:sp>
      <p:sp>
        <p:nvSpPr>
          <p:cNvPr id="77" name="Shape 72"/>
          <p:cNvSpPr/>
          <p:nvPr/>
        </p:nvSpPr>
        <p:spPr>
          <a:xfrm>
            <a:off x="6254496" y="3136391"/>
            <a:ext cx="1005840" cy="603504"/>
          </a:xfrm>
          <a:prstGeom prst="roundRect">
            <a:avLst>
              <a:gd name="adj" fmla="val 10000"/>
            </a:avLst>
          </a:prstGeom>
          <a:solidFill>
            <a:srgbClr val="000000"/>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3"/>
          <p:cNvSpPr txBox="1"/>
          <p:nvPr/>
        </p:nvSpPr>
        <p:spPr>
          <a:xfrm>
            <a:off x="6327648" y="3172968"/>
            <a:ext cx="896112" cy="256032"/>
          </a:xfrm>
          <a:prstGeom prst="rect">
            <a:avLst/>
          </a:prstGeom>
          <a:noFill/>
        </p:spPr>
        <p:txBody>
          <a:bodyPr wrap="square" lIns="0" rIns="0" tIns="0" bIns="0" anchor="t">
            <a:spAutoFit/>
          </a:bodyPr>
          <a:lstStyle/>
          <a:p>
            <a:pPr>
              <a:lnSpc>
                <a:spcPct val="90000"/>
              </a:lnSpc>
            </a:pPr>
            <a:r>
              <a:rPr sz="720" b="1" i="0">
                <a:solidFill>
                  <a:srgbClr val="FFFFFF"/>
                </a:solidFill>
                <a:latin typeface="Trenda IG Text"/>
              </a:rPr>
              <a:t>Policy</a:t>
            </a:r>
          </a:p>
          <a:p>
            <a:pPr>
              <a:lnSpc>
                <a:spcPct val="90000"/>
              </a:lnSpc>
            </a:pPr>
            <a:r>
              <a:rPr sz="720" b="1" i="0">
                <a:solidFill>
                  <a:srgbClr val="FFFFFF"/>
                </a:solidFill>
                <a:latin typeface="Trenda IG Text"/>
              </a:rPr>
              <a:t>remover</a:t>
            </a:r>
          </a:p>
        </p:txBody>
      </p:sp>
      <p:sp>
        <p:nvSpPr>
          <p:cNvPr id="79" name="Shape 74"/>
          <p:cNvSpPr/>
          <p:nvPr/>
        </p:nvSpPr>
        <p:spPr>
          <a:xfrm>
            <a:off x="6327648" y="3447287"/>
            <a:ext cx="630936" cy="128016"/>
          </a:xfrm>
          <a:prstGeom prst="roundRect">
            <a:avLst>
              <a:gd name="adj" fmla="val 50000"/>
            </a:avLst>
          </a:prstGeom>
          <a:noFill/>
          <a:ln w="9525">
            <a:solidFill>
              <a:srgbClr val="FA8B3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5"/>
          <p:cNvSpPr txBox="1"/>
          <p:nvPr/>
        </p:nvSpPr>
        <p:spPr>
          <a:xfrm>
            <a:off x="6327648" y="3447287"/>
            <a:ext cx="630936" cy="128016"/>
          </a:xfrm>
          <a:prstGeom prst="rect">
            <a:avLst/>
          </a:prstGeom>
          <a:noFill/>
        </p:spPr>
        <p:txBody>
          <a:bodyPr wrap="square" lIns="0" rIns="0" tIns="0" bIns="0" anchor="ctr">
            <a:spAutoFit/>
          </a:bodyPr>
          <a:lstStyle/>
          <a:p>
            <a:pPr algn="ctr"/>
            <a:r>
              <a:rPr sz="459" b="1" i="0" spc="80">
                <a:solidFill>
                  <a:srgbClr val="FA8B35"/>
                </a:solidFill>
                <a:latin typeface="Trenda IG Text"/>
              </a:rPr>
              <a:t>IN PROGRESS</a:t>
            </a:r>
          </a:p>
        </p:txBody>
      </p:sp>
      <p:sp>
        <p:nvSpPr>
          <p:cNvPr id="81" name="Text 76"/>
          <p:cNvSpPr txBox="1"/>
          <p:nvPr/>
        </p:nvSpPr>
        <p:spPr>
          <a:xfrm>
            <a:off x="6327648" y="3575303"/>
            <a:ext cx="896112" cy="146304"/>
          </a:xfrm>
          <a:prstGeom prst="rect">
            <a:avLst/>
          </a:prstGeom>
          <a:noFill/>
        </p:spPr>
        <p:txBody>
          <a:bodyPr wrap="square" lIns="0" rIns="0" tIns="0" bIns="0" anchor="ctr">
            <a:spAutoFit/>
          </a:bodyPr>
          <a:lstStyle/>
          <a:p>
            <a:r>
              <a:rPr sz="560" b="0" i="0">
                <a:solidFill>
                  <a:srgbClr val="8C8C8C"/>
                </a:solidFill>
                <a:latin typeface="Courier New"/>
              </a:rPr>
              <a:t>rejected path</a:t>
            </a:r>
          </a:p>
        </p:txBody>
      </p:sp>
      <p:cxnSp>
        <p:nvCxnSpPr>
          <p:cNvPr id="82" name="Arrow 77"/>
          <p:cNvCxnSpPr/>
          <p:nvPr/>
        </p:nvCxnSpPr>
        <p:spPr>
          <a:xfrm>
            <a:off x="1536192" y="4937759"/>
            <a:ext cx="365760" cy="0"/>
          </a:xfrm>
          <a:prstGeom prst="line">
            <a:avLst/>
          </a:prstGeom>
          <a:ln w="1905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Text 78"/>
          <p:cNvSpPr txBox="1"/>
          <p:nvPr/>
        </p:nvSpPr>
        <p:spPr>
          <a:xfrm>
            <a:off x="1947672" y="4864607"/>
            <a:ext cx="1463040" cy="146304"/>
          </a:xfrm>
          <a:prstGeom prst="rect">
            <a:avLst/>
          </a:prstGeom>
          <a:noFill/>
        </p:spPr>
        <p:txBody>
          <a:bodyPr wrap="square" lIns="0" rIns="0" tIns="0" bIns="0" anchor="ctr">
            <a:spAutoFit/>
          </a:bodyPr>
          <a:lstStyle/>
          <a:p>
            <a:r>
              <a:rPr sz="600" b="0" i="0">
                <a:solidFill>
                  <a:srgbClr val="BFBFBF"/>
                </a:solidFill>
                <a:latin typeface="Trenda IG Text"/>
              </a:rPr>
              <a:t>steward approves: protect</a:t>
            </a:r>
          </a:p>
        </p:txBody>
      </p:sp>
      <p:cxnSp>
        <p:nvCxnSpPr>
          <p:cNvPr id="84" name="Arrow 79"/>
          <p:cNvCxnSpPr/>
          <p:nvPr/>
        </p:nvCxnSpPr>
        <p:spPr>
          <a:xfrm>
            <a:off x="3566160" y="4937759"/>
            <a:ext cx="365760" cy="0"/>
          </a:xfrm>
          <a:prstGeom prst="line">
            <a:avLst/>
          </a:prstGeom>
          <a:ln w="19050">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5" name="Text 80"/>
          <p:cNvSpPr txBox="1"/>
          <p:nvPr/>
        </p:nvSpPr>
        <p:spPr>
          <a:xfrm>
            <a:off x="3977639" y="4864607"/>
            <a:ext cx="2194560" cy="146304"/>
          </a:xfrm>
          <a:prstGeom prst="rect">
            <a:avLst/>
          </a:prstGeom>
          <a:noFill/>
        </p:spPr>
        <p:txBody>
          <a:bodyPr wrap="square" lIns="0" rIns="0" tIns="0" bIns="0" anchor="ctr">
            <a:spAutoFit/>
          </a:bodyPr>
          <a:lstStyle/>
          <a:p>
            <a:r>
              <a:rPr sz="600" b="0" i="0">
                <a:solidFill>
                  <a:srgbClr val="BFBFBF"/>
                </a:solidFill>
                <a:latin typeface="Trenda IG Text"/>
              </a:rPr>
              <a:t>steward rejects: policy removed, binding retired</a:t>
            </a:r>
          </a:p>
        </p:txBody>
      </p:sp>
      <p:sp>
        <p:nvSpPr>
          <p:cNvPr id="86" name="Text 81"/>
          <p:cNvSpPr txBox="1"/>
          <p:nvPr/>
        </p:nvSpPr>
        <p:spPr>
          <a:xfrm>
            <a:off x="6400800" y="4864607"/>
            <a:ext cx="2194560" cy="146304"/>
          </a:xfrm>
          <a:prstGeom prst="rect">
            <a:avLst/>
          </a:prstGeom>
          <a:noFill/>
        </p:spPr>
        <p:txBody>
          <a:bodyPr wrap="square" lIns="0" rIns="0" tIns="0" bIns="0" anchor="ctr">
            <a:spAutoFit/>
          </a:bodyPr>
          <a:lstStyle/>
          <a:p>
            <a:r>
              <a:rPr sz="600" b="0" i="0">
                <a:solidFill>
                  <a:srgbClr val="BFBFBF"/>
                </a:solidFill>
                <a:latin typeface="Trenda IG Text"/>
              </a:rPr>
              <a:t>yellow: a human or rollout gate</a:t>
            </a:r>
          </a:p>
        </p:txBody>
      </p:sp>
      <p:sp>
        <p:nvSpPr>
          <p:cNvPr id="87" name="Shape 82"/>
          <p:cNvSpPr/>
          <p:nvPr/>
        </p:nvSpPr>
        <p:spPr>
          <a:xfrm>
            <a:off x="8778240" y="1188720"/>
            <a:ext cx="2999232" cy="1938528"/>
          </a:xfrm>
          <a:prstGeom prst="roundRect">
            <a:avLst>
              <a:gd name="adj" fmla="val 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3"/>
          <p:cNvSpPr txBox="1"/>
          <p:nvPr/>
        </p:nvSpPr>
        <p:spPr>
          <a:xfrm>
            <a:off x="8887967" y="1225296"/>
            <a:ext cx="2779776" cy="219456"/>
          </a:xfrm>
          <a:prstGeom prst="rect">
            <a:avLst/>
          </a:prstGeom>
          <a:noFill/>
        </p:spPr>
        <p:txBody>
          <a:bodyPr wrap="square" lIns="0" rIns="0" tIns="0" bIns="0" anchor="ctr">
            <a:spAutoFit/>
          </a:bodyPr>
          <a:lstStyle/>
          <a:p>
            <a:r>
              <a:rPr sz="620" b="1" i="0" spc="120">
                <a:solidFill>
                  <a:srgbClr val="FFD700"/>
                </a:solidFill>
                <a:latin typeface="Trenda IG Text"/>
              </a:rPr>
              <a:t>WHAT A MASKED COLUMN LOOKS LIKE</a:t>
            </a:r>
          </a:p>
        </p:txBody>
      </p:sp>
      <p:sp>
        <p:nvSpPr>
          <p:cNvPr id="89" name="Text 84"/>
          <p:cNvSpPr txBox="1"/>
          <p:nvPr/>
        </p:nvSpPr>
        <p:spPr>
          <a:xfrm>
            <a:off x="8887967" y="1481328"/>
            <a:ext cx="1097280" cy="146304"/>
          </a:xfrm>
          <a:prstGeom prst="rect">
            <a:avLst/>
          </a:prstGeom>
          <a:noFill/>
        </p:spPr>
        <p:txBody>
          <a:bodyPr wrap="square" lIns="0" rIns="0" tIns="0" bIns="0" anchor="t">
            <a:spAutoFit/>
          </a:bodyPr>
          <a:lstStyle/>
          <a:p>
            <a:r>
              <a:rPr sz="560" b="1" i="0">
                <a:solidFill>
                  <a:srgbClr val="8C8C8C"/>
                </a:solidFill>
                <a:latin typeface="Trenda IG Text"/>
              </a:rPr>
              <a:t>column</a:t>
            </a:r>
          </a:p>
        </p:txBody>
      </p:sp>
      <p:sp>
        <p:nvSpPr>
          <p:cNvPr id="90" name="Text 85"/>
          <p:cNvSpPr txBox="1"/>
          <p:nvPr/>
        </p:nvSpPr>
        <p:spPr>
          <a:xfrm>
            <a:off x="9765792" y="1481328"/>
            <a:ext cx="1097280" cy="146304"/>
          </a:xfrm>
          <a:prstGeom prst="rect">
            <a:avLst/>
          </a:prstGeom>
          <a:noFill/>
        </p:spPr>
        <p:txBody>
          <a:bodyPr wrap="square" lIns="0" rIns="0" tIns="0" bIns="0" anchor="t">
            <a:spAutoFit/>
          </a:bodyPr>
          <a:lstStyle/>
          <a:p>
            <a:r>
              <a:rPr sz="560" b="1" i="0">
                <a:solidFill>
                  <a:srgbClr val="8C8C8C"/>
                </a:solidFill>
                <a:latin typeface="Trenda IG Text"/>
              </a:rPr>
              <a:t>DLP infotype</a:t>
            </a:r>
          </a:p>
        </p:txBody>
      </p:sp>
      <p:sp>
        <p:nvSpPr>
          <p:cNvPr id="91" name="Text 86"/>
          <p:cNvSpPr txBox="1"/>
          <p:nvPr/>
        </p:nvSpPr>
        <p:spPr>
          <a:xfrm>
            <a:off x="10716767" y="1481328"/>
            <a:ext cx="1097280" cy="146304"/>
          </a:xfrm>
          <a:prstGeom prst="rect">
            <a:avLst/>
          </a:prstGeom>
          <a:noFill/>
        </p:spPr>
        <p:txBody>
          <a:bodyPr wrap="square" lIns="0" rIns="0" tIns="0" bIns="0" anchor="t">
            <a:spAutoFit/>
          </a:bodyPr>
          <a:lstStyle/>
          <a:p>
            <a:r>
              <a:rPr sz="560" b="1" i="0">
                <a:solidFill>
                  <a:srgbClr val="8C8C8C"/>
                </a:solidFill>
                <a:latin typeface="Trenda IG Text"/>
              </a:rPr>
              <a:t>without raw access</a:t>
            </a:r>
          </a:p>
        </p:txBody>
      </p:sp>
      <p:sp>
        <p:nvSpPr>
          <p:cNvPr id="92" name="Shape 87"/>
          <p:cNvSpPr/>
          <p:nvPr/>
        </p:nvSpPr>
        <p:spPr>
          <a:xfrm>
            <a:off x="8851392" y="1664208"/>
            <a:ext cx="2852928" cy="228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8"/>
          <p:cNvSpPr txBox="1"/>
          <p:nvPr/>
        </p:nvSpPr>
        <p:spPr>
          <a:xfrm>
            <a:off x="8887967" y="1664208"/>
            <a:ext cx="914400" cy="228600"/>
          </a:xfrm>
          <a:prstGeom prst="rect">
            <a:avLst/>
          </a:prstGeom>
          <a:noFill/>
        </p:spPr>
        <p:txBody>
          <a:bodyPr wrap="square" lIns="0" rIns="0" tIns="0" bIns="0" anchor="ctr">
            <a:spAutoFit/>
          </a:bodyPr>
          <a:lstStyle/>
          <a:p>
            <a:r>
              <a:rPr sz="610" b="0" i="0">
                <a:solidFill>
                  <a:srgbClr val="FFFFFF"/>
                </a:solidFill>
                <a:latin typeface="Courier New"/>
              </a:rPr>
              <a:t>patient_name</a:t>
            </a:r>
          </a:p>
        </p:txBody>
      </p:sp>
      <p:sp>
        <p:nvSpPr>
          <p:cNvPr id="94" name="Text 89"/>
          <p:cNvSpPr txBox="1"/>
          <p:nvPr/>
        </p:nvSpPr>
        <p:spPr>
          <a:xfrm>
            <a:off x="9765792" y="1664208"/>
            <a:ext cx="914400" cy="228600"/>
          </a:xfrm>
          <a:prstGeom prst="rect">
            <a:avLst/>
          </a:prstGeom>
          <a:noFill/>
        </p:spPr>
        <p:txBody>
          <a:bodyPr wrap="square" lIns="0" rIns="0" tIns="0" bIns="0" anchor="ctr">
            <a:spAutoFit/>
          </a:bodyPr>
          <a:lstStyle/>
          <a:p>
            <a:r>
              <a:rPr sz="610" b="0" i="0">
                <a:solidFill>
                  <a:srgbClr val="FFFFFF"/>
                </a:solidFill>
                <a:latin typeface="Courier New"/>
              </a:rPr>
              <a:t>PERSON_NAME</a:t>
            </a:r>
          </a:p>
        </p:txBody>
      </p:sp>
      <p:sp>
        <p:nvSpPr>
          <p:cNvPr id="95" name="Text 90"/>
          <p:cNvSpPr txBox="1"/>
          <p:nvPr/>
        </p:nvSpPr>
        <p:spPr>
          <a:xfrm>
            <a:off x="10716767" y="1664208"/>
            <a:ext cx="1024128" cy="228600"/>
          </a:xfrm>
          <a:prstGeom prst="rect">
            <a:avLst/>
          </a:prstGeom>
          <a:noFill/>
        </p:spPr>
        <p:txBody>
          <a:bodyPr wrap="square" lIns="0" rIns="0" tIns="0" bIns="0" anchor="ctr">
            <a:spAutoFit/>
          </a:bodyPr>
          <a:lstStyle/>
          <a:p>
            <a:r>
              <a:rPr sz="610" b="0" i="0">
                <a:solidFill>
                  <a:srgbClr val="FF0069"/>
                </a:solidFill>
                <a:latin typeface="Courier New"/>
              </a:rPr>
              <a:t>9f2c…e41a</a:t>
            </a:r>
          </a:p>
        </p:txBody>
      </p:sp>
      <p:sp>
        <p:nvSpPr>
          <p:cNvPr id="96" name="Shape 91"/>
          <p:cNvSpPr/>
          <p:nvPr/>
        </p:nvSpPr>
        <p:spPr>
          <a:xfrm>
            <a:off x="8851392" y="1929384"/>
            <a:ext cx="2852928" cy="228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2"/>
          <p:cNvSpPr txBox="1"/>
          <p:nvPr/>
        </p:nvSpPr>
        <p:spPr>
          <a:xfrm>
            <a:off x="8887967" y="1929384"/>
            <a:ext cx="914400" cy="228600"/>
          </a:xfrm>
          <a:prstGeom prst="rect">
            <a:avLst/>
          </a:prstGeom>
          <a:noFill/>
        </p:spPr>
        <p:txBody>
          <a:bodyPr wrap="square" lIns="0" rIns="0" tIns="0" bIns="0" anchor="ctr">
            <a:spAutoFit/>
          </a:bodyPr>
          <a:lstStyle/>
          <a:p>
            <a:r>
              <a:rPr sz="610" b="0" i="0">
                <a:solidFill>
                  <a:srgbClr val="FFFFFF"/>
                </a:solidFill>
                <a:latin typeface="Courier New"/>
              </a:rPr>
              <a:t>phone</a:t>
            </a:r>
          </a:p>
        </p:txBody>
      </p:sp>
      <p:sp>
        <p:nvSpPr>
          <p:cNvPr id="98" name="Text 93"/>
          <p:cNvSpPr txBox="1"/>
          <p:nvPr/>
        </p:nvSpPr>
        <p:spPr>
          <a:xfrm>
            <a:off x="9765792" y="1929384"/>
            <a:ext cx="914400" cy="228600"/>
          </a:xfrm>
          <a:prstGeom prst="rect">
            <a:avLst/>
          </a:prstGeom>
          <a:noFill/>
        </p:spPr>
        <p:txBody>
          <a:bodyPr wrap="square" lIns="0" rIns="0" tIns="0" bIns="0" anchor="ctr">
            <a:spAutoFit/>
          </a:bodyPr>
          <a:lstStyle/>
          <a:p>
            <a:r>
              <a:rPr sz="610" b="0" i="0">
                <a:solidFill>
                  <a:srgbClr val="FFFFFF"/>
                </a:solidFill>
                <a:latin typeface="Courier New"/>
              </a:rPr>
              <a:t>PHONE_NUMBER</a:t>
            </a:r>
          </a:p>
        </p:txBody>
      </p:sp>
      <p:sp>
        <p:nvSpPr>
          <p:cNvPr id="99" name="Text 94"/>
          <p:cNvSpPr txBox="1"/>
          <p:nvPr/>
        </p:nvSpPr>
        <p:spPr>
          <a:xfrm>
            <a:off x="10716767" y="1929384"/>
            <a:ext cx="1024128" cy="228600"/>
          </a:xfrm>
          <a:prstGeom prst="rect">
            <a:avLst/>
          </a:prstGeom>
          <a:noFill/>
        </p:spPr>
        <p:txBody>
          <a:bodyPr wrap="square" lIns="0" rIns="0" tIns="0" bIns="0" anchor="ctr">
            <a:spAutoFit/>
          </a:bodyPr>
          <a:lstStyle/>
          <a:p>
            <a:r>
              <a:rPr sz="610" b="0" i="0">
                <a:solidFill>
                  <a:srgbClr val="FF0069"/>
                </a:solidFill>
                <a:latin typeface="Courier New"/>
              </a:rPr>
              <a:t>71b0…c9d3</a:t>
            </a:r>
          </a:p>
        </p:txBody>
      </p:sp>
      <p:sp>
        <p:nvSpPr>
          <p:cNvPr id="100" name="Shape 95"/>
          <p:cNvSpPr/>
          <p:nvPr/>
        </p:nvSpPr>
        <p:spPr>
          <a:xfrm>
            <a:off x="8851392" y="2194560"/>
            <a:ext cx="2852928" cy="228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96"/>
          <p:cNvSpPr txBox="1"/>
          <p:nvPr/>
        </p:nvSpPr>
        <p:spPr>
          <a:xfrm>
            <a:off x="8887967" y="2194560"/>
            <a:ext cx="914400" cy="228600"/>
          </a:xfrm>
          <a:prstGeom prst="rect">
            <a:avLst/>
          </a:prstGeom>
          <a:noFill/>
        </p:spPr>
        <p:txBody>
          <a:bodyPr wrap="square" lIns="0" rIns="0" tIns="0" bIns="0" anchor="ctr">
            <a:spAutoFit/>
          </a:bodyPr>
          <a:lstStyle/>
          <a:p>
            <a:r>
              <a:rPr sz="610" b="0" i="0">
                <a:solidFill>
                  <a:srgbClr val="FFFFFF"/>
                </a:solidFill>
                <a:latin typeface="Courier New"/>
              </a:rPr>
              <a:t>dob</a:t>
            </a:r>
          </a:p>
        </p:txBody>
      </p:sp>
      <p:sp>
        <p:nvSpPr>
          <p:cNvPr id="102" name="Text 97"/>
          <p:cNvSpPr txBox="1"/>
          <p:nvPr/>
        </p:nvSpPr>
        <p:spPr>
          <a:xfrm>
            <a:off x="9765792" y="2194560"/>
            <a:ext cx="914400" cy="228600"/>
          </a:xfrm>
          <a:prstGeom prst="rect">
            <a:avLst/>
          </a:prstGeom>
          <a:noFill/>
        </p:spPr>
        <p:txBody>
          <a:bodyPr wrap="square" lIns="0" rIns="0" tIns="0" bIns="0" anchor="ctr">
            <a:spAutoFit/>
          </a:bodyPr>
          <a:lstStyle/>
          <a:p>
            <a:r>
              <a:rPr sz="610" b="0" i="0">
                <a:solidFill>
                  <a:srgbClr val="FFFFFF"/>
                </a:solidFill>
                <a:latin typeface="Courier New"/>
              </a:rPr>
              <a:t>DATE_OF_BIRTH</a:t>
            </a:r>
          </a:p>
        </p:txBody>
      </p:sp>
      <p:sp>
        <p:nvSpPr>
          <p:cNvPr id="103" name="Text 98"/>
          <p:cNvSpPr txBox="1"/>
          <p:nvPr/>
        </p:nvSpPr>
        <p:spPr>
          <a:xfrm>
            <a:off x="10716767" y="2194560"/>
            <a:ext cx="1024128" cy="228600"/>
          </a:xfrm>
          <a:prstGeom prst="rect">
            <a:avLst/>
          </a:prstGeom>
          <a:noFill/>
        </p:spPr>
        <p:txBody>
          <a:bodyPr wrap="square" lIns="0" rIns="0" tIns="0" bIns="0" anchor="ctr">
            <a:spAutoFit/>
          </a:bodyPr>
          <a:lstStyle/>
          <a:p>
            <a:r>
              <a:rPr sz="610" b="0" i="0">
                <a:solidFill>
                  <a:srgbClr val="FF0069"/>
                </a:solidFill>
                <a:latin typeface="Courier New"/>
              </a:rPr>
              <a:t>masked</a:t>
            </a:r>
          </a:p>
        </p:txBody>
      </p:sp>
      <p:sp>
        <p:nvSpPr>
          <p:cNvPr id="104" name="Shape 99"/>
          <p:cNvSpPr/>
          <p:nvPr/>
        </p:nvSpPr>
        <p:spPr>
          <a:xfrm>
            <a:off x="8851392" y="2459736"/>
            <a:ext cx="2852928" cy="228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0"/>
          <p:cNvSpPr txBox="1"/>
          <p:nvPr/>
        </p:nvSpPr>
        <p:spPr>
          <a:xfrm>
            <a:off x="8887967" y="2459736"/>
            <a:ext cx="914400" cy="228600"/>
          </a:xfrm>
          <a:prstGeom prst="rect">
            <a:avLst/>
          </a:prstGeom>
          <a:noFill/>
        </p:spPr>
        <p:txBody>
          <a:bodyPr wrap="square" lIns="0" rIns="0" tIns="0" bIns="0" anchor="ctr">
            <a:spAutoFit/>
          </a:bodyPr>
          <a:lstStyle/>
          <a:p>
            <a:r>
              <a:rPr sz="610" b="0" i="0">
                <a:solidFill>
                  <a:srgbClr val="FFFFFF"/>
                </a:solidFill>
                <a:latin typeface="Courier New"/>
              </a:rPr>
              <a:t>diagnosis</a:t>
            </a:r>
          </a:p>
        </p:txBody>
      </p:sp>
      <p:sp>
        <p:nvSpPr>
          <p:cNvPr id="106" name="Text 101"/>
          <p:cNvSpPr txBox="1"/>
          <p:nvPr/>
        </p:nvSpPr>
        <p:spPr>
          <a:xfrm>
            <a:off x="9765792" y="2459736"/>
            <a:ext cx="914400" cy="228600"/>
          </a:xfrm>
          <a:prstGeom prst="rect">
            <a:avLst/>
          </a:prstGeom>
          <a:noFill/>
        </p:spPr>
        <p:txBody>
          <a:bodyPr wrap="square" lIns="0" rIns="0" tIns="0" bIns="0" anchor="ctr">
            <a:spAutoFit/>
          </a:bodyPr>
          <a:lstStyle/>
          <a:p>
            <a:r>
              <a:rPr sz="610" b="0" i="0">
                <a:solidFill>
                  <a:srgbClr val="FFFFFF"/>
                </a:solidFill>
                <a:latin typeface="Courier New"/>
              </a:rPr>
              <a:t>medical term</a:t>
            </a:r>
          </a:p>
        </p:txBody>
      </p:sp>
      <p:sp>
        <p:nvSpPr>
          <p:cNvPr id="107" name="Text 102"/>
          <p:cNvSpPr txBox="1"/>
          <p:nvPr/>
        </p:nvSpPr>
        <p:spPr>
          <a:xfrm>
            <a:off x="10716767" y="2459736"/>
            <a:ext cx="1024128" cy="228600"/>
          </a:xfrm>
          <a:prstGeom prst="rect">
            <a:avLst/>
          </a:prstGeom>
          <a:noFill/>
        </p:spPr>
        <p:txBody>
          <a:bodyPr wrap="square" lIns="0" rIns="0" tIns="0" bIns="0" anchor="ctr">
            <a:spAutoFit/>
          </a:bodyPr>
          <a:lstStyle/>
          <a:p>
            <a:r>
              <a:rPr sz="610" b="0" i="0">
                <a:solidFill>
                  <a:srgbClr val="FF0069"/>
                </a:solidFill>
                <a:latin typeface="Courier New"/>
              </a:rPr>
              <a:t>a4e8…107f</a:t>
            </a:r>
          </a:p>
        </p:txBody>
      </p:sp>
      <p:sp>
        <p:nvSpPr>
          <p:cNvPr id="108" name="Shape 103"/>
          <p:cNvSpPr/>
          <p:nvPr/>
        </p:nvSpPr>
        <p:spPr>
          <a:xfrm>
            <a:off x="8851392" y="2724912"/>
            <a:ext cx="2852928" cy="228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8887967" y="2724912"/>
            <a:ext cx="914400" cy="228600"/>
          </a:xfrm>
          <a:prstGeom prst="rect">
            <a:avLst/>
          </a:prstGeom>
          <a:noFill/>
        </p:spPr>
        <p:txBody>
          <a:bodyPr wrap="square" lIns="0" rIns="0" tIns="0" bIns="0" anchor="ctr">
            <a:spAutoFit/>
          </a:bodyPr>
          <a:lstStyle/>
          <a:p>
            <a:r>
              <a:rPr sz="610" b="0" i="0">
                <a:solidFill>
                  <a:srgbClr val="FFFFFF"/>
                </a:solidFill>
                <a:latin typeface="Courier New"/>
              </a:rPr>
              <a:t>encounter_count</a:t>
            </a:r>
          </a:p>
        </p:txBody>
      </p:sp>
      <p:sp>
        <p:nvSpPr>
          <p:cNvPr id="110" name="Text 105"/>
          <p:cNvSpPr txBox="1"/>
          <p:nvPr/>
        </p:nvSpPr>
        <p:spPr>
          <a:xfrm>
            <a:off x="9765792" y="2724912"/>
            <a:ext cx="914400" cy="228600"/>
          </a:xfrm>
          <a:prstGeom prst="rect">
            <a:avLst/>
          </a:prstGeom>
          <a:noFill/>
        </p:spPr>
        <p:txBody>
          <a:bodyPr wrap="square" lIns="0" rIns="0" tIns="0" bIns="0" anchor="ctr">
            <a:spAutoFit/>
          </a:bodyPr>
          <a:lstStyle/>
          <a:p>
            <a:r>
              <a:rPr sz="610" b="0" i="0">
                <a:solidFill>
                  <a:srgbClr val="FFFFFF"/>
                </a:solidFill>
                <a:latin typeface="Courier New"/>
              </a:rPr>
              <a:t>number</a:t>
            </a:r>
          </a:p>
        </p:txBody>
      </p:sp>
      <p:sp>
        <p:nvSpPr>
          <p:cNvPr id="111" name="Text 106"/>
          <p:cNvSpPr txBox="1"/>
          <p:nvPr/>
        </p:nvSpPr>
        <p:spPr>
          <a:xfrm>
            <a:off x="10716767" y="2724912"/>
            <a:ext cx="1024128" cy="228600"/>
          </a:xfrm>
          <a:prstGeom prst="rect">
            <a:avLst/>
          </a:prstGeom>
          <a:noFill/>
        </p:spPr>
        <p:txBody>
          <a:bodyPr wrap="square" lIns="0" rIns="0" tIns="0" bIns="0" anchor="ctr">
            <a:spAutoFit/>
          </a:bodyPr>
          <a:lstStyle/>
          <a:p>
            <a:r>
              <a:rPr sz="610" b="0" i="0">
                <a:solidFill>
                  <a:srgbClr val="FF0069"/>
                </a:solidFill>
                <a:latin typeface="Courier New"/>
              </a:rPr>
              <a:t>0 (numeric-safe)</a:t>
            </a:r>
          </a:p>
        </p:txBody>
      </p:sp>
      <p:sp>
        <p:nvSpPr>
          <p:cNvPr id="112" name="Shape 107"/>
          <p:cNvSpPr/>
          <p:nvPr/>
        </p:nvSpPr>
        <p:spPr>
          <a:xfrm>
            <a:off x="8778240" y="3246120"/>
            <a:ext cx="2999232" cy="1965960"/>
          </a:xfrm>
          <a:prstGeom prst="roundRect">
            <a:avLst>
              <a:gd name="adj" fmla="val 5000"/>
            </a:avLst>
          </a:prstGeom>
          <a:solidFill>
            <a:srgbClr val="141414"/>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 108"/>
          <p:cNvSpPr txBox="1"/>
          <p:nvPr/>
        </p:nvSpPr>
        <p:spPr>
          <a:xfrm>
            <a:off x="8887967" y="3282696"/>
            <a:ext cx="2779776" cy="219456"/>
          </a:xfrm>
          <a:prstGeom prst="rect">
            <a:avLst/>
          </a:prstGeom>
          <a:noFill/>
        </p:spPr>
        <p:txBody>
          <a:bodyPr wrap="square" lIns="0" rIns="0" tIns="0" bIns="0" anchor="ctr">
            <a:spAutoFit/>
          </a:bodyPr>
          <a:lstStyle/>
          <a:p>
            <a:r>
              <a:rPr sz="620" b="1" i="0" spc="120">
                <a:solidFill>
                  <a:srgbClr val="FFD700"/>
                </a:solidFill>
                <a:latin typeface="Trenda IG Text"/>
              </a:rPr>
              <a:t>WHO SEES WHAT</a:t>
            </a:r>
          </a:p>
        </p:txBody>
      </p:sp>
      <p:sp>
        <p:nvSpPr>
          <p:cNvPr id="114" name="Shape 109"/>
          <p:cNvSpPr/>
          <p:nvPr/>
        </p:nvSpPr>
        <p:spPr>
          <a:xfrm>
            <a:off x="8887967" y="3621024"/>
            <a:ext cx="91440" cy="9144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 110"/>
          <p:cNvSpPr txBox="1"/>
          <p:nvPr/>
        </p:nvSpPr>
        <p:spPr>
          <a:xfrm>
            <a:off x="9052560" y="3547872"/>
            <a:ext cx="2633472" cy="310896"/>
          </a:xfrm>
          <a:prstGeom prst="rect">
            <a:avLst/>
          </a:prstGeom>
          <a:noFill/>
        </p:spPr>
        <p:txBody>
          <a:bodyPr wrap="square" lIns="0" rIns="0" tIns="0" bIns="0" anchor="ctr">
            <a:spAutoFit/>
          </a:bodyPr>
          <a:lstStyle/>
          <a:p>
            <a:r>
              <a:rPr sz="680" b="1" i="0">
                <a:solidFill>
                  <a:srgbClr val="FFFFFF"/>
                </a:solidFill>
                <a:latin typeface="Trenda IG Text"/>
              </a:rPr>
              <a:t>Agents + knowledge graph</a:t>
            </a:r>
          </a:p>
          <a:p>
            <a:r>
              <a:rPr sz="590" b="0" i="0">
                <a:solidFill>
                  <a:srgbClr val="BFBFBF"/>
                </a:solidFill>
                <a:latin typeface="Trenda IG Text"/>
              </a:rPr>
              <a:t>masked values and counts</a:t>
            </a:r>
          </a:p>
        </p:txBody>
      </p:sp>
      <p:sp>
        <p:nvSpPr>
          <p:cNvPr id="116" name="Shape 111"/>
          <p:cNvSpPr/>
          <p:nvPr/>
        </p:nvSpPr>
        <p:spPr>
          <a:xfrm>
            <a:off x="8887967" y="3950208"/>
            <a:ext cx="91440" cy="9144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2"/>
          <p:cNvSpPr txBox="1"/>
          <p:nvPr/>
        </p:nvSpPr>
        <p:spPr>
          <a:xfrm>
            <a:off x="9052560" y="3877056"/>
            <a:ext cx="2633472" cy="310896"/>
          </a:xfrm>
          <a:prstGeom prst="rect">
            <a:avLst/>
          </a:prstGeom>
          <a:noFill/>
        </p:spPr>
        <p:txBody>
          <a:bodyPr wrap="square" lIns="0" rIns="0" tIns="0" bIns="0" anchor="ctr">
            <a:spAutoFit/>
          </a:bodyPr>
          <a:lstStyle/>
          <a:p>
            <a:r>
              <a:rPr sz="680" b="1" i="0">
                <a:solidFill>
                  <a:srgbClr val="FFFFFF"/>
                </a:solidFill>
                <a:latin typeface="Trenda IG Text"/>
              </a:rPr>
              <a:t>Looker, dashboards</a:t>
            </a:r>
          </a:p>
          <a:p>
            <a:r>
              <a:rPr sz="590" b="0" i="0">
                <a:solidFill>
                  <a:srgbClr val="BFBFBF"/>
                </a:solidFill>
                <a:latin typeface="Trenda IG Text"/>
              </a:rPr>
              <a:t>masked, aggregated views</a:t>
            </a:r>
          </a:p>
        </p:txBody>
      </p:sp>
      <p:sp>
        <p:nvSpPr>
          <p:cNvPr id="118" name="Shape 113"/>
          <p:cNvSpPr/>
          <p:nvPr/>
        </p:nvSpPr>
        <p:spPr>
          <a:xfrm>
            <a:off x="8887967" y="4279392"/>
            <a:ext cx="91440" cy="9144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4"/>
          <p:cNvSpPr txBox="1"/>
          <p:nvPr/>
        </p:nvSpPr>
        <p:spPr>
          <a:xfrm>
            <a:off x="9052560" y="4206240"/>
            <a:ext cx="2633472" cy="310896"/>
          </a:xfrm>
          <a:prstGeom prst="rect">
            <a:avLst/>
          </a:prstGeom>
          <a:noFill/>
        </p:spPr>
        <p:txBody>
          <a:bodyPr wrap="square" lIns="0" rIns="0" tIns="0" bIns="0" anchor="ctr">
            <a:spAutoFit/>
          </a:bodyPr>
          <a:lstStyle/>
          <a:p>
            <a:r>
              <a:rPr sz="680" b="1" i="0">
                <a:solidFill>
                  <a:srgbClr val="FFFFFF"/>
                </a:solidFill>
                <a:latin typeface="Trenda IG Text"/>
              </a:rPr>
              <a:t>SME + tech lead (G2)</a:t>
            </a:r>
          </a:p>
          <a:p>
            <a:r>
              <a:rPr sz="590" b="0" i="0">
                <a:solidFill>
                  <a:srgbClr val="BFBFBF"/>
                </a:solidFill>
                <a:latin typeface="Trenda IG Text"/>
              </a:rPr>
              <a:t>masked pre-send report</a:t>
            </a:r>
          </a:p>
        </p:txBody>
      </p:sp>
      <p:sp>
        <p:nvSpPr>
          <p:cNvPr id="120" name="Shape 115"/>
          <p:cNvSpPr/>
          <p:nvPr/>
        </p:nvSpPr>
        <p:spPr>
          <a:xfrm>
            <a:off x="8887967" y="4608576"/>
            <a:ext cx="91440" cy="9144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6"/>
          <p:cNvSpPr txBox="1"/>
          <p:nvPr/>
        </p:nvSpPr>
        <p:spPr>
          <a:xfrm>
            <a:off x="9052560" y="4535424"/>
            <a:ext cx="2633472" cy="310896"/>
          </a:xfrm>
          <a:prstGeom prst="rect">
            <a:avLst/>
          </a:prstGeom>
          <a:noFill/>
        </p:spPr>
        <p:txBody>
          <a:bodyPr wrap="square" lIns="0" rIns="0" tIns="0" bIns="0" anchor="ctr">
            <a:spAutoFit/>
          </a:bodyPr>
          <a:lstStyle/>
          <a:p>
            <a:r>
              <a:rPr sz="680" b="1" i="0">
                <a:solidFill>
                  <a:srgbClr val="FFFFFF"/>
                </a:solidFill>
                <a:latin typeface="Trenda IG Text"/>
              </a:rPr>
              <a:t>Release step (system)</a:t>
            </a:r>
          </a:p>
          <a:p>
            <a:r>
              <a:rPr sz="590" b="0" i="0">
                <a:solidFill>
                  <a:srgbClr val="BFBFBF"/>
                </a:solidFill>
                <a:latin typeface="Trenda IG Text"/>
              </a:rPr>
              <a:t>raw-access service account, minimum fields, after G2 + G3</a:t>
            </a:r>
          </a:p>
        </p:txBody>
      </p:sp>
      <p:sp>
        <p:nvSpPr>
          <p:cNvPr id="122" name="Shape 117"/>
          <p:cNvSpPr/>
          <p:nvPr/>
        </p:nvSpPr>
        <p:spPr>
          <a:xfrm>
            <a:off x="8887967" y="4937760"/>
            <a:ext cx="91440" cy="9144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18"/>
          <p:cNvSpPr txBox="1"/>
          <p:nvPr/>
        </p:nvSpPr>
        <p:spPr>
          <a:xfrm>
            <a:off x="9052560" y="4864608"/>
            <a:ext cx="2633472" cy="310896"/>
          </a:xfrm>
          <a:prstGeom prst="rect">
            <a:avLst/>
          </a:prstGeom>
          <a:noFill/>
        </p:spPr>
        <p:txBody>
          <a:bodyPr wrap="square" lIns="0" rIns="0" tIns="0" bIns="0" anchor="ctr">
            <a:spAutoFit/>
          </a:bodyPr>
          <a:lstStyle/>
          <a:p>
            <a:r>
              <a:rPr sz="680" b="1" i="0">
                <a:solidFill>
                  <a:srgbClr val="FFFFFF"/>
                </a:solidFill>
                <a:latin typeface="Trenda IG Text"/>
              </a:rPr>
              <a:t>Marketing Cloud</a:t>
            </a:r>
          </a:p>
          <a:p>
            <a:r>
              <a:rPr sz="590" b="0" i="0">
                <a:solidFill>
                  <a:srgbClr val="BFBFBF"/>
                </a:solidFill>
                <a:latin typeface="Trenda IG Text"/>
              </a:rPr>
              <a:t>pulls only those fields, for one run</a:t>
            </a:r>
          </a:p>
        </p:txBody>
      </p:sp>
      <p:sp>
        <p:nvSpPr>
          <p:cNvPr id="124" name="Shape 119"/>
          <p:cNvSpPr/>
          <p:nvPr/>
        </p:nvSpPr>
        <p:spPr>
          <a:xfrm>
            <a:off x="411480" y="5376672"/>
            <a:ext cx="2738628"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Shape 120"/>
          <p:cNvSpPr/>
          <p:nvPr/>
        </p:nvSpPr>
        <p:spPr>
          <a:xfrm>
            <a:off x="411480" y="5376672"/>
            <a:ext cx="54864" cy="841248"/>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1"/>
          <p:cNvSpPr txBox="1"/>
          <p:nvPr/>
        </p:nvSpPr>
        <p:spPr>
          <a:xfrm>
            <a:off x="594360" y="5449824"/>
            <a:ext cx="2464308" cy="731520"/>
          </a:xfrm>
          <a:prstGeom prst="rect">
            <a:avLst/>
          </a:prstGeom>
          <a:noFill/>
        </p:spPr>
        <p:txBody>
          <a:bodyPr wrap="square" lIns="0" rIns="0" tIns="0" bIns="0" anchor="ctr">
            <a:spAutoFit/>
          </a:bodyPr>
          <a:lstStyle/>
          <a:p>
            <a:pPr>
              <a:spcAft>
                <a:spcPts val="200"/>
              </a:spcAft>
            </a:pPr>
            <a:r>
              <a:rPr sz="840" b="1" i="0">
                <a:solidFill>
                  <a:srgbClr val="FFFFFF"/>
                </a:solidFill>
                <a:latin typeface="Trenda IG Text"/>
              </a:rPr>
              <a:t>Human approval first</a:t>
            </a:r>
          </a:p>
          <a:p>
            <a:pPr>
              <a:spcAft>
                <a:spcPts val="200"/>
              </a:spcAft>
            </a:pPr>
            <a:r>
              <a:rPr sz="680" b="0" i="0">
                <a:solidFill>
                  <a:srgbClr val="BFBFBF"/>
                </a:solidFill>
                <a:latin typeface="Trenda IG Text"/>
              </a:rPr>
              <a:t>No policy until a Collibra steward approves the classification.</a:t>
            </a:r>
          </a:p>
        </p:txBody>
      </p:sp>
      <p:sp>
        <p:nvSpPr>
          <p:cNvPr id="127" name="Shape 122"/>
          <p:cNvSpPr/>
          <p:nvPr/>
        </p:nvSpPr>
        <p:spPr>
          <a:xfrm>
            <a:off x="3287268" y="5376672"/>
            <a:ext cx="2738628"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Shape 123"/>
          <p:cNvSpPr/>
          <p:nvPr/>
        </p:nvSpPr>
        <p:spPr>
          <a:xfrm>
            <a:off x="3287268" y="5376672"/>
            <a:ext cx="54864" cy="841248"/>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4"/>
          <p:cNvSpPr txBox="1"/>
          <p:nvPr/>
        </p:nvSpPr>
        <p:spPr>
          <a:xfrm>
            <a:off x="3470148" y="5449824"/>
            <a:ext cx="2464308" cy="731520"/>
          </a:xfrm>
          <a:prstGeom prst="rect">
            <a:avLst/>
          </a:prstGeom>
          <a:noFill/>
        </p:spPr>
        <p:txBody>
          <a:bodyPr wrap="square" lIns="0" rIns="0" tIns="0" bIns="0" anchor="ctr">
            <a:spAutoFit/>
          </a:bodyPr>
          <a:lstStyle/>
          <a:p>
            <a:pPr>
              <a:spcAft>
                <a:spcPts val="200"/>
              </a:spcAft>
            </a:pPr>
            <a:r>
              <a:rPr sz="840" b="1" i="0">
                <a:solidFill>
                  <a:srgbClr val="FFFFFF"/>
                </a:solidFill>
                <a:latin typeface="Trenda IG Text"/>
              </a:rPr>
              <a:t>Dry run before apply</a:t>
            </a:r>
          </a:p>
          <a:p>
            <a:pPr>
              <a:spcAft>
                <a:spcPts val="200"/>
              </a:spcAft>
            </a:pPr>
            <a:r>
              <a:rPr sz="680" b="0" i="0">
                <a:solidFill>
                  <a:srgbClr val="BFBFBF"/>
                </a:solidFill>
                <a:latin typeface="Trenda IG Text"/>
              </a:rPr>
              <a:t>Every run can report its changes without making them.</a:t>
            </a:r>
          </a:p>
        </p:txBody>
      </p:sp>
      <p:sp>
        <p:nvSpPr>
          <p:cNvPr id="130" name="Shape 125"/>
          <p:cNvSpPr/>
          <p:nvPr/>
        </p:nvSpPr>
        <p:spPr>
          <a:xfrm>
            <a:off x="6163056" y="5376672"/>
            <a:ext cx="2738628"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Shape 126"/>
          <p:cNvSpPr/>
          <p:nvPr/>
        </p:nvSpPr>
        <p:spPr>
          <a:xfrm>
            <a:off x="6163056" y="5376672"/>
            <a:ext cx="54864" cy="841248"/>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27"/>
          <p:cNvSpPr txBox="1"/>
          <p:nvPr/>
        </p:nvSpPr>
        <p:spPr>
          <a:xfrm>
            <a:off x="6345936" y="5449824"/>
            <a:ext cx="2464308" cy="731520"/>
          </a:xfrm>
          <a:prstGeom prst="rect">
            <a:avLst/>
          </a:prstGeom>
          <a:noFill/>
        </p:spPr>
        <p:txBody>
          <a:bodyPr wrap="square" lIns="0" rIns="0" tIns="0" bIns="0" anchor="ctr">
            <a:spAutoFit/>
          </a:bodyPr>
          <a:lstStyle/>
          <a:p>
            <a:pPr>
              <a:spcAft>
                <a:spcPts val="200"/>
              </a:spcAft>
            </a:pPr>
            <a:r>
              <a:rPr sz="840" b="1" i="0">
                <a:solidFill>
                  <a:srgbClr val="FFFFFF"/>
                </a:solidFill>
                <a:latin typeface="Trenda IG Text"/>
              </a:rPr>
              <a:t>Human-gated promotion</a:t>
            </a:r>
          </a:p>
          <a:p>
            <a:pPr>
              <a:spcAft>
                <a:spcPts val="200"/>
              </a:spcAft>
            </a:pPr>
            <a:r>
              <a:rPr sz="680" b="0" i="0">
                <a:solidFill>
                  <a:srgbClr val="BFBFBF"/>
                </a:solidFill>
                <a:latin typeface="Trenda IG Text"/>
              </a:rPr>
              <a:t>Production rollout by project; the pipeline never promotes itself.</a:t>
            </a:r>
          </a:p>
        </p:txBody>
      </p:sp>
      <p:sp>
        <p:nvSpPr>
          <p:cNvPr id="133" name="Shape 128"/>
          <p:cNvSpPr/>
          <p:nvPr/>
        </p:nvSpPr>
        <p:spPr>
          <a:xfrm>
            <a:off x="9038844" y="5376672"/>
            <a:ext cx="2738628" cy="84124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Shape 129"/>
          <p:cNvSpPr/>
          <p:nvPr/>
        </p:nvSpPr>
        <p:spPr>
          <a:xfrm>
            <a:off x="9038844" y="5376672"/>
            <a:ext cx="54864" cy="841248"/>
          </a:xfrm>
          <a:prstGeom prst="rect">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30"/>
          <p:cNvSpPr txBox="1"/>
          <p:nvPr/>
        </p:nvSpPr>
        <p:spPr>
          <a:xfrm>
            <a:off x="9221724" y="5449824"/>
            <a:ext cx="2464308" cy="731520"/>
          </a:xfrm>
          <a:prstGeom prst="rect">
            <a:avLst/>
          </a:prstGeom>
          <a:noFill/>
        </p:spPr>
        <p:txBody>
          <a:bodyPr wrap="square" lIns="0" rIns="0" tIns="0" bIns="0" anchor="ctr">
            <a:spAutoFit/>
          </a:bodyPr>
          <a:lstStyle/>
          <a:p>
            <a:pPr>
              <a:spcAft>
                <a:spcPts val="200"/>
              </a:spcAft>
            </a:pPr>
            <a:r>
              <a:rPr sz="840" b="1" i="0">
                <a:solidFill>
                  <a:srgbClr val="FFFFFF"/>
                </a:solidFill>
                <a:latin typeface="Trenda IG Text"/>
              </a:rPr>
              <a:t>Auditable bindings</a:t>
            </a:r>
          </a:p>
          <a:p>
            <a:pPr>
              <a:spcAft>
                <a:spcPts val="200"/>
              </a:spcAft>
            </a:pPr>
            <a:r>
              <a:rPr sz="680" b="0" i="0">
                <a:solidFill>
                  <a:srgbClr val="BFBFBF"/>
                </a:solidFill>
                <a:latin typeface="Trenda IG Text"/>
              </a:rPr>
              <a:t>Each applied or removed policy is recorded and checked against the schema.</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