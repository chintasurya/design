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2F2F2"/>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2F2F2"/>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2F2F2"/>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2F2F2"/>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6EA8FF"/>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6EA8FF"/>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F2F2F2"/>
                </a:solidFill>
                <a:latin typeface="Trenda IG Text"/>
              </a:rPr>
              <a:t>Fail-closed: </a:t>
            </a:r>
            <a:r>
              <a:rPr sz="58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2F2F2"/>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F2F2F2"/>
                </a:solidFill>
                <a:latin typeface="Trenda IG Text"/>
              </a:rPr>
              <a:t>WHAT MASKING ALONE DOES NOT GIVE US, AND WHAT WE ADD</a:t>
            </a:r>
            <a:r>
              <a:rPr sz="64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F2F2F2"/>
                </a:solidFill>
                <a:latin typeface="Trenda IG Text"/>
              </a:rPr>
              <a:t>HOW WE PROVE IT  </a:t>
            </a:r>
            <a:r>
              <a:rPr sz="59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E976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5B8DE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0  </a:t>
            </a:r>
            <a:r>
              <a:rPr sz="62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before 1</a:t>
            </a:r>
          </a:p>
        </p:txBody>
      </p:sp>
      <p:sp>
        <p:nvSpPr>
          <p:cNvPr id="11" name="Shape 10"/>
          <p:cNvSpPr/>
          <p:nvPr/>
        </p:nvSpPr>
        <p:spPr>
          <a:xfrm>
            <a:off x="52120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B3B3B3"/>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1  </a:t>
            </a:r>
            <a:r>
              <a:rPr sz="62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 · 2 · 4 · 5 · 6</a:t>
            </a:r>
          </a:p>
        </p:txBody>
      </p:sp>
      <p:sp>
        <p:nvSpPr>
          <p:cNvPr id="27" name="Shape 26"/>
          <p:cNvSpPr/>
          <p:nvPr/>
        </p:nvSpPr>
        <p:spPr>
          <a:xfrm>
            <a:off x="215537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B3B3B3"/>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2  </a:t>
            </a:r>
            <a:r>
              <a:rPr sz="62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3</a:t>
            </a:r>
          </a:p>
        </p:txBody>
      </p:sp>
      <p:sp>
        <p:nvSpPr>
          <p:cNvPr id="43" name="Shape 42"/>
          <p:cNvSpPr/>
          <p:nvPr/>
        </p:nvSpPr>
        <p:spPr>
          <a:xfrm>
            <a:off x="3789534"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B3B3B3"/>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B3B3B3"/>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3  </a:t>
            </a:r>
            <a:r>
              <a:rPr sz="62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6 → 7 · 8 · 9</a:t>
            </a:r>
          </a:p>
        </p:txBody>
      </p:sp>
      <p:sp>
        <p:nvSpPr>
          <p:cNvPr id="57" name="Shape 56"/>
          <p:cNvSpPr/>
          <p:nvPr/>
        </p:nvSpPr>
        <p:spPr>
          <a:xfrm>
            <a:off x="542369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4  </a:t>
            </a:r>
            <a:r>
              <a:rPr sz="62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10 · 11 · 12</a:t>
            </a:r>
          </a:p>
        </p:txBody>
      </p:sp>
      <p:sp>
        <p:nvSpPr>
          <p:cNvPr id="71" name="Shape 70"/>
          <p:cNvSpPr/>
          <p:nvPr/>
        </p:nvSpPr>
        <p:spPr>
          <a:xfrm>
            <a:off x="705786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1A1A1A"/>
                </a:solidFill>
                <a:latin typeface="Trenda IG Text"/>
              </a:rPr>
              <a:t>PHASE 5  </a:t>
            </a:r>
            <a:r>
              <a:rPr sz="62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B3B3B3"/>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B3B3B3"/>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B3B3B3"/>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B3B3B3"/>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FFD700"/>
                </a:solidFill>
                <a:latin typeface="Trenda IG Text"/>
              </a:rPr>
              <a:t>EXIT  </a:t>
            </a:r>
          </a:p>
          <a:p>
            <a:pPr>
              <a:spcAft>
                <a:spcPts val="100"/>
              </a:spcAft>
            </a:pPr>
            <a:r>
              <a:rPr sz="6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6  </a:t>
            </a:r>
            <a:r>
              <a:rPr sz="62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20 + feedback</a:t>
            </a:r>
          </a:p>
        </p:txBody>
      </p:sp>
      <p:sp>
        <p:nvSpPr>
          <p:cNvPr id="103" name="Shape 102"/>
          <p:cNvSpPr/>
          <p:nvPr/>
        </p:nvSpPr>
        <p:spPr>
          <a:xfrm>
            <a:off x="1032618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F2F2F2"/>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62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62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62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F2F2F2"/>
                </a:solidFill>
                <a:latin typeface="Trenda IG Text"/>
              </a:rPr>
              <a:t>Nothing in Phase 5 touches real patients until Phases 2 and 4 pass their exits. </a:t>
            </a:r>
            <a:r>
              <a:rPr sz="660" b="0" i="0">
                <a:solidFill>
                  <a:srgbClr val="B3B3B3"/>
                </a:solidFill>
                <a:latin typeface="Trenda IG Text"/>
              </a:rPr>
              <a:t>No speed or ROI number is committed before Phase 6 compares the pilot with today's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