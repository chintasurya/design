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 id="327" r:id="rId19"/>
    <p:sldId id="328"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FF0069"/>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700" b="1" i="0">
                <a:solidFill>
                  <a:srgbClr val="FFD700"/>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700" b="1" i="0">
                <a:solidFill>
                  <a:srgbClr val="FFD700"/>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700" b="1" i="0">
                <a:solidFill>
                  <a:srgbClr val="FFD700"/>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700" b="1" i="0">
                <a:solidFill>
                  <a:srgbClr val="FFD700"/>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FFFFF"/>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100" name="Shape 93"/>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106" name="Shape 99"/>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12" name="Shape 105"/>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FFFFFF"/>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2" name="Shape 136"/>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per Health Cloud task, story to UAT</a:t>
            </a:r>
          </a:p>
        </p:txBody>
      </p:sp>
      <p:sp>
        <p:nvSpPr>
          <p:cNvPr id="156" name="Shape 140"/>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0" name="Shape 144"/>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checks consent, STOP, links, hours. </a:t>
            </a:r>
            <a:r>
              <a:rPr sz="700" b="1" i="0">
                <a:solidFill>
                  <a:srgbClr val="FF0069"/>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2 · 4 · 5 · 6</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3</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FFFFFF"/>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7" name="Shape 56"/>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1" name="Shape 70"/>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3" name="Shape 102"/>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2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to a person</a:t>
            </a:r>
          </a:p>
          <a:p>
            <a:pPr>
              <a:spcAft>
                <a:spcPts val="100"/>
              </a:spcAft>
            </a:pPr>
            <a:r>
              <a:rPr sz="70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7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7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FFFFFF"/>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HARNESS</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SQUAD</a:t>
            </a:r>
            <a:r>
              <a:rPr sz="700" b="0" i="0">
                <a:solidFill>
                  <a:srgbClr val="B3B3B3"/>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700" b="1" i="0">
                <a:solidFill>
                  <a:srgbClr val="F2F2F2"/>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700" b="1" i="0">
                <a:solidFill>
                  <a:srgbClr val="F2F2F2"/>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overnight. </a:t>
            </a:r>
            <a:r>
              <a:rPr sz="700" b="1" i="0">
                <a:solidFill>
                  <a:srgbClr val="F2F2F2"/>
                </a:solidFill>
                <a:latin typeface="Trenda IG Text"/>
              </a:rPr>
              <a:t>Developer </a:t>
            </a:r>
            <a:r>
              <a:rPr sz="700" b="0" i="0">
                <a:solidFill>
                  <a:srgbClr val="B3B3B3"/>
                </a:solidFill>
                <a:latin typeface="Trenda IG Text"/>
              </a:rPr>
              <a:t>directs and approves. </a:t>
            </a:r>
            <a:r>
              <a:rPr sz="700" b="1" i="0">
                <a:solidFill>
                  <a:srgbClr val="F2F2F2"/>
                </a:solidFill>
                <a:latin typeface="Trenda IG Text"/>
              </a:rPr>
              <a:t>QA </a:t>
            </a:r>
            <a:r>
              <a:rPr sz="700" b="0" i="0">
                <a:solidFill>
                  <a:srgbClr val="B3B3B3"/>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POD</a:t>
            </a:r>
            <a:r>
              <a:rPr sz="700" b="0" i="0">
                <a:solidFill>
                  <a:srgbClr val="B3B3B3"/>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33" name="Shape 31"/>
          <p:cNvSpPr/>
          <p:nvPr/>
        </p:nvSpPr>
        <p:spPr>
          <a:xfrm>
            <a:off x="4364736" y="1700784"/>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700" b="1" i="0">
                <a:solidFill>
                  <a:srgbClr val="F2F2F2"/>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700" b="0" i="0">
                <a:solidFill>
                  <a:srgbClr val="B3B3B3"/>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700" b="1" i="0">
                <a:solidFill>
                  <a:srgbClr val="00D6F2"/>
                </a:solidFill>
                <a:latin typeface="Trenda IG Text"/>
              </a:rPr>
              <a:t>about 1 week</a:t>
            </a:r>
          </a:p>
        </p:txBody>
      </p:sp>
      <p:sp>
        <p:nvSpPr>
          <p:cNvPr id="37" name="Shape 35"/>
          <p:cNvSpPr/>
          <p:nvPr/>
        </p:nvSpPr>
        <p:spPr>
          <a:xfrm>
            <a:off x="4364736" y="1965960"/>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700" b="1" i="0">
                <a:solidFill>
                  <a:srgbClr val="F2F2F2"/>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700" b="0" i="0">
                <a:solidFill>
                  <a:srgbClr val="B3B3B3"/>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700" b="1" i="0">
                <a:solidFill>
                  <a:srgbClr val="00D6F2"/>
                </a:solidFill>
                <a:latin typeface="Trenda IG Text"/>
              </a:rPr>
              <a:t>about 20 hours</a:t>
            </a:r>
          </a:p>
        </p:txBody>
      </p:sp>
      <p:sp>
        <p:nvSpPr>
          <p:cNvPr id="41" name="Shape 39"/>
          <p:cNvSpPr/>
          <p:nvPr/>
        </p:nvSpPr>
        <p:spPr>
          <a:xfrm>
            <a:off x="4364736" y="2231136"/>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700" b="1" i="0">
                <a:solidFill>
                  <a:srgbClr val="F2F2F2"/>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700" b="0" i="0">
                <a:solidFill>
                  <a:srgbClr val="B3B3B3"/>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700" b="1" i="0">
                <a:solidFill>
                  <a:srgbClr val="00D6F2"/>
                </a:solidFill>
                <a:latin typeface="Trenda IG Text"/>
              </a:rPr>
              <a:t>100%, same standards</a:t>
            </a:r>
          </a:p>
        </p:txBody>
      </p:sp>
      <p:sp>
        <p:nvSpPr>
          <p:cNvPr id="45" name="Shape 43"/>
          <p:cNvSpPr/>
          <p:nvPr/>
        </p:nvSpPr>
        <p:spPr>
          <a:xfrm>
            <a:off x="4364736" y="2496312"/>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700" b="1" i="0">
                <a:solidFill>
                  <a:srgbClr val="F2F2F2"/>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700" b="0" i="0">
                <a:solidFill>
                  <a:srgbClr val="B3B3B3"/>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700" b="1" i="0">
                <a:solidFill>
                  <a:srgbClr val="00D6F2"/>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700" b="0" i="0">
                <a:solidFill>
                  <a:srgbClr val="8C8C8C"/>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BUILD AND RUN</a:t>
            </a:r>
            <a:r>
              <a:rPr sz="700" b="0" i="0">
                <a:solidFill>
                  <a:srgbClr val="B3B3B3"/>
                </a:solidFill>
                <a:latin typeface="Trenda IG Text"/>
              </a:rPr>
              <a:t>   fixed fee, paid by gate</a:t>
            </a:r>
          </a:p>
        </p:txBody>
      </p:sp>
      <p:sp>
        <p:nvSpPr>
          <p:cNvPr id="53" name="Shape 51"/>
          <p:cNvSpPr/>
          <p:nvPr/>
        </p:nvSpPr>
        <p:spPr>
          <a:xfrm>
            <a:off x="8189976"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6" name="Shape 54"/>
          <p:cNvSpPr/>
          <p:nvPr/>
        </p:nvSpPr>
        <p:spPr>
          <a:xfrm>
            <a:off x="9367520"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700" b="0" i="0">
                <a:solidFill>
                  <a:srgbClr val="B3B3B3"/>
                </a:solidFill>
                <a:latin typeface="Trenda IG Text"/>
              </a:rPr>
              <a:t>months, seven phases</a:t>
            </a:r>
          </a:p>
        </p:txBody>
      </p:sp>
      <p:sp>
        <p:nvSpPr>
          <p:cNvPr id="59" name="Shape 57"/>
          <p:cNvSpPr/>
          <p:nvPr/>
        </p:nvSpPr>
        <p:spPr>
          <a:xfrm>
            <a:off x="10545064"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700" b="0" i="0">
                <a:solidFill>
                  <a:srgbClr val="B3B3B3"/>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700" b="1" i="0">
                <a:solidFill>
                  <a:srgbClr val="F2F2F2"/>
                </a:solidFill>
                <a:latin typeface="Trenda IG Text"/>
              </a:rPr>
              <a:t>From month 19 </a:t>
            </a:r>
            <a:r>
              <a:rPr sz="700" b="0" i="0">
                <a:solidFill>
                  <a:srgbClr val="B3B3B3"/>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700" b="1" i="0" spc="120">
                <a:solidFill>
                  <a:srgbClr val="F2F2F2"/>
                </a:solidFill>
                <a:latin typeface="Trenda IG Text"/>
              </a:rPr>
              <a:t>THE RETURN</a:t>
            </a:r>
            <a:r>
              <a:rPr sz="700" b="0" i="0">
                <a:solidFill>
                  <a:srgbClr val="B3B3B3"/>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as provided by Ascension</a:t>
            </a:r>
          </a:p>
        </p:txBody>
      </p:sp>
      <p:sp>
        <p:nvSpPr>
          <p:cNvPr id="70" name="Shape 68"/>
          <p:cNvSpPr/>
          <p:nvPr/>
        </p:nvSpPr>
        <p:spPr>
          <a:xfrm>
            <a:off x="2427732"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D6F2"/>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from go-live</a:t>
            </a:r>
          </a:p>
        </p:txBody>
      </p:sp>
      <p:sp>
        <p:nvSpPr>
          <p:cNvPr id="79" name="Shape 78"/>
          <p:cNvSpPr/>
          <p:nvPr/>
        </p:nvSpPr>
        <p:spPr>
          <a:xfrm>
            <a:off x="6204204"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$4.79M build + $0.23M usage</a:t>
            </a:r>
          </a:p>
        </p:txBody>
      </p:sp>
      <p:sp>
        <p:nvSpPr>
          <p:cNvPr id="83" name="Shape 82"/>
          <p:cNvSpPr/>
          <p:nvPr/>
        </p:nvSpPr>
        <p:spPr>
          <a:xfrm>
            <a:off x="8220456" y="3639312"/>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D6F2"/>
                </a:solidFill>
                <a:latin typeface="Trenda IG Text"/>
              </a:rPr>
              <a:t>Paid back in under 7 months</a:t>
            </a:r>
          </a:p>
          <a:p>
            <a:pPr>
              <a:spcAft>
                <a:spcPts val="200"/>
              </a:spcAft>
            </a:pPr>
            <a:r>
              <a:rPr sz="700" b="0" i="0">
                <a:solidFill>
                  <a:srgbClr val="B3B3B3"/>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FFD700"/>
                </a:solidFill>
                <a:latin typeface="Trenda IG Text"/>
              </a:rPr>
              <a:t>Floor we commit to</a:t>
            </a:r>
          </a:p>
          <a:p>
            <a:pPr>
              <a:spcAft>
                <a:spcPts val="200"/>
              </a:spcAft>
            </a:pPr>
            <a:r>
              <a:rPr sz="700" b="0" i="0">
                <a:solidFill>
                  <a:srgbClr val="B3B3B3"/>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KEEP IT HONEST</a:t>
            </a:r>
          </a:p>
          <a:p>
            <a:pPr>
              <a:spcAft>
                <a:spcPts val="100"/>
              </a:spcAft>
            </a:pPr>
            <a:r>
              <a:rPr sz="700" b="0" i="0">
                <a:solidFill>
                  <a:srgbClr val="8C8C8C"/>
                </a:solidFill>
                <a:latin typeface="Trenda IG Text"/>
              </a:rPr>
              <a:t>how the numbers hold</a:t>
            </a:r>
          </a:p>
        </p:txBody>
      </p:sp>
      <p:sp>
        <p:nvSpPr>
          <p:cNvPr id="90" name="Shape 89"/>
          <p:cNvSpPr/>
          <p:nvPr/>
        </p:nvSpPr>
        <p:spPr>
          <a:xfrm>
            <a:off x="1645920"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Baseline every pod first</a:t>
            </a:r>
          </a:p>
          <a:p>
            <a:pPr>
              <a:spcAft>
                <a:spcPts val="100"/>
              </a:spcAft>
            </a:pPr>
            <a:r>
              <a:rPr sz="700" b="0" i="0">
                <a:solidFill>
                  <a:srgbClr val="B3B3B3"/>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Year 1 at 60-70%</a:t>
            </a:r>
          </a:p>
          <a:p>
            <a:pPr>
              <a:spcAft>
                <a:spcPts val="100"/>
              </a:spcAft>
            </a:pPr>
            <a:r>
              <a:rPr sz="700" b="0" i="0">
                <a:solidFill>
                  <a:srgbClr val="B3B3B3"/>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Approvals stay human</a:t>
            </a:r>
          </a:p>
          <a:p>
            <a:pPr>
              <a:spcAft>
                <a:spcPts val="100"/>
              </a:spcAft>
            </a:pPr>
            <a:r>
              <a:rPr sz="700" b="0" i="0">
                <a:solidFill>
                  <a:srgbClr val="B3B3B3"/>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Delivery only</a:t>
            </a:r>
          </a:p>
          <a:p>
            <a:pPr>
              <a:spcAft>
                <a:spcPts val="100"/>
              </a:spcAft>
            </a:pPr>
            <a:r>
              <a:rPr sz="700" b="0" i="0">
                <a:solidFill>
                  <a:srgbClr val="B3B3B3"/>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