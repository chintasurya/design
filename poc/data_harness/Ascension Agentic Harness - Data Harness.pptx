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 id="326"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E6E6E6"/>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00D6F2"/>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161616"/>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DELIVERY AGENTS</a:t>
            </a:r>
            <a:r>
              <a:rPr sz="700" b="0" i="0">
                <a:solidFill>
                  <a:srgbClr val="FFFFFF"/>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6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6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6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6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6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6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6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78" name="Shape 71"/>
          <p:cNvSpPr/>
          <p:nvPr/>
        </p:nvSpPr>
        <p:spPr>
          <a:xfrm>
            <a:off x="3063240" y="3321100"/>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6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6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6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600" b="0" i="0">
                <a:solidFill>
                  <a:srgbClr val="BFBFBF"/>
                </a:solidFill>
                <a:latin typeface="Trenda IG Text"/>
              </a:rPr>
              <a:t>Platform-ready specs; journeys through Marketing Cloud's native automation</a:t>
            </a:r>
          </a:p>
        </p:txBody>
      </p:sp>
      <p:sp>
        <p:nvSpPr>
          <p:cNvPr id="113" name="Shape 106"/>
          <p:cNvSpPr/>
          <p:nvPr/>
        </p:nvSpPr>
        <p:spPr>
          <a:xfrm>
            <a:off x="7955279" y="4694529"/>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6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29" name="Shape 122"/>
          <p:cNvSpPr/>
          <p:nvPr/>
        </p:nvSpPr>
        <p:spPr>
          <a:xfrm>
            <a:off x="9006840" y="1170432"/>
            <a:ext cx="277063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36" name="Shape 128"/>
          <p:cNvSpPr/>
          <p:nvPr/>
        </p:nvSpPr>
        <p:spPr>
          <a:xfrm>
            <a:off x="9116567" y="2267712"/>
            <a:ext cx="937259" cy="164592"/>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E6E6E6"/>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D6F2"/>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42" name="Shape 133"/>
          <p:cNvSpPr/>
          <p:nvPr/>
        </p:nvSpPr>
        <p:spPr>
          <a:xfrm>
            <a:off x="9116567" y="3291840"/>
            <a:ext cx="1490472"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490472"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 CAMPAIGN AGENTS</a:t>
            </a:r>
          </a:p>
        </p:txBody>
      </p:sp>
      <p:sp>
        <p:nvSpPr>
          <p:cNvPr id="144" name="Shape 135"/>
          <p:cNvSpPr/>
          <p:nvPr/>
        </p:nvSpPr>
        <p:spPr>
          <a:xfrm>
            <a:off x="10661903" y="3291840"/>
            <a:ext cx="585216"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661903" y="3291840"/>
            <a:ext cx="585216" cy="164592"/>
          </a:xfrm>
          <a:prstGeom prst="rect">
            <a:avLst/>
          </a:prstGeom>
          <a:noFill/>
        </p:spPr>
        <p:txBody>
          <a:bodyPr wrap="square" lIns="0" rIns="0" tIns="0" bIns="0" anchor="ctr">
            <a:spAutoFit/>
          </a:bodyPr>
          <a:lstStyle/>
          <a:p>
            <a:pPr algn="ctr"/>
            <a:r>
              <a:rPr sz="560" b="1" i="0" spc="80">
                <a:solidFill>
                  <a:srgbClr val="00D6F2"/>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E6E6E6"/>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660" b="1" i="0">
                <a:solidFill>
                  <a:srgbClr val="00D6F2"/>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FD7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2F2F2"/>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2F2F2"/>
                </a:solidFill>
                <a:latin typeface="Trenda IG Text"/>
              </a:rPr>
              <a:t>Harness</a:t>
            </a:r>
          </a:p>
          <a:p>
            <a:pPr>
              <a:lnSpc>
                <a:spcPct val="90000"/>
              </a:lnSpc>
            </a:pPr>
            <a:r>
              <a:rPr sz="1000" b="0" i="0">
                <a:solidFill>
                  <a:srgbClr val="F2F2F2"/>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2F2F2"/>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3B3B3"/>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2F2F2"/>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3B3B3"/>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2F2F2"/>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3B3B3"/>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2F2F2"/>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3B3B3"/>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2F2F2"/>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3B3B3"/>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2F2F2"/>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2F2F2"/>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2F2F2"/>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2F2F2"/>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2F2F2"/>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2F2F2"/>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2F2F2"/>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2F2F2"/>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2F2F2"/>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2F2F2"/>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2F2F2"/>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2F2F2"/>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2F2F2"/>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2F2F2"/>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2F2F2"/>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2F2F2"/>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2F2F2"/>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2F2F2"/>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2F2F2"/>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3B3B3"/>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2F2F2"/>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2F2F2"/>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3B3B3"/>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2F2F2"/>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2F2F2"/>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3B3B3"/>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2F2F2"/>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2F2F2"/>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2F2F2"/>
                </a:solidFill>
                <a:latin typeface="Trenda IG Text"/>
              </a:rPr>
              <a:t>Infrastructure</a:t>
            </a:r>
          </a:p>
          <a:p>
            <a:r>
              <a:rPr sz="650" b="0" i="0">
                <a:solidFill>
                  <a:srgbClr val="B3B3B3"/>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3B3B3"/>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3B3B3"/>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3B3B3"/>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2F2F2"/>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3B3B3"/>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2F2F2"/>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3B3B3"/>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2F2F2"/>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61616"/>
          </a:solid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2F2F2"/>
                </a:solidFill>
                <a:latin typeface="Trenda IG Text"/>
              </a:rPr>
              <a:t>ENGINEERING CONTEXT KNOWLEDGE GRAPH</a:t>
            </a:r>
            <a:r>
              <a:rPr sz="700" b="0" i="0">
                <a:solidFill>
                  <a:srgbClr val="B3B3B3"/>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3B3B3"/>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3B3B3"/>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3B3B3"/>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3B3B3"/>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3B3B3"/>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3B3B3"/>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3333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F2F2F2"/>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F2F2F2"/>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2F2F2"/>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2F2F2"/>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2F2F2"/>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3B3B3"/>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2F2F2"/>
                </a:solidFill>
                <a:latin typeface="Trenda IG Text"/>
              </a:rPr>
              <a:t>WHERE OUTPUT LANDS</a:t>
            </a:r>
            <a:r>
              <a:rPr sz="700" b="0" i="0">
                <a:solidFill>
                  <a:srgbClr val="B3B3B3"/>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Jira</a:t>
            </a:r>
            <a:r>
              <a:rPr sz="600" b="0" i="0">
                <a:solidFill>
                  <a:srgbClr val="B3B3B3"/>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Confluence</a:t>
            </a:r>
            <a:r>
              <a:rPr sz="600" b="0" i="0">
                <a:solidFill>
                  <a:srgbClr val="B3B3B3"/>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Git</a:t>
            </a:r>
            <a:r>
              <a:rPr sz="600" b="0" i="0">
                <a:solidFill>
                  <a:srgbClr val="B3B3B3"/>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Salesforce DEV</a:t>
            </a:r>
            <a:r>
              <a:rPr sz="600" b="0" i="0">
                <a:solidFill>
                  <a:srgbClr val="B3B3B3"/>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Copado</a:t>
            </a:r>
            <a:r>
              <a:rPr sz="600" b="0" i="0">
                <a:solidFill>
                  <a:srgbClr val="B3B3B3"/>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Zephyr Scale</a:t>
            </a:r>
            <a:r>
              <a:rPr sz="600" b="0" i="0">
                <a:solidFill>
                  <a:srgbClr val="B3B3B3"/>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2F2F2"/>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640" b="1" i="0" spc="120">
                <a:solidFill>
                  <a:srgbClr val="F2F2F2"/>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566928" cy="512064"/>
          </a:xfrm>
          <a:prstGeom prst="rect">
            <a:avLst/>
          </a:prstGeom>
          <a:noFill/>
        </p:spPr>
        <p:txBody>
          <a:bodyPr wrap="square" lIns="0" rIns="0" tIns="0" bIns="0" anchor="ctr">
            <a:spAutoFit/>
          </a:bodyPr>
          <a:lstStyle/>
          <a:p>
            <a:r>
              <a:rPr sz="540" b="1" i="0">
                <a:solidFill>
                  <a:srgbClr val="F2F2F2"/>
                </a:solidFill>
                <a:latin typeface="Trenda IG Text"/>
              </a:rPr>
              <a:t>REVIEW</a:t>
            </a:r>
          </a:p>
          <a:p>
            <a:r>
              <a:rPr sz="48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566928" cy="512064"/>
          </a:xfrm>
          <a:prstGeom prst="rect">
            <a:avLst/>
          </a:prstGeom>
          <a:noFill/>
        </p:spPr>
        <p:txBody>
          <a:bodyPr wrap="square" lIns="0" rIns="0" tIns="0" bIns="0" anchor="ctr">
            <a:spAutoFit/>
          </a:bodyPr>
          <a:lstStyle/>
          <a:p>
            <a:r>
              <a:rPr sz="540" b="1" i="0">
                <a:solidFill>
                  <a:srgbClr val="F2F2F2"/>
                </a:solidFill>
                <a:latin typeface="Trenda IG Text"/>
              </a:rPr>
              <a:t>GOVERNANCE</a:t>
            </a:r>
          </a:p>
          <a:p>
            <a:r>
              <a:rPr sz="48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566928" cy="512064"/>
          </a:xfrm>
          <a:prstGeom prst="rect">
            <a:avLst/>
          </a:prstGeom>
          <a:noFill/>
        </p:spPr>
        <p:txBody>
          <a:bodyPr wrap="square" lIns="0" rIns="0" tIns="0" bIns="0" anchor="ctr">
            <a:spAutoFit/>
          </a:bodyPr>
          <a:lstStyle/>
          <a:p>
            <a:r>
              <a:rPr sz="540" b="1" i="0">
                <a:solidFill>
                  <a:srgbClr val="F2F2F2"/>
                </a:solidFill>
                <a:latin typeface="Trenda IG Text"/>
              </a:rPr>
              <a:t>COMPUTE</a:t>
            </a:r>
          </a:p>
          <a:p>
            <a:r>
              <a:rPr sz="48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566928" cy="512064"/>
          </a:xfrm>
          <a:prstGeom prst="rect">
            <a:avLst/>
          </a:prstGeom>
          <a:noFill/>
        </p:spPr>
        <p:txBody>
          <a:bodyPr wrap="square" lIns="0" rIns="0" tIns="0" bIns="0" anchor="ctr">
            <a:spAutoFit/>
          </a:bodyPr>
          <a:lstStyle/>
          <a:p>
            <a:r>
              <a:rPr sz="540" b="1" i="0">
                <a:solidFill>
                  <a:srgbClr val="F2F2F2"/>
                </a:solidFill>
                <a:latin typeface="Trenda IG Text"/>
              </a:rPr>
              <a:t>TARGET</a:t>
            </a:r>
          </a:p>
          <a:p>
            <a:r>
              <a:rPr sz="480" b="0" i="0">
                <a:solidFill>
                  <a:srgbClr val="8C8C8C"/>
                </a:solidFill>
                <a:latin typeface="Courier New"/>
              </a:rPr>
              <a:t>dataplace</a:t>
            </a:r>
          </a:p>
        </p:txBody>
      </p:sp>
      <p:cxnSp>
        <p:nvCxnSpPr>
          <p:cNvPr id="22" name="Arrow 17"/>
          <p:cNvCxnSpPr/>
          <p:nvPr/>
        </p:nvCxnSpPr>
        <p:spPr>
          <a:xfrm>
            <a:off x="2148840" y="2276856"/>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203704"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203704" y="1719072"/>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081527" y="1719072"/>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136391"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136391" y="2276856"/>
            <a:ext cx="54865"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014216" y="2276856"/>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069080"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069080" y="2834640"/>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014216" y="2834640"/>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069080"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069080" y="2834640"/>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4946904" y="2834640"/>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001768"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001768" y="3392424"/>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879592" y="3392424"/>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5934456"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5934456" y="2276856"/>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014216" y="2386584"/>
            <a:ext cx="1453896"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468112" y="2386584"/>
            <a:ext cx="0" cy="237744"/>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468112" y="3044952"/>
            <a:ext cx="0" cy="137160"/>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32588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37160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DLP classification</a:t>
            </a:r>
          </a:p>
        </p:txBody>
      </p:sp>
      <p:sp>
        <p:nvSpPr>
          <p:cNvPr id="45" name="Shape 40"/>
          <p:cNvSpPr/>
          <p:nvPr/>
        </p:nvSpPr>
        <p:spPr>
          <a:xfrm>
            <a:off x="1371600" y="2331720"/>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371600" y="2331720"/>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47" name="Shape 42"/>
          <p:cNvSpPr/>
          <p:nvPr/>
        </p:nvSpPr>
        <p:spPr>
          <a:xfrm>
            <a:off x="2258568" y="1508760"/>
            <a:ext cx="822960" cy="420624"/>
          </a:xfrm>
          <a:prstGeom prst="roundRect">
            <a:avLst>
              <a:gd name="adj" fmla="val 10000"/>
            </a:avLst>
          </a:prstGeom>
          <a:solidFill>
            <a:srgbClr val="161616"/>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304287" y="1536192"/>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Steward review</a:t>
            </a:r>
          </a:p>
        </p:txBody>
      </p:sp>
      <p:sp>
        <p:nvSpPr>
          <p:cNvPr id="49" name="Shape 44"/>
          <p:cNvSpPr/>
          <p:nvPr/>
        </p:nvSpPr>
        <p:spPr>
          <a:xfrm>
            <a:off x="2304287" y="1773936"/>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304287" y="1773936"/>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51" name="Shape 46"/>
          <p:cNvSpPr/>
          <p:nvPr/>
        </p:nvSpPr>
        <p:spPr>
          <a:xfrm>
            <a:off x="3191256"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236976"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Reviewed classifications</a:t>
            </a:r>
          </a:p>
        </p:txBody>
      </p:sp>
      <p:sp>
        <p:nvSpPr>
          <p:cNvPr id="53" name="Shape 48"/>
          <p:cNvSpPr/>
          <p:nvPr/>
        </p:nvSpPr>
        <p:spPr>
          <a:xfrm>
            <a:off x="3236976"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236976"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5" name="Shape 50"/>
          <p:cNvSpPr/>
          <p:nvPr/>
        </p:nvSpPr>
        <p:spPr>
          <a:xfrm>
            <a:off x="3191256" y="2624328"/>
            <a:ext cx="822960" cy="420624"/>
          </a:xfrm>
          <a:prstGeom prst="roundRect">
            <a:avLst>
              <a:gd name="adj" fmla="val 10000"/>
            </a:avLst>
          </a:prstGeom>
          <a:solidFill>
            <a:srgbClr val="161616"/>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236976"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Rollout gate</a:t>
            </a:r>
          </a:p>
        </p:txBody>
      </p:sp>
      <p:sp>
        <p:nvSpPr>
          <p:cNvPr id="57" name="Shape 52"/>
          <p:cNvSpPr/>
          <p:nvPr/>
        </p:nvSpPr>
        <p:spPr>
          <a:xfrm>
            <a:off x="3236976" y="2889504"/>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236976" y="2889504"/>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9" name="Shape 54"/>
          <p:cNvSpPr/>
          <p:nvPr/>
        </p:nvSpPr>
        <p:spPr>
          <a:xfrm>
            <a:off x="4123944" y="2624328"/>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169663"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Data Policy Tagger</a:t>
            </a:r>
          </a:p>
        </p:txBody>
      </p:sp>
      <p:sp>
        <p:nvSpPr>
          <p:cNvPr id="61" name="Shape 56"/>
          <p:cNvSpPr/>
          <p:nvPr/>
        </p:nvSpPr>
        <p:spPr>
          <a:xfrm>
            <a:off x="4169663" y="2889504"/>
            <a:ext cx="513892" cy="11887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169663" y="2889504"/>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3" name="Shape 58"/>
          <p:cNvSpPr/>
          <p:nvPr/>
        </p:nvSpPr>
        <p:spPr>
          <a:xfrm>
            <a:off x="5056632" y="3182112"/>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02352" y="3209544"/>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Policies applied</a:t>
            </a:r>
          </a:p>
        </p:txBody>
      </p:sp>
      <p:sp>
        <p:nvSpPr>
          <p:cNvPr id="65" name="Shape 60"/>
          <p:cNvSpPr/>
          <p:nvPr/>
        </p:nvSpPr>
        <p:spPr>
          <a:xfrm>
            <a:off x="5102352" y="3447288"/>
            <a:ext cx="513892" cy="11887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02352" y="3447288"/>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7" name="Shape 62"/>
          <p:cNvSpPr/>
          <p:nvPr/>
        </p:nvSpPr>
        <p:spPr>
          <a:xfrm>
            <a:off x="598932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3504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Bindings + validation</a:t>
            </a:r>
          </a:p>
        </p:txBody>
      </p:sp>
      <p:sp>
        <p:nvSpPr>
          <p:cNvPr id="69" name="Shape 64"/>
          <p:cNvSpPr/>
          <p:nvPr/>
        </p:nvSpPr>
        <p:spPr>
          <a:xfrm>
            <a:off x="6035040"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35040"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71" name="Shape 66"/>
          <p:cNvSpPr/>
          <p:nvPr/>
        </p:nvSpPr>
        <p:spPr>
          <a:xfrm>
            <a:off x="5056632" y="2624328"/>
            <a:ext cx="822960" cy="420624"/>
          </a:xfrm>
          <a:prstGeom prst="roundRect">
            <a:avLst>
              <a:gd name="adj" fmla="val 10000"/>
            </a:avLst>
          </a:prstGeom>
          <a:solidFill>
            <a:srgbClr val="000000"/>
          </a:solid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02352"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Policy change review</a:t>
            </a:r>
          </a:p>
        </p:txBody>
      </p:sp>
      <p:sp>
        <p:nvSpPr>
          <p:cNvPr id="73" name="Shape 68"/>
          <p:cNvSpPr/>
          <p:nvPr/>
        </p:nvSpPr>
        <p:spPr>
          <a:xfrm>
            <a:off x="5102352" y="2889504"/>
            <a:ext cx="398678"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02352" y="2889504"/>
            <a:ext cx="398678" cy="118872"/>
          </a:xfrm>
          <a:prstGeom prst="rect">
            <a:avLst/>
          </a:prstGeom>
          <a:noFill/>
        </p:spPr>
        <p:txBody>
          <a:bodyPr wrap="square" lIns="0" rIns="0" tIns="0" bIns="0" anchor="ctr">
            <a:spAutoFit/>
          </a:bodyPr>
          <a:lstStyle/>
          <a:p>
            <a:pPr algn="ctr"/>
            <a:r>
              <a:rPr sz="420" b="1" i="0" spc="80">
                <a:solidFill>
                  <a:srgbClr val="F2F2F2"/>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580" b="1" i="0">
                <a:solidFill>
                  <a:srgbClr val="F2F2F2"/>
                </a:solidFill>
                <a:latin typeface="Trenda IG Text"/>
              </a:rPr>
              <a:t>Fail-closed: </a:t>
            </a:r>
            <a:r>
              <a:rPr sz="580" b="0" i="0">
                <a:solidFill>
                  <a:srgbClr val="B3B3B3"/>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64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56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56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56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660" b="1" i="0">
                <a:solidFill>
                  <a:srgbClr val="F2F2F2"/>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580" b="0" i="0">
                <a:solidFill>
                  <a:srgbClr val="F2F2F2"/>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580" b="0" i="0">
                <a:solidFill>
                  <a:srgbClr val="B3B3B3"/>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660" b="1" i="0">
                <a:solidFill>
                  <a:srgbClr val="F2F2F2"/>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580" b="0" i="0">
                <a:solidFill>
                  <a:srgbClr val="F2F2F2"/>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580" b="0" i="0">
                <a:solidFill>
                  <a:srgbClr val="B3B3B3"/>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660" b="1" i="0">
                <a:solidFill>
                  <a:srgbClr val="F2F2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580" b="0" i="0">
                <a:solidFill>
                  <a:srgbClr val="F2F2F2"/>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580" b="0" i="0">
                <a:solidFill>
                  <a:srgbClr val="B3B3B3"/>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600" b="0" i="0">
                <a:solidFill>
                  <a:srgbClr val="F2F2F2"/>
                </a:solidFill>
                <a:latin typeface="Trenda IG Text"/>
              </a:rPr>
              <a:t>A token, a count, a diagnosis combination or a small cohort can remain sensitive. </a:t>
            </a:r>
            <a:r>
              <a:rPr sz="6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640" b="1" i="0" spc="120">
                <a:solidFill>
                  <a:srgbClr val="F2F2F2"/>
                </a:solidFill>
                <a:latin typeface="Trenda IG Text"/>
              </a:rPr>
              <a:t>WHAT MASKING ALONE DOES NOT GIVE US, AND WHAT WE ADD</a:t>
            </a:r>
            <a:r>
              <a:rPr sz="640" b="0" i="0">
                <a:solidFill>
                  <a:srgbClr val="B3B3B3"/>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1  </a:t>
            </a:r>
            <a:r>
              <a:rPr sz="720" b="1" i="0">
                <a:solidFill>
                  <a:srgbClr val="F2F2F2"/>
                </a:solidFill>
                <a:latin typeface="Trenda IG Text"/>
              </a:rPr>
              <a:t>Safe de-identification</a:t>
            </a:r>
          </a:p>
        </p:txBody>
      </p:sp>
      <p:sp>
        <p:nvSpPr>
          <p:cNvPr id="101" name="Shape 96"/>
          <p:cNvSpPr/>
          <p:nvPr/>
        </p:nvSpPr>
        <p:spPr>
          <a:xfrm>
            <a:off x="251231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51231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2  </a:t>
            </a:r>
            <a:r>
              <a:rPr sz="720" b="1" i="0">
                <a:solidFill>
                  <a:srgbClr val="F2F2F2"/>
                </a:solidFill>
                <a:latin typeface="Trenda IG Text"/>
              </a:rPr>
              <a:t>Permitted use</a:t>
            </a:r>
          </a:p>
        </p:txBody>
      </p:sp>
      <p:sp>
        <p:nvSpPr>
          <p:cNvPr id="113" name="Shape 108"/>
          <p:cNvSpPr/>
          <p:nvPr/>
        </p:nvSpPr>
        <p:spPr>
          <a:xfrm>
            <a:off x="5381244" y="4251960"/>
            <a:ext cx="56692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38124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3  </a:t>
            </a:r>
            <a:r>
              <a:rPr sz="720" b="1" i="0">
                <a:solidFill>
                  <a:srgbClr val="F2F2F2"/>
                </a:solidFill>
                <a:latin typeface="Trenda IG Text"/>
              </a:rPr>
              <a:t>Tenant isolation</a:t>
            </a:r>
          </a:p>
        </p:txBody>
      </p:sp>
      <p:sp>
        <p:nvSpPr>
          <p:cNvPr id="125" name="Shape 120"/>
          <p:cNvSpPr/>
          <p:nvPr/>
        </p:nvSpPr>
        <p:spPr>
          <a:xfrm>
            <a:off x="8250173"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250173"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4  </a:t>
            </a:r>
            <a:r>
              <a:rPr sz="720" b="1" i="0">
                <a:solidFill>
                  <a:srgbClr val="F2F2F2"/>
                </a:solidFill>
                <a:latin typeface="Trenda IG Text"/>
              </a:rPr>
              <a:t>Complete HIPAA controls</a:t>
            </a:r>
          </a:p>
        </p:txBody>
      </p:sp>
      <p:sp>
        <p:nvSpPr>
          <p:cNvPr id="137" name="Shape 132"/>
          <p:cNvSpPr/>
          <p:nvPr/>
        </p:nvSpPr>
        <p:spPr>
          <a:xfrm>
            <a:off x="1111910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111910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161616"/>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590" b="1" i="0" spc="100">
                <a:solidFill>
                  <a:srgbClr val="F2F2F2"/>
                </a:solidFill>
                <a:latin typeface="Trenda IG Text"/>
              </a:rPr>
              <a:t>HOW WE PROVE IT  </a:t>
            </a:r>
            <a:r>
              <a:rPr sz="590" b="0" i="0">
                <a:solidFill>
                  <a:srgbClr val="F2F2F2"/>
                </a:solidFill>
                <a:latin typeface="Trenda IG Text"/>
              </a:rPr>
              <a:t>Discovery inventory across the approved scope · row-level security and authorized views with masking · raw access isolated from the LLM runtime · negative-access tests · drift detection · periodic access review. </a:t>
            </a:r>
            <a:r>
              <a:rPr sz="590" b="1" i="0">
                <a:solidFill>
                  <a:srgbClr val="F2F2F2"/>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F2F2F2"/>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F2F2F2"/>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F2F2F2"/>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F2F2F2"/>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B3B3B3"/>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F2F2F2"/>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B3B3B3"/>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B3B3B3"/>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F2F2F2"/>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F2F2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B3B3B3"/>
                </a:solidFill>
                <a:latin typeface="Trenda IG Text"/>
              </a:rPr>
              <a:t>Test contacts only → failure modes (consent, STOP, links, hours) → classify + report. </a:t>
            </a:r>
            <a:r>
              <a:rPr sz="500" b="1" i="0">
                <a:solidFill>
                  <a:srgbClr val="F2F2F2"/>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B3B3B3"/>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8C8C8C"/>
                </a:solidFill>
                <a:latin typeface="Trenda IG Text"/>
              </a:rPr>
              <a:t>CONTEXT + OVERSIGHT</a:t>
            </a:r>
          </a:p>
          <a:p>
            <a:pPr>
              <a:spcAft>
                <a:spcPts val="100"/>
              </a:spcAft>
            </a:pPr>
            <a:r>
              <a:rPr sz="5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F2F2F2"/>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F2F2F2"/>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F2F2F2"/>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B3B3B3"/>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F2F2F2"/>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F2F2F2"/>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B3B3B3"/>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620" b="1" i="0">
                <a:solidFill>
                  <a:srgbClr val="F2F2F2"/>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500" b="0" i="0">
                <a:solidFill>
                  <a:srgbClr val="B3B3B3"/>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F2F2F2"/>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F2F2F2"/>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F2F2F2"/>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F2F2F2"/>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F2F2F2"/>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F2F2F2"/>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F2F2F2"/>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2F2F2"/>
                </a:solidFill>
                <a:latin typeface="Trenda IG Text"/>
              </a:rPr>
              <a:t>SAFEGUARDS</a:t>
            </a:r>
          </a:p>
          <a:p>
            <a:pPr>
              <a:spcAft>
                <a:spcPts val="100"/>
              </a:spcAft>
            </a:pPr>
            <a:r>
              <a:rPr sz="5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2F2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0  </a:t>
            </a:r>
            <a:r>
              <a:rPr sz="620" b="1" i="0">
                <a:solidFill>
                  <a:srgbClr val="F2F2F2"/>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before 1</a:t>
            </a:r>
          </a:p>
        </p:txBody>
      </p:sp>
      <p:sp>
        <p:nvSpPr>
          <p:cNvPr id="11" name="Shape 10"/>
          <p:cNvSpPr/>
          <p:nvPr/>
        </p:nvSpPr>
        <p:spPr>
          <a:xfrm>
            <a:off x="52120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B3B3B3"/>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1  </a:t>
            </a:r>
            <a:r>
              <a:rPr sz="620" b="1" i="0">
                <a:solidFill>
                  <a:srgbClr val="F2F2F2"/>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 · 2 · 4 · 5 · 6</a:t>
            </a:r>
          </a:p>
        </p:txBody>
      </p:sp>
      <p:sp>
        <p:nvSpPr>
          <p:cNvPr id="27" name="Shape 26"/>
          <p:cNvSpPr/>
          <p:nvPr/>
        </p:nvSpPr>
        <p:spPr>
          <a:xfrm>
            <a:off x="215537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B3B3B3"/>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2  </a:t>
            </a:r>
            <a:r>
              <a:rPr sz="620" b="1" i="0">
                <a:solidFill>
                  <a:srgbClr val="F2F2F2"/>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3</a:t>
            </a:r>
          </a:p>
        </p:txBody>
      </p:sp>
      <p:sp>
        <p:nvSpPr>
          <p:cNvPr id="43" name="Shape 42"/>
          <p:cNvSpPr/>
          <p:nvPr/>
        </p:nvSpPr>
        <p:spPr>
          <a:xfrm>
            <a:off x="3789534"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B3B3B3"/>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B3B3B3"/>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3  </a:t>
            </a:r>
            <a:r>
              <a:rPr sz="620" b="1" i="0">
                <a:solidFill>
                  <a:srgbClr val="F2F2F2"/>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6 → 7 · 8 · 9</a:t>
            </a:r>
          </a:p>
        </p:txBody>
      </p:sp>
      <p:sp>
        <p:nvSpPr>
          <p:cNvPr id="57" name="Shape 56"/>
          <p:cNvSpPr/>
          <p:nvPr/>
        </p:nvSpPr>
        <p:spPr>
          <a:xfrm>
            <a:off x="542369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4  </a:t>
            </a:r>
            <a:r>
              <a:rPr sz="620" b="1" i="0">
                <a:solidFill>
                  <a:srgbClr val="F2F2F2"/>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10 · 11 · 12</a:t>
            </a:r>
          </a:p>
        </p:txBody>
      </p:sp>
      <p:sp>
        <p:nvSpPr>
          <p:cNvPr id="71" name="Shape 70"/>
          <p:cNvSpPr/>
          <p:nvPr/>
        </p:nvSpPr>
        <p:spPr>
          <a:xfrm>
            <a:off x="705786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1A1A1A"/>
                </a:solidFill>
                <a:latin typeface="Trenda IG Text"/>
              </a:rPr>
              <a:t>PHASE 5  </a:t>
            </a:r>
            <a:r>
              <a:rPr sz="62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16161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B3B3B3"/>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B3B3B3"/>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B3B3B3"/>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B3B3B3"/>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FFD700"/>
                </a:solidFill>
                <a:latin typeface="Trenda IG Text"/>
              </a:rPr>
              <a:t>EXIT  </a:t>
            </a:r>
          </a:p>
          <a:p>
            <a:pPr>
              <a:spcAft>
                <a:spcPts val="100"/>
              </a:spcAft>
            </a:pPr>
            <a:r>
              <a:rPr sz="600" b="1" i="0">
                <a:solidFill>
                  <a:srgbClr val="F2F2F2"/>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6  </a:t>
            </a:r>
            <a:r>
              <a:rPr sz="620" b="1" i="0">
                <a:solidFill>
                  <a:srgbClr val="F2F2F2"/>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20 + feedback</a:t>
            </a:r>
          </a:p>
        </p:txBody>
      </p:sp>
      <p:sp>
        <p:nvSpPr>
          <p:cNvPr id="103" name="Shape 102"/>
          <p:cNvSpPr/>
          <p:nvPr/>
        </p:nvSpPr>
        <p:spPr>
          <a:xfrm>
            <a:off x="1032618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2F2F2"/>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2F2F2"/>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F2F2F2"/>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F2F2F2"/>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Governance before agents</a:t>
            </a:r>
          </a:p>
          <a:p>
            <a:pPr>
              <a:spcAft>
                <a:spcPts val="100"/>
              </a:spcAft>
            </a:pPr>
            <a:r>
              <a:rPr sz="620" b="0" i="0">
                <a:solidFill>
                  <a:srgbClr val="B3B3B3"/>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Build and test before release</a:t>
            </a:r>
          </a:p>
          <a:p>
            <a:pPr>
              <a:spcAft>
                <a:spcPts val="100"/>
              </a:spcAft>
            </a:pPr>
            <a:r>
              <a:rPr sz="620" b="0" i="0">
                <a:solidFill>
                  <a:srgbClr val="B3B3B3"/>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Data Cloud before direct</a:t>
            </a:r>
          </a:p>
          <a:p>
            <a:pPr>
              <a:spcAft>
                <a:spcPts val="100"/>
              </a:spcAft>
            </a:pPr>
            <a:r>
              <a:rPr sz="620" b="0" i="0">
                <a:solidFill>
                  <a:srgbClr val="B3B3B3"/>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F2F2F2"/>
                </a:solidFill>
                <a:latin typeface="Trenda IG Text"/>
              </a:rPr>
              <a:t>Nothing in Phase 5 touches real patients until Phases 2 and 4 pass their exits. </a:t>
            </a:r>
            <a:r>
              <a:rPr sz="660" b="0" i="0">
                <a:solidFill>
                  <a:srgbClr val="B3B3B3"/>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62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62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Answers questions</a:t>
            </a:r>
          </a:p>
          <a:p>
            <a:pPr>
              <a:spcAft>
                <a:spcPts val="100"/>
              </a:spcAft>
            </a:pPr>
            <a:r>
              <a:rPr sz="58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Verifies the caller</a:t>
            </a:r>
          </a:p>
          <a:p>
            <a:pPr>
              <a:spcAft>
                <a:spcPts val="100"/>
              </a:spcAft>
            </a:pPr>
            <a:r>
              <a:rPr sz="58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Books, cancels, reschedules</a:t>
            </a:r>
          </a:p>
          <a:p>
            <a:pPr>
              <a:spcAft>
                <a:spcPts val="100"/>
              </a:spcAft>
            </a:pPr>
            <a:r>
              <a:rPr sz="58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Hands off to a person</a:t>
            </a:r>
          </a:p>
          <a:p>
            <a:pPr>
              <a:spcAft>
                <a:spcPts val="100"/>
              </a:spcAft>
            </a:pPr>
            <a:r>
              <a:rPr sz="58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640" b="1" i="0" spc="120">
                <a:solidFill>
                  <a:srgbClr val="F2F2F2"/>
                </a:solidFill>
                <a:latin typeface="Trenda IG Text"/>
              </a:rPr>
              <a:t>1  KNOWLEDGE PATH</a:t>
            </a:r>
            <a:r>
              <a:rPr sz="64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640" b="1" i="0" spc="120">
                <a:solidFill>
                  <a:srgbClr val="F2F2F2"/>
                </a:solidFill>
                <a:latin typeface="Trenda IG Text"/>
              </a:rPr>
              <a:t>2  PATIENT PATH</a:t>
            </a:r>
            <a:r>
              <a:rPr sz="64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66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6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56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54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56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56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56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52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6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6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54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6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54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56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56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56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56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64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6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68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68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68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640" b="1" i="0" spc="120">
                <a:solidFill>
                  <a:srgbClr val="F2F2F2"/>
                </a:solidFill>
                <a:latin typeface="Trenda IG Text"/>
              </a:rPr>
              <a:t>SAFEGUARDS</a:t>
            </a:r>
          </a:p>
          <a:p>
            <a:pPr>
              <a:spcAft>
                <a:spcPts val="100"/>
              </a:spcAft>
            </a:pPr>
            <a:r>
              <a:rPr sz="52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6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6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6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6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6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600" b="0" i="0">
                <a:solidFill>
                  <a:srgbClr val="B3B3B3"/>
                </a:solidFill>
                <a:latin typeface="Trenda IG Text"/>
              </a:rPr>
              <a:t>scripted test calls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