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Pods run lean on one shared platform.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today every pod carries its own full stack. With the harness: owner, lead and 2-4 engineers, on one shared platform run by a small team. 20-30% smaller for the same scope, or 1.4-1.6x the output with the same team.</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SQUAD</a:t>
            </a:r>
            <a:r>
              <a:rPr sz="64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6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600" b="1" i="0">
                <a:solidFill>
                  <a:srgbClr val="00D6F2"/>
                </a:solidFill>
                <a:latin typeface="Trenda IG Text"/>
              </a:rPr>
              <a:t>Agent </a:t>
            </a:r>
            <a:r>
              <a:rPr sz="600" b="0" i="0">
                <a:solidFill>
                  <a:srgbClr val="B3B3B3"/>
                </a:solidFill>
                <a:latin typeface="Trenda IG Text"/>
              </a:rPr>
              <a:t>drafts code, tests and the Copado package overnight. </a:t>
            </a:r>
            <a:r>
              <a:rPr sz="600" b="1" i="0">
                <a:solidFill>
                  <a:srgbClr val="F2F2F2"/>
                </a:solidFill>
                <a:latin typeface="Trenda IG Text"/>
              </a:rPr>
              <a:t>Developer </a:t>
            </a:r>
            <a:r>
              <a:rPr sz="600" b="0" i="0">
                <a:solidFill>
                  <a:srgbClr val="B3B3B3"/>
                </a:solidFill>
                <a:latin typeface="Trenda IG Text"/>
              </a:rPr>
              <a:t>directs and approves. </a:t>
            </a:r>
            <a:r>
              <a:rPr sz="600" b="1" i="0">
                <a:solidFill>
                  <a:srgbClr val="F2F2F2"/>
                </a:solidFill>
                <a:latin typeface="Trenda IG Text"/>
              </a:rPr>
              <a:t>QA </a:t>
            </a:r>
            <a:r>
              <a:rPr sz="6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POD</a:t>
            </a:r>
            <a:r>
              <a:rPr sz="640" b="0" i="0">
                <a:solidFill>
                  <a:srgbClr val="B3B3B3"/>
                </a:solidFill>
                <a:latin typeface="Trenda IG Text"/>
              </a:rPr>
              <a:t>   lean pods share one platform</a:t>
            </a:r>
          </a:p>
        </p:txBody>
      </p:sp>
      <p:sp>
        <p:nvSpPr>
          <p:cNvPr id="31" name="Text 29"/>
          <p:cNvSpPr txBox="1"/>
          <p:nvPr/>
        </p:nvSpPr>
        <p:spPr>
          <a:xfrm>
            <a:off x="4364736" y="1536192"/>
            <a:ext cx="1828800" cy="164592"/>
          </a:xfrm>
          <a:prstGeom prst="rect">
            <a:avLst/>
          </a:prstGeom>
          <a:noFill/>
        </p:spPr>
        <p:txBody>
          <a:bodyPr wrap="square" lIns="0" rIns="0" tIns="0" bIns="0" anchor="ctr">
            <a:spAutoFit/>
          </a:bodyPr>
          <a:lstStyle/>
          <a:p>
            <a:r>
              <a:rPr sz="540" b="1" i="0" spc="100">
                <a:solidFill>
                  <a:srgbClr val="8C8C8C"/>
                </a:solidFill>
                <a:latin typeface="Trenda IG Text"/>
              </a:rPr>
              <a:t>TODAY · EVERY POD, FULL STACK</a:t>
            </a:r>
          </a:p>
        </p:txBody>
      </p:sp>
      <p:sp>
        <p:nvSpPr>
          <p:cNvPr id="32" name="Shape 30"/>
          <p:cNvSpPr/>
          <p:nvPr/>
        </p:nvSpPr>
        <p:spPr>
          <a:xfrm>
            <a:off x="4364736" y="1719072"/>
            <a:ext cx="3459480"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1"/>
          <p:cNvSpPr txBox="1"/>
          <p:nvPr/>
        </p:nvSpPr>
        <p:spPr>
          <a:xfrm>
            <a:off x="4364736" y="1719072"/>
            <a:ext cx="3459480" cy="274320"/>
          </a:xfrm>
          <a:prstGeom prst="rect">
            <a:avLst/>
          </a:prstGeom>
          <a:noFill/>
        </p:spPr>
        <p:txBody>
          <a:bodyPr wrap="square" lIns="0" rIns="0" tIns="0" bIns="0" anchor="ctr">
            <a:spAutoFit/>
          </a:bodyPr>
          <a:lstStyle/>
          <a:p>
            <a:pPr algn="ctr"/>
            <a:r>
              <a:rPr sz="620" b="1" i="0">
                <a:solidFill>
                  <a:srgbClr val="B3B3B3"/>
                </a:solidFill>
                <a:latin typeface="Trenda IG Text"/>
              </a:rPr>
              <a:t>BA · Devs · QA · Release · Support</a:t>
            </a:r>
          </a:p>
        </p:txBody>
      </p:sp>
      <p:sp>
        <p:nvSpPr>
          <p:cNvPr id="34" name="Text 32"/>
          <p:cNvSpPr txBox="1"/>
          <p:nvPr/>
        </p:nvSpPr>
        <p:spPr>
          <a:xfrm>
            <a:off x="4364736" y="2084832"/>
            <a:ext cx="219456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35" name="Shape 33"/>
          <p:cNvSpPr/>
          <p:nvPr/>
        </p:nvSpPr>
        <p:spPr>
          <a:xfrm>
            <a:off x="4364736" y="2267712"/>
            <a:ext cx="1872538"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4"/>
          <p:cNvSpPr txBox="1"/>
          <p:nvPr/>
        </p:nvSpPr>
        <p:spPr>
          <a:xfrm>
            <a:off x="4364736" y="2267712"/>
            <a:ext cx="1872538" cy="274320"/>
          </a:xfrm>
          <a:prstGeom prst="rect">
            <a:avLst/>
          </a:prstGeom>
          <a:noFill/>
        </p:spPr>
        <p:txBody>
          <a:bodyPr wrap="square" lIns="0" rIns="0" tIns="0" bIns="0" anchor="ctr">
            <a:spAutoFit/>
          </a:bodyPr>
          <a:lstStyle/>
          <a:p>
            <a:pPr algn="ctr"/>
            <a:r>
              <a:rPr sz="600" b="1" i="0">
                <a:solidFill>
                  <a:srgbClr val="F2F2F2"/>
                </a:solidFill>
                <a:latin typeface="Trenda IG Text"/>
              </a:rPr>
              <a:t>Owner · Lead · 2-4 engineers</a:t>
            </a:r>
          </a:p>
        </p:txBody>
      </p:sp>
      <p:sp>
        <p:nvSpPr>
          <p:cNvPr id="37" name="Shape 35"/>
          <p:cNvSpPr/>
          <p:nvPr/>
        </p:nvSpPr>
        <p:spPr>
          <a:xfrm>
            <a:off x="6292138" y="2267712"/>
            <a:ext cx="1532077"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6292138" y="2267712"/>
            <a:ext cx="1532077" cy="274320"/>
          </a:xfrm>
          <a:prstGeom prst="rect">
            <a:avLst/>
          </a:prstGeom>
          <a:noFill/>
        </p:spPr>
        <p:txBody>
          <a:bodyPr wrap="square" lIns="0" rIns="0" tIns="0" bIns="0" anchor="ctr">
            <a:spAutoFit/>
          </a:bodyPr>
          <a:lstStyle/>
          <a:p>
            <a:pPr algn="ctr"/>
            <a:r>
              <a:rPr sz="600" b="1" i="0">
                <a:solidFill>
                  <a:srgbClr val="00D6F2"/>
                </a:solidFill>
                <a:latin typeface="Trenda IG Text"/>
              </a:rPr>
              <a:t>Shared platform</a:t>
            </a:r>
          </a:p>
        </p:txBody>
      </p:sp>
      <p:sp>
        <p:nvSpPr>
          <p:cNvPr id="39" name="Text 37"/>
          <p:cNvSpPr txBox="1"/>
          <p:nvPr/>
        </p:nvSpPr>
        <p:spPr>
          <a:xfrm>
            <a:off x="4364736" y="2615184"/>
            <a:ext cx="1702308" cy="384048"/>
          </a:xfrm>
          <a:prstGeom prst="rect">
            <a:avLst/>
          </a:prstGeom>
          <a:noFill/>
        </p:spPr>
        <p:txBody>
          <a:bodyPr wrap="square" lIns="0" rIns="0" tIns="0" bIns="0" anchor="ctr">
            <a:spAutoFit/>
          </a:bodyPr>
          <a:lstStyle/>
          <a:p>
            <a:r>
              <a:rPr sz="1200" b="0" i="0">
                <a:solidFill>
                  <a:srgbClr val="00D6F2"/>
                </a:solidFill>
                <a:latin typeface="Trenda IG Text"/>
              </a:rPr>
              <a:t>20-30%</a:t>
            </a:r>
          </a:p>
          <a:p>
            <a:r>
              <a:rPr sz="600" b="0" i="0">
                <a:solidFill>
                  <a:srgbClr val="B3B3B3"/>
                </a:solidFill>
                <a:latin typeface="Trenda IG Text"/>
              </a:rPr>
              <a:t>smaller team, same scope</a:t>
            </a:r>
          </a:p>
        </p:txBody>
      </p:sp>
      <p:sp>
        <p:nvSpPr>
          <p:cNvPr id="40" name="Text 38"/>
          <p:cNvSpPr txBox="1"/>
          <p:nvPr/>
        </p:nvSpPr>
        <p:spPr>
          <a:xfrm>
            <a:off x="6121908" y="2615184"/>
            <a:ext cx="1702308" cy="384048"/>
          </a:xfrm>
          <a:prstGeom prst="rect">
            <a:avLst/>
          </a:prstGeom>
          <a:noFill/>
        </p:spPr>
        <p:txBody>
          <a:bodyPr wrap="square" lIns="0" rIns="0" tIns="0" bIns="0" anchor="ctr">
            <a:spAutoFit/>
          </a:bodyPr>
          <a:lstStyle/>
          <a:p>
            <a:r>
              <a:rPr sz="1200" b="0" i="0">
                <a:solidFill>
                  <a:srgbClr val="00D6F2"/>
                </a:solidFill>
                <a:latin typeface="Trenda IG Text"/>
              </a:rPr>
              <a:t>1.4-1.6x</a:t>
            </a:r>
          </a:p>
          <a:p>
            <a:r>
              <a:rPr sz="600" b="0" i="0">
                <a:solidFill>
                  <a:srgbClr val="B3B3B3"/>
                </a:solidFill>
                <a:latin typeface="Trenda IG Text"/>
              </a:rPr>
              <a:t>output, same team</a:t>
            </a:r>
          </a:p>
        </p:txBody>
      </p:sp>
      <p:sp>
        <p:nvSpPr>
          <p:cNvPr id="41" name="Shape 39"/>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0"/>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1"/>
          <p:cNvSpPr txBox="1"/>
          <p:nvPr/>
        </p:nvSpPr>
        <p:spPr>
          <a:xfrm>
            <a:off x="8171687"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BUILD AND RUN</a:t>
            </a:r>
            <a:r>
              <a:rPr sz="640" b="0" i="0">
                <a:solidFill>
                  <a:srgbClr val="B3B3B3"/>
                </a:solidFill>
                <a:latin typeface="Trenda IG Text"/>
              </a:rPr>
              <a:t>   fixed fee, paid by gate</a:t>
            </a:r>
          </a:p>
        </p:txBody>
      </p:sp>
      <p:sp>
        <p:nvSpPr>
          <p:cNvPr id="44" name="Shape 42"/>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3"/>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46" name="Text 44"/>
          <p:cNvSpPr txBox="1"/>
          <p:nvPr/>
        </p:nvSpPr>
        <p:spPr>
          <a:xfrm>
            <a:off x="8281416" y="1993392"/>
            <a:ext cx="976376" cy="420624"/>
          </a:xfrm>
          <a:prstGeom prst="rect">
            <a:avLst/>
          </a:prstGeom>
          <a:noFill/>
        </p:spPr>
        <p:txBody>
          <a:bodyPr wrap="square" lIns="0" rIns="0" tIns="0" bIns="0" anchor="t">
            <a:spAutoFit/>
          </a:bodyPr>
          <a:lstStyle/>
          <a:p>
            <a:r>
              <a:rPr sz="590" b="0" i="0">
                <a:solidFill>
                  <a:srgbClr val="B3B3B3"/>
                </a:solidFill>
                <a:latin typeface="Trenda IG Text"/>
              </a:rPr>
              <a:t>people at peak, 10 roles</a:t>
            </a:r>
          </a:p>
        </p:txBody>
      </p:sp>
      <p:sp>
        <p:nvSpPr>
          <p:cNvPr id="47" name="Shape 45"/>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6"/>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49" name="Text 47"/>
          <p:cNvSpPr txBox="1"/>
          <p:nvPr/>
        </p:nvSpPr>
        <p:spPr>
          <a:xfrm>
            <a:off x="9458960" y="1993392"/>
            <a:ext cx="976376" cy="420624"/>
          </a:xfrm>
          <a:prstGeom prst="rect">
            <a:avLst/>
          </a:prstGeom>
          <a:noFill/>
        </p:spPr>
        <p:txBody>
          <a:bodyPr wrap="square" lIns="0" rIns="0" tIns="0" bIns="0" anchor="t">
            <a:spAutoFit/>
          </a:bodyPr>
          <a:lstStyle/>
          <a:p>
            <a:r>
              <a:rPr sz="590" b="0" i="0">
                <a:solidFill>
                  <a:srgbClr val="B3B3B3"/>
                </a:solidFill>
                <a:latin typeface="Trenda IG Text"/>
              </a:rPr>
              <a:t>months, seven phases</a:t>
            </a:r>
          </a:p>
        </p:txBody>
      </p:sp>
      <p:sp>
        <p:nvSpPr>
          <p:cNvPr id="50" name="Shape 48"/>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9"/>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52" name="Text 50"/>
          <p:cNvSpPr txBox="1"/>
          <p:nvPr/>
        </p:nvSpPr>
        <p:spPr>
          <a:xfrm>
            <a:off x="10636504" y="1993392"/>
            <a:ext cx="976376" cy="420624"/>
          </a:xfrm>
          <a:prstGeom prst="rect">
            <a:avLst/>
          </a:prstGeom>
          <a:noFill/>
        </p:spPr>
        <p:txBody>
          <a:bodyPr wrap="square" lIns="0" rIns="0" tIns="0" bIns="0" anchor="t">
            <a:spAutoFit/>
          </a:bodyPr>
          <a:lstStyle/>
          <a:p>
            <a:r>
              <a:rPr sz="590" b="0" i="0">
                <a:solidFill>
                  <a:srgbClr val="B3B3B3"/>
                </a:solidFill>
                <a:latin typeface="Trenda IG Text"/>
              </a:rPr>
              <a:t>fixed fee, paid as each gate is signed</a:t>
            </a:r>
          </a:p>
        </p:txBody>
      </p:sp>
      <p:sp>
        <p:nvSpPr>
          <p:cNvPr id="53" name="Text 51"/>
          <p:cNvSpPr txBox="1"/>
          <p:nvPr/>
        </p:nvSpPr>
        <p:spPr>
          <a:xfrm>
            <a:off x="8189976" y="2542032"/>
            <a:ext cx="3459480" cy="457200"/>
          </a:xfrm>
          <a:prstGeom prst="rect">
            <a:avLst/>
          </a:prstGeom>
          <a:noFill/>
        </p:spPr>
        <p:txBody>
          <a:bodyPr wrap="square" lIns="0" rIns="0" tIns="0" bIns="0" anchor="t">
            <a:spAutoFit/>
          </a:bodyPr>
          <a:lstStyle/>
          <a:p>
            <a:r>
              <a:rPr sz="600" b="1" i="0">
                <a:solidFill>
                  <a:srgbClr val="F2F2F2"/>
                </a:solidFill>
                <a:latin typeface="Trenda IG Text"/>
              </a:rPr>
              <a:t>From month 19 </a:t>
            </a:r>
            <a:r>
              <a:rPr sz="600" b="0" i="0">
                <a:solidFill>
                  <a:srgbClr val="B3B3B3"/>
                </a:solidFill>
                <a:latin typeface="Trenda IG Text"/>
              </a:rPr>
              <a:t>a run team of 4 keeps the graph, agents and evals current: about $1.24M a year with platform usage.</a:t>
            </a:r>
          </a:p>
        </p:txBody>
      </p:sp>
      <p:sp>
        <p:nvSpPr>
          <p:cNvPr id="54" name="Shape 52"/>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3"/>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4"/>
          <p:cNvSpPr txBox="1"/>
          <p:nvPr/>
        </p:nvSpPr>
        <p:spPr>
          <a:xfrm>
            <a:off x="521208" y="3291840"/>
            <a:ext cx="11146536" cy="256032"/>
          </a:xfrm>
          <a:prstGeom prst="rect">
            <a:avLst/>
          </a:prstGeom>
          <a:noFill/>
        </p:spPr>
        <p:txBody>
          <a:bodyPr wrap="square" lIns="0" rIns="0" tIns="0" bIns="0" anchor="ctr">
            <a:spAutoFit/>
          </a:bodyPr>
          <a:lstStyle/>
          <a:p>
            <a:r>
              <a:rPr sz="640" b="1" i="0" spc="120">
                <a:solidFill>
                  <a:srgbClr val="F2F2F2"/>
                </a:solidFill>
                <a:latin typeface="Trenda IG Text"/>
              </a:rPr>
              <a:t>THE RETURN</a:t>
            </a:r>
            <a:r>
              <a:rPr sz="640" b="0" i="0">
                <a:solidFill>
                  <a:srgbClr val="B3B3B3"/>
                </a:solidFill>
                <a:latin typeface="Trenda IG Text"/>
              </a:rPr>
              <a:t>   target · first full year after go-live</a:t>
            </a:r>
          </a:p>
        </p:txBody>
      </p:sp>
      <p:sp>
        <p:nvSpPr>
          <p:cNvPr id="57" name="Shape 55"/>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6"/>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59" name="Text 57"/>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0" name="Text 58"/>
          <p:cNvSpPr txBox="1"/>
          <p:nvPr/>
        </p:nvSpPr>
        <p:spPr>
          <a:xfrm>
            <a:off x="667512"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as provided by Ascension</a:t>
            </a:r>
          </a:p>
        </p:txBody>
      </p:sp>
      <p:sp>
        <p:nvSpPr>
          <p:cNvPr id="61" name="Shape 59"/>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0"/>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63" name="Text 61"/>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64" name="Text 62"/>
          <p:cNvSpPr txBox="1"/>
          <p:nvPr/>
        </p:nvSpPr>
        <p:spPr>
          <a:xfrm>
            <a:off x="2555748"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agents and run team included</a:t>
            </a:r>
          </a:p>
        </p:txBody>
      </p:sp>
      <p:sp>
        <p:nvSpPr>
          <p:cNvPr id="65" name="Differentiator Border 64"/>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68" name="Text 67"/>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69" name="Text 68"/>
          <p:cNvSpPr txBox="1"/>
          <p:nvPr/>
        </p:nvSpPr>
        <p:spPr>
          <a:xfrm>
            <a:off x="4443983"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from go-live</a:t>
            </a:r>
          </a:p>
        </p:txBody>
      </p:sp>
      <p:sp>
        <p:nvSpPr>
          <p:cNvPr id="70" name="Shape 69"/>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72" name="Text 71"/>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73" name="Text 72"/>
          <p:cNvSpPr txBox="1"/>
          <p:nvPr/>
        </p:nvSpPr>
        <p:spPr>
          <a:xfrm>
            <a:off x="6332220"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$4.79M build + $0.23M usage</a:t>
            </a:r>
          </a:p>
        </p:txBody>
      </p:sp>
      <p:sp>
        <p:nvSpPr>
          <p:cNvPr id="74" name="Shape 73"/>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640" b="0" i="0">
                <a:solidFill>
                  <a:srgbClr val="B3B3B3"/>
                </a:solidFill>
                <a:latin typeface="Trenda IG Text"/>
              </a:rPr>
              <a:t>80% first-year return; 1.8x the investment back in year one</a:t>
            </a:r>
          </a:p>
        </p:txBody>
      </p:sp>
      <p:sp>
        <p:nvSpPr>
          <p:cNvPr id="77" name="Shape 76"/>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640" b="0" i="0">
                <a:solidFill>
                  <a:srgbClr val="B3B3B3"/>
                </a:solidFill>
                <a:latin typeface="Trenda IG Text"/>
              </a:rPr>
              <a:t>20-25% lower net run cost per pod, against its own baseline</a:t>
            </a:r>
          </a:p>
        </p:txBody>
      </p:sp>
      <p:sp>
        <p:nvSpPr>
          <p:cNvPr id="80" name="Text 79"/>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KEEP IT HONEST</a:t>
            </a:r>
          </a:p>
          <a:p>
            <a:pPr>
              <a:spcAft>
                <a:spcPts val="100"/>
              </a:spcAft>
            </a:pPr>
            <a:r>
              <a:rPr sz="520" b="0" i="0">
                <a:solidFill>
                  <a:srgbClr val="8C8C8C"/>
                </a:solidFill>
                <a:latin typeface="Trenda IG Text"/>
              </a:rPr>
              <a:t>how the numbers hold</a:t>
            </a:r>
          </a:p>
        </p:txBody>
      </p:sp>
      <p:sp>
        <p:nvSpPr>
          <p:cNvPr id="81" name="Shape 80"/>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81"/>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600" b="0" i="0">
                <a:solidFill>
                  <a:srgbClr val="B3B3B3"/>
                </a:solidFill>
                <a:latin typeface="Trenda IG Text"/>
              </a:rPr>
              <a:t>savings counted against each pod's own numbers</a:t>
            </a:r>
          </a:p>
        </p:txBody>
      </p:sp>
      <p:sp>
        <p:nvSpPr>
          <p:cNvPr id="84" name="Shape 83"/>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4"/>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600" b="0" i="0">
                <a:solidFill>
                  <a:srgbClr val="B3B3B3"/>
                </a:solidFill>
                <a:latin typeface="Trenda IG Text"/>
              </a:rPr>
              <a:t>of steady state while pods onboard</a:t>
            </a:r>
          </a:p>
        </p:txBody>
      </p:sp>
      <p:sp>
        <p:nvSpPr>
          <p:cNvPr id="87" name="Shape 86"/>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7"/>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600" b="0" i="0">
                <a:solidFill>
                  <a:srgbClr val="B3B3B3"/>
                </a:solidFill>
                <a:latin typeface="Trenda IG Text"/>
              </a:rPr>
              <a:t>UAT and CAB take the same time</a:t>
            </a:r>
          </a:p>
        </p:txBody>
      </p:sp>
      <p:sp>
        <p:nvSpPr>
          <p:cNvPr id="90" name="Shape 89"/>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6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