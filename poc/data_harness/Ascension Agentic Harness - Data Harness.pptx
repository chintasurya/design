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4" r:id="rId16"/>
    <p:sldId id="326" r:id="rId18"/>
    <p:sldId id="325" r:id="rId17"/>
    <p:sldId id="323" r:id="rId15"/>
    <p:sldId id="327" r:id="rId19"/>
    <p:sldId id="328" r:id="rId20"/>
    <p:sldId id="329" r:id="rId2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Harness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the Agentic Harness is everything around it.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Developer Agent, at most five times, then to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Bronze keeps raw extracts with lineage, under restricted access.</a:t>
            </a:r>
          </a:p>
          <a:p>
            <a:r>
              <a:t>(3) DLP finds the sensitive columns, a Collibra steward approves each classification, policy tags mask the PHI.</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The Orchestrator, Campaign Strategist and Analytics agents read the knowledge graph and Gold A and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the data foundation, boxes 1, 2, 4, 5, 6, synthetic first.</a:t>
            </a:r>
          </a:p>
          <a:p>
            <a:r>
              <a:t>- Phase 2: PHI governance, box 3, overlapping Phase 1. Its exit is a hard gate: zero unauthorized PHI access in security tests before any agent connects.</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verify the caller first; then a scoped scheduling API returns only that patient's data and enforces the rules (cancellation window, reschedule rules, provider restrictions); bookings are written to the scheduling system of record, never a GCP copy.</a:t>
            </a:r>
          </a:p>
          <a:p>
            <a:r>
              <a:t>- Right, after every call: hand-off to a person when needed, masked transcripts with retention limits, outcomes as aggregates into Gold A, and test calls before every release.</a:t>
            </a:r>
          </a:p>
          <a:p>
            <a:r>
              <a:t>- Bottom: the six safeguards.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harness serves every pod and three jobs: delivery, campaigns and the Sierra voice agent. Each agent is built once, scales across pods without losing accuracy, and stays under the same controls.</a:t>
            </a:r>
          </a:p>
          <a:p/>
          <a:p>
            <a:r>
              <a:t>WALK IT</a:t>
            </a:r>
          </a:p>
          <a:p>
            <a:r>
              <a:t>- Top: one harness,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one engineer who directs the harness agent and verifies its work, and a tech lead shared across two or three squads. Across all pods, $16M a year today falls to about $8M at full run rate: about $20M saved over three years.</a:t>
            </a:r>
          </a:p>
          <a:p/>
          <a:p>
            <a:r>
              <a:t>TOP</a:t>
            </a:r>
          </a:p>
          <a:p>
            <a:r>
              <a:t>- Today's squad: PM / outcome owner, tech lead / SEM, 2-3 developers, 1-2 QA.</a:t>
            </a:r>
          </a:p>
          <a:p>
            <a:r>
              <a:t>- With the harness: the PM keeps ownership; one engineer (dev + QA) directs the agent and verifies; the tech lead / SEM is shared across 2-3 squads and still approves the code at H3.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harness,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and Ascension coding standards</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1060704"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1060704" cy="164592"/>
          </a:xfrm>
          <a:prstGeom prst="rect">
            <a:avLst/>
          </a:prstGeom>
          <a:noFill/>
        </p:spPr>
        <p:txBody>
          <a:bodyPr wrap="square" lIns="0" rIns="0" tIns="0" bIns="0" anchor="ctr">
            <a:spAutoFit/>
          </a:bodyPr>
          <a:lstStyle/>
          <a:p>
            <a:pPr algn="ctr"/>
            <a:r>
              <a:rPr sz="700" b="1" i="0" spc="8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70444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704441" cy="164592"/>
          </a:xfrm>
          <a:prstGeom prst="rect">
            <a:avLst/>
          </a:prstGeom>
          <a:noFill/>
        </p:spPr>
        <p:txBody>
          <a:bodyPr wrap="square" lIns="0" rIns="0" tIns="0" bIns="0" anchor="ctr">
            <a:spAutoFit/>
          </a:bodyPr>
          <a:lstStyle/>
          <a:p>
            <a:pPr algn="ctr"/>
            <a:r>
              <a:rPr sz="700" b="1" i="0" spc="80">
                <a:solidFill>
                  <a:srgbClr val="FF0069"/>
                </a:solidFill>
                <a:latin typeface="Trenda IG Text"/>
              </a:rPr>
              <a:t>DELIVERY + CAMPAIGN AGENTS</a:t>
            </a:r>
          </a:p>
        </p:txBody>
      </p:sp>
      <p:sp>
        <p:nvSpPr>
          <p:cNvPr id="144" name="Shape 135"/>
          <p:cNvSpPr/>
          <p:nvPr/>
        </p:nvSpPr>
        <p:spPr>
          <a:xfrm>
            <a:off x="10875873" y="3291840"/>
            <a:ext cx="651052"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875873" y="3291840"/>
            <a:ext cx="651052" cy="164592"/>
          </a:xfrm>
          <a:prstGeom prst="rect">
            <a:avLst/>
          </a:prstGeom>
          <a:noFill/>
        </p:spPr>
        <p:txBody>
          <a:bodyPr wrap="square" lIns="0" rIns="0" tIns="0" bIns="0" anchor="ctr">
            <a:spAutoFit/>
          </a:bodyPr>
          <a:lstStyle/>
          <a:p>
            <a:pPr algn="ctr"/>
            <a:r>
              <a:rPr sz="700" b="1" i="0" spc="8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not new agents.</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Harness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is everything around it. New: a masked data context, Collibra masking, a Compliance Guardian with a policy engine,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Harness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sp>
        <p:nvSpPr>
          <p:cNvPr id="31" name="Shape 25"/>
          <p:cNvSpPr/>
          <p:nvPr/>
        </p:nvSpPr>
        <p:spPr>
          <a:xfrm>
            <a:off x="1819656" y="3986784"/>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6"/>
          <p:cNvSpPr txBox="1"/>
          <p:nvPr/>
        </p:nvSpPr>
        <p:spPr>
          <a:xfrm>
            <a:off x="1819656" y="3986784"/>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pic>
        <p:nvPicPr>
          <p:cNvPr id="33" name="Picture 32" descr="jira.png"/>
          <p:cNvPicPr>
            <a:picLocks noChangeAspect="1"/>
          </p:cNvPicPr>
          <p:nvPr/>
        </p:nvPicPr>
        <p:blipFill>
          <a:blip r:embed="rId7"/>
          <a:stretch>
            <a:fillRect/>
          </a:stretch>
        </p:blipFill>
        <p:spPr>
          <a:xfrm>
            <a:off x="658368" y="4517136"/>
            <a:ext cx="182880" cy="182880"/>
          </a:xfrm>
          <a:prstGeom prst="rect">
            <a:avLst/>
          </a:prstGeom>
        </p:spPr>
      </p:pic>
      <p:sp>
        <p:nvSpPr>
          <p:cNvPr id="34" name="Text 27"/>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5" name="Text 28"/>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6" name="Shape 29"/>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0"/>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8" name="Text 31"/>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9" name="Text 32"/>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40" name="Text 33"/>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41" name="Text 34"/>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2" name="Text 35"/>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3" name="Text 36"/>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4" name="Text 37"/>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5" name="Shape 38"/>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39"/>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7" name="Text 40"/>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8" name="Text 41"/>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9" name="Text 42"/>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50" name="Text 43"/>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51" name="Text 44"/>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2" name="Shape 45"/>
          <p:cNvSpPr/>
          <p:nvPr/>
        </p:nvSpPr>
        <p:spPr>
          <a:xfrm>
            <a:off x="470458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470458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4" name="Text 47"/>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5" name="Text 48"/>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6" name="Shape 49"/>
          <p:cNvSpPr/>
          <p:nvPr/>
        </p:nvSpPr>
        <p:spPr>
          <a:xfrm>
            <a:off x="5527548" y="3319272"/>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0"/>
          <p:cNvSpPr txBox="1"/>
          <p:nvPr/>
        </p:nvSpPr>
        <p:spPr>
          <a:xfrm>
            <a:off x="5527548" y="3319272"/>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58" name="Shape 51"/>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60" name="Text 53"/>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61" name="Text 54"/>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62" name="Text 55"/>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63" name="Text 56"/>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64" name="Text 57"/>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65" name="Text 58"/>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6" name="Text 59"/>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7" name="Shape 60"/>
          <p:cNvSpPr/>
          <p:nvPr/>
        </p:nvSpPr>
        <p:spPr>
          <a:xfrm>
            <a:off x="5527548" y="41605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1"/>
          <p:cNvSpPr txBox="1"/>
          <p:nvPr/>
        </p:nvSpPr>
        <p:spPr>
          <a:xfrm>
            <a:off x="5527548" y="41605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69" name="Text 62"/>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70" name="Shape 63"/>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72" name="Shape 65"/>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74" name="Shape 67"/>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76" name="Shape 69"/>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8" name="Shape 71"/>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80" name="Shape 73"/>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4"/>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82" name="Shape 75"/>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6"/>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84" name="Shape 77"/>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78"/>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86" name="Text 79"/>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87" name="Text 80"/>
          <p:cNvSpPr txBox="1"/>
          <p:nvPr/>
        </p:nvSpPr>
        <p:spPr>
          <a:xfrm>
            <a:off x="6528816" y="2340864"/>
            <a:ext cx="1691640" cy="310896"/>
          </a:xfrm>
          <a:prstGeom prst="rect">
            <a:avLst/>
          </a:prstGeom>
          <a:noFill/>
        </p:spPr>
        <p:txBody>
          <a:bodyPr wrap="square" lIns="0" rIns="0" tIns="0" bIns="0" anchor="ctr">
            <a:spAutoFit/>
          </a:bodyPr>
          <a:lstStyle/>
          <a:p>
            <a:r>
              <a:rPr sz="860" b="1" i="0">
                <a:solidFill>
                  <a:srgbClr val="00D6F2"/>
                </a:solidFill>
                <a:latin typeface="Trenda IG Text"/>
              </a:rPr>
              <a:t>Change Guardian</a:t>
            </a:r>
          </a:p>
        </p:txBody>
      </p:sp>
      <p:sp>
        <p:nvSpPr>
          <p:cNvPr id="88" name="Shape 81"/>
          <p:cNvSpPr/>
          <p:nvPr/>
        </p:nvSpPr>
        <p:spPr>
          <a:xfrm>
            <a:off x="7854696" y="2423160"/>
            <a:ext cx="694944" cy="155448"/>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7854696" y="2423160"/>
            <a:ext cx="694944" cy="155448"/>
          </a:xfrm>
          <a:prstGeom prst="rect">
            <a:avLst/>
          </a:prstGeom>
          <a:noFill/>
        </p:spPr>
        <p:txBody>
          <a:bodyPr wrap="square" lIns="0" rIns="0" tIns="0" bIns="0" anchor="ctr">
            <a:spAutoFit/>
          </a:bodyPr>
          <a:lstStyle/>
          <a:p>
            <a:pPr algn="ctr"/>
            <a:r>
              <a:rPr sz="700" b="1" i="0" spc="80">
                <a:solidFill>
                  <a:srgbClr val="000000"/>
                </a:solidFill>
                <a:latin typeface="Trenda IG Text"/>
              </a:rPr>
              <a:t>WE BUILD IT</a:t>
            </a:r>
          </a:p>
        </p:txBody>
      </p:sp>
      <p:sp>
        <p:nvSpPr>
          <p:cNvPr id="90" name="Text 83"/>
          <p:cNvSpPr txBox="1"/>
          <p:nvPr/>
        </p:nvSpPr>
        <p:spPr>
          <a:xfrm>
            <a:off x="6528816" y="2688336"/>
            <a:ext cx="169164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91" name="Text 84"/>
          <p:cNvSpPr txBox="1"/>
          <p:nvPr/>
        </p:nvSpPr>
        <p:spPr>
          <a:xfrm>
            <a:off x="6528816" y="3035808"/>
            <a:ext cx="169164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92" name="Text 85"/>
          <p:cNvSpPr txBox="1"/>
          <p:nvPr/>
        </p:nvSpPr>
        <p:spPr>
          <a:xfrm>
            <a:off x="6528816" y="3383279"/>
            <a:ext cx="169164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93" name="Shape 86"/>
          <p:cNvSpPr/>
          <p:nvPr/>
        </p:nvSpPr>
        <p:spPr>
          <a:xfrm>
            <a:off x="8202167" y="3474720"/>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7"/>
          <p:cNvSpPr txBox="1"/>
          <p:nvPr/>
        </p:nvSpPr>
        <p:spPr>
          <a:xfrm>
            <a:off x="8202167" y="3474720"/>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5" name="Text 88"/>
          <p:cNvSpPr txBox="1"/>
          <p:nvPr/>
        </p:nvSpPr>
        <p:spPr>
          <a:xfrm>
            <a:off x="6528816" y="3730752"/>
            <a:ext cx="169164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96" name="Shape 89"/>
          <p:cNvSpPr/>
          <p:nvPr/>
        </p:nvSpPr>
        <p:spPr>
          <a:xfrm>
            <a:off x="8202167" y="3822191"/>
            <a:ext cx="329184" cy="137160"/>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0"/>
          <p:cNvSpPr txBox="1"/>
          <p:nvPr/>
        </p:nvSpPr>
        <p:spPr>
          <a:xfrm>
            <a:off x="8202167" y="3822191"/>
            <a:ext cx="329184" cy="137160"/>
          </a:xfrm>
          <a:prstGeom prst="rect">
            <a:avLst/>
          </a:prstGeom>
          <a:noFill/>
        </p:spPr>
        <p:txBody>
          <a:bodyPr wrap="square" lIns="0" rIns="0" tIns="0" bIns="0" anchor="ctr">
            <a:spAutoFit/>
          </a:bodyPr>
          <a:lstStyle/>
          <a:p>
            <a:pPr algn="ctr"/>
            <a:r>
              <a:rPr sz="700" b="1" i="0" spc="80">
                <a:solidFill>
                  <a:srgbClr val="000000"/>
                </a:solidFill>
                <a:latin typeface="Trenda IG Text"/>
              </a:rPr>
              <a:t>NEW</a:t>
            </a:r>
          </a:p>
        </p:txBody>
      </p:sp>
      <p:sp>
        <p:nvSpPr>
          <p:cNvPr id="98" name="Text 91"/>
          <p:cNvSpPr txBox="1"/>
          <p:nvPr/>
        </p:nvSpPr>
        <p:spPr>
          <a:xfrm>
            <a:off x="6528816" y="4078224"/>
            <a:ext cx="169164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99" name="Text 92"/>
          <p:cNvSpPr txBox="1"/>
          <p:nvPr/>
        </p:nvSpPr>
        <p:spPr>
          <a:xfrm>
            <a:off x="6528816" y="4425696"/>
            <a:ext cx="169164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100" name="Text 93"/>
          <p:cNvSpPr txBox="1"/>
          <p:nvPr/>
        </p:nvSpPr>
        <p:spPr>
          <a:xfrm>
            <a:off x="6528816" y="4773168"/>
            <a:ext cx="169164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101" name="Text 94"/>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102" name="Shape 95"/>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Shape 96"/>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97"/>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105" name="Text 98"/>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106" name="Text 99"/>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107" name="Text 100"/>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108" name="Shape 101"/>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11" name="Text 104"/>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112" name="Text 105"/>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113" name="Text 106"/>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14" name="Shape 107"/>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08"/>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09"/>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17" name="Text 110"/>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18" name="Text 111"/>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19" name="Text 112"/>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20" name="Shape 113"/>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22" name="Text 115"/>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23" name="Picture 122" descr="salesforce.png"/>
          <p:cNvPicPr>
            <a:picLocks noChangeAspect="1"/>
          </p:cNvPicPr>
          <p:nvPr/>
        </p:nvPicPr>
        <p:blipFill>
          <a:blip r:embed="rId4"/>
          <a:stretch>
            <a:fillRect/>
          </a:stretch>
        </p:blipFill>
        <p:spPr>
          <a:xfrm>
            <a:off x="2743200" y="5522976"/>
            <a:ext cx="201168" cy="201168"/>
          </a:xfrm>
          <a:prstGeom prst="rect">
            <a:avLst/>
          </a:prstGeom>
        </p:spPr>
      </p:pic>
      <p:sp>
        <p:nvSpPr>
          <p:cNvPr id="124" name="Text 116"/>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25" name="Text 117"/>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26" name="Picture 125" descr="git.png"/>
          <p:cNvPicPr>
            <a:picLocks noChangeAspect="1"/>
          </p:cNvPicPr>
          <p:nvPr/>
        </p:nvPicPr>
        <p:blipFill>
          <a:blip r:embed="rId8"/>
          <a:stretch>
            <a:fillRect/>
          </a:stretch>
        </p:blipFill>
        <p:spPr>
          <a:xfrm>
            <a:off x="4513478" y="5522976"/>
            <a:ext cx="201168" cy="201168"/>
          </a:xfrm>
          <a:prstGeom prst="rect">
            <a:avLst/>
          </a:prstGeom>
        </p:spPr>
      </p:pic>
      <p:sp>
        <p:nvSpPr>
          <p:cNvPr id="127" name="Text 118"/>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28" name="Text 119"/>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29" name="Picture 128"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30" name="Text 120"/>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31" name="Text 121"/>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32" name="Picture 131"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33" name="Text 122"/>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34" name="Text 123"/>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35" name="Picture 134"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36" name="Text 124"/>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37" name="Text 125"/>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Example: NS-1234, an HFN validation rule for Texas CIN. Delivery needs the engineering context, not patient data, so the GCP data source stays out (grey).</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1165859" y="1901952"/>
            <a:ext cx="0" cy="292608"/>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V="1">
            <a:off x="6734555" y="2066543"/>
            <a:ext cx="0" cy="128017"/>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flipH="1">
            <a:off x="6003036" y="2066543"/>
            <a:ext cx="731519"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a:off x="6003036" y="2066543"/>
            <a:ext cx="0" cy="128017"/>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2"/>
          <p:cNvSpPr/>
          <p:nvPr/>
        </p:nvSpPr>
        <p:spPr>
          <a:xfrm>
            <a:off x="6780276" y="1984248"/>
            <a:ext cx="237744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6780276" y="1984248"/>
            <a:ext cx="2377440" cy="164592"/>
          </a:xfrm>
          <a:prstGeom prst="rect">
            <a:avLst/>
          </a:prstGeom>
          <a:noFill/>
        </p:spPr>
        <p:txBody>
          <a:bodyPr wrap="square" lIns="0" rIns="0" tIns="0" bIns="0" anchor="ctr">
            <a:spAutoFit/>
          </a:bodyPr>
          <a:lstStyle/>
          <a:p>
            <a:pPr algn="ctr"/>
            <a:r>
              <a:rPr sz="700" b="1" i="0" spc="80">
                <a:solidFill>
                  <a:srgbClr val="FFFFFF"/>
                </a:solidFill>
                <a:latin typeface="Trenda IG Text"/>
              </a:rPr>
              <a:t>5 → 4  FAIL → FIX · MAX 5, THEN OWNER</a:t>
            </a:r>
          </a:p>
        </p:txBody>
      </p:sp>
      <p:sp>
        <p:nvSpPr>
          <p:cNvPr id="90" name="Shape 84"/>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5"/>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2" name="Shape 86"/>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3" name="Picture 92" descr="jira.png"/>
          <p:cNvPicPr>
            <a:picLocks noChangeAspect="1"/>
          </p:cNvPicPr>
          <p:nvPr/>
        </p:nvPicPr>
        <p:blipFill>
          <a:blip r:embed="rId4"/>
          <a:stretch>
            <a:fillRect/>
          </a:stretch>
        </p:blipFill>
        <p:spPr>
          <a:xfrm>
            <a:off x="612648" y="4114800"/>
            <a:ext cx="182880" cy="182880"/>
          </a:xfrm>
          <a:prstGeom prst="rect">
            <a:avLst/>
          </a:prstGeom>
        </p:spPr>
      </p:pic>
      <p:sp>
        <p:nvSpPr>
          <p:cNvPr id="94" name="Text 87"/>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5" name="Text 88"/>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96" name="Shape 89"/>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confluence.png"/>
          <p:cNvPicPr>
            <a:picLocks noChangeAspect="1"/>
          </p:cNvPicPr>
          <p:nvPr/>
        </p:nvPicPr>
        <p:blipFill>
          <a:blip r:embed="rId5"/>
          <a:stretch>
            <a:fillRect/>
          </a:stretch>
        </p:blipFill>
        <p:spPr>
          <a:xfrm>
            <a:off x="1572768" y="4114800"/>
            <a:ext cx="182880" cy="182880"/>
          </a:xfrm>
          <a:prstGeom prst="rect">
            <a:avLst/>
          </a:prstGeom>
        </p:spPr>
      </p:pic>
      <p:sp>
        <p:nvSpPr>
          <p:cNvPr id="98" name="Text 90"/>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99" name="Text 91"/>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0" name="Shape 92"/>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2" name="Text 93"/>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3" name="Text 94"/>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4" name="Shape 95"/>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git.png"/>
          <p:cNvPicPr>
            <a:picLocks noChangeAspect="1"/>
          </p:cNvPicPr>
          <p:nvPr/>
        </p:nvPicPr>
        <p:blipFill>
          <a:blip r:embed="rId7"/>
          <a:stretch>
            <a:fillRect/>
          </a:stretch>
        </p:blipFill>
        <p:spPr>
          <a:xfrm>
            <a:off x="3493007" y="4114800"/>
            <a:ext cx="182880" cy="182880"/>
          </a:xfrm>
          <a:prstGeom prst="rect">
            <a:avLst/>
          </a:prstGeom>
        </p:spPr>
      </p:pic>
      <p:sp>
        <p:nvSpPr>
          <p:cNvPr id="106" name="Text 96"/>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07" name="Text 97"/>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08" name="Shape 98"/>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99"/>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0"/>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1" name="Text 101"/>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2" name="Text 102"/>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3" name="Shape 103"/>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5" name="Text 104"/>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16" name="Text 105"/>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17" name="Shape 106"/>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19" name="Text 107"/>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0" name="Text 108"/>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1" name="Text 109"/>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2" name="Shape 110"/>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1"/>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4" name="Shape 112"/>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13"/>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26" name="Shape 114"/>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28" name="Shape 116"/>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0" name="Shape 118"/>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2" name="Text 120"/>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3" name="Arrow 121"/>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4" name="Arrow 122"/>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5" name="Shape 123"/>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24"/>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37" name="Picture 136" descr="jira.png"/>
          <p:cNvPicPr>
            <a:picLocks noChangeAspect="1"/>
          </p:cNvPicPr>
          <p:nvPr/>
        </p:nvPicPr>
        <p:blipFill>
          <a:blip r:embed="rId4"/>
          <a:stretch>
            <a:fillRect/>
          </a:stretch>
        </p:blipFill>
        <p:spPr>
          <a:xfrm>
            <a:off x="7580376" y="4078224"/>
            <a:ext cx="182880" cy="182880"/>
          </a:xfrm>
          <a:prstGeom prst="rect">
            <a:avLst/>
          </a:prstGeom>
        </p:spPr>
      </p:pic>
      <p:sp>
        <p:nvSpPr>
          <p:cNvPr id="138" name="Text 125"/>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39" name="Picture 138"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0" name="Text 126"/>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1" name="Picture 140" descr="git.png"/>
          <p:cNvPicPr>
            <a:picLocks noChangeAspect="1"/>
          </p:cNvPicPr>
          <p:nvPr/>
        </p:nvPicPr>
        <p:blipFill>
          <a:blip r:embed="rId7"/>
          <a:stretch>
            <a:fillRect/>
          </a:stretch>
        </p:blipFill>
        <p:spPr>
          <a:xfrm>
            <a:off x="7580376" y="4398264"/>
            <a:ext cx="182880" cy="182880"/>
          </a:xfrm>
          <a:prstGeom prst="rect">
            <a:avLst/>
          </a:prstGeom>
        </p:spPr>
      </p:pic>
      <p:sp>
        <p:nvSpPr>
          <p:cNvPr id="142" name="Text 127"/>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3" name="Picture 142"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4" name="Text 128"/>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5" name="Shape 129"/>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0"/>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47" name="Text 131"/>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48" name="Shape 132"/>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Text 133"/>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0" name="Text 134"/>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1" name="Text 135"/>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2" name="Shape 136"/>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Shape 137"/>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 name="Text 138"/>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~2 weeks → ~2 days</a:t>
            </a:r>
          </a:p>
        </p:txBody>
      </p:sp>
      <p:sp>
        <p:nvSpPr>
          <p:cNvPr id="155" name="Text 139"/>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per Health Cloud task, story to UAT</a:t>
            </a:r>
          </a:p>
        </p:txBody>
      </p:sp>
      <p:sp>
        <p:nvSpPr>
          <p:cNvPr id="156" name="Shape 140"/>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59" name="Text 143"/>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0" name="Shape 144"/>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3" name="Text 147"/>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raw extracts with lineage and timestamps. Restricted access.</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DLP classifies, the Collibra steward approves, policy tags mask PHI.</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PROMPT IN CODEX, PLAN, BUILD + TEST · MASKED DATA ONLY</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graph and Gold A;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Marketer + clinical approve the Campaign Opportunity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checks consent, STOP, links, hours. </a:t>
            </a:r>
            <a:r>
              <a:rPr sz="700" b="1" i="0">
                <a:solidFill>
                  <a:srgbClr val="FF0069"/>
                </a:solidFill>
                <a:latin typeface="Trenda IG Text"/>
              </a:rPr>
              <a:t>Failed → 10, max 5, then an owner.</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6934961" y="3703320"/>
            <a:ext cx="1845565"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693496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8" name="Text 90"/>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99" name="Shape 91"/>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Picture 99"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1" name="Text 92"/>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2" name="Text 93"/>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3" name="Shape 94"/>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4" name="Picture 103" descr="tableau.png"/>
          <p:cNvPicPr>
            <a:picLocks noChangeAspect="1"/>
          </p:cNvPicPr>
          <p:nvPr/>
        </p:nvPicPr>
        <p:blipFill>
          <a:blip r:embed="rId8"/>
          <a:stretch>
            <a:fillRect/>
          </a:stretch>
        </p:blipFill>
        <p:spPr>
          <a:xfrm>
            <a:off x="4331208" y="3831336"/>
            <a:ext cx="182880" cy="182880"/>
          </a:xfrm>
          <a:prstGeom prst="rect">
            <a:avLst/>
          </a:prstGeom>
        </p:spPr>
      </p:pic>
      <p:sp>
        <p:nvSpPr>
          <p:cNvPr id="105" name="Text 95"/>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6" name="Text 96"/>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07" name="Shape 97"/>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98"/>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9" name="Text 99"/>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0" name="Shape 100"/>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2" name="Text 102"/>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3" name="Shape 103"/>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4" name="Picture 113" descr="people.png"/>
          <p:cNvPicPr>
            <a:picLocks noChangeAspect="1"/>
          </p:cNvPicPr>
          <p:nvPr/>
        </p:nvPicPr>
        <p:blipFill>
          <a:blip r:embed="rId6"/>
          <a:stretch>
            <a:fillRect/>
          </a:stretch>
        </p:blipFill>
        <p:spPr>
          <a:xfrm>
            <a:off x="9849611" y="3831336"/>
            <a:ext cx="164592" cy="164592"/>
          </a:xfrm>
          <a:prstGeom prst="rect">
            <a:avLst/>
          </a:prstGeom>
        </p:spPr>
      </p:pic>
      <p:sp>
        <p:nvSpPr>
          <p:cNvPr id="115" name="Text 104"/>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6" name="Shape 105"/>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06"/>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18" name="Text 107"/>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19" name="Arrow 108"/>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Arrow 109"/>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Arrow 110"/>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2" name="Arrow 111"/>
          <p:cNvCxnSpPr/>
          <p:nvPr/>
        </p:nvCxnSpPr>
        <p:spPr>
          <a:xfrm flipH="1">
            <a:off x="3518153" y="2450592"/>
            <a:ext cx="6923380"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a:off x="3518153" y="2450592"/>
            <a:ext cx="0" cy="493776"/>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5" name="Shape 114"/>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15"/>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27" name="Shape 116"/>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Shape 117"/>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9" name="Picture 128" descr="salesforce.png"/>
          <p:cNvPicPr>
            <a:picLocks noChangeAspect="1"/>
          </p:cNvPicPr>
          <p:nvPr/>
        </p:nvPicPr>
        <p:blipFill>
          <a:blip r:embed="rId9"/>
          <a:stretch>
            <a:fillRect/>
          </a:stretch>
        </p:blipFill>
        <p:spPr>
          <a:xfrm>
            <a:off x="484632" y="4553712"/>
            <a:ext cx="182880" cy="182880"/>
          </a:xfrm>
          <a:prstGeom prst="rect">
            <a:avLst/>
          </a:prstGeom>
        </p:spPr>
      </p:pic>
      <p:sp>
        <p:nvSpPr>
          <p:cNvPr id="130" name="Text 118"/>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1" name="Shape 119"/>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0"/>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4" name="Text 122"/>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5" name="Text 123"/>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36" name="Shape 124"/>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Shape 125"/>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26"/>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39" name="Picture 138" descr="people.png"/>
          <p:cNvPicPr>
            <a:picLocks noChangeAspect="1"/>
          </p:cNvPicPr>
          <p:nvPr/>
        </p:nvPicPr>
        <p:blipFill>
          <a:blip r:embed="rId6"/>
          <a:stretch>
            <a:fillRect/>
          </a:stretch>
        </p:blipFill>
        <p:spPr>
          <a:xfrm>
            <a:off x="2551176" y="4882896"/>
            <a:ext cx="164592" cy="164592"/>
          </a:xfrm>
          <a:prstGeom prst="rect">
            <a:avLst/>
          </a:prstGeom>
        </p:spPr>
      </p:pic>
      <p:sp>
        <p:nvSpPr>
          <p:cNvPr id="140" name="Text 127"/>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1" name="Shape 128"/>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29"/>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3" name="Text 130"/>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4" name="Differentiator Border 132"/>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Shape 133"/>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Shape 134"/>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35"/>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48" name="Text 136"/>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49" name="Text 137"/>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0" name="Shape 138"/>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Shape 139"/>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2" name="Text 140"/>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3" name="Picture 152"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4" name="Text 141"/>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5" name="Shape 142"/>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3"/>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57" name="Shape 144"/>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Shape 145"/>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46"/>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0" name="Picture 159"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1" name="Text 147"/>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2" name="Text 148"/>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3" name="Shape 149"/>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4" name="Shape 150"/>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1"/>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66" name="Text 152"/>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67" name="Text 153"/>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68" name="Shape 154"/>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Shape 155"/>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0" name="Text 156"/>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1" name="Text 157"/>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2" name="Shape 158"/>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5" name="Text 161"/>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76" name="Arrow 162"/>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7" name="Arrow 163"/>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8" name="Arrow 164"/>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9" name="Arrow 165"/>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0" name="Arrow 166"/>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3" name="Shape 179"/>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4" name="Text 180"/>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5" name="Text 181"/>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196" name="Shape 182"/>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7" name="Shape 183"/>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199" name="Shape 185"/>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0" name="Shape 186"/>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Text 187"/>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2" name="Shape 188"/>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3" name="Shape 189"/>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Text 190"/>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5" name="Shape 191"/>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6" name="Shape 192"/>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Text 193"/>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08" name="Shape 194"/>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9" name="Shape 195"/>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Text 196"/>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1" name="Shape 197"/>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2" name="Shape 198"/>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Text 199"/>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4" name="Shape 200"/>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5" name="Shape 201"/>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Text 202"/>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Data foundation</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2 · 4 · 5 · 6</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sources into Bronze</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PHI governance</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3</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548640"/>
          </a:xfrm>
          <a:prstGeom prst="rect">
            <a:avLst/>
          </a:prstGeom>
          <a:noFill/>
        </p:spPr>
        <p:txBody>
          <a:bodyPr wrap="square" lIns="0" rIns="0" tIns="0" bIns="0" anchor="t">
            <a:spAutoFit/>
          </a:bodyPr>
          <a:lstStyle/>
          <a:p>
            <a:r>
              <a:rPr sz="700" b="0" i="0">
                <a:solidFill>
                  <a:srgbClr val="FFFFFF"/>
                </a:solidFill>
                <a:latin typeface="Trenda IG Text"/>
              </a:rPr>
              <a:t>DLP, Collibra steward approval, policy tags, masking, row access</a:t>
            </a:r>
          </a:p>
        </p:txBody>
      </p:sp>
      <p:sp>
        <p:nvSpPr>
          <p:cNvPr id="45" name="Shape 44"/>
          <p:cNvSpPr/>
          <p:nvPr/>
        </p:nvSpPr>
        <p:spPr>
          <a:xfrm>
            <a:off x="3771246"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724912"/>
            <a:ext cx="1304979" cy="548640"/>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47" name="Shape 46"/>
          <p:cNvSpPr/>
          <p:nvPr/>
        </p:nvSpPr>
        <p:spPr>
          <a:xfrm>
            <a:off x="3771246"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291839"/>
            <a:ext cx="1304979" cy="548640"/>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49" name="Shape 48"/>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Zero unauthorized PHI access in tests</a:t>
            </a:r>
          </a:p>
        </p:txBody>
      </p:sp>
      <p:sp>
        <p:nvSpPr>
          <p:cNvPr id="51" name="Shape 50"/>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3" name="Shape 52"/>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5" name="Shape 54"/>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7" name="Shape 56"/>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59" name="Shape 58"/>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1" name="Shape 60"/>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3" name="Shape 62"/>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5" name="Shape 64"/>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7" name="Shape 66"/>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69" name="Shape 68"/>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1" name="Shape 70"/>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3" name="Shape 72"/>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5" name="Shape 74"/>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7" name="Shape 76"/>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79" name="Shape 78"/>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1" name="Shape 80"/>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3" name="Shape 82"/>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5" name="Shape 84"/>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7" name="Shape 86"/>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89" name="Shape 88"/>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1" name="Shape 90"/>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3" name="Shape 92"/>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5" name="Shape 94"/>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7" name="Shape 96"/>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99" name="Shape 98"/>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1" name="Shape 100"/>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3" name="Shape 102"/>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5" name="Shape 104"/>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7" name="Shape 106"/>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09" name="Shape 108"/>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1" name="Shape 110"/>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3" name="Shape 112"/>
          <p:cNvSpPr/>
          <p:nvPr/>
        </p:nvSpPr>
        <p:spPr>
          <a:xfrm>
            <a:off x="4737898"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4737898"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5" name="Shape 114"/>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7" name="Shape 116"/>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19" name="Text 118"/>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0" name="Shape 119"/>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agent connects until security tests prove it cannot see PHI (Phase 2 exit).</a:t>
            </a:r>
          </a:p>
        </p:txBody>
      </p:sp>
      <p:sp>
        <p:nvSpPr>
          <p:cNvPr id="123" name="Shape 122"/>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Shape 123"/>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Text 124"/>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6" name="Shape 125"/>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Shape 126"/>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7"/>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29" name="Text 128"/>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2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54508"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54507"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5450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54507"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as in the Agentic Harness deck. With the data harness: pilot targets, measured on the CHF campaign against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Articles in Google Cloud keep every answer accurate. Booking, cancelling and rescheduling go through the scheduling system of record, only after the caller is verified.</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to a person</a:t>
            </a:r>
          </a:p>
          <a:p>
            <a:pPr>
              <a:spcAft>
                <a:spcPts val="100"/>
              </a:spcAft>
            </a:pPr>
            <a:r>
              <a:rPr sz="700" b="0" i="0">
                <a:solidFill>
                  <a:srgbClr val="B3B3B3"/>
                </a:solidFill>
                <a:latin typeface="Trenda IG Text"/>
              </a:rPr>
              <a:t>when it should not decide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caller only · this patient only</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Synced to Sierra on every change, so no stale answer.</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60020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197864" cy="237744"/>
          </a:xfrm>
          <a:prstGeom prst="rect">
            <a:avLst/>
          </a:prstGeom>
          <a:noFill/>
        </p:spPr>
        <p:txBody>
          <a:bodyPr wrap="square" lIns="0" rIns="0" tIns="0" bIns="0" anchor="ctr">
            <a:spAutoFit/>
          </a:bodyPr>
          <a:lstStyle/>
          <a:p>
            <a:r>
              <a:rPr sz="700" b="1" i="0">
                <a:solidFill>
                  <a:srgbClr val="FFD700"/>
                </a:solidFill>
                <a:latin typeface="Trenda IG Text"/>
              </a:rPr>
              <a:t>Verify the caller</a:t>
            </a:r>
          </a:p>
        </p:txBody>
      </p:sp>
      <p:sp>
        <p:nvSpPr>
          <p:cNvPr id="66" name="Text 61"/>
          <p:cNvSpPr txBox="1"/>
          <p:nvPr/>
        </p:nvSpPr>
        <p:spPr>
          <a:xfrm>
            <a:off x="2670048" y="4050792"/>
            <a:ext cx="1435608" cy="548640"/>
          </a:xfrm>
          <a:prstGeom prst="rect">
            <a:avLst/>
          </a:prstGeom>
          <a:noFill/>
        </p:spPr>
        <p:txBody>
          <a:bodyPr wrap="square" lIns="0" rIns="0" tIns="0" bIns="0" anchor="t">
            <a:spAutoFit/>
          </a:bodyPr>
          <a:lstStyle/>
          <a:p>
            <a:r>
              <a:rPr sz="700" b="0" i="0">
                <a:solidFill>
                  <a:srgbClr val="B3B3B3"/>
                </a:solidFill>
                <a:latin typeface="Trenda IG Text"/>
              </a:rPr>
              <a:t>Date of birth plus a one-time code, before any patient detail.</a:t>
            </a:r>
          </a:p>
        </p:txBody>
      </p:sp>
      <p:sp>
        <p:nvSpPr>
          <p:cNvPr id="67" name="Differentiator Border 63"/>
          <p:cNvSpPr/>
          <p:nvPr/>
        </p:nvSpPr>
        <p:spPr>
          <a:xfrm>
            <a:off x="4361688" y="3721608"/>
            <a:ext cx="2331720" cy="9144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379976" y="3739896"/>
            <a:ext cx="2295144" cy="87782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471416" y="3776472"/>
            <a:ext cx="2112263" cy="237744"/>
          </a:xfrm>
          <a:prstGeom prst="rect">
            <a:avLst/>
          </a:prstGeom>
          <a:noFill/>
        </p:spPr>
        <p:txBody>
          <a:bodyPr wrap="square" lIns="0" rIns="0" tIns="0" bIns="0" anchor="ctr">
            <a:spAutoFit/>
          </a:bodyPr>
          <a:lstStyle/>
          <a:p>
            <a:r>
              <a:rPr sz="700" b="1" i="0">
                <a:solidFill>
                  <a:srgbClr val="F2F2F2"/>
                </a:solidFill>
                <a:latin typeface="Trenda IG Text"/>
              </a:rPr>
              <a:t>Scoped scheduling API</a:t>
            </a:r>
          </a:p>
        </p:txBody>
      </p:sp>
      <p:sp>
        <p:nvSpPr>
          <p:cNvPr id="70" name="Text 66"/>
          <p:cNvSpPr txBox="1"/>
          <p:nvPr/>
        </p:nvSpPr>
        <p:spPr>
          <a:xfrm>
            <a:off x="4471416" y="4032504"/>
            <a:ext cx="2130551" cy="566927"/>
          </a:xfrm>
          <a:prstGeom prst="rect">
            <a:avLst/>
          </a:prstGeom>
          <a:noFill/>
        </p:spPr>
        <p:txBody>
          <a:bodyPr wrap="square" lIns="0" rIns="0" tIns="0" bIns="0" anchor="t">
            <a:spAutoFit/>
          </a:bodyPr>
          <a:lstStyle/>
          <a:p>
            <a:r>
              <a:rPr sz="700" b="0" i="0">
                <a:solidFill>
                  <a:srgbClr val="B3B3B3"/>
                </a:solidFill>
                <a:latin typeface="Trenda IG Text"/>
              </a:rPr>
              <a:t>Returns only this patient's data and minimum fields. Enforces the rules; the agent never writes queries.</a:t>
            </a:r>
          </a:p>
        </p:txBody>
      </p:sp>
      <p:sp>
        <p:nvSpPr>
          <p:cNvPr id="71" name="Shape 67"/>
          <p:cNvSpPr/>
          <p:nvPr/>
        </p:nvSpPr>
        <p:spPr>
          <a:xfrm>
            <a:off x="6876288" y="3721608"/>
            <a:ext cx="2212848" cy="914400"/>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8"/>
          <p:cNvSpPr/>
          <p:nvPr/>
        </p:nvSpPr>
        <p:spPr>
          <a:xfrm>
            <a:off x="6967728" y="3794760"/>
            <a:ext cx="329184"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9"/>
          <p:cNvSpPr txBox="1"/>
          <p:nvPr/>
        </p:nvSpPr>
        <p:spPr>
          <a:xfrm>
            <a:off x="6967728" y="3794760"/>
            <a:ext cx="329184"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4" name="Text 70"/>
          <p:cNvSpPr txBox="1"/>
          <p:nvPr/>
        </p:nvSpPr>
        <p:spPr>
          <a:xfrm>
            <a:off x="7351776" y="3767328"/>
            <a:ext cx="1664207" cy="237744"/>
          </a:xfrm>
          <a:prstGeom prst="rect">
            <a:avLst/>
          </a:prstGeom>
          <a:noFill/>
        </p:spPr>
        <p:txBody>
          <a:bodyPr wrap="square" lIns="0" rIns="0" tIns="0" bIns="0" anchor="ctr">
            <a:spAutoFit/>
          </a:bodyPr>
          <a:lstStyle/>
          <a:p>
            <a:r>
              <a:rPr sz="700" b="1" i="0">
                <a:solidFill>
                  <a:srgbClr val="F2F2F2"/>
                </a:solidFill>
                <a:latin typeface="Trenda IG Text"/>
              </a:rPr>
              <a:t>Scheduling system of record</a:t>
            </a:r>
          </a:p>
        </p:txBody>
      </p:sp>
      <p:sp>
        <p:nvSpPr>
          <p:cNvPr id="75" name="Text 71"/>
          <p:cNvSpPr txBox="1"/>
          <p:nvPr/>
        </p:nvSpPr>
        <p:spPr>
          <a:xfrm>
            <a:off x="6967728" y="4050792"/>
            <a:ext cx="2048255" cy="548640"/>
          </a:xfrm>
          <a:prstGeom prst="rect">
            <a:avLst/>
          </a:prstGeom>
          <a:noFill/>
        </p:spPr>
        <p:txBody>
          <a:bodyPr wrap="square" lIns="0" rIns="0" tIns="0" bIns="0" anchor="t">
            <a:spAutoFit/>
          </a:bodyPr>
          <a:lstStyle/>
          <a:p>
            <a:r>
              <a:rPr sz="700" b="0" i="0">
                <a:solidFill>
                  <a:srgbClr val="B3B3B3"/>
                </a:solidFill>
                <a:latin typeface="Trenda IG Text"/>
              </a:rPr>
              <a:t>Live availability; book, cancel, reschedule written here. Never a GCP copy, which can lag.</a:t>
            </a:r>
          </a:p>
        </p:txBody>
      </p:sp>
      <p:cxnSp>
        <p:nvCxnSpPr>
          <p:cNvPr id="76" name="Arrow 72"/>
          <p:cNvCxnSpPr/>
          <p:nvPr/>
        </p:nvCxnSpPr>
        <p:spPr>
          <a:xfrm>
            <a:off x="4178808" y="4178808"/>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3"/>
          <p:cNvCxnSpPr/>
          <p:nvPr/>
        </p:nvCxnSpPr>
        <p:spPr>
          <a:xfrm>
            <a:off x="6693408" y="406908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4"/>
          <p:cNvCxnSpPr/>
          <p:nvPr/>
        </p:nvCxnSpPr>
        <p:spPr>
          <a:xfrm flipH="1">
            <a:off x="6693408" y="428853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5"/>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Text 76"/>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API</a:t>
            </a:r>
          </a:p>
        </p:txBody>
      </p:sp>
      <p:sp>
        <p:nvSpPr>
          <p:cNvPr id="81" name="Shape 77"/>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8"/>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83" name="Shape 79"/>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0"/>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85" name="Shape 81"/>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2"/>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87" name="Shape 83"/>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4"/>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89" name="Shape 85"/>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6"/>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1" name="Shape 87"/>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8"/>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94" name="Shape 90"/>
          <p:cNvSpPr/>
          <p:nvPr/>
        </p:nvSpPr>
        <p:spPr>
          <a:xfrm>
            <a:off x="9299448" y="1554480"/>
            <a:ext cx="2368296" cy="74980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5" name="Picture 94" descr="people.png"/>
          <p:cNvPicPr>
            <a:picLocks noChangeAspect="1"/>
          </p:cNvPicPr>
          <p:nvPr/>
        </p:nvPicPr>
        <p:blipFill>
          <a:blip r:embed="rId2"/>
          <a:stretch>
            <a:fillRect/>
          </a:stretch>
        </p:blipFill>
        <p:spPr>
          <a:xfrm>
            <a:off x="9390888" y="1627632"/>
            <a:ext cx="182880" cy="182880"/>
          </a:xfrm>
          <a:prstGeom prst="rect">
            <a:avLst/>
          </a:prstGeom>
        </p:spPr>
      </p:pic>
      <p:sp>
        <p:nvSpPr>
          <p:cNvPr id="96" name="Text 91"/>
          <p:cNvSpPr txBox="1"/>
          <p:nvPr/>
        </p:nvSpPr>
        <p:spPr>
          <a:xfrm>
            <a:off x="9628632" y="1600200"/>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97" name="Text 92"/>
          <p:cNvSpPr txBox="1"/>
          <p:nvPr/>
        </p:nvSpPr>
        <p:spPr>
          <a:xfrm>
            <a:off x="9390888" y="1883664"/>
            <a:ext cx="2203703" cy="384047"/>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98" name="Shape 93"/>
          <p:cNvSpPr/>
          <p:nvPr/>
        </p:nvSpPr>
        <p:spPr>
          <a:xfrm>
            <a:off x="9299448" y="24323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4"/>
          <p:cNvSpPr txBox="1"/>
          <p:nvPr/>
        </p:nvSpPr>
        <p:spPr>
          <a:xfrm>
            <a:off x="9390888" y="248716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0" name="Text 95"/>
          <p:cNvSpPr txBox="1"/>
          <p:nvPr/>
        </p:nvSpPr>
        <p:spPr>
          <a:xfrm>
            <a:off x="9390888" y="27157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1" name="Shape 96"/>
          <p:cNvSpPr/>
          <p:nvPr/>
        </p:nvSpPr>
        <p:spPr>
          <a:xfrm>
            <a:off x="9299448" y="33467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googlebigquery.png"/>
          <p:cNvPicPr>
            <a:picLocks noChangeAspect="1"/>
          </p:cNvPicPr>
          <p:nvPr/>
        </p:nvPicPr>
        <p:blipFill>
          <a:blip r:embed="rId4"/>
          <a:stretch>
            <a:fillRect/>
          </a:stretch>
        </p:blipFill>
        <p:spPr>
          <a:xfrm>
            <a:off x="9390888" y="3410712"/>
            <a:ext cx="182880" cy="182880"/>
          </a:xfrm>
          <a:prstGeom prst="rect">
            <a:avLst/>
          </a:prstGeom>
        </p:spPr>
      </p:pic>
      <p:sp>
        <p:nvSpPr>
          <p:cNvPr id="103" name="Text 97"/>
          <p:cNvSpPr txBox="1"/>
          <p:nvPr/>
        </p:nvSpPr>
        <p:spPr>
          <a:xfrm>
            <a:off x="9628632" y="3401568"/>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to Gold A</a:t>
            </a:r>
          </a:p>
        </p:txBody>
      </p:sp>
      <p:sp>
        <p:nvSpPr>
          <p:cNvPr id="104" name="Text 98"/>
          <p:cNvSpPr txBox="1"/>
          <p:nvPr/>
        </p:nvSpPr>
        <p:spPr>
          <a:xfrm>
            <a:off x="9390888" y="36301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Booked, cancelled, rescheduled, escalated, as aggregates for measurement.</a:t>
            </a:r>
          </a:p>
        </p:txBody>
      </p:sp>
      <p:sp>
        <p:nvSpPr>
          <p:cNvPr id="105" name="Shape 99"/>
          <p:cNvSpPr/>
          <p:nvPr/>
        </p:nvSpPr>
        <p:spPr>
          <a:xfrm>
            <a:off x="9299448" y="4261104"/>
            <a:ext cx="2368296" cy="822960"/>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0"/>
          <p:cNvSpPr txBox="1"/>
          <p:nvPr/>
        </p:nvSpPr>
        <p:spPr>
          <a:xfrm>
            <a:off x="9390888" y="4315968"/>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07" name="Text 101"/>
          <p:cNvSpPr txBox="1"/>
          <p:nvPr/>
        </p:nvSpPr>
        <p:spPr>
          <a:xfrm>
            <a:off x="9390888" y="4544568"/>
            <a:ext cx="2185415" cy="512064"/>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08" name="Text 10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09" name="Shape 103"/>
          <p:cNvSpPr/>
          <p:nvPr/>
        </p:nvSpPr>
        <p:spPr>
          <a:xfrm>
            <a:off x="164592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Shape 10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5"/>
          <p:cNvSpPr txBox="1"/>
          <p:nvPr/>
        </p:nvSpPr>
        <p:spPr>
          <a:xfrm>
            <a:off x="179222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12" name="Shape 106"/>
          <p:cNvSpPr/>
          <p:nvPr/>
        </p:nvSpPr>
        <p:spPr>
          <a:xfrm>
            <a:off x="3349752"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7"/>
          <p:cNvSpPr/>
          <p:nvPr/>
        </p:nvSpPr>
        <p:spPr>
          <a:xfrm>
            <a:off x="334975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8"/>
          <p:cNvSpPr txBox="1"/>
          <p:nvPr/>
        </p:nvSpPr>
        <p:spPr>
          <a:xfrm>
            <a:off x="3496056"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Verify before any PHI</a:t>
            </a:r>
          </a:p>
          <a:p>
            <a:pPr>
              <a:spcAft>
                <a:spcPts val="100"/>
              </a:spcAft>
            </a:pPr>
            <a:r>
              <a:rPr sz="700" b="0" i="0">
                <a:solidFill>
                  <a:srgbClr val="B3B3B3"/>
                </a:solidFill>
                <a:latin typeface="Trenda IG Text"/>
              </a:rPr>
              <a:t>then this patient only</a:t>
            </a:r>
          </a:p>
        </p:txBody>
      </p:sp>
      <p:sp>
        <p:nvSpPr>
          <p:cNvPr id="115" name="Shape 109"/>
          <p:cNvSpPr/>
          <p:nvPr/>
        </p:nvSpPr>
        <p:spPr>
          <a:xfrm>
            <a:off x="5053584"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10"/>
          <p:cNvSpPr/>
          <p:nvPr/>
        </p:nvSpPr>
        <p:spPr>
          <a:xfrm>
            <a:off x="50535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1"/>
          <p:cNvSpPr txBox="1"/>
          <p:nvPr/>
        </p:nvSpPr>
        <p:spPr>
          <a:xfrm>
            <a:off x="5199888"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18" name="Shape 112"/>
          <p:cNvSpPr/>
          <p:nvPr/>
        </p:nvSpPr>
        <p:spPr>
          <a:xfrm>
            <a:off x="6757416"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Shape 113"/>
          <p:cNvSpPr/>
          <p:nvPr/>
        </p:nvSpPr>
        <p:spPr>
          <a:xfrm>
            <a:off x="6757416"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4"/>
          <p:cNvSpPr txBox="1"/>
          <p:nvPr/>
        </p:nvSpPr>
        <p:spPr>
          <a:xfrm>
            <a:off x="6903720"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API</a:t>
            </a:r>
          </a:p>
          <a:p>
            <a:pPr>
              <a:spcAft>
                <a:spcPts val="100"/>
              </a:spcAft>
            </a:pPr>
            <a:r>
              <a:rPr sz="700" b="0" i="0">
                <a:solidFill>
                  <a:srgbClr val="B3B3B3"/>
                </a:solidFill>
                <a:latin typeface="Trenda IG Text"/>
              </a:rPr>
              <a:t>not only in an article</a:t>
            </a:r>
          </a:p>
        </p:txBody>
      </p:sp>
      <p:sp>
        <p:nvSpPr>
          <p:cNvPr id="121" name="Shape 115"/>
          <p:cNvSpPr/>
          <p:nvPr/>
        </p:nvSpPr>
        <p:spPr>
          <a:xfrm>
            <a:off x="8461248"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Shape 116"/>
          <p:cNvSpPr/>
          <p:nvPr/>
        </p:nvSpPr>
        <p:spPr>
          <a:xfrm>
            <a:off x="8461248"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Text 117"/>
          <p:cNvSpPr txBox="1"/>
          <p:nvPr/>
        </p:nvSpPr>
        <p:spPr>
          <a:xfrm>
            <a:off x="8607552"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24" name="Shape 118"/>
          <p:cNvSpPr/>
          <p:nvPr/>
        </p:nvSpPr>
        <p:spPr>
          <a:xfrm>
            <a:off x="10165080" y="5376672"/>
            <a:ext cx="1612392"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5" name="Shape 119"/>
          <p:cNvSpPr/>
          <p:nvPr/>
        </p:nvSpPr>
        <p:spPr>
          <a:xfrm>
            <a:off x="1016508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0"/>
          <p:cNvSpPr txBox="1"/>
          <p:nvPr/>
        </p:nvSpPr>
        <p:spPr>
          <a:xfrm>
            <a:off x="10311384" y="5376672"/>
            <a:ext cx="1411224"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27" name="Shape 1"/>
          <p:cNvSpPr/>
          <p:nvPr/>
        </p:nvSpPr>
        <p:spPr>
          <a:xfrm>
            <a:off x="9464040" y="182880"/>
            <a:ext cx="2313432" cy="274320"/>
          </a:xfrm>
          <a:prstGeom prst="roundRect">
            <a:avLst>
              <a:gd name="adj" fmla="val 50000"/>
            </a:avLst>
          </a:prstGeom>
          <a:noFill/>
          <a:ln w="2222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2"/>
          <p:cNvSpPr txBox="1"/>
          <p:nvPr/>
        </p:nvSpPr>
        <p:spPr>
          <a:xfrm>
            <a:off x="9464040" y="182880"/>
            <a:ext cx="2313432" cy="274320"/>
          </a:xfrm>
          <a:prstGeom prst="rect">
            <a:avLst/>
          </a:prstGeom>
          <a:noFill/>
        </p:spPr>
        <p:txBody>
          <a:bodyPr wrap="square" lIns="0" rIns="0" tIns="0" bIns="0" anchor="ctr">
            <a:spAutoFit/>
          </a:bodyPr>
          <a:lstStyle/>
          <a:p>
            <a:pPr algn="ctr"/>
            <a:r>
              <a:rPr sz="800" b="1" i="0" spc="150">
                <a:solidFill>
                  <a:srgbClr val="FFFFFF"/>
                </a:solidFill>
                <a:latin typeface="Trenda IG Text"/>
              </a:rPr>
              <a:t>KEY DIFFERENTIATOR</a:t>
            </a:r>
          </a:p>
        </p:txBody>
      </p:sp>
      <p:sp>
        <p:nvSpPr>
          <p:cNvPr id="129" name="Shape 3"/>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Shape 4"/>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harness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HARNESS</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a new pod adds skills, not agents</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not agents.</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HARNESS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 about $20M back over three years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and one engineer directing the harness agent, with a shared tech lead.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HARNESS</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HARNESS · ~2.4 PEOPLE</a:t>
            </a:r>
          </a:p>
        </p:txBody>
      </p:sp>
      <p:sp>
        <p:nvSpPr>
          <p:cNvPr id="18" name="Shape 17"/>
          <p:cNvSpPr/>
          <p:nvPr/>
        </p:nvSpPr>
        <p:spPr>
          <a:xfrm>
            <a:off x="521208" y="2249424"/>
            <a:ext cx="749808"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749808" cy="292608"/>
          </a:xfrm>
          <a:prstGeom prst="rect">
            <a:avLst/>
          </a:prstGeom>
          <a:noFill/>
        </p:spPr>
        <p:txBody>
          <a:bodyPr wrap="square" lIns="0" rIns="0" tIns="0" bIns="0" anchor="ctr">
            <a:spAutoFit/>
          </a:bodyPr>
          <a:lstStyle/>
          <a:p>
            <a:pPr algn="ctr"/>
            <a:r>
              <a:rPr sz="700" b="1" i="0">
                <a:solidFill>
                  <a:srgbClr val="F2F2F2"/>
                </a:solidFill>
                <a:latin typeface="Trenda IG Text"/>
              </a:rPr>
              <a:t>PM / owner</a:t>
            </a:r>
          </a:p>
        </p:txBody>
      </p:sp>
      <p:sp>
        <p:nvSpPr>
          <p:cNvPr id="20" name="Shape 19"/>
          <p:cNvSpPr/>
          <p:nvPr/>
        </p:nvSpPr>
        <p:spPr>
          <a:xfrm>
            <a:off x="1325880" y="2249424"/>
            <a:ext cx="1115568"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325880" y="2249424"/>
            <a:ext cx="1115568" cy="292608"/>
          </a:xfrm>
          <a:prstGeom prst="rect">
            <a:avLst/>
          </a:prstGeom>
          <a:noFill/>
        </p:spPr>
        <p:txBody>
          <a:bodyPr wrap="square" lIns="0" rIns="0" tIns="0" bIns="0" anchor="ctr">
            <a:spAutoFit/>
          </a:bodyPr>
          <a:lstStyle/>
          <a:p>
            <a:pPr algn="ctr"/>
            <a:r>
              <a:rPr sz="700" b="1" i="0">
                <a:solidFill>
                  <a:srgbClr val="F2F2F2"/>
                </a:solidFill>
                <a:latin typeface="Trenda IG Text"/>
              </a:rPr>
              <a:t>Engineer · dev + QA</a:t>
            </a:r>
          </a:p>
        </p:txBody>
      </p:sp>
      <p:sp>
        <p:nvSpPr>
          <p:cNvPr id="22" name="Shape 21"/>
          <p:cNvSpPr/>
          <p:nvPr/>
        </p:nvSpPr>
        <p:spPr>
          <a:xfrm>
            <a:off x="2496312"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551176" y="2322576"/>
            <a:ext cx="146304" cy="146304"/>
          </a:xfrm>
          <a:prstGeom prst="rect">
            <a:avLst/>
          </a:prstGeom>
        </p:spPr>
      </p:pic>
      <p:sp>
        <p:nvSpPr>
          <p:cNvPr id="24" name="Text 22"/>
          <p:cNvSpPr txBox="1"/>
          <p:nvPr/>
        </p:nvSpPr>
        <p:spPr>
          <a:xfrm>
            <a:off x="2679192"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538728" y="2249424"/>
            <a:ext cx="914400"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538728" y="2249424"/>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Engineer </a:t>
            </a:r>
            <a:r>
              <a:rPr sz="700" b="0" i="0">
                <a:solidFill>
                  <a:srgbClr val="B3B3B3"/>
                </a:solidFill>
                <a:latin typeface="Trenda IG Text"/>
              </a:rPr>
              <a:t>directs it and verifies. </a:t>
            </a:r>
            <a:r>
              <a:rPr sz="700" b="1" i="0">
                <a:solidFill>
                  <a:srgbClr val="F2F2F2"/>
                </a:solidFill>
                <a:latin typeface="Trenda IG Text"/>
              </a:rPr>
              <a:t>Tech lead </a:t>
            </a:r>
            <a:r>
              <a:rPr sz="700" b="0" i="0">
                <a:solidFill>
                  <a:srgbClr val="B3B3B3"/>
                </a:solidFill>
                <a:latin typeface="Trenda IG Text"/>
              </a:rPr>
              <a:t>approves at H3 for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harness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HARNESS</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harness</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