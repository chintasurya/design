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256" r:id="rId10"/>
    <p:sldId id="25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0" Type="http://schemas.openxmlformats.org/officeDocument/2006/relationships/slide" Target="slides/slide1.xml"/><Relationship Id="rId11" Type="http://schemas.openxmlformats.org/officeDocument/2006/relationships/slide" Target="slides/slide2.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Executive summary (1 of 2)   (about 2 minutes)</a:t>
            </a:r>
          </a:p>
          <a:p/>
          <a:p>
            <a:r>
              <a:t>OUR UNDERSTANDING</a:t>
            </a:r>
          </a:p>
          <a:p>
            <a:r>
              <a:t>Ascension wants faster Salesforce delivery and faster Marketing Cloud campaigns without loosening control of patient data. Today a Health Cloud change takes about two weeks and a campaign about 90 days; much of that is manual research, impact analysis, test writing, and data preparation repeated for every campaign. The Agentic Factory brings AI agents to Health Cloud delivery, Marketing Cloud campaigns and the Sierra voice agent on one governed platform. We start with one Health Cloud pod and one campaign, then add pods one at a time.</a:t>
            </a:r>
          </a:p>
          <a:p/>
          <a:p>
            <a:r>
              <a:t>RESULTS &amp; VALUE</a:t>
            </a:r>
          </a:p>
          <a:p>
            <a:r>
              <a:t>About 2 days per Health Cloud change instead of about 2 weeks; about 10-12 days per campaign instead of about 90; squads of about 2.4 people instead of 5-7; about $19.9M saved over three years. All are pilot targets and planning estimates, confirmed against the Phase 0 baseline.</a:t>
            </a:r>
          </a:p>
          <a:p/>
          <a:p>
            <a:r>
              <a:t>WHY INSIGHT GLOBAL</a:t>
            </a:r>
          </a:p>
          <a:p>
            <a:r>
              <a:t>It runs on what Ascension already owns; agent-assisted delivery is already measured at Ascension (1-2 weeks to 2-4 days); safety is designed in; the Change Guardian protects every pod; and the rollout is measured and incremental.</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Executive summary (2 of 2)   (about 2 minutes)</a:t>
            </a:r>
          </a:p>
          <a:p/>
          <a:p>
            <a:r>
              <a:t>SOLUTION OVERVIEW</a:t>
            </a:r>
          </a:p>
          <a:p>
            <a:r>
              <a:t>Insight Global designs and implements the Ascension Agentic Factory: seven delivery agents and seven campaign agents, an engineering knowledge graph of Ascension's Salesforce estate, and a data harness in Google Cloud that governs patient data through Bronze, Silver and Gold layers with DLP and Collibra. Agents plan, build and test on masked data; people approve at every gate; patients reach Marketing Cloud only through a policy-checked activation gateway.</a:t>
            </a:r>
          </a:p>
          <a:p/>
          <a:p>
            <a:r>
              <a:t>KEY CONSIDERATIONS</a:t>
            </a:r>
          </a:p>
          <a:p>
            <a:r>
              <a:t>No raw PHI for agents, and masking alone is not HIPAA compliance; people approve every gate; existing platforms and data are reused; everything is proven on synthetic data before any real patient; releases are incremental; outcomes are measured.</a:t>
            </a:r>
          </a:p>
          <a:p/>
          <a:p>
            <a:r>
              <a:t>SOLUTION TIMELINE</a:t>
            </a:r>
          </a:p>
          <a:p>
            <a:r>
              <a:t>The seven build phases of the full deck, in order: discovery and baseline; the data foundation; PHI governance (its exit is a hard gate: zero unauthorized access in tests); agentic intelligence; build and test on synthetic data; governed activation with the first real CHF audience; then measure against the baseline and scale pod by pod. Phases 1 and 2 run partly in parallel. Durations are set in Phase 0. The Network Services Health Cloud pilot runs alongside, on the same agents and knowledge graph.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182880"/>
            <a:ext cx="5486400" cy="182880"/>
          </a:xfrm>
          <a:prstGeom prst="rect">
            <a:avLst/>
          </a:prstGeom>
          <a:noFill/>
        </p:spPr>
        <p:txBody>
          <a:bodyPr wrap="square" lIns="0" rIns="0" tIns="0" bIns="0" anchor="ctr">
            <a:spAutoFit/>
          </a:bodyPr>
          <a:lstStyle/>
          <a:p>
            <a:r>
              <a:rPr sz="800" b="1" i="0" spc="300">
                <a:solidFill>
                  <a:srgbClr val="1A1A1A"/>
                </a:solidFill>
                <a:latin typeface="Trenda IG Text"/>
              </a:rPr>
              <a:t>EXECUTIVE SUMMARY</a:t>
            </a:r>
          </a:p>
        </p:txBody>
      </p:sp>
      <p:sp>
        <p:nvSpPr>
          <p:cNvPr id="3" name="Text 2"/>
          <p:cNvSpPr txBox="1"/>
          <p:nvPr/>
        </p:nvSpPr>
        <p:spPr>
          <a:xfrm>
            <a:off x="411480" y="411480"/>
            <a:ext cx="11365992" cy="640080"/>
          </a:xfrm>
          <a:prstGeom prst="rect">
            <a:avLst/>
          </a:prstGeom>
          <a:noFill/>
        </p:spPr>
        <p:txBody>
          <a:bodyPr wrap="square" lIns="0" rIns="0" tIns="0" bIns="0" anchor="ctr">
            <a:spAutoFit/>
          </a:bodyPr>
          <a:lstStyle/>
          <a:p>
            <a:r>
              <a:rPr sz="3600" b="1" i="0">
                <a:solidFill>
                  <a:srgbClr val="1A1A1A"/>
                </a:solidFill>
                <a:latin typeface="Trenda IG Text"/>
              </a:rPr>
              <a:t>Executive Summary</a:t>
            </a:r>
          </a:p>
        </p:txBody>
      </p:sp>
      <p:sp>
        <p:nvSpPr>
          <p:cNvPr id="4" name="Text 3"/>
          <p:cNvSpPr txBox="1"/>
          <p:nvPr/>
        </p:nvSpPr>
        <p:spPr>
          <a:xfrm>
            <a:off x="411480" y="1115568"/>
            <a:ext cx="7315200" cy="274320"/>
          </a:xfrm>
          <a:prstGeom prst="rect">
            <a:avLst/>
          </a:prstGeom>
          <a:noFill/>
        </p:spPr>
        <p:txBody>
          <a:bodyPr wrap="square" lIns="0" rIns="0" tIns="0" bIns="0" anchor="ctr">
            <a:spAutoFit/>
          </a:bodyPr>
          <a:lstStyle/>
          <a:p>
            <a:r>
              <a:rPr sz="1300" b="1" i="0" spc="300">
                <a:solidFill>
                  <a:srgbClr val="1A1A1A"/>
                </a:solidFill>
                <a:latin typeface="Trenda IG Text"/>
              </a:rPr>
              <a:t>OUR UNDERSTANDING</a:t>
            </a:r>
          </a:p>
        </p:txBody>
      </p:sp>
      <p:sp>
        <p:nvSpPr>
          <p:cNvPr id="5" name="Text 4"/>
          <p:cNvSpPr txBox="1"/>
          <p:nvPr/>
        </p:nvSpPr>
        <p:spPr>
          <a:xfrm>
            <a:off x="411480" y="1444752"/>
            <a:ext cx="11365992" cy="1371600"/>
          </a:xfrm>
          <a:prstGeom prst="rect">
            <a:avLst/>
          </a:prstGeom>
          <a:noFill/>
        </p:spPr>
        <p:txBody>
          <a:bodyPr wrap="square" lIns="0" rIns="0" tIns="0" bIns="0" anchor="t">
            <a:spAutoFit/>
          </a:bodyPr>
          <a:lstStyle/>
          <a:p>
            <a:pPr>
              <a:lnSpc>
                <a:spcPct val="108000"/>
              </a:lnSpc>
              <a:spcAft>
                <a:spcPts val="1000"/>
              </a:spcAft>
            </a:pPr>
            <a:r>
              <a:rPr sz="1200" b="0" i="0">
                <a:solidFill>
                  <a:srgbClr val="1A1A1A"/>
                </a:solidFill>
                <a:latin typeface="Trenda IG Text"/>
              </a:rPr>
              <a:t>Ascension is seeking to speed up Salesforce delivery and Marketing Cloud campaigns while keeping patient data governed. Today a Health Cloud change takes about two weeks and a campaign about 90 days, much of it manual research, impact analysis, test writing and data preparation repeated for every campaign. The Agentic Factory brings AI agents to Health Cloud delivery, Marketing Cloud campaigns and the Sierra voice agent, on one governed platform.</a:t>
            </a:r>
          </a:p>
          <a:p>
            <a:pPr>
              <a:lnSpc>
                <a:spcPct val="108000"/>
              </a:lnSpc>
              <a:spcAft>
                <a:spcPts val="1000"/>
              </a:spcAft>
            </a:pPr>
            <a:r>
              <a:rPr sz="1200" b="0" i="0">
                <a:solidFill>
                  <a:srgbClr val="1A1A1A"/>
                </a:solidFill>
                <a:latin typeface="Trenda IG Text"/>
              </a:rPr>
              <a:t>The initial focus will be one Health Cloud pod (Network Services) and one campaign (the CHF post-discharge nudge), followed by a pod-by-pod rollout, using a measured pilot and incremental releases.</a:t>
            </a:r>
          </a:p>
        </p:txBody>
      </p:sp>
      <p:sp>
        <p:nvSpPr>
          <p:cNvPr id="6" name="Text 5"/>
          <p:cNvSpPr txBox="1"/>
          <p:nvPr/>
        </p:nvSpPr>
        <p:spPr>
          <a:xfrm>
            <a:off x="411480" y="2971800"/>
            <a:ext cx="6172200" cy="274320"/>
          </a:xfrm>
          <a:prstGeom prst="rect">
            <a:avLst/>
          </a:prstGeom>
          <a:noFill/>
        </p:spPr>
        <p:txBody>
          <a:bodyPr wrap="square" lIns="0" rIns="0" tIns="0" bIns="0" anchor="ctr">
            <a:spAutoFit/>
          </a:bodyPr>
          <a:lstStyle/>
          <a:p>
            <a:r>
              <a:rPr sz="1300" b="1" i="0" spc="300">
                <a:solidFill>
                  <a:srgbClr val="1A1A1A"/>
                </a:solidFill>
                <a:latin typeface="Trenda IG Text"/>
              </a:rPr>
              <a:t>RESULTS &amp; VALUE</a:t>
            </a:r>
          </a:p>
        </p:txBody>
      </p:sp>
      <p:sp>
        <p:nvSpPr>
          <p:cNvPr id="7" name="Text 6"/>
          <p:cNvSpPr txBox="1"/>
          <p:nvPr/>
        </p:nvSpPr>
        <p:spPr>
          <a:xfrm>
            <a:off x="411480" y="3319272"/>
            <a:ext cx="6172200" cy="914400"/>
          </a:xfrm>
          <a:prstGeom prst="rect">
            <a:avLst/>
          </a:prstGeom>
          <a:noFill/>
        </p:spPr>
        <p:txBody>
          <a:bodyPr wrap="square" lIns="0" rIns="0" tIns="0" bIns="0" anchor="t">
            <a:spAutoFit/>
          </a:bodyPr>
          <a:lstStyle/>
          <a:p>
            <a:pPr>
              <a:lnSpc>
                <a:spcPct val="108000"/>
              </a:lnSpc>
            </a:pPr>
            <a:r>
              <a:rPr sz="1200" b="0" i="0">
                <a:solidFill>
                  <a:srgbClr val="1A1A1A"/>
                </a:solidFill>
                <a:latin typeface="Trenda IG Text"/>
              </a:rPr>
              <a:t>The solution addresses slow, manual delivery, data preparation rebuilt for every campaign, and the risk of one pod's change breaking another. Success will be measured by cycle time, first-pass approval, defects after release and zero unauthorized access to patient data.</a:t>
            </a:r>
          </a:p>
        </p:txBody>
      </p:sp>
      <p:sp>
        <p:nvSpPr>
          <p:cNvPr id="8" name="Text 7"/>
          <p:cNvSpPr txBox="1"/>
          <p:nvPr/>
        </p:nvSpPr>
        <p:spPr>
          <a:xfrm>
            <a:off x="411480" y="4343400"/>
            <a:ext cx="6172200" cy="1737360"/>
          </a:xfrm>
          <a:prstGeom prst="rect">
            <a:avLst/>
          </a:prstGeom>
          <a:noFill/>
        </p:spPr>
        <p:txBody>
          <a:bodyPr wrap="square" lIns="0" rIns="0" tIns="0" bIns="0" anchor="t">
            <a:spAutoFit/>
          </a:bodyPr>
          <a:lstStyle/>
          <a:p>
            <a:pPr marL="228600" indent="-228600">
              <a:spcAft>
                <a:spcPts val="400"/>
              </a:spcAft>
              <a:buChar char="•"/>
            </a:pPr>
            <a:r>
              <a:rPr sz="1200" b="0" i="0">
                <a:solidFill>
                  <a:srgbClr val="1A1A1A"/>
                </a:solidFill>
                <a:latin typeface="Trenda IG Text"/>
              </a:rPr>
              <a:t>Health Cloud change: ~2 weeks to ~2 days, story to production</a:t>
            </a:r>
          </a:p>
          <a:p>
            <a:pPr marL="228600" indent="-228600">
              <a:spcAft>
                <a:spcPts val="400"/>
              </a:spcAft>
              <a:buChar char="•"/>
            </a:pPr>
            <a:r>
              <a:rPr sz="1200" b="0" i="0">
                <a:solidFill>
                  <a:srgbClr val="1A1A1A"/>
                </a:solidFill>
                <a:latin typeface="Trenda IG Text"/>
              </a:rPr>
              <a:t>Campaign launch: ~90 days to ~10-12 days</a:t>
            </a:r>
          </a:p>
          <a:p>
            <a:pPr marL="228600" indent="-228600">
              <a:spcAft>
                <a:spcPts val="400"/>
              </a:spcAft>
              <a:buChar char="•"/>
            </a:pPr>
            <a:r>
              <a:rPr sz="1200" b="0" i="0">
                <a:solidFill>
                  <a:srgbClr val="1A1A1A"/>
                </a:solidFill>
                <a:latin typeface="Trenda IG Text"/>
              </a:rPr>
              <a:t>Leaner squads: 5-7 people to about 2.4</a:t>
            </a:r>
          </a:p>
          <a:p>
            <a:pPr marL="228600" indent="-228600">
              <a:spcAft>
                <a:spcPts val="400"/>
              </a:spcAft>
              <a:buChar char="•"/>
            </a:pPr>
            <a:r>
              <a:rPr sz="1200" b="0" i="0">
                <a:solidFill>
                  <a:srgbClr val="1A1A1A"/>
                </a:solidFill>
                <a:latin typeface="Trenda IG Text"/>
              </a:rPr>
              <a:t>About $19.9M saved over three years</a:t>
            </a:r>
          </a:p>
          <a:p>
            <a:pPr marL="228600" indent="-228600">
              <a:spcAft>
                <a:spcPts val="400"/>
              </a:spcAft>
              <a:buChar char="•"/>
            </a:pPr>
            <a:r>
              <a:rPr sz="1200" b="0" i="0">
                <a:solidFill>
                  <a:srgbClr val="1A1A1A"/>
                </a:solidFill>
                <a:latin typeface="Trenda IG Text"/>
              </a:rPr>
              <a:t>Agents never see raw PHI; people approve every gate</a:t>
            </a:r>
          </a:p>
          <a:p>
            <a:pPr marL="228600" indent="-228600">
              <a:spcAft>
                <a:spcPts val="400"/>
              </a:spcAft>
              <a:buChar char="•"/>
            </a:pPr>
            <a:r>
              <a:rPr sz="1200" b="0" i="0">
                <a:solidFill>
                  <a:srgbClr val="1A1A1A"/>
                </a:solidFill>
                <a:latin typeface="Trenda IG Text"/>
              </a:rPr>
              <a:t>A reusable foundation: new pods add skills, not rebuilds</a:t>
            </a:r>
          </a:p>
        </p:txBody>
      </p:sp>
      <p:cxnSp>
        <p:nvCxnSpPr>
          <p:cNvPr id="9" name="Arrow 8"/>
          <p:cNvCxnSpPr/>
          <p:nvPr/>
        </p:nvCxnSpPr>
        <p:spPr>
          <a:xfrm>
            <a:off x="6903720" y="3017520"/>
            <a:ext cx="0" cy="3246120"/>
          </a:xfrm>
          <a:prstGeom prst="line">
            <a:avLst/>
          </a:prstGeom>
          <a:ln w="25400">
            <a:solidFill>
              <a:srgbClr val="BFBFBF"/>
            </a:solidFill>
            <a:prstDash val="sysDot"/>
          </a:ln>
        </p:spPr>
        <p:style>
          <a:lnRef idx="2">
            <a:schemeClr val="accent1"/>
          </a:lnRef>
          <a:fillRef idx="0">
            <a:schemeClr val="accent1"/>
          </a:fillRef>
          <a:effectRef idx="1">
            <a:schemeClr val="accent1"/>
          </a:effectRef>
          <a:fontRef idx="minor">
            <a:schemeClr val="tx1"/>
          </a:fontRef>
        </p:style>
      </p:cxnSp>
      <p:sp>
        <p:nvSpPr>
          <p:cNvPr id="10" name="Text 9"/>
          <p:cNvSpPr txBox="1"/>
          <p:nvPr/>
        </p:nvSpPr>
        <p:spPr>
          <a:xfrm>
            <a:off x="7223760" y="2971800"/>
            <a:ext cx="4553712" cy="274320"/>
          </a:xfrm>
          <a:prstGeom prst="rect">
            <a:avLst/>
          </a:prstGeom>
          <a:noFill/>
        </p:spPr>
        <p:txBody>
          <a:bodyPr wrap="square" lIns="0" rIns="0" tIns="0" bIns="0" anchor="ctr">
            <a:spAutoFit/>
          </a:bodyPr>
          <a:lstStyle/>
          <a:p>
            <a:r>
              <a:rPr sz="1300" b="1" i="0" spc="300">
                <a:solidFill>
                  <a:srgbClr val="1A1A1A"/>
                </a:solidFill>
                <a:latin typeface="Trenda IG Text"/>
              </a:rPr>
              <a:t>WHY INSIGHT GLOBAL</a:t>
            </a:r>
          </a:p>
        </p:txBody>
      </p:sp>
      <p:sp>
        <p:nvSpPr>
          <p:cNvPr id="11" name="Text 10"/>
          <p:cNvSpPr txBox="1"/>
          <p:nvPr/>
        </p:nvSpPr>
        <p:spPr>
          <a:xfrm>
            <a:off x="7223760" y="3355848"/>
            <a:ext cx="4553712" cy="2743200"/>
          </a:xfrm>
          <a:prstGeom prst="rect">
            <a:avLst/>
          </a:prstGeom>
          <a:noFill/>
        </p:spPr>
        <p:txBody>
          <a:bodyPr wrap="square" lIns="0" rIns="0" tIns="0" bIns="0" anchor="t">
            <a:spAutoFit/>
          </a:bodyPr>
          <a:lstStyle/>
          <a:p>
            <a:pPr marL="228600" indent="-228600">
              <a:spcAft>
                <a:spcPts val="500"/>
              </a:spcAft>
              <a:buChar char="•"/>
            </a:pPr>
            <a:r>
              <a:rPr sz="1200" b="0" i="0">
                <a:solidFill>
                  <a:srgbClr val="1A1A1A"/>
                </a:solidFill>
                <a:latin typeface="Trenda IG Text"/>
              </a:rPr>
              <a:t>Built on what Ascension already runs: Codex, Salesforce, Google Cloud, Collibra, Copado</a:t>
            </a:r>
          </a:p>
          <a:p>
            <a:pPr marL="228600" indent="-228600">
              <a:spcAft>
                <a:spcPts val="500"/>
              </a:spcAft>
              <a:buChar char="•"/>
            </a:pPr>
            <a:r>
              <a:rPr sz="1200" b="0" i="0">
                <a:solidFill>
                  <a:srgbClr val="1A1A1A"/>
                </a:solidFill>
                <a:latin typeface="Trenda IG Text"/>
              </a:rPr>
              <a:t>Agent-assisted delivery already measured at Ascension: 1-2 weeks to 2-4 days</a:t>
            </a:r>
          </a:p>
          <a:p>
            <a:pPr marL="228600" indent="-228600">
              <a:spcAft>
                <a:spcPts val="500"/>
              </a:spcAft>
              <a:buChar char="•"/>
            </a:pPr>
            <a:r>
              <a:rPr sz="1200" b="0" i="0">
                <a:solidFill>
                  <a:srgbClr val="1A1A1A"/>
                </a:solidFill>
                <a:latin typeface="Trenda IG Text"/>
              </a:rPr>
              <a:t>HIPAA-aligned by design: no raw PHI for agents, no production credentials</a:t>
            </a:r>
          </a:p>
          <a:p>
            <a:pPr marL="228600" indent="-228600">
              <a:spcAft>
                <a:spcPts val="500"/>
              </a:spcAft>
              <a:buChar char="•"/>
            </a:pPr>
            <a:r>
              <a:rPr sz="1200" b="0" i="0">
                <a:solidFill>
                  <a:srgbClr val="1A1A1A"/>
                </a:solidFill>
                <a:latin typeface="Trenda IG Text"/>
              </a:rPr>
              <a:t>Change Guardian: no pod breaks another</a:t>
            </a:r>
          </a:p>
          <a:p>
            <a:pPr marL="228600" indent="-228600">
              <a:spcAft>
                <a:spcPts val="500"/>
              </a:spcAft>
              <a:buChar char="•"/>
            </a:pPr>
            <a:r>
              <a:rPr sz="1200" b="0" i="0">
                <a:solidFill>
                  <a:srgbClr val="1A1A1A"/>
                </a:solidFill>
                <a:latin typeface="Trenda IG Text"/>
              </a:rPr>
              <a:t>Outcome-led pilot with measurable success criteria</a:t>
            </a:r>
          </a:p>
          <a:p>
            <a:pPr marL="228600" indent="-228600">
              <a:spcAft>
                <a:spcPts val="500"/>
              </a:spcAft>
              <a:buChar char="•"/>
            </a:pPr>
            <a:r>
              <a:rPr sz="1200" b="0" i="0">
                <a:solidFill>
                  <a:srgbClr val="1A1A1A"/>
                </a:solidFill>
                <a:latin typeface="Trenda IG Text"/>
              </a:rPr>
              <a:t>Incremental, pod-by-pod rollout, not a big-bang launch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Shape 1"/>
          <p:cNvSpPr/>
          <p:nvPr/>
        </p:nvSpPr>
        <p:spPr>
          <a:xfrm>
            <a:off x="0" y="0"/>
            <a:ext cx="12191695" cy="3840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2"/>
          <p:cNvSpPr txBox="1"/>
          <p:nvPr/>
        </p:nvSpPr>
        <p:spPr>
          <a:xfrm>
            <a:off x="411480" y="182880"/>
            <a:ext cx="5486400" cy="182880"/>
          </a:xfrm>
          <a:prstGeom prst="rect">
            <a:avLst/>
          </a:prstGeom>
          <a:noFill/>
        </p:spPr>
        <p:txBody>
          <a:bodyPr wrap="square" lIns="0" rIns="0" tIns="0" bIns="0" anchor="ctr">
            <a:spAutoFit/>
          </a:bodyPr>
          <a:lstStyle/>
          <a:p>
            <a:r>
              <a:rPr sz="800" b="1" i="0" spc="300">
                <a:solidFill>
                  <a:srgbClr val="1A1A1A"/>
                </a:solidFill>
                <a:latin typeface="Trenda IG Text"/>
              </a:rPr>
              <a:t>EXECUTIVE SUMMARY</a:t>
            </a:r>
          </a:p>
        </p:txBody>
      </p:sp>
      <p:sp>
        <p:nvSpPr>
          <p:cNvPr id="4" name="Text 3"/>
          <p:cNvSpPr txBox="1"/>
          <p:nvPr/>
        </p:nvSpPr>
        <p:spPr>
          <a:xfrm>
            <a:off x="411480" y="411480"/>
            <a:ext cx="11365992" cy="640080"/>
          </a:xfrm>
          <a:prstGeom prst="rect">
            <a:avLst/>
          </a:prstGeom>
          <a:noFill/>
        </p:spPr>
        <p:txBody>
          <a:bodyPr wrap="square" lIns="0" rIns="0" tIns="0" bIns="0" anchor="ctr">
            <a:spAutoFit/>
          </a:bodyPr>
          <a:lstStyle/>
          <a:p>
            <a:r>
              <a:rPr sz="3600" b="1" i="0">
                <a:solidFill>
                  <a:srgbClr val="1A1A1A"/>
                </a:solidFill>
                <a:latin typeface="Trenda IG Text"/>
              </a:rPr>
              <a:t>Executive Summary</a:t>
            </a:r>
          </a:p>
        </p:txBody>
      </p:sp>
      <p:sp>
        <p:nvSpPr>
          <p:cNvPr id="5" name="Text 4"/>
          <p:cNvSpPr txBox="1"/>
          <p:nvPr/>
        </p:nvSpPr>
        <p:spPr>
          <a:xfrm>
            <a:off x="411480" y="1325880"/>
            <a:ext cx="6035040" cy="274320"/>
          </a:xfrm>
          <a:prstGeom prst="rect">
            <a:avLst/>
          </a:prstGeom>
          <a:noFill/>
        </p:spPr>
        <p:txBody>
          <a:bodyPr wrap="square" lIns="0" rIns="0" tIns="0" bIns="0" anchor="ctr">
            <a:spAutoFit/>
          </a:bodyPr>
          <a:lstStyle/>
          <a:p>
            <a:r>
              <a:rPr sz="1300" b="1" i="0" spc="300">
                <a:solidFill>
                  <a:srgbClr val="1A1A1A"/>
                </a:solidFill>
                <a:latin typeface="Trenda IG Text"/>
              </a:rPr>
              <a:t>SOLUTION OVERVIEW</a:t>
            </a:r>
          </a:p>
        </p:txBody>
      </p:sp>
      <p:sp>
        <p:nvSpPr>
          <p:cNvPr id="6" name="Text 5"/>
          <p:cNvSpPr txBox="1"/>
          <p:nvPr/>
        </p:nvSpPr>
        <p:spPr>
          <a:xfrm>
            <a:off x="411480" y="1673352"/>
            <a:ext cx="6035040" cy="2194560"/>
          </a:xfrm>
          <a:prstGeom prst="rect">
            <a:avLst/>
          </a:prstGeom>
          <a:noFill/>
        </p:spPr>
        <p:txBody>
          <a:bodyPr wrap="square" lIns="0" rIns="0" tIns="0" bIns="0" anchor="t">
            <a:spAutoFit/>
          </a:bodyPr>
          <a:lstStyle/>
          <a:p>
            <a:pPr>
              <a:lnSpc>
                <a:spcPct val="108000"/>
              </a:lnSpc>
            </a:pPr>
            <a:r>
              <a:rPr sz="1150" b="0" i="0">
                <a:solidFill>
                  <a:srgbClr val="1A1A1A"/>
                </a:solidFill>
                <a:latin typeface="Trenda IG Text"/>
              </a:rPr>
              <a:t>Insight Global will design and implement the Ascension Agentic Factory: seven delivery agents and seven campaign agents, an engineering knowledge graph of Ascension's Salesforce estate, and a data harness in Google Cloud that governs patient data through Bronze, Silver and Gold layers with DLP and Collibra. Agents plan, build and test on masked data; people approve at every gate; patients reach Marketing Cloud only through a policy-checked activation gateway. Delivery follows a measured pilot, then pod by pod.</a:t>
            </a:r>
          </a:p>
        </p:txBody>
      </p:sp>
      <p:sp>
        <p:nvSpPr>
          <p:cNvPr id="7" name="Text 6"/>
          <p:cNvSpPr txBox="1"/>
          <p:nvPr/>
        </p:nvSpPr>
        <p:spPr>
          <a:xfrm>
            <a:off x="6903720" y="1325880"/>
            <a:ext cx="4873752" cy="274320"/>
          </a:xfrm>
          <a:prstGeom prst="rect">
            <a:avLst/>
          </a:prstGeom>
          <a:noFill/>
        </p:spPr>
        <p:txBody>
          <a:bodyPr wrap="square" lIns="0" rIns="0" tIns="0" bIns="0" anchor="ctr">
            <a:spAutoFit/>
          </a:bodyPr>
          <a:lstStyle/>
          <a:p>
            <a:r>
              <a:rPr sz="1300" b="1" i="0" spc="300">
                <a:solidFill>
                  <a:srgbClr val="1A1A1A"/>
                </a:solidFill>
                <a:latin typeface="Trenda IG Text"/>
              </a:rPr>
              <a:t>KEY CONSIDERATIONS</a:t>
            </a:r>
          </a:p>
        </p:txBody>
      </p:sp>
      <p:sp>
        <p:nvSpPr>
          <p:cNvPr id="8" name="Text 7"/>
          <p:cNvSpPr txBox="1"/>
          <p:nvPr/>
        </p:nvSpPr>
        <p:spPr>
          <a:xfrm>
            <a:off x="6903720" y="1691640"/>
            <a:ext cx="4873752" cy="2194560"/>
          </a:xfrm>
          <a:prstGeom prst="rect">
            <a:avLst/>
          </a:prstGeom>
          <a:noFill/>
        </p:spPr>
        <p:txBody>
          <a:bodyPr wrap="square" lIns="0" rIns="0" tIns="0" bIns="0" anchor="t">
            <a:spAutoFit/>
          </a:bodyPr>
          <a:lstStyle/>
          <a:p>
            <a:pPr marL="228600" indent="-228600">
              <a:spcAft>
                <a:spcPts val="300"/>
              </a:spcAft>
              <a:buChar char="•"/>
            </a:pPr>
            <a:r>
              <a:rPr sz="1150" b="0" i="0">
                <a:solidFill>
                  <a:srgbClr val="1A1A1A"/>
                </a:solidFill>
                <a:latin typeface="Trenda IG Text"/>
              </a:rPr>
              <a:t>Agents never see raw PHI; masking alone is not HIPAA compliance</a:t>
            </a:r>
          </a:p>
          <a:p>
            <a:pPr marL="228600" indent="-228600">
              <a:spcAft>
                <a:spcPts val="300"/>
              </a:spcAft>
              <a:buChar char="•"/>
            </a:pPr>
            <a:r>
              <a:rPr sz="1150" b="0" i="0">
                <a:solidFill>
                  <a:srgbClr val="1A1A1A"/>
                </a:solidFill>
                <a:latin typeface="Trenda IG Text"/>
              </a:rPr>
              <a:t>People approve every gate: H1-H4 and CAB, G1-G3</a:t>
            </a:r>
          </a:p>
          <a:p>
            <a:pPr marL="228600" indent="-228600">
              <a:spcAft>
                <a:spcPts val="300"/>
              </a:spcAft>
              <a:buChar char="•"/>
            </a:pPr>
            <a:r>
              <a:rPr sz="1150" b="0" i="0">
                <a:solidFill>
                  <a:srgbClr val="1A1A1A"/>
                </a:solidFill>
                <a:latin typeface="Trenda IG Text"/>
              </a:rPr>
              <a:t>Existing platforms and data reused: Codex, Salesforce, Google Cloud, Collibra, Copado</a:t>
            </a:r>
          </a:p>
          <a:p>
            <a:pPr marL="228600" indent="-228600">
              <a:spcAft>
                <a:spcPts val="300"/>
              </a:spcAft>
              <a:buChar char="•"/>
            </a:pPr>
            <a:r>
              <a:rPr sz="1150" b="0" i="0">
                <a:solidFill>
                  <a:srgbClr val="1A1A1A"/>
                </a:solidFill>
                <a:latin typeface="Trenda IG Text"/>
              </a:rPr>
              <a:t>Proven on synthetic data before any real patient</a:t>
            </a:r>
          </a:p>
          <a:p>
            <a:pPr marL="228600" indent="-228600">
              <a:spcAft>
                <a:spcPts val="300"/>
              </a:spcAft>
              <a:buChar char="•"/>
            </a:pPr>
            <a:r>
              <a:rPr sz="1150" b="0" i="0">
                <a:solidFill>
                  <a:srgbClr val="1A1A1A"/>
                </a:solidFill>
                <a:latin typeface="Trenda IG Text"/>
              </a:rPr>
              <a:t>Incremental releases, not a big-bang launch</a:t>
            </a:r>
          </a:p>
          <a:p>
            <a:pPr marL="228600" indent="-228600">
              <a:spcAft>
                <a:spcPts val="300"/>
              </a:spcAft>
              <a:buChar char="•"/>
            </a:pPr>
            <a:r>
              <a:rPr sz="1150" b="0" i="0">
                <a:solidFill>
                  <a:srgbClr val="1A1A1A"/>
                </a:solidFill>
                <a:latin typeface="Trenda IG Text"/>
              </a:rPr>
              <a:t>Measurable speed, quality and safety outcomes</a:t>
            </a:r>
          </a:p>
        </p:txBody>
      </p:sp>
      <p:sp>
        <p:nvSpPr>
          <p:cNvPr id="9" name="Text 8"/>
          <p:cNvSpPr txBox="1"/>
          <p:nvPr/>
        </p:nvSpPr>
        <p:spPr>
          <a:xfrm>
            <a:off x="411480" y="4041648"/>
            <a:ext cx="11338560" cy="310896"/>
          </a:xfrm>
          <a:prstGeom prst="rect">
            <a:avLst/>
          </a:prstGeom>
          <a:noFill/>
        </p:spPr>
        <p:txBody>
          <a:bodyPr wrap="square" lIns="0" rIns="0" tIns="0" bIns="0" anchor="ctr">
            <a:spAutoFit/>
          </a:bodyPr>
          <a:lstStyle/>
          <a:p>
            <a:r>
              <a:rPr sz="1400" b="0" i="0" spc="300">
                <a:solidFill>
                  <a:srgbClr val="FFFFFF"/>
                </a:solidFill>
                <a:latin typeface="Trenda IG Text"/>
              </a:rPr>
              <a:t>SOLUTION TIMELINE – </a:t>
            </a:r>
            <a:r>
              <a:rPr sz="1400" b="0" i="0" spc="300">
                <a:solidFill>
                  <a:srgbClr val="00D6F2"/>
                </a:solidFill>
                <a:latin typeface="Trenda IG Text"/>
              </a:rPr>
              <a:t>Phased pilot</a:t>
            </a:r>
          </a:p>
        </p:txBody>
      </p:sp>
      <p:sp>
        <p:nvSpPr>
          <p:cNvPr id="10" name="Shape 9"/>
          <p:cNvSpPr/>
          <p:nvPr/>
        </p:nvSpPr>
        <p:spPr>
          <a:xfrm>
            <a:off x="0" y="5394960"/>
            <a:ext cx="12191695" cy="365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Arrow 10"/>
          <p:cNvCxnSpPr/>
          <p:nvPr/>
        </p:nvCxnSpPr>
        <p:spPr>
          <a:xfrm>
            <a:off x="640080" y="5065776"/>
            <a:ext cx="0" cy="256032"/>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12" name="Shape 11"/>
          <p:cNvSpPr/>
          <p:nvPr/>
        </p:nvSpPr>
        <p:spPr>
          <a:xfrm>
            <a:off x="566928" y="5340096"/>
            <a:ext cx="146304" cy="1463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594359" y="4526280"/>
            <a:ext cx="2331720" cy="502920"/>
          </a:xfrm>
          <a:prstGeom prst="rect">
            <a:avLst/>
          </a:prstGeom>
          <a:noFill/>
        </p:spPr>
        <p:txBody>
          <a:bodyPr wrap="square" lIns="0" rIns="0" tIns="0" bIns="0" anchor="b">
            <a:spAutoFit/>
          </a:bodyPr>
          <a:lstStyle/>
          <a:p>
            <a:pPr>
              <a:spcAft>
                <a:spcPts val="100"/>
              </a:spcAft>
            </a:pPr>
            <a:r>
              <a:rPr sz="1050" b="0" i="0">
                <a:solidFill>
                  <a:srgbClr val="FFFFFF"/>
                </a:solidFill>
                <a:latin typeface="Trenda IG Text"/>
              </a:rPr>
              <a:t>Phase 0 · Discovery &amp; baseline</a:t>
            </a:r>
          </a:p>
          <a:p>
            <a:pPr>
              <a:spcAft>
                <a:spcPts val="100"/>
              </a:spcAft>
            </a:pPr>
            <a:r>
              <a:rPr sz="950" b="0" i="0">
                <a:solidFill>
                  <a:srgbClr val="B3B3B3"/>
                </a:solidFill>
                <a:latin typeface="Trenda IG Text"/>
              </a:rPr>
              <a:t>owners, architecture, today's measures</a:t>
            </a:r>
          </a:p>
        </p:txBody>
      </p:sp>
      <p:cxnSp>
        <p:nvCxnSpPr>
          <p:cNvPr id="14" name="Arrow 13"/>
          <p:cNvCxnSpPr/>
          <p:nvPr/>
        </p:nvCxnSpPr>
        <p:spPr>
          <a:xfrm>
            <a:off x="2453640" y="5504688"/>
            <a:ext cx="0" cy="256032"/>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15" name="Shape 14"/>
          <p:cNvSpPr/>
          <p:nvPr/>
        </p:nvSpPr>
        <p:spPr>
          <a:xfrm>
            <a:off x="2380488" y="5340096"/>
            <a:ext cx="146304" cy="1463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2407920" y="5806440"/>
            <a:ext cx="2331720" cy="502920"/>
          </a:xfrm>
          <a:prstGeom prst="rect">
            <a:avLst/>
          </a:prstGeom>
          <a:noFill/>
        </p:spPr>
        <p:txBody>
          <a:bodyPr wrap="square" lIns="0" rIns="0" tIns="0" bIns="0" anchor="t">
            <a:spAutoFit/>
          </a:bodyPr>
          <a:lstStyle/>
          <a:p>
            <a:pPr>
              <a:spcAft>
                <a:spcPts val="100"/>
              </a:spcAft>
            </a:pPr>
            <a:r>
              <a:rPr sz="1050" b="0" i="0">
                <a:solidFill>
                  <a:srgbClr val="FFFFFF"/>
                </a:solidFill>
                <a:latin typeface="Trenda IG Text"/>
              </a:rPr>
              <a:t>Phase 1 · Data foundation</a:t>
            </a:r>
          </a:p>
          <a:p>
            <a:pPr>
              <a:spcAft>
                <a:spcPts val="100"/>
              </a:spcAft>
            </a:pPr>
            <a:r>
              <a:rPr sz="950" b="0" i="0">
                <a:solidFill>
                  <a:srgbClr val="B3B3B3"/>
                </a:solidFill>
                <a:latin typeface="Trenda IG Text"/>
              </a:rPr>
              <a:t>Bronze, Silver, Gold in Google Cloud</a:t>
            </a:r>
          </a:p>
        </p:txBody>
      </p:sp>
      <p:cxnSp>
        <p:nvCxnSpPr>
          <p:cNvPr id="17" name="Arrow 16"/>
          <p:cNvCxnSpPr/>
          <p:nvPr/>
        </p:nvCxnSpPr>
        <p:spPr>
          <a:xfrm>
            <a:off x="4267200" y="5065776"/>
            <a:ext cx="0" cy="256032"/>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18" name="Shape 17"/>
          <p:cNvSpPr/>
          <p:nvPr/>
        </p:nvSpPr>
        <p:spPr>
          <a:xfrm>
            <a:off x="4194048" y="5340096"/>
            <a:ext cx="146304" cy="1463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8"/>
          <p:cNvSpPr txBox="1"/>
          <p:nvPr/>
        </p:nvSpPr>
        <p:spPr>
          <a:xfrm>
            <a:off x="4221480" y="4526280"/>
            <a:ext cx="2331720" cy="502920"/>
          </a:xfrm>
          <a:prstGeom prst="rect">
            <a:avLst/>
          </a:prstGeom>
          <a:noFill/>
        </p:spPr>
        <p:txBody>
          <a:bodyPr wrap="square" lIns="0" rIns="0" tIns="0" bIns="0" anchor="b">
            <a:spAutoFit/>
          </a:bodyPr>
          <a:lstStyle/>
          <a:p>
            <a:pPr>
              <a:spcAft>
                <a:spcPts val="100"/>
              </a:spcAft>
            </a:pPr>
            <a:r>
              <a:rPr sz="1050" b="0" i="0">
                <a:solidFill>
                  <a:srgbClr val="FFFFFF"/>
                </a:solidFill>
                <a:latin typeface="Trenda IG Text"/>
              </a:rPr>
              <a:t>Phase 2 · PHI governance</a:t>
            </a:r>
          </a:p>
          <a:p>
            <a:pPr>
              <a:spcAft>
                <a:spcPts val="100"/>
              </a:spcAft>
            </a:pPr>
            <a:r>
              <a:rPr sz="950" b="0" i="0">
                <a:solidFill>
                  <a:srgbClr val="B3B3B3"/>
                </a:solidFill>
                <a:latin typeface="Trenda IG Text"/>
              </a:rPr>
              <a:t>DLP, Collibra; zero unauthorized access</a:t>
            </a:r>
          </a:p>
        </p:txBody>
      </p:sp>
      <p:cxnSp>
        <p:nvCxnSpPr>
          <p:cNvPr id="20" name="Arrow 19"/>
          <p:cNvCxnSpPr/>
          <p:nvPr/>
        </p:nvCxnSpPr>
        <p:spPr>
          <a:xfrm>
            <a:off x="6080760" y="5504688"/>
            <a:ext cx="0" cy="256032"/>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21" name="Shape 20"/>
          <p:cNvSpPr/>
          <p:nvPr/>
        </p:nvSpPr>
        <p:spPr>
          <a:xfrm>
            <a:off x="6007608" y="5340096"/>
            <a:ext cx="146304" cy="1463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6035040" y="5806440"/>
            <a:ext cx="2331720" cy="502920"/>
          </a:xfrm>
          <a:prstGeom prst="rect">
            <a:avLst/>
          </a:prstGeom>
          <a:noFill/>
        </p:spPr>
        <p:txBody>
          <a:bodyPr wrap="square" lIns="0" rIns="0" tIns="0" bIns="0" anchor="t">
            <a:spAutoFit/>
          </a:bodyPr>
          <a:lstStyle/>
          <a:p>
            <a:pPr>
              <a:spcAft>
                <a:spcPts val="100"/>
              </a:spcAft>
            </a:pPr>
            <a:r>
              <a:rPr sz="1050" b="0" i="0">
                <a:solidFill>
                  <a:srgbClr val="FFFFFF"/>
                </a:solidFill>
                <a:latin typeface="Trenda IG Text"/>
              </a:rPr>
              <a:t>Phase 3 · Agentic intelligence</a:t>
            </a:r>
          </a:p>
          <a:p>
            <a:pPr>
              <a:spcAft>
                <a:spcPts val="100"/>
              </a:spcAft>
            </a:pPr>
            <a:r>
              <a:rPr sz="950" b="0" i="0">
                <a:solidFill>
                  <a:srgbClr val="B3B3B3"/>
                </a:solidFill>
                <a:latin typeface="Trenda IG Text"/>
              </a:rPr>
              <a:t>knowledge graph, agents, first brief</a:t>
            </a:r>
          </a:p>
        </p:txBody>
      </p:sp>
      <p:cxnSp>
        <p:nvCxnSpPr>
          <p:cNvPr id="23" name="Arrow 22"/>
          <p:cNvCxnSpPr/>
          <p:nvPr/>
        </p:nvCxnSpPr>
        <p:spPr>
          <a:xfrm>
            <a:off x="7894320" y="5065776"/>
            <a:ext cx="0" cy="256032"/>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24" name="Shape 23"/>
          <p:cNvSpPr/>
          <p:nvPr/>
        </p:nvSpPr>
        <p:spPr>
          <a:xfrm>
            <a:off x="7821167" y="5340096"/>
            <a:ext cx="146304" cy="1463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4"/>
          <p:cNvSpPr txBox="1"/>
          <p:nvPr/>
        </p:nvSpPr>
        <p:spPr>
          <a:xfrm>
            <a:off x="7848599" y="4526280"/>
            <a:ext cx="1874519" cy="502920"/>
          </a:xfrm>
          <a:prstGeom prst="rect">
            <a:avLst/>
          </a:prstGeom>
          <a:noFill/>
        </p:spPr>
        <p:txBody>
          <a:bodyPr wrap="square" lIns="0" rIns="0" tIns="0" bIns="0" anchor="b">
            <a:spAutoFit/>
          </a:bodyPr>
          <a:lstStyle/>
          <a:p>
            <a:pPr>
              <a:spcAft>
                <a:spcPts val="100"/>
              </a:spcAft>
            </a:pPr>
            <a:r>
              <a:rPr sz="1050" b="0" i="0">
                <a:solidFill>
                  <a:srgbClr val="FFFFFF"/>
                </a:solidFill>
                <a:latin typeface="Trenda IG Text"/>
              </a:rPr>
              <a:t>Phase 4 · Build &amp; test</a:t>
            </a:r>
          </a:p>
          <a:p>
            <a:pPr>
              <a:spcAft>
                <a:spcPts val="100"/>
              </a:spcAft>
            </a:pPr>
            <a:r>
              <a:rPr sz="950" b="0" i="0">
                <a:solidFill>
                  <a:srgbClr val="B3B3B3"/>
                </a:solidFill>
                <a:latin typeface="Trenda IG Text"/>
              </a:rPr>
              <a:t>tested; no real patient yet</a:t>
            </a:r>
          </a:p>
        </p:txBody>
      </p:sp>
      <p:cxnSp>
        <p:nvCxnSpPr>
          <p:cNvPr id="26" name="Arrow 25"/>
          <p:cNvCxnSpPr/>
          <p:nvPr/>
        </p:nvCxnSpPr>
        <p:spPr>
          <a:xfrm>
            <a:off x="9707879" y="5504688"/>
            <a:ext cx="0" cy="256032"/>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27" name="Shape 26"/>
          <p:cNvSpPr/>
          <p:nvPr/>
        </p:nvSpPr>
        <p:spPr>
          <a:xfrm>
            <a:off x="9634727" y="5340096"/>
            <a:ext cx="146304" cy="1463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9662159" y="5806440"/>
            <a:ext cx="1874519" cy="502920"/>
          </a:xfrm>
          <a:prstGeom prst="rect">
            <a:avLst/>
          </a:prstGeom>
          <a:noFill/>
        </p:spPr>
        <p:txBody>
          <a:bodyPr wrap="square" lIns="0" rIns="0" tIns="0" bIns="0" anchor="t">
            <a:spAutoFit/>
          </a:bodyPr>
          <a:lstStyle/>
          <a:p>
            <a:pPr>
              <a:spcAft>
                <a:spcPts val="100"/>
              </a:spcAft>
            </a:pPr>
            <a:r>
              <a:rPr sz="1050" b="0" i="0">
                <a:solidFill>
                  <a:srgbClr val="FFFFFF"/>
                </a:solidFill>
                <a:latin typeface="Trenda IG Text"/>
              </a:rPr>
              <a:t>Phase 5 · Governed activation</a:t>
            </a:r>
          </a:p>
          <a:p>
            <a:pPr>
              <a:spcAft>
                <a:spcPts val="100"/>
              </a:spcAft>
            </a:pPr>
            <a:r>
              <a:rPr sz="950" b="0" i="0">
                <a:solidFill>
                  <a:srgbClr val="B3B3B3"/>
                </a:solidFill>
                <a:latin typeface="Trenda IG Text"/>
              </a:rPr>
              <a:t>the first real CHF audience</a:t>
            </a:r>
          </a:p>
        </p:txBody>
      </p:sp>
      <p:cxnSp>
        <p:nvCxnSpPr>
          <p:cNvPr id="29" name="Arrow 28"/>
          <p:cNvCxnSpPr/>
          <p:nvPr/>
        </p:nvCxnSpPr>
        <p:spPr>
          <a:xfrm>
            <a:off x="11521440" y="5065776"/>
            <a:ext cx="0" cy="256032"/>
          </a:xfrm>
          <a:prstGeom prst="line">
            <a:avLst/>
          </a:prstGeom>
          <a:ln w="19050">
            <a:solidFill>
              <a:srgbClr val="FFFFFF"/>
            </a:solidFill>
            <a:prstDash val="sysDot"/>
          </a:ln>
        </p:spPr>
        <p:style>
          <a:lnRef idx="2">
            <a:schemeClr val="accent1"/>
          </a:lnRef>
          <a:fillRef idx="0">
            <a:schemeClr val="accent1"/>
          </a:fillRef>
          <a:effectRef idx="1">
            <a:schemeClr val="accent1"/>
          </a:effectRef>
          <a:fontRef idx="minor">
            <a:schemeClr val="tx1"/>
          </a:fontRef>
        </p:style>
      </p:cxnSp>
      <p:sp>
        <p:nvSpPr>
          <p:cNvPr id="30" name="Shape 29"/>
          <p:cNvSpPr/>
          <p:nvPr/>
        </p:nvSpPr>
        <p:spPr>
          <a:xfrm>
            <a:off x="11448288" y="5340096"/>
            <a:ext cx="146304" cy="1463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0"/>
          <p:cNvSpPr txBox="1"/>
          <p:nvPr/>
        </p:nvSpPr>
        <p:spPr>
          <a:xfrm>
            <a:off x="9692640" y="4526280"/>
            <a:ext cx="1874519" cy="502920"/>
          </a:xfrm>
          <a:prstGeom prst="rect">
            <a:avLst/>
          </a:prstGeom>
          <a:noFill/>
        </p:spPr>
        <p:txBody>
          <a:bodyPr wrap="square" lIns="0" rIns="0" tIns="0" bIns="0" anchor="b">
            <a:spAutoFit/>
          </a:bodyPr>
          <a:lstStyle/>
          <a:p>
            <a:pPr algn="r">
              <a:spcAft>
                <a:spcPts val="100"/>
              </a:spcAft>
            </a:pPr>
            <a:r>
              <a:rPr sz="1050" b="0" i="0">
                <a:solidFill>
                  <a:srgbClr val="FFFFFF"/>
                </a:solidFill>
                <a:latin typeface="Trenda IG Text"/>
              </a:rPr>
              <a:t>Phase 6 · Measure &amp; scale</a:t>
            </a:r>
          </a:p>
          <a:p>
            <a:pPr algn="r">
              <a:spcAft>
                <a:spcPts val="100"/>
              </a:spcAft>
            </a:pPr>
            <a:r>
              <a:rPr sz="950" b="0" i="0">
                <a:solidFill>
                  <a:srgbClr val="B3B3B3"/>
                </a:solidFill>
                <a:latin typeface="Trenda IG Text"/>
              </a:rPr>
              <a:t>vs the baseline; pod by pod</a:t>
            </a:r>
          </a:p>
        </p:txBody>
      </p:sp>
      <p:sp>
        <p:nvSpPr>
          <p:cNvPr id="32" name="Text 31"/>
          <p:cNvSpPr txBox="1"/>
          <p:nvPr/>
        </p:nvSpPr>
        <p:spPr>
          <a:xfrm>
            <a:off x="411480" y="4370832"/>
            <a:ext cx="11338560" cy="201168"/>
          </a:xfrm>
          <a:prstGeom prst="rect">
            <a:avLst/>
          </a:prstGeom>
          <a:noFill/>
        </p:spPr>
        <p:txBody>
          <a:bodyPr wrap="square" lIns="0" rIns="0" tIns="0" bIns="0" anchor="ctr">
            <a:spAutoFit/>
          </a:bodyPr>
          <a:lstStyle/>
          <a:p>
            <a:r>
              <a:rPr sz="850" b="0" i="0">
                <a:solidFill>
                  <a:srgbClr val="8C8C8C"/>
                </a:solidFill>
                <a:latin typeface="Trenda IG Text"/>
              </a:rPr>
              <a:t>Phases 1 and 2 run partly in parallel. Durations are set in Phase 0. The Network Services Health Cloud pilot runs alongside, on the same agents and knowledge graph.</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