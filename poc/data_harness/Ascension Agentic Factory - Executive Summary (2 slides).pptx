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Executive summary (1 of 2)   (about 2 minutes)</a:t>
            </a:r>
          </a:p>
          <a:p/>
          <a:p>
            <a:r>
              <a:t>OUR UNDERSTANDING</a:t>
            </a:r>
          </a:p>
          <a:p>
            <a:r>
              <a:t>Ascension wants to use AI to reach patients sooner, serve them better and run its digital operations at lower cost, without putting patient data at risk. Today a patient-outreach campaign takes about 90 days to launch, a change to care-team tools in Salesforce takes about two weeks, and routine patient calls depend on staff. The Ascension Agentic Factory brings AI to all three on one secure, HIPAA-aligned platform. We start with post-discharge follow-up for heart-failure patients and the Network Services team, then add programs and teams.</a:t>
            </a:r>
          </a:p>
          <a:p/>
          <a:p>
            <a:r>
              <a:t>RESULTS &amp; VALUE</a:t>
            </a:r>
          </a:p>
          <a:p>
            <a:r>
              <a:t>Campaigns in about 10-12 days instead of about 90; care-team changes in about 2 days instead of about 2 weeks; consent checked before every message; routine calls answered by the voice agent with a hand-off to staff; about $19.9M saved over three years. The figures are pilot targets and planning estimates, confirmed against today's baseline.</a:t>
            </a:r>
          </a:p>
          <a:p/>
          <a:p>
            <a:r>
              <a:t>WHY INSIGHT GLOBAL</a:t>
            </a:r>
          </a:p>
          <a:p>
            <a:r>
              <a:t>Healthcare-ready and HIPAA-aligned by design; already proven at Ascension (agent-assisted delivery took changes from 1-2 weeks to 2-4 days); built on Ascension's existing Salesforce, Google Cloud and Codex; outcome-led and delivered in small releases.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Executive summary (2 of 2)   (about 2 minutes)</a:t>
            </a:r>
          </a:p>
          <a:p/>
          <a:p>
            <a:r>
              <a:t>SOLUTION OVERVIEW</a:t>
            </a:r>
          </a:p>
          <a:p>
            <a:r>
              <a:t>Insight Global designs and implements an AI solution for three parts of Ascension's business: patient-outreach campaigns in Marketing Cloud, changes to care-team tools in Salesforce Health Cloud, and the voice agent that answers patients and manages appointments. AI agents do the research, building and testing; Ascension's people approve every step; patient data stays in Ascension's Google Cloud, governed and masked.</a:t>
            </a:r>
          </a:p>
          <a:p/>
          <a:p>
            <a:r>
              <a:t>KEY CONSIDERATIONS</a:t>
            </a:r>
          </a:p>
          <a:p>
            <a:r>
              <a:t>Patient safety and HIPAA come first; people stay in control; existing investments are reused; everything is proven on test data before any real patient; releases are small and frequent; outcomes are measured.</a:t>
            </a:r>
          </a:p>
          <a:p/>
          <a:p>
            <a:r>
              <a:t>SOLUTION TIMELINE</a:t>
            </a:r>
          </a:p>
          <a:p>
            <a:r>
              <a:t>Six steps: agree goals and measure today; set up the secure data foundation; ready the AI agents on Ascension's own systems and rules; build and test the first campaign on test data; reach the first real patients; then measure and scale to more programs, teams and the voice agent. Durations are agreed in discovery. Care-team changes for the Network Services team start once the agents are ready.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182880"/>
            <a:ext cx="5486400" cy="182880"/>
          </a:xfrm>
          <a:prstGeom prst="rect">
            <a:avLst/>
          </a:prstGeom>
          <a:noFill/>
        </p:spPr>
        <p:txBody>
          <a:bodyPr wrap="square" lIns="0" rIns="0" tIns="0" bIns="0" anchor="ctr">
            <a:spAutoFit/>
          </a:bodyPr>
          <a:lstStyle/>
          <a:p>
            <a:r>
              <a:rPr sz="800" b="1" i="0" spc="300">
                <a:solidFill>
                  <a:srgbClr val="1A1A1A"/>
                </a:solidFill>
                <a:latin typeface="Trenda IG Text"/>
              </a:rPr>
              <a:t>EXECUTIVE SUMMARY</a:t>
            </a:r>
          </a:p>
        </p:txBody>
      </p:sp>
      <p:sp>
        <p:nvSpPr>
          <p:cNvPr id="3" name="Text 2"/>
          <p:cNvSpPr txBox="1"/>
          <p:nvPr/>
        </p:nvSpPr>
        <p:spPr>
          <a:xfrm>
            <a:off x="411480" y="411480"/>
            <a:ext cx="11365992" cy="640080"/>
          </a:xfrm>
          <a:prstGeom prst="rect">
            <a:avLst/>
          </a:prstGeom>
          <a:noFill/>
        </p:spPr>
        <p:txBody>
          <a:bodyPr wrap="square" lIns="0" rIns="0" tIns="0" bIns="0" anchor="ctr">
            <a:spAutoFit/>
          </a:bodyPr>
          <a:lstStyle/>
          <a:p>
            <a:r>
              <a:rPr sz="3600" b="1" i="0">
                <a:solidFill>
                  <a:srgbClr val="1A1A1A"/>
                </a:solidFill>
                <a:latin typeface="Trenda IG Text"/>
              </a:rPr>
              <a:t>Executive Summary</a:t>
            </a:r>
          </a:p>
        </p:txBody>
      </p:sp>
      <p:sp>
        <p:nvSpPr>
          <p:cNvPr id="4" name="Text 3"/>
          <p:cNvSpPr txBox="1"/>
          <p:nvPr/>
        </p:nvSpPr>
        <p:spPr>
          <a:xfrm>
            <a:off x="411480" y="1115568"/>
            <a:ext cx="7315200" cy="274320"/>
          </a:xfrm>
          <a:prstGeom prst="rect">
            <a:avLst/>
          </a:prstGeom>
          <a:noFill/>
        </p:spPr>
        <p:txBody>
          <a:bodyPr wrap="square" lIns="0" rIns="0" tIns="0" bIns="0" anchor="ctr">
            <a:spAutoFit/>
          </a:bodyPr>
          <a:lstStyle/>
          <a:p>
            <a:r>
              <a:rPr sz="1300" b="1" i="0" spc="300">
                <a:solidFill>
                  <a:srgbClr val="1A1A1A"/>
                </a:solidFill>
                <a:latin typeface="Trenda IG Text"/>
              </a:rPr>
              <a:t>OUR UNDERSTANDING</a:t>
            </a:r>
          </a:p>
        </p:txBody>
      </p:sp>
      <p:sp>
        <p:nvSpPr>
          <p:cNvPr id="5" name="Text 4"/>
          <p:cNvSpPr txBox="1"/>
          <p:nvPr/>
        </p:nvSpPr>
        <p:spPr>
          <a:xfrm>
            <a:off x="411480" y="1444752"/>
            <a:ext cx="11365992" cy="1371600"/>
          </a:xfrm>
          <a:prstGeom prst="rect">
            <a:avLst/>
          </a:prstGeom>
          <a:noFill/>
        </p:spPr>
        <p:txBody>
          <a:bodyPr wrap="square" lIns="0" rIns="0" tIns="0" bIns="0" anchor="t">
            <a:spAutoFit/>
          </a:bodyPr>
          <a:lstStyle/>
          <a:p>
            <a:pPr>
              <a:lnSpc>
                <a:spcPct val="108000"/>
              </a:lnSpc>
              <a:spcAft>
                <a:spcPts val="1000"/>
              </a:spcAft>
            </a:pPr>
            <a:r>
              <a:rPr sz="1200" b="0" i="0">
                <a:solidFill>
                  <a:srgbClr val="1A1A1A"/>
                </a:solidFill>
                <a:latin typeface="Trenda IG Text"/>
              </a:rPr>
              <a:t>Ascension is seeking to use AI to reach patients sooner, serve them better and run its digital operations at lower cost, without putting patient data at risk. Today a patient-outreach campaign takes about 90 days to launch, a change to care-team tools in Salesforce takes about two weeks, and routine patient calls depend on staff. The Ascension Agentic Factory brings AI to all three, on one secure, HIPAA-aligned platform.</a:t>
            </a:r>
          </a:p>
          <a:p>
            <a:pPr>
              <a:lnSpc>
                <a:spcPct val="108000"/>
              </a:lnSpc>
              <a:spcAft>
                <a:spcPts val="1000"/>
              </a:spcAft>
            </a:pPr>
            <a:r>
              <a:rPr sz="1200" b="0" i="0">
                <a:solidFill>
                  <a:srgbClr val="1A1A1A"/>
                </a:solidFill>
                <a:latin typeface="Trenda IG Text"/>
              </a:rPr>
              <a:t>The initial focus will be post-discharge follow-up for heart-failure patients and the Network Services team, followed by more patient programs and teams, using a measured pilot and incremental releases.</a:t>
            </a:r>
          </a:p>
        </p:txBody>
      </p:sp>
      <p:sp>
        <p:nvSpPr>
          <p:cNvPr id="6" name="Text 5"/>
          <p:cNvSpPr txBox="1"/>
          <p:nvPr/>
        </p:nvSpPr>
        <p:spPr>
          <a:xfrm>
            <a:off x="411480" y="2971800"/>
            <a:ext cx="6172200" cy="274320"/>
          </a:xfrm>
          <a:prstGeom prst="rect">
            <a:avLst/>
          </a:prstGeom>
          <a:noFill/>
        </p:spPr>
        <p:txBody>
          <a:bodyPr wrap="square" lIns="0" rIns="0" tIns="0" bIns="0" anchor="ctr">
            <a:spAutoFit/>
          </a:bodyPr>
          <a:lstStyle/>
          <a:p>
            <a:r>
              <a:rPr sz="1300" b="1" i="0" spc="300">
                <a:solidFill>
                  <a:srgbClr val="1A1A1A"/>
                </a:solidFill>
                <a:latin typeface="Trenda IG Text"/>
              </a:rPr>
              <a:t>RESULTS &amp; VALUE</a:t>
            </a:r>
          </a:p>
        </p:txBody>
      </p:sp>
      <p:sp>
        <p:nvSpPr>
          <p:cNvPr id="7" name="Text 6"/>
          <p:cNvSpPr txBox="1"/>
          <p:nvPr/>
        </p:nvSpPr>
        <p:spPr>
          <a:xfrm>
            <a:off x="411480" y="3319272"/>
            <a:ext cx="6172200" cy="914400"/>
          </a:xfrm>
          <a:prstGeom prst="rect">
            <a:avLst/>
          </a:prstGeom>
          <a:noFill/>
        </p:spPr>
        <p:txBody>
          <a:bodyPr wrap="square" lIns="0" rIns="0" tIns="0" bIns="0" anchor="t">
            <a:spAutoFit/>
          </a:bodyPr>
          <a:lstStyle/>
          <a:p>
            <a:pPr>
              <a:lnSpc>
                <a:spcPct val="108000"/>
              </a:lnSpc>
            </a:pPr>
            <a:r>
              <a:rPr sz="1200" b="0" i="0">
                <a:solidFill>
                  <a:srgbClr val="1A1A1A"/>
                </a:solidFill>
                <a:latin typeface="Trenda IG Text"/>
              </a:rPr>
              <a:t>The solution addresses slow launches of patient programs, manual work repeated for every campaign and change, routine calls that tie up staff, and the risk that comes with patient data. Success will be measured by time to launch, patients reached, cost per change and zero unauthorized access to patient data.</a:t>
            </a:r>
          </a:p>
        </p:txBody>
      </p:sp>
      <p:sp>
        <p:nvSpPr>
          <p:cNvPr id="8" name="Text 7"/>
          <p:cNvSpPr txBox="1"/>
          <p:nvPr/>
        </p:nvSpPr>
        <p:spPr>
          <a:xfrm>
            <a:off x="411480" y="4343400"/>
            <a:ext cx="6172200" cy="1920240"/>
          </a:xfrm>
          <a:prstGeom prst="rect">
            <a:avLst/>
          </a:prstGeom>
          <a:noFill/>
        </p:spPr>
        <p:txBody>
          <a:bodyPr wrap="square" lIns="0" rIns="0" tIns="0" bIns="0" anchor="t">
            <a:spAutoFit/>
          </a:bodyPr>
          <a:lstStyle/>
          <a:p>
            <a:pPr marL="228600" indent="-228600">
              <a:spcAft>
                <a:spcPts val="400"/>
              </a:spcAft>
              <a:buChar char="•"/>
            </a:pPr>
            <a:r>
              <a:rPr sz="1200" b="0" i="0">
                <a:solidFill>
                  <a:srgbClr val="1A1A1A"/>
                </a:solidFill>
                <a:latin typeface="Trenda IG Text"/>
              </a:rPr>
              <a:t>Launch patient-outreach campaigns in ~10-12 days, not ~90</a:t>
            </a:r>
          </a:p>
          <a:p>
            <a:pPr marL="228600" indent="-228600">
              <a:spcAft>
                <a:spcPts val="400"/>
              </a:spcAft>
              <a:buChar char="•"/>
            </a:pPr>
            <a:r>
              <a:rPr sz="1200" b="0" i="0">
                <a:solidFill>
                  <a:srgbClr val="1A1A1A"/>
                </a:solidFill>
                <a:latin typeface="Trenda IG Text"/>
              </a:rPr>
              <a:t>Deliver care-team tool changes in ~2 days, not ~2 weeks</a:t>
            </a:r>
          </a:p>
          <a:p>
            <a:pPr marL="228600" indent="-228600">
              <a:spcAft>
                <a:spcPts val="400"/>
              </a:spcAft>
              <a:buChar char="•"/>
            </a:pPr>
            <a:r>
              <a:rPr sz="1200" b="0" i="0">
                <a:solidFill>
                  <a:srgbClr val="1A1A1A"/>
                </a:solidFill>
                <a:latin typeface="Trenda IG Text"/>
              </a:rPr>
              <a:t>Reach the right patients, with consent checked before every message</a:t>
            </a:r>
          </a:p>
          <a:p>
            <a:pPr marL="228600" indent="-228600">
              <a:spcAft>
                <a:spcPts val="400"/>
              </a:spcAft>
              <a:buChar char="•"/>
            </a:pPr>
            <a:r>
              <a:rPr sz="1200" b="0" i="0">
                <a:solidFill>
                  <a:srgbClr val="1A1A1A"/>
                </a:solidFill>
                <a:latin typeface="Trenda IG Text"/>
              </a:rPr>
              <a:t>Handle routine patient calls with the voice agent; staff take the rest</a:t>
            </a:r>
          </a:p>
          <a:p>
            <a:pPr marL="228600" indent="-228600">
              <a:spcAft>
                <a:spcPts val="400"/>
              </a:spcAft>
              <a:buChar char="•"/>
            </a:pPr>
            <a:r>
              <a:rPr sz="1200" b="0" i="0">
                <a:solidFill>
                  <a:srgbClr val="1A1A1A"/>
                </a:solidFill>
                <a:latin typeface="Trenda IG Text"/>
              </a:rPr>
              <a:t>Save about $19.9M over three years</a:t>
            </a:r>
          </a:p>
          <a:p>
            <a:pPr marL="228600" indent="-228600">
              <a:spcAft>
                <a:spcPts val="400"/>
              </a:spcAft>
              <a:buChar char="•"/>
            </a:pPr>
            <a:r>
              <a:rPr sz="1200" b="0" i="0">
                <a:solidFill>
                  <a:srgbClr val="1A1A1A"/>
                </a:solidFill>
                <a:latin typeface="Trenda IG Text"/>
              </a:rPr>
              <a:t>Build a scalable AI foundation for future programs</a:t>
            </a:r>
          </a:p>
        </p:txBody>
      </p:sp>
      <p:cxnSp>
        <p:nvCxnSpPr>
          <p:cNvPr id="9" name="Arrow 8"/>
          <p:cNvCxnSpPr/>
          <p:nvPr/>
        </p:nvCxnSpPr>
        <p:spPr>
          <a:xfrm>
            <a:off x="6903720" y="3017520"/>
            <a:ext cx="0" cy="3246120"/>
          </a:xfrm>
          <a:prstGeom prst="line">
            <a:avLst/>
          </a:prstGeom>
          <a:ln w="25400">
            <a:solidFill>
              <a:srgbClr val="BFBFBF"/>
            </a:solidFill>
            <a:prstDash val="sysDot"/>
          </a:ln>
        </p:spPr>
        <p:style>
          <a:lnRef idx="2">
            <a:schemeClr val="accent1"/>
          </a:lnRef>
          <a:fillRef idx="0">
            <a:schemeClr val="accent1"/>
          </a:fillRef>
          <a:effectRef idx="1">
            <a:schemeClr val="accent1"/>
          </a:effectRef>
          <a:fontRef idx="minor">
            <a:schemeClr val="tx1"/>
          </a:fontRef>
        </p:style>
      </p:cxnSp>
      <p:sp>
        <p:nvSpPr>
          <p:cNvPr id="10" name="Text 9"/>
          <p:cNvSpPr txBox="1"/>
          <p:nvPr/>
        </p:nvSpPr>
        <p:spPr>
          <a:xfrm>
            <a:off x="7223760" y="2971800"/>
            <a:ext cx="4553712" cy="274320"/>
          </a:xfrm>
          <a:prstGeom prst="rect">
            <a:avLst/>
          </a:prstGeom>
          <a:noFill/>
        </p:spPr>
        <p:txBody>
          <a:bodyPr wrap="square" lIns="0" rIns="0" tIns="0" bIns="0" anchor="ctr">
            <a:spAutoFit/>
          </a:bodyPr>
          <a:lstStyle/>
          <a:p>
            <a:r>
              <a:rPr sz="1300" b="1" i="0" spc="300">
                <a:solidFill>
                  <a:srgbClr val="1A1A1A"/>
                </a:solidFill>
                <a:latin typeface="Trenda IG Text"/>
              </a:rPr>
              <a:t>WHY INSIGHT GLOBAL</a:t>
            </a:r>
          </a:p>
        </p:txBody>
      </p:sp>
      <p:sp>
        <p:nvSpPr>
          <p:cNvPr id="11" name="Text 10"/>
          <p:cNvSpPr txBox="1"/>
          <p:nvPr/>
        </p:nvSpPr>
        <p:spPr>
          <a:xfrm>
            <a:off x="7223760" y="3355848"/>
            <a:ext cx="4553712" cy="2743200"/>
          </a:xfrm>
          <a:prstGeom prst="rect">
            <a:avLst/>
          </a:prstGeom>
          <a:noFill/>
        </p:spPr>
        <p:txBody>
          <a:bodyPr wrap="square" lIns="0" rIns="0" tIns="0" bIns="0" anchor="t">
            <a:spAutoFit/>
          </a:bodyPr>
          <a:lstStyle/>
          <a:p>
            <a:pPr marL="228600" indent="-228600">
              <a:spcAft>
                <a:spcPts val="500"/>
              </a:spcAft>
              <a:buChar char="•"/>
            </a:pPr>
            <a:r>
              <a:rPr sz="1200" b="0" i="0">
                <a:solidFill>
                  <a:srgbClr val="1A1A1A"/>
                </a:solidFill>
                <a:latin typeface="Trenda IG Text"/>
              </a:rPr>
              <a:t>Healthcare-ready: HIPAA-aligned by design; AI never sees raw patient data</a:t>
            </a:r>
          </a:p>
          <a:p>
            <a:pPr marL="228600" indent="-228600">
              <a:spcAft>
                <a:spcPts val="500"/>
              </a:spcAft>
              <a:buChar char="•"/>
            </a:pPr>
            <a:r>
              <a:rPr sz="1200" b="0" i="0">
                <a:solidFill>
                  <a:srgbClr val="1A1A1A"/>
                </a:solidFill>
                <a:latin typeface="Trenda IG Text"/>
              </a:rPr>
              <a:t>Proven at Ascension: agent-assisted delivery already took changes from 1-2 weeks to 2-4 days</a:t>
            </a:r>
          </a:p>
          <a:p>
            <a:pPr marL="228600" indent="-228600">
              <a:spcAft>
                <a:spcPts val="500"/>
              </a:spcAft>
              <a:buChar char="•"/>
            </a:pPr>
            <a:r>
              <a:rPr sz="1200" b="0" i="0">
                <a:solidFill>
                  <a:srgbClr val="1A1A1A"/>
                </a:solidFill>
                <a:latin typeface="Trenda IG Text"/>
              </a:rPr>
              <a:t>Built on Ascension's existing Salesforce, Google Cloud and Codex investments</a:t>
            </a:r>
          </a:p>
          <a:p>
            <a:pPr marL="228600" indent="-228600">
              <a:spcAft>
                <a:spcPts val="500"/>
              </a:spcAft>
              <a:buChar char="•"/>
            </a:pPr>
            <a:r>
              <a:rPr sz="1200" b="0" i="0">
                <a:solidFill>
                  <a:srgbClr val="1A1A1A"/>
                </a:solidFill>
                <a:latin typeface="Trenda IG Text"/>
              </a:rPr>
              <a:t>Outcome-led delivery with measurable success criteria</a:t>
            </a:r>
          </a:p>
          <a:p>
            <a:pPr marL="228600" indent="-228600">
              <a:spcAft>
                <a:spcPts val="500"/>
              </a:spcAft>
              <a:buChar char="•"/>
            </a:pPr>
            <a:r>
              <a:rPr sz="1200" b="0" i="0">
                <a:solidFill>
                  <a:srgbClr val="1A1A1A"/>
                </a:solidFill>
                <a:latin typeface="Trenda IG Text"/>
              </a:rPr>
              <a:t>Iterative MVP approach: early value, not a big-bang launch</a:t>
            </a:r>
          </a:p>
          <a:p>
            <a:pPr marL="228600" indent="-228600">
              <a:spcAft>
                <a:spcPts val="500"/>
              </a:spcAft>
              <a:buChar char="•"/>
            </a:pPr>
            <a:r>
              <a:rPr sz="1200" b="0" i="0">
                <a:solidFill>
                  <a:srgbClr val="1A1A1A"/>
                </a:solidFill>
                <a:latin typeface="Trenda IG Text"/>
              </a:rPr>
              <a:t>People stay in control: every AI recommendation is approved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Shape 1"/>
          <p:cNvSpPr/>
          <p:nvPr/>
        </p:nvSpPr>
        <p:spPr>
          <a:xfrm>
            <a:off x="0" y="0"/>
            <a:ext cx="12191695" cy="3840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411480" y="182880"/>
            <a:ext cx="5486400" cy="182880"/>
          </a:xfrm>
          <a:prstGeom prst="rect">
            <a:avLst/>
          </a:prstGeom>
          <a:noFill/>
        </p:spPr>
        <p:txBody>
          <a:bodyPr wrap="square" lIns="0" rIns="0" tIns="0" bIns="0" anchor="ctr">
            <a:spAutoFit/>
          </a:bodyPr>
          <a:lstStyle/>
          <a:p>
            <a:r>
              <a:rPr sz="800" b="1" i="0" spc="300">
                <a:solidFill>
                  <a:srgbClr val="1A1A1A"/>
                </a:solidFill>
                <a:latin typeface="Trenda IG Text"/>
              </a:rPr>
              <a:t>EXECUTIVE SUMMARY</a:t>
            </a:r>
          </a:p>
        </p:txBody>
      </p:sp>
      <p:sp>
        <p:nvSpPr>
          <p:cNvPr id="4" name="Text 3"/>
          <p:cNvSpPr txBox="1"/>
          <p:nvPr/>
        </p:nvSpPr>
        <p:spPr>
          <a:xfrm>
            <a:off x="411480" y="411480"/>
            <a:ext cx="11365992" cy="640080"/>
          </a:xfrm>
          <a:prstGeom prst="rect">
            <a:avLst/>
          </a:prstGeom>
          <a:noFill/>
        </p:spPr>
        <p:txBody>
          <a:bodyPr wrap="square" lIns="0" rIns="0" tIns="0" bIns="0" anchor="ctr">
            <a:spAutoFit/>
          </a:bodyPr>
          <a:lstStyle/>
          <a:p>
            <a:r>
              <a:rPr sz="3600" b="1" i="0">
                <a:solidFill>
                  <a:srgbClr val="1A1A1A"/>
                </a:solidFill>
                <a:latin typeface="Trenda IG Text"/>
              </a:rPr>
              <a:t>Executive Summary</a:t>
            </a:r>
          </a:p>
        </p:txBody>
      </p:sp>
      <p:sp>
        <p:nvSpPr>
          <p:cNvPr id="5" name="Text 4"/>
          <p:cNvSpPr txBox="1"/>
          <p:nvPr/>
        </p:nvSpPr>
        <p:spPr>
          <a:xfrm>
            <a:off x="411480" y="1325880"/>
            <a:ext cx="6035040" cy="274320"/>
          </a:xfrm>
          <a:prstGeom prst="rect">
            <a:avLst/>
          </a:prstGeom>
          <a:noFill/>
        </p:spPr>
        <p:txBody>
          <a:bodyPr wrap="square" lIns="0" rIns="0" tIns="0" bIns="0" anchor="ctr">
            <a:spAutoFit/>
          </a:bodyPr>
          <a:lstStyle/>
          <a:p>
            <a:r>
              <a:rPr sz="1300" b="1" i="0" spc="300">
                <a:solidFill>
                  <a:srgbClr val="1A1A1A"/>
                </a:solidFill>
                <a:latin typeface="Trenda IG Text"/>
              </a:rPr>
              <a:t>SOLUTION OVERVIEW</a:t>
            </a:r>
          </a:p>
        </p:txBody>
      </p:sp>
      <p:sp>
        <p:nvSpPr>
          <p:cNvPr id="6" name="Text 5"/>
          <p:cNvSpPr txBox="1"/>
          <p:nvPr/>
        </p:nvSpPr>
        <p:spPr>
          <a:xfrm>
            <a:off x="411480" y="1673352"/>
            <a:ext cx="6035040" cy="2103120"/>
          </a:xfrm>
          <a:prstGeom prst="rect">
            <a:avLst/>
          </a:prstGeom>
          <a:noFill/>
        </p:spPr>
        <p:txBody>
          <a:bodyPr wrap="square" lIns="0" rIns="0" tIns="0" bIns="0" anchor="t">
            <a:spAutoFit/>
          </a:bodyPr>
          <a:lstStyle/>
          <a:p>
            <a:pPr>
              <a:lnSpc>
                <a:spcPct val="108000"/>
              </a:lnSpc>
            </a:pPr>
            <a:r>
              <a:rPr sz="1150" b="0" i="0">
                <a:solidFill>
                  <a:srgbClr val="1A1A1A"/>
                </a:solidFill>
                <a:latin typeface="Trenda IG Text"/>
              </a:rPr>
              <a:t>Insight Global will design and implement an AI solution for three parts of Ascension's business: patient-outreach campaigns in Marketing Cloud, faster changes to care-team tools in Salesforce Health Cloud, and a voice agent that answers patients and manages their appointments. AI agents do the research, building and testing; Ascension's people approve every step; patient data stays in Ascension's Google Cloud, governed and masked. Delivery follows a measured pilot, providing early value while establishing a scalable foundation for every team.</a:t>
            </a:r>
          </a:p>
        </p:txBody>
      </p:sp>
      <p:sp>
        <p:nvSpPr>
          <p:cNvPr id="7" name="Text 6"/>
          <p:cNvSpPr txBox="1"/>
          <p:nvPr/>
        </p:nvSpPr>
        <p:spPr>
          <a:xfrm>
            <a:off x="6903720" y="1325880"/>
            <a:ext cx="4873752" cy="274320"/>
          </a:xfrm>
          <a:prstGeom prst="rect">
            <a:avLst/>
          </a:prstGeom>
          <a:noFill/>
        </p:spPr>
        <p:txBody>
          <a:bodyPr wrap="square" lIns="0" rIns="0" tIns="0" bIns="0" anchor="ctr">
            <a:spAutoFit/>
          </a:bodyPr>
          <a:lstStyle/>
          <a:p>
            <a:r>
              <a:rPr sz="1300" b="1" i="0" spc="300">
                <a:solidFill>
                  <a:srgbClr val="1A1A1A"/>
                </a:solidFill>
                <a:latin typeface="Trenda IG Text"/>
              </a:rPr>
              <a:t>KEY CONSIDERATIONS</a:t>
            </a:r>
          </a:p>
        </p:txBody>
      </p:sp>
      <p:sp>
        <p:nvSpPr>
          <p:cNvPr id="8" name="Text 7"/>
          <p:cNvSpPr txBox="1"/>
          <p:nvPr/>
        </p:nvSpPr>
        <p:spPr>
          <a:xfrm>
            <a:off x="6903720" y="1691640"/>
            <a:ext cx="4873752" cy="2103120"/>
          </a:xfrm>
          <a:prstGeom prst="rect">
            <a:avLst/>
          </a:prstGeom>
          <a:noFill/>
        </p:spPr>
        <p:txBody>
          <a:bodyPr wrap="square" lIns="0" rIns="0" tIns="0" bIns="0" anchor="t">
            <a:spAutoFit/>
          </a:bodyPr>
          <a:lstStyle/>
          <a:p>
            <a:pPr marL="228600" indent="-228600">
              <a:spcAft>
                <a:spcPts val="300"/>
              </a:spcAft>
              <a:buChar char="•"/>
            </a:pPr>
            <a:r>
              <a:rPr sz="1150" b="0" i="0">
                <a:solidFill>
                  <a:srgbClr val="1A1A1A"/>
                </a:solidFill>
                <a:latin typeface="Trenda IG Text"/>
              </a:rPr>
              <a:t>Patient safety and HIPAA first: consent checked before every message</a:t>
            </a:r>
          </a:p>
          <a:p>
            <a:pPr marL="228600" indent="-228600">
              <a:spcAft>
                <a:spcPts val="300"/>
              </a:spcAft>
              <a:buChar char="•"/>
            </a:pPr>
            <a:r>
              <a:rPr sz="1150" b="0" i="0">
                <a:solidFill>
                  <a:srgbClr val="1A1A1A"/>
                </a:solidFill>
                <a:latin typeface="Trenda IG Text"/>
              </a:rPr>
              <a:t>People stay in control: every AI recommendation is approved</a:t>
            </a:r>
          </a:p>
          <a:p>
            <a:pPr marL="228600" indent="-228600">
              <a:spcAft>
                <a:spcPts val="300"/>
              </a:spcAft>
              <a:buChar char="•"/>
            </a:pPr>
            <a:r>
              <a:rPr sz="1150" b="0" i="0">
                <a:solidFill>
                  <a:srgbClr val="1A1A1A"/>
                </a:solidFill>
                <a:latin typeface="Trenda IG Text"/>
              </a:rPr>
              <a:t>Existing Salesforce, Google Cloud and Codex investments reused</a:t>
            </a:r>
          </a:p>
          <a:p>
            <a:pPr marL="228600" indent="-228600">
              <a:spcAft>
                <a:spcPts val="300"/>
              </a:spcAft>
              <a:buChar char="•"/>
            </a:pPr>
            <a:r>
              <a:rPr sz="1150" b="0" i="0">
                <a:solidFill>
                  <a:srgbClr val="1A1A1A"/>
                </a:solidFill>
                <a:latin typeface="Trenda IG Text"/>
              </a:rPr>
              <a:t>Proven on test data before any real patient</a:t>
            </a:r>
          </a:p>
          <a:p>
            <a:pPr marL="228600" indent="-228600">
              <a:spcAft>
                <a:spcPts val="300"/>
              </a:spcAft>
              <a:buChar char="•"/>
            </a:pPr>
            <a:r>
              <a:rPr sz="1150" b="0" i="0">
                <a:solidFill>
                  <a:srgbClr val="1A1A1A"/>
                </a:solidFill>
                <a:latin typeface="Trenda IG Text"/>
              </a:rPr>
              <a:t>Incremental releases, not a big-bang launch</a:t>
            </a:r>
          </a:p>
          <a:p>
            <a:pPr marL="228600" indent="-228600">
              <a:spcAft>
                <a:spcPts val="300"/>
              </a:spcAft>
              <a:buChar char="•"/>
            </a:pPr>
            <a:r>
              <a:rPr sz="1150" b="0" i="0">
                <a:solidFill>
                  <a:srgbClr val="1A1A1A"/>
                </a:solidFill>
                <a:latin typeface="Trenda IG Text"/>
              </a:rPr>
              <a:t>Measurable outcomes: speed, reach, cost and safety</a:t>
            </a:r>
          </a:p>
        </p:txBody>
      </p:sp>
      <p:sp>
        <p:nvSpPr>
          <p:cNvPr id="9" name="Text 8"/>
          <p:cNvSpPr txBox="1"/>
          <p:nvPr/>
        </p:nvSpPr>
        <p:spPr>
          <a:xfrm>
            <a:off x="411480" y="4041648"/>
            <a:ext cx="11338560" cy="310896"/>
          </a:xfrm>
          <a:prstGeom prst="rect">
            <a:avLst/>
          </a:prstGeom>
          <a:noFill/>
        </p:spPr>
        <p:txBody>
          <a:bodyPr wrap="square" lIns="0" rIns="0" tIns="0" bIns="0" anchor="ctr">
            <a:spAutoFit/>
          </a:bodyPr>
          <a:lstStyle/>
          <a:p>
            <a:r>
              <a:rPr sz="1400" b="0" i="0" spc="300">
                <a:solidFill>
                  <a:srgbClr val="FFFFFF"/>
                </a:solidFill>
                <a:latin typeface="Trenda IG Text"/>
              </a:rPr>
              <a:t>SOLUTION TIMELINE – </a:t>
            </a:r>
            <a:r>
              <a:rPr sz="1400" b="0" i="0" spc="300">
                <a:solidFill>
                  <a:srgbClr val="00D6F2"/>
                </a:solidFill>
                <a:latin typeface="Trenda IG Text"/>
              </a:rPr>
              <a:t>Pilot to scale</a:t>
            </a:r>
          </a:p>
        </p:txBody>
      </p:sp>
      <p:sp>
        <p:nvSpPr>
          <p:cNvPr id="10" name="Text 9"/>
          <p:cNvSpPr txBox="1"/>
          <p:nvPr/>
        </p:nvSpPr>
        <p:spPr>
          <a:xfrm>
            <a:off x="411480" y="4370832"/>
            <a:ext cx="11338560" cy="201168"/>
          </a:xfrm>
          <a:prstGeom prst="rect">
            <a:avLst/>
          </a:prstGeom>
          <a:noFill/>
        </p:spPr>
        <p:txBody>
          <a:bodyPr wrap="square" lIns="0" rIns="0" tIns="0" bIns="0" anchor="ctr">
            <a:spAutoFit/>
          </a:bodyPr>
          <a:lstStyle/>
          <a:p>
            <a:r>
              <a:rPr sz="850" b="0" i="0">
                <a:solidFill>
                  <a:srgbClr val="8C8C8C"/>
                </a:solidFill>
                <a:latin typeface="Trenda IG Text"/>
              </a:rPr>
              <a:t>Durations are agreed in discovery. Care-team changes for the Network Services team start once the AI agents are ready.</a:t>
            </a:r>
          </a:p>
        </p:txBody>
      </p:sp>
      <p:sp>
        <p:nvSpPr>
          <p:cNvPr id="11" name="Shape 10"/>
          <p:cNvSpPr/>
          <p:nvPr/>
        </p:nvSpPr>
        <p:spPr>
          <a:xfrm>
            <a:off x="0" y="5394960"/>
            <a:ext cx="12191695"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2" name="Arrow 11"/>
          <p:cNvCxnSpPr/>
          <p:nvPr/>
        </p:nvCxnSpPr>
        <p:spPr>
          <a:xfrm>
            <a:off x="640080" y="5065776"/>
            <a:ext cx="0" cy="256032"/>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566928" y="5340096"/>
            <a:ext cx="146304" cy="1463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59" y="4526280"/>
            <a:ext cx="2194560" cy="502920"/>
          </a:xfrm>
          <a:prstGeom prst="rect">
            <a:avLst/>
          </a:prstGeom>
          <a:noFill/>
        </p:spPr>
        <p:txBody>
          <a:bodyPr wrap="square" lIns="0" rIns="0" tIns="0" bIns="0" anchor="b">
            <a:spAutoFit/>
          </a:bodyPr>
          <a:lstStyle/>
          <a:p>
            <a:pPr>
              <a:spcAft>
                <a:spcPts val="100"/>
              </a:spcAft>
            </a:pPr>
            <a:r>
              <a:rPr sz="1050" b="0" i="0">
                <a:solidFill>
                  <a:srgbClr val="FFFFFF"/>
                </a:solidFill>
                <a:latin typeface="Trenda IG Text"/>
              </a:rPr>
              <a:t>Discovery &amp; baseline</a:t>
            </a:r>
          </a:p>
          <a:p>
            <a:pPr>
              <a:spcAft>
                <a:spcPts val="100"/>
              </a:spcAft>
            </a:pPr>
            <a:r>
              <a:rPr sz="950" b="0" i="0">
                <a:solidFill>
                  <a:srgbClr val="B3B3B3"/>
                </a:solidFill>
                <a:latin typeface="Trenda IG Text"/>
              </a:rPr>
              <a:t>goals, owners, today's measures</a:t>
            </a:r>
          </a:p>
        </p:txBody>
      </p:sp>
      <p:cxnSp>
        <p:nvCxnSpPr>
          <p:cNvPr id="15" name="Arrow 14"/>
          <p:cNvCxnSpPr/>
          <p:nvPr/>
        </p:nvCxnSpPr>
        <p:spPr>
          <a:xfrm>
            <a:off x="2816352" y="5504688"/>
            <a:ext cx="0" cy="256032"/>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6" name="Shape 15"/>
          <p:cNvSpPr/>
          <p:nvPr/>
        </p:nvSpPr>
        <p:spPr>
          <a:xfrm>
            <a:off x="2743200" y="5340096"/>
            <a:ext cx="146304" cy="1463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2770632" y="5806440"/>
            <a:ext cx="2194560" cy="502920"/>
          </a:xfrm>
          <a:prstGeom prst="rect">
            <a:avLst/>
          </a:prstGeom>
          <a:noFill/>
        </p:spPr>
        <p:txBody>
          <a:bodyPr wrap="square" lIns="0" rIns="0" tIns="0" bIns="0" anchor="t">
            <a:spAutoFit/>
          </a:bodyPr>
          <a:lstStyle/>
          <a:p>
            <a:pPr>
              <a:spcAft>
                <a:spcPts val="100"/>
              </a:spcAft>
            </a:pPr>
            <a:r>
              <a:rPr sz="1050" b="0" i="0">
                <a:solidFill>
                  <a:srgbClr val="FFFFFF"/>
                </a:solidFill>
                <a:latin typeface="Trenda IG Text"/>
              </a:rPr>
              <a:t>Secure data foundation</a:t>
            </a:r>
          </a:p>
          <a:p>
            <a:pPr>
              <a:spcAft>
                <a:spcPts val="100"/>
              </a:spcAft>
            </a:pPr>
            <a:r>
              <a:rPr sz="950" b="0" i="0">
                <a:solidFill>
                  <a:srgbClr val="B3B3B3"/>
                </a:solidFill>
                <a:latin typeface="Trenda IG Text"/>
              </a:rPr>
              <a:t>patient data governed in Google Cloud</a:t>
            </a:r>
          </a:p>
        </p:txBody>
      </p:sp>
      <p:cxnSp>
        <p:nvCxnSpPr>
          <p:cNvPr id="18" name="Arrow 17"/>
          <p:cNvCxnSpPr/>
          <p:nvPr/>
        </p:nvCxnSpPr>
        <p:spPr>
          <a:xfrm>
            <a:off x="4992624" y="5065776"/>
            <a:ext cx="0" cy="256032"/>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919472" y="5340096"/>
            <a:ext cx="146304" cy="1463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946904" y="4526280"/>
            <a:ext cx="2194560" cy="502920"/>
          </a:xfrm>
          <a:prstGeom prst="rect">
            <a:avLst/>
          </a:prstGeom>
          <a:noFill/>
        </p:spPr>
        <p:txBody>
          <a:bodyPr wrap="square" lIns="0" rIns="0" tIns="0" bIns="0" anchor="b">
            <a:spAutoFit/>
          </a:bodyPr>
          <a:lstStyle/>
          <a:p>
            <a:pPr>
              <a:spcAft>
                <a:spcPts val="100"/>
              </a:spcAft>
            </a:pPr>
            <a:r>
              <a:rPr sz="1050" b="0" i="0">
                <a:solidFill>
                  <a:srgbClr val="FFFFFF"/>
                </a:solidFill>
                <a:latin typeface="Trenda IG Text"/>
              </a:rPr>
              <a:t>AI agents ready</a:t>
            </a:r>
          </a:p>
          <a:p>
            <a:pPr>
              <a:spcAft>
                <a:spcPts val="100"/>
              </a:spcAft>
            </a:pPr>
            <a:r>
              <a:rPr sz="950" b="0" i="0">
                <a:solidFill>
                  <a:srgbClr val="B3B3B3"/>
                </a:solidFill>
                <a:latin typeface="Trenda IG Text"/>
              </a:rPr>
              <a:t>trained on Ascension's systems and rules</a:t>
            </a:r>
          </a:p>
        </p:txBody>
      </p:sp>
      <p:cxnSp>
        <p:nvCxnSpPr>
          <p:cNvPr id="21" name="Arrow 20"/>
          <p:cNvCxnSpPr/>
          <p:nvPr/>
        </p:nvCxnSpPr>
        <p:spPr>
          <a:xfrm>
            <a:off x="7168896" y="5504688"/>
            <a:ext cx="0" cy="256032"/>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22" name="Shape 21"/>
          <p:cNvSpPr/>
          <p:nvPr/>
        </p:nvSpPr>
        <p:spPr>
          <a:xfrm>
            <a:off x="7095744" y="5340096"/>
            <a:ext cx="146304" cy="1463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7123176" y="5806440"/>
            <a:ext cx="2194560" cy="502920"/>
          </a:xfrm>
          <a:prstGeom prst="rect">
            <a:avLst/>
          </a:prstGeom>
          <a:noFill/>
        </p:spPr>
        <p:txBody>
          <a:bodyPr wrap="square" lIns="0" rIns="0" tIns="0" bIns="0" anchor="t">
            <a:spAutoFit/>
          </a:bodyPr>
          <a:lstStyle/>
          <a:p>
            <a:pPr>
              <a:spcAft>
                <a:spcPts val="100"/>
              </a:spcAft>
            </a:pPr>
            <a:r>
              <a:rPr sz="1050" b="0" i="0">
                <a:solidFill>
                  <a:srgbClr val="FFFFFF"/>
                </a:solidFill>
                <a:latin typeface="Trenda IG Text"/>
              </a:rPr>
              <a:t>First campaign built &amp; tested</a:t>
            </a:r>
          </a:p>
          <a:p>
            <a:pPr>
              <a:spcAft>
                <a:spcPts val="100"/>
              </a:spcAft>
            </a:pPr>
            <a:r>
              <a:rPr sz="950" b="0" i="0">
                <a:solidFill>
                  <a:srgbClr val="B3B3B3"/>
                </a:solidFill>
                <a:latin typeface="Trenda IG Text"/>
              </a:rPr>
              <a:t>heart-failure follow-up, on test data</a:t>
            </a:r>
          </a:p>
        </p:txBody>
      </p:sp>
      <p:cxnSp>
        <p:nvCxnSpPr>
          <p:cNvPr id="24" name="Arrow 23"/>
          <p:cNvCxnSpPr/>
          <p:nvPr/>
        </p:nvCxnSpPr>
        <p:spPr>
          <a:xfrm>
            <a:off x="9345167" y="5065776"/>
            <a:ext cx="0" cy="256032"/>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25" name="Shape 24"/>
          <p:cNvSpPr/>
          <p:nvPr/>
        </p:nvSpPr>
        <p:spPr>
          <a:xfrm>
            <a:off x="9272015" y="5340096"/>
            <a:ext cx="146304" cy="1463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9299447" y="4526280"/>
            <a:ext cx="2194560" cy="502920"/>
          </a:xfrm>
          <a:prstGeom prst="rect">
            <a:avLst/>
          </a:prstGeom>
          <a:noFill/>
        </p:spPr>
        <p:txBody>
          <a:bodyPr wrap="square" lIns="0" rIns="0" tIns="0" bIns="0" anchor="b">
            <a:spAutoFit/>
          </a:bodyPr>
          <a:lstStyle/>
          <a:p>
            <a:pPr>
              <a:spcAft>
                <a:spcPts val="100"/>
              </a:spcAft>
            </a:pPr>
            <a:r>
              <a:rPr sz="1050" b="0" i="0">
                <a:solidFill>
                  <a:srgbClr val="FFFFFF"/>
                </a:solidFill>
                <a:latin typeface="Trenda IG Text"/>
              </a:rPr>
              <a:t>First patients reached</a:t>
            </a:r>
          </a:p>
          <a:p>
            <a:pPr>
              <a:spcAft>
                <a:spcPts val="100"/>
              </a:spcAft>
            </a:pPr>
            <a:r>
              <a:rPr sz="950" b="0" i="0">
                <a:solidFill>
                  <a:srgbClr val="B3B3B3"/>
                </a:solidFill>
                <a:latin typeface="Trenda IG Text"/>
              </a:rPr>
              <a:t>live, with consent checked</a:t>
            </a:r>
          </a:p>
        </p:txBody>
      </p:sp>
      <p:cxnSp>
        <p:nvCxnSpPr>
          <p:cNvPr id="27" name="Arrow 26"/>
          <p:cNvCxnSpPr/>
          <p:nvPr/>
        </p:nvCxnSpPr>
        <p:spPr>
          <a:xfrm>
            <a:off x="11521440" y="5504688"/>
            <a:ext cx="0" cy="256032"/>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28" name="Shape 27"/>
          <p:cNvSpPr/>
          <p:nvPr/>
        </p:nvSpPr>
        <p:spPr>
          <a:xfrm>
            <a:off x="11448288" y="5340096"/>
            <a:ext cx="146304" cy="1463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9372600" y="5806440"/>
            <a:ext cx="2194560" cy="502920"/>
          </a:xfrm>
          <a:prstGeom prst="rect">
            <a:avLst/>
          </a:prstGeom>
          <a:noFill/>
        </p:spPr>
        <p:txBody>
          <a:bodyPr wrap="square" lIns="0" rIns="0" tIns="0" bIns="0" anchor="t">
            <a:spAutoFit/>
          </a:bodyPr>
          <a:lstStyle/>
          <a:p>
            <a:pPr algn="r">
              <a:spcAft>
                <a:spcPts val="100"/>
              </a:spcAft>
            </a:pPr>
            <a:r>
              <a:rPr sz="1050" b="0" i="0">
                <a:solidFill>
                  <a:srgbClr val="FFFFFF"/>
                </a:solidFill>
                <a:latin typeface="Trenda IG Text"/>
              </a:rPr>
              <a:t>Measure &amp; scale</a:t>
            </a:r>
          </a:p>
          <a:p>
            <a:pPr algn="r">
              <a:spcAft>
                <a:spcPts val="100"/>
              </a:spcAft>
            </a:pPr>
            <a:r>
              <a:rPr sz="950" b="0" i="0">
                <a:solidFill>
                  <a:srgbClr val="B3B3B3"/>
                </a:solidFill>
                <a:latin typeface="Trenda IG Text"/>
              </a:rPr>
              <a:t>more programs, teams, the voice agent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