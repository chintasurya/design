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256" r:id="rId10"/>
    <p:sldId id="257" r:id="rId11"/>
    <p:sldId id="258" r:id="rId12"/>
    <p:sldId id="259" r:id="rId13"/>
    <p:sldId id="260" r:id="rId14"/>
    <p:sldId id="261" r:id="rId15"/>
    <p:sldId id="263" r:id="rId17"/>
    <p:sldId id="269" r:id="rId23"/>
    <p:sldId id="270" r:id="rId24"/>
    <p:sldId id="271" r:id="rId25"/>
    <p:sldId id="265" r:id="rId19"/>
    <p:sldId id="264" r:id="rId18"/>
    <p:sldId id="262" r:id="rId16"/>
    <p:sldId id="266" r:id="rId20"/>
    <p:sldId id="272" r:id="rId26"/>
    <p:sldId id="267" r:id="rId21"/>
    <p:sldId id="268"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Factory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and the harness runs the agents; the Agentic Factory is all of it, harness, data harness, governance and people.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step that caused it: a code defect to the Developer Agent, a design gap to the Architect Agent, a requirement gap to the Requirements Agent. At most five times, then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a:p>
            <a:r>
              <a:t>BOTTOM ROW: the Change Guardian reviews every pod's metadata for the change and flags anything that would block deployment (a dependency, a conflict with another pod's work, a missing component) before release; people approve at H1-H4 and CAB, as today; the change passport records every step, approval and test.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Health Cloud change: ~2 weeks manual vs ~2 days on the Agentic Factory   (about 2 minutes)</a:t>
            </a:r>
          </a:p>
          <a:p/>
          <a:p>
            <a:r>
              <a:t>KEY MESSAGE</a:t>
            </a:r>
          </a:p>
          <a:p>
            <a:r>
              <a:t>A typical Health Cloud task on the Network Services pod takes about two weeks today, from Jira story to UAT sign-off. On the Agentic Factory the same task goes from story to production in about two days. People still approve at every gate.</a:t>
            </a:r>
          </a:p>
          <a:p/>
          <a:p>
            <a:r>
              <a:t>LEFT · TODAY</a:t>
            </a:r>
          </a:p>
          <a:p>
            <a:r>
              <a:t>Nine steps, one hand-off at a time, inside office hours: about 10 working days. About four and a half of them (magenta) go on understanding the story, finding the impact by hand and writing tests by hand: that is what the harness takes out.</a:t>
            </a:r>
          </a:p>
          <a:p/>
          <a:p>
            <a:r>
              <a:t>RIGHT · WITH THE AGENTIC FACTORY</a:t>
            </a:r>
          </a:p>
          <a:p>
            <a:r>
              <a:t>The same seven delivery agents as every pod, with Health Cloud skills; about 26 working hours over two days.</a:t>
            </a:r>
          </a:p>
          <a:p>
            <a:r>
              <a:t>Day 1: the Requirements Agent turns the story into a brief in about 3 hours and the product owner approves (H1); the Architect Agent reads impact and reuse from the knowledge graph in about 5 hours, the Change Guardian names affected pods, and the architect and pod owners approve (H2). The Developer Agent builds in DEV in about 4 hours; the Review and Test Agents check code, security and sharing and run the tests in about 4 hours, and the tech lead approves (H3); the Release Agent promotes through Copado to SIT and UAT in about 2 hours.</a:t>
            </a:r>
          </a:p>
          <a:p>
            <a:r>
              <a:t>Day 2: about 8 hours of business UAT (H4), CAB approval and the owning team's deployment to production.</a:t>
            </a:r>
          </a:p>
          <a:p/>
          <a:p>
            <a:r>
              <a:t>THE NUMBERS</a:t>
            </a:r>
          </a:p>
          <a:p>
            <a:r>
              <a:t>About 80% faster: 10 working days to about 2 days. Already measured with agent-assisted delivery: 1-2 weeks down to 2-4 days. The graph, the agent build and the automated tests take it to about 2 days, story to production: the target, confirmed against the Phase 0 baseline.</a:t>
            </a:r>
          </a:p>
          <a:p/>
          <a:p>
            <a:r>
              <a:t>BE READY FOR</a:t>
            </a:r>
          </a:p>
          <a:p>
            <a:r>
              <a:t>- "Does every task take 2 days?" Small changes take less; large or cross-pod changes take longer because more owners approve.</a:t>
            </a:r>
          </a:p>
          <a:p>
            <a:r>
              <a:t>- "Does CAB meet every day?" Day 2 assumes a CAB slot; otherwise production waits for the next CAB window. The agents never deploy to production.</a:t>
            </a:r>
          </a:p>
          <a:p>
            <a:r>
              <a:t>- "Why only 4 hours to build?" A typical Health Cloud task is a validation rule, a Flow or a small Apex change; the agent builds it with the design already approved and the context from the graph.</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Governance comes first: before anything lands, a Collibra steward approves each dataset, DLP finds the sensitive columns and policy tags mask the PHI.</a:t>
            </a:r>
          </a:p>
          <a:p>
            <a:r>
              <a:t>(3) Bronze keeps the approved, tagged extracts with lineage, under restricted access; DLP re-scans what lands.</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Gold A feeds the knowledge graph, and the Orchestrator, Campaign Strategist and Analytics agents read the knowledge graph to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PHI governance first, box 2: a Collibra steward approves each dataset, DLP classifies and policy tags are set before anything lands in Bronze. Its exit is a hard gate: zero unauthorized PHI access in security tests before any agent connects.</a:t>
            </a:r>
          </a:p>
          <a:p>
            <a:r>
              <a:t>- Phase 2: the data foundation, boxes 1, 3, 4, 5, 6, overlapping Phase 1, synthetic first: approved, tagged sources into Bronze, then Silver and Gold.</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first the Patient Identity &amp; Verification Service checks, in seconds, that the caller ID matches the number on file (with carrier and SIM-swap checks) and the date of birth, and issues a short-lived Verified Patient Token; a step-up (app push, SMS code or a person) only when the caller ID does not match or the change is higher risk. Emergencies skip verification and go straight to 911 or the nurse line. Then the Verified Patient Action Engine exposes narrow functions: SearchAvailableSlots and RescheduleAppointment against Epic, the system of record, with the rules enforced; and GetPatientContext, read-only on Gold B, for this caller's campaign status and consent. It never returns a list.</a:t>
            </a:r>
          </a:p>
          <a:p>
            <a:r>
              <a:t>- Right, after every call: hand-off to a person when needed, masked transcripts with retention limits, opt-outs said on the call update the consent of record at once, outcomes go per call into Gold B and as aggregates into Gold A, and test calls before every release.</a:t>
            </a:r>
          </a:p>
          <a:p>
            <a:r>
              <a:t>- The knowledge base uses the same semantic layer and knowledge graph as campaigns, so Sierra and every campaign use one vocabulary for locations, visit types and services.</a:t>
            </a:r>
          </a:p>
          <a:p>
            <a:r>
              <a:t>- Bottom: the seven safeguards.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factory serves every pod and three jobs: delivery, campaigns and the Sierra voice agent. Each agent is built once, scales across pods without losing accuracy, and stays under the same controls.</a:t>
            </a:r>
          </a:p>
          <a:p/>
          <a:p>
            <a:r>
              <a:t>WALK IT</a:t>
            </a:r>
          </a:p>
          <a:p>
            <a:r>
              <a:t>- Top: one factory,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 tech lead, a dev / QA who directs the harness agent and verifies its work, and a PM / TL shared across two or three squads. Across all pods, $16M a year today falls to about $8M at full run rate: about $20M saved over three years.</a:t>
            </a:r>
          </a:p>
          <a:p/>
          <a:p>
            <a:r>
              <a:t>TOP</a:t>
            </a:r>
          </a:p>
          <a:p>
            <a:r>
              <a:t>- Today's squad: PM / outcome owner, tech lead / SEM, 2-3 developers, 1-2 QA.</a:t>
            </a:r>
          </a:p>
          <a:p>
            <a:r>
              <a:t>- With the factory: the PM / tech lead owns the change and approves the code at H3; one dev / QA directs the agent and verifies; one more PM / TL is shared across 2-3 squads.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Codex is the single interface for discovery, approvals and continuous activation   (about 3 minutes)</a:t>
            </a:r>
          </a:p>
          <a:p/>
          <a:p>
            <a:r>
              <a:t>KEY MESSAGE</a:t>
            </a:r>
          </a:p>
          <a:p>
            <a:r>
              <a:t>The business user works in one place, Codex. The data is refreshed every day, agents decide what campaign and what cohort from definitions and counts, and engines we build in Google Cloud decide exactly which patients, push the newly eligible to Marketing Cloud every day and take out anyone who no longer qualifies, without a daily approval.</a:t>
            </a:r>
          </a:p>
          <a:p/>
          <a:p>
            <a:r>
              <a:t>WALK IT</a:t>
            </a:r>
          </a:p>
          <a:p>
            <a:r>
              <a:t>1 Governed intelligence, left: authoritative sources refresh daily or by streaming; a Collibra steward approves each dataset, DLP classifies the PHI and the policy tags are set before ingest; Bronze, then Silver resolves identity (EUID) and holds the consent of record; Gold A (insight, aggregates for agents) and the restricted patient layer (patients, for the engines only); the semantic layer (Kyvos or built in-house) and the Spanner knowledge graph, with no patient nodes, read Gold A.</a:t>
            </a:r>
          </a:p>
          <a:p>
            <a:r>
              <a:t>2 Codex, middle: the goal; the cohort JSON with its refresh policy, approved at G1; the journey built and tested on test contacts, approved at G3; the first run's counts, approved at G2; then ongoing status. Approvals come from the approval service with named roles.</a:t>
            </a:r>
          </a:p>
          <a:p>
            <a:r>
              <a:t>3 Cohort resolution and activation, right: the Cohort Resolution Engine checks the JSON and token and builds a controlled query; the patient query finds the matching patients inside the protected boundary; eligibility checks apply consent, STOP, suppression, deceased, duplicates and contactability; a summary with no PHI goes back to Codex; after G2 the Campaign Activation Engine checks the G2 token, purpose, rule version and fields and loads the Marketing Cloud data extension.</a:t>
            </a:r>
          </a:p>
          <a:p>
            <a:r>
              <a:t>4 Continuous cohort refresh: every day the data refreshes and its freshness is checked; the refresh trigger runs after it, or skips the run if the data is stale; the incremental resolver applies the approved rule to new and changed patients and re-checks consent; delta activation adds the newly eligible and exit sync removes anyone who opted out, died or no longer qualifies. Each run's results show in Codex.</a:t>
            </a:r>
          </a:p>
          <a:p>
            <a:r>
              <a:t>Marketing Cloud execution, bottom strip: a pseudonymous, stable contact key mapped only inside the protected boundary; records loaded by REST upsert or encrypted SFTP, with exits flagged; Journey Builder with a daily entry schedule, a re-entry rule, exit criteria and a goal, running day 1 to day 30; consent synced both ways within minutes (SMS STOP and email unsubscribes back to the consent of record, opt-outs from elsewhere into SFMC suppression); channel rules (TCPA, STOP/HELP keywords, quiet hours in the patient's time zone, CAN-SPAM, sender authentication); approved templates with no condition or PHI in subject lines, SMS text or URLs; a daily tracking extract into the restricted patient layer, with bounces updating contactability; and a dedicated business unit with SSO, retention policies, encryption and the BAA confirmed for each SFMC service used. Re-approval only when the cohort logic, purpose, fields, destination, consent policy, a semantic definition or the campaign status changes, or the approval expires.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Gold B, the restricted patient layer behind every campaign   (about 2 minutes)</a:t>
            </a:r>
          </a:p>
          <a:p/>
          <a:p>
            <a:r>
              <a:t>KEY MESSAGE</a:t>
            </a:r>
          </a:p>
          <a:p>
            <a:r>
              <a:t>Gold B holds what it takes to decide exactly who may be contacted, now, for an approved campaign. Only the two engines read it; agents, the semantic layer and the knowledge graph never do.</a:t>
            </a:r>
          </a:p>
          <a:p/>
          <a:p>
            <a:r>
              <a:t>WALK IT</a:t>
            </a:r>
          </a:p>
          <a:p>
            <a:r>
              <a:t>- Top: Silver resolves identity and consent; Gold B serves the Cohort Resolution Engine, the masked G2 summary and the Activation Engine; engagement comes back into Gold B and is aggregated into Gold A.</a:t>
            </a:r>
          </a:p>
          <a:p>
            <a:r>
              <a:t>- Left, what is in it: the patient key, the cohort facts the rules need, consent per channel and purpose, verified contact points, exclusions, preferences, and engagement and outcomes per patient.</a:t>
            </a:r>
          </a:p>
          <a:p>
            <a:r>
              <a:t>- Middle, who can read it: the two engines, for an approved run only; the Sierra voice agent through the patient-context API, for one verified caller. Agents, Codex, the semantic layer and the knowledge graph never; people see the masked G2 summary; any break-glass access is logged.</a:t>
            </a:r>
          </a:p>
          <a:p>
            <a:r>
              <a:t>- Right, what we can do with it: resolve the exact audience, apply consent and suppression at run time, produce the G2 summary, release minimum fields, hold out a control group, track outcomes such as readmissions, and feed safe aggregates back to Gold A.</a:t>
            </a:r>
          </a:p>
          <a:p>
            <a:r>
              <a:t>- Bottom: the controls on Gold B.</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happens behind "create a campaign" in Codex   (about 2 minutes)</a:t>
            </a:r>
          </a:p>
          <a:p/>
          <a:p>
            <a:r>
              <a:t>KEY MESSAGE</a:t>
            </a:r>
          </a:p>
          <a:p>
            <a:r>
              <a:t>Agents work only with definitions and counts. Patient-level data moves only through deterministic services, and only after people approve.</a:t>
            </a:r>
          </a:p>
          <a:p/>
          <a:p>
            <a:r>
              <a:t>WALK IT (top to bottom)</a:t>
            </a:r>
          </a:p>
          <a:p>
            <a:r>
              <a:t>0 Before any request, Gold A keeps the knowledge graph current with aggregates and definitions only: what the data means and how much there is, never who the patients are. Masked Gold A rows are still PHI, so they stay in BigQuery.</a:t>
            </a:r>
          </a:p>
          <a:p>
            <a:r>
              <a:t>1 The marketer asks in Codex. 2-3 The agents ask the knowledge graph what a heart-failure patient is; the semantic layer answers with the definition, the Gold A table and the consent rule, each cited. 4-5 They count the cohort in Gold A; masked views return counts, never names. 6 The Opportunity Brief and a masked Tableau dashboard go to people, who approve it (G1).</a:t>
            </a:r>
          </a:p>
          <a:p>
            <a:r>
              <a:t>7-8 The Campaign Design Agent builds the journey and data extension, paused, and the Readiness Agent tests on test contacts; clinical and compliance approve (G3).</a:t>
            </a:r>
          </a:p>
          <a:p>
            <a:r>
              <a:t>9-11 The eligibility service, not an agent, applies the rule on Gold B (consent, contact, STOP, deceased, duplicates) and sends a masked pre-send report; the SME and tech lead approve (G2).</a:t>
            </a:r>
          </a:p>
          <a:p>
            <a:r>
              <a:t>12-13 Only then do eligible patients, minimum fields only, pass through the policy engine and activation gateway to Marketing Cloud. 14 The journey sends, with consent re-checked at send. 15 Results come back as aggregates.</a:t>
            </a:r>
          </a:p>
          <a:p/>
          <a:p>
            <a:r>
              <a:t>BEFORE ANY REQUEST</a:t>
            </a:r>
          </a:p>
          <a:p>
            <a:r>
              <a:t>The data harness keeps Sources, Bronze, Silver, Gold A and Gold B current in Google Cloud; DLP classifies and a Collibra steward approves the masking.</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patient calls about a booked appointment   (about 2 minutes)</a:t>
            </a:r>
          </a:p>
          <a:p/>
          <a:p>
            <a:r>
              <a:t>KEY MESSAGE</a:t>
            </a:r>
          </a:p>
          <a:p>
            <a:r>
              <a:t>Knowledge is shared across agents; patient-level transactions are not. Sierra answers general questions from shared, governed knowledge, and acts for a patient only through the Verified Patient Action Engine, after a check that takes seconds. Emergencies never wait for a check.</a:t>
            </a:r>
          </a:p>
          <a:p/>
          <a:p>
            <a:r>
              <a:t>WALK IT (top to bottom)</a:t>
            </a:r>
          </a:p>
          <a:p>
            <a:r>
              <a:t>Emergency: words such as chest pain or can't breathe send the caller straight to 911 or the nurse line. No PHI is needed, so nothing is verified.</a:t>
            </a:r>
          </a:p>
          <a:p>
            <a:r>
              <a:t>1-3 The patient asks about their next cardiology appointment. The Patient Identity &amp; Verification Service checks that the caller ID matches the number on file, with carrier and SIM-swap checks, and the spoken date of birth, and issues a short-lived Verified Patient Token in seconds. No SMS wait.</a:t>
            </a:r>
          </a:p>
          <a:p>
            <a:r>
              <a:t>4-8 With the token, the Verified Patient Action Engine calls GetNextAppointment against Epic and returns the minimum fields; Sierra answers.</a:t>
            </a:r>
          </a:p>
          <a:p>
            <a:r>
              <a:t>9-12 The patient asks to move it; SearchAvailableSlots returns Friday's live availability with the rules applied; Sierra offers 10:00 and 2:30.</a:t>
            </a:r>
          </a:p>
          <a:p>
            <a:r>
              <a:t>13-16 The patient picks 2:30; RescheduleAppointment writes it to Epic; Sierra confirms and a confirmation text is sent.</a:t>
            </a:r>
          </a:p>
          <a:p>
            <a:r>
              <a:t>17 Preparation advice comes from an approved article in the shared knowledge, with no PHI.</a:t>
            </a:r>
          </a:p>
          <a:p>
            <a:r>
              <a:t>Step-up or hand-off: an app push, SMS code or a person only when the caller ID does not match, the change is higher risk (for example new contact details), or the question is clinical.</a:t>
            </a:r>
          </a:p>
          <a:p>
            <a:r>
              <a:t>18 After the call the outcome goes into Gold B for this patient and into Gold A as aggregates; the transcript is masked before any analytics.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8.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9.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image" Target="../media/image9.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AGENTS FOR DELIVERY AND DATA</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Ascension Agentic Factory</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One factory, two jobs: Health Cloud delivery from Codex, and Marketing Cloud campaigns on governed, masked Google Cloud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ASCENSION AGENTIC FACTORY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1A1A1A"/>
                </a:solidFill>
                <a:latin typeface="Trenda IG Text"/>
              </a:rPr>
              <a:t>AGENT SOURCES</a:t>
            </a:r>
            <a:r>
              <a:rPr sz="700" b="0" i="0">
                <a:solidFill>
                  <a:srgbClr val="1A1A1A"/>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1A1A1A"/>
                </a:solidFill>
                <a:latin typeface="Trenda IG Text"/>
              </a:rPr>
              <a:t>Jira</a:t>
            </a:r>
          </a:p>
          <a:p>
            <a:r>
              <a:rPr sz="700" b="0" i="0">
                <a:solidFill>
                  <a:srgbClr val="6B6B6B"/>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1A1A1A"/>
                </a:solidFill>
                <a:latin typeface="Trenda IG Text"/>
              </a:rPr>
              <a:t>Confluence</a:t>
            </a:r>
          </a:p>
          <a:p>
            <a:r>
              <a:rPr sz="700" b="0" i="0">
                <a:solidFill>
                  <a:srgbClr val="6B6B6B"/>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1A1A1A"/>
                </a:solidFill>
                <a:latin typeface="Trenda IG Text"/>
              </a:rPr>
              <a:t>Salesforce</a:t>
            </a:r>
          </a:p>
          <a:p>
            <a:r>
              <a:rPr sz="700" b="0" i="0">
                <a:solidFill>
                  <a:srgbClr val="6B6B6B"/>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1A1A1A"/>
                </a:solidFill>
                <a:latin typeface="Trenda IG Text"/>
              </a:rPr>
              <a:t>Git</a:t>
            </a:r>
          </a:p>
          <a:p>
            <a:r>
              <a:rPr sz="700" b="0" i="0">
                <a:solidFill>
                  <a:srgbClr val="6B6B6B"/>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1A1A1A"/>
                </a:solidFill>
                <a:latin typeface="Trenda IG Text"/>
              </a:rPr>
              <a:t>Copado</a:t>
            </a:r>
          </a:p>
          <a:p>
            <a:r>
              <a:rPr sz="700" b="0" i="0">
                <a:solidFill>
                  <a:srgbClr val="6B6B6B"/>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1A1A1A"/>
                </a:solidFill>
                <a:latin typeface="Trenda IG Text"/>
              </a:rPr>
              <a:t>Google Drive</a:t>
            </a:r>
          </a:p>
          <a:p>
            <a:r>
              <a:rPr sz="700" b="0" i="0">
                <a:solidFill>
                  <a:srgbClr val="6B6B6B"/>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0089A0"/>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F5F5F5"/>
          </a:solidFill>
          <a:ln w="1587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1A1A1A"/>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4D4D4D"/>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6B6B6B"/>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1A1A1A"/>
                </a:solidFill>
                <a:latin typeface="Trenda IG Text"/>
              </a:rPr>
              <a:t>DELIVERY AGENTS</a:t>
            </a:r>
            <a:r>
              <a:rPr sz="700" b="0" i="0">
                <a:solidFill>
                  <a:srgbClr val="1A1A1A"/>
                </a:solidFill>
                <a:latin typeface="Trenda IG Text"/>
              </a:rPr>
              <a:t>   the same on every pod</a:t>
            </a:r>
          </a:p>
        </p:txBody>
      </p:sp>
      <p:sp>
        <p:nvSpPr>
          <p:cNvPr id="29" name="Shape 22"/>
          <p:cNvSpPr/>
          <p:nvPr/>
        </p:nvSpPr>
        <p:spPr>
          <a:xfrm>
            <a:off x="3063240" y="1499616"/>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4D4D4D"/>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36" name="Shape 29"/>
          <p:cNvSpPr/>
          <p:nvPr/>
        </p:nvSpPr>
        <p:spPr>
          <a:xfrm>
            <a:off x="3063240" y="1751990"/>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1A1A1A"/>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4D4D4D"/>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43" name="Shape 36"/>
          <p:cNvSpPr/>
          <p:nvPr/>
        </p:nvSpPr>
        <p:spPr>
          <a:xfrm>
            <a:off x="3063240" y="200436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1A1A1A"/>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4D4D4D"/>
                </a:solidFill>
                <a:latin typeface="Trenda IG Text"/>
              </a:rPr>
              <a:t>Impact and reuse from the graph; </a:t>
            </a:r>
            <a:r>
              <a:rPr sz="700" b="1" i="0">
                <a:solidFill>
                  <a:srgbClr val="1A1A1A"/>
                </a:solidFill>
                <a:latin typeface="Trenda IG Text"/>
              </a:rPr>
              <a:t>Change Guardian</a:t>
            </a:r>
            <a:r>
              <a:rPr sz="700" b="0" i="0">
                <a:solidFill>
                  <a:srgbClr val="4D4D4D"/>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50" name="Shape 43"/>
          <p:cNvSpPr/>
          <p:nvPr/>
        </p:nvSpPr>
        <p:spPr>
          <a:xfrm>
            <a:off x="3063240" y="225673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1A1A1A"/>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4D4D4D"/>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57" name="Shape 50"/>
          <p:cNvSpPr/>
          <p:nvPr/>
        </p:nvSpPr>
        <p:spPr>
          <a:xfrm>
            <a:off x="3063240" y="250911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1A1A1A"/>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4D4D4D"/>
                </a:solidFill>
                <a:latin typeface="Trenda IG Text"/>
              </a:rPr>
              <a:t>Quality, security, standards; failures go back to their cause</a:t>
            </a:r>
          </a:p>
        </p:txBody>
      </p:sp>
      <p:sp>
        <p:nvSpPr>
          <p:cNvPr id="62" name="Shape 55"/>
          <p:cNvSpPr/>
          <p:nvPr/>
        </p:nvSpPr>
        <p:spPr>
          <a:xfrm>
            <a:off x="7955279" y="2543860"/>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64" name="Shape 57"/>
          <p:cNvSpPr/>
          <p:nvPr/>
        </p:nvSpPr>
        <p:spPr>
          <a:xfrm>
            <a:off x="3063240" y="276148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1A1A1A"/>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4D4D4D"/>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71" name="Shape 64"/>
          <p:cNvSpPr/>
          <p:nvPr/>
        </p:nvSpPr>
        <p:spPr>
          <a:xfrm>
            <a:off x="3063240" y="301386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1A1A1A"/>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4D4D4D"/>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78" name="Shape 71"/>
          <p:cNvSpPr/>
          <p:nvPr/>
        </p:nvSpPr>
        <p:spPr>
          <a:xfrm>
            <a:off x="3063240" y="3321100"/>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1A1A1A"/>
                </a:solidFill>
                <a:latin typeface="Trenda IG Text"/>
              </a:rPr>
              <a:t>CAMPAIGN AGENTS</a:t>
            </a:r>
            <a:r>
              <a:rPr sz="700" b="0" i="0">
                <a:solidFill>
                  <a:srgbClr val="1A1A1A"/>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4D4D4D"/>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87" name="Shape 80"/>
          <p:cNvSpPr/>
          <p:nvPr/>
        </p:nvSpPr>
        <p:spPr>
          <a:xfrm>
            <a:off x="3063240" y="390265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4D4D4D"/>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94" name="Shape 87"/>
          <p:cNvSpPr/>
          <p:nvPr/>
        </p:nvSpPr>
        <p:spPr>
          <a:xfrm>
            <a:off x="3063240" y="415503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1A1A1A"/>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01" name="Shape 94"/>
          <p:cNvSpPr/>
          <p:nvPr/>
        </p:nvSpPr>
        <p:spPr>
          <a:xfrm>
            <a:off x="3063240" y="440740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4D4D4D"/>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08" name="Shape 101"/>
          <p:cNvSpPr/>
          <p:nvPr/>
        </p:nvSpPr>
        <p:spPr>
          <a:xfrm>
            <a:off x="3063240" y="465978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4D4D4D"/>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115" name="Shape 108"/>
          <p:cNvSpPr/>
          <p:nvPr/>
        </p:nvSpPr>
        <p:spPr>
          <a:xfrm>
            <a:off x="3063240" y="4912156"/>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1A1A1A"/>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4D4D4D"/>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22" name="Shape 115"/>
          <p:cNvSpPr/>
          <p:nvPr/>
        </p:nvSpPr>
        <p:spPr>
          <a:xfrm>
            <a:off x="3063240" y="5164531"/>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29" name="Shape 122"/>
          <p:cNvSpPr/>
          <p:nvPr/>
        </p:nvSpPr>
        <p:spPr>
          <a:xfrm>
            <a:off x="9006840" y="1170432"/>
            <a:ext cx="277063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1A1A1A"/>
                </a:solidFill>
                <a:latin typeface="Trenda IG Text"/>
              </a:rPr>
              <a:t>POD SKILLS</a:t>
            </a:r>
            <a:r>
              <a:rPr sz="700" b="0" i="0">
                <a:solidFill>
                  <a:srgbClr val="1A1A1A"/>
                </a:solidFill>
                <a:latin typeface="Trenda IG Text"/>
              </a:rPr>
              <a:t>   what changes per pod</a:t>
            </a:r>
          </a:p>
        </p:txBody>
      </p:sp>
      <p:sp>
        <p:nvSpPr>
          <p:cNvPr id="131" name="Shape 124"/>
          <p:cNvSpPr/>
          <p:nvPr/>
        </p:nvSpPr>
        <p:spPr>
          <a:xfrm>
            <a:off x="9006840" y="1444752"/>
            <a:ext cx="2770632"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1A1A1A"/>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6B6B6B"/>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1A1A1A"/>
                </a:solidFill>
                <a:latin typeface="Trenda IG Text"/>
              </a:rPr>
              <a:t>Apex, Flows, LWC, sharing, Health Cloud objects</a:t>
            </a:r>
          </a:p>
        </p:txBody>
      </p:sp>
      <p:sp>
        <p:nvSpPr>
          <p:cNvPr id="136" name="Shape 128"/>
          <p:cNvSpPr/>
          <p:nvPr/>
        </p:nvSpPr>
        <p:spPr>
          <a:xfrm>
            <a:off x="9116567" y="2267712"/>
            <a:ext cx="978408" cy="164592"/>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78408" cy="164592"/>
          </a:xfrm>
          <a:prstGeom prst="rect">
            <a:avLst/>
          </a:prstGeom>
          <a:noFill/>
        </p:spPr>
        <p:txBody>
          <a:bodyPr wrap="square" lIns="0" rIns="0" tIns="0" bIns="0" anchor="ctr">
            <a:spAutoFit/>
          </a:bodyPr>
          <a:lstStyle/>
          <a:p>
            <a:pPr algn="ctr"/>
            <a:r>
              <a:rPr sz="700" b="1" i="0">
                <a:solidFill>
                  <a:srgbClr val="1A1A1A"/>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89A0"/>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6B6B6B"/>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1A1A1A"/>
                </a:solidFill>
                <a:latin typeface="Trenda IG Text"/>
              </a:rPr>
              <a:t>Data Cloud, SFMC SQL, AMPscript, journeys</a:t>
            </a:r>
          </a:p>
        </p:txBody>
      </p:sp>
      <p:sp>
        <p:nvSpPr>
          <p:cNvPr id="142" name="Shape 133"/>
          <p:cNvSpPr/>
          <p:nvPr/>
        </p:nvSpPr>
        <p:spPr>
          <a:xfrm>
            <a:off x="9116567" y="3291840"/>
            <a:ext cx="1561795"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561795" cy="164592"/>
          </a:xfrm>
          <a:prstGeom prst="rect">
            <a:avLst/>
          </a:prstGeom>
          <a:noFill/>
        </p:spPr>
        <p:txBody>
          <a:bodyPr wrap="square" lIns="0" rIns="0" tIns="0" bIns="0" anchor="ctr">
            <a:spAutoFit/>
          </a:bodyPr>
          <a:lstStyle/>
          <a:p>
            <a:pPr algn="ctr"/>
            <a:r>
              <a:rPr sz="700" b="1" i="0">
                <a:solidFill>
                  <a:srgbClr val="0089A0"/>
                </a:solidFill>
                <a:latin typeface="Trenda IG Text"/>
              </a:rPr>
              <a:t>DELIVERY + CAMPAIGN AGENTS</a:t>
            </a:r>
          </a:p>
        </p:txBody>
      </p:sp>
      <p:sp>
        <p:nvSpPr>
          <p:cNvPr id="144" name="Shape 135"/>
          <p:cNvSpPr/>
          <p:nvPr/>
        </p:nvSpPr>
        <p:spPr>
          <a:xfrm>
            <a:off x="10733227" y="3291840"/>
            <a:ext cx="607161"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733227" y="3291840"/>
            <a:ext cx="607161" cy="164592"/>
          </a:xfrm>
          <a:prstGeom prst="rect">
            <a:avLst/>
          </a:prstGeom>
          <a:noFill/>
        </p:spPr>
        <p:txBody>
          <a:bodyPr wrap="square" lIns="0" rIns="0" tIns="0" bIns="0" anchor="ctr">
            <a:spAutoFit/>
          </a:bodyPr>
          <a:lstStyle/>
          <a:p>
            <a:pPr algn="ctr"/>
            <a:r>
              <a:rPr sz="700" b="1" i="0">
                <a:solidFill>
                  <a:srgbClr val="0089A0"/>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1A1A1A"/>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6B6B6B"/>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1A1A1A"/>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1A1A1A"/>
                </a:solidFill>
                <a:latin typeface="Trenda IG Text"/>
              </a:rPr>
              <a:t>A new pod adds its sources and skills; new agents plug into the same framework when new work needs them.</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1A1A1A"/>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AI build</a:t>
            </a:r>
          </a:p>
          <a:p>
            <a:pPr algn="ctr">
              <a:lnSpc>
                <a:spcPct val="90000"/>
              </a:lnSpc>
            </a:pPr>
            <a:r>
              <a:rPr sz="700" b="0" i="0">
                <a:solidFill>
                  <a:srgbClr val="4D4D4D"/>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Copado</a:t>
            </a:r>
          </a:p>
          <a:p>
            <a:pPr algn="ctr">
              <a:lnSpc>
                <a:spcPct val="90000"/>
              </a:lnSpc>
            </a:pPr>
            <a:r>
              <a:rPr sz="700" b="0" i="0">
                <a:solidFill>
                  <a:srgbClr val="4D4D4D"/>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Quality gates</a:t>
            </a:r>
          </a:p>
          <a:p>
            <a:pPr algn="ctr">
              <a:lnSpc>
                <a:spcPct val="90000"/>
              </a:lnSpc>
            </a:pPr>
            <a:r>
              <a:rPr sz="700" b="0" i="0">
                <a:solidFill>
                  <a:srgbClr val="4D4D4D"/>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DEV</a:t>
            </a:r>
          </a:p>
          <a:p>
            <a:pPr algn="ctr">
              <a:lnSpc>
                <a:spcPct val="90000"/>
              </a:lnSpc>
            </a:pPr>
            <a:r>
              <a:rPr sz="700" b="0" i="0">
                <a:solidFill>
                  <a:srgbClr val="4D4D4D"/>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SIT</a:t>
            </a:r>
          </a:p>
          <a:p>
            <a:pPr algn="ctr">
              <a:lnSpc>
                <a:spcPct val="90000"/>
              </a:lnSpc>
            </a:pPr>
            <a:r>
              <a:rPr sz="700" b="0" i="0">
                <a:solidFill>
                  <a:srgbClr val="4D4D4D"/>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UAT</a:t>
            </a:r>
          </a:p>
          <a:p>
            <a:pPr algn="ctr">
              <a:lnSpc>
                <a:spcPct val="90000"/>
              </a:lnSpc>
            </a:pPr>
            <a:r>
              <a:rPr sz="700" b="0" i="0">
                <a:solidFill>
                  <a:srgbClr val="0089A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CAB</a:t>
            </a:r>
          </a:p>
          <a:p>
            <a:pPr algn="ctr">
              <a:lnSpc>
                <a:spcPct val="90000"/>
              </a:lnSpc>
            </a:pPr>
            <a:r>
              <a:rPr sz="700" b="0" i="0">
                <a:solidFill>
                  <a:srgbClr val="0089A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PROD</a:t>
            </a:r>
          </a:p>
          <a:p>
            <a:pPr algn="ctr">
              <a:lnSpc>
                <a:spcPct val="90000"/>
              </a:lnSpc>
            </a:pPr>
            <a:r>
              <a:rPr sz="700" b="0" i="0">
                <a:solidFill>
                  <a:srgbClr val="4D4D4D"/>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0089A0"/>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Prompt in Codex</a:t>
            </a:r>
          </a:p>
          <a:p>
            <a:pPr algn="ctr">
              <a:lnSpc>
                <a:spcPct val="90000"/>
              </a:lnSpc>
            </a:pPr>
            <a:r>
              <a:rPr sz="700" b="0" i="0">
                <a:solidFill>
                  <a:srgbClr val="4D4D4D"/>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Gold A insights</a:t>
            </a:r>
          </a:p>
          <a:p>
            <a:pPr algn="ctr">
              <a:lnSpc>
                <a:spcPct val="90000"/>
              </a:lnSpc>
            </a:pPr>
            <a:r>
              <a:rPr sz="700" b="0" i="0">
                <a:solidFill>
                  <a:srgbClr val="4D4D4D"/>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Build + test</a:t>
            </a:r>
          </a:p>
          <a:p>
            <a:pPr algn="ctr">
              <a:lnSpc>
                <a:spcPct val="90000"/>
              </a:lnSpc>
            </a:pPr>
            <a:r>
              <a:rPr sz="700" b="0" i="0">
                <a:solidFill>
                  <a:srgbClr val="4D4D4D"/>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Pre-send review</a:t>
            </a:r>
          </a:p>
          <a:p>
            <a:pPr algn="ctr">
              <a:lnSpc>
                <a:spcPct val="90000"/>
              </a:lnSpc>
            </a:pPr>
            <a:r>
              <a:rPr sz="700" b="0" i="0">
                <a:solidFill>
                  <a:srgbClr val="0089A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Gateway release</a:t>
            </a:r>
          </a:p>
          <a:p>
            <a:pPr algn="ctr">
              <a:lnSpc>
                <a:spcPct val="90000"/>
              </a:lnSpc>
            </a:pPr>
            <a:r>
              <a:rPr sz="700" b="0" i="0">
                <a:solidFill>
                  <a:srgbClr val="4D4D4D"/>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Journey runs</a:t>
            </a:r>
          </a:p>
          <a:p>
            <a:pPr algn="ctr">
              <a:lnSpc>
                <a:spcPct val="90000"/>
              </a:lnSpc>
            </a:pPr>
            <a:r>
              <a:rPr sz="700" b="0" i="0">
                <a:solidFill>
                  <a:srgbClr val="4D4D4D"/>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8A6D00"/>
                </a:solidFill>
                <a:latin typeface="Trenda IG Text"/>
              </a:rPr>
              <a:t>ASCENSION AGENTIC FACTORY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Agentic Factory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Codex is the engine; the harness runs the agents; the factory is all of it. New: a masked data context, Collibra masking, a Compliance Guardian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1A1A1A"/>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C9A1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1A1A1A"/>
                </a:solidFill>
                <a:latin typeface="Trenda IG Text"/>
              </a:rPr>
              <a:t>Harness</a:t>
            </a:r>
          </a:p>
          <a:p>
            <a:pPr>
              <a:lnSpc>
                <a:spcPct val="90000"/>
              </a:lnSpc>
            </a:pPr>
            <a:r>
              <a:rPr sz="1000" b="0" i="0">
                <a:solidFill>
                  <a:srgbClr val="1A1A1A"/>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1A1A1A"/>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4D4D4D"/>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1A1A1A"/>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4D4D4D"/>
                </a:solidFill>
                <a:latin typeface="Trenda IG Text"/>
              </a:rPr>
              <a:t>the Agentic Factory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1A1A1A"/>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4D4D4D"/>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1A1A1A"/>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4D4D4D"/>
                </a:solidFill>
                <a:latin typeface="Trenda IG Text"/>
              </a:rPr>
              <a:t>masked dashboards, pre-send report</a:t>
            </a:r>
          </a:p>
        </p:txBody>
      </p:sp>
      <p:pic>
        <p:nvPicPr>
          <p:cNvPr id="31" name="Picture 30" descr="jira.png"/>
          <p:cNvPicPr>
            <a:picLocks noChangeAspect="1"/>
          </p:cNvPicPr>
          <p:nvPr/>
        </p:nvPicPr>
        <p:blipFill>
          <a:blip r:embed="rId7"/>
          <a:stretch>
            <a:fillRect/>
          </a:stretch>
        </p:blipFill>
        <p:spPr>
          <a:xfrm>
            <a:off x="658368" y="4517136"/>
            <a:ext cx="182880" cy="182880"/>
          </a:xfrm>
          <a:prstGeom prst="rect">
            <a:avLst/>
          </a:prstGeom>
        </p:spPr>
      </p:pic>
      <p:sp>
        <p:nvSpPr>
          <p:cNvPr id="32" name="Text 25"/>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1A1A1A"/>
                </a:solidFill>
                <a:latin typeface="Trenda IG Text"/>
              </a:rPr>
              <a:t>Jira</a:t>
            </a:r>
          </a:p>
        </p:txBody>
      </p:sp>
      <p:sp>
        <p:nvSpPr>
          <p:cNvPr id="33" name="Text 26"/>
          <p:cNvSpPr txBox="1"/>
          <p:nvPr/>
        </p:nvSpPr>
        <p:spPr>
          <a:xfrm>
            <a:off x="914400" y="4690872"/>
            <a:ext cx="1252728" cy="274320"/>
          </a:xfrm>
          <a:prstGeom prst="rect">
            <a:avLst/>
          </a:prstGeom>
          <a:noFill/>
        </p:spPr>
        <p:txBody>
          <a:bodyPr wrap="square" lIns="0" rIns="0" tIns="0" bIns="0" anchor="t">
            <a:spAutoFit/>
          </a:bodyPr>
          <a:lstStyle/>
          <a:p>
            <a:r>
              <a:rPr sz="700" b="0" i="0">
                <a:solidFill>
                  <a:srgbClr val="4D4D4D"/>
                </a:solidFill>
                <a:latin typeface="Trenda IG Text"/>
              </a:rPr>
              <a:t>status of every step</a:t>
            </a:r>
          </a:p>
        </p:txBody>
      </p:sp>
      <p:sp>
        <p:nvSpPr>
          <p:cNvPr id="34" name="Shape 27"/>
          <p:cNvSpPr/>
          <p:nvPr/>
        </p:nvSpPr>
        <p:spPr>
          <a:xfrm>
            <a:off x="2377440" y="1755648"/>
            <a:ext cx="3886200" cy="82296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1A1A1A"/>
                </a:solidFill>
                <a:latin typeface="Trenda IG Text"/>
              </a:rPr>
              <a:t>Runtime</a:t>
            </a:r>
          </a:p>
        </p:txBody>
      </p:sp>
      <p:sp>
        <p:nvSpPr>
          <p:cNvPr id="36" name="Text 29"/>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6B6B6B"/>
                </a:solidFill>
                <a:latin typeface="Trenda IG Text"/>
              </a:rPr>
              <a:t>Runs every story or campaign as a durable workflow.</a:t>
            </a:r>
          </a:p>
        </p:txBody>
      </p:sp>
      <p:sp>
        <p:nvSpPr>
          <p:cNvPr id="37" name="Text 30"/>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Orchestration</a:t>
            </a:r>
          </a:p>
        </p:txBody>
      </p:sp>
      <p:sp>
        <p:nvSpPr>
          <p:cNvPr id="38" name="Text 31"/>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Cloud Workflows</a:t>
            </a:r>
          </a:p>
        </p:txBody>
      </p:sp>
      <p:sp>
        <p:nvSpPr>
          <p:cNvPr id="39" name="Text 32"/>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Dispatcher</a:t>
            </a:r>
          </a:p>
        </p:txBody>
      </p:sp>
      <p:sp>
        <p:nvSpPr>
          <p:cNvPr id="40" name="Text 33"/>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one agent task per step</a:t>
            </a:r>
          </a:p>
        </p:txBody>
      </p:sp>
      <p:sp>
        <p:nvSpPr>
          <p:cNvPr id="41" name="Text 34"/>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State + memory</a:t>
            </a:r>
          </a:p>
        </p:txBody>
      </p:sp>
      <p:sp>
        <p:nvSpPr>
          <p:cNvPr id="42" name="Text 35"/>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Firestore checkpoints</a:t>
            </a:r>
          </a:p>
        </p:txBody>
      </p:sp>
      <p:sp>
        <p:nvSpPr>
          <p:cNvPr id="43" name="Shape 36"/>
          <p:cNvSpPr/>
          <p:nvPr/>
        </p:nvSpPr>
        <p:spPr>
          <a:xfrm>
            <a:off x="2377440" y="2651760"/>
            <a:ext cx="3886200" cy="8686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7"/>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1A1A1A"/>
                </a:solidFill>
                <a:latin typeface="Trenda IG Text"/>
              </a:rPr>
              <a:t>Registry</a:t>
            </a:r>
          </a:p>
        </p:txBody>
      </p:sp>
      <p:sp>
        <p:nvSpPr>
          <p:cNvPr id="45" name="Text 38"/>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may use.</a:t>
            </a:r>
          </a:p>
        </p:txBody>
      </p:sp>
      <p:sp>
        <p:nvSpPr>
          <p:cNvPr id="46" name="Text 39"/>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Tools</a:t>
            </a:r>
          </a:p>
        </p:txBody>
      </p:sp>
      <p:sp>
        <p:nvSpPr>
          <p:cNvPr id="47" name="Text 40"/>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MCP gateway tools</a:t>
            </a:r>
          </a:p>
        </p:txBody>
      </p:sp>
      <p:sp>
        <p:nvSpPr>
          <p:cNvPr id="48" name="Text 41"/>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Skills</a:t>
            </a:r>
          </a:p>
        </p:txBody>
      </p:sp>
      <p:sp>
        <p:nvSpPr>
          <p:cNvPr id="49" name="Text 42"/>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Health, Marketing, QA, campaign</a:t>
            </a:r>
          </a:p>
        </p:txBody>
      </p:sp>
      <p:sp>
        <p:nvSpPr>
          <p:cNvPr id="50" name="Text 43"/>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Templates</a:t>
            </a:r>
          </a:p>
        </p:txBody>
      </p:sp>
      <p:sp>
        <p:nvSpPr>
          <p:cNvPr id="51" name="Text 44"/>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briefs, designs, journeys</a:t>
            </a:r>
          </a:p>
        </p:txBody>
      </p:sp>
      <p:sp>
        <p:nvSpPr>
          <p:cNvPr id="52" name="Shape 45"/>
          <p:cNvSpPr/>
          <p:nvPr/>
        </p:nvSpPr>
        <p:spPr>
          <a:xfrm>
            <a:off x="2377440" y="3593591"/>
            <a:ext cx="3886200" cy="1545336"/>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1A1A1A"/>
                </a:solidFill>
                <a:latin typeface="Trenda IG Text"/>
              </a:rPr>
              <a:t>Context</a:t>
            </a:r>
          </a:p>
        </p:txBody>
      </p:sp>
      <p:sp>
        <p:nvSpPr>
          <p:cNvPr id="54" name="Text 47"/>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know, always cited.</a:t>
            </a:r>
          </a:p>
        </p:txBody>
      </p:sp>
      <p:sp>
        <p:nvSpPr>
          <p:cNvPr id="55" name="Text 48"/>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Knowledge graph</a:t>
            </a:r>
          </a:p>
        </p:txBody>
      </p:sp>
      <p:sp>
        <p:nvSpPr>
          <p:cNvPr id="56" name="Text 49"/>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Spanner Graph, GQL</a:t>
            </a:r>
          </a:p>
        </p:txBody>
      </p:sp>
      <p:sp>
        <p:nvSpPr>
          <p:cNvPr id="57" name="Text 50"/>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Cited retrieval</a:t>
            </a:r>
          </a:p>
        </p:txBody>
      </p:sp>
      <p:sp>
        <p:nvSpPr>
          <p:cNvPr id="58" name="Text 51"/>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Graph API over MCP</a:t>
            </a:r>
          </a:p>
        </p:txBody>
      </p:sp>
      <p:sp>
        <p:nvSpPr>
          <p:cNvPr id="59" name="Text 52"/>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Data context</a:t>
            </a:r>
          </a:p>
        </p:txBody>
      </p:sp>
      <p:sp>
        <p:nvSpPr>
          <p:cNvPr id="60" name="Text 53"/>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masked BigQuery aggregates</a:t>
            </a:r>
          </a:p>
        </p:txBody>
      </p:sp>
      <p:sp>
        <p:nvSpPr>
          <p:cNvPr id="61" name="Text 54"/>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8A6D00"/>
                </a:solidFill>
                <a:latin typeface="Trenda IG Text"/>
              </a:rPr>
              <a:t>SOURCES</a:t>
            </a:r>
          </a:p>
        </p:txBody>
      </p:sp>
      <p:sp>
        <p:nvSpPr>
          <p:cNvPr id="62" name="Shape 55"/>
          <p:cNvSpPr/>
          <p:nvPr/>
        </p:nvSpPr>
        <p:spPr>
          <a:xfrm>
            <a:off x="2487168" y="4581144"/>
            <a:ext cx="358444"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1A1A1A"/>
                </a:solidFill>
                <a:latin typeface="Trenda IG Text"/>
              </a:rPr>
              <a:t>Jira</a:t>
            </a:r>
          </a:p>
        </p:txBody>
      </p:sp>
      <p:sp>
        <p:nvSpPr>
          <p:cNvPr id="64" name="Shape 57"/>
          <p:cNvSpPr/>
          <p:nvPr/>
        </p:nvSpPr>
        <p:spPr>
          <a:xfrm>
            <a:off x="290047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58"/>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Confluence</a:t>
            </a:r>
          </a:p>
        </p:txBody>
      </p:sp>
      <p:sp>
        <p:nvSpPr>
          <p:cNvPr id="66" name="Shape 59"/>
          <p:cNvSpPr/>
          <p:nvPr/>
        </p:nvSpPr>
        <p:spPr>
          <a:xfrm>
            <a:off x="363199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0"/>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Salesforce</a:t>
            </a:r>
          </a:p>
        </p:txBody>
      </p:sp>
      <p:sp>
        <p:nvSpPr>
          <p:cNvPr id="68" name="Shape 61"/>
          <p:cNvSpPr/>
          <p:nvPr/>
        </p:nvSpPr>
        <p:spPr>
          <a:xfrm>
            <a:off x="4363516" y="4581144"/>
            <a:ext cx="30540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2"/>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1A1A1A"/>
                </a:solidFill>
                <a:latin typeface="Trenda IG Text"/>
              </a:rPr>
              <a:t>Git</a:t>
            </a:r>
          </a:p>
        </p:txBody>
      </p:sp>
      <p:sp>
        <p:nvSpPr>
          <p:cNvPr id="70" name="Shape 63"/>
          <p:cNvSpPr/>
          <p:nvPr/>
        </p:nvSpPr>
        <p:spPr>
          <a:xfrm>
            <a:off x="4723790" y="4581144"/>
            <a:ext cx="464515"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1A1A1A"/>
                </a:solidFill>
                <a:latin typeface="Trenda IG Text"/>
              </a:rPr>
              <a:t>Copado</a:t>
            </a:r>
          </a:p>
        </p:txBody>
      </p:sp>
      <p:sp>
        <p:nvSpPr>
          <p:cNvPr id="72" name="Shape 65"/>
          <p:cNvSpPr/>
          <p:nvPr/>
        </p:nvSpPr>
        <p:spPr>
          <a:xfrm>
            <a:off x="5243169" y="4581144"/>
            <a:ext cx="78272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1A1A1A"/>
                </a:solidFill>
                <a:latin typeface="Trenda IG Text"/>
              </a:rPr>
              <a:t>Google Drive</a:t>
            </a:r>
          </a:p>
        </p:txBody>
      </p:sp>
      <p:sp>
        <p:nvSpPr>
          <p:cNvPr id="74" name="Shape 67"/>
          <p:cNvSpPr/>
          <p:nvPr/>
        </p:nvSpPr>
        <p:spPr>
          <a:xfrm>
            <a:off x="2487168" y="4818888"/>
            <a:ext cx="1366113" cy="182880"/>
          </a:xfrm>
          <a:prstGeom prst="roundRect">
            <a:avLst>
              <a:gd name="adj" fmla="val 4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1A1A1A"/>
                </a:solidFill>
                <a:latin typeface="Trenda IG Text"/>
              </a:rPr>
              <a:t>GCP · BigQuery (masked)</a:t>
            </a:r>
          </a:p>
        </p:txBody>
      </p:sp>
      <p:sp>
        <p:nvSpPr>
          <p:cNvPr id="76" name="Shape 69"/>
          <p:cNvSpPr/>
          <p:nvPr/>
        </p:nvSpPr>
        <p:spPr>
          <a:xfrm>
            <a:off x="6400800" y="1755648"/>
            <a:ext cx="2240280" cy="3383280"/>
          </a:xfrm>
          <a:prstGeom prst="roundRect">
            <a:avLst>
              <a:gd name="adj" fmla="val 5000"/>
            </a:avLst>
          </a:prstGeom>
          <a:no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1A1A1A"/>
                </a:solidFill>
                <a:latin typeface="Trenda IG Text"/>
              </a:rPr>
              <a:t>Harness Govern</a:t>
            </a:r>
          </a:p>
        </p:txBody>
      </p:sp>
      <p:sp>
        <p:nvSpPr>
          <p:cNvPr id="78" name="Text 71"/>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6B6B6B"/>
                </a:solidFill>
                <a:latin typeface="Trenda IG Text"/>
              </a:rPr>
              <a:t>Safe, controlled and measurable.</a:t>
            </a:r>
          </a:p>
        </p:txBody>
      </p:sp>
      <p:sp>
        <p:nvSpPr>
          <p:cNvPr id="79" name="Text 72"/>
          <p:cNvSpPr txBox="1"/>
          <p:nvPr/>
        </p:nvSpPr>
        <p:spPr>
          <a:xfrm>
            <a:off x="6528816" y="2340864"/>
            <a:ext cx="2057400" cy="310896"/>
          </a:xfrm>
          <a:prstGeom prst="rect">
            <a:avLst/>
          </a:prstGeom>
          <a:noFill/>
        </p:spPr>
        <p:txBody>
          <a:bodyPr wrap="square" lIns="0" rIns="0" tIns="0" bIns="0" anchor="ctr">
            <a:spAutoFit/>
          </a:bodyPr>
          <a:lstStyle/>
          <a:p>
            <a:r>
              <a:rPr sz="740" b="1" i="0">
                <a:solidFill>
                  <a:srgbClr val="8A6D00"/>
                </a:solidFill>
                <a:latin typeface="Trenda IG Text"/>
              </a:rPr>
              <a:t>Change Guardian</a:t>
            </a:r>
          </a:p>
        </p:txBody>
      </p:sp>
      <p:sp>
        <p:nvSpPr>
          <p:cNvPr id="80" name="Text 73"/>
          <p:cNvSpPr txBox="1"/>
          <p:nvPr/>
        </p:nvSpPr>
        <p:spPr>
          <a:xfrm>
            <a:off x="6528816" y="2688336"/>
            <a:ext cx="2057400" cy="310896"/>
          </a:xfrm>
          <a:prstGeom prst="rect">
            <a:avLst/>
          </a:prstGeom>
          <a:noFill/>
        </p:spPr>
        <p:txBody>
          <a:bodyPr wrap="square" lIns="0" rIns="0" tIns="0" bIns="0" anchor="ctr">
            <a:spAutoFit/>
          </a:bodyPr>
          <a:lstStyle/>
          <a:p>
            <a:r>
              <a:rPr sz="740" b="1" i="0">
                <a:solidFill>
                  <a:srgbClr val="1A1A1A"/>
                </a:solidFill>
                <a:latin typeface="Trenda IG Text"/>
              </a:rPr>
              <a:t>Guardrails in + out · Model Armor</a:t>
            </a:r>
          </a:p>
        </p:txBody>
      </p:sp>
      <p:sp>
        <p:nvSpPr>
          <p:cNvPr id="81" name="Text 74"/>
          <p:cNvSpPr txBox="1"/>
          <p:nvPr/>
        </p:nvSpPr>
        <p:spPr>
          <a:xfrm>
            <a:off x="6528816" y="3035808"/>
            <a:ext cx="2057400" cy="310896"/>
          </a:xfrm>
          <a:prstGeom prst="rect">
            <a:avLst/>
          </a:prstGeom>
          <a:noFill/>
        </p:spPr>
        <p:txBody>
          <a:bodyPr wrap="square" lIns="0" rIns="0" tIns="0" bIns="0" anchor="ctr">
            <a:spAutoFit/>
          </a:bodyPr>
          <a:lstStyle/>
          <a:p>
            <a:r>
              <a:rPr sz="740" b="1" i="0">
                <a:solidFill>
                  <a:srgbClr val="1A1A1A"/>
                </a:solidFill>
                <a:latin typeface="Trenda IG Text"/>
              </a:rPr>
              <a:t>Identity + access</a:t>
            </a:r>
          </a:p>
        </p:txBody>
      </p:sp>
      <p:sp>
        <p:nvSpPr>
          <p:cNvPr id="82" name="Text 75"/>
          <p:cNvSpPr txBox="1"/>
          <p:nvPr/>
        </p:nvSpPr>
        <p:spPr>
          <a:xfrm>
            <a:off x="6528816" y="3383279"/>
            <a:ext cx="2057400" cy="310896"/>
          </a:xfrm>
          <a:prstGeom prst="rect">
            <a:avLst/>
          </a:prstGeom>
          <a:noFill/>
        </p:spPr>
        <p:txBody>
          <a:bodyPr wrap="square" lIns="0" rIns="0" tIns="0" bIns="0" anchor="ctr">
            <a:spAutoFit/>
          </a:bodyPr>
          <a:lstStyle/>
          <a:p>
            <a:r>
              <a:rPr sz="740" b="1" i="0">
                <a:solidFill>
                  <a:srgbClr val="1A1A1A"/>
                </a:solidFill>
                <a:latin typeface="Trenda IG Text"/>
              </a:rPr>
              <a:t>Collibra masking + DLP</a:t>
            </a:r>
          </a:p>
        </p:txBody>
      </p:sp>
      <p:sp>
        <p:nvSpPr>
          <p:cNvPr id="83" name="Text 76"/>
          <p:cNvSpPr txBox="1"/>
          <p:nvPr/>
        </p:nvSpPr>
        <p:spPr>
          <a:xfrm>
            <a:off x="6528816" y="3730752"/>
            <a:ext cx="2057400" cy="310896"/>
          </a:xfrm>
          <a:prstGeom prst="rect">
            <a:avLst/>
          </a:prstGeom>
          <a:noFill/>
        </p:spPr>
        <p:txBody>
          <a:bodyPr wrap="square" lIns="0" rIns="0" tIns="0" bIns="0" anchor="ctr">
            <a:spAutoFit/>
          </a:bodyPr>
          <a:lstStyle/>
          <a:p>
            <a:r>
              <a:rPr sz="740" b="1" i="0">
                <a:solidFill>
                  <a:srgbClr val="1A1A1A"/>
                </a:solidFill>
                <a:latin typeface="Trenda IG Text"/>
              </a:rPr>
              <a:t>Compliance Guardian + policy engine</a:t>
            </a:r>
          </a:p>
        </p:txBody>
      </p:sp>
      <p:sp>
        <p:nvSpPr>
          <p:cNvPr id="84" name="Text 77"/>
          <p:cNvSpPr txBox="1"/>
          <p:nvPr/>
        </p:nvSpPr>
        <p:spPr>
          <a:xfrm>
            <a:off x="6528816" y="4078224"/>
            <a:ext cx="2057400" cy="310896"/>
          </a:xfrm>
          <a:prstGeom prst="rect">
            <a:avLst/>
          </a:prstGeom>
          <a:noFill/>
        </p:spPr>
        <p:txBody>
          <a:bodyPr wrap="square" lIns="0" rIns="0" tIns="0" bIns="0" anchor="ctr">
            <a:spAutoFit/>
          </a:bodyPr>
          <a:lstStyle/>
          <a:p>
            <a:r>
              <a:rPr sz="740" b="1" i="0">
                <a:solidFill>
                  <a:srgbClr val="1A1A1A"/>
                </a:solidFill>
                <a:latin typeface="Trenda IG Text"/>
              </a:rPr>
              <a:t>Human gates H1-H4, CAB, G1-G3</a:t>
            </a:r>
          </a:p>
        </p:txBody>
      </p:sp>
      <p:sp>
        <p:nvSpPr>
          <p:cNvPr id="85" name="Text 78"/>
          <p:cNvSpPr txBox="1"/>
          <p:nvPr/>
        </p:nvSpPr>
        <p:spPr>
          <a:xfrm>
            <a:off x="6528816" y="4425696"/>
            <a:ext cx="2057400" cy="310896"/>
          </a:xfrm>
          <a:prstGeom prst="rect">
            <a:avLst/>
          </a:prstGeom>
          <a:noFill/>
        </p:spPr>
        <p:txBody>
          <a:bodyPr wrap="square" lIns="0" rIns="0" tIns="0" bIns="0" anchor="ctr">
            <a:spAutoFit/>
          </a:bodyPr>
          <a:lstStyle/>
          <a:p>
            <a:r>
              <a:rPr sz="740" b="1" i="0">
                <a:solidFill>
                  <a:srgbClr val="1A1A1A"/>
                </a:solidFill>
                <a:latin typeface="Trenda IG Text"/>
              </a:rPr>
              <a:t>Evaluation set</a:t>
            </a:r>
          </a:p>
        </p:txBody>
      </p:sp>
      <p:sp>
        <p:nvSpPr>
          <p:cNvPr id="86" name="Text 79"/>
          <p:cNvSpPr txBox="1"/>
          <p:nvPr/>
        </p:nvSpPr>
        <p:spPr>
          <a:xfrm>
            <a:off x="6528816" y="4773168"/>
            <a:ext cx="2057400" cy="310896"/>
          </a:xfrm>
          <a:prstGeom prst="rect">
            <a:avLst/>
          </a:prstGeom>
          <a:noFill/>
        </p:spPr>
        <p:txBody>
          <a:bodyPr wrap="square" lIns="0" rIns="0" tIns="0" bIns="0" anchor="ctr">
            <a:spAutoFit/>
          </a:bodyPr>
          <a:lstStyle/>
          <a:p>
            <a:r>
              <a:rPr sz="740" b="1" i="0">
                <a:solidFill>
                  <a:srgbClr val="1A1A1A"/>
                </a:solidFill>
                <a:latin typeface="Trenda IG Text"/>
              </a:rPr>
              <a:t>Observability + change passport</a:t>
            </a:r>
          </a:p>
        </p:txBody>
      </p:sp>
      <p:sp>
        <p:nvSpPr>
          <p:cNvPr id="87" name="Text 80"/>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1A1A1A"/>
                </a:solidFill>
                <a:latin typeface="Trenda IG Text"/>
              </a:rPr>
              <a:t>Differentiators</a:t>
            </a:r>
          </a:p>
        </p:txBody>
      </p:sp>
      <p:sp>
        <p:nvSpPr>
          <p:cNvPr id="88" name="Shape 81"/>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88" name="Shape 81"/>
          <p:cNvSpPr/>
          <p:nvPr/>
        </p:nvSpPr>
        <p:spPr>
          <a:xfrm>
            <a:off x="8915400" y="1938528"/>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2"/>
          <p:cNvSpPr/>
          <p:nvPr/>
        </p:nvSpPr>
        <p:spPr>
          <a:xfrm>
            <a:off x="9025128" y="2066544"/>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3"/>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91" name="Text 84"/>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1A1A1A"/>
                </a:solidFill>
                <a:latin typeface="Trenda IG Text"/>
              </a:rPr>
              <a:t>Grounded in the org and its data</a:t>
            </a:r>
          </a:p>
        </p:txBody>
      </p:sp>
      <p:sp>
        <p:nvSpPr>
          <p:cNvPr id="92" name="Text 85"/>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4D4D4D"/>
                </a:solidFill>
                <a:latin typeface="Trenda IG Text"/>
              </a:rPr>
              <a:t>Agents read a cited graph of the delivery estate, and masked aggregates for campaigns.</a:t>
            </a:r>
          </a:p>
        </p:txBody>
      </p:sp>
      <p:sp>
        <p:nvSpPr>
          <p:cNvPr id="93" name="Text 86"/>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1A1A1A"/>
                </a:solidFill>
                <a:latin typeface="Trenda IG Text"/>
              </a:rPr>
              <a:t>Ask before build.</a:t>
            </a:r>
          </a:p>
        </p:txBody>
      </p:sp>
      <p:sp>
        <p:nvSpPr>
          <p:cNvPr id="94" name="Shape 87"/>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4" name="Shape 87"/>
          <p:cNvSpPr/>
          <p:nvPr/>
        </p:nvSpPr>
        <p:spPr>
          <a:xfrm>
            <a:off x="8915400" y="3054096"/>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9025128" y="3182112"/>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97" name="Text 90"/>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1A1A1A"/>
                </a:solidFill>
                <a:latin typeface="Trenda IG Text"/>
              </a:rPr>
              <a:t>No pod breaks another</a:t>
            </a:r>
          </a:p>
        </p:txBody>
      </p:sp>
      <p:sp>
        <p:nvSpPr>
          <p:cNvPr id="98" name="Text 91"/>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4D4D4D"/>
                </a:solidFill>
                <a:latin typeface="Trenda IG Text"/>
              </a:rPr>
              <a:t>The </a:t>
            </a:r>
            <a:r>
              <a:rPr sz="700" b="1" i="0">
                <a:solidFill>
                  <a:srgbClr val="8A6D00"/>
                </a:solidFill>
                <a:latin typeface="Trenda IG Text"/>
              </a:rPr>
              <a:t>Change Guardian</a:t>
            </a:r>
            <a:r>
              <a:rPr sz="700" b="0" i="0">
                <a:solidFill>
                  <a:srgbClr val="4D4D4D"/>
                </a:solidFill>
                <a:latin typeface="Trenda IG Text"/>
              </a:rPr>
              <a:t> checks every change against who owns and uses it.</a:t>
            </a:r>
          </a:p>
        </p:txBody>
      </p:sp>
      <p:sp>
        <p:nvSpPr>
          <p:cNvPr id="99" name="Text 92"/>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1A1A1A"/>
                </a:solidFill>
                <a:latin typeface="Trenda IG Text"/>
              </a:rPr>
              <a:t>Governed by design.</a:t>
            </a:r>
          </a:p>
        </p:txBody>
      </p:sp>
      <p:sp>
        <p:nvSpPr>
          <p:cNvPr id="100" name="Shape 93"/>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4169663"/>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4297679"/>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103" name="Text 96"/>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1A1A1A"/>
                </a:solidFill>
                <a:latin typeface="Trenda IG Text"/>
              </a:rPr>
              <a:t>Minimum-data agent access</a:t>
            </a:r>
          </a:p>
        </p:txBody>
      </p:sp>
      <p:sp>
        <p:nvSpPr>
          <p:cNvPr id="104" name="Text 97"/>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4D4D4D"/>
                </a:solidFill>
                <a:latin typeface="Trenda IG Text"/>
              </a:rPr>
              <a:t>Agents get aggregates and masked views, never raw PHI; patient data leaves only through the gateway.</a:t>
            </a:r>
          </a:p>
        </p:txBody>
      </p:sp>
      <p:sp>
        <p:nvSpPr>
          <p:cNvPr id="105" name="Text 98"/>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1A1A1A"/>
                </a:solidFill>
                <a:latin typeface="Trenda IG Text"/>
              </a:rPr>
              <a:t>Private by design.</a:t>
            </a:r>
          </a:p>
        </p:txBody>
      </p:sp>
      <p:sp>
        <p:nvSpPr>
          <p:cNvPr id="106" name="Shape 99"/>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1A1A1A"/>
                </a:solidFill>
                <a:latin typeface="Trenda IG Text"/>
              </a:rPr>
              <a:t>ASCENSION CORE COMPONENTS</a:t>
            </a:r>
          </a:p>
        </p:txBody>
      </p:sp>
      <p:sp>
        <p:nvSpPr>
          <p:cNvPr id="108" name="Text 101"/>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1A1A1A"/>
                </a:solidFill>
                <a:latin typeface="Trenda IG Text"/>
              </a:rPr>
              <a:t>Infrastructure</a:t>
            </a:r>
          </a:p>
          <a:p>
            <a:r>
              <a:rPr sz="700" b="0" i="0">
                <a:solidFill>
                  <a:srgbClr val="4D4D4D"/>
                </a:solidFill>
                <a:latin typeface="Trenda IG Text"/>
              </a:rPr>
              <a:t>Runs in Ascension's cloud</a:t>
            </a:r>
          </a:p>
        </p:txBody>
      </p:sp>
      <p:pic>
        <p:nvPicPr>
          <p:cNvPr id="109" name="Picture 108" descr="salesforce.png"/>
          <p:cNvPicPr>
            <a:picLocks noChangeAspect="1"/>
          </p:cNvPicPr>
          <p:nvPr/>
        </p:nvPicPr>
        <p:blipFill>
          <a:blip r:embed="rId4"/>
          <a:stretch>
            <a:fillRect/>
          </a:stretch>
        </p:blipFill>
        <p:spPr>
          <a:xfrm>
            <a:off x="2743200" y="5522976"/>
            <a:ext cx="201168" cy="201168"/>
          </a:xfrm>
          <a:prstGeom prst="rect">
            <a:avLst/>
          </a:prstGeom>
        </p:spPr>
      </p:pic>
      <p:sp>
        <p:nvSpPr>
          <p:cNvPr id="110" name="Text 102"/>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Salesforce</a:t>
            </a:r>
          </a:p>
        </p:txBody>
      </p:sp>
      <p:sp>
        <p:nvSpPr>
          <p:cNvPr id="111" name="Text 103"/>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4D4D4D"/>
                </a:solidFill>
                <a:latin typeface="Trenda IG Text"/>
              </a:rPr>
              <a:t>Health, Marketing + Data Cloud</a:t>
            </a:r>
          </a:p>
        </p:txBody>
      </p:sp>
      <p:pic>
        <p:nvPicPr>
          <p:cNvPr id="112" name="Picture 111" descr="git.png"/>
          <p:cNvPicPr>
            <a:picLocks noChangeAspect="1"/>
          </p:cNvPicPr>
          <p:nvPr/>
        </p:nvPicPr>
        <p:blipFill>
          <a:blip r:embed="rId8"/>
          <a:stretch>
            <a:fillRect/>
          </a:stretch>
        </p:blipFill>
        <p:spPr>
          <a:xfrm>
            <a:off x="4513478" y="5522976"/>
            <a:ext cx="201168" cy="201168"/>
          </a:xfrm>
          <a:prstGeom prst="rect">
            <a:avLst/>
          </a:prstGeom>
        </p:spPr>
      </p:pic>
      <p:sp>
        <p:nvSpPr>
          <p:cNvPr id="113" name="Text 104"/>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Delivery</a:t>
            </a:r>
          </a:p>
        </p:txBody>
      </p:sp>
      <p:sp>
        <p:nvSpPr>
          <p:cNvPr id="114" name="Text 105"/>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Copado, Git, Jira, Zephyr</a:t>
            </a:r>
          </a:p>
        </p:txBody>
      </p:sp>
      <p:pic>
        <p:nvPicPr>
          <p:cNvPr id="115" name="Picture 114"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16" name="Text 106"/>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Data</a:t>
            </a:r>
          </a:p>
        </p:txBody>
      </p:sp>
      <p:sp>
        <p:nvSpPr>
          <p:cNvPr id="117" name="Text 107"/>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4D4D4D"/>
                </a:solidFill>
                <a:latin typeface="Trenda IG Text"/>
              </a:rPr>
              <a:t>BigQuery, Collibra, DLP, Tableau, Spanner</a:t>
            </a:r>
          </a:p>
        </p:txBody>
      </p:sp>
      <p:pic>
        <p:nvPicPr>
          <p:cNvPr id="118" name="Picture 117"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19" name="Text 108"/>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Models</a:t>
            </a:r>
          </a:p>
        </p:txBody>
      </p:sp>
      <p:sp>
        <p:nvSpPr>
          <p:cNvPr id="120" name="Text 109"/>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Codex Enterprise; model in config; tools via MCP</a:t>
            </a:r>
          </a:p>
        </p:txBody>
      </p:sp>
      <p:pic>
        <p:nvPicPr>
          <p:cNvPr id="121" name="Picture 120"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22" name="Text 110"/>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Cloud</a:t>
            </a:r>
          </a:p>
        </p:txBody>
      </p:sp>
      <p:sp>
        <p:nvSpPr>
          <p:cNvPr id="123" name="Text 111"/>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4D4D4D"/>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Seven agents, four approval gates, one change passport.</a:t>
            </a:r>
          </a:p>
        </p:txBody>
      </p:sp>
      <p:sp>
        <p:nvSpPr>
          <p:cNvPr id="5" name="Shape 4"/>
          <p:cNvSpPr/>
          <p:nvPr/>
        </p:nvSpPr>
        <p:spPr>
          <a:xfrm>
            <a:off x="411480" y="1188720"/>
            <a:ext cx="2788920" cy="713232"/>
          </a:xfrm>
          <a:prstGeom prst="roundRect">
            <a:avLst>
              <a:gd name="adj" fmla="val 10000"/>
            </a:avLst>
          </a:prstGeom>
          <a:solidFill>
            <a:srgbClr val="FFFFFF"/>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1A1A1A"/>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4D4D4D"/>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DBDB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1A1A1A"/>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4D4D4D"/>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3657600" y="1901952"/>
            <a:ext cx="0" cy="73152"/>
          </a:xfrm>
          <a:prstGeom prst="line">
            <a:avLst/>
          </a:prstGeom>
          <a:ln w="1333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H="1">
            <a:off x="891539" y="1975104"/>
            <a:ext cx="2766061" cy="0"/>
          </a:xfrm>
          <a:prstGeom prst="line">
            <a:avLst/>
          </a:prstGeom>
          <a:ln w="1333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a:off x="891539" y="1975104"/>
            <a:ext cx="0" cy="219456"/>
          </a:xfrm>
          <a:prstGeom prst="line">
            <a:avLst/>
          </a:prstGeom>
          <a:ln w="1333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flipV="1">
            <a:off x="6734555" y="2103120"/>
            <a:ext cx="0" cy="9144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8" name="Arrow 82"/>
          <p:cNvCxnSpPr/>
          <p:nvPr/>
        </p:nvCxnSpPr>
        <p:spPr>
          <a:xfrm flipH="1">
            <a:off x="1577339" y="2103120"/>
            <a:ext cx="5157216" cy="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9" name="Arrow 83"/>
          <p:cNvCxnSpPr/>
          <p:nvPr/>
        </p:nvCxnSpPr>
        <p:spPr>
          <a:xfrm>
            <a:off x="6003036" y="2103120"/>
            <a:ext cx="0" cy="91440"/>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Arrow 84"/>
          <p:cNvCxnSpPr/>
          <p:nvPr/>
        </p:nvCxnSpPr>
        <p:spPr>
          <a:xfrm>
            <a:off x="3790187" y="2103120"/>
            <a:ext cx="0" cy="91440"/>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5"/>
          <p:cNvCxnSpPr/>
          <p:nvPr/>
        </p:nvCxnSpPr>
        <p:spPr>
          <a:xfrm>
            <a:off x="1577339" y="2103120"/>
            <a:ext cx="0" cy="91440"/>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Shape 86"/>
          <p:cNvSpPr/>
          <p:nvPr/>
        </p:nvSpPr>
        <p:spPr>
          <a:xfrm>
            <a:off x="6844283" y="2020824"/>
            <a:ext cx="4905756"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7"/>
          <p:cNvSpPr txBox="1"/>
          <p:nvPr/>
        </p:nvSpPr>
        <p:spPr>
          <a:xfrm>
            <a:off x="6844283" y="2020824"/>
            <a:ext cx="4905756" cy="164592"/>
          </a:xfrm>
          <a:prstGeom prst="rect">
            <a:avLst/>
          </a:prstGeom>
          <a:noFill/>
        </p:spPr>
        <p:txBody>
          <a:bodyPr wrap="square" lIns="0" rIns="0" tIns="0" bIns="0" anchor="ctr">
            <a:spAutoFit/>
          </a:bodyPr>
          <a:lstStyle/>
          <a:p>
            <a:pPr algn="ctr"/>
            <a:r>
              <a:rPr sz="700" b="1" i="0" spc="80">
                <a:solidFill>
                  <a:srgbClr val="1A1A1A"/>
                </a:solidFill>
                <a:latin typeface="Trenda IG Text"/>
              </a:rPr>
              <a:t>FAIL → ITS CAUSE: CODE 4 · DESIGN 3 · REQUIREMENT 2 · MAX 5, THEN OWNER</a:t>
            </a:r>
          </a:p>
        </p:txBody>
      </p:sp>
      <p:sp>
        <p:nvSpPr>
          <p:cNvPr id="94" name="Shape 88"/>
          <p:cNvSpPr/>
          <p:nvPr/>
        </p:nvSpPr>
        <p:spPr>
          <a:xfrm>
            <a:off x="411480" y="3703320"/>
            <a:ext cx="6903720" cy="1572768"/>
          </a:xfrm>
          <a:prstGeom prst="roundRect">
            <a:avLst>
              <a:gd name="adj" fmla="val 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9"/>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1A1A1A"/>
                </a:solidFill>
                <a:latin typeface="Trenda IG Text"/>
              </a:rPr>
              <a:t>ENGINEERING CONTEXT KNOWLEDGE GRAPH</a:t>
            </a:r>
            <a:r>
              <a:rPr sz="700" b="0" i="0">
                <a:solidFill>
                  <a:srgbClr val="4D4D4D"/>
                </a:solidFill>
                <a:latin typeface="Trenda IG Text"/>
              </a:rPr>
              <a:t>   Spanner Graph · every fact cited</a:t>
            </a:r>
          </a:p>
        </p:txBody>
      </p:sp>
      <p:sp>
        <p:nvSpPr>
          <p:cNvPr id="96" name="Shape 90"/>
          <p:cNvSpPr/>
          <p:nvPr/>
        </p:nvSpPr>
        <p:spPr>
          <a:xfrm>
            <a:off x="53949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jira.png"/>
          <p:cNvPicPr>
            <a:picLocks noChangeAspect="1"/>
          </p:cNvPicPr>
          <p:nvPr/>
        </p:nvPicPr>
        <p:blipFill>
          <a:blip r:embed="rId4"/>
          <a:stretch>
            <a:fillRect/>
          </a:stretch>
        </p:blipFill>
        <p:spPr>
          <a:xfrm>
            <a:off x="612648" y="4114800"/>
            <a:ext cx="182880" cy="182880"/>
          </a:xfrm>
          <a:prstGeom prst="rect">
            <a:avLst/>
          </a:prstGeom>
        </p:spPr>
      </p:pic>
      <p:sp>
        <p:nvSpPr>
          <p:cNvPr id="98" name="Text 91"/>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Jira</a:t>
            </a:r>
          </a:p>
        </p:txBody>
      </p:sp>
      <p:sp>
        <p:nvSpPr>
          <p:cNvPr id="99" name="Text 92"/>
          <p:cNvSpPr txBox="1"/>
          <p:nvPr/>
        </p:nvSpPr>
        <p:spPr>
          <a:xfrm>
            <a:off x="612648" y="4343400"/>
            <a:ext cx="777239" cy="256032"/>
          </a:xfrm>
          <a:prstGeom prst="rect">
            <a:avLst/>
          </a:prstGeom>
          <a:noFill/>
        </p:spPr>
        <p:txBody>
          <a:bodyPr wrap="square" lIns="0" rIns="0" tIns="0" bIns="0" anchor="t">
            <a:spAutoFit/>
          </a:bodyPr>
          <a:lstStyle/>
          <a:p>
            <a:r>
              <a:rPr sz="700" b="0" i="0">
                <a:solidFill>
                  <a:srgbClr val="4D4D4D"/>
                </a:solidFill>
                <a:latin typeface="Trenda IG Text"/>
              </a:rPr>
              <a:t>stories, history</a:t>
            </a:r>
          </a:p>
        </p:txBody>
      </p:sp>
      <p:sp>
        <p:nvSpPr>
          <p:cNvPr id="100" name="Shape 93"/>
          <p:cNvSpPr/>
          <p:nvPr/>
        </p:nvSpPr>
        <p:spPr>
          <a:xfrm>
            <a:off x="149961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confluence.png"/>
          <p:cNvPicPr>
            <a:picLocks noChangeAspect="1"/>
          </p:cNvPicPr>
          <p:nvPr/>
        </p:nvPicPr>
        <p:blipFill>
          <a:blip r:embed="rId5"/>
          <a:stretch>
            <a:fillRect/>
          </a:stretch>
        </p:blipFill>
        <p:spPr>
          <a:xfrm>
            <a:off x="1572768" y="4114800"/>
            <a:ext cx="182880" cy="182880"/>
          </a:xfrm>
          <a:prstGeom prst="rect">
            <a:avLst/>
          </a:prstGeom>
        </p:spPr>
      </p:pic>
      <p:sp>
        <p:nvSpPr>
          <p:cNvPr id="102" name="Text 94"/>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Confluence</a:t>
            </a:r>
          </a:p>
        </p:txBody>
      </p:sp>
      <p:sp>
        <p:nvSpPr>
          <p:cNvPr id="103" name="Text 95"/>
          <p:cNvSpPr txBox="1"/>
          <p:nvPr/>
        </p:nvSpPr>
        <p:spPr>
          <a:xfrm>
            <a:off x="1572768" y="4343400"/>
            <a:ext cx="777239" cy="256032"/>
          </a:xfrm>
          <a:prstGeom prst="rect">
            <a:avLst/>
          </a:prstGeom>
          <a:noFill/>
        </p:spPr>
        <p:txBody>
          <a:bodyPr wrap="square" lIns="0" rIns="0" tIns="0" bIns="0" anchor="t">
            <a:spAutoFit/>
          </a:bodyPr>
          <a:lstStyle/>
          <a:p>
            <a:r>
              <a:rPr sz="700" b="0" i="0">
                <a:solidFill>
                  <a:srgbClr val="4D4D4D"/>
                </a:solidFill>
                <a:latin typeface="Trenda IG Text"/>
              </a:rPr>
              <a:t>designs, rules</a:t>
            </a:r>
          </a:p>
        </p:txBody>
      </p:sp>
      <p:sp>
        <p:nvSpPr>
          <p:cNvPr id="104" name="Shape 96"/>
          <p:cNvSpPr/>
          <p:nvPr/>
        </p:nvSpPr>
        <p:spPr>
          <a:xfrm>
            <a:off x="245973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6" name="Text 97"/>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Salesforce</a:t>
            </a:r>
          </a:p>
        </p:txBody>
      </p:sp>
      <p:sp>
        <p:nvSpPr>
          <p:cNvPr id="107" name="Text 98"/>
          <p:cNvSpPr txBox="1"/>
          <p:nvPr/>
        </p:nvSpPr>
        <p:spPr>
          <a:xfrm>
            <a:off x="2532887" y="4343400"/>
            <a:ext cx="777239" cy="256032"/>
          </a:xfrm>
          <a:prstGeom prst="rect">
            <a:avLst/>
          </a:prstGeom>
          <a:noFill/>
        </p:spPr>
        <p:txBody>
          <a:bodyPr wrap="square" lIns="0" rIns="0" tIns="0" bIns="0" anchor="t">
            <a:spAutoFit/>
          </a:bodyPr>
          <a:lstStyle/>
          <a:p>
            <a:r>
              <a:rPr sz="700" b="0" i="0">
                <a:solidFill>
                  <a:srgbClr val="4D4D4D"/>
                </a:solidFill>
                <a:latin typeface="Trenda IG Text"/>
              </a:rPr>
              <a:t>Health Cloud metadata</a:t>
            </a:r>
          </a:p>
        </p:txBody>
      </p:sp>
      <p:sp>
        <p:nvSpPr>
          <p:cNvPr id="108" name="Shape 99"/>
          <p:cNvSpPr/>
          <p:nvPr/>
        </p:nvSpPr>
        <p:spPr>
          <a:xfrm>
            <a:off x="341985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git.png"/>
          <p:cNvPicPr>
            <a:picLocks noChangeAspect="1"/>
          </p:cNvPicPr>
          <p:nvPr/>
        </p:nvPicPr>
        <p:blipFill>
          <a:blip r:embed="rId7"/>
          <a:stretch>
            <a:fillRect/>
          </a:stretch>
        </p:blipFill>
        <p:spPr>
          <a:xfrm>
            <a:off x="3493007" y="4114800"/>
            <a:ext cx="182880" cy="182880"/>
          </a:xfrm>
          <a:prstGeom prst="rect">
            <a:avLst/>
          </a:prstGeom>
        </p:spPr>
      </p:pic>
      <p:sp>
        <p:nvSpPr>
          <p:cNvPr id="110" name="Text 100"/>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Git</a:t>
            </a:r>
          </a:p>
        </p:txBody>
      </p:sp>
      <p:sp>
        <p:nvSpPr>
          <p:cNvPr id="111" name="Text 101"/>
          <p:cNvSpPr txBox="1"/>
          <p:nvPr/>
        </p:nvSpPr>
        <p:spPr>
          <a:xfrm>
            <a:off x="3493007" y="4343400"/>
            <a:ext cx="777239" cy="256032"/>
          </a:xfrm>
          <a:prstGeom prst="rect">
            <a:avLst/>
          </a:prstGeom>
          <a:noFill/>
        </p:spPr>
        <p:txBody>
          <a:bodyPr wrap="square" lIns="0" rIns="0" tIns="0" bIns="0" anchor="t">
            <a:spAutoFit/>
          </a:bodyPr>
          <a:lstStyle/>
          <a:p>
            <a:r>
              <a:rPr sz="700" b="0" i="0">
                <a:solidFill>
                  <a:srgbClr val="4D4D4D"/>
                </a:solidFill>
                <a:latin typeface="Trenda IG Text"/>
              </a:rPr>
              <a:t>Apex, LWC, tests</a:t>
            </a:r>
          </a:p>
        </p:txBody>
      </p:sp>
      <p:sp>
        <p:nvSpPr>
          <p:cNvPr id="112" name="Shape 102"/>
          <p:cNvSpPr/>
          <p:nvPr/>
        </p:nvSpPr>
        <p:spPr>
          <a:xfrm>
            <a:off x="437997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3"/>
          <p:cNvSpPr/>
          <p:nvPr/>
        </p:nvSpPr>
        <p:spPr>
          <a:xfrm>
            <a:off x="4453127" y="4123944"/>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15" name="Text 105"/>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Copado</a:t>
            </a:r>
          </a:p>
        </p:txBody>
      </p:sp>
      <p:sp>
        <p:nvSpPr>
          <p:cNvPr id="116" name="Text 106"/>
          <p:cNvSpPr txBox="1"/>
          <p:nvPr/>
        </p:nvSpPr>
        <p:spPr>
          <a:xfrm>
            <a:off x="4453127" y="4343400"/>
            <a:ext cx="777239" cy="256032"/>
          </a:xfrm>
          <a:prstGeom prst="rect">
            <a:avLst/>
          </a:prstGeom>
          <a:noFill/>
        </p:spPr>
        <p:txBody>
          <a:bodyPr wrap="square" lIns="0" rIns="0" tIns="0" bIns="0" anchor="t">
            <a:spAutoFit/>
          </a:bodyPr>
          <a:lstStyle/>
          <a:p>
            <a:r>
              <a:rPr sz="700" b="0" i="0">
                <a:solidFill>
                  <a:srgbClr val="4D4D4D"/>
                </a:solidFill>
                <a:latin typeface="Trenda IG Text"/>
              </a:rPr>
              <a:t>releases, test runs</a:t>
            </a:r>
          </a:p>
        </p:txBody>
      </p:sp>
      <p:sp>
        <p:nvSpPr>
          <p:cNvPr id="117" name="Shape 107"/>
          <p:cNvSpPr/>
          <p:nvPr/>
        </p:nvSpPr>
        <p:spPr>
          <a:xfrm>
            <a:off x="534009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9" name="Text 108"/>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Google Drive</a:t>
            </a:r>
          </a:p>
        </p:txBody>
      </p:sp>
      <p:sp>
        <p:nvSpPr>
          <p:cNvPr id="120" name="Text 109"/>
          <p:cNvSpPr txBox="1"/>
          <p:nvPr/>
        </p:nvSpPr>
        <p:spPr>
          <a:xfrm>
            <a:off x="5413247" y="4343400"/>
            <a:ext cx="777239" cy="256032"/>
          </a:xfrm>
          <a:prstGeom prst="rect">
            <a:avLst/>
          </a:prstGeom>
          <a:noFill/>
        </p:spPr>
        <p:txBody>
          <a:bodyPr wrap="square" lIns="0" rIns="0" tIns="0" bIns="0" anchor="t">
            <a:spAutoFit/>
          </a:bodyPr>
          <a:lstStyle/>
          <a:p>
            <a:r>
              <a:rPr sz="700" b="0" i="0">
                <a:solidFill>
                  <a:srgbClr val="4D4D4D"/>
                </a:solidFill>
                <a:latin typeface="Trenda IG Text"/>
              </a:rPr>
              <a:t>specs</a:t>
            </a:r>
          </a:p>
        </p:txBody>
      </p:sp>
      <p:sp>
        <p:nvSpPr>
          <p:cNvPr id="121" name="Shape 110"/>
          <p:cNvSpPr/>
          <p:nvPr/>
        </p:nvSpPr>
        <p:spPr>
          <a:xfrm>
            <a:off x="6300215" y="4050791"/>
            <a:ext cx="886967" cy="566928"/>
          </a:xfrm>
          <a:prstGeom prst="roundRect">
            <a:avLst>
              <a:gd name="adj" fmla="val 10000"/>
            </a:avLst>
          </a:prstGeom>
          <a:solidFill>
            <a:srgbClr val="F7F7F7"/>
          </a:solidFill>
          <a:ln w="6858">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23" name="Text 111"/>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GCP data</a:t>
            </a:r>
          </a:p>
        </p:txBody>
      </p:sp>
      <p:sp>
        <p:nvSpPr>
          <p:cNvPr id="124" name="Text 112"/>
          <p:cNvSpPr txBox="1"/>
          <p:nvPr/>
        </p:nvSpPr>
        <p:spPr>
          <a:xfrm>
            <a:off x="6373367" y="4306824"/>
            <a:ext cx="777239" cy="292608"/>
          </a:xfrm>
          <a:prstGeom prst="rect">
            <a:avLst/>
          </a:prstGeom>
          <a:noFill/>
        </p:spPr>
        <p:txBody>
          <a:bodyPr wrap="square" lIns="0" rIns="0" tIns="0" bIns="0" anchor="t">
            <a:spAutoFit/>
          </a:bodyPr>
          <a:lstStyle/>
          <a:p>
            <a:r>
              <a:rPr sz="700" b="0" i="0">
                <a:solidFill>
                  <a:srgbClr val="1A1A1A"/>
                </a:solidFill>
                <a:latin typeface="Trenda IG Text"/>
              </a:rPr>
              <a:t>not needed for Health Cloud</a:t>
            </a:r>
          </a:p>
        </p:txBody>
      </p:sp>
      <p:sp>
        <p:nvSpPr>
          <p:cNvPr id="125" name="Text 113"/>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1A1A1A"/>
                </a:solidFill>
                <a:latin typeface="Trenda IG Text"/>
              </a:rPr>
              <a:t>AGENTS ASK</a:t>
            </a:r>
          </a:p>
        </p:txBody>
      </p:sp>
      <p:sp>
        <p:nvSpPr>
          <p:cNvPr id="126" name="Shape 114"/>
          <p:cNvSpPr/>
          <p:nvPr/>
        </p:nvSpPr>
        <p:spPr>
          <a:xfrm>
            <a:off x="1316736"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graph.exists</a:t>
            </a:r>
          </a:p>
        </p:txBody>
      </p:sp>
      <p:sp>
        <p:nvSpPr>
          <p:cNvPr id="128" name="Shape 116"/>
          <p:cNvSpPr/>
          <p:nvPr/>
        </p:nvSpPr>
        <p:spPr>
          <a:xfrm>
            <a:off x="2176272" y="4709160"/>
            <a:ext cx="1024127"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1A1A1A"/>
                </a:solidFill>
                <a:latin typeface="Courier New"/>
              </a:rPr>
              <a:t>graph.find_reuse</a:t>
            </a:r>
          </a:p>
        </p:txBody>
      </p:sp>
      <p:sp>
        <p:nvSpPr>
          <p:cNvPr id="130" name="Shape 118"/>
          <p:cNvSpPr/>
          <p:nvPr/>
        </p:nvSpPr>
        <p:spPr>
          <a:xfrm>
            <a:off x="3255263" y="4709160"/>
            <a:ext cx="11338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1A1A1A"/>
                </a:solidFill>
                <a:latin typeface="Courier New"/>
              </a:rPr>
              <a:t>graph.blast_radius</a:t>
            </a:r>
          </a:p>
        </p:txBody>
      </p:sp>
      <p:sp>
        <p:nvSpPr>
          <p:cNvPr id="132" name="Shape 120"/>
          <p:cNvSpPr/>
          <p:nvPr/>
        </p:nvSpPr>
        <p:spPr>
          <a:xfrm>
            <a:off x="4443983"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graph.owners</a:t>
            </a:r>
          </a:p>
        </p:txBody>
      </p:sp>
      <p:sp>
        <p:nvSpPr>
          <p:cNvPr id="134" name="Shape 122"/>
          <p:cNvSpPr/>
          <p:nvPr/>
        </p:nvSpPr>
        <p:spPr>
          <a:xfrm>
            <a:off x="5303519" y="4709160"/>
            <a:ext cx="118871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23"/>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1A1A1A"/>
                </a:solidFill>
                <a:latin typeface="Courier New"/>
              </a:rPr>
              <a:t>graph.context_slice</a:t>
            </a:r>
          </a:p>
        </p:txBody>
      </p:sp>
      <p:sp>
        <p:nvSpPr>
          <p:cNvPr id="136" name="Text 124"/>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4D4D4D"/>
                </a:solidFill>
                <a:latin typeface="Trenda IG Text"/>
              </a:rPr>
              <a:t>A bounded, cited context slice for each step, never a raw org dump. Agents never write queries.</a:t>
            </a:r>
          </a:p>
        </p:txBody>
      </p:sp>
      <p:cxnSp>
        <p:nvCxnSpPr>
          <p:cNvPr id="137" name="Arrow 125"/>
          <p:cNvCxnSpPr/>
          <p:nvPr/>
        </p:nvCxnSpPr>
        <p:spPr>
          <a:xfrm flipV="1">
            <a:off x="708659"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8" name="Arrow 126"/>
          <p:cNvCxnSpPr/>
          <p:nvPr/>
        </p:nvCxnSpPr>
        <p:spPr>
          <a:xfrm flipV="1">
            <a:off x="2921507"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9" name="Shape 127"/>
          <p:cNvSpPr/>
          <p:nvPr/>
        </p:nvSpPr>
        <p:spPr>
          <a:xfrm>
            <a:off x="7452360" y="3703320"/>
            <a:ext cx="4325112" cy="1572768"/>
          </a:xfrm>
          <a:prstGeom prst="roundRect">
            <a:avLst>
              <a:gd name="adj" fmla="val 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 128"/>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1A1A1A"/>
                </a:solidFill>
                <a:latin typeface="Trenda IG Text"/>
              </a:rPr>
              <a:t>WHERE OUTPUT LANDS</a:t>
            </a:r>
            <a:r>
              <a:rPr sz="700" b="0" i="0">
                <a:solidFill>
                  <a:srgbClr val="4D4D4D"/>
                </a:solidFill>
                <a:latin typeface="Trenda IG Text"/>
              </a:rPr>
              <a:t>   through the tool gateway</a:t>
            </a:r>
          </a:p>
        </p:txBody>
      </p:sp>
      <p:pic>
        <p:nvPicPr>
          <p:cNvPr id="141" name="Picture 140" descr="jira.png"/>
          <p:cNvPicPr>
            <a:picLocks noChangeAspect="1"/>
          </p:cNvPicPr>
          <p:nvPr/>
        </p:nvPicPr>
        <p:blipFill>
          <a:blip r:embed="rId4"/>
          <a:stretch>
            <a:fillRect/>
          </a:stretch>
        </p:blipFill>
        <p:spPr>
          <a:xfrm>
            <a:off x="7580376" y="4078224"/>
            <a:ext cx="182880" cy="182880"/>
          </a:xfrm>
          <a:prstGeom prst="rect">
            <a:avLst/>
          </a:prstGeom>
        </p:spPr>
      </p:pic>
      <p:sp>
        <p:nvSpPr>
          <p:cNvPr id="142" name="Text 129"/>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Jira</a:t>
            </a:r>
            <a:r>
              <a:rPr sz="700" b="0" i="0">
                <a:solidFill>
                  <a:srgbClr val="4D4D4D"/>
                </a:solidFill>
                <a:latin typeface="Trenda IG Text"/>
              </a:rPr>
              <a:t>  brief, status to Done</a:t>
            </a:r>
          </a:p>
        </p:txBody>
      </p:sp>
      <p:pic>
        <p:nvPicPr>
          <p:cNvPr id="143" name="Picture 142"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4" name="Text 130"/>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Confluence</a:t>
            </a:r>
            <a:r>
              <a:rPr sz="700" b="0" i="0">
                <a:solidFill>
                  <a:srgbClr val="4D4D4D"/>
                </a:solidFill>
                <a:latin typeface="Trenda IG Text"/>
              </a:rPr>
              <a:t>  design draft, as-built</a:t>
            </a:r>
          </a:p>
        </p:txBody>
      </p:sp>
      <p:pic>
        <p:nvPicPr>
          <p:cNvPr id="145" name="Picture 144" descr="git.png"/>
          <p:cNvPicPr>
            <a:picLocks noChangeAspect="1"/>
          </p:cNvPicPr>
          <p:nvPr/>
        </p:nvPicPr>
        <p:blipFill>
          <a:blip r:embed="rId7"/>
          <a:stretch>
            <a:fillRect/>
          </a:stretch>
        </p:blipFill>
        <p:spPr>
          <a:xfrm>
            <a:off x="7580376" y="4398264"/>
            <a:ext cx="182880" cy="182880"/>
          </a:xfrm>
          <a:prstGeom prst="rect">
            <a:avLst/>
          </a:prstGeom>
        </p:spPr>
      </p:pic>
      <p:sp>
        <p:nvSpPr>
          <p:cNvPr id="146" name="Text 131"/>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Git</a:t>
            </a:r>
            <a:r>
              <a:rPr sz="700" b="0" i="0">
                <a:solidFill>
                  <a:srgbClr val="4D4D4D"/>
                </a:solidFill>
                <a:latin typeface="Trenda IG Text"/>
              </a:rPr>
              <a:t>  branch, pull request</a:t>
            </a:r>
          </a:p>
        </p:txBody>
      </p:sp>
      <p:pic>
        <p:nvPicPr>
          <p:cNvPr id="147" name="Picture 146"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8" name="Text 132"/>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Salesforce DEV</a:t>
            </a:r>
            <a:r>
              <a:rPr sz="700" b="0" i="0">
                <a:solidFill>
                  <a:srgbClr val="4D4D4D"/>
                </a:solidFill>
                <a:latin typeface="Trenda IG Text"/>
              </a:rPr>
              <a:t>  deploy, Apex tests</a:t>
            </a:r>
          </a:p>
        </p:txBody>
      </p:sp>
      <p:sp>
        <p:nvSpPr>
          <p:cNvPr id="149" name="Shape 133"/>
          <p:cNvSpPr/>
          <p:nvPr/>
        </p:nvSpPr>
        <p:spPr>
          <a:xfrm>
            <a:off x="75803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4"/>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51" name="Text 135"/>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Copado</a:t>
            </a:r>
            <a:r>
              <a:rPr sz="700" b="0" i="0">
                <a:solidFill>
                  <a:srgbClr val="4D4D4D"/>
                </a:solidFill>
                <a:latin typeface="Trenda IG Text"/>
              </a:rPr>
              <a:t>  SIT, then UAT</a:t>
            </a:r>
          </a:p>
        </p:txBody>
      </p:sp>
      <p:sp>
        <p:nvSpPr>
          <p:cNvPr id="152" name="Shape 136"/>
          <p:cNvSpPr/>
          <p:nvPr/>
        </p:nvSpPr>
        <p:spPr>
          <a:xfrm>
            <a:off x="96377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37"/>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ZS</a:t>
            </a:r>
          </a:p>
        </p:txBody>
      </p:sp>
      <p:sp>
        <p:nvSpPr>
          <p:cNvPr id="154" name="Text 138"/>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Zephyr Scale</a:t>
            </a:r>
            <a:r>
              <a:rPr sz="700" b="0" i="0">
                <a:solidFill>
                  <a:srgbClr val="4D4D4D"/>
                </a:solidFill>
                <a:latin typeface="Trenda IG Text"/>
              </a:rPr>
              <a:t>  cases, results</a:t>
            </a:r>
          </a:p>
        </p:txBody>
      </p:sp>
      <p:sp>
        <p:nvSpPr>
          <p:cNvPr id="155" name="Text 139"/>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1A1A1A"/>
                </a:solidFill>
                <a:latin typeface="Trenda IG Text"/>
              </a:rPr>
              <a:t>Production: the owning team's pipeline after CAB. No agent path.</a:t>
            </a:r>
          </a:p>
        </p:txBody>
      </p:sp>
      <p:sp>
        <p:nvSpPr>
          <p:cNvPr id="156" name="Shape 140"/>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11480"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Guardian</a:t>
            </a:r>
          </a:p>
        </p:txBody>
      </p:sp>
      <p:sp>
        <p:nvSpPr>
          <p:cNvPr id="159" name="Text 143"/>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reviews every pod's metadata; flags deployment blockers before release</a:t>
            </a:r>
          </a:p>
        </p:txBody>
      </p:sp>
      <p:sp>
        <p:nvSpPr>
          <p:cNvPr id="160" name="Shape 144"/>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4245864"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People approve</a:t>
            </a:r>
          </a:p>
        </p:txBody>
      </p:sp>
      <p:sp>
        <p:nvSpPr>
          <p:cNvPr id="163" name="Text 147"/>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H1, H2, H3, H4 and CAB, as today</a:t>
            </a:r>
          </a:p>
        </p:txBody>
      </p:sp>
      <p:sp>
        <p:nvSpPr>
          <p:cNvPr id="164" name="Shape 148"/>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4" name="Shape 148"/>
          <p:cNvSpPr/>
          <p:nvPr/>
        </p:nvSpPr>
        <p:spPr>
          <a:xfrm>
            <a:off x="8080247"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Shape 149"/>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 150"/>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passport</a:t>
            </a:r>
          </a:p>
        </p:txBody>
      </p:sp>
      <p:sp>
        <p:nvSpPr>
          <p:cNvPr id="167" name="Text 151"/>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NETWORK SERVICES POD · HEALTH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 Health Cloud change: ~2 weeks manual vs ~2 days on the Agentic Factory</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Any Health Cloud task. The same seven delivery agents with Health Cloud skills: day 1 takes the story to UAT, day 2 is UAT and production. People approve at every gate.</a:t>
            </a:r>
          </a:p>
        </p:txBody>
      </p:sp>
      <p:sp>
        <p:nvSpPr>
          <p:cNvPr id="5" name="Shape 4"/>
          <p:cNvSpPr/>
          <p:nvPr/>
        </p:nvSpPr>
        <p:spPr>
          <a:xfrm>
            <a:off x="411480" y="1170432"/>
            <a:ext cx="5623560" cy="3986784"/>
          </a:xfrm>
          <a:prstGeom prst="roundRect">
            <a:avLst>
              <a:gd name="adj" fmla="val 2000"/>
            </a:avLst>
          </a:prstGeom>
          <a:solidFill>
            <a:srgbClr val="F2F2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4D4D4D"/>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1A1A1A"/>
                </a:solidFill>
                <a:latin typeface="Trenda IG Text"/>
              </a:rPr>
              <a:t>~2 weeks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4D4D4D"/>
                </a:solidFill>
                <a:latin typeface="Trenda IG Text"/>
              </a:rPr>
              <a:t>~10 working days, one hand-off at a time. </a:t>
            </a:r>
            <a:r>
              <a:rPr sz="700" b="1" i="0">
                <a:solidFill>
                  <a:srgbClr val="FF0069"/>
                </a:solidFill>
                <a:latin typeface="Trenda IG Text"/>
              </a:rPr>
              <a:t>~4.5 days</a:t>
            </a:r>
            <a:r>
              <a:rPr sz="700" b="0" i="0">
                <a:solidFill>
                  <a:srgbClr val="4D4D4D"/>
                </a:solidFill>
                <a:latin typeface="Trenda IG Text"/>
              </a:rPr>
              <a:t> understanding the story, finding the impact and writing tests by hand</a:t>
            </a:r>
          </a:p>
        </p:txBody>
      </p:sp>
      <p:sp>
        <p:nvSpPr>
          <p:cNvPr id="9" name="Shape 8"/>
          <p:cNvSpPr/>
          <p:nvPr/>
        </p:nvSpPr>
        <p:spPr>
          <a:xfrm>
            <a:off x="502920" y="206654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1A1A1A"/>
                </a:solidFill>
                <a:latin typeface="Trenda IG Text"/>
              </a:rPr>
              <a:t>Story intake</a:t>
            </a:r>
          </a:p>
          <a:p>
            <a:r>
              <a:rPr sz="700" b="0" i="0">
                <a:solidFill>
                  <a:srgbClr val="4D4D4D"/>
                </a:solidFill>
                <a:latin typeface="Trenda IG Text"/>
              </a:rPr>
              <a:t>Jira story; back and forth with the PO</a:t>
            </a:r>
          </a:p>
        </p:txBody>
      </p:sp>
      <p:sp>
        <p:nvSpPr>
          <p:cNvPr id="11" name="Shape 10"/>
          <p:cNvSpPr/>
          <p:nvPr/>
        </p:nvSpPr>
        <p:spPr>
          <a:xfrm>
            <a:off x="2606039" y="214883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3" name="Shape 12"/>
          <p:cNvSpPr/>
          <p:nvPr/>
        </p:nvSpPr>
        <p:spPr>
          <a:xfrm>
            <a:off x="502920" y="238658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1A1A1A"/>
                </a:solidFill>
                <a:latin typeface="Trenda IG Text"/>
              </a:rPr>
              <a:t>Clarify requirements</a:t>
            </a:r>
          </a:p>
          <a:p>
            <a:r>
              <a:rPr sz="700" b="0" i="0">
                <a:solidFill>
                  <a:srgbClr val="4D4D4D"/>
                </a:solidFill>
                <a:latin typeface="Trenda IG Text"/>
              </a:rPr>
              <a:t>Confluence, meetings; criteria agreed</a:t>
            </a:r>
          </a:p>
        </p:txBody>
      </p:sp>
      <p:sp>
        <p:nvSpPr>
          <p:cNvPr id="15" name="Shape 14"/>
          <p:cNvSpPr/>
          <p:nvPr/>
        </p:nvSpPr>
        <p:spPr>
          <a:xfrm>
            <a:off x="2930651" y="246887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30651" y="246887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7" name="Shape 16"/>
          <p:cNvSpPr/>
          <p:nvPr/>
        </p:nvSpPr>
        <p:spPr>
          <a:xfrm>
            <a:off x="502920" y="270662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1A1A1A"/>
                </a:solidFill>
                <a:latin typeface="Trenda IG Text"/>
              </a:rPr>
              <a:t>Impact analysis</a:t>
            </a:r>
          </a:p>
          <a:p>
            <a:r>
              <a:rPr sz="700" b="0" i="0">
                <a:solidFill>
                  <a:srgbClr val="4D4D4D"/>
                </a:solidFill>
                <a:latin typeface="Trenda IG Text"/>
              </a:rPr>
              <a:t>objects, Flows, sharing and who uses them</a:t>
            </a:r>
          </a:p>
        </p:txBody>
      </p:sp>
      <p:sp>
        <p:nvSpPr>
          <p:cNvPr id="19" name="Shape 18"/>
          <p:cNvSpPr/>
          <p:nvPr/>
        </p:nvSpPr>
        <p:spPr>
          <a:xfrm>
            <a:off x="3255263" y="2788920"/>
            <a:ext cx="486917"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255263" y="2788920"/>
            <a:ext cx="486917" cy="109727"/>
          </a:xfrm>
          <a:prstGeom prst="rect">
            <a:avLst/>
          </a:prstGeom>
          <a:noFill/>
        </p:spPr>
        <p:txBody>
          <a:bodyPr wrap="square" lIns="0" rIns="0" tIns="0" bIns="0" anchor="ctr">
            <a:spAutoFit/>
          </a:bodyPr>
          <a:lstStyle/>
          <a:p>
            <a:pPr algn="ctr"/>
            <a:r>
              <a:rPr sz="700" b="1" i="0">
                <a:solidFill>
                  <a:srgbClr val="FFFFFE"/>
                </a:solidFill>
                <a:latin typeface="Trenda IG Text"/>
              </a:rPr>
              <a:t>1.5d</a:t>
            </a:r>
          </a:p>
        </p:txBody>
      </p:sp>
      <p:sp>
        <p:nvSpPr>
          <p:cNvPr id="21" name="Shape 20"/>
          <p:cNvSpPr/>
          <p:nvPr/>
        </p:nvSpPr>
        <p:spPr>
          <a:xfrm>
            <a:off x="502920" y="302666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1A1A1A"/>
                </a:solidFill>
                <a:latin typeface="Trenda IG Text"/>
              </a:rPr>
              <a:t>Solution design</a:t>
            </a:r>
          </a:p>
          <a:p>
            <a:r>
              <a:rPr sz="700" b="0" i="0">
                <a:solidFill>
                  <a:srgbClr val="4D4D4D"/>
                </a:solidFill>
                <a:latin typeface="Trenda IG Text"/>
              </a:rPr>
              <a:t>data model, sharing, automation; review</a:t>
            </a:r>
          </a:p>
        </p:txBody>
      </p:sp>
      <p:sp>
        <p:nvSpPr>
          <p:cNvPr id="23" name="Shape 22"/>
          <p:cNvSpPr/>
          <p:nvPr/>
        </p:nvSpPr>
        <p:spPr>
          <a:xfrm>
            <a:off x="3742181" y="310895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42181" y="310895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25" name="Shape 24"/>
          <p:cNvSpPr/>
          <p:nvPr/>
        </p:nvSpPr>
        <p:spPr>
          <a:xfrm>
            <a:off x="502920" y="334670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1A1A1A"/>
                </a:solidFill>
                <a:latin typeface="Trenda IG Text"/>
              </a:rPr>
              <a:t>Build</a:t>
            </a:r>
          </a:p>
          <a:p>
            <a:r>
              <a:rPr sz="700" b="0" i="0">
                <a:solidFill>
                  <a:srgbClr val="4D4D4D"/>
                </a:solidFill>
                <a:latin typeface="Trenda IG Text"/>
              </a:rPr>
              <a:t>Apex, LWC, Flows, permission sets in DEV</a:t>
            </a:r>
          </a:p>
        </p:txBody>
      </p:sp>
      <p:sp>
        <p:nvSpPr>
          <p:cNvPr id="27" name="Shape 26"/>
          <p:cNvSpPr/>
          <p:nvPr/>
        </p:nvSpPr>
        <p:spPr>
          <a:xfrm>
            <a:off x="4066794" y="3428999"/>
            <a:ext cx="649224"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66794" y="3428999"/>
            <a:ext cx="649224" cy="109727"/>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29" name="Shape 28"/>
          <p:cNvSpPr/>
          <p:nvPr/>
        </p:nvSpPr>
        <p:spPr>
          <a:xfrm>
            <a:off x="502920" y="366674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1A1A1A"/>
                </a:solidFill>
                <a:latin typeface="Trenda IG Text"/>
              </a:rPr>
              <a:t>Code review and fixes</a:t>
            </a:r>
          </a:p>
          <a:p>
            <a:r>
              <a:rPr sz="700" b="0" i="0">
                <a:solidFill>
                  <a:srgbClr val="4D4D4D"/>
                </a:solidFill>
                <a:latin typeface="Trenda IG Text"/>
              </a:rPr>
              <a:t>peer review, Code Analyzer, rework</a:t>
            </a:r>
          </a:p>
        </p:txBody>
      </p:sp>
      <p:sp>
        <p:nvSpPr>
          <p:cNvPr id="31" name="Shape 30"/>
          <p:cNvSpPr/>
          <p:nvPr/>
        </p:nvSpPr>
        <p:spPr>
          <a:xfrm>
            <a:off x="4716018" y="374903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716018" y="374903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33" name="Shape 32"/>
          <p:cNvSpPr/>
          <p:nvPr/>
        </p:nvSpPr>
        <p:spPr>
          <a:xfrm>
            <a:off x="502920" y="398678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1A1A1A"/>
                </a:solidFill>
                <a:latin typeface="Trenda IG Text"/>
              </a:rPr>
              <a:t>Test preparation</a:t>
            </a:r>
          </a:p>
          <a:p>
            <a:r>
              <a:rPr sz="700" b="0" i="0">
                <a:solidFill>
                  <a:srgbClr val="4D4D4D"/>
                </a:solidFill>
                <a:latin typeface="Trenda IG Text"/>
              </a:rPr>
              <a:t>Zephyr cases and test data by hand</a:t>
            </a:r>
          </a:p>
        </p:txBody>
      </p:sp>
      <p:sp>
        <p:nvSpPr>
          <p:cNvPr id="35" name="Shape 34"/>
          <p:cNvSpPr/>
          <p:nvPr/>
        </p:nvSpPr>
        <p:spPr>
          <a:xfrm>
            <a:off x="5040630" y="4069079"/>
            <a:ext cx="324611"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040630" y="4069079"/>
            <a:ext cx="324611"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7" name="Shape 36"/>
          <p:cNvSpPr/>
          <p:nvPr/>
        </p:nvSpPr>
        <p:spPr>
          <a:xfrm>
            <a:off x="502920" y="430682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1A1A1A"/>
                </a:solidFill>
                <a:latin typeface="Trenda IG Text"/>
              </a:rPr>
              <a:t>QA and regression</a:t>
            </a:r>
          </a:p>
          <a:p>
            <a:r>
              <a:rPr sz="700" b="0" i="0">
                <a:solidFill>
                  <a:srgbClr val="4D4D4D"/>
                </a:solidFill>
                <a:latin typeface="Trenda IG Text"/>
              </a:rPr>
              <a:t>run cases, Copado regression, defects</a:t>
            </a:r>
          </a:p>
        </p:txBody>
      </p:sp>
      <p:sp>
        <p:nvSpPr>
          <p:cNvPr id="39" name="Shape 38"/>
          <p:cNvSpPr/>
          <p:nvPr/>
        </p:nvSpPr>
        <p:spPr>
          <a:xfrm>
            <a:off x="5365242" y="438911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365242" y="438911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41" name="Shape 40"/>
          <p:cNvSpPr/>
          <p:nvPr/>
        </p:nvSpPr>
        <p:spPr>
          <a:xfrm>
            <a:off x="502920" y="462686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1A1A1A"/>
                </a:solidFill>
                <a:latin typeface="Trenda IG Text"/>
              </a:rPr>
              <a:t>Promote and UAT sign-off</a:t>
            </a:r>
          </a:p>
          <a:p>
            <a:r>
              <a:rPr sz="700" b="0" i="0">
                <a:solidFill>
                  <a:srgbClr val="4D4D4D"/>
                </a:solidFill>
                <a:latin typeface="Trenda IG Text"/>
              </a:rPr>
              <a:t>Copado to SIT / UAT; business signs</a:t>
            </a:r>
          </a:p>
        </p:txBody>
      </p:sp>
      <p:sp>
        <p:nvSpPr>
          <p:cNvPr id="43" name="Shape 42"/>
          <p:cNvSpPr/>
          <p:nvPr/>
        </p:nvSpPr>
        <p:spPr>
          <a:xfrm>
            <a:off x="5689854" y="4709159"/>
            <a:ext cx="274320"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689854" y="4709159"/>
            <a:ext cx="274320" cy="109727"/>
          </a:xfrm>
          <a:prstGeom prst="rect">
            <a:avLst/>
          </a:prstGeom>
          <a:noFill/>
        </p:spPr>
        <p:txBody>
          <a:bodyPr wrap="square" lIns="0" rIns="0" tIns="0" bIns="0" anchor="ctr">
            <a:spAutoFit/>
          </a:bodyPr>
          <a:lstStyle/>
          <a:p>
            <a:pPr algn="ctr"/>
            <a:r>
              <a:rPr sz="700" b="1" i="0">
                <a:solidFill>
                  <a:srgbClr val="000000"/>
                </a:solidFill>
                <a:latin typeface="Trenda IG Text"/>
              </a:rPr>
              <a:t>0.5d</a:t>
            </a:r>
          </a:p>
        </p:txBody>
      </p:sp>
      <p:sp>
        <p:nvSpPr>
          <p:cNvPr id="45" name="Text 44"/>
          <p:cNvSpPr txBox="1"/>
          <p:nvPr/>
        </p:nvSpPr>
        <p:spPr>
          <a:xfrm>
            <a:off x="2494026"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a:t>
            </a:r>
          </a:p>
        </p:txBody>
      </p:sp>
      <p:sp>
        <p:nvSpPr>
          <p:cNvPr id="46" name="Text 45"/>
          <p:cNvSpPr txBox="1"/>
          <p:nvPr/>
        </p:nvSpPr>
        <p:spPr>
          <a:xfrm>
            <a:off x="3792474"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5</a:t>
            </a:r>
          </a:p>
        </p:txBody>
      </p:sp>
      <p:sp>
        <p:nvSpPr>
          <p:cNvPr id="47" name="Text 46"/>
          <p:cNvSpPr txBox="1"/>
          <p:nvPr/>
        </p:nvSpPr>
        <p:spPr>
          <a:xfrm>
            <a:off x="5415534"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10</a:t>
            </a:r>
          </a:p>
        </p:txBody>
      </p:sp>
      <p:sp>
        <p:nvSpPr>
          <p:cNvPr id="48" name="Differentiator Border 48"/>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9"/>
          <p:cNvSpPr/>
          <p:nvPr/>
        </p:nvSpPr>
        <p:spPr>
          <a:xfrm>
            <a:off x="6181344" y="1188720"/>
            <a:ext cx="5577840" cy="39502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50"/>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WITH THE AGENTIC FACTORY · 7 DELIVERY AGENTS</a:t>
            </a:r>
          </a:p>
        </p:txBody>
      </p:sp>
      <p:sp>
        <p:nvSpPr>
          <p:cNvPr id="51" name="Text 51"/>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89A0"/>
                </a:solidFill>
                <a:latin typeface="Trenda IG Text"/>
              </a:rPr>
              <a:t>~2 days</a:t>
            </a:r>
          </a:p>
        </p:txBody>
      </p:sp>
      <p:sp>
        <p:nvSpPr>
          <p:cNvPr id="52" name="Text 52"/>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4D4D4D"/>
                </a:solidFill>
                <a:latin typeface="Trenda IG Text"/>
              </a:rPr>
              <a:t>~26 working hours: day 1 story to UAT, day 2 UAT and production</a:t>
            </a:r>
          </a:p>
        </p:txBody>
      </p:sp>
      <p:sp>
        <p:nvSpPr>
          <p:cNvPr id="53" name="Shape 53"/>
          <p:cNvSpPr/>
          <p:nvPr/>
        </p:nvSpPr>
        <p:spPr>
          <a:xfrm>
            <a:off x="6254496" y="206654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4"/>
          <p:cNvSpPr txBox="1"/>
          <p:nvPr/>
        </p:nvSpPr>
        <p:spPr>
          <a:xfrm>
            <a:off x="6345936" y="2066543"/>
            <a:ext cx="2157984" cy="365760"/>
          </a:xfrm>
          <a:prstGeom prst="rect">
            <a:avLst/>
          </a:prstGeom>
          <a:noFill/>
        </p:spPr>
        <p:txBody>
          <a:bodyPr wrap="square" lIns="0" rIns="0" tIns="0" bIns="0" anchor="ctr">
            <a:spAutoFit/>
          </a:bodyPr>
          <a:lstStyle/>
          <a:p>
            <a:r>
              <a:rPr sz="700" b="1" i="0">
                <a:solidFill>
                  <a:srgbClr val="1A1A1A"/>
                </a:solidFill>
                <a:latin typeface="Trenda IG Text"/>
              </a:rPr>
              <a:t>Requirements Agent</a:t>
            </a:r>
          </a:p>
          <a:p>
            <a:r>
              <a:rPr sz="700" b="0" i="0">
                <a:solidFill>
                  <a:srgbClr val="4D4D4D"/>
                </a:solidFill>
                <a:latin typeface="Trenda IG Text"/>
              </a:rPr>
              <a:t>Jira + Confluence into a brief</a:t>
            </a:r>
          </a:p>
        </p:txBody>
      </p:sp>
      <p:sp>
        <p:nvSpPr>
          <p:cNvPr id="55" name="Shape 55"/>
          <p:cNvSpPr/>
          <p:nvPr/>
        </p:nvSpPr>
        <p:spPr>
          <a:xfrm>
            <a:off x="8540496" y="2148839"/>
            <a:ext cx="352395"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8540496" y="2148839"/>
            <a:ext cx="352395" cy="201168"/>
          </a:xfrm>
          <a:prstGeom prst="rect">
            <a:avLst/>
          </a:prstGeom>
          <a:noFill/>
        </p:spPr>
        <p:txBody>
          <a:bodyPr wrap="square" lIns="0" rIns="0" tIns="0" bIns="0" anchor="ctr">
            <a:spAutoFit/>
          </a:bodyPr>
          <a:lstStyle/>
          <a:p>
            <a:pPr algn="ctr"/>
            <a:r>
              <a:rPr sz="700" b="1" i="0">
                <a:solidFill>
                  <a:srgbClr val="000000"/>
                </a:solidFill>
                <a:latin typeface="Trenda IG Text"/>
              </a:rPr>
              <a:t>3h</a:t>
            </a:r>
          </a:p>
        </p:txBody>
      </p:sp>
      <p:sp>
        <p:nvSpPr>
          <p:cNvPr id="57" name="Shape 57"/>
          <p:cNvSpPr/>
          <p:nvPr/>
        </p:nvSpPr>
        <p:spPr>
          <a:xfrm>
            <a:off x="6254496" y="247802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6345936" y="2478024"/>
            <a:ext cx="2157984" cy="365760"/>
          </a:xfrm>
          <a:prstGeom prst="rect">
            <a:avLst/>
          </a:prstGeom>
          <a:noFill/>
        </p:spPr>
        <p:txBody>
          <a:bodyPr wrap="square" lIns="0" rIns="0" tIns="0" bIns="0" anchor="ctr">
            <a:spAutoFit/>
          </a:bodyPr>
          <a:lstStyle/>
          <a:p>
            <a:r>
              <a:rPr sz="700" b="1" i="0">
                <a:solidFill>
                  <a:srgbClr val="1A1A1A"/>
                </a:solidFill>
                <a:latin typeface="Trenda IG Text"/>
              </a:rPr>
              <a:t>Architect Agent</a:t>
            </a:r>
          </a:p>
          <a:p>
            <a:r>
              <a:rPr sz="700" b="0" i="0">
                <a:solidFill>
                  <a:srgbClr val="4D4D4D"/>
                </a:solidFill>
                <a:latin typeface="Trenda IG Text"/>
              </a:rPr>
              <a:t>impact and reuse from the graph; Change Guardian</a:t>
            </a:r>
          </a:p>
        </p:txBody>
      </p:sp>
      <p:sp>
        <p:nvSpPr>
          <p:cNvPr id="59" name="Shape 59"/>
          <p:cNvSpPr/>
          <p:nvPr/>
        </p:nvSpPr>
        <p:spPr>
          <a:xfrm>
            <a:off x="8892891" y="2560320"/>
            <a:ext cx="587326"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8892891" y="2560320"/>
            <a:ext cx="587326" cy="201168"/>
          </a:xfrm>
          <a:prstGeom prst="rect">
            <a:avLst/>
          </a:prstGeom>
          <a:noFill/>
        </p:spPr>
        <p:txBody>
          <a:bodyPr wrap="square" lIns="0" rIns="0" tIns="0" bIns="0" anchor="ctr">
            <a:spAutoFit/>
          </a:bodyPr>
          <a:lstStyle/>
          <a:p>
            <a:pPr algn="ctr"/>
            <a:r>
              <a:rPr sz="700" b="1" i="0">
                <a:solidFill>
                  <a:srgbClr val="000000"/>
                </a:solidFill>
                <a:latin typeface="Trenda IG Text"/>
              </a:rPr>
              <a:t>5h</a:t>
            </a:r>
          </a:p>
        </p:txBody>
      </p:sp>
      <p:sp>
        <p:nvSpPr>
          <p:cNvPr id="61" name="Shape 61"/>
          <p:cNvSpPr/>
          <p:nvPr/>
        </p:nvSpPr>
        <p:spPr>
          <a:xfrm>
            <a:off x="6254496" y="288950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6345936" y="2889503"/>
            <a:ext cx="2157984" cy="365760"/>
          </a:xfrm>
          <a:prstGeom prst="rect">
            <a:avLst/>
          </a:prstGeom>
          <a:noFill/>
        </p:spPr>
        <p:txBody>
          <a:bodyPr wrap="square" lIns="0" rIns="0" tIns="0" bIns="0" anchor="ctr">
            <a:spAutoFit/>
          </a:bodyPr>
          <a:lstStyle/>
          <a:p>
            <a:r>
              <a:rPr sz="700" b="1" i="0">
                <a:solidFill>
                  <a:srgbClr val="1A1A1A"/>
                </a:solidFill>
                <a:latin typeface="Trenda IG Text"/>
              </a:rPr>
              <a:t>Developer Agent</a:t>
            </a:r>
          </a:p>
          <a:p>
            <a:r>
              <a:rPr sz="700" b="0" i="0">
                <a:solidFill>
                  <a:srgbClr val="4D4D4D"/>
                </a:solidFill>
                <a:latin typeface="Trenda IG Text"/>
              </a:rPr>
              <a:t>Apex, LWC, Flows, sharing in DEV</a:t>
            </a:r>
          </a:p>
        </p:txBody>
      </p:sp>
      <p:sp>
        <p:nvSpPr>
          <p:cNvPr id="63" name="Shape 63"/>
          <p:cNvSpPr/>
          <p:nvPr/>
        </p:nvSpPr>
        <p:spPr>
          <a:xfrm>
            <a:off x="9480217" y="297179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9480217" y="297179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5" name="Shape 65"/>
          <p:cNvSpPr/>
          <p:nvPr/>
        </p:nvSpPr>
        <p:spPr>
          <a:xfrm>
            <a:off x="6254496" y="330098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6345936" y="3300984"/>
            <a:ext cx="2157984" cy="365760"/>
          </a:xfrm>
          <a:prstGeom prst="rect">
            <a:avLst/>
          </a:prstGeom>
          <a:noFill/>
        </p:spPr>
        <p:txBody>
          <a:bodyPr wrap="square" lIns="0" rIns="0" tIns="0" bIns="0" anchor="ctr">
            <a:spAutoFit/>
          </a:bodyPr>
          <a:lstStyle/>
          <a:p>
            <a:r>
              <a:rPr sz="700" b="1" i="0">
                <a:solidFill>
                  <a:srgbClr val="1A1A1A"/>
                </a:solidFill>
                <a:latin typeface="Trenda IG Text"/>
              </a:rPr>
              <a:t>Review + Test Agents</a:t>
            </a:r>
          </a:p>
          <a:p>
            <a:r>
              <a:rPr sz="700" b="0" i="0">
                <a:solidFill>
                  <a:srgbClr val="4D4D4D"/>
                </a:solidFill>
                <a:latin typeface="Trenda IG Text"/>
              </a:rPr>
              <a:t>code, security, sharing; Apex tests, Zephyr</a:t>
            </a:r>
          </a:p>
        </p:txBody>
      </p:sp>
      <p:sp>
        <p:nvSpPr>
          <p:cNvPr id="67" name="Shape 67"/>
          <p:cNvSpPr/>
          <p:nvPr/>
        </p:nvSpPr>
        <p:spPr>
          <a:xfrm>
            <a:off x="9950078" y="338327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9950078" y="338327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9" name="Shape 69"/>
          <p:cNvSpPr/>
          <p:nvPr/>
        </p:nvSpPr>
        <p:spPr>
          <a:xfrm>
            <a:off x="6254496" y="371246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6345936" y="3712463"/>
            <a:ext cx="2157984" cy="365760"/>
          </a:xfrm>
          <a:prstGeom prst="rect">
            <a:avLst/>
          </a:prstGeom>
          <a:noFill/>
        </p:spPr>
        <p:txBody>
          <a:bodyPr wrap="square" lIns="0" rIns="0" tIns="0" bIns="0" anchor="ctr">
            <a:spAutoFit/>
          </a:bodyPr>
          <a:lstStyle/>
          <a:p>
            <a:r>
              <a:rPr sz="700" b="1" i="0">
                <a:solidFill>
                  <a:srgbClr val="1A1A1A"/>
                </a:solidFill>
                <a:latin typeface="Trenda IG Text"/>
              </a:rPr>
              <a:t>Release Agent</a:t>
            </a:r>
          </a:p>
          <a:p>
            <a:r>
              <a:rPr sz="700" b="0" i="0">
                <a:solidFill>
                  <a:srgbClr val="4D4D4D"/>
                </a:solidFill>
                <a:latin typeface="Trenda IG Text"/>
              </a:rPr>
              <a:t>Copado to SIT, then UAT; CAB pack</a:t>
            </a:r>
          </a:p>
        </p:txBody>
      </p:sp>
      <p:sp>
        <p:nvSpPr>
          <p:cNvPr id="71" name="Shape 71"/>
          <p:cNvSpPr/>
          <p:nvPr/>
        </p:nvSpPr>
        <p:spPr>
          <a:xfrm>
            <a:off x="10419939" y="3794759"/>
            <a:ext cx="27432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10419939" y="3794759"/>
            <a:ext cx="274320" cy="201168"/>
          </a:xfrm>
          <a:prstGeom prst="rect">
            <a:avLst/>
          </a:prstGeom>
          <a:noFill/>
        </p:spPr>
        <p:txBody>
          <a:bodyPr wrap="square" lIns="0" rIns="0" tIns="0" bIns="0" anchor="ctr">
            <a:spAutoFit/>
          </a:bodyPr>
          <a:lstStyle/>
          <a:p>
            <a:pPr algn="ctr"/>
            <a:r>
              <a:rPr sz="700" b="1" i="0">
                <a:solidFill>
                  <a:srgbClr val="000000"/>
                </a:solidFill>
                <a:latin typeface="Trenda IG Text"/>
              </a:rPr>
              <a:t>2h</a:t>
            </a:r>
          </a:p>
        </p:txBody>
      </p:sp>
      <p:sp>
        <p:nvSpPr>
          <p:cNvPr id="73" name="Shape 73"/>
          <p:cNvSpPr/>
          <p:nvPr/>
        </p:nvSpPr>
        <p:spPr>
          <a:xfrm>
            <a:off x="6254496" y="412394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6345936" y="4123944"/>
            <a:ext cx="2157984" cy="365760"/>
          </a:xfrm>
          <a:prstGeom prst="rect">
            <a:avLst/>
          </a:prstGeom>
          <a:noFill/>
        </p:spPr>
        <p:txBody>
          <a:bodyPr wrap="square" lIns="0" rIns="0" tIns="0" bIns="0" anchor="ctr">
            <a:spAutoFit/>
          </a:bodyPr>
          <a:lstStyle/>
          <a:p>
            <a:r>
              <a:rPr sz="700" b="1" i="0">
                <a:solidFill>
                  <a:srgbClr val="1A1A1A"/>
                </a:solidFill>
                <a:latin typeface="Trenda IG Text"/>
              </a:rPr>
              <a:t>UAT + production · H4 · CAB</a:t>
            </a:r>
          </a:p>
          <a:p>
            <a:r>
              <a:rPr sz="700" b="0" i="0">
                <a:solidFill>
                  <a:srgbClr val="4D4D4D"/>
                </a:solidFill>
                <a:latin typeface="Trenda IG Text"/>
              </a:rPr>
              <a:t>business signs UAT; CAB; the owning team deploys</a:t>
            </a:r>
          </a:p>
        </p:txBody>
      </p:sp>
      <p:sp>
        <p:nvSpPr>
          <p:cNvPr id="75" name="Shape 75"/>
          <p:cNvSpPr/>
          <p:nvPr/>
        </p:nvSpPr>
        <p:spPr>
          <a:xfrm>
            <a:off x="10654870" y="4206240"/>
            <a:ext cx="939721"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10654870" y="4206240"/>
            <a:ext cx="939721" cy="201168"/>
          </a:xfrm>
          <a:prstGeom prst="rect">
            <a:avLst/>
          </a:prstGeom>
          <a:noFill/>
        </p:spPr>
        <p:txBody>
          <a:bodyPr wrap="square" lIns="0" rIns="0" tIns="0" bIns="0" anchor="ctr">
            <a:spAutoFit/>
          </a:bodyPr>
          <a:lstStyle/>
          <a:p>
            <a:pPr algn="ctr"/>
            <a:r>
              <a:rPr sz="700" b="1" i="0">
                <a:solidFill>
                  <a:srgbClr val="000000"/>
                </a:solidFill>
                <a:latin typeface="Trenda IG Text"/>
              </a:rPr>
              <a:t>8h</a:t>
            </a:r>
          </a:p>
        </p:txBody>
      </p:sp>
      <p:sp>
        <p:nvSpPr>
          <p:cNvPr id="77" name="Text 77"/>
          <p:cNvSpPr txBox="1"/>
          <p:nvPr/>
        </p:nvSpPr>
        <p:spPr>
          <a:xfrm>
            <a:off x="9323363"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a:t>
            </a:r>
          </a:p>
        </p:txBody>
      </p:sp>
      <p:sp>
        <p:nvSpPr>
          <p:cNvPr id="78" name="Text 78"/>
          <p:cNvSpPr txBox="1"/>
          <p:nvPr/>
        </p:nvSpPr>
        <p:spPr>
          <a:xfrm>
            <a:off x="10850411"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2</a:t>
            </a:r>
          </a:p>
        </p:txBody>
      </p:sp>
      <p:sp>
        <p:nvSpPr>
          <p:cNvPr id="79" name="Shape 79"/>
          <p:cNvSpPr/>
          <p:nvPr/>
        </p:nvSpPr>
        <p:spPr>
          <a:xfrm>
            <a:off x="10707975" y="2011679"/>
            <a:ext cx="9144" cy="247802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0"/>
          <p:cNvSpPr/>
          <p:nvPr/>
        </p:nvSpPr>
        <p:spPr>
          <a:xfrm>
            <a:off x="8938611" y="214883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938611" y="214883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H1</a:t>
            </a:r>
          </a:p>
        </p:txBody>
      </p:sp>
      <p:sp>
        <p:nvSpPr>
          <p:cNvPr id="82" name="Shape 82"/>
          <p:cNvSpPr/>
          <p:nvPr/>
        </p:nvSpPr>
        <p:spPr>
          <a:xfrm>
            <a:off x="9525937" y="2560320"/>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3"/>
          <p:cNvSpPr txBox="1"/>
          <p:nvPr/>
        </p:nvSpPr>
        <p:spPr>
          <a:xfrm>
            <a:off x="9525937" y="2560320"/>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H2</a:t>
            </a:r>
          </a:p>
        </p:txBody>
      </p:sp>
      <p:sp>
        <p:nvSpPr>
          <p:cNvPr id="84" name="Shape 84"/>
          <p:cNvSpPr/>
          <p:nvPr/>
        </p:nvSpPr>
        <p:spPr>
          <a:xfrm>
            <a:off x="10465659" y="338327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10465659" y="338327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H3</a:t>
            </a:r>
          </a:p>
        </p:txBody>
      </p:sp>
      <p:sp>
        <p:nvSpPr>
          <p:cNvPr id="86" name="Text 86"/>
          <p:cNvSpPr txBox="1"/>
          <p:nvPr/>
        </p:nvSpPr>
        <p:spPr>
          <a:xfrm>
            <a:off x="6309359" y="4590288"/>
            <a:ext cx="5321808" cy="384048"/>
          </a:xfrm>
          <a:prstGeom prst="rect">
            <a:avLst/>
          </a:prstGeom>
          <a:noFill/>
        </p:spPr>
        <p:txBody>
          <a:bodyPr wrap="square" lIns="0" rIns="0" tIns="0" bIns="0" anchor="ctr">
            <a:spAutoFit/>
          </a:bodyPr>
          <a:lstStyle/>
          <a:p>
            <a:r>
              <a:rPr sz="700" b="1" i="0">
                <a:solidFill>
                  <a:srgbClr val="8A6D00"/>
                </a:solidFill>
                <a:latin typeface="Trenda IG Text"/>
              </a:rPr>
              <a:t>Day 2 assumes a CAB slot; otherwise the next CAB window. </a:t>
            </a:r>
            <a:r>
              <a:rPr sz="700" b="0" i="0">
                <a:solidFill>
                  <a:srgbClr val="4D4D4D"/>
                </a:solidFill>
                <a:latin typeface="Trenda IG Text"/>
              </a:rPr>
              <a:t>Cyan: agents. Yellow: people approve (H1-H4).</a:t>
            </a:r>
          </a:p>
        </p:txBody>
      </p:sp>
      <p:sp>
        <p:nvSpPr>
          <p:cNvPr id="87" name="Shape 87"/>
          <p:cNvSpPr/>
          <p:nvPr/>
        </p:nvSpPr>
        <p:spPr>
          <a:xfrm>
            <a:off x="41148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8"/>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9"/>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89A0"/>
                </a:solidFill>
                <a:latin typeface="Trenda IG Text"/>
              </a:rPr>
              <a:t>~80%</a:t>
            </a:r>
          </a:p>
        </p:txBody>
      </p:sp>
      <p:sp>
        <p:nvSpPr>
          <p:cNvPr id="90" name="Text 90"/>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faster per task</a:t>
            </a:r>
          </a:p>
          <a:p>
            <a:r>
              <a:rPr sz="700" b="0" i="0">
                <a:solidFill>
                  <a:srgbClr val="4D4D4D"/>
                </a:solidFill>
                <a:latin typeface="Trenda IG Text"/>
              </a:rPr>
              <a:t>~10 working days to ~2 days, now to production</a:t>
            </a:r>
          </a:p>
        </p:txBody>
      </p:sp>
      <p:sp>
        <p:nvSpPr>
          <p:cNvPr id="91" name="Shape 91"/>
          <p:cNvSpPr/>
          <p:nvPr/>
        </p:nvSpPr>
        <p:spPr>
          <a:xfrm>
            <a:off x="328041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2"/>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3"/>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2-4 days</a:t>
            </a:r>
          </a:p>
        </p:txBody>
      </p:sp>
      <p:sp>
        <p:nvSpPr>
          <p:cNvPr id="94" name="Text 94"/>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measured so far</a:t>
            </a:r>
          </a:p>
          <a:p>
            <a:r>
              <a:rPr sz="700" b="0" i="0">
                <a:solidFill>
                  <a:srgbClr val="4D4D4D"/>
                </a:solidFill>
                <a:latin typeface="Trenda IG Text"/>
              </a:rPr>
              <a:t>agent-assisted today; the factory takes it to ~2</a:t>
            </a:r>
          </a:p>
        </p:txBody>
      </p:sp>
      <p:sp>
        <p:nvSpPr>
          <p:cNvPr id="95" name="Shape 95"/>
          <p:cNvSpPr/>
          <p:nvPr/>
        </p:nvSpPr>
        <p:spPr>
          <a:xfrm>
            <a:off x="614934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6"/>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7"/>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1A1A1A"/>
                </a:solidFill>
                <a:latin typeface="Trenda IG Text"/>
              </a:rPr>
              <a:t>7</a:t>
            </a:r>
          </a:p>
        </p:txBody>
      </p:sp>
      <p:sp>
        <p:nvSpPr>
          <p:cNvPr id="98" name="Text 98"/>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delivery agents</a:t>
            </a:r>
          </a:p>
          <a:p>
            <a:r>
              <a:rPr sz="700" b="0" i="0">
                <a:solidFill>
                  <a:srgbClr val="4D4D4D"/>
                </a:solidFill>
                <a:latin typeface="Trenda IG Text"/>
              </a:rPr>
              <a:t>the same for every pod, with Health Cloud skills</a:t>
            </a:r>
          </a:p>
        </p:txBody>
      </p:sp>
      <p:sp>
        <p:nvSpPr>
          <p:cNvPr id="99" name="Shape 99"/>
          <p:cNvSpPr/>
          <p:nvPr/>
        </p:nvSpPr>
        <p:spPr>
          <a:xfrm>
            <a:off x="901827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100"/>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1"/>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8A6D00"/>
                </a:solidFill>
                <a:latin typeface="Trenda IG Text"/>
              </a:rPr>
              <a:t>4 gates</a:t>
            </a:r>
          </a:p>
        </p:txBody>
      </p:sp>
      <p:sp>
        <p:nvSpPr>
          <p:cNvPr id="102" name="Text 102"/>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people still approve</a:t>
            </a:r>
          </a:p>
          <a:p>
            <a:r>
              <a:rPr sz="700" b="0" i="0">
                <a:solidFill>
                  <a:srgbClr val="4D4D4D"/>
                </a:solidFill>
                <a:latin typeface="Trenda IG Text"/>
              </a:rPr>
              <a:t>H1 brief, H2 design, H3 code, H4 UAT; plus CAB</a:t>
            </a:r>
          </a:p>
        </p:txBody>
      </p:sp>
      <p:sp>
        <p:nvSpPr>
          <p:cNvPr id="103" name="Text 103"/>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6B6B6B"/>
                </a:solidFill>
                <a:latin typeface="Trenda IG Text"/>
              </a:rPr>
              <a:t>Today: a typical Health Cloud task on the Network Services pod, Jira story to UAT sign-off. Measured: agent-assisted delivery at Ascension, 1-2 weeks to 2-4 days. ~2 days to production is the factory target, confirmed against the Phase 0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MARKETING CLOUD CAMPAIGNS</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HIPAA-Aligned Agentic Healthcare Campaign Platform</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Governed data in Google Cloud, agents on masked data, approved patients released to Marketing Cloud. Proposed target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1A1A1A"/>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1A1A1A"/>
                </a:solidFill>
                <a:latin typeface="Trenda IG Text"/>
              </a:rPr>
              <a:t>REVIEW</a:t>
            </a:r>
          </a:p>
          <a:p>
            <a:r>
              <a:rPr sz="700" b="0" i="0">
                <a:solidFill>
                  <a:srgbClr val="6B6B6B"/>
                </a:solidFill>
                <a:latin typeface="Courier New"/>
              </a:rPr>
              <a:t>Collibra</a:t>
            </a:r>
          </a:p>
        </p:txBody>
      </p:sp>
      <p:sp>
        <p:nvSpPr>
          <p:cNvPr id="10" name="Shape 8"/>
          <p:cNvSpPr/>
          <p:nvPr/>
        </p:nvSpPr>
        <p:spPr>
          <a:xfrm>
            <a:off x="411480" y="2020824"/>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1A1A1A"/>
                </a:solidFill>
                <a:latin typeface="Trenda IG Text"/>
              </a:rPr>
              <a:t>GOVERNANCE</a:t>
            </a:r>
          </a:p>
          <a:p>
            <a:r>
              <a:rPr sz="700" b="0" i="0">
                <a:solidFill>
                  <a:srgbClr val="6B6B6B"/>
                </a:solidFill>
                <a:latin typeface="Courier New"/>
              </a:rPr>
              <a:t>datarepository</a:t>
            </a:r>
          </a:p>
        </p:txBody>
      </p:sp>
      <p:sp>
        <p:nvSpPr>
          <p:cNvPr id="14" name="Shape 11"/>
          <p:cNvSpPr/>
          <p:nvPr/>
        </p:nvSpPr>
        <p:spPr>
          <a:xfrm>
            <a:off x="411480" y="2578608"/>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1A1A1A"/>
                </a:solidFill>
                <a:latin typeface="Trenda IG Text"/>
              </a:rPr>
              <a:t>COMPUTE</a:t>
            </a:r>
          </a:p>
          <a:p>
            <a:r>
              <a:rPr sz="700" b="0" i="0">
                <a:solidFill>
                  <a:srgbClr val="6B6B6B"/>
                </a:solidFill>
                <a:latin typeface="Courier New"/>
              </a:rPr>
              <a:t>datalake</a:t>
            </a:r>
          </a:p>
        </p:txBody>
      </p:sp>
      <p:sp>
        <p:nvSpPr>
          <p:cNvPr id="18" name="Shape 14"/>
          <p:cNvSpPr/>
          <p:nvPr/>
        </p:nvSpPr>
        <p:spPr>
          <a:xfrm>
            <a:off x="411480" y="3136392"/>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1A1A1A"/>
                </a:solidFill>
                <a:latin typeface="Trenda IG Text"/>
              </a:rPr>
              <a:t>TARGET</a:t>
            </a:r>
          </a:p>
          <a:p>
            <a:r>
              <a:rPr sz="700" b="0" i="0">
                <a:solidFill>
                  <a:srgbClr val="6B6B6B"/>
                </a:solidFill>
                <a:latin typeface="Courier New"/>
              </a:rPr>
              <a:t>dataplace</a:t>
            </a:r>
          </a:p>
        </p:txBody>
      </p:sp>
      <p:cxnSp>
        <p:nvCxnSpPr>
          <p:cNvPr id="22" name="Arrow 17"/>
          <p:cNvCxnSpPr/>
          <p:nvPr/>
        </p:nvCxnSpPr>
        <p:spPr>
          <a:xfrm>
            <a:off x="2386584"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F5F5F5"/>
          </a:solidFill>
          <a:ln w="7620">
            <a:solidFill>
              <a:srgbClr val="C9A1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FFFFFF"/>
          </a:solid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1A1A1A"/>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1A1A1A"/>
                </a:solidFill>
                <a:latin typeface="Trenda IG Text"/>
              </a:rPr>
              <a:t>Fail-closed: </a:t>
            </a:r>
            <a:r>
              <a:rPr sz="700" b="0" i="0">
                <a:solidFill>
                  <a:srgbClr val="4D4D4D"/>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8A6D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6B6B6B"/>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6B6B6B"/>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6B6B6B"/>
                </a:solidFill>
                <a:latin typeface="Trenda IG Text"/>
              </a:rPr>
              <a:t>HIPAA implication</a:t>
            </a:r>
          </a:p>
        </p:txBody>
      </p:sp>
      <p:sp>
        <p:nvSpPr>
          <p:cNvPr id="81" name="Shape 76"/>
          <p:cNvSpPr/>
          <p:nvPr/>
        </p:nvSpPr>
        <p:spPr>
          <a:xfrm>
            <a:off x="7187184" y="1682496"/>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1A1A1A"/>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1A1A1A"/>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4D4D4D"/>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1A1A1A"/>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1A1A1A"/>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4D4D4D"/>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1A1A1A"/>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1A1A1A"/>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4D4D4D"/>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1A1A1A"/>
                </a:solidFill>
                <a:latin typeface="Trenda IG Text"/>
              </a:rPr>
              <a:t>A token, a count, a diagnosis combination or a small cohort can remain sensitive. </a:t>
            </a:r>
            <a:r>
              <a:rPr sz="700" b="1" i="0">
                <a:solidFill>
                  <a:srgbClr val="8A6D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1A1A1A"/>
                </a:solidFill>
                <a:latin typeface="Trenda IG Text"/>
              </a:rPr>
              <a:t>WHAT MASKING ALONE DOES NOT GIVE US, AND WHAT WE ADD</a:t>
            </a:r>
            <a:r>
              <a:rPr sz="700" b="0" i="0">
                <a:solidFill>
                  <a:srgbClr val="4D4D4D"/>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1  </a:t>
            </a:r>
            <a:r>
              <a:rPr sz="720" b="1" i="0">
                <a:solidFill>
                  <a:srgbClr val="1A1A1A"/>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2  </a:t>
            </a:r>
            <a:r>
              <a:rPr sz="720" b="1" i="0">
                <a:solidFill>
                  <a:srgbClr val="1A1A1A"/>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3  </a:t>
            </a:r>
            <a:r>
              <a:rPr sz="720" b="1" i="0">
                <a:solidFill>
                  <a:srgbClr val="1A1A1A"/>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4  </a:t>
            </a:r>
            <a:r>
              <a:rPr sz="720" b="1" i="0">
                <a:solidFill>
                  <a:srgbClr val="1A1A1A"/>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1A1A1A"/>
                </a:solidFill>
                <a:latin typeface="Trenda IG Text"/>
              </a:rPr>
              <a:t>HOW WE PROVE IT  </a:t>
            </a:r>
            <a:r>
              <a:rPr sz="700" b="0" i="0">
                <a:solidFill>
                  <a:srgbClr val="1A1A1A"/>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1A1A1A"/>
                </a:solidFill>
                <a:latin typeface="Trenda IG Text"/>
              </a:rPr>
              <a:t>PROPOSED items are design, not production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1A1A1A"/>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DLP + Collibra</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Before ingest: the Collibra steward approves, DLP classifies, policy tags mask PHI.</a:t>
            </a:r>
          </a:p>
        </p:txBody>
      </p:sp>
      <p:cxnSp>
        <p:nvCxnSpPr>
          <p:cNvPr id="21" name="Arrow 18"/>
          <p:cNvCxnSpPr/>
          <p:nvPr/>
        </p:nvCxnSpPr>
        <p:spPr>
          <a:xfrm>
            <a:off x="4831689"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F8ECE0"/>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Bronze</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tagged extracts with lineage and timestamps. Restricted; DLP re-scans.</a:t>
            </a:r>
          </a:p>
        </p:txBody>
      </p:sp>
      <p:cxnSp>
        <p:nvCxnSpPr>
          <p:cNvPr id="27" name="Arrow 24"/>
          <p:cNvCxnSpPr/>
          <p:nvPr/>
        </p:nvCxnSpPr>
        <p:spPr>
          <a:xfrm>
            <a:off x="7046366"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F0F1F2"/>
          </a:solidFill>
          <a:ln w="1587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1A1A1A"/>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2  AGENTIC HARNESS · PROMPT IN CODEX, PLAN, BUILD + TEST · MASKED DATA ONLY · RUNS IN GOOGLE CLOUD</a:t>
            </a:r>
          </a:p>
        </p:txBody>
      </p:sp>
      <p:sp>
        <p:nvSpPr>
          <p:cNvPr id="53" name="Shape 48"/>
          <p:cNvSpPr/>
          <p:nvPr/>
        </p:nvSpPr>
        <p:spPr>
          <a:xfrm>
            <a:off x="548640" y="2944368"/>
            <a:ext cx="1699259"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1A1A1A"/>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1A1A1A"/>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Orchestrator, Strategist and Analytics read the knowledge graph; counts only.</a:t>
            </a:r>
          </a:p>
        </p:txBody>
      </p:sp>
      <p:sp>
        <p:nvSpPr>
          <p:cNvPr id="64" name="Shape 58"/>
          <p:cNvSpPr/>
          <p:nvPr/>
        </p:nvSpPr>
        <p:spPr>
          <a:xfrm>
            <a:off x="4239768"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4D4D4D"/>
                </a:solidFill>
                <a:latin typeface="Trenda IG Text"/>
              </a:rPr>
              <a:t>People only, no agent: marketer + clinical approve the brief: size, channel, content plan.</a:t>
            </a:r>
          </a:p>
        </p:txBody>
      </p:sp>
      <p:sp>
        <p:nvSpPr>
          <p:cNvPr id="72" name="Shape 65"/>
          <p:cNvSpPr/>
          <p:nvPr/>
        </p:nvSpPr>
        <p:spPr>
          <a:xfrm>
            <a:off x="6085331"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1A1A1A"/>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1A1A1A"/>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4D4D4D"/>
                </a:solidFill>
                <a:latin typeface="Trenda IG Text"/>
              </a:rPr>
              <a:t>Test contacts only: consent, STOP, links, hours. </a:t>
            </a:r>
            <a:r>
              <a:rPr sz="700" b="1" i="0">
                <a:solidFill>
                  <a:srgbClr val="1A1A1A"/>
                </a:solidFill>
                <a:latin typeface="Trenda IG Text"/>
              </a:rPr>
              <a:t>Fail → its cause: journey 10, rule 8 or the data.</a:t>
            </a:r>
          </a:p>
        </p:txBody>
      </p:sp>
      <p:sp>
        <p:nvSpPr>
          <p:cNvPr id="82" name="Shape 75"/>
          <p:cNvSpPr/>
          <p:nvPr/>
        </p:nvSpPr>
        <p:spPr>
          <a:xfrm>
            <a:off x="9776459"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4D4D4D"/>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457200" y="3703320"/>
            <a:ext cx="8323326"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7510271"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0"/>
          <p:cNvCxnSpPr/>
          <p:nvPr/>
        </p:nvCxnSpPr>
        <p:spPr>
          <a:xfrm flipV="1">
            <a:off x="3819144"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Arrow 91"/>
          <p:cNvCxnSpPr/>
          <p:nvPr/>
        </p:nvCxnSpPr>
        <p:spPr>
          <a:xfrm flipV="1">
            <a:off x="457200" y="2194560"/>
            <a:ext cx="0" cy="150876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00" name="Arrow 92"/>
          <p:cNvCxnSpPr/>
          <p:nvPr/>
        </p:nvCxnSpPr>
        <p:spPr>
          <a:xfrm>
            <a:off x="457200" y="2194560"/>
            <a:ext cx="91440" cy="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Text 93"/>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6B6B6B"/>
                </a:solidFill>
                <a:latin typeface="Trenda IG Text"/>
              </a:rPr>
              <a:t>CONTEXT + OVERSIGHT</a:t>
            </a:r>
          </a:p>
          <a:p>
            <a:pPr>
              <a:spcAft>
                <a:spcPts val="100"/>
              </a:spcAft>
            </a:pPr>
            <a:r>
              <a:rPr sz="700" b="0" i="0">
                <a:solidFill>
                  <a:srgbClr val="6B6B6B"/>
                </a:solidFill>
                <a:latin typeface="Trenda IG Text"/>
              </a:rPr>
              <a:t>masked data only</a:t>
            </a:r>
          </a:p>
        </p:txBody>
      </p:sp>
      <p:sp>
        <p:nvSpPr>
          <p:cNvPr id="102" name="Shape 94"/>
          <p:cNvSpPr/>
          <p:nvPr/>
        </p:nvSpPr>
        <p:spPr>
          <a:xfrm>
            <a:off x="2394204"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3" name="Picture 102"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4" name="Text 95"/>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1A1A1A"/>
                </a:solidFill>
                <a:latin typeface="Trenda IG Text"/>
              </a:rPr>
              <a:t>Knowledge graph</a:t>
            </a:r>
          </a:p>
        </p:txBody>
      </p:sp>
      <p:sp>
        <p:nvSpPr>
          <p:cNvPr id="105" name="Text 96"/>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Metadata, rules, lineage; from 6.</a:t>
            </a:r>
          </a:p>
        </p:txBody>
      </p:sp>
      <p:sp>
        <p:nvSpPr>
          <p:cNvPr id="106" name="Shape 97"/>
          <p:cNvSpPr/>
          <p:nvPr/>
        </p:nvSpPr>
        <p:spPr>
          <a:xfrm>
            <a:off x="4239768"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tableau.png"/>
          <p:cNvPicPr>
            <a:picLocks noChangeAspect="1"/>
          </p:cNvPicPr>
          <p:nvPr/>
        </p:nvPicPr>
        <p:blipFill>
          <a:blip r:embed="rId8"/>
          <a:stretch>
            <a:fillRect/>
          </a:stretch>
        </p:blipFill>
        <p:spPr>
          <a:xfrm>
            <a:off x="4331208" y="3831336"/>
            <a:ext cx="182880" cy="182880"/>
          </a:xfrm>
          <a:prstGeom prst="rect">
            <a:avLst/>
          </a:prstGeom>
        </p:spPr>
      </p:pic>
      <p:sp>
        <p:nvSpPr>
          <p:cNvPr id="108" name="Text 98"/>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1A1A1A"/>
                </a:solidFill>
                <a:latin typeface="Trenda IG Text"/>
              </a:rPr>
              <a:t>Tableau</a:t>
            </a:r>
          </a:p>
        </p:txBody>
      </p:sp>
      <p:sp>
        <p:nvSpPr>
          <p:cNvPr id="109" name="Text 99"/>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Masked dashboards from 6.</a:t>
            </a:r>
          </a:p>
        </p:txBody>
      </p:sp>
      <p:sp>
        <p:nvSpPr>
          <p:cNvPr id="110" name="Shape 100"/>
          <p:cNvSpPr/>
          <p:nvPr/>
        </p:nvSpPr>
        <p:spPr>
          <a:xfrm>
            <a:off x="6085331"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12" name="Text 102"/>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Explains exclusions for 14.</a:t>
            </a:r>
          </a:p>
        </p:txBody>
      </p:sp>
      <p:sp>
        <p:nvSpPr>
          <p:cNvPr id="113" name="Shape 103"/>
          <p:cNvSpPr/>
          <p:nvPr/>
        </p:nvSpPr>
        <p:spPr>
          <a:xfrm>
            <a:off x="7930895"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15" name="Text 105"/>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Reads results from 20.</a:t>
            </a:r>
          </a:p>
        </p:txBody>
      </p:sp>
      <p:sp>
        <p:nvSpPr>
          <p:cNvPr id="116" name="Shape 106"/>
          <p:cNvSpPr/>
          <p:nvPr/>
        </p:nvSpPr>
        <p:spPr>
          <a:xfrm>
            <a:off x="9776459" y="3767328"/>
            <a:ext cx="1699259" cy="429768"/>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7" name="Picture 116" descr="people.png"/>
          <p:cNvPicPr>
            <a:picLocks noChangeAspect="1"/>
          </p:cNvPicPr>
          <p:nvPr/>
        </p:nvPicPr>
        <p:blipFill>
          <a:blip r:embed="rId6"/>
          <a:stretch>
            <a:fillRect/>
          </a:stretch>
        </p:blipFill>
        <p:spPr>
          <a:xfrm>
            <a:off x="9849611" y="3831336"/>
            <a:ext cx="164592" cy="164592"/>
          </a:xfrm>
          <a:prstGeom prst="rect">
            <a:avLst/>
          </a:prstGeom>
        </p:spPr>
      </p:pic>
      <p:sp>
        <p:nvSpPr>
          <p:cNvPr id="118" name="Text 107"/>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1A1A1A"/>
                </a:solidFill>
                <a:latin typeface="Trenda IG Text"/>
              </a:rPr>
              <a:t>People approve</a:t>
            </a:r>
          </a:p>
        </p:txBody>
      </p:sp>
      <p:sp>
        <p:nvSpPr>
          <p:cNvPr id="119" name="Shape 108"/>
          <p:cNvSpPr/>
          <p:nvPr/>
        </p:nvSpPr>
        <p:spPr>
          <a:xfrm>
            <a:off x="11091671" y="384048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09"/>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G1-3</a:t>
            </a:r>
          </a:p>
        </p:txBody>
      </p:sp>
      <p:sp>
        <p:nvSpPr>
          <p:cNvPr id="121" name="Text 110"/>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4D4D4D"/>
                </a:solidFill>
                <a:latin typeface="Trenda IG Text"/>
              </a:rPr>
              <a:t>Approvals go to the gateway (15).</a:t>
            </a:r>
          </a:p>
        </p:txBody>
      </p:sp>
      <p:cxnSp>
        <p:nvCxnSpPr>
          <p:cNvPr id="122" name="Arrow 111"/>
          <p:cNvCxnSpPr/>
          <p:nvPr/>
        </p:nvCxnSpPr>
        <p:spPr>
          <a:xfrm flipV="1">
            <a:off x="3243834" y="3657600"/>
            <a:ext cx="0" cy="109728"/>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flipV="1">
            <a:off x="5089398" y="3657600"/>
            <a:ext cx="0" cy="109728"/>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10441533" y="2359152"/>
            <a:ext cx="0" cy="9144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5" name="Arrow 114"/>
          <p:cNvCxnSpPr/>
          <p:nvPr/>
        </p:nvCxnSpPr>
        <p:spPr>
          <a:xfrm flipH="1">
            <a:off x="4166616" y="2450592"/>
            <a:ext cx="6274917" cy="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6" name="Arrow 115"/>
          <p:cNvCxnSpPr/>
          <p:nvPr/>
        </p:nvCxnSpPr>
        <p:spPr>
          <a:xfrm>
            <a:off x="4166616" y="2450592"/>
            <a:ext cx="0" cy="153162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7" name="Arrow 116"/>
          <p:cNvCxnSpPr/>
          <p:nvPr/>
        </p:nvCxnSpPr>
        <p:spPr>
          <a:xfrm flipH="1">
            <a:off x="4093464" y="3982212"/>
            <a:ext cx="73152" cy="0"/>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Arrow 117"/>
          <p:cNvCxnSpPr/>
          <p:nvPr/>
        </p:nvCxnSpPr>
        <p:spPr>
          <a:xfrm>
            <a:off x="411480" y="4334256"/>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129" name="Shape 118"/>
          <p:cNvSpPr/>
          <p:nvPr/>
        </p:nvSpPr>
        <p:spPr>
          <a:xfrm>
            <a:off x="4572000" y="4251960"/>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19"/>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RECOMMENDATION ≠ RELEASE</a:t>
            </a:r>
          </a:p>
        </p:txBody>
      </p:sp>
      <p:sp>
        <p:nvSpPr>
          <p:cNvPr id="131" name="Shape 120"/>
          <p:cNvSpPr/>
          <p:nvPr/>
        </p:nvSpPr>
        <p:spPr>
          <a:xfrm>
            <a:off x="411480" y="4526280"/>
            <a:ext cx="11201400" cy="1161288"/>
          </a:xfrm>
          <a:prstGeom prst="roundRect">
            <a:avLst>
              <a:gd name="adj" fmla="val 2000"/>
            </a:avLst>
          </a:prstGeom>
          <a:solidFill>
            <a:srgbClr val="FFFFFF"/>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1"/>
          <p:cNvSpPr/>
          <p:nvPr/>
        </p:nvSpPr>
        <p:spPr>
          <a:xfrm>
            <a:off x="411480" y="452628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3" name="Picture 132" descr="salesforce.png"/>
          <p:cNvPicPr>
            <a:picLocks noChangeAspect="1"/>
          </p:cNvPicPr>
          <p:nvPr/>
        </p:nvPicPr>
        <p:blipFill>
          <a:blip r:embed="rId9"/>
          <a:stretch>
            <a:fillRect/>
          </a:stretch>
        </p:blipFill>
        <p:spPr>
          <a:xfrm>
            <a:off x="484632" y="4553712"/>
            <a:ext cx="182880" cy="182880"/>
          </a:xfrm>
          <a:prstGeom prst="rect">
            <a:avLst/>
          </a:prstGeom>
        </p:spPr>
      </p:pic>
      <p:sp>
        <p:nvSpPr>
          <p:cNvPr id="134" name="Text 122"/>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3  RELEASE + SEND · ONLY AFTER G2 + G3</a:t>
            </a:r>
          </a:p>
        </p:txBody>
      </p:sp>
      <p:sp>
        <p:nvSpPr>
          <p:cNvPr id="135" name="Shape 123"/>
          <p:cNvSpPr/>
          <p:nvPr/>
        </p:nvSpPr>
        <p:spPr>
          <a:xfrm>
            <a:off x="548640" y="4818888"/>
            <a:ext cx="15544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Shape 124"/>
          <p:cNvSpPr/>
          <p:nvPr/>
        </p:nvSpPr>
        <p:spPr>
          <a:xfrm>
            <a:off x="6217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5"/>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38" name="Text 126"/>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1A1A1A"/>
                </a:solidFill>
                <a:latin typeface="Trenda IG Text"/>
              </a:rPr>
              <a:t>Eligibility service</a:t>
            </a:r>
          </a:p>
        </p:txBody>
      </p:sp>
      <p:sp>
        <p:nvSpPr>
          <p:cNvPr id="139" name="Text 127"/>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Gold B + approved rules: no consent, no phone or email, STOP, deceased, duplicates out, with reasons.</a:t>
            </a:r>
          </a:p>
        </p:txBody>
      </p:sp>
      <p:sp>
        <p:nvSpPr>
          <p:cNvPr id="140" name="Shape 128"/>
          <p:cNvSpPr/>
          <p:nvPr/>
        </p:nvSpPr>
        <p:spPr>
          <a:xfrm>
            <a:off x="2249424" y="4818888"/>
            <a:ext cx="1463040" cy="80467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Shape 129"/>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30"/>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pic>
        <p:nvPicPr>
          <p:cNvPr id="143" name="Picture 142" descr="people.png"/>
          <p:cNvPicPr>
            <a:picLocks noChangeAspect="1"/>
          </p:cNvPicPr>
          <p:nvPr/>
        </p:nvPicPr>
        <p:blipFill>
          <a:blip r:embed="rId6"/>
          <a:stretch>
            <a:fillRect/>
          </a:stretch>
        </p:blipFill>
        <p:spPr>
          <a:xfrm>
            <a:off x="2551176" y="4882896"/>
            <a:ext cx="164592" cy="164592"/>
          </a:xfrm>
          <a:prstGeom prst="rect">
            <a:avLst/>
          </a:prstGeom>
        </p:spPr>
      </p:pic>
      <p:sp>
        <p:nvSpPr>
          <p:cNvPr id="144" name="Text 131"/>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1A1A1A"/>
                </a:solidFill>
                <a:latin typeface="Trenda IG Text"/>
              </a:rPr>
              <a:t>Pre-send</a:t>
            </a:r>
          </a:p>
        </p:txBody>
      </p:sp>
      <p:sp>
        <p:nvSpPr>
          <p:cNvPr id="145" name="Shape 132"/>
          <p:cNvSpPr/>
          <p:nvPr/>
        </p:nvSpPr>
        <p:spPr>
          <a:xfrm>
            <a:off x="3328416" y="489204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3"/>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G2</a:t>
            </a:r>
          </a:p>
        </p:txBody>
      </p:sp>
      <p:sp>
        <p:nvSpPr>
          <p:cNvPr id="147" name="Text 134"/>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4D4D4D"/>
                </a:solidFill>
                <a:latin typeface="Trenda IG Text"/>
              </a:rPr>
              <a:t>SME + tech lead review a masked report: counts, consent, exclusions. No PHI on screen.</a:t>
            </a:r>
          </a:p>
        </p:txBody>
      </p:sp>
      <p:sp>
        <p:nvSpPr>
          <p:cNvPr id="148" name="Differentiator Border 136"/>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37"/>
          <p:cNvSpPr/>
          <p:nvPr/>
        </p:nvSpPr>
        <p:spPr>
          <a:xfrm>
            <a:off x="3877055" y="4837176"/>
            <a:ext cx="1792224" cy="768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Shape 138"/>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 139"/>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15</a:t>
            </a:r>
          </a:p>
        </p:txBody>
      </p:sp>
      <p:sp>
        <p:nvSpPr>
          <p:cNvPr id="152" name="Text 140"/>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1A1A1A"/>
                </a:solidFill>
                <a:latin typeface="Trenda IG Text"/>
              </a:rPr>
              <a:t>Policy engine + activation gateway</a:t>
            </a:r>
          </a:p>
        </p:txBody>
      </p:sp>
      <p:sp>
        <p:nvSpPr>
          <p:cNvPr id="153" name="Text 141"/>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4D4D4D"/>
                </a:solidFill>
                <a:latin typeface="Trenda IG Text"/>
              </a:rPr>
              <a:t>Purpose, consent, suppression, minimum fields, human authorization. Compliance Passport; time-limited.</a:t>
            </a:r>
          </a:p>
        </p:txBody>
      </p:sp>
      <p:sp>
        <p:nvSpPr>
          <p:cNvPr id="154" name="Shape 142"/>
          <p:cNvSpPr/>
          <p:nvPr/>
        </p:nvSpPr>
        <p:spPr>
          <a:xfrm>
            <a:off x="5833872" y="4818888"/>
            <a:ext cx="1325880" cy="374904"/>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Shape 143"/>
          <p:cNvSpPr/>
          <p:nvPr/>
        </p:nvSpPr>
        <p:spPr>
          <a:xfrm>
            <a:off x="5907024"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4"/>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16</a:t>
            </a:r>
          </a:p>
        </p:txBody>
      </p:sp>
      <p:pic>
        <p:nvPicPr>
          <p:cNvPr id="157" name="Picture 156"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8" name="Text 145"/>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A · via Data Cloud</a:t>
            </a:r>
          </a:p>
        </p:txBody>
      </p:sp>
      <p:sp>
        <p:nvSpPr>
          <p:cNvPr id="159" name="Shape 146"/>
          <p:cNvSpPr/>
          <p:nvPr/>
        </p:nvSpPr>
        <p:spPr>
          <a:xfrm>
            <a:off x="5833872" y="5248656"/>
            <a:ext cx="1325880" cy="374904"/>
          </a:xfrm>
          <a:prstGeom prst="roundRect">
            <a:avLst>
              <a:gd name="adj" fmla="val 7000"/>
            </a:avLst>
          </a:prstGeom>
          <a:solidFill>
            <a:srgbClr val="F5F5F5"/>
          </a:solidFill>
          <a:ln w="7620">
            <a:solidFill>
              <a:srgbClr val="00B8D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 147"/>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1A1A1A"/>
                </a:solidFill>
                <a:latin typeface="Trenda IG Text"/>
              </a:rPr>
              <a:t>B · direct pull</a:t>
            </a:r>
          </a:p>
        </p:txBody>
      </p:sp>
      <p:sp>
        <p:nvSpPr>
          <p:cNvPr id="161" name="Shape 148"/>
          <p:cNvSpPr/>
          <p:nvPr/>
        </p:nvSpPr>
        <p:spPr>
          <a:xfrm>
            <a:off x="7306056"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Shape 149"/>
          <p:cNvSpPr/>
          <p:nvPr/>
        </p:nvSpPr>
        <p:spPr>
          <a:xfrm>
            <a:off x="7379208"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 150"/>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17</a:t>
            </a:r>
          </a:p>
        </p:txBody>
      </p:sp>
      <p:pic>
        <p:nvPicPr>
          <p:cNvPr id="164" name="Picture 163"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5" name="Text 151"/>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Data extension</a:t>
            </a:r>
          </a:p>
        </p:txBody>
      </p:sp>
      <p:sp>
        <p:nvSpPr>
          <p:cNvPr id="166" name="Text 152"/>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records, this run only.</a:t>
            </a:r>
          </a:p>
        </p:txBody>
      </p:sp>
      <p:sp>
        <p:nvSpPr>
          <p:cNvPr id="167" name="Shape 153"/>
          <p:cNvSpPr/>
          <p:nvPr/>
        </p:nvSpPr>
        <p:spPr>
          <a:xfrm>
            <a:off x="8778240"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Shape 154"/>
          <p:cNvSpPr/>
          <p:nvPr/>
        </p:nvSpPr>
        <p:spPr>
          <a:xfrm>
            <a:off x="88513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 155"/>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18</a:t>
            </a:r>
          </a:p>
        </p:txBody>
      </p:sp>
      <p:sp>
        <p:nvSpPr>
          <p:cNvPr id="170" name="Text 156"/>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1A1A1A"/>
                </a:solidFill>
                <a:latin typeface="Trenda IG Text"/>
              </a:rPr>
              <a:t>Journey starts</a:t>
            </a:r>
          </a:p>
        </p:txBody>
      </p:sp>
      <p:sp>
        <p:nvSpPr>
          <p:cNvPr id="171" name="Text 157"/>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Built in 10, tested in 11, approved in 12.</a:t>
            </a:r>
          </a:p>
        </p:txBody>
      </p:sp>
      <p:sp>
        <p:nvSpPr>
          <p:cNvPr id="172" name="Shape 158"/>
          <p:cNvSpPr/>
          <p:nvPr/>
        </p:nvSpPr>
        <p:spPr>
          <a:xfrm>
            <a:off x="10250424" y="4818888"/>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19</a:t>
            </a:r>
          </a:p>
        </p:txBody>
      </p:sp>
      <p:sp>
        <p:nvSpPr>
          <p:cNvPr id="175" name="Text 161"/>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1A1A1A"/>
                </a:solidFill>
                <a:latin typeface="Trenda IG Text"/>
              </a:rPr>
              <a:t>Send-time check</a:t>
            </a:r>
          </a:p>
        </p:txBody>
      </p:sp>
      <p:sp>
        <p:nvSpPr>
          <p:cNvPr id="176" name="Shape 162"/>
          <p:cNvSpPr/>
          <p:nvPr/>
        </p:nvSpPr>
        <p:spPr>
          <a:xfrm>
            <a:off x="10250424" y="5248656"/>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Shape 163"/>
          <p:cNvSpPr/>
          <p:nvPr/>
        </p:nvSpPr>
        <p:spPr>
          <a:xfrm>
            <a:off x="10323576" y="5312664"/>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 164"/>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20</a:t>
            </a:r>
          </a:p>
        </p:txBody>
      </p:sp>
      <p:sp>
        <p:nvSpPr>
          <p:cNvPr id="179" name="Text 165"/>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1A1A1A"/>
                </a:solidFill>
                <a:latin typeface="Trenda IG Text"/>
              </a:rPr>
              <a:t>Measurement</a:t>
            </a:r>
          </a:p>
        </p:txBody>
      </p:sp>
      <p:cxnSp>
        <p:nvCxnSpPr>
          <p:cNvPr id="180" name="Arrow 166"/>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1475719" y="1687068"/>
            <a:ext cx="246889"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a:off x="11722608" y="1687068"/>
            <a:ext cx="0" cy="2756916"/>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H="1">
            <a:off x="1005840" y="4443984"/>
            <a:ext cx="10716768"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1005840" y="4443984"/>
            <a:ext cx="0" cy="374904"/>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3" name="Arrow 179"/>
          <p:cNvCxnSpPr/>
          <p:nvPr/>
        </p:nvCxnSpPr>
        <p:spPr>
          <a:xfrm>
            <a:off x="10863072" y="5623560"/>
            <a:ext cx="0" cy="10972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4" name="Arrow 180"/>
          <p:cNvCxnSpPr/>
          <p:nvPr/>
        </p:nvCxnSpPr>
        <p:spPr>
          <a:xfrm flipH="1">
            <a:off x="301752" y="5733288"/>
            <a:ext cx="1056132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5" name="Arrow 181"/>
          <p:cNvCxnSpPr/>
          <p:nvPr/>
        </p:nvCxnSpPr>
        <p:spPr>
          <a:xfrm flipV="1">
            <a:off x="301752" y="1920240"/>
            <a:ext cx="0" cy="381304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6" name="Arrow 182"/>
          <p:cNvCxnSpPr/>
          <p:nvPr/>
        </p:nvCxnSpPr>
        <p:spPr>
          <a:xfrm>
            <a:off x="301752" y="1920240"/>
            <a:ext cx="246888" cy="0"/>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7" name="Shape 183"/>
          <p:cNvSpPr/>
          <p:nvPr/>
        </p:nvSpPr>
        <p:spPr>
          <a:xfrm>
            <a:off x="7863840" y="5669279"/>
            <a:ext cx="2194560" cy="128016"/>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1A1A1A"/>
                </a:solidFill>
                <a:latin typeface="Trenda IG Text"/>
              </a:rPr>
              <a:t>ENGAGEMENT BACK → NEXT RUN</a:t>
            </a:r>
          </a:p>
        </p:txBody>
      </p:sp>
      <p:sp>
        <p:nvSpPr>
          <p:cNvPr id="199" name="Text 185"/>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no wrong or no-consent patient</a:t>
            </a:r>
          </a:p>
        </p:txBody>
      </p:sp>
      <p:sp>
        <p:nvSpPr>
          <p:cNvPr id="200" name="Shape 186"/>
          <p:cNvSpPr/>
          <p:nvPr/>
        </p:nvSpPr>
        <p:spPr>
          <a:xfrm>
            <a:off x="1600200"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Shape 187"/>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 188"/>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Build and test before any data lands</a:t>
            </a:r>
          </a:p>
        </p:txBody>
      </p:sp>
      <p:sp>
        <p:nvSpPr>
          <p:cNvPr id="203" name="Shape 189"/>
          <p:cNvSpPr/>
          <p:nvPr/>
        </p:nvSpPr>
        <p:spPr>
          <a:xfrm>
            <a:off x="3041033"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Shape 190"/>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 191"/>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G2: masked pre-send report</a:t>
            </a:r>
          </a:p>
        </p:txBody>
      </p:sp>
      <p:sp>
        <p:nvSpPr>
          <p:cNvPr id="206" name="Shape 192"/>
          <p:cNvSpPr/>
          <p:nvPr/>
        </p:nvSpPr>
        <p:spPr>
          <a:xfrm>
            <a:off x="4481866"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Shape 193"/>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 194"/>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Minimum fields, only after G2 + G3</a:t>
            </a:r>
          </a:p>
        </p:txBody>
      </p:sp>
      <p:sp>
        <p:nvSpPr>
          <p:cNvPr id="209" name="Shape 195"/>
          <p:cNvSpPr/>
          <p:nvPr/>
        </p:nvSpPr>
        <p:spPr>
          <a:xfrm>
            <a:off x="5922699"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Shape 196"/>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Text 197"/>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Gateway release; agents hold no raw PHI</a:t>
            </a:r>
          </a:p>
        </p:txBody>
      </p:sp>
      <p:sp>
        <p:nvSpPr>
          <p:cNvPr id="212" name="Shape 198"/>
          <p:cNvSpPr/>
          <p:nvPr/>
        </p:nvSpPr>
        <p:spPr>
          <a:xfrm>
            <a:off x="7363532"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Shape 199"/>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 200"/>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Collibra steward approves masking</a:t>
            </a:r>
          </a:p>
        </p:txBody>
      </p:sp>
      <p:sp>
        <p:nvSpPr>
          <p:cNvPr id="215" name="Shape 201"/>
          <p:cNvSpPr/>
          <p:nvPr/>
        </p:nvSpPr>
        <p:spPr>
          <a:xfrm>
            <a:off x="8804365"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Shape 202"/>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Text 203"/>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Retry cap: 5, then an owner</a:t>
            </a:r>
          </a:p>
        </p:txBody>
      </p:sp>
      <p:sp>
        <p:nvSpPr>
          <p:cNvPr id="218" name="Shape 204"/>
          <p:cNvSpPr/>
          <p:nvPr/>
        </p:nvSpPr>
        <p:spPr>
          <a:xfrm>
            <a:off x="10245198"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Shape 205"/>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 206"/>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Send-time re-checks + feedback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0  </a:t>
            </a:r>
            <a:r>
              <a:rPr sz="700" b="1" i="0">
                <a:solidFill>
                  <a:srgbClr val="1A1A1A"/>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before 1</a:t>
            </a:r>
          </a:p>
        </p:txBody>
      </p:sp>
      <p:sp>
        <p:nvSpPr>
          <p:cNvPr id="11" name="Shape 10"/>
          <p:cNvSpPr/>
          <p:nvPr/>
        </p:nvSpPr>
        <p:spPr>
          <a:xfrm>
            <a:off x="50292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1A1A1A"/>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1A1A1A"/>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1A1A1A"/>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1A1A1A"/>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1  </a:t>
            </a:r>
            <a:r>
              <a:rPr sz="700" b="1" i="0">
                <a:solidFill>
                  <a:srgbClr val="1A1A1A"/>
                </a:solidFill>
                <a:latin typeface="Trenda IG Text"/>
              </a:rPr>
              <a:t>PHI governance</a:t>
            </a:r>
          </a:p>
        </p:txBody>
      </p:sp>
      <p:sp>
        <p:nvSpPr>
          <p:cNvPr id="23" name="Shape 22"/>
          <p:cNvSpPr/>
          <p:nvPr/>
        </p:nvSpPr>
        <p:spPr>
          <a:xfrm>
            <a:off x="204564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2</a:t>
            </a:r>
          </a:p>
        </p:txBody>
      </p:sp>
      <p:sp>
        <p:nvSpPr>
          <p:cNvPr id="27" name="Shape 26"/>
          <p:cNvSpPr/>
          <p:nvPr/>
        </p:nvSpPr>
        <p:spPr>
          <a:xfrm>
            <a:off x="213708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1A1A1A"/>
                </a:solidFill>
                <a:latin typeface="Trenda IG Text"/>
              </a:rPr>
              <a:t>Collibra steward approves each dataset before ingest</a:t>
            </a:r>
          </a:p>
        </p:txBody>
      </p:sp>
      <p:sp>
        <p:nvSpPr>
          <p:cNvPr id="29" name="Shape 28"/>
          <p:cNvSpPr/>
          <p:nvPr/>
        </p:nvSpPr>
        <p:spPr>
          <a:xfrm>
            <a:off x="2137083"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1A1A1A"/>
                </a:solidFill>
                <a:latin typeface="Trenda IG Text"/>
              </a:rPr>
              <a:t>DLP classification, policy tags, masking, row access</a:t>
            </a:r>
          </a:p>
        </p:txBody>
      </p:sp>
      <p:sp>
        <p:nvSpPr>
          <p:cNvPr id="31" name="Shape 30"/>
          <p:cNvSpPr/>
          <p:nvPr/>
        </p:nvSpPr>
        <p:spPr>
          <a:xfrm>
            <a:off x="2137083"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1A1A1A"/>
                </a:solidFill>
                <a:latin typeface="Trenda IG Text"/>
              </a:rPr>
              <a:t>Separate service identities; fail-closed policy removal</a:t>
            </a:r>
          </a:p>
        </p:txBody>
      </p:sp>
      <p:sp>
        <p:nvSpPr>
          <p:cNvPr id="33" name="Shape 32"/>
          <p:cNvSpPr/>
          <p:nvPr/>
        </p:nvSpPr>
        <p:spPr>
          <a:xfrm>
            <a:off x="2137083"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1A1A1A"/>
                </a:solidFill>
                <a:latin typeface="Trenda IG Text"/>
              </a:rPr>
              <a:t>Negative-access tests</a:t>
            </a:r>
          </a:p>
        </p:txBody>
      </p:sp>
      <p:sp>
        <p:nvSpPr>
          <p:cNvPr id="35" name="Shape 34"/>
          <p:cNvSpPr/>
          <p:nvPr/>
        </p:nvSpPr>
        <p:spPr>
          <a:xfrm>
            <a:off x="211879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Approved and tagged before ingest; zero unauthorized PHI access in tests</a:t>
            </a:r>
          </a:p>
        </p:txBody>
      </p:sp>
      <p:sp>
        <p:nvSpPr>
          <p:cNvPr id="37" name="Shape 36"/>
          <p:cNvSpPr/>
          <p:nvPr/>
        </p:nvSpPr>
        <p:spPr>
          <a:xfrm>
            <a:off x="3679806"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2  </a:t>
            </a:r>
            <a:r>
              <a:rPr sz="700" b="1" i="0">
                <a:solidFill>
                  <a:srgbClr val="1A1A1A"/>
                </a:solidFill>
                <a:latin typeface="Trenda IG Text"/>
              </a:rPr>
              <a:t>Data foundation</a:t>
            </a:r>
          </a:p>
        </p:txBody>
      </p:sp>
      <p:sp>
        <p:nvSpPr>
          <p:cNvPr id="39" name="Shape 38"/>
          <p:cNvSpPr/>
          <p:nvPr/>
        </p:nvSpPr>
        <p:spPr>
          <a:xfrm>
            <a:off x="3679806"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 · 3 · 4 · 5 · 6</a:t>
            </a:r>
          </a:p>
        </p:txBody>
      </p:sp>
      <p:sp>
        <p:nvSpPr>
          <p:cNvPr id="43" name="Shape 42"/>
          <p:cNvSpPr/>
          <p:nvPr/>
        </p:nvSpPr>
        <p:spPr>
          <a:xfrm>
            <a:off x="3771246"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420623"/>
          </a:xfrm>
          <a:prstGeom prst="rect">
            <a:avLst/>
          </a:prstGeom>
          <a:noFill/>
        </p:spPr>
        <p:txBody>
          <a:bodyPr wrap="square" lIns="0" rIns="0" tIns="0" bIns="0" anchor="t">
            <a:spAutoFit/>
          </a:bodyPr>
          <a:lstStyle/>
          <a:p>
            <a:r>
              <a:rPr sz="700" b="0" i="0">
                <a:solidFill>
                  <a:srgbClr val="1A1A1A"/>
                </a:solidFill>
                <a:latin typeface="Trenda IG Text"/>
              </a:rPr>
              <a:t>Approved, tagged sources into Bronze</a:t>
            </a:r>
          </a:p>
        </p:txBody>
      </p:sp>
      <p:sp>
        <p:nvSpPr>
          <p:cNvPr id="45" name="Shape 44"/>
          <p:cNvSpPr/>
          <p:nvPr/>
        </p:nvSpPr>
        <p:spPr>
          <a:xfrm>
            <a:off x="3771246"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596896"/>
            <a:ext cx="1304979" cy="420623"/>
          </a:xfrm>
          <a:prstGeom prst="rect">
            <a:avLst/>
          </a:prstGeom>
          <a:noFill/>
        </p:spPr>
        <p:txBody>
          <a:bodyPr wrap="square" lIns="0" rIns="0" tIns="0" bIns="0" anchor="t">
            <a:spAutoFit/>
          </a:bodyPr>
          <a:lstStyle/>
          <a:p>
            <a:r>
              <a:rPr sz="700" b="0" i="0">
                <a:solidFill>
                  <a:srgbClr val="1A1A1A"/>
                </a:solidFill>
                <a:latin typeface="Trenda IG Text"/>
              </a:rPr>
              <a:t>Silver: identities, encounters, contacts, consent; keeps everyone</a:t>
            </a:r>
          </a:p>
        </p:txBody>
      </p:sp>
      <p:sp>
        <p:nvSpPr>
          <p:cNvPr id="47" name="Shape 46"/>
          <p:cNvSpPr/>
          <p:nvPr/>
        </p:nvSpPr>
        <p:spPr>
          <a:xfrm>
            <a:off x="3771246"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035808"/>
            <a:ext cx="1304979" cy="420623"/>
          </a:xfrm>
          <a:prstGeom prst="rect">
            <a:avLst/>
          </a:prstGeom>
          <a:noFill/>
        </p:spPr>
        <p:txBody>
          <a:bodyPr wrap="square" lIns="0" rIns="0" tIns="0" bIns="0" anchor="t">
            <a:spAutoFit/>
          </a:bodyPr>
          <a:lstStyle/>
          <a:p>
            <a:r>
              <a:rPr sz="700" b="0" i="0">
                <a:solidFill>
                  <a:srgbClr val="1A1A1A"/>
                </a:solidFill>
                <a:latin typeface="Trenda IG Text"/>
              </a:rPr>
              <a:t>Gold B (restricted) and Gold A (aggregates)</a:t>
            </a:r>
          </a:p>
        </p:txBody>
      </p:sp>
      <p:sp>
        <p:nvSpPr>
          <p:cNvPr id="49" name="Shape 48"/>
          <p:cNvSpPr/>
          <p:nvPr/>
        </p:nvSpPr>
        <p:spPr>
          <a:xfrm>
            <a:off x="3771246"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80974" y="3474720"/>
            <a:ext cx="1304979" cy="420623"/>
          </a:xfrm>
          <a:prstGeom prst="rect">
            <a:avLst/>
          </a:prstGeom>
          <a:noFill/>
        </p:spPr>
        <p:txBody>
          <a:bodyPr wrap="square" lIns="0" rIns="0" tIns="0" bIns="0" anchor="t">
            <a:spAutoFit/>
          </a:bodyPr>
          <a:lstStyle/>
          <a:p>
            <a:r>
              <a:rPr sz="700" b="0" i="0">
                <a:solidFill>
                  <a:srgbClr val="1A1A1A"/>
                </a:solidFill>
                <a:latin typeface="Trenda IG Text"/>
              </a:rPr>
              <a:t>Synthetic data first</a:t>
            </a:r>
          </a:p>
        </p:txBody>
      </p:sp>
      <p:sp>
        <p:nvSpPr>
          <p:cNvPr id="51" name="Shape 50"/>
          <p:cNvSpPr/>
          <p:nvPr/>
        </p:nvSpPr>
        <p:spPr>
          <a:xfrm>
            <a:off x="3752958"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Data contracts, refresh times, quality checks pass</a:t>
            </a:r>
          </a:p>
        </p:txBody>
      </p:sp>
      <p:sp>
        <p:nvSpPr>
          <p:cNvPr id="53" name="Shape 52"/>
          <p:cNvSpPr/>
          <p:nvPr/>
        </p:nvSpPr>
        <p:spPr>
          <a:xfrm>
            <a:off x="531397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3  </a:t>
            </a:r>
            <a:r>
              <a:rPr sz="700" b="1" i="0">
                <a:solidFill>
                  <a:srgbClr val="1A1A1A"/>
                </a:solidFill>
                <a:latin typeface="Trenda IG Text"/>
              </a:rPr>
              <a:t>Agentic intelligence</a:t>
            </a:r>
          </a:p>
        </p:txBody>
      </p:sp>
      <p:sp>
        <p:nvSpPr>
          <p:cNvPr id="55" name="Shape 54"/>
          <p:cNvSpPr/>
          <p:nvPr/>
        </p:nvSpPr>
        <p:spPr>
          <a:xfrm>
            <a:off x="531397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57" name="Shape 56"/>
          <p:cNvSpPr/>
          <p:nvPr/>
        </p:nvSpPr>
        <p:spPr>
          <a:xfrm>
            <a:off x="540541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6 → 7 · 8 · 9</a:t>
            </a:r>
          </a:p>
        </p:txBody>
      </p:sp>
      <p:sp>
        <p:nvSpPr>
          <p:cNvPr id="59" name="Shape 58"/>
          <p:cNvSpPr/>
          <p:nvPr/>
        </p:nvSpPr>
        <p:spPr>
          <a:xfrm>
            <a:off x="540541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Knowledge graph and Tableau on Gold A only</a:t>
            </a:r>
          </a:p>
        </p:txBody>
      </p:sp>
      <p:sp>
        <p:nvSpPr>
          <p:cNvPr id="61" name="Shape 60"/>
          <p:cNvSpPr/>
          <p:nvPr/>
        </p:nvSpPr>
        <p:spPr>
          <a:xfrm>
            <a:off x="540541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Codex prompt; Orchestrator, Strategist, Analytics</a:t>
            </a:r>
          </a:p>
        </p:txBody>
      </p:sp>
      <p:sp>
        <p:nvSpPr>
          <p:cNvPr id="63" name="Shape 62"/>
          <p:cNvSpPr/>
          <p:nvPr/>
        </p:nvSpPr>
        <p:spPr>
          <a:xfrm>
            <a:off x="540541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Opportunity Brief and G1</a:t>
            </a:r>
          </a:p>
        </p:txBody>
      </p:sp>
      <p:sp>
        <p:nvSpPr>
          <p:cNvPr id="65" name="Shape 64"/>
          <p:cNvSpPr/>
          <p:nvPr/>
        </p:nvSpPr>
        <p:spPr>
          <a:xfrm>
            <a:off x="538712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CHF brief from counts only, approved</a:t>
            </a:r>
          </a:p>
        </p:txBody>
      </p:sp>
      <p:sp>
        <p:nvSpPr>
          <p:cNvPr id="67" name="Shape 66"/>
          <p:cNvSpPr/>
          <p:nvPr/>
        </p:nvSpPr>
        <p:spPr>
          <a:xfrm>
            <a:off x="694813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4  </a:t>
            </a:r>
            <a:r>
              <a:rPr sz="700" b="1" i="0">
                <a:solidFill>
                  <a:srgbClr val="1A1A1A"/>
                </a:solidFill>
                <a:latin typeface="Trenda IG Text"/>
              </a:rPr>
              <a:t>Build + test</a:t>
            </a:r>
          </a:p>
        </p:txBody>
      </p:sp>
      <p:sp>
        <p:nvSpPr>
          <p:cNvPr id="69" name="Shape 68"/>
          <p:cNvSpPr/>
          <p:nvPr/>
        </p:nvSpPr>
        <p:spPr>
          <a:xfrm>
            <a:off x="694813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71" name="Shape 70"/>
          <p:cNvSpPr/>
          <p:nvPr/>
        </p:nvSpPr>
        <p:spPr>
          <a:xfrm>
            <a:off x="703957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10 · 11 · 12</a:t>
            </a:r>
          </a:p>
        </p:txBody>
      </p:sp>
      <p:sp>
        <p:nvSpPr>
          <p:cNvPr id="73" name="Shape 72"/>
          <p:cNvSpPr/>
          <p:nvPr/>
        </p:nvSpPr>
        <p:spPr>
          <a:xfrm>
            <a:off x="703957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1A1A1A"/>
                </a:solidFill>
                <a:latin typeface="Trenda IG Text"/>
              </a:rPr>
              <a:t>Campaign Design Agent: journey + data extension, paused</a:t>
            </a:r>
          </a:p>
        </p:txBody>
      </p:sp>
      <p:sp>
        <p:nvSpPr>
          <p:cNvPr id="75" name="Shape 74"/>
          <p:cNvSpPr/>
          <p:nvPr/>
        </p:nvSpPr>
        <p:spPr>
          <a:xfrm>
            <a:off x="7039573"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1A1A1A"/>
                </a:solidFill>
                <a:latin typeface="Trenda IG Text"/>
              </a:rPr>
              <a:t>Testing loop: test contacts, failure modes, 5-retry cap</a:t>
            </a:r>
          </a:p>
        </p:txBody>
      </p:sp>
      <p:sp>
        <p:nvSpPr>
          <p:cNvPr id="77" name="Shape 76"/>
          <p:cNvSpPr/>
          <p:nvPr/>
        </p:nvSpPr>
        <p:spPr>
          <a:xfrm>
            <a:off x="7039573"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1A1A1A"/>
                </a:solidFill>
                <a:latin typeface="Trenda IG Text"/>
              </a:rPr>
              <a:t>G3 approval flow</a:t>
            </a:r>
          </a:p>
        </p:txBody>
      </p:sp>
      <p:sp>
        <p:nvSpPr>
          <p:cNvPr id="79" name="Shape 78"/>
          <p:cNvSpPr/>
          <p:nvPr/>
        </p:nvSpPr>
        <p:spPr>
          <a:xfrm>
            <a:off x="702128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CHF journey built, tested, approved; no real patient</a:t>
            </a:r>
          </a:p>
        </p:txBody>
      </p:sp>
      <p:sp>
        <p:nvSpPr>
          <p:cNvPr id="81" name="Shape 80"/>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5  </a:t>
            </a:r>
            <a:r>
              <a:rPr sz="700" b="1" i="0">
                <a:solidFill>
                  <a:srgbClr val="1A1A1A"/>
                </a:solidFill>
                <a:latin typeface="Trenda IG Text"/>
              </a:rPr>
              <a:t>Governed activation</a:t>
            </a:r>
          </a:p>
        </p:txBody>
      </p:sp>
      <p:sp>
        <p:nvSpPr>
          <p:cNvPr id="83" name="Shape 82"/>
          <p:cNvSpPr/>
          <p:nvPr/>
        </p:nvSpPr>
        <p:spPr>
          <a:xfrm>
            <a:off x="8582297" y="1591056"/>
            <a:ext cx="1561011" cy="3072384"/>
          </a:xfrm>
          <a:prstGeom prst="roundRect">
            <a:avLst>
              <a:gd name="adj" fmla="val 4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85" name="Shape 84"/>
          <p:cNvSpPr/>
          <p:nvPr/>
        </p:nvSpPr>
        <p:spPr>
          <a:xfrm>
            <a:off x="8673737" y="1828800"/>
            <a:ext cx="1378131" cy="237744"/>
          </a:xfrm>
          <a:prstGeom prst="roundRect">
            <a:avLst>
              <a:gd name="adj" fmla="val 30000"/>
            </a:avLst>
          </a:prstGeom>
          <a:solidFill>
            <a:srgbClr val="F5F5F5"/>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13 → 19</a:t>
            </a:r>
          </a:p>
        </p:txBody>
      </p:sp>
      <p:sp>
        <p:nvSpPr>
          <p:cNvPr id="87" name="Shape 86"/>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1A1A1A"/>
                </a:solidFill>
                <a:latin typeface="Trenda IG Text"/>
              </a:rPr>
              <a:t>Eligibility service on Gold B</a:t>
            </a:r>
          </a:p>
        </p:txBody>
      </p:sp>
      <p:sp>
        <p:nvSpPr>
          <p:cNvPr id="89" name="Shape 88"/>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1A1A1A"/>
                </a:solidFill>
                <a:latin typeface="Trenda IG Text"/>
              </a:rPr>
              <a:t>G2 masked pre-send report</a:t>
            </a:r>
          </a:p>
        </p:txBody>
      </p:sp>
      <p:sp>
        <p:nvSpPr>
          <p:cNvPr id="91" name="Shape 90"/>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1A1A1A"/>
                </a:solidFill>
                <a:latin typeface="Trenda IG Text"/>
              </a:rPr>
              <a:t>Gateway + Compliance Passport</a:t>
            </a:r>
          </a:p>
        </p:txBody>
      </p:sp>
      <p:sp>
        <p:nvSpPr>
          <p:cNvPr id="93" name="Shape 92"/>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1A1A1A"/>
                </a:solidFill>
                <a:latin typeface="Trenda IG Text"/>
              </a:rPr>
              <a:t>Path A (Data Cloud) first; Path B after parity</a:t>
            </a:r>
          </a:p>
        </p:txBody>
      </p:sp>
      <p:sp>
        <p:nvSpPr>
          <p:cNvPr id="95" name="Shape 94"/>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1A1A1A"/>
                </a:solidFill>
                <a:latin typeface="Trenda IG Text"/>
              </a:rPr>
              <a:t>Pilot: synthetic, then a small real audience</a:t>
            </a:r>
          </a:p>
        </p:txBody>
      </p:sp>
      <p:sp>
        <p:nvSpPr>
          <p:cNvPr id="97" name="Shape 96"/>
          <p:cNvSpPr/>
          <p:nvPr/>
        </p:nvSpPr>
        <p:spPr>
          <a:xfrm>
            <a:off x="8655449"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8A6D00"/>
                </a:solidFill>
                <a:latin typeface="Trenda IG Text"/>
              </a:rPr>
              <a:t>EXIT  </a:t>
            </a:r>
          </a:p>
          <a:p>
            <a:pPr>
              <a:spcAft>
                <a:spcPts val="100"/>
              </a:spcAft>
            </a:pPr>
            <a:r>
              <a:rPr sz="700" b="1" i="0">
                <a:solidFill>
                  <a:srgbClr val="1A1A1A"/>
                </a:solidFill>
                <a:latin typeface="Trenda IG Text"/>
              </a:rPr>
              <a:t>Real CHF audience, equal or stronger controls; release reconciles</a:t>
            </a:r>
          </a:p>
        </p:txBody>
      </p:sp>
      <p:sp>
        <p:nvSpPr>
          <p:cNvPr id="99" name="Shape 98"/>
          <p:cNvSpPr/>
          <p:nvPr/>
        </p:nvSpPr>
        <p:spPr>
          <a:xfrm>
            <a:off x="1021646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6  </a:t>
            </a:r>
            <a:r>
              <a:rPr sz="700" b="1" i="0">
                <a:solidFill>
                  <a:srgbClr val="1A1A1A"/>
                </a:solidFill>
                <a:latin typeface="Trenda IG Text"/>
              </a:rPr>
              <a:t>Measure + scale</a:t>
            </a:r>
          </a:p>
        </p:txBody>
      </p:sp>
      <p:sp>
        <p:nvSpPr>
          <p:cNvPr id="101" name="Shape 100"/>
          <p:cNvSpPr/>
          <p:nvPr/>
        </p:nvSpPr>
        <p:spPr>
          <a:xfrm>
            <a:off x="1021646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103" name="Shape 102"/>
          <p:cNvSpPr/>
          <p:nvPr/>
        </p:nvSpPr>
        <p:spPr>
          <a:xfrm>
            <a:off x="1030790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20 + feedback</a:t>
            </a:r>
          </a:p>
        </p:txBody>
      </p:sp>
      <p:sp>
        <p:nvSpPr>
          <p:cNvPr id="105" name="Shape 104"/>
          <p:cNvSpPr/>
          <p:nvPr/>
        </p:nvSpPr>
        <p:spPr>
          <a:xfrm>
            <a:off x="1030790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Measurement vs holdout; refresh Gold A</a:t>
            </a:r>
          </a:p>
        </p:txBody>
      </p:sp>
      <p:sp>
        <p:nvSpPr>
          <p:cNvPr id="107" name="Shape 106"/>
          <p:cNvSpPr/>
          <p:nvPr/>
        </p:nvSpPr>
        <p:spPr>
          <a:xfrm>
            <a:off x="1030790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Compare with the Phase 0 baseline: first real speed and ROI</a:t>
            </a:r>
          </a:p>
        </p:txBody>
      </p:sp>
      <p:sp>
        <p:nvSpPr>
          <p:cNvPr id="109" name="Shape 108"/>
          <p:cNvSpPr/>
          <p:nvPr/>
        </p:nvSpPr>
        <p:spPr>
          <a:xfrm>
            <a:off x="1030790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More templates, Path B, monitoring, multi-tenancy</a:t>
            </a:r>
          </a:p>
        </p:txBody>
      </p:sp>
      <p:sp>
        <p:nvSpPr>
          <p:cNvPr id="111" name="Shape 110"/>
          <p:cNvSpPr/>
          <p:nvPr/>
        </p:nvSpPr>
        <p:spPr>
          <a:xfrm>
            <a:off x="1028961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multi-campaign accelerator</a:t>
            </a:r>
          </a:p>
        </p:txBody>
      </p:sp>
      <p:sp>
        <p:nvSpPr>
          <p:cNvPr id="113" name="Shape 112"/>
          <p:cNvSpPr/>
          <p:nvPr/>
        </p:nvSpPr>
        <p:spPr>
          <a:xfrm>
            <a:off x="2137083" y="4754880"/>
            <a:ext cx="3012294"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1A1A1A"/>
                </a:solidFill>
                <a:latin typeface="Trenda IG Text"/>
              </a:rPr>
              <a:t>PHASES 1 + 2 RUN PARTLY IN PARALLEL</a:t>
            </a:r>
          </a:p>
        </p:txBody>
      </p:sp>
      <p:sp>
        <p:nvSpPr>
          <p:cNvPr id="115" name="Shape 114"/>
          <p:cNvSpPr/>
          <p:nvPr/>
        </p:nvSpPr>
        <p:spPr>
          <a:xfrm>
            <a:off x="3103734" y="1097280"/>
            <a:ext cx="914400" cy="146304"/>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3103734" y="1097280"/>
            <a:ext cx="914400" cy="146304"/>
          </a:xfrm>
          <a:prstGeom prst="rect">
            <a:avLst/>
          </a:prstGeom>
          <a:noFill/>
        </p:spPr>
        <p:txBody>
          <a:bodyPr wrap="square" lIns="0" rIns="0" tIns="0" bIns="0" anchor="ctr">
            <a:spAutoFit/>
          </a:bodyPr>
          <a:lstStyle/>
          <a:p>
            <a:pPr algn="ctr"/>
            <a:r>
              <a:rPr sz="700" b="1" i="0" spc="80">
                <a:solidFill>
                  <a:srgbClr val="1A1A1A"/>
                </a:solidFill>
                <a:latin typeface="Trenda IG Text"/>
              </a:rPr>
              <a:t>HARD GATE</a:t>
            </a:r>
          </a:p>
        </p:txBody>
      </p:sp>
      <p:sp>
        <p:nvSpPr>
          <p:cNvPr id="117" name="Shape 116"/>
          <p:cNvSpPr/>
          <p:nvPr/>
        </p:nvSpPr>
        <p:spPr>
          <a:xfrm>
            <a:off x="5405410" y="4754880"/>
            <a:ext cx="1378131"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1A1A1A"/>
                </a:solidFill>
                <a:latin typeface="Trenda IG Text"/>
              </a:rPr>
              <a:t>SYNTHETIC GOLD A FIRST</a:t>
            </a:r>
          </a:p>
        </p:txBody>
      </p:sp>
      <p:sp>
        <p:nvSpPr>
          <p:cNvPr id="119" name="Shape 118"/>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1A1A1A"/>
                </a:solidFill>
                <a:latin typeface="Trenda IG Text"/>
              </a:rPr>
              <a:t>FIRST REAL PATIENTS</a:t>
            </a:r>
          </a:p>
        </p:txBody>
      </p:sp>
      <p:sp>
        <p:nvSpPr>
          <p:cNvPr id="121" name="Text 120"/>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1A1A1A"/>
                </a:solidFill>
                <a:latin typeface="Trenda IG Text"/>
              </a:rPr>
              <a:t>THREE RULES SET THIS ORDER</a:t>
            </a:r>
          </a:p>
        </p:txBody>
      </p:sp>
      <p:sp>
        <p:nvSpPr>
          <p:cNvPr id="122" name="Shape 121"/>
          <p:cNvSpPr/>
          <p:nvPr/>
        </p:nvSpPr>
        <p:spPr>
          <a:xfrm>
            <a:off x="41148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Governance before agents</a:t>
            </a:r>
          </a:p>
          <a:p>
            <a:pPr>
              <a:spcAft>
                <a:spcPts val="100"/>
              </a:spcAft>
            </a:pPr>
            <a:r>
              <a:rPr sz="700" b="0" i="0">
                <a:solidFill>
                  <a:srgbClr val="4D4D4D"/>
                </a:solidFill>
                <a:latin typeface="Trenda IG Text"/>
              </a:rPr>
              <a:t>No data lands and no agent connects until governance passes its tests (Phase 1 exit).</a:t>
            </a:r>
          </a:p>
        </p:txBody>
      </p:sp>
      <p:sp>
        <p:nvSpPr>
          <p:cNvPr id="125" name="Shape 124"/>
          <p:cNvSpPr/>
          <p:nvPr/>
        </p:nvSpPr>
        <p:spPr>
          <a:xfrm>
            <a:off x="423672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5"/>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Build and test before release</a:t>
            </a:r>
          </a:p>
          <a:p>
            <a:pPr>
              <a:spcAft>
                <a:spcPts val="100"/>
              </a:spcAft>
            </a:pPr>
            <a:r>
              <a:rPr sz="700" b="0" i="0">
                <a:solidFill>
                  <a:srgbClr val="4D4D4D"/>
                </a:solidFill>
                <a:latin typeface="Trenda IG Text"/>
              </a:rPr>
              <a:t>The data extension starts the journey by itself, so the journey is ready first (Phase 4 before 5).</a:t>
            </a:r>
          </a:p>
        </p:txBody>
      </p:sp>
      <p:sp>
        <p:nvSpPr>
          <p:cNvPr id="128" name="Shape 127"/>
          <p:cNvSpPr/>
          <p:nvPr/>
        </p:nvSpPr>
        <p:spPr>
          <a:xfrm>
            <a:off x="806196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8"/>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Data Cloud before direct</a:t>
            </a:r>
          </a:p>
          <a:p>
            <a:pPr>
              <a:spcAft>
                <a:spcPts val="100"/>
              </a:spcAft>
            </a:pPr>
            <a:r>
              <a:rPr sz="700" b="0" i="0">
                <a:solidFill>
                  <a:srgbClr val="4D4D4D"/>
                </a:solidFill>
                <a:latin typeface="Trenda IG Text"/>
              </a:rPr>
              <a:t>Keep today's proven route until the direct path passes parity and security review.</a:t>
            </a:r>
          </a:p>
        </p:txBody>
      </p:sp>
      <p:sp>
        <p:nvSpPr>
          <p:cNvPr id="131" name="Text 130"/>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1A1A1A"/>
                </a:solidFill>
                <a:latin typeface="Trenda IG Text"/>
              </a:rPr>
              <a:t>Nothing in Phase 5 touches real patients until Phases 1 and 4 pass their exits. </a:t>
            </a:r>
            <a:r>
              <a:rPr sz="700" b="0" i="0">
                <a:solidFill>
                  <a:srgbClr val="4D4D4D"/>
                </a:solidFill>
                <a:latin typeface="Trenda IG Text"/>
              </a:rPr>
              <a:t>No speed or ROI number is committed before Phase 6 compares the pilot with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F2F2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4D4D4D"/>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1A1A1A"/>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4D4D4D"/>
                </a:solidFill>
                <a:latin typeface="Trenda IG Text"/>
              </a:rPr>
              <a:t>9 steps in sequence. </a:t>
            </a:r>
            <a:r>
              <a:rPr sz="700" b="1" i="0">
                <a:solidFill>
                  <a:srgbClr val="FF0069"/>
                </a:solidFill>
                <a:latin typeface="Trenda IG Text"/>
              </a:rPr>
              <a:t>~40 days</a:t>
            </a:r>
            <a:r>
              <a:rPr sz="700" b="0" i="0">
                <a:solidFill>
                  <a:srgbClr val="4D4D4D"/>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1A1A1A"/>
                </a:solidFill>
                <a:latin typeface="Trenda IG Text"/>
              </a:rPr>
              <a:t>Discovery &amp; PRD</a:t>
            </a:r>
          </a:p>
          <a:p>
            <a:r>
              <a:rPr sz="700" b="0" i="0">
                <a:solidFill>
                  <a:srgbClr val="4D4D4D"/>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1A1A1A"/>
                </a:solidFill>
                <a:latin typeface="Trenda IG Text"/>
              </a:rPr>
              <a:t>ADSI data readiness</a:t>
            </a:r>
          </a:p>
          <a:p>
            <a:r>
              <a:rPr sz="700" b="0" i="0">
                <a:solidFill>
                  <a:srgbClr val="4D4D4D"/>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1A1A1A"/>
                </a:solidFill>
                <a:latin typeface="Trenda IG Text"/>
              </a:rPr>
              <a:t>Data Cloud ingestion</a:t>
            </a:r>
          </a:p>
          <a:p>
            <a:r>
              <a:rPr sz="700" b="0" i="0">
                <a:solidFill>
                  <a:srgbClr val="4D4D4D"/>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1A1A1A"/>
                </a:solidFill>
                <a:latin typeface="Trenda IG Text"/>
              </a:rPr>
              <a:t>Segment &amp; activation</a:t>
            </a:r>
          </a:p>
          <a:p>
            <a:r>
              <a:rPr sz="700" b="0" i="0">
                <a:solidFill>
                  <a:srgbClr val="4D4D4D"/>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1A1A1A"/>
                </a:solidFill>
                <a:latin typeface="Trenda IG Text"/>
              </a:rPr>
              <a:t>SFMC data prep</a:t>
            </a:r>
          </a:p>
          <a:p>
            <a:r>
              <a:rPr sz="700" b="0" i="0">
                <a:solidFill>
                  <a:srgbClr val="4D4D4D"/>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29" name="Shape 28"/>
          <p:cNvSpPr/>
          <p:nvPr/>
        </p:nvSpPr>
        <p:spPr>
          <a:xfrm>
            <a:off x="502920" y="366674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000000"/>
                </a:solidFill>
                <a:latin typeface="Trenda IG Text"/>
              </a:rPr>
              <a:t>14d</a:t>
            </a:r>
          </a:p>
        </p:txBody>
      </p:sp>
      <p:sp>
        <p:nvSpPr>
          <p:cNvPr id="33" name="Shape 32"/>
          <p:cNvSpPr/>
          <p:nvPr/>
        </p:nvSpPr>
        <p:spPr>
          <a:xfrm>
            <a:off x="502920" y="398678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1A1A1A"/>
                </a:solidFill>
                <a:latin typeface="Trenda IG Text"/>
              </a:rPr>
              <a:t>Journey Builder build</a:t>
            </a:r>
          </a:p>
          <a:p>
            <a:r>
              <a:rPr sz="700" b="0" i="0">
                <a:solidFill>
                  <a:srgbClr val="4D4D4D"/>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37" name="Shape 36"/>
          <p:cNvSpPr/>
          <p:nvPr/>
        </p:nvSpPr>
        <p:spPr>
          <a:xfrm>
            <a:off x="502920" y="430682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1A1A1A"/>
                </a:solidFill>
                <a:latin typeface="Trenda IG Text"/>
              </a:rPr>
              <a:t>Testing &amp; UAT</a:t>
            </a:r>
          </a:p>
          <a:p>
            <a:r>
              <a:rPr sz="700" b="0" i="0">
                <a:solidFill>
                  <a:srgbClr val="4D4D4D"/>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000000"/>
                </a:solidFill>
                <a:latin typeface="Trenda IG Text"/>
              </a:rPr>
              <a:t>12d</a:t>
            </a:r>
          </a:p>
        </p:txBody>
      </p:sp>
      <p:sp>
        <p:nvSpPr>
          <p:cNvPr id="41" name="Shape 40"/>
          <p:cNvSpPr/>
          <p:nvPr/>
        </p:nvSpPr>
        <p:spPr>
          <a:xfrm>
            <a:off x="502920" y="462686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1A1A1A"/>
                </a:solidFill>
                <a:latin typeface="Trenda IG Text"/>
              </a:rPr>
              <a:t>Deploy &amp; go-live</a:t>
            </a:r>
          </a:p>
          <a:p>
            <a:r>
              <a:rPr sz="700" b="0" i="0">
                <a:solidFill>
                  <a:srgbClr val="4D4D4D"/>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89A0"/>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4D4D4D"/>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1A1A1A"/>
                </a:solidFill>
                <a:latin typeface="Trenda IG Text"/>
              </a:rPr>
              <a:t>Prompt → Opportunity Brief · G1</a:t>
            </a:r>
          </a:p>
          <a:p>
            <a:r>
              <a:rPr sz="700" b="0" i="0">
                <a:solidFill>
                  <a:srgbClr val="4D4D4D"/>
                </a:solidFill>
                <a:latin typeface="Trenda IG Text"/>
              </a:rPr>
              <a:t>Orchestrator, Strategist, Analytics; people approve</a:t>
            </a:r>
          </a:p>
        </p:txBody>
      </p:sp>
      <p:sp>
        <p:nvSpPr>
          <p:cNvPr id="57" name="Shape 57"/>
          <p:cNvSpPr/>
          <p:nvPr/>
        </p:nvSpPr>
        <p:spPr>
          <a:xfrm>
            <a:off x="8540496" y="2148839"/>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1A1A1A"/>
                </a:solidFill>
                <a:latin typeface="Trenda IG Text"/>
              </a:rPr>
              <a:t>Data ready</a:t>
            </a:r>
          </a:p>
          <a:p>
            <a:r>
              <a:rPr sz="700" b="0" i="0">
                <a:solidFill>
                  <a:srgbClr val="4D4D4D"/>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1A1A1A"/>
                </a:solidFill>
                <a:latin typeface="Trenda IG Text"/>
              </a:rPr>
              <a:t>Eligibility rule</a:t>
            </a:r>
          </a:p>
          <a:p>
            <a:r>
              <a:rPr sz="700" b="0" i="0">
                <a:solidFill>
                  <a:srgbClr val="4D4D4D"/>
                </a:solidFill>
                <a:latin typeface="Trenda IG Text"/>
              </a:rPr>
              <a:t>eligibility service: consent, contact, exclusions</a:t>
            </a:r>
          </a:p>
        </p:txBody>
      </p:sp>
      <p:sp>
        <p:nvSpPr>
          <p:cNvPr id="65" name="Shape 65"/>
          <p:cNvSpPr/>
          <p:nvPr/>
        </p:nvSpPr>
        <p:spPr>
          <a:xfrm>
            <a:off x="8795004" y="277063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1A1A1A"/>
                </a:solidFill>
                <a:latin typeface="Trenda IG Text"/>
              </a:rPr>
              <a:t>Journey + data extension build</a:t>
            </a:r>
          </a:p>
          <a:p>
            <a:r>
              <a:rPr sz="700" b="0" i="0">
                <a:solidFill>
                  <a:srgbClr val="4D4D4D"/>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1A1A1A"/>
                </a:solidFill>
                <a:latin typeface="Trenda IG Text"/>
              </a:rPr>
              <a:t>Testing on test contacts · G3</a:t>
            </a:r>
          </a:p>
          <a:p>
            <a:r>
              <a:rPr sz="700" b="0" i="0">
                <a:solidFill>
                  <a:srgbClr val="4D4D4D"/>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1A1A1A"/>
                </a:solidFill>
                <a:latin typeface="Trenda IG Text"/>
              </a:rPr>
              <a:t>Pre-send review G2 + release</a:t>
            </a:r>
          </a:p>
          <a:p>
            <a:r>
              <a:rPr sz="700" b="0" i="0">
                <a:solidFill>
                  <a:srgbClr val="4D4D4D"/>
                </a:solidFill>
                <a:latin typeface="Trenda IG Text"/>
              </a:rPr>
              <a:t>SME + tech lead; activation gateway</a:t>
            </a:r>
          </a:p>
        </p:txBody>
      </p:sp>
      <p:sp>
        <p:nvSpPr>
          <p:cNvPr id="81" name="Shape 81"/>
          <p:cNvSpPr/>
          <p:nvPr/>
        </p:nvSpPr>
        <p:spPr>
          <a:xfrm>
            <a:off x="11085576" y="4014215"/>
            <a:ext cx="274320"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1A1A1A"/>
                </a:solidFill>
                <a:latin typeface="Trenda IG Text"/>
              </a:rPr>
              <a:t>Go live</a:t>
            </a:r>
          </a:p>
          <a:p>
            <a:r>
              <a:rPr sz="700" b="0" i="0">
                <a:solidFill>
                  <a:srgbClr val="4D4D4D"/>
                </a:solidFill>
                <a:latin typeface="Trenda IG Text"/>
              </a:rPr>
              <a:t>Marketing Cloud; consent re-checked at send</a:t>
            </a:r>
          </a:p>
        </p:txBody>
      </p:sp>
      <p:sp>
        <p:nvSpPr>
          <p:cNvPr id="85" name="Shape 85"/>
          <p:cNvSpPr/>
          <p:nvPr/>
        </p:nvSpPr>
        <p:spPr>
          <a:xfrm>
            <a:off x="11340084" y="432511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8A6D00"/>
                </a:solidFill>
                <a:latin typeface="Trenda IG Text"/>
              </a:rPr>
              <a:t>Legal review is now the critical path. </a:t>
            </a:r>
            <a:r>
              <a:rPr sz="700" b="0" i="0">
                <a:solidFill>
                  <a:srgbClr val="4D4D4D"/>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89A0"/>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faster to launch</a:t>
            </a:r>
          </a:p>
          <a:p>
            <a:r>
              <a:rPr sz="700" b="0" i="0">
                <a:solidFill>
                  <a:srgbClr val="4D4D4D"/>
                </a:solidFill>
                <a:latin typeface="Trenda IG Text"/>
              </a:rPr>
              <a:t>90 to ~10-12 days</a:t>
            </a:r>
          </a:p>
        </p:txBody>
      </p:sp>
      <p:sp>
        <p:nvSpPr>
          <p:cNvPr id="96" name="Shape 96"/>
          <p:cNvSpPr/>
          <p:nvPr/>
        </p:nvSpPr>
        <p:spPr>
          <a:xfrm>
            <a:off x="328041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data preparation per campaign</a:t>
            </a:r>
          </a:p>
          <a:p>
            <a:r>
              <a:rPr sz="700" b="0" i="0">
                <a:solidFill>
                  <a:srgbClr val="4D4D4D"/>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1A1A1A"/>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campaign agents</a:t>
            </a:r>
          </a:p>
          <a:p>
            <a:r>
              <a:rPr sz="700" b="0" i="0">
                <a:solidFill>
                  <a:srgbClr val="4D4D4D"/>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8A6D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people still approve</a:t>
            </a:r>
          </a:p>
          <a:p>
            <a:r>
              <a:rPr sz="700" b="0" i="0">
                <a:solidFill>
                  <a:srgbClr val="4D4D4D"/>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6B6B6B"/>
                </a:solidFill>
                <a:latin typeface="Trenda IG Text"/>
              </a:rPr>
              <a:t>Today: CHF post-discharge nudge manual steps and SFMC standards. With the data harness: pilot targets, measured on the CHF campaign against today's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Approved articles keep every answer accurate. Patient actions go through the Verified Patient Action Engine after a quick check; emergencies go straight to 911 or a nurse.</a:t>
            </a:r>
          </a:p>
        </p:txBody>
      </p:sp>
      <p:sp>
        <p:nvSpPr>
          <p:cNvPr id="5" name="Shape 4"/>
          <p:cNvSpPr/>
          <p:nvPr/>
        </p:nvSpPr>
        <p:spPr>
          <a:xfrm>
            <a:off x="411480" y="1188720"/>
            <a:ext cx="1874519" cy="960120"/>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1A1A1A"/>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4D4D4D"/>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1A1A1A"/>
                </a:solidFill>
                <a:latin typeface="Trenda IG Text"/>
              </a:rPr>
              <a:t>Sierra</a:t>
            </a:r>
          </a:p>
          <a:p>
            <a:pPr>
              <a:lnSpc>
                <a:spcPct val="90000"/>
              </a:lnSpc>
            </a:pPr>
            <a:r>
              <a:rPr sz="700" b="0" i="0">
                <a:solidFill>
                  <a:srgbClr val="4D4D4D"/>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Answers questions</a:t>
            </a:r>
          </a:p>
          <a:p>
            <a:pPr>
              <a:spcAft>
                <a:spcPts val="100"/>
              </a:spcAft>
            </a:pPr>
            <a:r>
              <a:rPr sz="700" b="0" i="0">
                <a:solidFill>
                  <a:srgbClr val="4D4D4D"/>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Verifies the caller</a:t>
            </a:r>
          </a:p>
          <a:p>
            <a:pPr>
              <a:spcAft>
                <a:spcPts val="100"/>
              </a:spcAft>
            </a:pPr>
            <a:r>
              <a:rPr sz="700" b="0" i="0">
                <a:solidFill>
                  <a:srgbClr val="4D4D4D"/>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Books, cancels, reschedules</a:t>
            </a:r>
          </a:p>
          <a:p>
            <a:pPr>
              <a:spcAft>
                <a:spcPts val="100"/>
              </a:spcAft>
            </a:pPr>
            <a:r>
              <a:rPr sz="700" b="0" i="0">
                <a:solidFill>
                  <a:srgbClr val="4D4D4D"/>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Hands off at once</a:t>
            </a:r>
          </a:p>
          <a:p>
            <a:pPr>
              <a:spcAft>
                <a:spcPts val="100"/>
              </a:spcAft>
            </a:pPr>
            <a:r>
              <a:rPr sz="700" b="0" i="0">
                <a:solidFill>
                  <a:srgbClr val="4D4D4D"/>
                </a:solidFill>
                <a:latin typeface="Trenda IG Text"/>
              </a:rPr>
              <a:t>emergencies to 911 or a nurse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1A1A1A"/>
                </a:solidFill>
                <a:latin typeface="Trenda IG Text"/>
              </a:rPr>
              <a:t>1  KNOWLEDGE PATH</a:t>
            </a:r>
            <a:r>
              <a:rPr sz="700" b="0" i="0">
                <a:solidFill>
                  <a:srgbClr val="4D4D4D"/>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1A1A1A"/>
                </a:solidFill>
                <a:latin typeface="Trenda IG Text"/>
              </a:rPr>
              <a:t>2  PATIENT PATH</a:t>
            </a:r>
            <a:r>
              <a:rPr sz="700" b="0" i="0">
                <a:solidFill>
                  <a:srgbClr val="4D4D4D"/>
                </a:solidFill>
                <a:latin typeface="Trenda IG Text"/>
              </a:rPr>
              <a:t>   PHI · verified patient token · Verified Patient Action Engine</a:t>
            </a:r>
          </a:p>
        </p:txBody>
      </p:sp>
      <p:sp>
        <p:nvSpPr>
          <p:cNvPr id="26" name="Shape 24"/>
          <p:cNvSpPr/>
          <p:nvPr/>
        </p:nvSpPr>
        <p:spPr>
          <a:xfrm>
            <a:off x="2578608"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1A1A1A"/>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8A6D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4D4D4D"/>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Same semantic layer and knowledge graph as campaigns; synced to Sierra on every change.</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89A0"/>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6B6B6B"/>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1A1A1A"/>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1A1A1A"/>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1A1A1A"/>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BDBDBD"/>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89A0"/>
                </a:solidFill>
                <a:latin typeface="Trenda IG Text"/>
              </a:rPr>
              <a:t>NO PATIENT RECORDS IN THE KNOWLEDGE BASE</a:t>
            </a:r>
          </a:p>
        </p:txBody>
      </p:sp>
      <p:sp>
        <p:nvSpPr>
          <p:cNvPr id="63" name="Shape 59"/>
          <p:cNvSpPr/>
          <p:nvPr/>
        </p:nvSpPr>
        <p:spPr>
          <a:xfrm>
            <a:off x="2578608" y="3721608"/>
            <a:ext cx="1463040" cy="914400"/>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060704" cy="237744"/>
          </a:xfrm>
          <a:prstGeom prst="rect">
            <a:avLst/>
          </a:prstGeom>
          <a:noFill/>
        </p:spPr>
        <p:txBody>
          <a:bodyPr wrap="square" lIns="0" rIns="0" tIns="0" bIns="0" anchor="ctr">
            <a:spAutoFit/>
          </a:bodyPr>
          <a:lstStyle/>
          <a:p>
            <a:r>
              <a:rPr sz="700" b="1" i="0">
                <a:solidFill>
                  <a:srgbClr val="8A6D00"/>
                </a:solidFill>
                <a:latin typeface="Trenda IG Text"/>
              </a:rPr>
              <a:t>Identity + verification</a:t>
            </a:r>
          </a:p>
        </p:txBody>
      </p:sp>
      <p:sp>
        <p:nvSpPr>
          <p:cNvPr id="66" name="Text 61"/>
          <p:cNvSpPr txBox="1"/>
          <p:nvPr/>
        </p:nvSpPr>
        <p:spPr>
          <a:xfrm>
            <a:off x="2670048" y="4050792"/>
            <a:ext cx="1298448" cy="548640"/>
          </a:xfrm>
          <a:prstGeom prst="rect">
            <a:avLst/>
          </a:prstGeom>
          <a:noFill/>
        </p:spPr>
        <p:txBody>
          <a:bodyPr wrap="square" lIns="0" rIns="0" tIns="0" bIns="0" anchor="t">
            <a:spAutoFit/>
          </a:bodyPr>
          <a:lstStyle/>
          <a:p>
            <a:r>
              <a:rPr sz="700" b="0" i="0">
                <a:solidFill>
                  <a:srgbClr val="4D4D4D"/>
                </a:solidFill>
                <a:latin typeface="Trenda IG Text"/>
              </a:rPr>
              <a:t>Caller ID on file + date of birth, in seconds; step-up only if needed.</a:t>
            </a:r>
          </a:p>
        </p:txBody>
      </p:sp>
      <p:sp>
        <p:nvSpPr>
          <p:cNvPr id="67" name="Differentiator Border 63"/>
          <p:cNvSpPr/>
          <p:nvPr/>
        </p:nvSpPr>
        <p:spPr>
          <a:xfrm>
            <a:off x="4224528" y="3721608"/>
            <a:ext cx="2377440" cy="42062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242816" y="3739896"/>
            <a:ext cx="2340864" cy="38404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315968" y="3739896"/>
            <a:ext cx="2194560"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Action Engine · scheduling</a:t>
            </a:r>
          </a:p>
          <a:p>
            <a:pPr>
              <a:spcAft>
                <a:spcPts val="100"/>
              </a:spcAft>
            </a:pPr>
            <a:r>
              <a:rPr sz="700" b="0" i="0">
                <a:solidFill>
                  <a:srgbClr val="4D4D4D"/>
                </a:solidFill>
                <a:latin typeface="Trenda IG Text"/>
              </a:rPr>
              <a:t>SearchAvailableSlots, Reschedule; this patient only.</a:t>
            </a:r>
          </a:p>
        </p:txBody>
      </p:sp>
      <p:sp>
        <p:nvSpPr>
          <p:cNvPr id="70" name="Shape 66"/>
          <p:cNvSpPr/>
          <p:nvPr/>
        </p:nvSpPr>
        <p:spPr>
          <a:xfrm>
            <a:off x="6784848" y="3721608"/>
            <a:ext cx="2194560" cy="42062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67"/>
          <p:cNvSpPr/>
          <p:nvPr/>
        </p:nvSpPr>
        <p:spPr>
          <a:xfrm>
            <a:off x="6876288" y="3840480"/>
            <a:ext cx="384048" cy="182880"/>
          </a:xfrm>
          <a:prstGeom prst="roundRect">
            <a:avLst>
              <a:gd name="adj" fmla="val 30000"/>
            </a:avLst>
          </a:prstGeom>
          <a:solidFill>
            <a:srgbClr val="EEEEEE"/>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8"/>
          <p:cNvSpPr txBox="1"/>
          <p:nvPr/>
        </p:nvSpPr>
        <p:spPr>
          <a:xfrm>
            <a:off x="6876288" y="3840480"/>
            <a:ext cx="384048" cy="182880"/>
          </a:xfrm>
          <a:prstGeom prst="rect">
            <a:avLst/>
          </a:prstGeom>
          <a:noFill/>
        </p:spPr>
        <p:txBody>
          <a:bodyPr wrap="square" lIns="0" rIns="0" tIns="0" bIns="0" anchor="ctr">
            <a:spAutoFit/>
          </a:bodyPr>
          <a:lstStyle/>
          <a:p>
            <a:pPr algn="ctr"/>
            <a:r>
              <a:rPr sz="700" b="1" i="0">
                <a:solidFill>
                  <a:srgbClr val="1A1A1A"/>
                </a:solidFill>
                <a:latin typeface="Trenda IG Text"/>
              </a:rPr>
              <a:t>Epic</a:t>
            </a:r>
          </a:p>
        </p:txBody>
      </p:sp>
      <p:sp>
        <p:nvSpPr>
          <p:cNvPr id="73" name="Text 69"/>
          <p:cNvSpPr txBox="1"/>
          <p:nvPr/>
        </p:nvSpPr>
        <p:spPr>
          <a:xfrm>
            <a:off x="7333488" y="3739896"/>
            <a:ext cx="1591056"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Scheduling system of record</a:t>
            </a:r>
          </a:p>
          <a:p>
            <a:pPr>
              <a:spcAft>
                <a:spcPts val="100"/>
              </a:spcAft>
            </a:pPr>
            <a:r>
              <a:rPr sz="700" b="0" i="0">
                <a:solidFill>
                  <a:srgbClr val="4D4D4D"/>
                </a:solidFill>
                <a:latin typeface="Trenda IG Text"/>
              </a:rPr>
              <a:t>Book, cancel, reschedule written here.</a:t>
            </a:r>
          </a:p>
        </p:txBody>
      </p:sp>
      <p:cxnSp>
        <p:nvCxnSpPr>
          <p:cNvPr id="74" name="Arrow 70"/>
          <p:cNvCxnSpPr/>
          <p:nvPr/>
        </p:nvCxnSpPr>
        <p:spPr>
          <a:xfrm>
            <a:off x="4041648" y="3931920"/>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5" name="Arrow 71"/>
          <p:cNvCxnSpPr/>
          <p:nvPr/>
        </p:nvCxnSpPr>
        <p:spPr>
          <a:xfrm>
            <a:off x="6601968" y="3877056"/>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2"/>
          <p:cNvCxnSpPr/>
          <p:nvPr/>
        </p:nvCxnSpPr>
        <p:spPr>
          <a:xfrm flipH="1">
            <a:off x="6601968" y="3986784"/>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3"/>
          <p:cNvSpPr/>
          <p:nvPr/>
        </p:nvSpPr>
        <p:spPr>
          <a:xfrm>
            <a:off x="4224528" y="4215384"/>
            <a:ext cx="2377440" cy="420624"/>
          </a:xfrm>
          <a:prstGeom prst="roundRect">
            <a:avLst>
              <a:gd name="adj" fmla="val 8000"/>
            </a:avLst>
          </a:prstGeom>
          <a:solidFill>
            <a:srgbClr val="F5F5F5"/>
          </a:solidFill>
          <a:ln w="1587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4"/>
          <p:cNvSpPr txBox="1"/>
          <p:nvPr/>
        </p:nvSpPr>
        <p:spPr>
          <a:xfrm>
            <a:off x="4315968" y="4233672"/>
            <a:ext cx="2194560"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Action Engine · patient context</a:t>
            </a:r>
          </a:p>
          <a:p>
            <a:pPr>
              <a:spcAft>
                <a:spcPts val="100"/>
              </a:spcAft>
            </a:pPr>
            <a:r>
              <a:rPr sz="700" b="0" i="0">
                <a:solidFill>
                  <a:srgbClr val="4D4D4D"/>
                </a:solidFill>
                <a:latin typeface="Trenda IG Text"/>
              </a:rPr>
              <a:t>GetPatientContext: campaign status, consent; no lists.</a:t>
            </a:r>
          </a:p>
        </p:txBody>
      </p:sp>
      <p:sp>
        <p:nvSpPr>
          <p:cNvPr id="79" name="Shape 75"/>
          <p:cNvSpPr/>
          <p:nvPr/>
        </p:nvSpPr>
        <p:spPr>
          <a:xfrm>
            <a:off x="6784848" y="4215384"/>
            <a:ext cx="2194560" cy="42062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6"/>
          <p:cNvSpPr/>
          <p:nvPr/>
        </p:nvSpPr>
        <p:spPr>
          <a:xfrm>
            <a:off x="6876288" y="4334256"/>
            <a:ext cx="493776" cy="182880"/>
          </a:xfrm>
          <a:prstGeom prst="roundRect">
            <a:avLst>
              <a:gd name="adj" fmla="val 30000"/>
            </a:avLst>
          </a:prstGeom>
          <a:solidFill>
            <a:srgbClr val="EEEEEE"/>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7"/>
          <p:cNvSpPr txBox="1"/>
          <p:nvPr/>
        </p:nvSpPr>
        <p:spPr>
          <a:xfrm>
            <a:off x="6876288" y="4334256"/>
            <a:ext cx="493776" cy="182880"/>
          </a:xfrm>
          <a:prstGeom prst="rect">
            <a:avLst/>
          </a:prstGeom>
          <a:noFill/>
        </p:spPr>
        <p:txBody>
          <a:bodyPr wrap="square" lIns="0" rIns="0" tIns="0" bIns="0" anchor="ctr">
            <a:spAutoFit/>
          </a:bodyPr>
          <a:lstStyle/>
          <a:p>
            <a:pPr algn="ctr"/>
            <a:r>
              <a:rPr sz="700" b="1" i="0">
                <a:solidFill>
                  <a:srgbClr val="1A1A1A"/>
                </a:solidFill>
                <a:latin typeface="Trenda IG Text"/>
              </a:rPr>
              <a:t>Gold B</a:t>
            </a:r>
          </a:p>
        </p:txBody>
      </p:sp>
      <p:sp>
        <p:nvSpPr>
          <p:cNvPr id="82" name="Text 78"/>
          <p:cNvSpPr txBox="1"/>
          <p:nvPr/>
        </p:nvSpPr>
        <p:spPr>
          <a:xfrm>
            <a:off x="7443216" y="4233672"/>
            <a:ext cx="1481328"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Restricted patient layer</a:t>
            </a:r>
          </a:p>
          <a:p>
            <a:pPr>
              <a:spcAft>
                <a:spcPts val="100"/>
              </a:spcAft>
            </a:pPr>
            <a:r>
              <a:rPr sz="700" b="0" i="0">
                <a:solidFill>
                  <a:srgbClr val="4D4D4D"/>
                </a:solidFill>
                <a:latin typeface="Trenda IG Text"/>
              </a:rPr>
              <a:t>Read-only, for this verified call.</a:t>
            </a:r>
          </a:p>
        </p:txBody>
      </p:sp>
      <p:cxnSp>
        <p:nvCxnSpPr>
          <p:cNvPr id="83" name="Arrow 79"/>
          <p:cNvCxnSpPr/>
          <p:nvPr/>
        </p:nvCxnSpPr>
        <p:spPr>
          <a:xfrm>
            <a:off x="4041648" y="4425696"/>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80"/>
          <p:cNvCxnSpPr/>
          <p:nvPr/>
        </p:nvCxnSpPr>
        <p:spPr>
          <a:xfrm>
            <a:off x="6601968" y="4370832"/>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81"/>
          <p:cNvCxnSpPr/>
          <p:nvPr/>
        </p:nvCxnSpPr>
        <p:spPr>
          <a:xfrm flipH="1">
            <a:off x="6601968" y="4480560"/>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Arrow 82"/>
          <p:cNvCxnSpPr/>
          <p:nvPr/>
        </p:nvCxnSpPr>
        <p:spPr>
          <a:xfrm>
            <a:off x="2286000" y="4178808"/>
            <a:ext cx="292608"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 83"/>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6B6B6B"/>
                </a:solidFill>
                <a:latin typeface="Trenda IG Text"/>
              </a:rPr>
              <a:t>RULES IN THE ENGINE</a:t>
            </a:r>
          </a:p>
        </p:txBody>
      </p:sp>
      <p:sp>
        <p:nvSpPr>
          <p:cNvPr id="88" name="Shape 84"/>
          <p:cNvSpPr/>
          <p:nvPr/>
        </p:nvSpPr>
        <p:spPr>
          <a:xfrm>
            <a:off x="3566160" y="4764024"/>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5"/>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cancellation window</a:t>
            </a:r>
          </a:p>
        </p:txBody>
      </p:sp>
      <p:sp>
        <p:nvSpPr>
          <p:cNvPr id="90" name="Shape 86"/>
          <p:cNvSpPr/>
          <p:nvPr/>
        </p:nvSpPr>
        <p:spPr>
          <a:xfrm>
            <a:off x="4707331" y="4764024"/>
            <a:ext cx="94366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7"/>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1A1A1A"/>
                </a:solidFill>
                <a:latin typeface="Trenda IG Text"/>
              </a:rPr>
              <a:t>reschedule rules</a:t>
            </a:r>
          </a:p>
        </p:txBody>
      </p:sp>
      <p:sp>
        <p:nvSpPr>
          <p:cNvPr id="92" name="Shape 88"/>
          <p:cNvSpPr/>
          <p:nvPr/>
        </p:nvSpPr>
        <p:spPr>
          <a:xfrm>
            <a:off x="5705856" y="4764024"/>
            <a:ext cx="705916"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1A1A1A"/>
                </a:solidFill>
                <a:latin typeface="Trenda IG Text"/>
              </a:rPr>
              <a:t>visit types</a:t>
            </a:r>
          </a:p>
        </p:txBody>
      </p:sp>
      <p:sp>
        <p:nvSpPr>
          <p:cNvPr id="94" name="Shape 90"/>
          <p:cNvSpPr/>
          <p:nvPr/>
        </p:nvSpPr>
        <p:spPr>
          <a:xfrm>
            <a:off x="6466636" y="4764024"/>
            <a:ext cx="118140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1"/>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1A1A1A"/>
                </a:solidFill>
                <a:latin typeface="Trenda IG Text"/>
              </a:rPr>
              <a:t>provider restrictions</a:t>
            </a:r>
          </a:p>
        </p:txBody>
      </p:sp>
      <p:sp>
        <p:nvSpPr>
          <p:cNvPr id="96" name="Shape 92"/>
          <p:cNvSpPr/>
          <p:nvPr/>
        </p:nvSpPr>
        <p:spPr>
          <a:xfrm>
            <a:off x="7702905" y="4764024"/>
            <a:ext cx="848563"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3"/>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1A1A1A"/>
                </a:solidFill>
                <a:latin typeface="Trenda IG Text"/>
              </a:rPr>
              <a:t>minimum fields</a:t>
            </a:r>
          </a:p>
        </p:txBody>
      </p:sp>
      <p:sp>
        <p:nvSpPr>
          <p:cNvPr id="98" name="Shape 94"/>
          <p:cNvSpPr/>
          <p:nvPr/>
        </p:nvSpPr>
        <p:spPr>
          <a:xfrm>
            <a:off x="9189720" y="1188720"/>
            <a:ext cx="2587752" cy="404164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5"/>
          <p:cNvSpPr/>
          <p:nvPr/>
        </p:nvSpPr>
        <p:spPr>
          <a:xfrm>
            <a:off x="9189720" y="1188720"/>
            <a:ext cx="258775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6"/>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1A1A1A"/>
                </a:solidFill>
                <a:latin typeface="Trenda IG Text"/>
              </a:rPr>
              <a:t>3  AFTER EVERY CALL</a:t>
            </a:r>
          </a:p>
        </p:txBody>
      </p:sp>
      <p:sp>
        <p:nvSpPr>
          <p:cNvPr id="101" name="Shape 97"/>
          <p:cNvSpPr/>
          <p:nvPr/>
        </p:nvSpPr>
        <p:spPr>
          <a:xfrm>
            <a:off x="9299448" y="1536192"/>
            <a:ext cx="2368296" cy="640080"/>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people.png"/>
          <p:cNvPicPr>
            <a:picLocks noChangeAspect="1"/>
          </p:cNvPicPr>
          <p:nvPr/>
        </p:nvPicPr>
        <p:blipFill>
          <a:blip r:embed="rId2"/>
          <a:stretch>
            <a:fillRect/>
          </a:stretch>
        </p:blipFill>
        <p:spPr>
          <a:xfrm>
            <a:off x="9390888" y="1609344"/>
            <a:ext cx="182880" cy="182880"/>
          </a:xfrm>
          <a:prstGeom prst="rect">
            <a:avLst/>
          </a:prstGeom>
        </p:spPr>
      </p:pic>
      <p:sp>
        <p:nvSpPr>
          <p:cNvPr id="103" name="Text 98"/>
          <p:cNvSpPr txBox="1"/>
          <p:nvPr/>
        </p:nvSpPr>
        <p:spPr>
          <a:xfrm>
            <a:off x="9628632" y="1581912"/>
            <a:ext cx="1965960" cy="237744"/>
          </a:xfrm>
          <a:prstGeom prst="rect">
            <a:avLst/>
          </a:prstGeom>
          <a:noFill/>
        </p:spPr>
        <p:txBody>
          <a:bodyPr wrap="square" lIns="0" rIns="0" tIns="0" bIns="0" anchor="ctr">
            <a:spAutoFit/>
          </a:bodyPr>
          <a:lstStyle/>
          <a:p>
            <a:r>
              <a:rPr sz="700" b="1" i="0">
                <a:solidFill>
                  <a:srgbClr val="8A6D00"/>
                </a:solidFill>
                <a:latin typeface="Trenda IG Text"/>
              </a:rPr>
              <a:t>Hand-off to a person</a:t>
            </a:r>
          </a:p>
        </p:txBody>
      </p:sp>
      <p:sp>
        <p:nvSpPr>
          <p:cNvPr id="104" name="Text 99"/>
          <p:cNvSpPr txBox="1"/>
          <p:nvPr/>
        </p:nvSpPr>
        <p:spPr>
          <a:xfrm>
            <a:off x="9390888" y="1865376"/>
            <a:ext cx="2203703" cy="274319"/>
          </a:xfrm>
          <a:prstGeom prst="rect">
            <a:avLst/>
          </a:prstGeom>
          <a:noFill/>
        </p:spPr>
        <p:txBody>
          <a:bodyPr wrap="square" lIns="0" rIns="0" tIns="0" bIns="0" anchor="t">
            <a:spAutoFit/>
          </a:bodyPr>
          <a:lstStyle/>
          <a:p>
            <a:r>
              <a:rPr sz="700" b="0" i="0">
                <a:solidFill>
                  <a:srgbClr val="4D4D4D"/>
                </a:solidFill>
                <a:latin typeface="Trenda IG Text"/>
              </a:rPr>
              <a:t>Identity not verified, upset caller or a clinical question.</a:t>
            </a:r>
          </a:p>
        </p:txBody>
      </p:sp>
      <p:sp>
        <p:nvSpPr>
          <p:cNvPr id="105" name="Shape 100"/>
          <p:cNvSpPr/>
          <p:nvPr/>
        </p:nvSpPr>
        <p:spPr>
          <a:xfrm>
            <a:off x="9299448" y="2249424"/>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1"/>
          <p:cNvSpPr txBox="1"/>
          <p:nvPr/>
        </p:nvSpPr>
        <p:spPr>
          <a:xfrm>
            <a:off x="9390888" y="2304288"/>
            <a:ext cx="2203704" cy="201168"/>
          </a:xfrm>
          <a:prstGeom prst="rect">
            <a:avLst/>
          </a:prstGeom>
          <a:noFill/>
        </p:spPr>
        <p:txBody>
          <a:bodyPr wrap="square" lIns="0" rIns="0" tIns="0" bIns="0" anchor="ctr">
            <a:spAutoFit/>
          </a:bodyPr>
          <a:lstStyle/>
          <a:p>
            <a:r>
              <a:rPr sz="700" b="1" i="0">
                <a:solidFill>
                  <a:srgbClr val="1A1A1A"/>
                </a:solidFill>
                <a:latin typeface="Trenda IG Text"/>
              </a:rPr>
              <a:t>Masked transcripts</a:t>
            </a:r>
          </a:p>
        </p:txBody>
      </p:sp>
      <p:sp>
        <p:nvSpPr>
          <p:cNvPr id="107" name="Text 102"/>
          <p:cNvSpPr txBox="1"/>
          <p:nvPr/>
        </p:nvSpPr>
        <p:spPr>
          <a:xfrm>
            <a:off x="9390888" y="2532888"/>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Recordings hold PHI: access control, retention limits, masked before analytics.</a:t>
            </a:r>
          </a:p>
        </p:txBody>
      </p:sp>
      <p:sp>
        <p:nvSpPr>
          <p:cNvPr id="108" name="Shape 103"/>
          <p:cNvSpPr/>
          <p:nvPr/>
        </p:nvSpPr>
        <p:spPr>
          <a:xfrm>
            <a:off x="9299448" y="2962656"/>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9390888" y="3017520"/>
            <a:ext cx="2203704" cy="201168"/>
          </a:xfrm>
          <a:prstGeom prst="rect">
            <a:avLst/>
          </a:prstGeom>
          <a:noFill/>
        </p:spPr>
        <p:txBody>
          <a:bodyPr wrap="square" lIns="0" rIns="0" tIns="0" bIns="0" anchor="ctr">
            <a:spAutoFit/>
          </a:bodyPr>
          <a:lstStyle/>
          <a:p>
            <a:r>
              <a:rPr sz="700" b="1" i="0">
                <a:solidFill>
                  <a:srgbClr val="1A1A1A"/>
                </a:solidFill>
                <a:latin typeface="Trenda IG Text"/>
              </a:rPr>
              <a:t>Opt-outs at once</a:t>
            </a:r>
          </a:p>
        </p:txBody>
      </p:sp>
      <p:sp>
        <p:nvSpPr>
          <p:cNvPr id="110" name="Text 105"/>
          <p:cNvSpPr txBox="1"/>
          <p:nvPr/>
        </p:nvSpPr>
        <p:spPr>
          <a:xfrm>
            <a:off x="9390888" y="3246120"/>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 caller who says stop: the consent of record updates immediately.</a:t>
            </a:r>
          </a:p>
        </p:txBody>
      </p:sp>
      <p:sp>
        <p:nvSpPr>
          <p:cNvPr id="111" name="Shape 106"/>
          <p:cNvSpPr/>
          <p:nvPr/>
        </p:nvSpPr>
        <p:spPr>
          <a:xfrm>
            <a:off x="9299448" y="3675888"/>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2" name="Picture 111" descr="googlebigquery.png"/>
          <p:cNvPicPr>
            <a:picLocks noChangeAspect="1"/>
          </p:cNvPicPr>
          <p:nvPr/>
        </p:nvPicPr>
        <p:blipFill>
          <a:blip r:embed="rId4"/>
          <a:stretch>
            <a:fillRect/>
          </a:stretch>
        </p:blipFill>
        <p:spPr>
          <a:xfrm>
            <a:off x="9390888" y="3739896"/>
            <a:ext cx="182880" cy="182880"/>
          </a:xfrm>
          <a:prstGeom prst="rect">
            <a:avLst/>
          </a:prstGeom>
        </p:spPr>
      </p:pic>
      <p:sp>
        <p:nvSpPr>
          <p:cNvPr id="113" name="Text 107"/>
          <p:cNvSpPr txBox="1"/>
          <p:nvPr/>
        </p:nvSpPr>
        <p:spPr>
          <a:xfrm>
            <a:off x="9628632" y="3730752"/>
            <a:ext cx="1965960" cy="201168"/>
          </a:xfrm>
          <a:prstGeom prst="rect">
            <a:avLst/>
          </a:prstGeom>
          <a:noFill/>
        </p:spPr>
        <p:txBody>
          <a:bodyPr wrap="square" lIns="0" rIns="0" tIns="0" bIns="0" anchor="ctr">
            <a:spAutoFit/>
          </a:bodyPr>
          <a:lstStyle/>
          <a:p>
            <a:r>
              <a:rPr sz="700" b="1" i="0">
                <a:solidFill>
                  <a:srgbClr val="1A1A1A"/>
                </a:solidFill>
                <a:latin typeface="Trenda IG Text"/>
              </a:rPr>
              <a:t>Outcomes → Gold B → Gold A</a:t>
            </a:r>
          </a:p>
        </p:txBody>
      </p:sp>
      <p:sp>
        <p:nvSpPr>
          <p:cNvPr id="114" name="Text 108"/>
          <p:cNvSpPr txBox="1"/>
          <p:nvPr/>
        </p:nvSpPr>
        <p:spPr>
          <a:xfrm>
            <a:off x="9390888" y="3959352"/>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Per call into Gold B; aggregates into Gold A for measurement.</a:t>
            </a:r>
          </a:p>
        </p:txBody>
      </p:sp>
      <p:sp>
        <p:nvSpPr>
          <p:cNvPr id="115" name="Shape 109"/>
          <p:cNvSpPr/>
          <p:nvPr/>
        </p:nvSpPr>
        <p:spPr>
          <a:xfrm>
            <a:off x="9299448" y="4389120"/>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0"/>
          <p:cNvSpPr txBox="1"/>
          <p:nvPr/>
        </p:nvSpPr>
        <p:spPr>
          <a:xfrm>
            <a:off x="9390888" y="4443984"/>
            <a:ext cx="2203704" cy="201168"/>
          </a:xfrm>
          <a:prstGeom prst="rect">
            <a:avLst/>
          </a:prstGeom>
          <a:noFill/>
        </p:spPr>
        <p:txBody>
          <a:bodyPr wrap="square" lIns="0" rIns="0" tIns="0" bIns="0" anchor="ctr">
            <a:spAutoFit/>
          </a:bodyPr>
          <a:lstStyle/>
          <a:p>
            <a:r>
              <a:rPr sz="700" b="1" i="0">
                <a:solidFill>
                  <a:srgbClr val="1A1A1A"/>
                </a:solidFill>
                <a:latin typeface="Trenda IG Text"/>
              </a:rPr>
              <a:t>Test calls before go-live</a:t>
            </a:r>
          </a:p>
        </p:txBody>
      </p:sp>
      <p:sp>
        <p:nvSpPr>
          <p:cNvPr id="117" name="Text 111"/>
          <p:cNvSpPr txBox="1"/>
          <p:nvPr/>
        </p:nvSpPr>
        <p:spPr>
          <a:xfrm>
            <a:off x="9390888" y="4672584"/>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Wrong caller, outside the window, a question no article covers.</a:t>
            </a:r>
          </a:p>
        </p:txBody>
      </p:sp>
      <p:sp>
        <p:nvSpPr>
          <p:cNvPr id="118" name="Text 11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accurate, and safe for patients</a:t>
            </a:r>
          </a:p>
        </p:txBody>
      </p:sp>
      <p:sp>
        <p:nvSpPr>
          <p:cNvPr id="119" name="Shape 113"/>
          <p:cNvSpPr/>
          <p:nvPr/>
        </p:nvSpPr>
        <p:spPr>
          <a:xfrm>
            <a:off x="1645920"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5"/>
          <p:cNvSpPr txBox="1"/>
          <p:nvPr/>
        </p:nvSpPr>
        <p:spPr>
          <a:xfrm>
            <a:off x="1792224"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BAA with Sierra</a:t>
            </a:r>
          </a:p>
          <a:p>
            <a:pPr>
              <a:spcAft>
                <a:spcPts val="100"/>
              </a:spcAft>
            </a:pPr>
            <a:r>
              <a:rPr sz="700" b="0" i="0">
                <a:solidFill>
                  <a:srgbClr val="4D4D4D"/>
                </a:solidFill>
                <a:latin typeface="Trenda IG Text"/>
              </a:rPr>
              <a:t>calls carry PHI</a:t>
            </a:r>
          </a:p>
        </p:txBody>
      </p:sp>
      <p:sp>
        <p:nvSpPr>
          <p:cNvPr id="122" name="Shape 116"/>
          <p:cNvSpPr/>
          <p:nvPr/>
        </p:nvSpPr>
        <p:spPr>
          <a:xfrm>
            <a:off x="3106347"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7"/>
          <p:cNvSpPr/>
          <p:nvPr/>
        </p:nvSpPr>
        <p:spPr>
          <a:xfrm>
            <a:off x="310634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8"/>
          <p:cNvSpPr txBox="1"/>
          <p:nvPr/>
        </p:nvSpPr>
        <p:spPr>
          <a:xfrm>
            <a:off x="3252651"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Verified in seconds</a:t>
            </a:r>
          </a:p>
          <a:p>
            <a:pPr>
              <a:spcAft>
                <a:spcPts val="100"/>
              </a:spcAft>
            </a:pPr>
            <a:r>
              <a:rPr sz="700" b="0" i="0">
                <a:solidFill>
                  <a:srgbClr val="4D4D4D"/>
                </a:solidFill>
                <a:latin typeface="Trenda IG Text"/>
              </a:rPr>
              <a:t>no SMS wait; step-up if needed</a:t>
            </a:r>
          </a:p>
        </p:txBody>
      </p:sp>
      <p:sp>
        <p:nvSpPr>
          <p:cNvPr id="125" name="Shape 119"/>
          <p:cNvSpPr/>
          <p:nvPr/>
        </p:nvSpPr>
        <p:spPr>
          <a:xfrm>
            <a:off x="4566774"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0"/>
          <p:cNvSpPr/>
          <p:nvPr/>
        </p:nvSpPr>
        <p:spPr>
          <a:xfrm>
            <a:off x="456677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1"/>
          <p:cNvSpPr txBox="1"/>
          <p:nvPr/>
        </p:nvSpPr>
        <p:spPr>
          <a:xfrm>
            <a:off x="4713078"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System of record</a:t>
            </a:r>
          </a:p>
          <a:p>
            <a:pPr>
              <a:spcAft>
                <a:spcPts val="100"/>
              </a:spcAft>
            </a:pPr>
            <a:r>
              <a:rPr sz="700" b="0" i="0">
                <a:solidFill>
                  <a:srgbClr val="4D4D4D"/>
                </a:solidFill>
                <a:latin typeface="Trenda IG Text"/>
              </a:rPr>
              <a:t>never a GCP copy</a:t>
            </a:r>
          </a:p>
        </p:txBody>
      </p:sp>
      <p:sp>
        <p:nvSpPr>
          <p:cNvPr id="128" name="Shape 122"/>
          <p:cNvSpPr/>
          <p:nvPr/>
        </p:nvSpPr>
        <p:spPr>
          <a:xfrm>
            <a:off x="6027202"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3"/>
          <p:cNvSpPr/>
          <p:nvPr/>
        </p:nvSpPr>
        <p:spPr>
          <a:xfrm>
            <a:off x="602720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4"/>
          <p:cNvSpPr txBox="1"/>
          <p:nvPr/>
        </p:nvSpPr>
        <p:spPr>
          <a:xfrm>
            <a:off x="6173506"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Rules in the engine</a:t>
            </a:r>
          </a:p>
          <a:p>
            <a:pPr>
              <a:spcAft>
                <a:spcPts val="100"/>
              </a:spcAft>
            </a:pPr>
            <a:r>
              <a:rPr sz="700" b="0" i="0">
                <a:solidFill>
                  <a:srgbClr val="4D4D4D"/>
                </a:solidFill>
                <a:latin typeface="Trenda IG Text"/>
              </a:rPr>
              <a:t>not only in an article</a:t>
            </a:r>
          </a:p>
        </p:txBody>
      </p:sp>
      <p:sp>
        <p:nvSpPr>
          <p:cNvPr id="131" name="Shape 125"/>
          <p:cNvSpPr/>
          <p:nvPr/>
        </p:nvSpPr>
        <p:spPr>
          <a:xfrm>
            <a:off x="7487629"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6"/>
          <p:cNvSpPr/>
          <p:nvPr/>
        </p:nvSpPr>
        <p:spPr>
          <a:xfrm>
            <a:off x="7487629"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7"/>
          <p:cNvSpPr txBox="1"/>
          <p:nvPr/>
        </p:nvSpPr>
        <p:spPr>
          <a:xfrm>
            <a:off x="7633933"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Governed articles</a:t>
            </a:r>
          </a:p>
          <a:p>
            <a:pPr>
              <a:spcAft>
                <a:spcPts val="100"/>
              </a:spcAft>
            </a:pPr>
            <a:r>
              <a:rPr sz="700" b="0" i="0">
                <a:solidFill>
                  <a:srgbClr val="4D4D4D"/>
                </a:solidFill>
                <a:latin typeface="Trenda IG Text"/>
              </a:rPr>
              <a:t>owner, version, PHI-scanned</a:t>
            </a:r>
          </a:p>
        </p:txBody>
      </p:sp>
      <p:sp>
        <p:nvSpPr>
          <p:cNvPr id="134" name="Shape 128"/>
          <p:cNvSpPr/>
          <p:nvPr/>
        </p:nvSpPr>
        <p:spPr>
          <a:xfrm>
            <a:off x="8948057"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29"/>
          <p:cNvSpPr/>
          <p:nvPr/>
        </p:nvSpPr>
        <p:spPr>
          <a:xfrm>
            <a:off x="894805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0"/>
          <p:cNvSpPr txBox="1"/>
          <p:nvPr/>
        </p:nvSpPr>
        <p:spPr>
          <a:xfrm>
            <a:off x="9094361"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Tested before release</a:t>
            </a:r>
          </a:p>
          <a:p>
            <a:pPr>
              <a:spcAft>
                <a:spcPts val="100"/>
              </a:spcAft>
            </a:pPr>
            <a:r>
              <a:rPr sz="700" b="0" i="0">
                <a:solidFill>
                  <a:srgbClr val="4D4D4D"/>
                </a:solidFill>
                <a:latin typeface="Trenda IG Text"/>
              </a:rPr>
              <a:t>scripted test calls</a:t>
            </a:r>
          </a:p>
        </p:txBody>
      </p:sp>
      <p:sp>
        <p:nvSpPr>
          <p:cNvPr id="137" name="Shape 131"/>
          <p:cNvSpPr/>
          <p:nvPr/>
        </p:nvSpPr>
        <p:spPr>
          <a:xfrm>
            <a:off x="10408484"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Shape 132"/>
          <p:cNvSpPr/>
          <p:nvPr/>
        </p:nvSpPr>
        <p:spPr>
          <a:xfrm>
            <a:off x="104084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33"/>
          <p:cNvSpPr txBox="1"/>
          <p:nvPr/>
        </p:nvSpPr>
        <p:spPr>
          <a:xfrm>
            <a:off x="10554788"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Emergencies never wait</a:t>
            </a:r>
          </a:p>
          <a:p>
            <a:pPr>
              <a:spcAft>
                <a:spcPts val="100"/>
              </a:spcAft>
            </a:pPr>
            <a:r>
              <a:rPr sz="700" b="0" i="0">
                <a:solidFill>
                  <a:srgbClr val="4D4D4D"/>
                </a:solidFill>
                <a:latin typeface="Trenda IG Text"/>
              </a:rPr>
              <a:t>911 or a nurse; no check</a:t>
            </a:r>
          </a:p>
        </p:txBody>
      </p:sp>
      <p:sp>
        <p:nvSpPr>
          <p:cNvPr id="140" name="Shape 1"/>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Shape 2"/>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Platform fit: one factory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ONE FACTORY</a:t>
            </a:r>
          </a:p>
          <a:p>
            <a:pPr>
              <a:spcAft>
                <a:spcPts val="100"/>
              </a:spcAft>
            </a:pPr>
            <a:r>
              <a:rPr sz="700" b="0" i="0">
                <a:solidFill>
                  <a:srgbClr val="6B6B6B"/>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Delivery</a:t>
            </a:r>
          </a:p>
          <a:p>
            <a:r>
              <a:rPr sz="700" b="0" i="0">
                <a:solidFill>
                  <a:srgbClr val="4D4D4D"/>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Campaigns</a:t>
            </a:r>
          </a:p>
          <a:p>
            <a:r>
              <a:rPr sz="700" b="0" i="0">
                <a:solidFill>
                  <a:srgbClr val="4D4D4D"/>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1A1A1A"/>
                </a:solidFill>
                <a:latin typeface="Trenda IG Text"/>
              </a:rPr>
              <a:t>Sierra voice agent</a:t>
            </a:r>
          </a:p>
          <a:p>
            <a:r>
              <a:rPr sz="700" b="0" i="0">
                <a:solidFill>
                  <a:srgbClr val="4D4D4D"/>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89A0"/>
                </a:solidFill>
                <a:latin typeface="Trenda IG Text"/>
              </a:rPr>
              <a:t>SHARED BY ALL THREE</a:t>
            </a:r>
          </a:p>
          <a:p>
            <a:pPr>
              <a:spcAft>
                <a:spcPts val="100"/>
              </a:spcAft>
            </a:pPr>
            <a:r>
              <a:rPr sz="700" b="0" i="0">
                <a:solidFill>
                  <a:srgbClr val="4D4D4D"/>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BUILD</a:t>
            </a:r>
          </a:p>
        </p:txBody>
      </p:sp>
      <p:sp>
        <p:nvSpPr>
          <p:cNvPr id="18" name="Shape 15"/>
          <p:cNvSpPr/>
          <p:nvPr/>
        </p:nvSpPr>
        <p:spPr>
          <a:xfrm>
            <a:off x="521208"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definition per agent</a:t>
            </a:r>
          </a:p>
          <a:p>
            <a:pPr>
              <a:spcAft>
                <a:spcPts val="200"/>
              </a:spcAft>
            </a:pPr>
            <a:r>
              <a:rPr sz="700" b="0" i="0">
                <a:solidFill>
                  <a:srgbClr val="4D4D4D"/>
                </a:solidFill>
                <a:latin typeface="Trenda IG Text"/>
              </a:rPr>
              <a:t>plus a skill pack per pod; new agents plug into the same framework when new work needs them</a:t>
            </a:r>
          </a:p>
        </p:txBody>
      </p:sp>
      <p:sp>
        <p:nvSpPr>
          <p:cNvPr id="21" name="Shape 18"/>
          <p:cNvSpPr/>
          <p:nvPr/>
        </p:nvSpPr>
        <p:spPr>
          <a:xfrm>
            <a:off x="521208"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Versioned</a:t>
            </a:r>
          </a:p>
          <a:p>
            <a:pPr>
              <a:spcAft>
                <a:spcPts val="200"/>
              </a:spcAft>
            </a:pPr>
            <a:r>
              <a:rPr sz="700" b="0" i="0">
                <a:solidFill>
                  <a:srgbClr val="4D4D4D"/>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Eval gate</a:t>
            </a:r>
          </a:p>
          <a:p>
            <a:pPr>
              <a:spcAft>
                <a:spcPts val="200"/>
              </a:spcAft>
            </a:pPr>
            <a:r>
              <a:rPr sz="700" b="0" i="0">
                <a:solidFill>
                  <a:srgbClr val="4D4D4D"/>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Pod by pod</a:t>
            </a:r>
          </a:p>
          <a:p>
            <a:pPr>
              <a:spcAft>
                <a:spcPts val="200"/>
              </a:spcAft>
            </a:pPr>
            <a:r>
              <a:rPr sz="700" b="0" i="0">
                <a:solidFill>
                  <a:srgbClr val="4D4D4D"/>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SCALES</a:t>
            </a:r>
            <a:r>
              <a:rPr sz="700" b="0" i="0">
                <a:solidFill>
                  <a:srgbClr val="4D4D4D"/>
                </a:solidFill>
                <a:latin typeface="Trenda IG Text"/>
              </a:rPr>
              <a:t>   concurrency</a:t>
            </a:r>
          </a:p>
        </p:txBody>
      </p:sp>
      <p:sp>
        <p:nvSpPr>
          <p:cNvPr id="33" name="Shape 30"/>
          <p:cNvSpPr/>
          <p:nvPr/>
        </p:nvSpPr>
        <p:spPr>
          <a:xfrm>
            <a:off x="2816352"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isolated run per request</a:t>
            </a:r>
          </a:p>
          <a:p>
            <a:pPr>
              <a:spcAft>
                <a:spcPts val="200"/>
              </a:spcAft>
            </a:pPr>
            <a:r>
              <a:rPr sz="700" b="0" i="0">
                <a:solidFill>
                  <a:srgbClr val="4D4D4D"/>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Fair share for every pod</a:t>
            </a:r>
          </a:p>
          <a:p>
            <a:pPr>
              <a:spcAft>
                <a:spcPts val="200"/>
              </a:spcAft>
            </a:pPr>
            <a:r>
              <a:rPr sz="700" b="0" i="0">
                <a:solidFill>
                  <a:srgbClr val="4D4D4D"/>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Scales with demand</a:t>
            </a:r>
          </a:p>
          <a:p>
            <a:pPr>
              <a:spcAft>
                <a:spcPts val="200"/>
              </a:spcAft>
            </a:pPr>
            <a:r>
              <a:rPr sz="700" b="0" i="0">
                <a:solidFill>
                  <a:srgbClr val="4D4D4D"/>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Queued, never dropped</a:t>
            </a:r>
          </a:p>
          <a:p>
            <a:pPr>
              <a:spcAft>
                <a:spcPts val="200"/>
              </a:spcAft>
            </a:pPr>
            <a:r>
              <a:rPr sz="700" b="0" i="0">
                <a:solidFill>
                  <a:srgbClr val="4D4D4D"/>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STAYS ACCURATE</a:t>
            </a:r>
            <a:r>
              <a:rPr sz="700" b="0" i="0">
                <a:solidFill>
                  <a:srgbClr val="4D4D4D"/>
                </a:solidFill>
                <a:latin typeface="Trenda IG Text"/>
              </a:rPr>
              <a:t>   accuracy</a:t>
            </a:r>
          </a:p>
        </p:txBody>
      </p:sp>
      <p:sp>
        <p:nvSpPr>
          <p:cNvPr id="48" name="Shape 45"/>
          <p:cNvSpPr/>
          <p:nvPr/>
        </p:nvSpPr>
        <p:spPr>
          <a:xfrm>
            <a:off x="5111496"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Cited facts only</a:t>
            </a:r>
          </a:p>
          <a:p>
            <a:pPr>
              <a:spcAft>
                <a:spcPts val="200"/>
              </a:spcAft>
            </a:pPr>
            <a:r>
              <a:rPr sz="700" b="0" i="0">
                <a:solidFill>
                  <a:srgbClr val="4D4D4D"/>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Same bar for every pod</a:t>
            </a:r>
          </a:p>
          <a:p>
            <a:pPr>
              <a:spcAft>
                <a:spcPts val="200"/>
              </a:spcAft>
            </a:pPr>
            <a:r>
              <a:rPr sz="700" b="0" i="0">
                <a:solidFill>
                  <a:srgbClr val="4D4D4D"/>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Load changes the wait, not the answer</a:t>
            </a:r>
          </a:p>
          <a:p>
            <a:pPr>
              <a:spcAft>
                <a:spcPts val="200"/>
              </a:spcAft>
            </a:pPr>
            <a:r>
              <a:rPr sz="700" b="0" i="0">
                <a:solidFill>
                  <a:srgbClr val="4D4D4D"/>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Measured every run</a:t>
            </a:r>
          </a:p>
          <a:p>
            <a:pPr>
              <a:spcAft>
                <a:spcPts val="200"/>
              </a:spcAft>
            </a:pPr>
            <a:r>
              <a:rPr sz="700" b="0" i="0">
                <a:solidFill>
                  <a:srgbClr val="4D4D4D"/>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PROTECT DATA</a:t>
            </a:r>
            <a:r>
              <a:rPr sz="700" b="0" i="0">
                <a:solidFill>
                  <a:srgbClr val="4D4D4D"/>
                </a:solidFill>
                <a:latin typeface="Trenda IG Text"/>
              </a:rPr>
              <a:t>   measured</a:t>
            </a:r>
          </a:p>
        </p:txBody>
      </p:sp>
      <p:sp>
        <p:nvSpPr>
          <p:cNvPr id="63" name="Shape 60"/>
          <p:cNvSpPr/>
          <p:nvPr/>
        </p:nvSpPr>
        <p:spPr>
          <a:xfrm>
            <a:off x="7406640"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Classified and approved</a:t>
            </a:r>
          </a:p>
          <a:p>
            <a:pPr>
              <a:spcAft>
                <a:spcPts val="200"/>
              </a:spcAft>
            </a:pPr>
            <a:r>
              <a:rPr sz="700" b="0" i="0">
                <a:solidFill>
                  <a:srgbClr val="4D4D4D"/>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Masked and verified</a:t>
            </a:r>
          </a:p>
          <a:p>
            <a:pPr>
              <a:spcAft>
                <a:spcPts val="200"/>
              </a:spcAft>
            </a:pPr>
            <a:r>
              <a:rPr sz="700" b="0" i="0">
                <a:solidFill>
                  <a:srgbClr val="4D4D4D"/>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Zero unauthorized access</a:t>
            </a:r>
          </a:p>
          <a:p>
            <a:pPr>
              <a:spcAft>
                <a:spcPts val="200"/>
              </a:spcAft>
            </a:pPr>
            <a:r>
              <a:rPr sz="700" b="0" i="0">
                <a:solidFill>
                  <a:srgbClr val="4D4D4D"/>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Every access audited</a:t>
            </a:r>
          </a:p>
          <a:p>
            <a:pPr>
              <a:spcAft>
                <a:spcPts val="200"/>
              </a:spcAft>
            </a:pPr>
            <a:r>
              <a:rPr sz="700" b="0" i="0">
                <a:solidFill>
                  <a:srgbClr val="4D4D4D"/>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CONTROL</a:t>
            </a:r>
          </a:p>
        </p:txBody>
      </p:sp>
      <p:sp>
        <p:nvSpPr>
          <p:cNvPr id="78" name="Shape 75"/>
          <p:cNvSpPr/>
          <p:nvPr/>
        </p:nvSpPr>
        <p:spPr>
          <a:xfrm>
            <a:off x="9701783"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No production access</a:t>
            </a:r>
          </a:p>
          <a:p>
            <a:pPr>
              <a:spcAft>
                <a:spcPts val="200"/>
              </a:spcAft>
            </a:pPr>
            <a:r>
              <a:rPr sz="700" b="0" i="0">
                <a:solidFill>
                  <a:srgbClr val="4D4D4D"/>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Guardrails</a:t>
            </a:r>
          </a:p>
          <a:p>
            <a:pPr>
              <a:spcAft>
                <a:spcPts val="200"/>
              </a:spcAft>
            </a:pPr>
            <a:r>
              <a:rPr sz="700" b="0" i="0">
                <a:solidFill>
                  <a:srgbClr val="4D4D4D"/>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36576"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8A6D00"/>
                </a:solidFill>
                <a:latin typeface="Trenda IG Text"/>
              </a:rPr>
              <a:t>People decide</a:t>
            </a:r>
          </a:p>
          <a:p>
            <a:pPr>
              <a:spcAft>
                <a:spcPts val="200"/>
              </a:spcAft>
            </a:pPr>
            <a:r>
              <a:rPr sz="700" b="0" i="0">
                <a:solidFill>
                  <a:srgbClr val="4D4D4D"/>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Quotas + kill switch</a:t>
            </a:r>
          </a:p>
          <a:p>
            <a:pPr>
              <a:spcAft>
                <a:spcPts val="200"/>
              </a:spcAft>
            </a:pPr>
            <a:r>
              <a:rPr sz="700" b="0" i="0">
                <a:solidFill>
                  <a:srgbClr val="4D4D4D"/>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CORE BENEFITS</a:t>
            </a:r>
          </a:p>
          <a:p>
            <a:pPr>
              <a:spcAft>
                <a:spcPts val="100"/>
              </a:spcAft>
            </a:pPr>
            <a:r>
              <a:rPr sz="700" b="0" i="0">
                <a:solidFill>
                  <a:srgbClr val="6B6B6B"/>
                </a:solidFill>
                <a:latin typeface="Trenda IG Text"/>
              </a:rPr>
              <a:t>beyond cost</a:t>
            </a:r>
          </a:p>
        </p:txBody>
      </p:sp>
      <p:sp>
        <p:nvSpPr>
          <p:cNvPr id="91" name="Shape 88"/>
          <p:cNvSpPr/>
          <p:nvPr/>
        </p:nvSpPr>
        <p:spPr>
          <a:xfrm>
            <a:off x="164592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Consistency</a:t>
            </a:r>
          </a:p>
          <a:p>
            <a:pPr>
              <a:spcAft>
                <a:spcPts val="200"/>
              </a:spcAft>
            </a:pPr>
            <a:r>
              <a:rPr sz="700" b="0" i="0">
                <a:solidFill>
                  <a:srgbClr val="4D4D4D"/>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Reuse</a:t>
            </a:r>
          </a:p>
          <a:p>
            <a:pPr>
              <a:spcAft>
                <a:spcPts val="200"/>
              </a:spcAft>
            </a:pPr>
            <a:r>
              <a:rPr sz="700" b="0" i="0">
                <a:solidFill>
                  <a:srgbClr val="4D4D4D"/>
                </a:solidFill>
                <a:latin typeface="Trenda IG Text"/>
              </a:rPr>
              <a:t>Build once; a new pod adds skills, and new agents plug in when needed.</a:t>
            </a:r>
          </a:p>
        </p:txBody>
      </p:sp>
      <p:sp>
        <p:nvSpPr>
          <p:cNvPr id="97" name="Shape 94"/>
          <p:cNvSpPr/>
          <p:nvPr/>
        </p:nvSpPr>
        <p:spPr>
          <a:xfrm>
            <a:off x="5053584"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Knowledge kept</a:t>
            </a:r>
          </a:p>
          <a:p>
            <a:pPr>
              <a:spcAft>
                <a:spcPts val="200"/>
              </a:spcAft>
            </a:pPr>
            <a:r>
              <a:rPr sz="700" b="0" i="0">
                <a:solidFill>
                  <a:srgbClr val="4D4D4D"/>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Quality</a:t>
            </a:r>
          </a:p>
          <a:p>
            <a:pPr>
              <a:spcAft>
                <a:spcPts val="200"/>
              </a:spcAft>
            </a:pPr>
            <a:r>
              <a:rPr sz="700" b="0" i="0">
                <a:solidFill>
                  <a:srgbClr val="4D4D4D"/>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Auditability</a:t>
            </a:r>
          </a:p>
          <a:p>
            <a:pPr>
              <a:spcAft>
                <a:spcPts val="200"/>
              </a:spcAft>
            </a:pPr>
            <a:r>
              <a:rPr sz="700" b="0" i="0">
                <a:solidFill>
                  <a:srgbClr val="4D4D4D"/>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Safe by design</a:t>
            </a:r>
          </a:p>
          <a:p>
            <a:pPr>
              <a:spcAft>
                <a:spcPts val="200"/>
              </a:spcAft>
            </a:pPr>
            <a:r>
              <a:rPr sz="700" b="0" i="0">
                <a:solidFill>
                  <a:srgbClr val="4D4D4D"/>
                </a:solidFill>
                <a:latin typeface="Trenda IG Text"/>
              </a:rPr>
              <a:t>No production credentials, no raw PHI for agents.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Lean squads on one platform</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 squad of 5-7 becomes a PM / tech lead and a dev / QA directing the harness agent, with a PM / TL shared across squads.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THE SQUAD  ·  TODAY → WITH THE FACTORY</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6B6B6B"/>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1A1A1A"/>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1A1A1A"/>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89A0"/>
                </a:solidFill>
                <a:latin typeface="Trenda IG Text"/>
              </a:rPr>
              <a:t>WITH THE FACTORY · ~2.4 PEOPLE</a:t>
            </a:r>
          </a:p>
        </p:txBody>
      </p:sp>
      <p:sp>
        <p:nvSpPr>
          <p:cNvPr id="18" name="Shape 17"/>
          <p:cNvSpPr/>
          <p:nvPr/>
        </p:nvSpPr>
        <p:spPr>
          <a:xfrm>
            <a:off x="521208" y="2249424"/>
            <a:ext cx="89611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896112" cy="292608"/>
          </a:xfrm>
          <a:prstGeom prst="rect">
            <a:avLst/>
          </a:prstGeom>
          <a:noFill/>
        </p:spPr>
        <p:txBody>
          <a:bodyPr wrap="square" lIns="0" rIns="0" tIns="0" bIns="0" anchor="ctr">
            <a:spAutoFit/>
          </a:bodyPr>
          <a:lstStyle/>
          <a:p>
            <a:pPr algn="ctr"/>
            <a:r>
              <a:rPr sz="700" b="1" i="0">
                <a:solidFill>
                  <a:srgbClr val="1A1A1A"/>
                </a:solidFill>
                <a:latin typeface="Trenda IG Text"/>
              </a:rPr>
              <a:t>PM / Tech Lead</a:t>
            </a:r>
          </a:p>
        </p:txBody>
      </p:sp>
      <p:sp>
        <p:nvSpPr>
          <p:cNvPr id="20" name="Shape 19"/>
          <p:cNvSpPr/>
          <p:nvPr/>
        </p:nvSpPr>
        <p:spPr>
          <a:xfrm>
            <a:off x="1472184" y="2249424"/>
            <a:ext cx="89611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472184" y="2249424"/>
            <a:ext cx="896112" cy="292608"/>
          </a:xfrm>
          <a:prstGeom prst="rect">
            <a:avLst/>
          </a:prstGeom>
          <a:noFill/>
        </p:spPr>
        <p:txBody>
          <a:bodyPr wrap="square" lIns="0" rIns="0" tIns="0" bIns="0" anchor="ctr">
            <a:spAutoFit/>
          </a:bodyPr>
          <a:lstStyle/>
          <a:p>
            <a:pPr algn="ctr"/>
            <a:r>
              <a:rPr sz="700" b="1" i="0">
                <a:solidFill>
                  <a:srgbClr val="1A1A1A"/>
                </a:solidFill>
                <a:latin typeface="Trenda IG Text"/>
              </a:rPr>
              <a:t>Dev / QA</a:t>
            </a:r>
          </a:p>
        </p:txBody>
      </p:sp>
      <p:sp>
        <p:nvSpPr>
          <p:cNvPr id="22" name="Shape 21"/>
          <p:cNvSpPr/>
          <p:nvPr/>
        </p:nvSpPr>
        <p:spPr>
          <a:xfrm>
            <a:off x="2423160" y="2249424"/>
            <a:ext cx="98755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478024" y="2322576"/>
            <a:ext cx="146304" cy="146304"/>
          </a:xfrm>
          <a:prstGeom prst="rect">
            <a:avLst/>
          </a:prstGeom>
        </p:spPr>
      </p:pic>
      <p:sp>
        <p:nvSpPr>
          <p:cNvPr id="24" name="Text 22"/>
          <p:cNvSpPr txBox="1"/>
          <p:nvPr/>
        </p:nvSpPr>
        <p:spPr>
          <a:xfrm>
            <a:off x="2606040" y="2249424"/>
            <a:ext cx="786384" cy="292608"/>
          </a:xfrm>
          <a:prstGeom prst="rect">
            <a:avLst/>
          </a:prstGeom>
          <a:noFill/>
        </p:spPr>
        <p:txBody>
          <a:bodyPr wrap="square" lIns="0" rIns="0" tIns="0" bIns="0" anchor="ctr">
            <a:spAutoFit/>
          </a:bodyPr>
          <a:lstStyle/>
          <a:p>
            <a:pPr algn="ctr"/>
            <a:r>
              <a:rPr sz="700" b="1" i="0">
                <a:solidFill>
                  <a:srgbClr val="0089A0"/>
                </a:solidFill>
                <a:latin typeface="Trenda IG Text"/>
              </a:rPr>
              <a:t>Harness agent</a:t>
            </a:r>
          </a:p>
        </p:txBody>
      </p:sp>
      <p:sp>
        <p:nvSpPr>
          <p:cNvPr id="25" name="Shape 23"/>
          <p:cNvSpPr/>
          <p:nvPr/>
        </p:nvSpPr>
        <p:spPr>
          <a:xfrm>
            <a:off x="3465576" y="2249424"/>
            <a:ext cx="969264"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465576" y="2249424"/>
            <a:ext cx="969264" cy="292608"/>
          </a:xfrm>
          <a:prstGeom prst="rect">
            <a:avLst/>
          </a:prstGeom>
          <a:noFill/>
        </p:spPr>
        <p:txBody>
          <a:bodyPr wrap="square" lIns="0" rIns="0" tIns="0" bIns="0" anchor="ctr">
            <a:spAutoFit/>
          </a:bodyPr>
          <a:lstStyle/>
          <a:p>
            <a:pPr algn="ctr"/>
            <a:r>
              <a:rPr sz="700" b="1" i="0">
                <a:solidFill>
                  <a:srgbClr val="1A1A1A"/>
                </a:solidFill>
                <a:latin typeface="Trenda IG Text"/>
              </a:rPr>
              <a:t>PM / TL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89A0"/>
                </a:solidFill>
                <a:latin typeface="Trenda IG Text"/>
              </a:rPr>
              <a:t>Agent </a:t>
            </a:r>
            <a:r>
              <a:rPr sz="700" b="0" i="0">
                <a:solidFill>
                  <a:srgbClr val="1A1A1A"/>
                </a:solidFill>
                <a:latin typeface="Trenda IG Text"/>
              </a:rPr>
              <a:t>drafts code, tests and the Copado package. </a:t>
            </a:r>
            <a:r>
              <a:rPr sz="700" b="1" i="0">
                <a:solidFill>
                  <a:srgbClr val="1A1A1A"/>
                </a:solidFill>
                <a:latin typeface="Trenda IG Text"/>
              </a:rPr>
              <a:t>Dev / QA </a:t>
            </a:r>
            <a:r>
              <a:rPr sz="700" b="0" i="0">
                <a:solidFill>
                  <a:srgbClr val="1A1A1A"/>
                </a:solidFill>
                <a:latin typeface="Trenda IG Text"/>
              </a:rPr>
              <a:t>directs it and verifies. </a:t>
            </a:r>
            <a:r>
              <a:rPr sz="700" b="1" i="0">
                <a:solidFill>
                  <a:srgbClr val="1A1A1A"/>
                </a:solidFill>
                <a:latin typeface="Trenda IG Text"/>
              </a:rPr>
              <a:t>PM / TL </a:t>
            </a:r>
            <a:r>
              <a:rPr sz="700" b="0" i="0">
                <a:solidFill>
                  <a:srgbClr val="1A1A1A"/>
                </a:solidFill>
                <a:latin typeface="Trenda IG Text"/>
              </a:rPr>
              <a:t>owns it and approves at H3; one more is shared by 2-3 squads.</a:t>
            </a:r>
          </a:p>
        </p:txBody>
      </p:sp>
      <p:sp>
        <p:nvSpPr>
          <p:cNvPr id="28" name="Shape 26"/>
          <p:cNvSpPr/>
          <p:nvPr/>
        </p:nvSpPr>
        <p:spPr>
          <a:xfrm>
            <a:off x="4727448" y="1170432"/>
            <a:ext cx="4206240" cy="1828800"/>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1A1A1A"/>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1A1A1A"/>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1A1A1A"/>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1A1A1A"/>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1A1A1A"/>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1A1A1A"/>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1A1A1A"/>
                </a:solidFill>
                <a:latin typeface="Trenda IG Text"/>
              </a:rPr>
              <a:t>BUILD AND RUN</a:t>
            </a:r>
          </a:p>
        </p:txBody>
      </p:sp>
      <p:sp>
        <p:nvSpPr>
          <p:cNvPr id="48" name="Shape 44"/>
          <p:cNvSpPr/>
          <p:nvPr/>
        </p:nvSpPr>
        <p:spPr>
          <a:xfrm>
            <a:off x="9153143"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1A1A1A"/>
                </a:solidFill>
                <a:latin typeface="Trenda IG Text"/>
              </a:rPr>
              <a:t>people at peak, 10 roles</a:t>
            </a:r>
          </a:p>
        </p:txBody>
      </p:sp>
      <p:sp>
        <p:nvSpPr>
          <p:cNvPr id="51" name="Shape 47"/>
          <p:cNvSpPr/>
          <p:nvPr/>
        </p:nvSpPr>
        <p:spPr>
          <a:xfrm>
            <a:off x="10015727"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1A1A1A"/>
                </a:solidFill>
                <a:latin typeface="Trenda IG Text"/>
              </a:rPr>
              <a:t>months to every pod live</a:t>
            </a:r>
          </a:p>
        </p:txBody>
      </p:sp>
      <p:sp>
        <p:nvSpPr>
          <p:cNvPr id="54" name="Shape 50"/>
          <p:cNvSpPr/>
          <p:nvPr/>
        </p:nvSpPr>
        <p:spPr>
          <a:xfrm>
            <a:off x="10878311"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1A1A1A"/>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1A1A1A"/>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FACTORY</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63" name="Arrow 59"/>
          <p:cNvCxnSpPr/>
          <p:nvPr/>
        </p:nvCxnSpPr>
        <p:spPr>
          <a:xfrm>
            <a:off x="1508760"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FACTORY</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75" name="Arrow 72"/>
          <p:cNvCxnSpPr/>
          <p:nvPr/>
        </p:nvCxnSpPr>
        <p:spPr>
          <a:xfrm>
            <a:off x="5346192" y="3822192"/>
            <a:ext cx="365759"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Every pod on the factory for the full year.</a:t>
            </a:r>
          </a:p>
        </p:txBody>
      </p:sp>
      <p:sp>
        <p:nvSpPr>
          <p:cNvPr id="82" name="Shape 80"/>
          <p:cNvSpPr/>
          <p:nvPr/>
        </p:nvSpPr>
        <p:spPr>
          <a:xfrm>
            <a:off x="8086343"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FACTORY</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87" name="Arrow 85"/>
          <p:cNvCxnSpPr/>
          <p:nvPr/>
        </p:nvCxnSpPr>
        <p:spPr>
          <a:xfrm>
            <a:off x="9183623"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F2F2F2"/>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With the factory</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6B6B6B"/>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SINGLE USER EXPERIENCE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Codex is the single interface for discovery, approvals and continuous activation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Data refreshes every day. Approved, versioned cohort rules push newly eligible patients to Marketing Cloud daily, without a daily human approval.</a:t>
            </a:r>
          </a:p>
        </p:txBody>
      </p:sp>
      <p:sp>
        <p:nvSpPr>
          <p:cNvPr id="5" name="Shape 4"/>
          <p:cNvSpPr/>
          <p:nvPr/>
        </p:nvSpPr>
        <p:spPr>
          <a:xfrm>
            <a:off x="411480" y="1170432"/>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7" name="Text 6"/>
          <p:cNvSpPr txBox="1"/>
          <p:nvPr/>
        </p:nvSpPr>
        <p:spPr>
          <a:xfrm>
            <a:off x="704088" y="1170432"/>
            <a:ext cx="4114800" cy="219456"/>
          </a:xfrm>
          <a:prstGeom prst="rect">
            <a:avLst/>
          </a:prstGeom>
          <a:noFill/>
        </p:spPr>
        <p:txBody>
          <a:bodyPr wrap="square" lIns="0" rIns="0" tIns="0" bIns="0" anchor="ctr">
            <a:spAutoFit/>
          </a:bodyPr>
          <a:lstStyle/>
          <a:p>
            <a:r>
              <a:rPr sz="800" b="1" i="0" spc="60">
                <a:solidFill>
                  <a:srgbClr val="0089A0"/>
                </a:solidFill>
                <a:latin typeface="Trenda IG Text"/>
              </a:rPr>
              <a:t>GOVERNED INTELLIGENCE</a:t>
            </a:r>
          </a:p>
        </p:txBody>
      </p:sp>
      <p:sp>
        <p:nvSpPr>
          <p:cNvPr id="8" name="Shape 7"/>
          <p:cNvSpPr/>
          <p:nvPr/>
        </p:nvSpPr>
        <p:spPr>
          <a:xfrm>
            <a:off x="411480" y="1463040"/>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hape 8"/>
          <p:cNvSpPr/>
          <p:nvPr/>
        </p:nvSpPr>
        <p:spPr>
          <a:xfrm>
            <a:off x="411480" y="1463040"/>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48640" y="1490472"/>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Authoritative sources</a:t>
            </a:r>
          </a:p>
          <a:p>
            <a:pPr>
              <a:lnSpc>
                <a:spcPct val="92000"/>
              </a:lnSpc>
              <a:spcAft>
                <a:spcPts val="100"/>
              </a:spcAft>
            </a:pPr>
            <a:r>
              <a:rPr sz="700" b="0" i="0">
                <a:solidFill>
                  <a:srgbClr val="4D4D4D"/>
                </a:solidFill>
                <a:latin typeface="Trenda IG Text"/>
              </a:rPr>
              <a:t>Epic · athenahealth · ADSI · Salesforce · SFMC; daily or streaming</a:t>
            </a:r>
          </a:p>
        </p:txBody>
      </p:sp>
      <p:sp>
        <p:nvSpPr>
          <p:cNvPr id="11" name="Shape 10"/>
          <p:cNvSpPr/>
          <p:nvPr/>
        </p:nvSpPr>
        <p:spPr>
          <a:xfrm>
            <a:off x="411480" y="2083003"/>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2083003"/>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48640" y="2110435"/>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DLP + Collibra</a:t>
            </a:r>
          </a:p>
          <a:p>
            <a:pPr>
              <a:lnSpc>
                <a:spcPct val="92000"/>
              </a:lnSpc>
              <a:spcAft>
                <a:spcPts val="100"/>
              </a:spcAft>
            </a:pPr>
            <a:r>
              <a:rPr sz="700" b="0" i="0">
                <a:solidFill>
                  <a:srgbClr val="4D4D4D"/>
                </a:solidFill>
                <a:latin typeface="Trenda IG Text"/>
              </a:rPr>
              <a:t>approve datasets, classify PHI, set policy tags before ingest</a:t>
            </a:r>
          </a:p>
        </p:txBody>
      </p:sp>
      <p:sp>
        <p:nvSpPr>
          <p:cNvPr id="14" name="Shape 13"/>
          <p:cNvSpPr/>
          <p:nvPr/>
        </p:nvSpPr>
        <p:spPr>
          <a:xfrm>
            <a:off x="411480" y="2702966"/>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4"/>
          <p:cNvSpPr/>
          <p:nvPr/>
        </p:nvSpPr>
        <p:spPr>
          <a:xfrm>
            <a:off x="411480" y="2702966"/>
            <a:ext cx="45720" cy="51206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548640" y="273039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Bronze → Silver</a:t>
            </a:r>
          </a:p>
          <a:p>
            <a:pPr>
              <a:lnSpc>
                <a:spcPct val="92000"/>
              </a:lnSpc>
              <a:spcAft>
                <a:spcPts val="100"/>
              </a:spcAft>
            </a:pPr>
            <a:r>
              <a:rPr sz="700" b="0" i="0">
                <a:solidFill>
                  <a:srgbClr val="4D4D4D"/>
                </a:solidFill>
                <a:latin typeface="Trenda IG Text"/>
              </a:rPr>
              <a:t>raw extracts, then identity resolution (EUID) + consent of record</a:t>
            </a:r>
          </a:p>
        </p:txBody>
      </p:sp>
      <p:sp>
        <p:nvSpPr>
          <p:cNvPr id="17" name="Shape 16"/>
          <p:cNvSpPr/>
          <p:nvPr/>
        </p:nvSpPr>
        <p:spPr>
          <a:xfrm>
            <a:off x="411480" y="3322929"/>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hape 17"/>
          <p:cNvSpPr/>
          <p:nvPr/>
        </p:nvSpPr>
        <p:spPr>
          <a:xfrm>
            <a:off x="411480" y="3322929"/>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48640" y="3350361"/>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Gold A · insight  |  restricted patient layer</a:t>
            </a:r>
          </a:p>
          <a:p>
            <a:pPr>
              <a:lnSpc>
                <a:spcPct val="92000"/>
              </a:lnSpc>
              <a:spcAft>
                <a:spcPts val="100"/>
              </a:spcAft>
            </a:pPr>
            <a:r>
              <a:rPr sz="700" b="0" i="0">
                <a:solidFill>
                  <a:srgbClr val="4D4D4D"/>
                </a:solidFill>
                <a:latin typeface="Trenda IG Text"/>
              </a:rPr>
              <a:t>aggregates for agents  |  patients for the engines only</a:t>
            </a:r>
          </a:p>
        </p:txBody>
      </p:sp>
      <p:sp>
        <p:nvSpPr>
          <p:cNvPr id="20" name="Shape 19"/>
          <p:cNvSpPr/>
          <p:nvPr/>
        </p:nvSpPr>
        <p:spPr>
          <a:xfrm>
            <a:off x="411480" y="3942892"/>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20"/>
          <p:cNvSpPr/>
          <p:nvPr/>
        </p:nvSpPr>
        <p:spPr>
          <a:xfrm>
            <a:off x="411480" y="3942892"/>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48640" y="3970324"/>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Kyvos semantic layer</a:t>
            </a:r>
          </a:p>
          <a:p>
            <a:pPr>
              <a:lnSpc>
                <a:spcPct val="92000"/>
              </a:lnSpc>
              <a:spcAft>
                <a:spcPts val="100"/>
              </a:spcAft>
            </a:pPr>
            <a:r>
              <a:rPr sz="700" b="0" i="0">
                <a:solidFill>
                  <a:srgbClr val="4D4D4D"/>
                </a:solidFill>
                <a:latin typeface="Trenda IG Text"/>
              </a:rPr>
              <a:t>governed measures and cohort concepts (or built in-house)</a:t>
            </a:r>
          </a:p>
        </p:txBody>
      </p:sp>
      <p:sp>
        <p:nvSpPr>
          <p:cNvPr id="23" name="Shape 22"/>
          <p:cNvSpPr/>
          <p:nvPr/>
        </p:nvSpPr>
        <p:spPr>
          <a:xfrm>
            <a:off x="411480" y="4562856"/>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3"/>
          <p:cNvSpPr/>
          <p:nvPr/>
        </p:nvSpPr>
        <p:spPr>
          <a:xfrm>
            <a:off x="411480" y="4562856"/>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4"/>
          <p:cNvSpPr txBox="1"/>
          <p:nvPr/>
        </p:nvSpPr>
        <p:spPr>
          <a:xfrm>
            <a:off x="548640" y="459028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Spanner knowledge graph</a:t>
            </a:r>
          </a:p>
          <a:p>
            <a:pPr>
              <a:lnSpc>
                <a:spcPct val="92000"/>
              </a:lnSpc>
              <a:spcAft>
                <a:spcPts val="100"/>
              </a:spcAft>
            </a:pPr>
            <a:r>
              <a:rPr sz="700" b="0" i="0">
                <a:solidFill>
                  <a:srgbClr val="4D4D4D"/>
                </a:solidFill>
                <a:latin typeface="Trenda IG Text"/>
              </a:rPr>
              <a:t>concepts, cohort rules, campaigns, lineage; no patient nodes</a:t>
            </a:r>
          </a:p>
        </p:txBody>
      </p:sp>
      <p:cxnSp>
        <p:nvCxnSpPr>
          <p:cNvPr id="26" name="Arrow 25"/>
          <p:cNvCxnSpPr/>
          <p:nvPr/>
        </p:nvCxnSpPr>
        <p:spPr>
          <a:xfrm>
            <a:off x="777240" y="1975104"/>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26"/>
          <p:cNvCxnSpPr/>
          <p:nvPr/>
        </p:nvCxnSpPr>
        <p:spPr>
          <a:xfrm>
            <a:off x="777240" y="2595067"/>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7"/>
          <p:cNvCxnSpPr/>
          <p:nvPr/>
        </p:nvCxnSpPr>
        <p:spPr>
          <a:xfrm>
            <a:off x="777240" y="3215030"/>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28"/>
          <p:cNvCxnSpPr/>
          <p:nvPr/>
        </p:nvCxnSpPr>
        <p:spPr>
          <a:xfrm>
            <a:off x="777240" y="3834993"/>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29"/>
          <p:cNvCxnSpPr/>
          <p:nvPr/>
        </p:nvCxnSpPr>
        <p:spPr>
          <a:xfrm>
            <a:off x="777240" y="4454956"/>
            <a:ext cx="0" cy="1079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30"/>
          <p:cNvCxnSpPr/>
          <p:nvPr/>
        </p:nvCxnSpPr>
        <p:spPr>
          <a:xfrm>
            <a:off x="3154680" y="4198924"/>
            <a:ext cx="182880"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Arrow 31"/>
          <p:cNvCxnSpPr/>
          <p:nvPr/>
        </p:nvCxnSpPr>
        <p:spPr>
          <a:xfrm>
            <a:off x="3154680" y="4818888"/>
            <a:ext cx="182880"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3337560" y="1170432"/>
            <a:ext cx="219456" cy="219456"/>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333756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5" name="Text 34"/>
          <p:cNvSpPr txBox="1"/>
          <p:nvPr/>
        </p:nvSpPr>
        <p:spPr>
          <a:xfrm>
            <a:off x="3630168" y="1170432"/>
            <a:ext cx="4114800" cy="219456"/>
          </a:xfrm>
          <a:prstGeom prst="rect">
            <a:avLst/>
          </a:prstGeom>
          <a:noFill/>
        </p:spPr>
        <p:txBody>
          <a:bodyPr wrap="square" lIns="0" rIns="0" tIns="0" bIns="0" anchor="ctr">
            <a:spAutoFit/>
          </a:bodyPr>
          <a:lstStyle/>
          <a:p>
            <a:r>
              <a:rPr sz="800" b="1" i="0" spc="60">
                <a:solidFill>
                  <a:srgbClr val="8A6D00"/>
                </a:solidFill>
                <a:latin typeface="Trenda IG Text"/>
              </a:rPr>
              <a:t>CODEX · SINGLE USER INTERFACE</a:t>
            </a:r>
          </a:p>
        </p:txBody>
      </p:sp>
      <p:sp>
        <p:nvSpPr>
          <p:cNvPr id="36" name="Shape 35"/>
          <p:cNvSpPr/>
          <p:nvPr/>
        </p:nvSpPr>
        <p:spPr>
          <a:xfrm>
            <a:off x="3337560" y="1463040"/>
            <a:ext cx="3749039" cy="3611879"/>
          </a:xfrm>
          <a:prstGeom prst="roundRect">
            <a:avLst>
              <a:gd name="adj" fmla="val 8000"/>
            </a:avLst>
          </a:prstGeom>
          <a:solidFill>
            <a:srgbClr val="FFFFFF"/>
          </a:solidFill>
          <a:ln w="190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3337560" y="1536192"/>
            <a:ext cx="3749039" cy="237744"/>
          </a:xfrm>
          <a:prstGeom prst="rect">
            <a:avLst/>
          </a:prstGeom>
          <a:noFill/>
        </p:spPr>
        <p:txBody>
          <a:bodyPr wrap="square" lIns="0" rIns="0" tIns="0" bIns="0" anchor="ctr">
            <a:spAutoFit/>
          </a:bodyPr>
          <a:lstStyle/>
          <a:p>
            <a:pPr algn="ctr"/>
            <a:r>
              <a:rPr sz="1000" b="1" i="0">
                <a:solidFill>
                  <a:srgbClr val="1A1A1A"/>
                </a:solidFill>
                <a:latin typeface="Trenda IG Text"/>
              </a:rPr>
              <a:t>ONE CONVERSATION · NAMED APPROVALS</a:t>
            </a:r>
          </a:p>
        </p:txBody>
      </p:sp>
      <p:sp>
        <p:nvSpPr>
          <p:cNvPr id="38" name="Text 37"/>
          <p:cNvSpPr txBox="1"/>
          <p:nvPr/>
        </p:nvSpPr>
        <p:spPr>
          <a:xfrm>
            <a:off x="3337560" y="1773936"/>
            <a:ext cx="3749039" cy="164592"/>
          </a:xfrm>
          <a:prstGeom prst="rect">
            <a:avLst/>
          </a:prstGeom>
          <a:noFill/>
        </p:spPr>
        <p:txBody>
          <a:bodyPr wrap="square" lIns="0" rIns="0" tIns="0" bIns="0" anchor="ctr">
            <a:spAutoFit/>
          </a:bodyPr>
          <a:lstStyle/>
          <a:p>
            <a:pPr algn="ctr"/>
            <a:r>
              <a:rPr sz="700" b="0" i="0">
                <a:solidFill>
                  <a:srgbClr val="8A6D00"/>
                </a:solidFill>
                <a:latin typeface="Trenda IG Text"/>
              </a:rPr>
              <a:t>approvals signed by the approval service, never by Codex</a:t>
            </a:r>
          </a:p>
        </p:txBody>
      </p:sp>
      <p:sp>
        <p:nvSpPr>
          <p:cNvPr id="39" name="Shape 38"/>
          <p:cNvSpPr/>
          <p:nvPr/>
        </p:nvSpPr>
        <p:spPr>
          <a:xfrm>
            <a:off x="3483864" y="2029968"/>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3483864" y="2029968"/>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3621024" y="2057400"/>
            <a:ext cx="2724911" cy="237744"/>
          </a:xfrm>
          <a:prstGeom prst="rect">
            <a:avLst/>
          </a:prstGeom>
          <a:noFill/>
        </p:spPr>
        <p:txBody>
          <a:bodyPr wrap="square" lIns="0" rIns="0" tIns="0" bIns="0" anchor="ctr">
            <a:spAutoFit/>
          </a:bodyPr>
          <a:lstStyle/>
          <a:p>
            <a:r>
              <a:rPr sz="800" b="1" i="0">
                <a:solidFill>
                  <a:srgbClr val="0089A0"/>
                </a:solidFill>
                <a:latin typeface="Trenda IG Text"/>
              </a:rPr>
              <a:t>A  </a:t>
            </a:r>
            <a:r>
              <a:rPr sz="800" b="1" i="0">
                <a:solidFill>
                  <a:srgbClr val="1A1A1A"/>
                </a:solidFill>
                <a:latin typeface="Trenda IG Text"/>
              </a:rPr>
              <a:t>Campaign goal</a:t>
            </a:r>
          </a:p>
        </p:txBody>
      </p:sp>
      <p:sp>
        <p:nvSpPr>
          <p:cNvPr id="42" name="Text 41"/>
          <p:cNvSpPr txBox="1"/>
          <p:nvPr/>
        </p:nvSpPr>
        <p:spPr>
          <a:xfrm>
            <a:off x="3621024" y="2295144"/>
            <a:ext cx="3227832" cy="237744"/>
          </a:xfrm>
          <a:prstGeom prst="rect">
            <a:avLst/>
          </a:prstGeom>
          <a:noFill/>
        </p:spPr>
        <p:txBody>
          <a:bodyPr wrap="square" lIns="0" rIns="0" tIns="0" bIns="0" anchor="t">
            <a:spAutoFit/>
          </a:bodyPr>
          <a:lstStyle/>
          <a:p>
            <a:r>
              <a:rPr sz="700" b="0" i="0">
                <a:solidFill>
                  <a:srgbClr val="4D4D4D"/>
                </a:solidFill>
                <a:latin typeface="Trenda IG Text"/>
              </a:rPr>
              <a:t>campaign, channel, cadence and target population</a:t>
            </a:r>
          </a:p>
        </p:txBody>
      </p:sp>
      <p:sp>
        <p:nvSpPr>
          <p:cNvPr id="43" name="Shape 42"/>
          <p:cNvSpPr/>
          <p:nvPr/>
        </p:nvSpPr>
        <p:spPr>
          <a:xfrm>
            <a:off x="3483864" y="2640330"/>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3483864" y="2640330"/>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3621024" y="2667762"/>
            <a:ext cx="2724911" cy="237744"/>
          </a:xfrm>
          <a:prstGeom prst="rect">
            <a:avLst/>
          </a:prstGeom>
          <a:noFill/>
        </p:spPr>
        <p:txBody>
          <a:bodyPr wrap="square" lIns="0" rIns="0" tIns="0" bIns="0" anchor="ctr">
            <a:spAutoFit/>
          </a:bodyPr>
          <a:lstStyle/>
          <a:p>
            <a:r>
              <a:rPr sz="800" b="1" i="0">
                <a:solidFill>
                  <a:srgbClr val="8A6D00"/>
                </a:solidFill>
                <a:latin typeface="Trenda IG Text"/>
              </a:rPr>
              <a:t>B  </a:t>
            </a:r>
            <a:r>
              <a:rPr sz="800" b="1" i="0">
                <a:solidFill>
                  <a:srgbClr val="1A1A1A"/>
                </a:solidFill>
                <a:latin typeface="Trenda IG Text"/>
              </a:rPr>
              <a:t>Cohort JSON + refresh policy</a:t>
            </a:r>
          </a:p>
        </p:txBody>
      </p:sp>
      <p:sp>
        <p:nvSpPr>
          <p:cNvPr id="46" name="Text 45"/>
          <p:cNvSpPr txBox="1"/>
          <p:nvPr/>
        </p:nvSpPr>
        <p:spPr>
          <a:xfrm>
            <a:off x="3621024" y="2905506"/>
            <a:ext cx="3227832" cy="237744"/>
          </a:xfrm>
          <a:prstGeom prst="rect">
            <a:avLst/>
          </a:prstGeom>
          <a:noFill/>
        </p:spPr>
        <p:txBody>
          <a:bodyPr wrap="square" lIns="0" rIns="0" tIns="0" bIns="0" anchor="t">
            <a:spAutoFit/>
          </a:bodyPr>
          <a:lstStyle/>
          <a:p>
            <a:r>
              <a:rPr sz="700" b="0" i="0">
                <a:solidFill>
                  <a:srgbClr val="4D4D4D"/>
                </a:solidFill>
                <a:latin typeface="Trenda IG Text"/>
              </a:rPr>
              <a:t>versioned criteria and the daily refresh rule</a:t>
            </a:r>
          </a:p>
        </p:txBody>
      </p:sp>
      <p:sp>
        <p:nvSpPr>
          <p:cNvPr id="47" name="Shape 46"/>
          <p:cNvSpPr/>
          <p:nvPr/>
        </p:nvSpPr>
        <p:spPr>
          <a:xfrm>
            <a:off x="6437376" y="2704338"/>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6437376" y="2704338"/>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G1</a:t>
            </a:r>
          </a:p>
        </p:txBody>
      </p:sp>
      <p:sp>
        <p:nvSpPr>
          <p:cNvPr id="49" name="Shape 48"/>
          <p:cNvSpPr/>
          <p:nvPr/>
        </p:nvSpPr>
        <p:spPr>
          <a:xfrm>
            <a:off x="3483864" y="3250692"/>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3483864" y="3250692"/>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3621024" y="3278124"/>
            <a:ext cx="2724911" cy="237744"/>
          </a:xfrm>
          <a:prstGeom prst="rect">
            <a:avLst/>
          </a:prstGeom>
          <a:noFill/>
        </p:spPr>
        <p:txBody>
          <a:bodyPr wrap="square" lIns="0" rIns="0" tIns="0" bIns="0" anchor="ctr">
            <a:spAutoFit/>
          </a:bodyPr>
          <a:lstStyle/>
          <a:p>
            <a:r>
              <a:rPr sz="800" b="1" i="0">
                <a:solidFill>
                  <a:srgbClr val="8A6D00"/>
                </a:solidFill>
                <a:latin typeface="Trenda IG Text"/>
              </a:rPr>
              <a:t>C  </a:t>
            </a:r>
            <a:r>
              <a:rPr sz="800" b="1" i="0">
                <a:solidFill>
                  <a:srgbClr val="1A1A1A"/>
                </a:solidFill>
                <a:latin typeface="Trenda IG Text"/>
              </a:rPr>
              <a:t>Build + test the journey</a:t>
            </a:r>
          </a:p>
        </p:txBody>
      </p:sp>
      <p:sp>
        <p:nvSpPr>
          <p:cNvPr id="52" name="Text 51"/>
          <p:cNvSpPr txBox="1"/>
          <p:nvPr/>
        </p:nvSpPr>
        <p:spPr>
          <a:xfrm>
            <a:off x="3621024" y="3515868"/>
            <a:ext cx="3227832" cy="237744"/>
          </a:xfrm>
          <a:prstGeom prst="rect">
            <a:avLst/>
          </a:prstGeom>
          <a:noFill/>
        </p:spPr>
        <p:txBody>
          <a:bodyPr wrap="square" lIns="0" rIns="0" tIns="0" bIns="0" anchor="t">
            <a:spAutoFit/>
          </a:bodyPr>
          <a:lstStyle/>
          <a:p>
            <a:r>
              <a:rPr sz="700" b="0" i="0">
                <a:solidFill>
                  <a:srgbClr val="4D4D4D"/>
                </a:solidFill>
                <a:latin typeface="Trenda IG Text"/>
              </a:rPr>
              <a:t>test contacts only; clinical + compliance</a:t>
            </a:r>
          </a:p>
        </p:txBody>
      </p:sp>
      <p:sp>
        <p:nvSpPr>
          <p:cNvPr id="53" name="Shape 52"/>
          <p:cNvSpPr/>
          <p:nvPr/>
        </p:nvSpPr>
        <p:spPr>
          <a:xfrm>
            <a:off x="6437376" y="3314700"/>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6437376" y="3314700"/>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G3</a:t>
            </a:r>
          </a:p>
        </p:txBody>
      </p:sp>
      <p:sp>
        <p:nvSpPr>
          <p:cNvPr id="55" name="Shape 54"/>
          <p:cNvSpPr/>
          <p:nvPr/>
        </p:nvSpPr>
        <p:spPr>
          <a:xfrm>
            <a:off x="3483864" y="3861054"/>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hape 55"/>
          <p:cNvSpPr/>
          <p:nvPr/>
        </p:nvSpPr>
        <p:spPr>
          <a:xfrm>
            <a:off x="3483864" y="3861054"/>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3621024" y="3888486"/>
            <a:ext cx="2724911" cy="237744"/>
          </a:xfrm>
          <a:prstGeom prst="rect">
            <a:avLst/>
          </a:prstGeom>
          <a:noFill/>
        </p:spPr>
        <p:txBody>
          <a:bodyPr wrap="square" lIns="0" rIns="0" tIns="0" bIns="0" anchor="ctr">
            <a:spAutoFit/>
          </a:bodyPr>
          <a:lstStyle/>
          <a:p>
            <a:r>
              <a:rPr sz="800" b="1" i="0">
                <a:solidFill>
                  <a:srgbClr val="8A6D00"/>
                </a:solidFill>
                <a:latin typeface="Trenda IG Text"/>
              </a:rPr>
              <a:t>D  </a:t>
            </a:r>
            <a:r>
              <a:rPr sz="800" b="1" i="0">
                <a:solidFill>
                  <a:srgbClr val="1A1A1A"/>
                </a:solidFill>
                <a:latin typeface="Trenda IG Text"/>
              </a:rPr>
              <a:t>First run</a:t>
            </a:r>
          </a:p>
        </p:txBody>
      </p:sp>
      <p:sp>
        <p:nvSpPr>
          <p:cNvPr id="58" name="Text 57"/>
          <p:cNvSpPr txBox="1"/>
          <p:nvPr/>
        </p:nvSpPr>
        <p:spPr>
          <a:xfrm>
            <a:off x="3621024" y="4126230"/>
            <a:ext cx="3227832" cy="237744"/>
          </a:xfrm>
          <a:prstGeom prst="rect">
            <a:avLst/>
          </a:prstGeom>
          <a:noFill/>
        </p:spPr>
        <p:txBody>
          <a:bodyPr wrap="square" lIns="0" rIns="0" tIns="0" bIns="0" anchor="t">
            <a:spAutoFit/>
          </a:bodyPr>
          <a:lstStyle/>
          <a:p>
            <a:r>
              <a:rPr sz="700" b="0" i="0">
                <a:solidFill>
                  <a:srgbClr val="4D4D4D"/>
                </a:solidFill>
                <a:latin typeface="Trenda IG Text"/>
              </a:rPr>
              <a:t>counts, exclusions, fields and destination; no PHI</a:t>
            </a:r>
          </a:p>
        </p:txBody>
      </p:sp>
      <p:sp>
        <p:nvSpPr>
          <p:cNvPr id="59" name="Shape 58"/>
          <p:cNvSpPr/>
          <p:nvPr/>
        </p:nvSpPr>
        <p:spPr>
          <a:xfrm>
            <a:off x="6437376" y="3925062"/>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6437376" y="3925062"/>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G2</a:t>
            </a:r>
          </a:p>
        </p:txBody>
      </p:sp>
      <p:sp>
        <p:nvSpPr>
          <p:cNvPr id="61" name="Shape 60"/>
          <p:cNvSpPr/>
          <p:nvPr/>
        </p:nvSpPr>
        <p:spPr>
          <a:xfrm>
            <a:off x="3483864" y="4471416"/>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3483864" y="4471416"/>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3621024" y="4498848"/>
            <a:ext cx="2724911" cy="237744"/>
          </a:xfrm>
          <a:prstGeom prst="rect">
            <a:avLst/>
          </a:prstGeom>
          <a:noFill/>
        </p:spPr>
        <p:txBody>
          <a:bodyPr wrap="square" lIns="0" rIns="0" tIns="0" bIns="0" anchor="ctr">
            <a:spAutoFit/>
          </a:bodyPr>
          <a:lstStyle/>
          <a:p>
            <a:r>
              <a:rPr sz="800" b="1" i="0">
                <a:solidFill>
                  <a:srgbClr val="0089A0"/>
                </a:solidFill>
                <a:latin typeface="Trenda IG Text"/>
              </a:rPr>
              <a:t>E  </a:t>
            </a:r>
            <a:r>
              <a:rPr sz="800" b="1" i="0">
                <a:solidFill>
                  <a:srgbClr val="1A1A1A"/>
                </a:solidFill>
                <a:latin typeface="Trenda IG Text"/>
              </a:rPr>
              <a:t>Ongoing status in Codex</a:t>
            </a:r>
          </a:p>
        </p:txBody>
      </p:sp>
      <p:sp>
        <p:nvSpPr>
          <p:cNvPr id="64" name="Text 63"/>
          <p:cNvSpPr txBox="1"/>
          <p:nvPr/>
        </p:nvSpPr>
        <p:spPr>
          <a:xfrm>
            <a:off x="3621024" y="4736592"/>
            <a:ext cx="3227832" cy="237744"/>
          </a:xfrm>
          <a:prstGeom prst="rect">
            <a:avLst/>
          </a:prstGeom>
          <a:noFill/>
        </p:spPr>
        <p:txBody>
          <a:bodyPr wrap="square" lIns="0" rIns="0" tIns="0" bIns="0" anchor="t">
            <a:spAutoFit/>
          </a:bodyPr>
          <a:lstStyle/>
          <a:p>
            <a:r>
              <a:rPr sz="700" b="0" i="0">
                <a:solidFill>
                  <a:srgbClr val="4D4D4D"/>
                </a:solidFill>
                <a:latin typeface="Trenda IG Text"/>
              </a:rPr>
              <a:t>daily refresh results, failures, pauses, rule alerts</a:t>
            </a:r>
          </a:p>
        </p:txBody>
      </p:sp>
      <p:sp>
        <p:nvSpPr>
          <p:cNvPr id="65" name="Shape 64"/>
          <p:cNvSpPr/>
          <p:nvPr/>
        </p:nvSpPr>
        <p:spPr>
          <a:xfrm>
            <a:off x="7287768" y="1170432"/>
            <a:ext cx="219456" cy="219456"/>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287768"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67" name="Text 66"/>
          <p:cNvSpPr txBox="1"/>
          <p:nvPr/>
        </p:nvSpPr>
        <p:spPr>
          <a:xfrm>
            <a:off x="7580375" y="1170432"/>
            <a:ext cx="4114800" cy="219456"/>
          </a:xfrm>
          <a:prstGeom prst="rect">
            <a:avLst/>
          </a:prstGeom>
          <a:noFill/>
        </p:spPr>
        <p:txBody>
          <a:bodyPr wrap="square" lIns="0" rIns="0" tIns="0" bIns="0" anchor="ctr">
            <a:spAutoFit/>
          </a:bodyPr>
          <a:lstStyle/>
          <a:p>
            <a:r>
              <a:rPr sz="800" b="1" i="0" spc="60">
                <a:solidFill>
                  <a:srgbClr val="FF0069"/>
                </a:solidFill>
                <a:latin typeface="Trenda IG Text"/>
              </a:rPr>
              <a:t>COHORT RESOLUTION + ACTIVATION · PROTECTED BOUNDARY</a:t>
            </a:r>
          </a:p>
        </p:txBody>
      </p:sp>
      <p:sp>
        <p:nvSpPr>
          <p:cNvPr id="68" name="Shape 67"/>
          <p:cNvSpPr/>
          <p:nvPr/>
        </p:nvSpPr>
        <p:spPr>
          <a:xfrm>
            <a:off x="7251192" y="1417320"/>
            <a:ext cx="4562856" cy="3703320"/>
          </a:xfrm>
          <a:prstGeom prst="roundRect">
            <a:avLst>
              <a:gd name="adj" fmla="val 3000"/>
            </a:avLst>
          </a:prstGeom>
          <a:noFill/>
          <a:ln w="1270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8"/>
          <p:cNvSpPr/>
          <p:nvPr/>
        </p:nvSpPr>
        <p:spPr>
          <a:xfrm>
            <a:off x="7360919" y="1536192"/>
            <a:ext cx="1362456" cy="566928"/>
          </a:xfrm>
          <a:prstGeom prst="roundRect">
            <a:avLst>
              <a:gd name="adj" fmla="val 8000"/>
            </a:avLst>
          </a:prstGeom>
          <a:solidFill>
            <a:srgbClr val="E0FAFE"/>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434071"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5  Cohort Resolution Engine</a:t>
            </a:r>
          </a:p>
          <a:p>
            <a:pPr>
              <a:lnSpc>
                <a:spcPct val="92000"/>
              </a:lnSpc>
              <a:spcAft>
                <a:spcPts val="100"/>
              </a:spcAft>
            </a:pPr>
            <a:r>
              <a:rPr sz="700" b="0" i="0">
                <a:solidFill>
                  <a:srgbClr val="4D4D4D"/>
                </a:solidFill>
                <a:latin typeface="Trenda IG Text"/>
              </a:rPr>
              <a:t>checks JSON + token; controlled query</a:t>
            </a:r>
          </a:p>
        </p:txBody>
      </p:sp>
      <p:cxnSp>
        <p:nvCxnSpPr>
          <p:cNvPr id="71" name="Arrow 70"/>
          <p:cNvCxnSpPr/>
          <p:nvPr/>
        </p:nvCxnSpPr>
        <p:spPr>
          <a:xfrm>
            <a:off x="8723376" y="1819656"/>
            <a:ext cx="128016"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Shape 71"/>
          <p:cNvSpPr/>
          <p:nvPr/>
        </p:nvSpPr>
        <p:spPr>
          <a:xfrm>
            <a:off x="8851392" y="1536192"/>
            <a:ext cx="1362456"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8924544"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6  Patient query</a:t>
            </a:r>
          </a:p>
          <a:p>
            <a:pPr>
              <a:lnSpc>
                <a:spcPct val="92000"/>
              </a:lnSpc>
              <a:spcAft>
                <a:spcPts val="100"/>
              </a:spcAft>
            </a:pPr>
            <a:r>
              <a:rPr sz="700" b="0" i="0">
                <a:solidFill>
                  <a:srgbClr val="4D4D4D"/>
                </a:solidFill>
                <a:latin typeface="Trenda IG Text"/>
              </a:rPr>
              <a:t>matching patients, inside the boundary</a:t>
            </a:r>
          </a:p>
        </p:txBody>
      </p:sp>
      <p:cxnSp>
        <p:nvCxnSpPr>
          <p:cNvPr id="74" name="Arrow 73"/>
          <p:cNvCxnSpPr/>
          <p:nvPr/>
        </p:nvCxnSpPr>
        <p:spPr>
          <a:xfrm>
            <a:off x="10213848" y="1819656"/>
            <a:ext cx="128015"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75" name="Shape 74"/>
          <p:cNvSpPr/>
          <p:nvPr/>
        </p:nvSpPr>
        <p:spPr>
          <a:xfrm>
            <a:off x="10341863" y="1536192"/>
            <a:ext cx="1362456" cy="566928"/>
          </a:xfrm>
          <a:prstGeom prst="roundRect">
            <a:avLst>
              <a:gd name="adj" fmla="val 8000"/>
            </a:avLst>
          </a:prstGeom>
          <a:solidFill>
            <a:srgbClr val="E0FAFE"/>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10415015"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7  Eligibility checks</a:t>
            </a:r>
          </a:p>
          <a:p>
            <a:pPr>
              <a:lnSpc>
                <a:spcPct val="92000"/>
              </a:lnSpc>
              <a:spcAft>
                <a:spcPts val="100"/>
              </a:spcAft>
            </a:pPr>
            <a:r>
              <a:rPr sz="700" b="0" i="0">
                <a:solidFill>
                  <a:srgbClr val="4D4D4D"/>
                </a:solidFill>
                <a:latin typeface="Trenda IG Text"/>
              </a:rPr>
              <a:t>consent · STOP · suppression · deceased · duplicates</a:t>
            </a:r>
          </a:p>
        </p:txBody>
      </p:sp>
      <p:sp>
        <p:nvSpPr>
          <p:cNvPr id="77" name="Shape 76"/>
          <p:cNvSpPr/>
          <p:nvPr/>
        </p:nvSpPr>
        <p:spPr>
          <a:xfrm>
            <a:off x="7360919" y="2194560"/>
            <a:ext cx="1362456" cy="56692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434071"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8  Summary → Codex</a:t>
            </a:r>
          </a:p>
          <a:p>
            <a:pPr>
              <a:lnSpc>
                <a:spcPct val="92000"/>
              </a:lnSpc>
              <a:spcAft>
                <a:spcPts val="100"/>
              </a:spcAft>
            </a:pPr>
            <a:r>
              <a:rPr sz="700" b="0" i="0">
                <a:solidFill>
                  <a:srgbClr val="4D4D4D"/>
                </a:solidFill>
                <a:latin typeface="Trenda IG Text"/>
              </a:rPr>
              <a:t>counts, exclusions, fields; no PHI</a:t>
            </a:r>
          </a:p>
        </p:txBody>
      </p:sp>
      <p:cxnSp>
        <p:nvCxnSpPr>
          <p:cNvPr id="79" name="Arrow 78"/>
          <p:cNvCxnSpPr/>
          <p:nvPr/>
        </p:nvCxnSpPr>
        <p:spPr>
          <a:xfrm>
            <a:off x="8723376" y="2478024"/>
            <a:ext cx="128016"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8851392" y="2194560"/>
            <a:ext cx="1362456"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924544"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9  Activation Engine</a:t>
            </a:r>
          </a:p>
          <a:p>
            <a:pPr>
              <a:lnSpc>
                <a:spcPct val="92000"/>
              </a:lnSpc>
              <a:spcAft>
                <a:spcPts val="100"/>
              </a:spcAft>
            </a:pPr>
            <a:r>
              <a:rPr sz="700" b="0" i="0">
                <a:solidFill>
                  <a:srgbClr val="4D4D4D"/>
                </a:solidFill>
                <a:latin typeface="Trenda IG Text"/>
              </a:rPr>
              <a:t>checks G2, purpose, rule version, fields</a:t>
            </a:r>
          </a:p>
        </p:txBody>
      </p:sp>
      <p:cxnSp>
        <p:nvCxnSpPr>
          <p:cNvPr id="82" name="Arrow 81"/>
          <p:cNvCxnSpPr/>
          <p:nvPr/>
        </p:nvCxnSpPr>
        <p:spPr>
          <a:xfrm>
            <a:off x="10213848" y="2478024"/>
            <a:ext cx="128015"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2"/>
          <p:cNvSpPr/>
          <p:nvPr/>
        </p:nvSpPr>
        <p:spPr>
          <a:xfrm>
            <a:off x="10341863" y="2194560"/>
            <a:ext cx="1362456" cy="56692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10415015"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10  MC data extension</a:t>
            </a:r>
          </a:p>
          <a:p>
            <a:pPr>
              <a:lnSpc>
                <a:spcPct val="92000"/>
              </a:lnSpc>
              <a:spcAft>
                <a:spcPts val="100"/>
              </a:spcAft>
            </a:pPr>
            <a:r>
              <a:rPr sz="700" b="0" i="0">
                <a:solidFill>
                  <a:srgbClr val="4D4D4D"/>
                </a:solidFill>
                <a:latin typeface="Trenda IG Text"/>
              </a:rPr>
              <a:t>approved records; neutral name</a:t>
            </a:r>
          </a:p>
        </p:txBody>
      </p:sp>
      <p:cxnSp>
        <p:nvCxnSpPr>
          <p:cNvPr id="85" name="Arrow 84"/>
          <p:cNvCxnSpPr/>
          <p:nvPr/>
        </p:nvCxnSpPr>
        <p:spPr>
          <a:xfrm>
            <a:off x="11023091" y="2103120"/>
            <a:ext cx="0" cy="73152"/>
          </a:xfrm>
          <a:prstGeom prst="line">
            <a:avLst/>
          </a:prstGeom>
          <a:ln w="12700">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86" name="Arrow 85"/>
          <p:cNvCxnSpPr/>
          <p:nvPr/>
        </p:nvCxnSpPr>
        <p:spPr>
          <a:xfrm flipH="1">
            <a:off x="8042147" y="2176272"/>
            <a:ext cx="2980944" cy="0"/>
          </a:xfrm>
          <a:prstGeom prst="line">
            <a:avLst/>
          </a:prstGeom>
          <a:ln w="12700">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87" name="Arrow 86"/>
          <p:cNvCxnSpPr/>
          <p:nvPr/>
        </p:nvCxnSpPr>
        <p:spPr>
          <a:xfrm>
            <a:off x="8042147" y="2176272"/>
            <a:ext cx="0" cy="18288"/>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7"/>
          <p:cNvSpPr/>
          <p:nvPr/>
        </p:nvSpPr>
        <p:spPr>
          <a:xfrm>
            <a:off x="7360919" y="2889504"/>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7360919" y="2889504"/>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90" name="Text 89"/>
          <p:cNvSpPr txBox="1"/>
          <p:nvPr/>
        </p:nvSpPr>
        <p:spPr>
          <a:xfrm>
            <a:off x="7653527" y="2889504"/>
            <a:ext cx="4114800" cy="219456"/>
          </a:xfrm>
          <a:prstGeom prst="rect">
            <a:avLst/>
          </a:prstGeom>
          <a:noFill/>
        </p:spPr>
        <p:txBody>
          <a:bodyPr wrap="square" lIns="0" rIns="0" tIns="0" bIns="0" anchor="ctr">
            <a:spAutoFit/>
          </a:bodyPr>
          <a:lstStyle/>
          <a:p>
            <a:r>
              <a:rPr sz="800" b="1" i="0" spc="60">
                <a:solidFill>
                  <a:srgbClr val="0089A0"/>
                </a:solidFill>
                <a:latin typeface="Trenda IG Text"/>
              </a:rPr>
              <a:t>CONTINUOUS COHORT REFRESH · EVERY DAY</a:t>
            </a:r>
          </a:p>
        </p:txBody>
      </p:sp>
      <p:sp>
        <p:nvSpPr>
          <p:cNvPr id="91" name="Shape 90"/>
          <p:cNvSpPr/>
          <p:nvPr/>
        </p:nvSpPr>
        <p:spPr>
          <a:xfrm>
            <a:off x="7360919" y="3163824"/>
            <a:ext cx="4343400" cy="1874519"/>
          </a:xfrm>
          <a:prstGeom prst="roundRect">
            <a:avLst>
              <a:gd name="adj" fmla="val 4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1"/>
          <p:cNvSpPr/>
          <p:nvPr/>
        </p:nvSpPr>
        <p:spPr>
          <a:xfrm>
            <a:off x="7434071" y="3236976"/>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2"/>
          <p:cNvSpPr/>
          <p:nvPr/>
        </p:nvSpPr>
        <p:spPr>
          <a:xfrm>
            <a:off x="7434071" y="3236976"/>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7562088" y="3236976"/>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11  </a:t>
            </a:r>
            <a:r>
              <a:rPr sz="700" b="1" i="0">
                <a:solidFill>
                  <a:srgbClr val="1A1A1A"/>
                </a:solidFill>
                <a:latin typeface="Trenda IG Text"/>
              </a:rPr>
              <a:t>Daily data refresh</a:t>
            </a:r>
            <a:r>
              <a:rPr sz="700" b="0" i="0">
                <a:solidFill>
                  <a:srgbClr val="4D4D4D"/>
                </a:solidFill>
                <a:latin typeface="Trenda IG Text"/>
              </a:rPr>
              <a:t>  sources → Bronze → Silver → Gold; freshness checked</a:t>
            </a:r>
          </a:p>
        </p:txBody>
      </p:sp>
      <p:sp>
        <p:nvSpPr>
          <p:cNvPr id="95" name="Shape 94"/>
          <p:cNvSpPr/>
          <p:nvPr/>
        </p:nvSpPr>
        <p:spPr>
          <a:xfrm>
            <a:off x="7434071" y="3547872"/>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5"/>
          <p:cNvSpPr/>
          <p:nvPr/>
        </p:nvSpPr>
        <p:spPr>
          <a:xfrm>
            <a:off x="7434071" y="3547872"/>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7562088" y="3547872"/>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12  </a:t>
            </a:r>
            <a:r>
              <a:rPr sz="700" b="1" i="0">
                <a:solidFill>
                  <a:srgbClr val="1A1A1A"/>
                </a:solidFill>
                <a:latin typeface="Trenda IG Text"/>
              </a:rPr>
              <a:t>Refresh trigger</a:t>
            </a:r>
            <a:r>
              <a:rPr sz="700" b="0" i="0">
                <a:solidFill>
                  <a:srgbClr val="4D4D4D"/>
                </a:solidFill>
                <a:latin typeface="Trenda IG Text"/>
              </a:rPr>
              <a:t>  runs after each refresh; skips the run if data is stale</a:t>
            </a:r>
          </a:p>
        </p:txBody>
      </p:sp>
      <p:sp>
        <p:nvSpPr>
          <p:cNvPr id="98" name="Shape 97"/>
          <p:cNvSpPr/>
          <p:nvPr/>
        </p:nvSpPr>
        <p:spPr>
          <a:xfrm>
            <a:off x="7434071" y="3858768"/>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8"/>
          <p:cNvSpPr/>
          <p:nvPr/>
        </p:nvSpPr>
        <p:spPr>
          <a:xfrm>
            <a:off x="7434071" y="3858768"/>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7562088" y="3858768"/>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13  </a:t>
            </a:r>
            <a:r>
              <a:rPr sz="700" b="1" i="0">
                <a:solidFill>
                  <a:srgbClr val="1A1A1A"/>
                </a:solidFill>
                <a:latin typeface="Trenda IG Text"/>
              </a:rPr>
              <a:t>Incremental resolver</a:t>
            </a:r>
            <a:r>
              <a:rPr sz="700" b="0" i="0">
                <a:solidFill>
                  <a:srgbClr val="4D4D4D"/>
                </a:solidFill>
                <a:latin typeface="Trenda IG Text"/>
              </a:rPr>
              <a:t>  approved rule on new + changed patients; consent re-checked</a:t>
            </a:r>
          </a:p>
        </p:txBody>
      </p:sp>
      <p:sp>
        <p:nvSpPr>
          <p:cNvPr id="101" name="Shape 100"/>
          <p:cNvSpPr/>
          <p:nvPr/>
        </p:nvSpPr>
        <p:spPr>
          <a:xfrm>
            <a:off x="7434071" y="4169664"/>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7434071" y="4169664"/>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7562088" y="4169664"/>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14  </a:t>
            </a:r>
            <a:r>
              <a:rPr sz="700" b="1" i="0">
                <a:solidFill>
                  <a:srgbClr val="1A1A1A"/>
                </a:solidFill>
                <a:latin typeface="Trenda IG Text"/>
              </a:rPr>
              <a:t>Delta activation + exit sync</a:t>
            </a:r>
            <a:r>
              <a:rPr sz="700" b="0" i="0">
                <a:solidFill>
                  <a:srgbClr val="4D4D4D"/>
                </a:solidFill>
                <a:latin typeface="Trenda IG Text"/>
              </a:rPr>
              <a:t>  adds the newly eligible; removes those who no longer qualify</a:t>
            </a:r>
          </a:p>
        </p:txBody>
      </p:sp>
      <p:sp>
        <p:nvSpPr>
          <p:cNvPr id="104" name="Text 103"/>
          <p:cNvSpPr txBox="1"/>
          <p:nvPr/>
        </p:nvSpPr>
        <p:spPr>
          <a:xfrm>
            <a:off x="7452359" y="4480560"/>
            <a:ext cx="4160520" cy="557783"/>
          </a:xfrm>
          <a:prstGeom prst="rect">
            <a:avLst/>
          </a:prstGeom>
          <a:noFill/>
        </p:spPr>
        <p:txBody>
          <a:bodyPr wrap="square" lIns="0" rIns="0" tIns="0" bIns="0" anchor="ctr">
            <a:spAutoFit/>
          </a:bodyPr>
          <a:lstStyle/>
          <a:p>
            <a:r>
              <a:rPr sz="700" b="1" i="0">
                <a:solidFill>
                  <a:srgbClr val="8A6D00"/>
                </a:solidFill>
                <a:latin typeface="Trenda IG Text"/>
              </a:rPr>
              <a:t>No daily approval </a:t>
            </a:r>
            <a:r>
              <a:rPr sz="700" b="0" i="0">
                <a:solidFill>
                  <a:srgbClr val="1A1A1A"/>
                </a:solidFill>
                <a:latin typeface="Trenda IG Text"/>
              </a:rPr>
              <a:t>while the campaign, rule version, purpose, fields and destination stay unchanged.</a:t>
            </a:r>
          </a:p>
        </p:txBody>
      </p:sp>
      <p:cxnSp>
        <p:nvCxnSpPr>
          <p:cNvPr id="105" name="Arrow 104"/>
          <p:cNvCxnSpPr/>
          <p:nvPr/>
        </p:nvCxnSpPr>
        <p:spPr>
          <a:xfrm>
            <a:off x="7086600" y="1819656"/>
            <a:ext cx="274319"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5"/>
          <p:cNvCxnSpPr/>
          <p:nvPr/>
        </p:nvCxnSpPr>
        <p:spPr>
          <a:xfrm flipH="1">
            <a:off x="7086600" y="2478024"/>
            <a:ext cx="274319" cy="0"/>
          </a:xfrm>
          <a:prstGeom prst="line">
            <a:avLst/>
          </a:prstGeom>
          <a:ln w="15875">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6"/>
          <p:cNvCxnSpPr/>
          <p:nvPr/>
        </p:nvCxnSpPr>
        <p:spPr>
          <a:xfrm flipH="1">
            <a:off x="7086600" y="4727448"/>
            <a:ext cx="274319" cy="0"/>
          </a:xfrm>
          <a:prstGeom prst="line">
            <a:avLst/>
          </a:prstGeom>
          <a:ln w="15875">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8" name="Shape 107"/>
          <p:cNvSpPr/>
          <p:nvPr/>
        </p:nvSpPr>
        <p:spPr>
          <a:xfrm>
            <a:off x="411480" y="5193792"/>
            <a:ext cx="11365992" cy="694944"/>
          </a:xfrm>
          <a:prstGeom prst="roundRect">
            <a:avLst>
              <a:gd name="adj" fmla="val 6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548640" y="5193792"/>
            <a:ext cx="1188720" cy="694944"/>
          </a:xfrm>
          <a:prstGeom prst="rect">
            <a:avLst/>
          </a:prstGeom>
          <a:noFill/>
        </p:spPr>
        <p:txBody>
          <a:bodyPr wrap="square" lIns="0" rIns="0" tIns="0" bIns="0" anchor="ctr">
            <a:spAutoFit/>
          </a:bodyPr>
          <a:lstStyle/>
          <a:p>
            <a:pPr>
              <a:spcAft>
                <a:spcPts val="100"/>
              </a:spcAft>
            </a:pPr>
            <a:r>
              <a:rPr sz="700" b="1" i="0" spc="80">
                <a:solidFill>
                  <a:srgbClr val="0089A0"/>
                </a:solidFill>
                <a:latin typeface="Trenda IG Text"/>
              </a:rPr>
              <a:t>MARKETING CLOUD</a:t>
            </a:r>
          </a:p>
          <a:p>
            <a:pPr>
              <a:spcAft>
                <a:spcPts val="100"/>
              </a:spcAft>
            </a:pPr>
            <a:r>
              <a:rPr sz="700" b="1" i="0" spc="80">
                <a:solidFill>
                  <a:srgbClr val="0089A0"/>
                </a:solidFill>
                <a:latin typeface="Trenda IG Text"/>
              </a:rPr>
              <a:t>EXECUTION</a:t>
            </a:r>
          </a:p>
          <a:p>
            <a:pPr>
              <a:spcAft>
                <a:spcPts val="100"/>
              </a:spcAft>
            </a:pPr>
            <a:r>
              <a:rPr sz="700" b="0" i="0">
                <a:solidFill>
                  <a:srgbClr val="4D4D4D"/>
                </a:solidFill>
                <a:latin typeface="Trenda IG Text"/>
              </a:rPr>
              <a:t>inside SFMC</a:t>
            </a:r>
          </a:p>
        </p:txBody>
      </p:sp>
      <p:sp>
        <p:nvSpPr>
          <p:cNvPr id="110" name="Shape 109"/>
          <p:cNvSpPr/>
          <p:nvPr/>
        </p:nvSpPr>
        <p:spPr>
          <a:xfrm>
            <a:off x="1783080"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10"/>
          <p:cNvSpPr/>
          <p:nvPr/>
        </p:nvSpPr>
        <p:spPr>
          <a:xfrm>
            <a:off x="1783080"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87451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Contact key</a:t>
            </a:r>
          </a:p>
          <a:p>
            <a:pPr>
              <a:lnSpc>
                <a:spcPct val="92000"/>
              </a:lnSpc>
              <a:spcAft>
                <a:spcPts val="100"/>
              </a:spcAft>
            </a:pPr>
            <a:r>
              <a:rPr sz="700" b="0" i="0">
                <a:solidFill>
                  <a:srgbClr val="4D4D4D"/>
                </a:solidFill>
                <a:latin typeface="Trenda IG Text"/>
              </a:rPr>
              <a:t>pseudonymous, stable; mapped only inside the boundary</a:t>
            </a:r>
          </a:p>
        </p:txBody>
      </p:sp>
      <p:sp>
        <p:nvSpPr>
          <p:cNvPr id="113" name="Shape 112"/>
          <p:cNvSpPr/>
          <p:nvPr/>
        </p:nvSpPr>
        <p:spPr>
          <a:xfrm>
            <a:off x="3030093"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Shape 113"/>
          <p:cNvSpPr/>
          <p:nvPr/>
        </p:nvSpPr>
        <p:spPr>
          <a:xfrm>
            <a:off x="3030093"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3121533"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Load method</a:t>
            </a:r>
          </a:p>
          <a:p>
            <a:pPr>
              <a:lnSpc>
                <a:spcPct val="92000"/>
              </a:lnSpc>
              <a:spcAft>
                <a:spcPts val="100"/>
              </a:spcAft>
            </a:pPr>
            <a:r>
              <a:rPr sz="700" b="0" i="0">
                <a:solidFill>
                  <a:srgbClr val="4D4D4D"/>
                </a:solidFill>
                <a:latin typeface="Trenda IG Text"/>
              </a:rPr>
              <a:t>REST upsert or encrypted SFTP; flags exits</a:t>
            </a:r>
          </a:p>
        </p:txBody>
      </p:sp>
      <p:sp>
        <p:nvSpPr>
          <p:cNvPr id="116" name="Shape 115"/>
          <p:cNvSpPr/>
          <p:nvPr/>
        </p:nvSpPr>
        <p:spPr>
          <a:xfrm>
            <a:off x="4277106"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6"/>
          <p:cNvSpPr/>
          <p:nvPr/>
        </p:nvSpPr>
        <p:spPr>
          <a:xfrm>
            <a:off x="4277106"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4368546"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Journey</a:t>
            </a:r>
          </a:p>
          <a:p>
            <a:pPr>
              <a:lnSpc>
                <a:spcPct val="92000"/>
              </a:lnSpc>
              <a:spcAft>
                <a:spcPts val="100"/>
              </a:spcAft>
            </a:pPr>
            <a:r>
              <a:rPr sz="700" b="0" i="0">
                <a:solidFill>
                  <a:srgbClr val="4D4D4D"/>
                </a:solidFill>
                <a:latin typeface="Trenda IG Text"/>
              </a:rPr>
              <a:t>daily entry, re-entry rule, exit + goal; day 1 → 30</a:t>
            </a:r>
          </a:p>
        </p:txBody>
      </p:sp>
      <p:sp>
        <p:nvSpPr>
          <p:cNvPr id="119" name="Shape 118"/>
          <p:cNvSpPr/>
          <p:nvPr/>
        </p:nvSpPr>
        <p:spPr>
          <a:xfrm>
            <a:off x="5524119"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9"/>
          <p:cNvSpPr/>
          <p:nvPr/>
        </p:nvSpPr>
        <p:spPr>
          <a:xfrm>
            <a:off x="5524119"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0"/>
          <p:cNvSpPr txBox="1"/>
          <p:nvPr/>
        </p:nvSpPr>
        <p:spPr>
          <a:xfrm>
            <a:off x="561555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Consent sync</a:t>
            </a:r>
          </a:p>
          <a:p>
            <a:pPr>
              <a:lnSpc>
                <a:spcPct val="92000"/>
              </a:lnSpc>
              <a:spcAft>
                <a:spcPts val="100"/>
              </a:spcAft>
            </a:pPr>
            <a:r>
              <a:rPr sz="700" b="0" i="0">
                <a:solidFill>
                  <a:srgbClr val="4D4D4D"/>
                </a:solidFill>
                <a:latin typeface="Trenda IG Text"/>
              </a:rPr>
              <a:t>two-way in minutes: STOP, unsubscribes</a:t>
            </a:r>
          </a:p>
        </p:txBody>
      </p:sp>
      <p:sp>
        <p:nvSpPr>
          <p:cNvPr id="122" name="Shape 121"/>
          <p:cNvSpPr/>
          <p:nvPr/>
        </p:nvSpPr>
        <p:spPr>
          <a:xfrm>
            <a:off x="6771132"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6771132"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6862572"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Channel rules</a:t>
            </a:r>
          </a:p>
          <a:p>
            <a:pPr>
              <a:lnSpc>
                <a:spcPct val="92000"/>
              </a:lnSpc>
              <a:spcAft>
                <a:spcPts val="100"/>
              </a:spcAft>
            </a:pPr>
            <a:r>
              <a:rPr sz="700" b="0" i="0">
                <a:solidFill>
                  <a:srgbClr val="4D4D4D"/>
                </a:solidFill>
                <a:latin typeface="Trenda IG Text"/>
              </a:rPr>
              <a:t>TCPA, STOP/HELP, quiet hours; CAN-SPAM, DMARC</a:t>
            </a:r>
          </a:p>
        </p:txBody>
      </p:sp>
      <p:sp>
        <p:nvSpPr>
          <p:cNvPr id="125" name="Shape 124"/>
          <p:cNvSpPr/>
          <p:nvPr/>
        </p:nvSpPr>
        <p:spPr>
          <a:xfrm>
            <a:off x="8018145"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5"/>
          <p:cNvSpPr/>
          <p:nvPr/>
        </p:nvSpPr>
        <p:spPr>
          <a:xfrm>
            <a:off x="8018145"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8109585"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Content</a:t>
            </a:r>
          </a:p>
          <a:p>
            <a:pPr>
              <a:lnSpc>
                <a:spcPct val="92000"/>
              </a:lnSpc>
              <a:spcAft>
                <a:spcPts val="100"/>
              </a:spcAft>
            </a:pPr>
            <a:r>
              <a:rPr sz="700" b="0" i="0">
                <a:solidFill>
                  <a:srgbClr val="4D4D4D"/>
                </a:solidFill>
                <a:latin typeface="Trenda IG Text"/>
              </a:rPr>
              <a:t>approved templates; no condition or PHI in text, URLs</a:t>
            </a:r>
          </a:p>
        </p:txBody>
      </p:sp>
      <p:sp>
        <p:nvSpPr>
          <p:cNvPr id="128" name="Shape 127"/>
          <p:cNvSpPr/>
          <p:nvPr/>
        </p:nvSpPr>
        <p:spPr>
          <a:xfrm>
            <a:off x="9265158"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8"/>
          <p:cNvSpPr/>
          <p:nvPr/>
        </p:nvSpPr>
        <p:spPr>
          <a:xfrm>
            <a:off x="9265158"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9356598"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Tracking back</a:t>
            </a:r>
          </a:p>
          <a:p>
            <a:pPr>
              <a:lnSpc>
                <a:spcPct val="92000"/>
              </a:lnSpc>
              <a:spcAft>
                <a:spcPts val="100"/>
              </a:spcAft>
            </a:pPr>
            <a:r>
              <a:rPr sz="700" b="0" i="0">
                <a:solidFill>
                  <a:srgbClr val="4D4D4D"/>
                </a:solidFill>
                <a:latin typeface="Trenda IG Text"/>
              </a:rPr>
              <a:t>daily extract → restricted layer; bounces → contactability</a:t>
            </a:r>
          </a:p>
        </p:txBody>
      </p:sp>
      <p:sp>
        <p:nvSpPr>
          <p:cNvPr id="131" name="Shape 130"/>
          <p:cNvSpPr/>
          <p:nvPr/>
        </p:nvSpPr>
        <p:spPr>
          <a:xfrm>
            <a:off x="10512171"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31"/>
          <p:cNvSpPr/>
          <p:nvPr/>
        </p:nvSpPr>
        <p:spPr>
          <a:xfrm>
            <a:off x="10512171"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2"/>
          <p:cNvSpPr txBox="1"/>
          <p:nvPr/>
        </p:nvSpPr>
        <p:spPr>
          <a:xfrm>
            <a:off x="10603611"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Security</a:t>
            </a:r>
          </a:p>
          <a:p>
            <a:pPr>
              <a:lnSpc>
                <a:spcPct val="92000"/>
              </a:lnSpc>
              <a:spcAft>
                <a:spcPts val="100"/>
              </a:spcAft>
            </a:pPr>
            <a:r>
              <a:rPr sz="700" b="0" i="0">
                <a:solidFill>
                  <a:srgbClr val="4D4D4D"/>
                </a:solidFill>
                <a:latin typeface="Trenda IG Text"/>
              </a:rPr>
              <a:t>own BU, SSO, retention, encryption; BAA confirmed</a:t>
            </a:r>
          </a:p>
        </p:txBody>
      </p:sp>
      <p:sp>
        <p:nvSpPr>
          <p:cNvPr id="134" name="Shape 133"/>
          <p:cNvSpPr/>
          <p:nvPr/>
        </p:nvSpPr>
        <p:spPr>
          <a:xfrm>
            <a:off x="411480" y="5952744"/>
            <a:ext cx="11365992" cy="365760"/>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4"/>
          <p:cNvSpPr txBox="1"/>
          <p:nvPr/>
        </p:nvSpPr>
        <p:spPr>
          <a:xfrm>
            <a:off x="548640" y="5952744"/>
            <a:ext cx="11091672" cy="365760"/>
          </a:xfrm>
          <a:prstGeom prst="rect">
            <a:avLst/>
          </a:prstGeom>
          <a:noFill/>
        </p:spPr>
        <p:txBody>
          <a:bodyPr wrap="square" lIns="0" rIns="0" tIns="0" bIns="0" anchor="ctr">
            <a:spAutoFit/>
          </a:bodyPr>
          <a:lstStyle/>
          <a:p>
            <a:pPr algn="ctr"/>
            <a:r>
              <a:rPr sz="750" b="1" i="0">
                <a:solidFill>
                  <a:srgbClr val="8A6D00"/>
                </a:solidFill>
                <a:latin typeface="Trenda IG Text"/>
              </a:rPr>
              <a:t>RE-APPROVAL REQUIRED </a:t>
            </a:r>
            <a:r>
              <a:rPr sz="750" b="0" i="0">
                <a:solidFill>
                  <a:srgbClr val="1A1A1A"/>
                </a:solidFill>
                <a:latin typeface="Trenda IG Text"/>
              </a:rPr>
              <a:t>only when cohort logic, purpose, permitted fields, destination, consent policy, a semantic definition or campaign status changes, or the approval expires. Opt-outs apply at once; spike alerts pause a run; every run is reconciled.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GOLD B</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Gold B: the restricted patient layer behind every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Only deterministic engines read Gold B; agents never do. It answers one question: exactly who may be contacted, now, for this approved campaign.</a:t>
            </a:r>
          </a:p>
        </p:txBody>
      </p:sp>
      <p:sp>
        <p:nvSpPr>
          <p:cNvPr id="5" name="Shape 4"/>
          <p:cNvSpPr/>
          <p:nvPr/>
        </p:nvSpPr>
        <p:spPr>
          <a:xfrm>
            <a:off x="411480" y="1188720"/>
            <a:ext cx="1132840" cy="56692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84632"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Silver</a:t>
            </a:r>
          </a:p>
          <a:p>
            <a:pPr>
              <a:lnSpc>
                <a:spcPct val="92000"/>
              </a:lnSpc>
              <a:spcAft>
                <a:spcPts val="100"/>
              </a:spcAft>
            </a:pPr>
            <a:r>
              <a:rPr sz="700" b="0" i="0">
                <a:solidFill>
                  <a:srgbClr val="4D4D4D"/>
                </a:solidFill>
                <a:latin typeface="Trenda IG Text"/>
              </a:rPr>
              <a:t>identity + consent</a:t>
            </a:r>
          </a:p>
        </p:txBody>
      </p:sp>
      <p:cxnSp>
        <p:nvCxnSpPr>
          <p:cNvPr id="7" name="Arrow 6"/>
          <p:cNvCxnSpPr/>
          <p:nvPr/>
        </p:nvCxnSpPr>
        <p:spPr>
          <a:xfrm>
            <a:off x="1544320"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1690624" y="1188720"/>
            <a:ext cx="1132840"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1763776"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Gold B</a:t>
            </a:r>
          </a:p>
          <a:p>
            <a:pPr>
              <a:lnSpc>
                <a:spcPct val="92000"/>
              </a:lnSpc>
              <a:spcAft>
                <a:spcPts val="100"/>
              </a:spcAft>
            </a:pPr>
            <a:r>
              <a:rPr sz="700" b="0" i="0">
                <a:solidFill>
                  <a:srgbClr val="4D4D4D"/>
                </a:solidFill>
                <a:latin typeface="Trenda IG Text"/>
              </a:rPr>
              <a:t>restricted</a:t>
            </a:r>
          </a:p>
        </p:txBody>
      </p:sp>
      <p:cxnSp>
        <p:nvCxnSpPr>
          <p:cNvPr id="10" name="Arrow 9"/>
          <p:cNvCxnSpPr/>
          <p:nvPr/>
        </p:nvCxnSpPr>
        <p:spPr>
          <a:xfrm>
            <a:off x="2823464"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Shape 10"/>
          <p:cNvSpPr/>
          <p:nvPr/>
        </p:nvSpPr>
        <p:spPr>
          <a:xfrm>
            <a:off x="2969768" y="1188720"/>
            <a:ext cx="1132840" cy="566928"/>
          </a:xfrm>
          <a:prstGeom prst="roundRect">
            <a:avLst>
              <a:gd name="adj" fmla="val 8000"/>
            </a:avLst>
          </a:prstGeom>
          <a:solidFill>
            <a:srgbClr val="E0FAFE"/>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3042920"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Cohort Resolution</a:t>
            </a:r>
          </a:p>
          <a:p>
            <a:pPr>
              <a:lnSpc>
                <a:spcPct val="92000"/>
              </a:lnSpc>
              <a:spcAft>
                <a:spcPts val="100"/>
              </a:spcAft>
            </a:pPr>
            <a:r>
              <a:rPr sz="700" b="0" i="0">
                <a:solidFill>
                  <a:srgbClr val="4D4D4D"/>
                </a:solidFill>
                <a:latin typeface="Trenda IG Text"/>
              </a:rPr>
              <a:t>engine</a:t>
            </a:r>
          </a:p>
        </p:txBody>
      </p:sp>
      <p:cxnSp>
        <p:nvCxnSpPr>
          <p:cNvPr id="13" name="Arrow 12"/>
          <p:cNvCxnSpPr/>
          <p:nvPr/>
        </p:nvCxnSpPr>
        <p:spPr>
          <a:xfrm>
            <a:off x="4102607" y="1472184"/>
            <a:ext cx="146305"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Shape 13"/>
          <p:cNvSpPr/>
          <p:nvPr/>
        </p:nvSpPr>
        <p:spPr>
          <a:xfrm>
            <a:off x="4248912" y="1188720"/>
            <a:ext cx="1132840" cy="56692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4322064"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G2</a:t>
            </a:r>
          </a:p>
          <a:p>
            <a:pPr>
              <a:lnSpc>
                <a:spcPct val="92000"/>
              </a:lnSpc>
              <a:spcAft>
                <a:spcPts val="100"/>
              </a:spcAft>
            </a:pPr>
            <a:r>
              <a:rPr sz="700" b="0" i="0">
                <a:solidFill>
                  <a:srgbClr val="4D4D4D"/>
                </a:solidFill>
                <a:latin typeface="Trenda IG Text"/>
              </a:rPr>
              <a:t>masked summary</a:t>
            </a:r>
          </a:p>
        </p:txBody>
      </p:sp>
      <p:cxnSp>
        <p:nvCxnSpPr>
          <p:cNvPr id="16" name="Arrow 15"/>
          <p:cNvCxnSpPr/>
          <p:nvPr/>
        </p:nvCxnSpPr>
        <p:spPr>
          <a:xfrm>
            <a:off x="5381752"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5528056" y="1188720"/>
            <a:ext cx="1132840"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601208"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Activation</a:t>
            </a:r>
          </a:p>
          <a:p>
            <a:pPr>
              <a:lnSpc>
                <a:spcPct val="92000"/>
              </a:lnSpc>
              <a:spcAft>
                <a:spcPts val="100"/>
              </a:spcAft>
            </a:pPr>
            <a:r>
              <a:rPr sz="700" b="0" i="0">
                <a:solidFill>
                  <a:srgbClr val="4D4D4D"/>
                </a:solidFill>
                <a:latin typeface="Trenda IG Text"/>
              </a:rPr>
              <a:t>engine</a:t>
            </a:r>
          </a:p>
        </p:txBody>
      </p:sp>
      <p:cxnSp>
        <p:nvCxnSpPr>
          <p:cNvPr id="19" name="Arrow 18"/>
          <p:cNvCxnSpPr/>
          <p:nvPr/>
        </p:nvCxnSpPr>
        <p:spPr>
          <a:xfrm>
            <a:off x="6660896"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6807200" y="1188720"/>
            <a:ext cx="1132840" cy="56692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6880352"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Marketing Cloud</a:t>
            </a:r>
          </a:p>
          <a:p>
            <a:pPr>
              <a:lnSpc>
                <a:spcPct val="92000"/>
              </a:lnSpc>
              <a:spcAft>
                <a:spcPts val="100"/>
              </a:spcAft>
            </a:pPr>
            <a:r>
              <a:rPr sz="700" b="0" i="0">
                <a:solidFill>
                  <a:srgbClr val="4D4D4D"/>
                </a:solidFill>
                <a:latin typeface="Trenda IG Text"/>
              </a:rPr>
              <a:t>data extension</a:t>
            </a:r>
          </a:p>
        </p:txBody>
      </p:sp>
      <p:cxnSp>
        <p:nvCxnSpPr>
          <p:cNvPr id="22" name="Arrow 21"/>
          <p:cNvCxnSpPr/>
          <p:nvPr/>
        </p:nvCxnSpPr>
        <p:spPr>
          <a:xfrm>
            <a:off x="7940040"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Shape 22"/>
          <p:cNvSpPr/>
          <p:nvPr/>
        </p:nvSpPr>
        <p:spPr>
          <a:xfrm>
            <a:off x="8086343" y="1188720"/>
            <a:ext cx="1132840" cy="56692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8159495"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Engagement</a:t>
            </a:r>
          </a:p>
          <a:p>
            <a:pPr>
              <a:lnSpc>
                <a:spcPct val="92000"/>
              </a:lnSpc>
              <a:spcAft>
                <a:spcPts val="100"/>
              </a:spcAft>
            </a:pPr>
            <a:r>
              <a:rPr sz="700" b="0" i="0">
                <a:solidFill>
                  <a:srgbClr val="4D4D4D"/>
                </a:solidFill>
                <a:latin typeface="Trenda IG Text"/>
              </a:rPr>
              <a:t>+ outcomes</a:t>
            </a:r>
          </a:p>
        </p:txBody>
      </p:sp>
      <p:cxnSp>
        <p:nvCxnSpPr>
          <p:cNvPr id="25" name="Arrow 24"/>
          <p:cNvCxnSpPr/>
          <p:nvPr/>
        </p:nvCxnSpPr>
        <p:spPr>
          <a:xfrm>
            <a:off x="9219183"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9365487" y="1188720"/>
            <a:ext cx="1132840"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9438639"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Gold B</a:t>
            </a:r>
          </a:p>
          <a:p>
            <a:pPr>
              <a:lnSpc>
                <a:spcPct val="92000"/>
              </a:lnSpc>
              <a:spcAft>
                <a:spcPts val="100"/>
              </a:spcAft>
            </a:pPr>
            <a:r>
              <a:rPr sz="700" b="0" i="0">
                <a:solidFill>
                  <a:srgbClr val="4D4D4D"/>
                </a:solidFill>
                <a:latin typeface="Trenda IG Text"/>
              </a:rPr>
              <a:t>per patient</a:t>
            </a:r>
          </a:p>
        </p:txBody>
      </p:sp>
      <p:cxnSp>
        <p:nvCxnSpPr>
          <p:cNvPr id="28" name="Arrow 27"/>
          <p:cNvCxnSpPr/>
          <p:nvPr/>
        </p:nvCxnSpPr>
        <p:spPr>
          <a:xfrm>
            <a:off x="10498327"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hape 28"/>
          <p:cNvSpPr/>
          <p:nvPr/>
        </p:nvSpPr>
        <p:spPr>
          <a:xfrm>
            <a:off x="10644631" y="1188720"/>
            <a:ext cx="1132840" cy="56692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10717784"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Gold A</a:t>
            </a:r>
          </a:p>
          <a:p>
            <a:pPr>
              <a:lnSpc>
                <a:spcPct val="92000"/>
              </a:lnSpc>
              <a:spcAft>
                <a:spcPts val="100"/>
              </a:spcAft>
            </a:pPr>
            <a:r>
              <a:rPr sz="700" b="0" i="0">
                <a:solidFill>
                  <a:srgbClr val="4D4D4D"/>
                </a:solidFill>
                <a:latin typeface="Trenda IG Text"/>
              </a:rPr>
              <a:t>aggregates only</a:t>
            </a:r>
          </a:p>
        </p:txBody>
      </p:sp>
      <p:sp>
        <p:nvSpPr>
          <p:cNvPr id="31" name="Shape 30"/>
          <p:cNvSpPr/>
          <p:nvPr/>
        </p:nvSpPr>
        <p:spPr>
          <a:xfrm>
            <a:off x="411480" y="1938528"/>
            <a:ext cx="365760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521208" y="1938528"/>
            <a:ext cx="3438144" cy="256032"/>
          </a:xfrm>
          <a:prstGeom prst="rect">
            <a:avLst/>
          </a:prstGeom>
          <a:noFill/>
        </p:spPr>
        <p:txBody>
          <a:bodyPr wrap="square" lIns="0" rIns="0" tIns="0" bIns="0" anchor="ctr">
            <a:spAutoFit/>
          </a:bodyPr>
          <a:lstStyle/>
          <a:p>
            <a:r>
              <a:rPr sz="700" b="1" i="0" spc="120">
                <a:solidFill>
                  <a:srgbClr val="FFFFFE"/>
                </a:solidFill>
                <a:latin typeface="Trenda IG Text"/>
              </a:rPr>
              <a:t>WHAT IS IN GOLD B</a:t>
            </a:r>
          </a:p>
        </p:txBody>
      </p:sp>
      <p:sp>
        <p:nvSpPr>
          <p:cNvPr id="33" name="Shape 32"/>
          <p:cNvSpPr/>
          <p:nvPr/>
        </p:nvSpPr>
        <p:spPr>
          <a:xfrm>
            <a:off x="4197096" y="1938528"/>
            <a:ext cx="356616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4306824" y="1938528"/>
            <a:ext cx="3346704" cy="256032"/>
          </a:xfrm>
          <a:prstGeom prst="rect">
            <a:avLst/>
          </a:prstGeom>
          <a:noFill/>
        </p:spPr>
        <p:txBody>
          <a:bodyPr wrap="square" lIns="0" rIns="0" tIns="0" bIns="0" anchor="ctr">
            <a:spAutoFit/>
          </a:bodyPr>
          <a:lstStyle/>
          <a:p>
            <a:r>
              <a:rPr sz="700" b="1" i="0" spc="120">
                <a:solidFill>
                  <a:srgbClr val="000000"/>
                </a:solidFill>
                <a:latin typeface="Trenda IG Text"/>
              </a:rPr>
              <a:t>WHO CAN READ IT</a:t>
            </a:r>
          </a:p>
        </p:txBody>
      </p:sp>
      <p:sp>
        <p:nvSpPr>
          <p:cNvPr id="35" name="Shape 34"/>
          <p:cNvSpPr/>
          <p:nvPr/>
        </p:nvSpPr>
        <p:spPr>
          <a:xfrm>
            <a:off x="7891271" y="1938528"/>
            <a:ext cx="388620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8000999" y="1938528"/>
            <a:ext cx="3666744" cy="256032"/>
          </a:xfrm>
          <a:prstGeom prst="rect">
            <a:avLst/>
          </a:prstGeom>
          <a:noFill/>
        </p:spPr>
        <p:txBody>
          <a:bodyPr wrap="square" lIns="0" rIns="0" tIns="0" bIns="0" anchor="ctr">
            <a:spAutoFit/>
          </a:bodyPr>
          <a:lstStyle/>
          <a:p>
            <a:r>
              <a:rPr sz="700" b="1" i="0" spc="120">
                <a:solidFill>
                  <a:srgbClr val="000000"/>
                </a:solidFill>
                <a:latin typeface="Trenda IG Text"/>
              </a:rPr>
              <a:t>WHAT WE CAN DO WITH IT</a:t>
            </a:r>
          </a:p>
        </p:txBody>
      </p:sp>
      <p:sp>
        <p:nvSpPr>
          <p:cNvPr id="37" name="Shape 36"/>
          <p:cNvSpPr/>
          <p:nvPr/>
        </p:nvSpPr>
        <p:spPr>
          <a:xfrm>
            <a:off x="411480" y="22860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11480" y="22860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539496" y="22860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Patient key</a:t>
            </a:r>
            <a:r>
              <a:rPr sz="700" b="0" i="0">
                <a:solidFill>
                  <a:srgbClr val="4D4D4D"/>
                </a:solidFill>
                <a:latin typeface="Trenda IG Text"/>
              </a:rPr>
              <a:t>  EUID, from Silver identity resolution</a:t>
            </a:r>
          </a:p>
        </p:txBody>
      </p:sp>
      <p:sp>
        <p:nvSpPr>
          <p:cNvPr id="40" name="Shape 39"/>
          <p:cNvSpPr/>
          <p:nvPr/>
        </p:nvSpPr>
        <p:spPr>
          <a:xfrm>
            <a:off x="411480" y="27432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hape 40"/>
          <p:cNvSpPr/>
          <p:nvPr/>
        </p:nvSpPr>
        <p:spPr>
          <a:xfrm>
            <a:off x="411480" y="27432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39496" y="27432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Cohort facts</a:t>
            </a:r>
            <a:r>
              <a:rPr sz="700" b="0" i="0">
                <a:solidFill>
                  <a:srgbClr val="4D4D4D"/>
                </a:solidFill>
                <a:latin typeface="Trenda IG Text"/>
              </a:rPr>
              <a:t>  diagnosis, discharge date, facility, age band</a:t>
            </a:r>
          </a:p>
        </p:txBody>
      </p:sp>
      <p:sp>
        <p:nvSpPr>
          <p:cNvPr id="43" name="Shape 42"/>
          <p:cNvSpPr/>
          <p:nvPr/>
        </p:nvSpPr>
        <p:spPr>
          <a:xfrm>
            <a:off x="411480" y="32004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411480" y="32004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539496" y="32004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Consent</a:t>
            </a:r>
            <a:r>
              <a:rPr sz="700" b="0" i="0">
                <a:solidFill>
                  <a:srgbClr val="4D4D4D"/>
                </a:solidFill>
                <a:latin typeface="Trenda IG Text"/>
              </a:rPr>
              <a:t>  per channel and purpose: SMS, email, voice</a:t>
            </a:r>
          </a:p>
        </p:txBody>
      </p:sp>
      <p:sp>
        <p:nvSpPr>
          <p:cNvPr id="46" name="Shape 45"/>
          <p:cNvSpPr/>
          <p:nvPr/>
        </p:nvSpPr>
        <p:spPr>
          <a:xfrm>
            <a:off x="411480" y="36576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hape 46"/>
          <p:cNvSpPr/>
          <p:nvPr/>
        </p:nvSpPr>
        <p:spPr>
          <a:xfrm>
            <a:off x="411480" y="36576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539496" y="36576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Contact points</a:t>
            </a:r>
            <a:r>
              <a:rPr sz="700" b="0" i="0">
                <a:solidFill>
                  <a:srgbClr val="4D4D4D"/>
                </a:solidFill>
                <a:latin typeface="Trenda IG Text"/>
              </a:rPr>
              <a:t>  verified phone and email</a:t>
            </a:r>
          </a:p>
        </p:txBody>
      </p:sp>
      <p:sp>
        <p:nvSpPr>
          <p:cNvPr id="49" name="Shape 48"/>
          <p:cNvSpPr/>
          <p:nvPr/>
        </p:nvSpPr>
        <p:spPr>
          <a:xfrm>
            <a:off x="411480" y="41148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411480" y="41148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539496" y="41148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Exclusions</a:t>
            </a:r>
            <a:r>
              <a:rPr sz="700" b="0" i="0">
                <a:solidFill>
                  <a:srgbClr val="4D4D4D"/>
                </a:solidFill>
                <a:latin typeface="Trenda IG Text"/>
              </a:rPr>
              <a:t>  STOP / opt-out, deceased, do-not-contact, frequency caps</a:t>
            </a:r>
          </a:p>
        </p:txBody>
      </p:sp>
      <p:sp>
        <p:nvSpPr>
          <p:cNvPr id="52" name="Shape 51"/>
          <p:cNvSpPr/>
          <p:nvPr/>
        </p:nvSpPr>
        <p:spPr>
          <a:xfrm>
            <a:off x="411480" y="45720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hape 52"/>
          <p:cNvSpPr/>
          <p:nvPr/>
        </p:nvSpPr>
        <p:spPr>
          <a:xfrm>
            <a:off x="411480" y="45720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39496" y="45720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Preferences</a:t>
            </a:r>
            <a:r>
              <a:rPr sz="700" b="0" i="0">
                <a:solidFill>
                  <a:srgbClr val="4D4D4D"/>
                </a:solidFill>
                <a:latin typeface="Trenda IG Text"/>
              </a:rPr>
              <a:t>  language, quiet hours</a:t>
            </a:r>
          </a:p>
        </p:txBody>
      </p:sp>
      <p:sp>
        <p:nvSpPr>
          <p:cNvPr id="55" name="Shape 54"/>
          <p:cNvSpPr/>
          <p:nvPr/>
        </p:nvSpPr>
        <p:spPr>
          <a:xfrm>
            <a:off x="411480" y="50292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hape 55"/>
          <p:cNvSpPr/>
          <p:nvPr/>
        </p:nvSpPr>
        <p:spPr>
          <a:xfrm>
            <a:off x="411480" y="50292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539496" y="50292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Engagement</a:t>
            </a:r>
            <a:r>
              <a:rPr sz="700" b="0" i="0">
                <a:solidFill>
                  <a:srgbClr val="4D4D4D"/>
                </a:solidFill>
                <a:latin typeface="Trenda IG Text"/>
              </a:rPr>
              <a:t>  sends, replies, opt-outs and outcomes per patient</a:t>
            </a:r>
          </a:p>
        </p:txBody>
      </p:sp>
      <p:sp>
        <p:nvSpPr>
          <p:cNvPr id="58" name="Shape 57"/>
          <p:cNvSpPr/>
          <p:nvPr/>
        </p:nvSpPr>
        <p:spPr>
          <a:xfrm>
            <a:off x="4197096" y="2286000"/>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hape 58"/>
          <p:cNvSpPr/>
          <p:nvPr/>
        </p:nvSpPr>
        <p:spPr>
          <a:xfrm>
            <a:off x="4197096" y="2286000"/>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4325112" y="2286000"/>
            <a:ext cx="3383279" cy="410173"/>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Cohort Resolution Engine</a:t>
            </a:r>
            <a:r>
              <a:rPr sz="700" b="0" i="0">
                <a:solidFill>
                  <a:srgbClr val="4D4D4D"/>
                </a:solidFill>
                <a:latin typeface="Trenda IG Text"/>
              </a:rPr>
              <a:t>  for an approved cohort JSON only</a:t>
            </a:r>
          </a:p>
        </p:txBody>
      </p:sp>
      <p:sp>
        <p:nvSpPr>
          <p:cNvPr id="61" name="Shape 60"/>
          <p:cNvSpPr/>
          <p:nvPr/>
        </p:nvSpPr>
        <p:spPr>
          <a:xfrm>
            <a:off x="4197096" y="2751037"/>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4197096" y="2751037"/>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4325112" y="2751037"/>
            <a:ext cx="3383279" cy="410173"/>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Activation Engine</a:t>
            </a:r>
            <a:r>
              <a:rPr sz="700" b="0" i="0">
                <a:solidFill>
                  <a:srgbClr val="4D4D4D"/>
                </a:solidFill>
                <a:latin typeface="Trenda IG Text"/>
              </a:rPr>
              <a:t>  minimum fields, for the approved run</a:t>
            </a:r>
          </a:p>
        </p:txBody>
      </p:sp>
      <p:sp>
        <p:nvSpPr>
          <p:cNvPr id="64" name="Shape 63"/>
          <p:cNvSpPr/>
          <p:nvPr/>
        </p:nvSpPr>
        <p:spPr>
          <a:xfrm>
            <a:off x="4197096" y="3216075"/>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4"/>
          <p:cNvSpPr/>
          <p:nvPr/>
        </p:nvSpPr>
        <p:spPr>
          <a:xfrm>
            <a:off x="4197096" y="3216075"/>
            <a:ext cx="45720" cy="410173"/>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4325112" y="3216075"/>
            <a:ext cx="3383279" cy="410173"/>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1A1A1A"/>
                </a:solidFill>
                <a:latin typeface="Trenda IG Text"/>
              </a:rPr>
              <a:t>Agents and Codex</a:t>
            </a:r>
            <a:r>
              <a:rPr sz="700" b="0" i="0">
                <a:solidFill>
                  <a:srgbClr val="4D4D4D"/>
                </a:solidFill>
                <a:latin typeface="Trenda IG Text"/>
              </a:rPr>
              <a:t>  never: counts only, through the summary</a:t>
            </a:r>
          </a:p>
        </p:txBody>
      </p:sp>
      <p:sp>
        <p:nvSpPr>
          <p:cNvPr id="67" name="Shape 66"/>
          <p:cNvSpPr/>
          <p:nvPr/>
        </p:nvSpPr>
        <p:spPr>
          <a:xfrm>
            <a:off x="4197096" y="3681113"/>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7"/>
          <p:cNvSpPr/>
          <p:nvPr/>
        </p:nvSpPr>
        <p:spPr>
          <a:xfrm>
            <a:off x="4197096" y="3681113"/>
            <a:ext cx="45720" cy="410173"/>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4325112" y="3681113"/>
            <a:ext cx="3383279" cy="410173"/>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1A1A1A"/>
                </a:solidFill>
                <a:latin typeface="Trenda IG Text"/>
              </a:rPr>
              <a:t>Semantic layer + graph</a:t>
            </a:r>
            <a:r>
              <a:rPr sz="700" b="0" i="0">
                <a:solidFill>
                  <a:srgbClr val="4D4D4D"/>
                </a:solidFill>
                <a:latin typeface="Trenda IG Text"/>
              </a:rPr>
              <a:t>  never: they read Gold A</a:t>
            </a:r>
          </a:p>
        </p:txBody>
      </p:sp>
      <p:sp>
        <p:nvSpPr>
          <p:cNvPr id="70" name="Shape 69"/>
          <p:cNvSpPr/>
          <p:nvPr/>
        </p:nvSpPr>
        <p:spPr>
          <a:xfrm>
            <a:off x="4197096" y="4146150"/>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70"/>
          <p:cNvSpPr/>
          <p:nvPr/>
        </p:nvSpPr>
        <p:spPr>
          <a:xfrm>
            <a:off x="4197096" y="4146150"/>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4325112" y="4146150"/>
            <a:ext cx="3383279" cy="410173"/>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People</a:t>
            </a:r>
            <a:r>
              <a:rPr sz="700" b="0" i="0">
                <a:solidFill>
                  <a:srgbClr val="4D4D4D"/>
                </a:solidFill>
                <a:latin typeface="Trenda IG Text"/>
              </a:rPr>
              <a:t>  the masked G2 summary; break-glass logged</a:t>
            </a:r>
          </a:p>
        </p:txBody>
      </p:sp>
      <p:sp>
        <p:nvSpPr>
          <p:cNvPr id="73" name="Shape 72"/>
          <p:cNvSpPr/>
          <p:nvPr/>
        </p:nvSpPr>
        <p:spPr>
          <a:xfrm>
            <a:off x="4197096" y="4611188"/>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Shape 73"/>
          <p:cNvSpPr/>
          <p:nvPr/>
        </p:nvSpPr>
        <p:spPr>
          <a:xfrm>
            <a:off x="4197096" y="4611188"/>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325112" y="4611188"/>
            <a:ext cx="3383279" cy="410173"/>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Marketing Cloud</a:t>
            </a:r>
            <a:r>
              <a:rPr sz="700" b="0" i="0">
                <a:solidFill>
                  <a:srgbClr val="4D4D4D"/>
                </a:solidFill>
                <a:latin typeface="Trenda IG Text"/>
              </a:rPr>
              <a:t>  only the released fields, this run</a:t>
            </a:r>
          </a:p>
        </p:txBody>
      </p:sp>
      <p:sp>
        <p:nvSpPr>
          <p:cNvPr id="76" name="Shape 75"/>
          <p:cNvSpPr/>
          <p:nvPr/>
        </p:nvSpPr>
        <p:spPr>
          <a:xfrm>
            <a:off x="4197096" y="5076226"/>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hape 76"/>
          <p:cNvSpPr/>
          <p:nvPr/>
        </p:nvSpPr>
        <p:spPr>
          <a:xfrm>
            <a:off x="4197096" y="5076226"/>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4325112" y="5076226"/>
            <a:ext cx="3383279" cy="410173"/>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Sierra voice agent</a:t>
            </a:r>
            <a:r>
              <a:rPr sz="700" b="0" i="0">
                <a:solidFill>
                  <a:srgbClr val="4D4D4D"/>
                </a:solidFill>
                <a:latin typeface="Trenda IG Text"/>
              </a:rPr>
              <a:t>  patient-context API: this verified caller only</a:t>
            </a:r>
          </a:p>
        </p:txBody>
      </p:sp>
      <p:sp>
        <p:nvSpPr>
          <p:cNvPr id="79" name="Shape 78"/>
          <p:cNvSpPr/>
          <p:nvPr/>
        </p:nvSpPr>
        <p:spPr>
          <a:xfrm>
            <a:off x="7891271" y="22860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9"/>
          <p:cNvSpPr/>
          <p:nvPr/>
        </p:nvSpPr>
        <p:spPr>
          <a:xfrm>
            <a:off x="7891271" y="22860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019288" y="22860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  </a:t>
            </a:r>
            <a:r>
              <a:rPr sz="700" b="1" i="0">
                <a:solidFill>
                  <a:srgbClr val="1A1A1A"/>
                </a:solidFill>
                <a:latin typeface="Trenda IG Text"/>
              </a:rPr>
              <a:t>Resolve the exact eligible audience for an approved campaign</a:t>
            </a:r>
            <a:r>
              <a:rPr sz="700" b="0" i="0">
                <a:solidFill>
                  <a:srgbClr val="4D4D4D"/>
                </a:solidFill>
                <a:latin typeface="Trenda IG Text"/>
              </a:rPr>
              <a:t>  </a:t>
            </a:r>
          </a:p>
        </p:txBody>
      </p:sp>
      <p:sp>
        <p:nvSpPr>
          <p:cNvPr id="82" name="Shape 81"/>
          <p:cNvSpPr/>
          <p:nvPr/>
        </p:nvSpPr>
        <p:spPr>
          <a:xfrm>
            <a:off x="7891271" y="27432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82"/>
          <p:cNvSpPr/>
          <p:nvPr/>
        </p:nvSpPr>
        <p:spPr>
          <a:xfrm>
            <a:off x="7891271" y="27432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019288" y="27432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2  </a:t>
            </a:r>
            <a:r>
              <a:rPr sz="700" b="1" i="0">
                <a:solidFill>
                  <a:srgbClr val="1A1A1A"/>
                </a:solidFill>
                <a:latin typeface="Trenda IG Text"/>
              </a:rPr>
              <a:t>Apply consent, STOP, suppression and contactability at run time</a:t>
            </a:r>
            <a:r>
              <a:rPr sz="700" b="0" i="0">
                <a:solidFill>
                  <a:srgbClr val="4D4D4D"/>
                </a:solidFill>
                <a:latin typeface="Trenda IG Text"/>
              </a:rPr>
              <a:t>  </a:t>
            </a:r>
          </a:p>
        </p:txBody>
      </p:sp>
      <p:sp>
        <p:nvSpPr>
          <p:cNvPr id="85" name="Shape 84"/>
          <p:cNvSpPr/>
          <p:nvPr/>
        </p:nvSpPr>
        <p:spPr>
          <a:xfrm>
            <a:off x="7891271" y="32004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Shape 85"/>
          <p:cNvSpPr/>
          <p:nvPr/>
        </p:nvSpPr>
        <p:spPr>
          <a:xfrm>
            <a:off x="7891271" y="32004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8019288" y="32004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3  </a:t>
            </a:r>
            <a:r>
              <a:rPr sz="700" b="1" i="0">
                <a:solidFill>
                  <a:srgbClr val="1A1A1A"/>
                </a:solidFill>
                <a:latin typeface="Trenda IG Text"/>
              </a:rPr>
              <a:t>Produce the masked G2 summary: counts and exclusions by rule</a:t>
            </a:r>
            <a:r>
              <a:rPr sz="700" b="0" i="0">
                <a:solidFill>
                  <a:srgbClr val="4D4D4D"/>
                </a:solidFill>
                <a:latin typeface="Trenda IG Text"/>
              </a:rPr>
              <a:t>  </a:t>
            </a:r>
          </a:p>
        </p:txBody>
      </p:sp>
      <p:sp>
        <p:nvSpPr>
          <p:cNvPr id="88" name="Shape 87"/>
          <p:cNvSpPr/>
          <p:nvPr/>
        </p:nvSpPr>
        <p:spPr>
          <a:xfrm>
            <a:off x="7891271" y="36576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8"/>
          <p:cNvSpPr/>
          <p:nvPr/>
        </p:nvSpPr>
        <p:spPr>
          <a:xfrm>
            <a:off x="7891271" y="36576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019288" y="36576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4  </a:t>
            </a:r>
            <a:r>
              <a:rPr sz="700" b="1" i="0">
                <a:solidFill>
                  <a:srgbClr val="1A1A1A"/>
                </a:solidFill>
                <a:latin typeface="Trenda IG Text"/>
              </a:rPr>
              <a:t>Release minimum fields to Marketing Cloud, time-limited</a:t>
            </a:r>
            <a:r>
              <a:rPr sz="700" b="0" i="0">
                <a:solidFill>
                  <a:srgbClr val="4D4D4D"/>
                </a:solidFill>
                <a:latin typeface="Trenda IG Text"/>
              </a:rPr>
              <a:t>  </a:t>
            </a:r>
          </a:p>
        </p:txBody>
      </p:sp>
      <p:sp>
        <p:nvSpPr>
          <p:cNvPr id="91" name="Shape 90"/>
          <p:cNvSpPr/>
          <p:nvPr/>
        </p:nvSpPr>
        <p:spPr>
          <a:xfrm>
            <a:off x="7891271" y="41148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1"/>
          <p:cNvSpPr/>
          <p:nvPr/>
        </p:nvSpPr>
        <p:spPr>
          <a:xfrm>
            <a:off x="7891271" y="41148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019288" y="41148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5  </a:t>
            </a:r>
            <a:r>
              <a:rPr sz="700" b="1" i="0">
                <a:solidFill>
                  <a:srgbClr val="1A1A1A"/>
                </a:solidFill>
                <a:latin typeface="Trenda IG Text"/>
              </a:rPr>
              <a:t>Hold out a control group to measure true impact</a:t>
            </a:r>
            <a:r>
              <a:rPr sz="700" b="0" i="0">
                <a:solidFill>
                  <a:srgbClr val="4D4D4D"/>
                </a:solidFill>
                <a:latin typeface="Trenda IG Text"/>
              </a:rPr>
              <a:t>  </a:t>
            </a:r>
          </a:p>
        </p:txBody>
      </p:sp>
      <p:sp>
        <p:nvSpPr>
          <p:cNvPr id="94" name="Shape 93"/>
          <p:cNvSpPr/>
          <p:nvPr/>
        </p:nvSpPr>
        <p:spPr>
          <a:xfrm>
            <a:off x="7891271" y="45720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4"/>
          <p:cNvSpPr/>
          <p:nvPr/>
        </p:nvSpPr>
        <p:spPr>
          <a:xfrm>
            <a:off x="7891271" y="45720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019288" y="45720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6  </a:t>
            </a:r>
            <a:r>
              <a:rPr sz="700" b="1" i="0">
                <a:solidFill>
                  <a:srgbClr val="1A1A1A"/>
                </a:solidFill>
                <a:latin typeface="Trenda IG Text"/>
              </a:rPr>
              <a:t>Track engagement and outcomes per patient, such as readmissions</a:t>
            </a:r>
            <a:r>
              <a:rPr sz="700" b="0" i="0">
                <a:solidFill>
                  <a:srgbClr val="4D4D4D"/>
                </a:solidFill>
                <a:latin typeface="Trenda IG Text"/>
              </a:rPr>
              <a:t>  </a:t>
            </a:r>
          </a:p>
        </p:txBody>
      </p:sp>
      <p:sp>
        <p:nvSpPr>
          <p:cNvPr id="97" name="Shape 96"/>
          <p:cNvSpPr/>
          <p:nvPr/>
        </p:nvSpPr>
        <p:spPr>
          <a:xfrm>
            <a:off x="7891271" y="50292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7"/>
          <p:cNvSpPr/>
          <p:nvPr/>
        </p:nvSpPr>
        <p:spPr>
          <a:xfrm>
            <a:off x="7891271" y="50292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8019288" y="50292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7  </a:t>
            </a:r>
            <a:r>
              <a:rPr sz="700" b="1" i="0">
                <a:solidFill>
                  <a:srgbClr val="1A1A1A"/>
                </a:solidFill>
                <a:latin typeface="Trenda IG Text"/>
              </a:rPr>
              <a:t>Feed aggregates to Gold A, with small groups suppressed</a:t>
            </a:r>
            <a:r>
              <a:rPr sz="700" b="0" i="0">
                <a:solidFill>
                  <a:srgbClr val="4D4D4D"/>
                </a:solidFill>
                <a:latin typeface="Trenda IG Text"/>
              </a:rPr>
              <a:t>  </a:t>
            </a:r>
          </a:p>
        </p:txBody>
      </p:sp>
      <p:sp>
        <p:nvSpPr>
          <p:cNvPr id="100" name="Text 99"/>
          <p:cNvSpPr txBox="1"/>
          <p:nvPr/>
        </p:nvSpPr>
        <p:spPr>
          <a:xfrm>
            <a:off x="411480" y="5559552"/>
            <a:ext cx="1188720" cy="676656"/>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CONTROLS</a:t>
            </a:r>
          </a:p>
          <a:p>
            <a:pPr>
              <a:spcAft>
                <a:spcPts val="100"/>
              </a:spcAft>
            </a:pPr>
            <a:r>
              <a:rPr sz="700" b="0" i="0">
                <a:solidFill>
                  <a:srgbClr val="6B6B6B"/>
                </a:solidFill>
                <a:latin typeface="Trenda IG Text"/>
              </a:rPr>
              <a:t>on Gold B</a:t>
            </a:r>
          </a:p>
        </p:txBody>
      </p:sp>
      <p:sp>
        <p:nvSpPr>
          <p:cNvPr id="101" name="Shape 100"/>
          <p:cNvSpPr/>
          <p:nvPr/>
        </p:nvSpPr>
        <p:spPr>
          <a:xfrm>
            <a:off x="1645920"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164592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792224"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Service identities only</a:t>
            </a:r>
          </a:p>
          <a:p>
            <a:pPr>
              <a:spcAft>
                <a:spcPts val="100"/>
              </a:spcAft>
            </a:pPr>
            <a:r>
              <a:rPr sz="700" b="0" i="0">
                <a:solidFill>
                  <a:srgbClr val="4D4D4D"/>
                </a:solidFill>
                <a:latin typeface="Trenda IG Text"/>
              </a:rPr>
              <a:t>no agent, no dashboard</a:t>
            </a:r>
          </a:p>
        </p:txBody>
      </p:sp>
      <p:sp>
        <p:nvSpPr>
          <p:cNvPr id="104" name="Shape 103"/>
          <p:cNvSpPr/>
          <p:nvPr/>
        </p:nvSpPr>
        <p:spPr>
          <a:xfrm>
            <a:off x="3349752"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4"/>
          <p:cNvSpPr/>
          <p:nvPr/>
        </p:nvSpPr>
        <p:spPr>
          <a:xfrm>
            <a:off x="3349752"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3496056"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Row + column policies</a:t>
            </a:r>
          </a:p>
          <a:p>
            <a:pPr>
              <a:spcAft>
                <a:spcPts val="100"/>
              </a:spcAft>
            </a:pPr>
            <a:r>
              <a:rPr sz="700" b="0" i="0">
                <a:solidFill>
                  <a:srgbClr val="4D4D4D"/>
                </a:solidFill>
                <a:latin typeface="Trenda IG Text"/>
              </a:rPr>
              <a:t>CMEK encryption</a:t>
            </a:r>
          </a:p>
        </p:txBody>
      </p:sp>
      <p:sp>
        <p:nvSpPr>
          <p:cNvPr id="107" name="Shape 106"/>
          <p:cNvSpPr/>
          <p:nvPr/>
        </p:nvSpPr>
        <p:spPr>
          <a:xfrm>
            <a:off x="5053584"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Shape 107"/>
          <p:cNvSpPr/>
          <p:nvPr/>
        </p:nvSpPr>
        <p:spPr>
          <a:xfrm>
            <a:off x="5053584"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5199888"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Every read logged</a:t>
            </a:r>
          </a:p>
          <a:p>
            <a:pPr>
              <a:spcAft>
                <a:spcPts val="100"/>
              </a:spcAft>
            </a:pPr>
            <a:r>
              <a:rPr sz="700" b="0" i="0">
                <a:solidFill>
                  <a:srgbClr val="4D4D4D"/>
                </a:solidFill>
                <a:latin typeface="Trenda IG Text"/>
              </a:rPr>
              <a:t>who, why, which rule version</a:t>
            </a:r>
          </a:p>
        </p:txBody>
      </p:sp>
      <p:sp>
        <p:nvSpPr>
          <p:cNvPr id="110" name="Shape 109"/>
          <p:cNvSpPr/>
          <p:nvPr/>
        </p:nvSpPr>
        <p:spPr>
          <a:xfrm>
            <a:off x="6757416"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10"/>
          <p:cNvSpPr/>
          <p:nvPr/>
        </p:nvSpPr>
        <p:spPr>
          <a:xfrm>
            <a:off x="6757416"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903720"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Retention limits</a:t>
            </a:r>
          </a:p>
          <a:p>
            <a:pPr>
              <a:spcAft>
                <a:spcPts val="100"/>
              </a:spcAft>
            </a:pPr>
            <a:r>
              <a:rPr sz="700" b="0" i="0">
                <a:solidFill>
                  <a:srgbClr val="4D4D4D"/>
                </a:solidFill>
                <a:latin typeface="Trenda IG Text"/>
              </a:rPr>
              <a:t>purged on schedule</a:t>
            </a:r>
          </a:p>
        </p:txBody>
      </p:sp>
      <p:sp>
        <p:nvSpPr>
          <p:cNvPr id="113" name="Shape 112"/>
          <p:cNvSpPr/>
          <p:nvPr/>
        </p:nvSpPr>
        <p:spPr>
          <a:xfrm>
            <a:off x="8461248"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Shape 113"/>
          <p:cNvSpPr/>
          <p:nvPr/>
        </p:nvSpPr>
        <p:spPr>
          <a:xfrm>
            <a:off x="8461248"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8607552"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No copies outside</a:t>
            </a:r>
          </a:p>
          <a:p>
            <a:pPr>
              <a:spcAft>
                <a:spcPts val="100"/>
              </a:spcAft>
            </a:pPr>
            <a:r>
              <a:rPr sz="700" b="0" i="0">
                <a:solidFill>
                  <a:srgbClr val="4D4D4D"/>
                </a:solidFill>
                <a:latin typeface="Trenda IG Text"/>
              </a:rPr>
              <a:t>only the released fields leave</a:t>
            </a:r>
          </a:p>
        </p:txBody>
      </p:sp>
      <p:sp>
        <p:nvSpPr>
          <p:cNvPr id="116" name="Shape 115"/>
          <p:cNvSpPr/>
          <p:nvPr/>
        </p:nvSpPr>
        <p:spPr>
          <a:xfrm>
            <a:off x="10165080"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6"/>
          <p:cNvSpPr/>
          <p:nvPr/>
        </p:nvSpPr>
        <p:spPr>
          <a:xfrm>
            <a:off x="1016508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311384"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Reconciled every run</a:t>
            </a:r>
          </a:p>
          <a:p>
            <a:pPr>
              <a:spcAft>
                <a:spcPts val="100"/>
              </a:spcAft>
            </a:pPr>
            <a:r>
              <a:rPr sz="700" b="0" i="0">
                <a:solidFill>
                  <a:srgbClr val="4D4D4D"/>
                </a:solidFill>
                <a:latin typeface="Trenda IG Text"/>
              </a:rPr>
              <a:t>counts match end to 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FUNCTIONAL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Create a campaign in Codex: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Agents work only with definitions and counts. Patient-level data moves only through deterministic services, and only after people approve.</a:t>
            </a:r>
          </a:p>
        </p:txBody>
      </p:sp>
      <p:cxnSp>
        <p:nvCxnSpPr>
          <p:cNvPr id="5" name="Arrow 4"/>
          <p:cNvCxnSpPr/>
          <p:nvPr/>
        </p:nvCxnSpPr>
        <p:spPr>
          <a:xfrm>
            <a:off x="6906332"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people.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8A6D00"/>
                </a:solidFill>
                <a:latin typeface="Trenda IG Text"/>
              </a:rPr>
              <a:t>People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Codex · approval page</a:t>
            </a:r>
          </a:p>
        </p:txBody>
      </p:sp>
      <p:cxnSp>
        <p:nvCxnSpPr>
          <p:cNvPr id="10" name="Arrow 8"/>
          <p:cNvCxnSpPr/>
          <p:nvPr/>
        </p:nvCxnSpPr>
        <p:spPr>
          <a:xfrm>
            <a:off x="122333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harness.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0089A0"/>
                </a:solidFill>
                <a:latin typeface="Trenda IG Text"/>
              </a:rPr>
              <a:t>Agents</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Orchestrator, Strategist, Analytics, Design, Readiness</a:t>
            </a:r>
          </a:p>
        </p:txBody>
      </p:sp>
      <p:cxnSp>
        <p:nvCxnSpPr>
          <p:cNvPr id="15" name="Arrow 12"/>
          <p:cNvCxnSpPr/>
          <p:nvPr/>
        </p:nvCxnSpPr>
        <p:spPr>
          <a:xfrm>
            <a:off x="284704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googlebigquery.png"/>
          <p:cNvPicPr>
            <a:picLocks noChangeAspect="1"/>
          </p:cNvPicPr>
          <p:nvPr/>
        </p:nvPicPr>
        <p:blipFill>
          <a:blip r:embed="rId4"/>
          <a:stretch>
            <a:fillRect/>
          </a:stretch>
        </p:blipFill>
        <p:spPr>
          <a:xfrm>
            <a:off x="3777778" y="1243584"/>
            <a:ext cx="182880" cy="182880"/>
          </a:xfrm>
          <a:prstGeom prst="rect">
            <a:avLst/>
          </a:prstGeom>
        </p:spPr>
      </p:pic>
      <p:sp>
        <p:nvSpPr>
          <p:cNvPr id="18" name="Text 14"/>
          <p:cNvSpPr txBox="1"/>
          <p:nvPr/>
        </p:nvSpPr>
        <p:spPr>
          <a:xfrm>
            <a:off x="4015522" y="1216152"/>
            <a:ext cx="1184801" cy="219456"/>
          </a:xfrm>
          <a:prstGeom prst="rect">
            <a:avLst/>
          </a:prstGeom>
          <a:noFill/>
        </p:spPr>
        <p:txBody>
          <a:bodyPr wrap="square" lIns="0" rIns="0" tIns="0" bIns="0" anchor="ctr">
            <a:spAutoFit/>
          </a:bodyPr>
          <a:lstStyle/>
          <a:p>
            <a:r>
              <a:rPr sz="800" b="1" i="0">
                <a:solidFill>
                  <a:srgbClr val="8A6D00"/>
                </a:solidFill>
                <a:latin typeface="Trenda IG Text"/>
              </a:rPr>
              <a:t>Gold A · BigQuery</a:t>
            </a:r>
          </a:p>
        </p:txBody>
      </p:sp>
      <p:sp>
        <p:nvSpPr>
          <p:cNvPr id="19"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aggregates + masked views; Collibra policy tags</a:t>
            </a:r>
          </a:p>
        </p:txBody>
      </p:sp>
      <p:cxnSp>
        <p:nvCxnSpPr>
          <p:cNvPr id="20" name="Arrow 16"/>
          <p:cNvCxnSpPr/>
          <p:nvPr/>
        </p:nvCxnSpPr>
        <p:spPr>
          <a:xfrm>
            <a:off x="447076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1" name="Shape 17"/>
          <p:cNvSpPr/>
          <p:nvPr/>
        </p:nvSpPr>
        <p:spPr>
          <a:xfrm>
            <a:off x="5328339"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googlecloudspanner.png"/>
          <p:cNvPicPr>
            <a:picLocks noChangeAspect="1"/>
          </p:cNvPicPr>
          <p:nvPr/>
        </p:nvPicPr>
        <p:blipFill>
          <a:blip r:embed="rId5"/>
          <a:stretch>
            <a:fillRect/>
          </a:stretch>
        </p:blipFill>
        <p:spPr>
          <a:xfrm>
            <a:off x="5401491" y="1243584"/>
            <a:ext cx="182880" cy="182880"/>
          </a:xfrm>
          <a:prstGeom prst="rect">
            <a:avLst/>
          </a:prstGeom>
        </p:spPr>
      </p:pic>
      <p:sp>
        <p:nvSpPr>
          <p:cNvPr id="23" name="Text 18"/>
          <p:cNvSpPr txBox="1"/>
          <p:nvPr/>
        </p:nvSpPr>
        <p:spPr>
          <a:xfrm>
            <a:off x="5639235" y="1216152"/>
            <a:ext cx="1184801" cy="219456"/>
          </a:xfrm>
          <a:prstGeom prst="rect">
            <a:avLst/>
          </a:prstGeom>
          <a:noFill/>
        </p:spPr>
        <p:txBody>
          <a:bodyPr wrap="square" lIns="0" rIns="0" tIns="0" bIns="0" anchor="ctr">
            <a:spAutoFit/>
          </a:bodyPr>
          <a:lstStyle/>
          <a:p>
            <a:r>
              <a:rPr sz="800" b="1" i="0">
                <a:solidFill>
                  <a:srgbClr val="0089A0"/>
                </a:solidFill>
                <a:latin typeface="Trenda IG Text"/>
              </a:rPr>
              <a:t>Knowledge graph</a:t>
            </a:r>
          </a:p>
        </p:txBody>
      </p:sp>
      <p:sp>
        <p:nvSpPr>
          <p:cNvPr id="24"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semantic layer: definitions, counts, rules · Spanner Graph</a:t>
            </a:r>
          </a:p>
        </p:txBody>
      </p:sp>
      <p:cxnSp>
        <p:nvCxnSpPr>
          <p:cNvPr id="25" name="Arrow 20"/>
          <p:cNvCxnSpPr/>
          <p:nvPr/>
        </p:nvCxnSpPr>
        <p:spPr>
          <a:xfrm>
            <a:off x="609447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6" name="Shape 21"/>
          <p:cNvSpPr/>
          <p:nvPr/>
        </p:nvSpPr>
        <p:spPr>
          <a:xfrm>
            <a:off x="6952052" y="1170432"/>
            <a:ext cx="1532273" cy="566928"/>
          </a:xfrm>
          <a:prstGeom prst="roundRect">
            <a:avLst>
              <a:gd name="adj" fmla="val 8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6"/>
          <a:stretch>
            <a:fillRect/>
          </a:stretch>
        </p:blipFill>
        <p:spPr>
          <a:xfrm>
            <a:off x="7025204" y="1243584"/>
            <a:ext cx="182880" cy="182880"/>
          </a:xfrm>
          <a:prstGeom prst="rect">
            <a:avLst/>
          </a:prstGeom>
        </p:spPr>
      </p:pic>
      <p:sp>
        <p:nvSpPr>
          <p:cNvPr id="28" name="Text 22"/>
          <p:cNvSpPr txBox="1"/>
          <p:nvPr/>
        </p:nvSpPr>
        <p:spPr>
          <a:xfrm>
            <a:off x="7262948"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Gold B · eligibility</a:t>
            </a:r>
          </a:p>
        </p:txBody>
      </p:sp>
      <p:sp>
        <p:nvSpPr>
          <p:cNvPr id="29" name="Text 23"/>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restricted; a deterministic service</a:t>
            </a:r>
          </a:p>
        </p:txBody>
      </p:sp>
      <p:cxnSp>
        <p:nvCxnSpPr>
          <p:cNvPr id="30" name="Arrow 24"/>
          <p:cNvCxnSpPr/>
          <p:nvPr/>
        </p:nvCxnSpPr>
        <p:spPr>
          <a:xfrm>
            <a:off x="771818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1" name="Differentiator Border 26"/>
          <p:cNvSpPr/>
          <p:nvPr/>
        </p:nvSpPr>
        <p:spPr>
          <a:xfrm>
            <a:off x="8575765"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27"/>
          <p:cNvSpPr/>
          <p:nvPr/>
        </p:nvSpPr>
        <p:spPr>
          <a:xfrm>
            <a:off x="8603197" y="1197864"/>
            <a:ext cx="147740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Policy engine</a:t>
            </a:r>
          </a:p>
        </p:txBody>
      </p:sp>
      <p:sp>
        <p:nvSpPr>
          <p:cNvPr id="34"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 activation gateway</a:t>
            </a:r>
          </a:p>
        </p:txBody>
      </p:sp>
      <p:cxnSp>
        <p:nvCxnSpPr>
          <p:cNvPr id="35" name="Arrow 30"/>
          <p:cNvCxnSpPr/>
          <p:nvPr/>
        </p:nvCxnSpPr>
        <p:spPr>
          <a:xfrm>
            <a:off x="934190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6" name="Shape 31"/>
          <p:cNvSpPr/>
          <p:nvPr/>
        </p:nvSpPr>
        <p:spPr>
          <a:xfrm>
            <a:off x="10199478" y="1170432"/>
            <a:ext cx="1532273" cy="566928"/>
          </a:xfrm>
          <a:prstGeom prst="roundRect">
            <a:avLst>
              <a:gd name="adj" fmla="val 8000"/>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salesforce.png"/>
          <p:cNvPicPr>
            <a:picLocks noChangeAspect="1"/>
          </p:cNvPicPr>
          <p:nvPr/>
        </p:nvPicPr>
        <p:blipFill>
          <a:blip r:embed="rId7"/>
          <a:stretch>
            <a:fillRect/>
          </a:stretch>
        </p:blipFill>
        <p:spPr>
          <a:xfrm>
            <a:off x="10272630" y="1243584"/>
            <a:ext cx="182880" cy="182880"/>
          </a:xfrm>
          <a:prstGeom prst="rect">
            <a:avLst/>
          </a:prstGeom>
        </p:spPr>
      </p:pic>
      <p:sp>
        <p:nvSpPr>
          <p:cNvPr id="38"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1A1A1A"/>
                </a:solidFill>
                <a:latin typeface="Trenda IG Text"/>
              </a:rPr>
              <a:t>Marketing Cloud</a:t>
            </a:r>
          </a:p>
        </p:txBody>
      </p:sp>
      <p:sp>
        <p:nvSpPr>
          <p:cNvPr id="39"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journey + data extension</a:t>
            </a:r>
          </a:p>
        </p:txBody>
      </p:sp>
      <p:cxnSp>
        <p:nvCxnSpPr>
          <p:cNvPr id="40" name="Arrow 34"/>
          <p:cNvCxnSpPr/>
          <p:nvPr/>
        </p:nvCxnSpPr>
        <p:spPr>
          <a:xfrm>
            <a:off x="10965615"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cxnSp>
        <p:nvCxnSpPr>
          <p:cNvPr id="41" name="Arrow 35"/>
          <p:cNvCxnSpPr/>
          <p:nvPr/>
        </p:nvCxnSpPr>
        <p:spPr>
          <a:xfrm>
            <a:off x="4470762" y="1984248"/>
            <a:ext cx="1623714"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Shape 36"/>
          <p:cNvSpPr/>
          <p:nvPr/>
        </p:nvSpPr>
        <p:spPr>
          <a:xfrm>
            <a:off x="3442389" y="1833372"/>
            <a:ext cx="3680459"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7"/>
          <p:cNvSpPr txBox="1"/>
          <p:nvPr/>
        </p:nvSpPr>
        <p:spPr>
          <a:xfrm>
            <a:off x="3442389" y="1833372"/>
            <a:ext cx="3680459" cy="128016"/>
          </a:xfrm>
          <a:prstGeom prst="rect">
            <a:avLst/>
          </a:prstGeom>
          <a:noFill/>
        </p:spPr>
        <p:txBody>
          <a:bodyPr wrap="square" lIns="0" rIns="0" tIns="0" bIns="0" anchor="ctr">
            <a:spAutoFit/>
          </a:bodyPr>
          <a:lstStyle/>
          <a:p>
            <a:pPr algn="ctr"/>
            <a:r>
              <a:rPr sz="700" b="0" i="0">
                <a:solidFill>
                  <a:srgbClr val="1A1A1A"/>
                </a:solidFill>
                <a:latin typeface="Trenda IG Text"/>
              </a:rPr>
              <a:t>0  Kept current: aggregates and definitions only, never patient records</a:t>
            </a:r>
          </a:p>
        </p:txBody>
      </p:sp>
      <p:cxnSp>
        <p:nvCxnSpPr>
          <p:cNvPr id="44" name="Arrow 38"/>
          <p:cNvCxnSpPr/>
          <p:nvPr/>
        </p:nvCxnSpPr>
        <p:spPr>
          <a:xfrm>
            <a:off x="1223336" y="2195068"/>
            <a:ext cx="1623713"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Shape 39"/>
          <p:cNvSpPr/>
          <p:nvPr/>
        </p:nvSpPr>
        <p:spPr>
          <a:xfrm>
            <a:off x="411480" y="2044192"/>
            <a:ext cx="3278124"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0"/>
          <p:cNvSpPr txBox="1"/>
          <p:nvPr/>
        </p:nvSpPr>
        <p:spPr>
          <a:xfrm>
            <a:off x="411480" y="2044192"/>
            <a:ext cx="3278124" cy="128016"/>
          </a:xfrm>
          <a:prstGeom prst="rect">
            <a:avLst/>
          </a:prstGeom>
          <a:noFill/>
        </p:spPr>
        <p:txBody>
          <a:bodyPr wrap="square" lIns="0" rIns="0" tIns="0" bIns="0" anchor="ctr">
            <a:spAutoFit/>
          </a:bodyPr>
          <a:lstStyle/>
          <a:p>
            <a:pPr algn="ctr"/>
            <a:r>
              <a:rPr sz="700" b="0" i="0">
                <a:solidFill>
                  <a:srgbClr val="1A1A1A"/>
                </a:solidFill>
                <a:latin typeface="Trenda IG Text"/>
              </a:rPr>
              <a:t>1  “Build a post-discharge campaign for heart-failure patients”</a:t>
            </a:r>
          </a:p>
        </p:txBody>
      </p:sp>
      <p:cxnSp>
        <p:nvCxnSpPr>
          <p:cNvPr id="47" name="Arrow 41"/>
          <p:cNvCxnSpPr/>
          <p:nvPr/>
        </p:nvCxnSpPr>
        <p:spPr>
          <a:xfrm>
            <a:off x="2847049" y="2405888"/>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Shape 42"/>
          <p:cNvSpPr/>
          <p:nvPr/>
        </p:nvSpPr>
        <p:spPr>
          <a:xfrm>
            <a:off x="2892769" y="2255012"/>
            <a:ext cx="3155986"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3"/>
          <p:cNvSpPr txBox="1"/>
          <p:nvPr/>
        </p:nvSpPr>
        <p:spPr>
          <a:xfrm>
            <a:off x="2892769" y="2255012"/>
            <a:ext cx="3155986" cy="128016"/>
          </a:xfrm>
          <a:prstGeom prst="rect">
            <a:avLst/>
          </a:prstGeom>
          <a:noFill/>
        </p:spPr>
        <p:txBody>
          <a:bodyPr wrap="square" lIns="0" rIns="0" tIns="0" bIns="0" anchor="ctr">
            <a:spAutoFit/>
          </a:bodyPr>
          <a:lstStyle/>
          <a:p>
            <a:pPr algn="ctr"/>
            <a:r>
              <a:rPr sz="700" b="0" i="0">
                <a:solidFill>
                  <a:srgbClr val="1A1A1A"/>
                </a:solidFill>
                <a:latin typeface="Trenda IG Text"/>
              </a:rPr>
              <a:t>2  What is a heart-failure patient? Which data, which rules?</a:t>
            </a:r>
          </a:p>
        </p:txBody>
      </p:sp>
      <p:cxnSp>
        <p:nvCxnSpPr>
          <p:cNvPr id="50" name="Arrow 44"/>
          <p:cNvCxnSpPr/>
          <p:nvPr/>
        </p:nvCxnSpPr>
        <p:spPr>
          <a:xfrm flipH="1">
            <a:off x="2847049" y="2616708"/>
            <a:ext cx="3247427"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Shape 45"/>
          <p:cNvSpPr/>
          <p:nvPr/>
        </p:nvSpPr>
        <p:spPr>
          <a:xfrm>
            <a:off x="2756262" y="2465832"/>
            <a:ext cx="3429000"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6"/>
          <p:cNvSpPr txBox="1"/>
          <p:nvPr/>
        </p:nvSpPr>
        <p:spPr>
          <a:xfrm>
            <a:off x="2756262" y="2465832"/>
            <a:ext cx="3429000" cy="128016"/>
          </a:xfrm>
          <a:prstGeom prst="rect">
            <a:avLst/>
          </a:prstGeom>
          <a:noFill/>
        </p:spPr>
        <p:txBody>
          <a:bodyPr wrap="square" lIns="0" rIns="0" tIns="0" bIns="0" anchor="ctr">
            <a:spAutoFit/>
          </a:bodyPr>
          <a:lstStyle/>
          <a:p>
            <a:pPr algn="ctr"/>
            <a:r>
              <a:rPr sz="700" b="0" i="0">
                <a:solidFill>
                  <a:srgbClr val="4D4D4D"/>
                </a:solidFill>
                <a:latin typeface="Trenda IG Text"/>
              </a:rPr>
              <a:t>3  Definition, Gold A table and consent rule, each with its source</a:t>
            </a:r>
          </a:p>
        </p:txBody>
      </p:sp>
      <p:cxnSp>
        <p:nvCxnSpPr>
          <p:cNvPr id="53" name="Arrow 47"/>
          <p:cNvCxnSpPr/>
          <p:nvPr/>
        </p:nvCxnSpPr>
        <p:spPr>
          <a:xfrm>
            <a:off x="2847049" y="2827528"/>
            <a:ext cx="1623713"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Shape 48"/>
          <p:cNvSpPr/>
          <p:nvPr/>
        </p:nvSpPr>
        <p:spPr>
          <a:xfrm>
            <a:off x="2573056" y="2676652"/>
            <a:ext cx="2171700"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49"/>
          <p:cNvSpPr txBox="1"/>
          <p:nvPr/>
        </p:nvSpPr>
        <p:spPr>
          <a:xfrm>
            <a:off x="2573056" y="2676652"/>
            <a:ext cx="2171700" cy="128016"/>
          </a:xfrm>
          <a:prstGeom prst="rect">
            <a:avLst/>
          </a:prstGeom>
          <a:noFill/>
        </p:spPr>
        <p:txBody>
          <a:bodyPr wrap="square" lIns="0" rIns="0" tIns="0" bIns="0" anchor="ctr">
            <a:spAutoFit/>
          </a:bodyPr>
          <a:lstStyle/>
          <a:p>
            <a:pPr algn="ctr"/>
            <a:r>
              <a:rPr sz="700" b="0" i="0">
                <a:solidFill>
                  <a:srgbClr val="1A1A1A"/>
                </a:solidFill>
                <a:latin typeface="Trenda IG Text"/>
              </a:rPr>
              <a:t>4  Count the cohort by channel and region</a:t>
            </a:r>
          </a:p>
        </p:txBody>
      </p:sp>
      <p:cxnSp>
        <p:nvCxnSpPr>
          <p:cNvPr id="56" name="Arrow 50"/>
          <p:cNvCxnSpPr/>
          <p:nvPr/>
        </p:nvCxnSpPr>
        <p:spPr>
          <a:xfrm flipH="1">
            <a:off x="2847049" y="3038348"/>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7" name="Shape 51"/>
          <p:cNvSpPr/>
          <p:nvPr/>
        </p:nvSpPr>
        <p:spPr>
          <a:xfrm>
            <a:off x="2170720" y="2887472"/>
            <a:ext cx="297637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2"/>
          <p:cNvSpPr txBox="1"/>
          <p:nvPr/>
        </p:nvSpPr>
        <p:spPr>
          <a:xfrm>
            <a:off x="2170720" y="2887472"/>
            <a:ext cx="2976372" cy="128016"/>
          </a:xfrm>
          <a:prstGeom prst="rect">
            <a:avLst/>
          </a:prstGeom>
          <a:noFill/>
        </p:spPr>
        <p:txBody>
          <a:bodyPr wrap="square" lIns="0" rIns="0" tIns="0" bIns="0" anchor="ctr">
            <a:spAutoFit/>
          </a:bodyPr>
          <a:lstStyle/>
          <a:p>
            <a:pPr algn="ctr"/>
            <a:r>
              <a:rPr sz="700" b="0" i="0">
                <a:solidFill>
                  <a:srgbClr val="4D4D4D"/>
                </a:solidFill>
                <a:latin typeface="Trenda IG Text"/>
              </a:rPr>
              <a:t>5  Counts only, never names; masked rows stay in BigQuery</a:t>
            </a:r>
          </a:p>
        </p:txBody>
      </p:sp>
      <p:cxnSp>
        <p:nvCxnSpPr>
          <p:cNvPr id="59" name="Arrow 53"/>
          <p:cNvCxnSpPr/>
          <p:nvPr/>
        </p:nvCxnSpPr>
        <p:spPr>
          <a:xfrm flipH="1">
            <a:off x="1223336" y="3249168"/>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Shape 54"/>
          <p:cNvSpPr/>
          <p:nvPr/>
        </p:nvSpPr>
        <p:spPr>
          <a:xfrm>
            <a:off x="798467" y="3098292"/>
            <a:ext cx="247345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798467" y="3098292"/>
            <a:ext cx="2473452" cy="128016"/>
          </a:xfrm>
          <a:prstGeom prst="rect">
            <a:avLst/>
          </a:prstGeom>
          <a:noFill/>
        </p:spPr>
        <p:txBody>
          <a:bodyPr wrap="square" lIns="0" rIns="0" tIns="0" bIns="0" anchor="ctr">
            <a:spAutoFit/>
          </a:bodyPr>
          <a:lstStyle/>
          <a:p>
            <a:pPr algn="ctr"/>
            <a:r>
              <a:rPr sz="700" b="0" i="0">
                <a:solidFill>
                  <a:srgbClr val="4D4D4D"/>
                </a:solidFill>
                <a:latin typeface="Trenda IG Text"/>
              </a:rPr>
              <a:t>6  Opportunity Brief + masked Tableau dashboard</a:t>
            </a:r>
          </a:p>
        </p:txBody>
      </p:sp>
      <p:sp>
        <p:nvSpPr>
          <p:cNvPr id="62" name="Shape 56"/>
          <p:cNvSpPr/>
          <p:nvPr/>
        </p:nvSpPr>
        <p:spPr>
          <a:xfrm>
            <a:off x="537536" y="336854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7"/>
          <p:cNvSpPr txBox="1"/>
          <p:nvPr/>
        </p:nvSpPr>
        <p:spPr>
          <a:xfrm>
            <a:off x="537536" y="336854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G1 · marketer + clinical approve the brief</a:t>
            </a:r>
          </a:p>
        </p:txBody>
      </p:sp>
      <p:cxnSp>
        <p:nvCxnSpPr>
          <p:cNvPr id="64" name="Arrow 58"/>
          <p:cNvCxnSpPr/>
          <p:nvPr/>
        </p:nvCxnSpPr>
        <p:spPr>
          <a:xfrm>
            <a:off x="2847049" y="3670808"/>
            <a:ext cx="811856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59"/>
          <p:cNvSpPr/>
          <p:nvPr/>
        </p:nvSpPr>
        <p:spPr>
          <a:xfrm>
            <a:off x="2892769" y="3519932"/>
            <a:ext cx="8027125"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2892769" y="3519932"/>
            <a:ext cx="8027125" cy="128016"/>
          </a:xfrm>
          <a:prstGeom prst="rect">
            <a:avLst/>
          </a:prstGeom>
          <a:noFill/>
        </p:spPr>
        <p:txBody>
          <a:bodyPr wrap="square" lIns="0" rIns="0" tIns="0" bIns="0" anchor="ctr">
            <a:spAutoFit/>
          </a:bodyPr>
          <a:lstStyle/>
          <a:p>
            <a:pPr algn="ctr"/>
            <a:r>
              <a:rPr sz="700" b="0" i="0">
                <a:solidFill>
                  <a:srgbClr val="1A1A1A"/>
                </a:solidFill>
                <a:latin typeface="Trenda IG Text"/>
              </a:rPr>
              <a:t>7  Build the journey and data extension, paused: no patients yet</a:t>
            </a:r>
          </a:p>
        </p:txBody>
      </p:sp>
      <p:cxnSp>
        <p:nvCxnSpPr>
          <p:cNvPr id="67" name="Arrow 61"/>
          <p:cNvCxnSpPr/>
          <p:nvPr/>
        </p:nvCxnSpPr>
        <p:spPr>
          <a:xfrm>
            <a:off x="2847049" y="3881628"/>
            <a:ext cx="811856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2"/>
          <p:cNvSpPr/>
          <p:nvPr/>
        </p:nvSpPr>
        <p:spPr>
          <a:xfrm>
            <a:off x="2892769" y="3730752"/>
            <a:ext cx="8027125"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3"/>
          <p:cNvSpPr txBox="1"/>
          <p:nvPr/>
        </p:nvSpPr>
        <p:spPr>
          <a:xfrm>
            <a:off x="2892769" y="3730752"/>
            <a:ext cx="8027125" cy="128016"/>
          </a:xfrm>
          <a:prstGeom prst="rect">
            <a:avLst/>
          </a:prstGeom>
          <a:noFill/>
        </p:spPr>
        <p:txBody>
          <a:bodyPr wrap="square" lIns="0" rIns="0" tIns="0" bIns="0" anchor="ctr">
            <a:spAutoFit/>
          </a:bodyPr>
          <a:lstStyle/>
          <a:p>
            <a:pPr algn="ctr"/>
            <a:r>
              <a:rPr sz="700" b="0" i="0">
                <a:solidFill>
                  <a:srgbClr val="1A1A1A"/>
                </a:solidFill>
                <a:latin typeface="Trenda IG Text"/>
              </a:rPr>
              <a:t>8  Test on test contacts only; a failure goes back to its cause</a:t>
            </a:r>
          </a:p>
        </p:txBody>
      </p:sp>
      <p:sp>
        <p:nvSpPr>
          <p:cNvPr id="70" name="Shape 64"/>
          <p:cNvSpPr/>
          <p:nvPr/>
        </p:nvSpPr>
        <p:spPr>
          <a:xfrm>
            <a:off x="537536" y="400100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5"/>
          <p:cNvSpPr txBox="1"/>
          <p:nvPr/>
        </p:nvSpPr>
        <p:spPr>
          <a:xfrm>
            <a:off x="537536" y="400100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G3 · clinical + compliance approve the journey</a:t>
            </a:r>
          </a:p>
        </p:txBody>
      </p:sp>
      <p:cxnSp>
        <p:nvCxnSpPr>
          <p:cNvPr id="72" name="Arrow 66"/>
          <p:cNvCxnSpPr/>
          <p:nvPr/>
        </p:nvCxnSpPr>
        <p:spPr>
          <a:xfrm>
            <a:off x="2847049" y="4303267"/>
            <a:ext cx="4871140"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Shape 67"/>
          <p:cNvSpPr/>
          <p:nvPr/>
        </p:nvSpPr>
        <p:spPr>
          <a:xfrm>
            <a:off x="2892769" y="4152391"/>
            <a:ext cx="4779699"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8"/>
          <p:cNvSpPr txBox="1"/>
          <p:nvPr/>
        </p:nvSpPr>
        <p:spPr>
          <a:xfrm>
            <a:off x="2892769" y="4152391"/>
            <a:ext cx="4779699" cy="128016"/>
          </a:xfrm>
          <a:prstGeom prst="rect">
            <a:avLst/>
          </a:prstGeom>
          <a:noFill/>
        </p:spPr>
        <p:txBody>
          <a:bodyPr wrap="square" lIns="0" rIns="0" tIns="0" bIns="0" anchor="ctr">
            <a:spAutoFit/>
          </a:bodyPr>
          <a:lstStyle/>
          <a:p>
            <a:pPr algn="ctr"/>
            <a:r>
              <a:rPr sz="700" b="0" i="0">
                <a:solidFill>
                  <a:srgbClr val="1A1A1A"/>
                </a:solidFill>
                <a:latin typeface="Trenda IG Text"/>
              </a:rPr>
              <a:t>9  Run eligibility for the approved rule (no patient data comes back)</a:t>
            </a:r>
          </a:p>
        </p:txBody>
      </p:sp>
      <p:sp>
        <p:nvSpPr>
          <p:cNvPr id="75" name="Shape 69"/>
          <p:cNvSpPr/>
          <p:nvPr/>
        </p:nvSpPr>
        <p:spPr>
          <a:xfrm>
            <a:off x="6961196" y="4422647"/>
            <a:ext cx="2798064" cy="182880"/>
          </a:xfrm>
          <a:prstGeom prst="roundRect">
            <a:avLst>
              <a:gd name="adj" fmla="val 50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0"/>
          <p:cNvSpPr txBox="1"/>
          <p:nvPr/>
        </p:nvSpPr>
        <p:spPr>
          <a:xfrm>
            <a:off x="6961196" y="4422647"/>
            <a:ext cx="2798064" cy="182880"/>
          </a:xfrm>
          <a:prstGeom prst="rect">
            <a:avLst/>
          </a:prstGeom>
          <a:noFill/>
        </p:spPr>
        <p:txBody>
          <a:bodyPr wrap="square" lIns="0" rIns="0" tIns="0" bIns="0" anchor="ctr">
            <a:spAutoFit/>
          </a:bodyPr>
          <a:lstStyle/>
          <a:p>
            <a:pPr algn="ctr"/>
            <a:r>
              <a:rPr sz="700" b="0" i="0">
                <a:solidFill>
                  <a:srgbClr val="1A1A1A"/>
                </a:solidFill>
                <a:latin typeface="Trenda IG Text"/>
              </a:rPr>
              <a:t>10  Consent, contact, STOP, deceased, duplicates out</a:t>
            </a:r>
          </a:p>
        </p:txBody>
      </p:sp>
      <p:cxnSp>
        <p:nvCxnSpPr>
          <p:cNvPr id="77" name="Arrow 71"/>
          <p:cNvCxnSpPr/>
          <p:nvPr/>
        </p:nvCxnSpPr>
        <p:spPr>
          <a:xfrm flipH="1">
            <a:off x="1223336" y="4724907"/>
            <a:ext cx="649485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8" name="Shape 72"/>
          <p:cNvSpPr/>
          <p:nvPr/>
        </p:nvSpPr>
        <p:spPr>
          <a:xfrm>
            <a:off x="1269056" y="4574031"/>
            <a:ext cx="640341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3"/>
          <p:cNvSpPr txBox="1"/>
          <p:nvPr/>
        </p:nvSpPr>
        <p:spPr>
          <a:xfrm>
            <a:off x="1269056" y="4574031"/>
            <a:ext cx="6403412" cy="128016"/>
          </a:xfrm>
          <a:prstGeom prst="rect">
            <a:avLst/>
          </a:prstGeom>
          <a:noFill/>
        </p:spPr>
        <p:txBody>
          <a:bodyPr wrap="square" lIns="0" rIns="0" tIns="0" bIns="0" anchor="ctr">
            <a:spAutoFit/>
          </a:bodyPr>
          <a:lstStyle/>
          <a:p>
            <a:pPr algn="ctr"/>
            <a:r>
              <a:rPr sz="700" b="0" i="0">
                <a:solidFill>
                  <a:srgbClr val="4D4D4D"/>
                </a:solidFill>
                <a:latin typeface="Trenda IG Text"/>
              </a:rPr>
              <a:t>11  Masked pre-send report: counts and exclusions</a:t>
            </a:r>
          </a:p>
        </p:txBody>
      </p:sp>
      <p:sp>
        <p:nvSpPr>
          <p:cNvPr id="80" name="Shape 74"/>
          <p:cNvSpPr/>
          <p:nvPr/>
        </p:nvSpPr>
        <p:spPr>
          <a:xfrm>
            <a:off x="537536" y="4844287"/>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5"/>
          <p:cNvSpPr txBox="1"/>
          <p:nvPr/>
        </p:nvSpPr>
        <p:spPr>
          <a:xfrm>
            <a:off x="537536" y="4844287"/>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G2 · SME + tech lead approve before send</a:t>
            </a:r>
          </a:p>
        </p:txBody>
      </p:sp>
      <p:cxnSp>
        <p:nvCxnSpPr>
          <p:cNvPr id="82" name="Arrow 76"/>
          <p:cNvCxnSpPr/>
          <p:nvPr/>
        </p:nvCxnSpPr>
        <p:spPr>
          <a:xfrm>
            <a:off x="7718189" y="514654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77"/>
          <p:cNvSpPr/>
          <p:nvPr/>
        </p:nvSpPr>
        <p:spPr>
          <a:xfrm>
            <a:off x="7544779" y="4995671"/>
            <a:ext cx="197053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8"/>
          <p:cNvSpPr txBox="1"/>
          <p:nvPr/>
        </p:nvSpPr>
        <p:spPr>
          <a:xfrm>
            <a:off x="7544779" y="4995671"/>
            <a:ext cx="1970532" cy="128016"/>
          </a:xfrm>
          <a:prstGeom prst="rect">
            <a:avLst/>
          </a:prstGeom>
          <a:noFill/>
        </p:spPr>
        <p:txBody>
          <a:bodyPr wrap="square" lIns="0" rIns="0" tIns="0" bIns="0" anchor="ctr">
            <a:spAutoFit/>
          </a:bodyPr>
          <a:lstStyle/>
          <a:p>
            <a:pPr algn="ctr"/>
            <a:r>
              <a:rPr sz="700" b="0" i="0">
                <a:solidFill>
                  <a:srgbClr val="1A1A1A"/>
                </a:solidFill>
                <a:latin typeface="Trenda IG Text"/>
              </a:rPr>
              <a:t>12  Eligible patients, minimum fields</a:t>
            </a:r>
          </a:p>
        </p:txBody>
      </p:sp>
      <p:cxnSp>
        <p:nvCxnSpPr>
          <p:cNvPr id="85" name="Arrow 79"/>
          <p:cNvCxnSpPr/>
          <p:nvPr/>
        </p:nvCxnSpPr>
        <p:spPr>
          <a:xfrm>
            <a:off x="9341902" y="535736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0"/>
          <p:cNvSpPr/>
          <p:nvPr/>
        </p:nvSpPr>
        <p:spPr>
          <a:xfrm>
            <a:off x="8590134" y="5206491"/>
            <a:ext cx="3127248"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1"/>
          <p:cNvSpPr txBox="1"/>
          <p:nvPr/>
        </p:nvSpPr>
        <p:spPr>
          <a:xfrm>
            <a:off x="8590134" y="5206491"/>
            <a:ext cx="3127248" cy="128016"/>
          </a:xfrm>
          <a:prstGeom prst="rect">
            <a:avLst/>
          </a:prstGeom>
          <a:noFill/>
        </p:spPr>
        <p:txBody>
          <a:bodyPr wrap="square" lIns="0" rIns="0" tIns="0" bIns="0" anchor="ctr">
            <a:spAutoFit/>
          </a:bodyPr>
          <a:lstStyle/>
          <a:p>
            <a:pPr algn="ctr"/>
            <a:r>
              <a:rPr sz="700" b="0" i="0">
                <a:solidFill>
                  <a:srgbClr val="1A1A1A"/>
                </a:solidFill>
                <a:latin typeface="Trenda IG Text"/>
              </a:rPr>
              <a:t>13  Release after G2 + G3: time-limited, Compliance Passport</a:t>
            </a:r>
          </a:p>
        </p:txBody>
      </p:sp>
      <p:sp>
        <p:nvSpPr>
          <p:cNvPr id="88" name="Shape 82"/>
          <p:cNvSpPr/>
          <p:nvPr/>
        </p:nvSpPr>
        <p:spPr>
          <a:xfrm>
            <a:off x="9331451" y="5476747"/>
            <a:ext cx="2446020" cy="182880"/>
          </a:xfrm>
          <a:prstGeom prst="roundRect">
            <a:avLst>
              <a:gd name="adj" fmla="val 50000"/>
            </a:avLst>
          </a:prstGeom>
          <a:solidFill>
            <a:srgbClr val="F2F2F2"/>
          </a:solidFill>
          <a:ln w="1143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9331451" y="5476747"/>
            <a:ext cx="2446020" cy="182880"/>
          </a:xfrm>
          <a:prstGeom prst="rect">
            <a:avLst/>
          </a:prstGeom>
          <a:noFill/>
        </p:spPr>
        <p:txBody>
          <a:bodyPr wrap="square" lIns="0" rIns="0" tIns="0" bIns="0" anchor="ctr">
            <a:spAutoFit/>
          </a:bodyPr>
          <a:lstStyle/>
          <a:p>
            <a:pPr algn="ctr"/>
            <a:r>
              <a:rPr sz="700" b="0" i="0">
                <a:solidFill>
                  <a:srgbClr val="1A1A1A"/>
                </a:solidFill>
                <a:latin typeface="Trenda IG Text"/>
              </a:rPr>
              <a:t>14  Journey sends; consent re-checked at send</a:t>
            </a:r>
          </a:p>
        </p:txBody>
      </p:sp>
      <p:cxnSp>
        <p:nvCxnSpPr>
          <p:cNvPr id="90" name="Arrow 84"/>
          <p:cNvCxnSpPr/>
          <p:nvPr/>
        </p:nvCxnSpPr>
        <p:spPr>
          <a:xfrm flipH="1">
            <a:off x="4470762" y="5779007"/>
            <a:ext cx="649485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1" name="Shape 85"/>
          <p:cNvSpPr/>
          <p:nvPr/>
        </p:nvSpPr>
        <p:spPr>
          <a:xfrm>
            <a:off x="4516482" y="5628131"/>
            <a:ext cx="640341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6"/>
          <p:cNvSpPr txBox="1"/>
          <p:nvPr/>
        </p:nvSpPr>
        <p:spPr>
          <a:xfrm>
            <a:off x="4516482" y="5628131"/>
            <a:ext cx="6403412" cy="128016"/>
          </a:xfrm>
          <a:prstGeom prst="rect">
            <a:avLst/>
          </a:prstGeom>
          <a:noFill/>
        </p:spPr>
        <p:txBody>
          <a:bodyPr wrap="square" lIns="0" rIns="0" tIns="0" bIns="0" anchor="ctr">
            <a:spAutoFit/>
          </a:bodyPr>
          <a:lstStyle/>
          <a:p>
            <a:pPr algn="ctr"/>
            <a:r>
              <a:rPr sz="700" b="0" i="0">
                <a:solidFill>
                  <a:srgbClr val="4D4D4D"/>
                </a:solidFill>
                <a:latin typeface="Trenda IG Text"/>
              </a:rPr>
              <a:t>15  Results back as aggregates, for measurement</a:t>
            </a:r>
          </a:p>
        </p:txBody>
      </p:sp>
      <p:sp>
        <p:nvSpPr>
          <p:cNvPr id="93" name="Shape 87"/>
          <p:cNvSpPr/>
          <p:nvPr/>
        </p:nvSpPr>
        <p:spPr>
          <a:xfrm>
            <a:off x="4528892" y="5961888"/>
            <a:ext cx="47548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8"/>
          <p:cNvSpPr txBox="1"/>
          <p:nvPr/>
        </p:nvSpPr>
        <p:spPr>
          <a:xfrm>
            <a:off x="4528892" y="5961888"/>
            <a:ext cx="4754880" cy="182880"/>
          </a:xfrm>
          <a:prstGeom prst="rect">
            <a:avLst/>
          </a:prstGeom>
          <a:noFill/>
        </p:spPr>
        <p:txBody>
          <a:bodyPr wrap="square" lIns="0" rIns="0" tIns="0" bIns="0" anchor="ctr">
            <a:spAutoFit/>
          </a:bodyPr>
          <a:lstStyle/>
          <a:p>
            <a:pPr algn="ctr"/>
            <a:r>
              <a:rPr sz="700" b="1" i="0" spc="60">
                <a:solidFill>
                  <a:srgbClr val="FFFFFE"/>
                </a:solidFill>
                <a:latin typeface="Trenda IG Text"/>
              </a:rPr>
              <a:t>←  AGENTS: DEFINITIONS AND COUNTS ONLY   ·   PATIENT-LEVEL DATA: SERVICES ONLY  →</a:t>
            </a:r>
          </a:p>
        </p:txBody>
      </p:sp>
      <p:sp>
        <p:nvSpPr>
          <p:cNvPr id="95" name="Text 89"/>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1A1A1A"/>
                </a:solidFill>
                <a:latin typeface="Trenda IG Text"/>
              </a:rPr>
              <a:t>Before any request: </a:t>
            </a:r>
            <a:r>
              <a:rPr sz="700" b="0" i="0">
                <a:solidFill>
                  <a:srgbClr val="6B6B6B"/>
                </a:solidFill>
                <a:latin typeface="Trenda IG Text"/>
              </a:rPr>
              <a:t>the data harness keeps Sources → Bronze → Silver → Gold A / Gold B current in Google Cloud; DLP classifies and a Collibra steward approves the masking.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 SIERRA VOICE AGENT · CALL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 patient calls about their appointment: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Knowledge is shared; patient transactions are not. Sierra acts for a patient only through the Verified Patient Action Engine, after a check that takes seconds.</a:t>
            </a:r>
          </a:p>
        </p:txBody>
      </p:sp>
      <p:cxnSp>
        <p:nvCxnSpPr>
          <p:cNvPr id="5" name="Arrow 4"/>
          <p:cNvCxnSpPr/>
          <p:nvPr/>
        </p:nvCxnSpPr>
        <p:spPr>
          <a:xfrm>
            <a:off x="2035193"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0089A0"/>
                </a:solidFill>
                <a:latin typeface="Trenda IG Text"/>
              </a:rPr>
              <a:t>Shared knowledge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approved articles · semantic layer + graph</a:t>
            </a:r>
          </a:p>
        </p:txBody>
      </p:sp>
      <p:cxnSp>
        <p:nvCxnSpPr>
          <p:cNvPr id="10" name="Arrow 8"/>
          <p:cNvCxnSpPr/>
          <p:nvPr/>
        </p:nvCxnSpPr>
        <p:spPr>
          <a:xfrm>
            <a:off x="122333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eople.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8A6D00"/>
                </a:solidFill>
                <a:latin typeface="Trenda IG Text"/>
              </a:rPr>
              <a:t>Patient</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calls the Ascension number</a:t>
            </a:r>
          </a:p>
        </p:txBody>
      </p:sp>
      <p:cxnSp>
        <p:nvCxnSpPr>
          <p:cNvPr id="15" name="Arrow 12"/>
          <p:cNvCxnSpPr/>
          <p:nvPr/>
        </p:nvCxnSpPr>
        <p:spPr>
          <a:xfrm>
            <a:off x="284704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3777778" y="1216152"/>
            <a:ext cx="1422545" cy="219456"/>
          </a:xfrm>
          <a:prstGeom prst="rect">
            <a:avLst/>
          </a:prstGeom>
          <a:noFill/>
        </p:spPr>
        <p:txBody>
          <a:bodyPr wrap="square" lIns="0" rIns="0" tIns="0" bIns="0" anchor="ctr">
            <a:spAutoFit/>
          </a:bodyPr>
          <a:lstStyle/>
          <a:p>
            <a:r>
              <a:rPr sz="800" b="1" i="0">
                <a:solidFill>
                  <a:srgbClr val="0089A0"/>
                </a:solidFill>
                <a:latin typeface="Trenda IG Text"/>
              </a:rPr>
              <a:t>Sierra voice agent</a:t>
            </a:r>
          </a:p>
        </p:txBody>
      </p:sp>
      <p:sp>
        <p:nvSpPr>
          <p:cNvPr id="18"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answers, verifies, acts · BAA</a:t>
            </a:r>
          </a:p>
        </p:txBody>
      </p:sp>
      <p:cxnSp>
        <p:nvCxnSpPr>
          <p:cNvPr id="19" name="Arrow 16"/>
          <p:cNvCxnSpPr/>
          <p:nvPr/>
        </p:nvCxnSpPr>
        <p:spPr>
          <a:xfrm>
            <a:off x="447076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0" name="Shape 17"/>
          <p:cNvSpPr/>
          <p:nvPr/>
        </p:nvSpPr>
        <p:spPr>
          <a:xfrm>
            <a:off x="5328339"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18"/>
          <p:cNvSpPr txBox="1"/>
          <p:nvPr/>
        </p:nvSpPr>
        <p:spPr>
          <a:xfrm>
            <a:off x="5401491" y="1216152"/>
            <a:ext cx="1422545" cy="219456"/>
          </a:xfrm>
          <a:prstGeom prst="rect">
            <a:avLst/>
          </a:prstGeom>
          <a:noFill/>
        </p:spPr>
        <p:txBody>
          <a:bodyPr wrap="square" lIns="0" rIns="0" tIns="0" bIns="0" anchor="ctr">
            <a:spAutoFit/>
          </a:bodyPr>
          <a:lstStyle/>
          <a:p>
            <a:r>
              <a:rPr sz="800" b="1" i="0">
                <a:solidFill>
                  <a:srgbClr val="8A6D00"/>
                </a:solidFill>
                <a:latin typeface="Trenda IG Text"/>
              </a:rPr>
              <a:t>Identity + verification</a:t>
            </a:r>
          </a:p>
        </p:txBody>
      </p:sp>
      <p:sp>
        <p:nvSpPr>
          <p:cNvPr id="22"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caller ID + date of birth · patient token</a:t>
            </a:r>
          </a:p>
        </p:txBody>
      </p:sp>
      <p:cxnSp>
        <p:nvCxnSpPr>
          <p:cNvPr id="23" name="Arrow 20"/>
          <p:cNvCxnSpPr/>
          <p:nvPr/>
        </p:nvCxnSpPr>
        <p:spPr>
          <a:xfrm>
            <a:off x="609447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4" name="Differentiator Border 22"/>
          <p:cNvSpPr/>
          <p:nvPr/>
        </p:nvSpPr>
        <p:spPr>
          <a:xfrm>
            <a:off x="6952052"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3"/>
          <p:cNvSpPr/>
          <p:nvPr/>
        </p:nvSpPr>
        <p:spPr>
          <a:xfrm>
            <a:off x="6979484" y="1197864"/>
            <a:ext cx="147740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7025204"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Verified Patient Action Engine</a:t>
            </a:r>
          </a:p>
        </p:txBody>
      </p:sp>
      <p:sp>
        <p:nvSpPr>
          <p:cNvPr id="27" name="Text 25"/>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narrow functions · this patient only</a:t>
            </a:r>
          </a:p>
        </p:txBody>
      </p:sp>
      <p:cxnSp>
        <p:nvCxnSpPr>
          <p:cNvPr id="28" name="Arrow 26"/>
          <p:cNvCxnSpPr/>
          <p:nvPr/>
        </p:nvCxnSpPr>
        <p:spPr>
          <a:xfrm>
            <a:off x="771818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9" name="Shape 27"/>
          <p:cNvSpPr/>
          <p:nvPr/>
        </p:nvSpPr>
        <p:spPr>
          <a:xfrm>
            <a:off x="8575765" y="1170432"/>
            <a:ext cx="1532273" cy="566928"/>
          </a:xfrm>
          <a:prstGeom prst="roundRect">
            <a:avLst>
              <a:gd name="adj" fmla="val 8000"/>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1A1A1A"/>
                </a:solidFill>
                <a:latin typeface="Trenda IG Text"/>
              </a:rPr>
              <a:t>Epic scheduling</a:t>
            </a:r>
          </a:p>
        </p:txBody>
      </p:sp>
      <p:sp>
        <p:nvSpPr>
          <p:cNvPr id="31"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system of record</a:t>
            </a:r>
          </a:p>
        </p:txBody>
      </p:sp>
      <p:cxnSp>
        <p:nvCxnSpPr>
          <p:cNvPr id="32" name="Arrow 30"/>
          <p:cNvCxnSpPr/>
          <p:nvPr/>
        </p:nvCxnSpPr>
        <p:spPr>
          <a:xfrm>
            <a:off x="934190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3" name="Shape 31"/>
          <p:cNvSpPr/>
          <p:nvPr/>
        </p:nvSpPr>
        <p:spPr>
          <a:xfrm>
            <a:off x="10199478" y="1170432"/>
            <a:ext cx="1532273" cy="566928"/>
          </a:xfrm>
          <a:prstGeom prst="roundRect">
            <a:avLst>
              <a:gd name="adj" fmla="val 8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googlebigquery.png"/>
          <p:cNvPicPr>
            <a:picLocks noChangeAspect="1"/>
          </p:cNvPicPr>
          <p:nvPr/>
        </p:nvPicPr>
        <p:blipFill>
          <a:blip r:embed="rId4"/>
          <a:stretch>
            <a:fillRect/>
          </a:stretch>
        </p:blipFill>
        <p:spPr>
          <a:xfrm>
            <a:off x="10272630" y="1243584"/>
            <a:ext cx="182880" cy="182880"/>
          </a:xfrm>
          <a:prstGeom prst="rect">
            <a:avLst/>
          </a:prstGeom>
        </p:spPr>
      </p:pic>
      <p:sp>
        <p:nvSpPr>
          <p:cNvPr id="35"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Gold B</a:t>
            </a:r>
          </a:p>
        </p:txBody>
      </p:sp>
      <p:sp>
        <p:nvSpPr>
          <p:cNvPr id="36"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patient context · read-only</a:t>
            </a:r>
          </a:p>
        </p:txBody>
      </p:sp>
      <p:cxnSp>
        <p:nvCxnSpPr>
          <p:cNvPr id="37" name="Arrow 34"/>
          <p:cNvCxnSpPr/>
          <p:nvPr/>
        </p:nvCxnSpPr>
        <p:spPr>
          <a:xfrm>
            <a:off x="10965615"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8" name="Shape 35"/>
          <p:cNvSpPr/>
          <p:nvPr/>
        </p:nvSpPr>
        <p:spPr>
          <a:xfrm>
            <a:off x="2161249" y="1847088"/>
            <a:ext cx="3744468" cy="146304"/>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6"/>
          <p:cNvSpPr txBox="1"/>
          <p:nvPr/>
        </p:nvSpPr>
        <p:spPr>
          <a:xfrm>
            <a:off x="2161249" y="1847088"/>
            <a:ext cx="3744468" cy="146304"/>
          </a:xfrm>
          <a:prstGeom prst="rect">
            <a:avLst/>
          </a:prstGeom>
          <a:noFill/>
        </p:spPr>
        <p:txBody>
          <a:bodyPr wrap="square" lIns="0" rIns="0" tIns="0" bIns="0" anchor="ctr">
            <a:spAutoFit/>
          </a:bodyPr>
          <a:lstStyle/>
          <a:p>
            <a:pPr algn="ctr"/>
            <a:r>
              <a:rPr sz="700" b="1" i="0">
                <a:solidFill>
                  <a:srgbClr val="FFFFFE"/>
                </a:solidFill>
                <a:latin typeface="Trenda IG Text"/>
              </a:rPr>
              <a:t>Emergency words? Straight to 911 or the nurse line: no check, no wait</a:t>
            </a:r>
          </a:p>
        </p:txBody>
      </p:sp>
      <p:cxnSp>
        <p:nvCxnSpPr>
          <p:cNvPr id="40" name="Arrow 37"/>
          <p:cNvCxnSpPr/>
          <p:nvPr/>
        </p:nvCxnSpPr>
        <p:spPr>
          <a:xfrm>
            <a:off x="2847049" y="2167609"/>
            <a:ext cx="1623713"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Shape 38"/>
          <p:cNvSpPr/>
          <p:nvPr/>
        </p:nvSpPr>
        <p:spPr>
          <a:xfrm>
            <a:off x="2497618" y="2021305"/>
            <a:ext cx="232257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9"/>
          <p:cNvSpPr txBox="1"/>
          <p:nvPr/>
        </p:nvSpPr>
        <p:spPr>
          <a:xfrm>
            <a:off x="2497618" y="2021305"/>
            <a:ext cx="2322576" cy="123444"/>
          </a:xfrm>
          <a:prstGeom prst="rect">
            <a:avLst/>
          </a:prstGeom>
          <a:noFill/>
        </p:spPr>
        <p:txBody>
          <a:bodyPr wrap="square" lIns="0" rIns="0" tIns="0" bIns="0" anchor="ctr">
            <a:spAutoFit/>
          </a:bodyPr>
          <a:lstStyle/>
          <a:p>
            <a:pPr algn="ctr"/>
            <a:r>
              <a:rPr sz="700" b="0" i="0">
                <a:solidFill>
                  <a:srgbClr val="1A1A1A"/>
                </a:solidFill>
                <a:latin typeface="Trenda IG Text"/>
              </a:rPr>
              <a:t>1  “When is my next cardiology appointment?”</a:t>
            </a:r>
          </a:p>
        </p:txBody>
      </p:sp>
      <p:cxnSp>
        <p:nvCxnSpPr>
          <p:cNvPr id="43" name="Arrow 40"/>
          <p:cNvCxnSpPr/>
          <p:nvPr/>
        </p:nvCxnSpPr>
        <p:spPr>
          <a:xfrm>
            <a:off x="4470762" y="2369258"/>
            <a:ext cx="1623714"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Shape 41"/>
          <p:cNvSpPr/>
          <p:nvPr/>
        </p:nvSpPr>
        <p:spPr>
          <a:xfrm>
            <a:off x="3165783" y="2222954"/>
            <a:ext cx="4233672"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2"/>
          <p:cNvSpPr txBox="1"/>
          <p:nvPr/>
        </p:nvSpPr>
        <p:spPr>
          <a:xfrm>
            <a:off x="3165783" y="2222954"/>
            <a:ext cx="4233672" cy="123444"/>
          </a:xfrm>
          <a:prstGeom prst="rect">
            <a:avLst/>
          </a:prstGeom>
          <a:noFill/>
        </p:spPr>
        <p:txBody>
          <a:bodyPr wrap="square" lIns="0" rIns="0" tIns="0" bIns="0" anchor="ctr">
            <a:spAutoFit/>
          </a:bodyPr>
          <a:lstStyle/>
          <a:p>
            <a:pPr algn="ctr"/>
            <a:r>
              <a:rPr sz="700" b="0" i="0">
                <a:solidFill>
                  <a:srgbClr val="1A1A1A"/>
                </a:solidFill>
                <a:latin typeface="Trenda IG Text"/>
              </a:rPr>
              <a:t>2  Caller ID matches the number on file + date of birth; carrier + SIM-swap checks</a:t>
            </a:r>
          </a:p>
        </p:txBody>
      </p:sp>
      <p:cxnSp>
        <p:nvCxnSpPr>
          <p:cNvPr id="46" name="Arrow 43"/>
          <p:cNvCxnSpPr/>
          <p:nvPr/>
        </p:nvCxnSpPr>
        <p:spPr>
          <a:xfrm flipH="1">
            <a:off x="4470762" y="2570907"/>
            <a:ext cx="1623714"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Shape 44"/>
          <p:cNvSpPr/>
          <p:nvPr/>
        </p:nvSpPr>
        <p:spPr>
          <a:xfrm>
            <a:off x="3366951" y="2424603"/>
            <a:ext cx="383133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5"/>
          <p:cNvSpPr txBox="1"/>
          <p:nvPr/>
        </p:nvSpPr>
        <p:spPr>
          <a:xfrm>
            <a:off x="3366951" y="2424603"/>
            <a:ext cx="3831336" cy="123444"/>
          </a:xfrm>
          <a:prstGeom prst="rect">
            <a:avLst/>
          </a:prstGeom>
          <a:noFill/>
        </p:spPr>
        <p:txBody>
          <a:bodyPr wrap="square" lIns="0" rIns="0" tIns="0" bIns="0" anchor="ctr">
            <a:spAutoFit/>
          </a:bodyPr>
          <a:lstStyle/>
          <a:p>
            <a:pPr algn="ctr"/>
            <a:r>
              <a:rPr sz="700" b="0" i="0">
                <a:solidFill>
                  <a:srgbClr val="4D4D4D"/>
                </a:solidFill>
                <a:latin typeface="Trenda IG Text"/>
              </a:rPr>
              <a:t>3  Verified in seconds: a short-lived Verified Patient Token (no SMS wait)</a:t>
            </a:r>
          </a:p>
        </p:txBody>
      </p:sp>
      <p:cxnSp>
        <p:nvCxnSpPr>
          <p:cNvPr id="49" name="Arrow 46"/>
          <p:cNvCxnSpPr/>
          <p:nvPr/>
        </p:nvCxnSpPr>
        <p:spPr>
          <a:xfrm>
            <a:off x="4470762" y="2772557"/>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7"/>
          <p:cNvSpPr/>
          <p:nvPr/>
        </p:nvSpPr>
        <p:spPr>
          <a:xfrm>
            <a:off x="4516482" y="2626253"/>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48"/>
          <p:cNvSpPr txBox="1"/>
          <p:nvPr/>
        </p:nvSpPr>
        <p:spPr>
          <a:xfrm>
            <a:off x="4516482" y="2626253"/>
            <a:ext cx="3155986" cy="123444"/>
          </a:xfrm>
          <a:prstGeom prst="rect">
            <a:avLst/>
          </a:prstGeom>
          <a:noFill/>
        </p:spPr>
        <p:txBody>
          <a:bodyPr wrap="square" lIns="0" rIns="0" tIns="0" bIns="0" anchor="ctr">
            <a:spAutoFit/>
          </a:bodyPr>
          <a:lstStyle/>
          <a:p>
            <a:pPr algn="ctr"/>
            <a:r>
              <a:rPr sz="700" b="0" i="0">
                <a:solidFill>
                  <a:srgbClr val="1A1A1A"/>
                </a:solidFill>
                <a:latin typeface="Trenda IG Text"/>
              </a:rPr>
              <a:t>4  GetNextAppointment(token)</a:t>
            </a:r>
          </a:p>
        </p:txBody>
      </p:sp>
      <p:cxnSp>
        <p:nvCxnSpPr>
          <p:cNvPr id="52" name="Arrow 49"/>
          <p:cNvCxnSpPr/>
          <p:nvPr/>
        </p:nvCxnSpPr>
        <p:spPr>
          <a:xfrm>
            <a:off x="7718189" y="2974206"/>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Shape 50"/>
          <p:cNvSpPr/>
          <p:nvPr/>
        </p:nvSpPr>
        <p:spPr>
          <a:xfrm>
            <a:off x="7763909" y="2827902"/>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1"/>
          <p:cNvSpPr txBox="1"/>
          <p:nvPr/>
        </p:nvSpPr>
        <p:spPr>
          <a:xfrm>
            <a:off x="7763909" y="2827902"/>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5  Read: this patient only</a:t>
            </a:r>
          </a:p>
        </p:txBody>
      </p:sp>
      <p:cxnSp>
        <p:nvCxnSpPr>
          <p:cNvPr id="55" name="Arrow 52"/>
          <p:cNvCxnSpPr/>
          <p:nvPr/>
        </p:nvCxnSpPr>
        <p:spPr>
          <a:xfrm flipH="1">
            <a:off x="7718189" y="3175855"/>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3"/>
          <p:cNvSpPr/>
          <p:nvPr/>
        </p:nvSpPr>
        <p:spPr>
          <a:xfrm>
            <a:off x="7763909" y="3029551"/>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4"/>
          <p:cNvSpPr txBox="1"/>
          <p:nvPr/>
        </p:nvSpPr>
        <p:spPr>
          <a:xfrm>
            <a:off x="7763909" y="3029551"/>
            <a:ext cx="1532273" cy="123444"/>
          </a:xfrm>
          <a:prstGeom prst="rect">
            <a:avLst/>
          </a:prstGeom>
          <a:noFill/>
        </p:spPr>
        <p:txBody>
          <a:bodyPr wrap="square" lIns="0" rIns="0" tIns="0" bIns="0" anchor="ctr">
            <a:spAutoFit/>
          </a:bodyPr>
          <a:lstStyle/>
          <a:p>
            <a:pPr algn="ctr"/>
            <a:r>
              <a:rPr sz="700" b="0" i="0">
                <a:solidFill>
                  <a:srgbClr val="4D4D4D"/>
                </a:solidFill>
                <a:latin typeface="Trenda IG Text"/>
              </a:rPr>
              <a:t>6  Appointment record</a:t>
            </a:r>
          </a:p>
        </p:txBody>
      </p:sp>
      <p:cxnSp>
        <p:nvCxnSpPr>
          <p:cNvPr id="58" name="Arrow 55"/>
          <p:cNvCxnSpPr/>
          <p:nvPr/>
        </p:nvCxnSpPr>
        <p:spPr>
          <a:xfrm flipH="1">
            <a:off x="4470762" y="3377504"/>
            <a:ext cx="3247427"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56"/>
          <p:cNvSpPr/>
          <p:nvPr/>
        </p:nvSpPr>
        <p:spPr>
          <a:xfrm>
            <a:off x="4516482" y="3231200"/>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7"/>
          <p:cNvSpPr txBox="1"/>
          <p:nvPr/>
        </p:nvSpPr>
        <p:spPr>
          <a:xfrm>
            <a:off x="4516482" y="3231200"/>
            <a:ext cx="3155986" cy="123444"/>
          </a:xfrm>
          <a:prstGeom prst="rect">
            <a:avLst/>
          </a:prstGeom>
          <a:noFill/>
        </p:spPr>
        <p:txBody>
          <a:bodyPr wrap="square" lIns="0" rIns="0" tIns="0" bIns="0" anchor="ctr">
            <a:spAutoFit/>
          </a:bodyPr>
          <a:lstStyle/>
          <a:p>
            <a:pPr algn="ctr"/>
            <a:r>
              <a:rPr sz="700" b="0" i="0">
                <a:solidFill>
                  <a:srgbClr val="4D4D4D"/>
                </a:solidFill>
                <a:latin typeface="Trenda IG Text"/>
              </a:rPr>
              <a:t>7  Minimum fields: Monday 10:30, cardiology, location</a:t>
            </a:r>
          </a:p>
        </p:txBody>
      </p:sp>
      <p:cxnSp>
        <p:nvCxnSpPr>
          <p:cNvPr id="61" name="Arrow 58"/>
          <p:cNvCxnSpPr/>
          <p:nvPr/>
        </p:nvCxnSpPr>
        <p:spPr>
          <a:xfrm flipH="1">
            <a:off x="2847049" y="3579154"/>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59"/>
          <p:cNvSpPr/>
          <p:nvPr/>
        </p:nvSpPr>
        <p:spPr>
          <a:xfrm>
            <a:off x="2221012" y="3432850"/>
            <a:ext cx="2875788"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0"/>
          <p:cNvSpPr txBox="1"/>
          <p:nvPr/>
        </p:nvSpPr>
        <p:spPr>
          <a:xfrm>
            <a:off x="2221012" y="3432850"/>
            <a:ext cx="2875788" cy="123444"/>
          </a:xfrm>
          <a:prstGeom prst="rect">
            <a:avLst/>
          </a:prstGeom>
          <a:noFill/>
        </p:spPr>
        <p:txBody>
          <a:bodyPr wrap="square" lIns="0" rIns="0" tIns="0" bIns="0" anchor="ctr">
            <a:spAutoFit/>
          </a:bodyPr>
          <a:lstStyle/>
          <a:p>
            <a:pPr algn="ctr"/>
            <a:r>
              <a:rPr sz="700" b="0" i="0">
                <a:solidFill>
                  <a:srgbClr val="4D4D4D"/>
                </a:solidFill>
                <a:latin typeface="Trenda IG Text"/>
              </a:rPr>
              <a:t>8  “Your cardiology appointment is Monday at 10:30 AM.”</a:t>
            </a:r>
          </a:p>
        </p:txBody>
      </p:sp>
      <p:cxnSp>
        <p:nvCxnSpPr>
          <p:cNvPr id="64" name="Arrow 61"/>
          <p:cNvCxnSpPr/>
          <p:nvPr/>
        </p:nvCxnSpPr>
        <p:spPr>
          <a:xfrm>
            <a:off x="2847049" y="3780803"/>
            <a:ext cx="1623713"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2"/>
          <p:cNvSpPr/>
          <p:nvPr/>
        </p:nvSpPr>
        <p:spPr>
          <a:xfrm>
            <a:off x="2824516" y="3634499"/>
            <a:ext cx="1668780"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3"/>
          <p:cNvSpPr txBox="1"/>
          <p:nvPr/>
        </p:nvSpPr>
        <p:spPr>
          <a:xfrm>
            <a:off x="2824516" y="3634499"/>
            <a:ext cx="1668780" cy="123444"/>
          </a:xfrm>
          <a:prstGeom prst="rect">
            <a:avLst/>
          </a:prstGeom>
          <a:noFill/>
        </p:spPr>
        <p:txBody>
          <a:bodyPr wrap="square" lIns="0" rIns="0" tIns="0" bIns="0" anchor="ctr">
            <a:spAutoFit/>
          </a:bodyPr>
          <a:lstStyle/>
          <a:p>
            <a:pPr algn="ctr"/>
            <a:r>
              <a:rPr sz="700" b="0" i="0">
                <a:solidFill>
                  <a:srgbClr val="1A1A1A"/>
                </a:solidFill>
                <a:latin typeface="Trenda IG Text"/>
              </a:rPr>
              <a:t>9  “Can you move it to Friday?”</a:t>
            </a:r>
          </a:p>
        </p:txBody>
      </p:sp>
      <p:cxnSp>
        <p:nvCxnSpPr>
          <p:cNvPr id="67" name="Arrow 64"/>
          <p:cNvCxnSpPr/>
          <p:nvPr/>
        </p:nvCxnSpPr>
        <p:spPr>
          <a:xfrm>
            <a:off x="4470762" y="3982452"/>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5"/>
          <p:cNvSpPr/>
          <p:nvPr/>
        </p:nvSpPr>
        <p:spPr>
          <a:xfrm>
            <a:off x="4516482" y="3836148"/>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6"/>
          <p:cNvSpPr txBox="1"/>
          <p:nvPr/>
        </p:nvSpPr>
        <p:spPr>
          <a:xfrm>
            <a:off x="4516482" y="3836148"/>
            <a:ext cx="3155986" cy="123444"/>
          </a:xfrm>
          <a:prstGeom prst="rect">
            <a:avLst/>
          </a:prstGeom>
          <a:noFill/>
        </p:spPr>
        <p:txBody>
          <a:bodyPr wrap="square" lIns="0" rIns="0" tIns="0" bIns="0" anchor="ctr">
            <a:spAutoFit/>
          </a:bodyPr>
          <a:lstStyle/>
          <a:p>
            <a:pPr algn="ctr"/>
            <a:r>
              <a:rPr sz="700" b="0" i="0">
                <a:solidFill>
                  <a:srgbClr val="1A1A1A"/>
                </a:solidFill>
                <a:latin typeface="Trenda IG Text"/>
              </a:rPr>
              <a:t>10  SearchAvailableSlots(token, Friday): rules applied</a:t>
            </a:r>
          </a:p>
        </p:txBody>
      </p:sp>
      <p:cxnSp>
        <p:nvCxnSpPr>
          <p:cNvPr id="70" name="Arrow 67"/>
          <p:cNvCxnSpPr/>
          <p:nvPr/>
        </p:nvCxnSpPr>
        <p:spPr>
          <a:xfrm>
            <a:off x="7718189" y="4184101"/>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Shape 68"/>
          <p:cNvSpPr/>
          <p:nvPr/>
        </p:nvSpPr>
        <p:spPr>
          <a:xfrm>
            <a:off x="7763909" y="4037797"/>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9"/>
          <p:cNvSpPr txBox="1"/>
          <p:nvPr/>
        </p:nvSpPr>
        <p:spPr>
          <a:xfrm>
            <a:off x="7763909" y="4037797"/>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11  Live availability</a:t>
            </a:r>
          </a:p>
        </p:txBody>
      </p:sp>
      <p:cxnSp>
        <p:nvCxnSpPr>
          <p:cNvPr id="73" name="Arrow 70"/>
          <p:cNvCxnSpPr/>
          <p:nvPr/>
        </p:nvCxnSpPr>
        <p:spPr>
          <a:xfrm flipH="1">
            <a:off x="2847049" y="4385751"/>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4" name="Shape 71"/>
          <p:cNvSpPr/>
          <p:nvPr/>
        </p:nvSpPr>
        <p:spPr>
          <a:xfrm>
            <a:off x="2397034" y="4239447"/>
            <a:ext cx="2523744"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2"/>
          <p:cNvSpPr txBox="1"/>
          <p:nvPr/>
        </p:nvSpPr>
        <p:spPr>
          <a:xfrm>
            <a:off x="2397034" y="4239447"/>
            <a:ext cx="2523744" cy="123444"/>
          </a:xfrm>
          <a:prstGeom prst="rect">
            <a:avLst/>
          </a:prstGeom>
          <a:noFill/>
        </p:spPr>
        <p:txBody>
          <a:bodyPr wrap="square" lIns="0" rIns="0" tIns="0" bIns="0" anchor="ctr">
            <a:spAutoFit/>
          </a:bodyPr>
          <a:lstStyle/>
          <a:p>
            <a:pPr algn="ctr"/>
            <a:r>
              <a:rPr sz="700" b="0" i="0">
                <a:solidFill>
                  <a:srgbClr val="4D4D4D"/>
                </a:solidFill>
                <a:latin typeface="Trenda IG Text"/>
              </a:rPr>
              <a:t>12  “Friday has 10:00 AM and 2:30 PM available.”</a:t>
            </a:r>
          </a:p>
        </p:txBody>
      </p:sp>
      <p:cxnSp>
        <p:nvCxnSpPr>
          <p:cNvPr id="76" name="Arrow 73"/>
          <p:cNvCxnSpPr/>
          <p:nvPr/>
        </p:nvCxnSpPr>
        <p:spPr>
          <a:xfrm>
            <a:off x="2847049" y="4587400"/>
            <a:ext cx="1623713"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4"/>
          <p:cNvSpPr/>
          <p:nvPr/>
        </p:nvSpPr>
        <p:spPr>
          <a:xfrm>
            <a:off x="2892769" y="4441096"/>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5"/>
          <p:cNvSpPr txBox="1"/>
          <p:nvPr/>
        </p:nvSpPr>
        <p:spPr>
          <a:xfrm>
            <a:off x="2892769" y="4441096"/>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13  “2:30.”</a:t>
            </a:r>
          </a:p>
        </p:txBody>
      </p:sp>
      <p:cxnSp>
        <p:nvCxnSpPr>
          <p:cNvPr id="79" name="Arrow 76"/>
          <p:cNvCxnSpPr/>
          <p:nvPr/>
        </p:nvCxnSpPr>
        <p:spPr>
          <a:xfrm>
            <a:off x="4470762" y="4789049"/>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7"/>
          <p:cNvSpPr/>
          <p:nvPr/>
        </p:nvSpPr>
        <p:spPr>
          <a:xfrm>
            <a:off x="4516482" y="4642745"/>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8"/>
          <p:cNvSpPr txBox="1"/>
          <p:nvPr/>
        </p:nvSpPr>
        <p:spPr>
          <a:xfrm>
            <a:off x="4516482" y="4642745"/>
            <a:ext cx="3155986" cy="123444"/>
          </a:xfrm>
          <a:prstGeom prst="rect">
            <a:avLst/>
          </a:prstGeom>
          <a:noFill/>
        </p:spPr>
        <p:txBody>
          <a:bodyPr wrap="square" lIns="0" rIns="0" tIns="0" bIns="0" anchor="ctr">
            <a:spAutoFit/>
          </a:bodyPr>
          <a:lstStyle/>
          <a:p>
            <a:pPr algn="ctr"/>
            <a:r>
              <a:rPr sz="700" b="0" i="0">
                <a:solidFill>
                  <a:srgbClr val="1A1A1A"/>
                </a:solidFill>
                <a:latin typeface="Trenda IG Text"/>
              </a:rPr>
              <a:t>14  RescheduleAppointment(token, Friday 2:30)</a:t>
            </a:r>
          </a:p>
        </p:txBody>
      </p:sp>
      <p:cxnSp>
        <p:nvCxnSpPr>
          <p:cNvPr id="82" name="Arrow 79"/>
          <p:cNvCxnSpPr/>
          <p:nvPr/>
        </p:nvCxnSpPr>
        <p:spPr>
          <a:xfrm>
            <a:off x="7718189" y="4990698"/>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0"/>
          <p:cNvSpPr/>
          <p:nvPr/>
        </p:nvSpPr>
        <p:spPr>
          <a:xfrm>
            <a:off x="7763909" y="4844394"/>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1"/>
          <p:cNvSpPr txBox="1"/>
          <p:nvPr/>
        </p:nvSpPr>
        <p:spPr>
          <a:xfrm>
            <a:off x="7763909" y="4844394"/>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15  Written to Epic</a:t>
            </a:r>
          </a:p>
        </p:txBody>
      </p:sp>
      <p:cxnSp>
        <p:nvCxnSpPr>
          <p:cNvPr id="85" name="Arrow 82"/>
          <p:cNvCxnSpPr/>
          <p:nvPr/>
        </p:nvCxnSpPr>
        <p:spPr>
          <a:xfrm flipH="1">
            <a:off x="2847049" y="5192348"/>
            <a:ext cx="4871140"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3"/>
          <p:cNvSpPr/>
          <p:nvPr/>
        </p:nvSpPr>
        <p:spPr>
          <a:xfrm>
            <a:off x="2892769" y="5046044"/>
            <a:ext cx="4779699"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4"/>
          <p:cNvSpPr txBox="1"/>
          <p:nvPr/>
        </p:nvSpPr>
        <p:spPr>
          <a:xfrm>
            <a:off x="2892769" y="5046044"/>
            <a:ext cx="4779699" cy="123444"/>
          </a:xfrm>
          <a:prstGeom prst="rect">
            <a:avLst/>
          </a:prstGeom>
          <a:noFill/>
        </p:spPr>
        <p:txBody>
          <a:bodyPr wrap="square" lIns="0" rIns="0" tIns="0" bIns="0" anchor="ctr">
            <a:spAutoFit/>
          </a:bodyPr>
          <a:lstStyle/>
          <a:p>
            <a:pPr algn="ctr"/>
            <a:r>
              <a:rPr sz="700" b="0" i="0">
                <a:solidFill>
                  <a:srgbClr val="4D4D4D"/>
                </a:solidFill>
                <a:latin typeface="Trenda IG Text"/>
              </a:rPr>
              <a:t>16  Confirmed: Sierra tells the caller; confirmation text sent</a:t>
            </a:r>
          </a:p>
        </p:txBody>
      </p:sp>
      <p:cxnSp>
        <p:nvCxnSpPr>
          <p:cNvPr id="88" name="Arrow 85"/>
          <p:cNvCxnSpPr/>
          <p:nvPr/>
        </p:nvCxnSpPr>
        <p:spPr>
          <a:xfrm flipH="1">
            <a:off x="1223336" y="5393997"/>
            <a:ext cx="324742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Shape 86"/>
          <p:cNvSpPr/>
          <p:nvPr/>
        </p:nvSpPr>
        <p:spPr>
          <a:xfrm>
            <a:off x="1258279" y="5247693"/>
            <a:ext cx="3177540"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7"/>
          <p:cNvSpPr txBox="1"/>
          <p:nvPr/>
        </p:nvSpPr>
        <p:spPr>
          <a:xfrm>
            <a:off x="1258279" y="5247693"/>
            <a:ext cx="3177540" cy="123444"/>
          </a:xfrm>
          <a:prstGeom prst="rect">
            <a:avLst/>
          </a:prstGeom>
          <a:noFill/>
        </p:spPr>
        <p:txBody>
          <a:bodyPr wrap="square" lIns="0" rIns="0" tIns="0" bIns="0" anchor="ctr">
            <a:spAutoFit/>
          </a:bodyPr>
          <a:lstStyle/>
          <a:p>
            <a:pPr algn="ctr"/>
            <a:r>
              <a:rPr sz="700" b="0" i="0">
                <a:solidFill>
                  <a:srgbClr val="1A1A1A"/>
                </a:solidFill>
                <a:latin typeface="Trenda IG Text"/>
              </a:rPr>
              <a:t>17  Prep for a cardiology follow-up? Approved article, no PHI</a:t>
            </a:r>
          </a:p>
        </p:txBody>
      </p:sp>
      <p:sp>
        <p:nvSpPr>
          <p:cNvPr id="91" name="Shape 88"/>
          <p:cNvSpPr/>
          <p:nvPr/>
        </p:nvSpPr>
        <p:spPr>
          <a:xfrm>
            <a:off x="2161249" y="5476774"/>
            <a:ext cx="4498848" cy="146304"/>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9"/>
          <p:cNvSpPr txBox="1"/>
          <p:nvPr/>
        </p:nvSpPr>
        <p:spPr>
          <a:xfrm>
            <a:off x="2161249" y="5476774"/>
            <a:ext cx="4498848" cy="146304"/>
          </a:xfrm>
          <a:prstGeom prst="rect">
            <a:avLst/>
          </a:prstGeom>
          <a:noFill/>
        </p:spPr>
        <p:txBody>
          <a:bodyPr wrap="square" lIns="0" rIns="0" tIns="0" bIns="0" anchor="ctr">
            <a:spAutoFit/>
          </a:bodyPr>
          <a:lstStyle/>
          <a:p>
            <a:pPr algn="ctr"/>
            <a:r>
              <a:rPr sz="700" b="1" i="0">
                <a:solidFill>
                  <a:srgbClr val="000000"/>
                </a:solidFill>
                <a:latin typeface="Trenda IG Text"/>
              </a:rPr>
              <a:t>Step-up or hand-off: no caller-ID match, a higher-risk change or a clinical question</a:t>
            </a:r>
          </a:p>
        </p:txBody>
      </p:sp>
      <p:cxnSp>
        <p:nvCxnSpPr>
          <p:cNvPr id="93" name="Arrow 90"/>
          <p:cNvCxnSpPr/>
          <p:nvPr/>
        </p:nvCxnSpPr>
        <p:spPr>
          <a:xfrm>
            <a:off x="7718189" y="5797295"/>
            <a:ext cx="324742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Shape 91"/>
          <p:cNvSpPr/>
          <p:nvPr/>
        </p:nvSpPr>
        <p:spPr>
          <a:xfrm>
            <a:off x="7225066" y="5650991"/>
            <a:ext cx="4233672"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2"/>
          <p:cNvSpPr txBox="1"/>
          <p:nvPr/>
        </p:nvSpPr>
        <p:spPr>
          <a:xfrm>
            <a:off x="7225066" y="5650991"/>
            <a:ext cx="4233672" cy="123444"/>
          </a:xfrm>
          <a:prstGeom prst="rect">
            <a:avLst/>
          </a:prstGeom>
          <a:noFill/>
        </p:spPr>
        <p:txBody>
          <a:bodyPr wrap="square" lIns="0" rIns="0" tIns="0" bIns="0" anchor="ctr">
            <a:spAutoFit/>
          </a:bodyPr>
          <a:lstStyle/>
          <a:p>
            <a:pPr algn="ctr"/>
            <a:r>
              <a:rPr sz="700" b="0" i="0">
                <a:solidFill>
                  <a:srgbClr val="1A1A1A"/>
                </a:solidFill>
                <a:latin typeface="Trenda IG Text"/>
              </a:rPr>
              <a:t>18  After the call: outcome into Gold B, aggregates into Gold A; transcript masked</a:t>
            </a:r>
          </a:p>
        </p:txBody>
      </p:sp>
      <p:sp>
        <p:nvSpPr>
          <p:cNvPr id="96" name="Shape 93"/>
          <p:cNvSpPr/>
          <p:nvPr/>
        </p:nvSpPr>
        <p:spPr>
          <a:xfrm>
            <a:off x="411480" y="5961888"/>
            <a:ext cx="56692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4"/>
          <p:cNvSpPr txBox="1"/>
          <p:nvPr/>
        </p:nvSpPr>
        <p:spPr>
          <a:xfrm>
            <a:off x="411480" y="5961888"/>
            <a:ext cx="5669280" cy="182880"/>
          </a:xfrm>
          <a:prstGeom prst="rect">
            <a:avLst/>
          </a:prstGeom>
          <a:noFill/>
        </p:spPr>
        <p:txBody>
          <a:bodyPr wrap="square" lIns="0" rIns="0" tIns="0" bIns="0" anchor="ctr">
            <a:spAutoFit/>
          </a:bodyPr>
          <a:lstStyle/>
          <a:p>
            <a:pPr algn="ctr"/>
            <a:r>
              <a:rPr sz="700" b="1" i="0" spc="60">
                <a:solidFill>
                  <a:srgbClr val="FFFFFE"/>
                </a:solidFill>
                <a:latin typeface="Trenda IG Text"/>
              </a:rPr>
              <a:t>←  SHARED KNOWLEDGE: NO PHI   ·   PATIENT TRANSACTIONS: THE VERIFIED CALLER ONLY  →</a:t>
            </a:r>
          </a:p>
        </p:txBody>
      </p:sp>
      <p:sp>
        <p:nvSpPr>
          <p:cNvPr id="98" name="Text 95"/>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1A1A1A"/>
                </a:solidFill>
                <a:latin typeface="Trenda IG Text"/>
              </a:rPr>
              <a:t>Never: </a:t>
            </a:r>
            <a:r>
              <a:rPr sz="700" b="0" i="0">
                <a:solidFill>
                  <a:srgbClr val="6B6B6B"/>
                </a:solidFill>
                <a:latin typeface="Trenda IG Text"/>
              </a:rPr>
              <a:t>lists of patients, anyone else's data, or a Google Cloud copy of a booking. Transcripts hold PHI: access-controlled, retention-limited, masked before analytics.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