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9"/>
  </p:notesMasterIdLst>
  <p:sldIdLst>
    <p:sldId id="256" r:id="rId10"/>
    <p:sldId id="257" r:id="rId11"/>
    <p:sldId id="258" r:id="rId12"/>
    <p:sldId id="259" r:id="rId13"/>
    <p:sldId id="260" r:id="rId14"/>
    <p:sldId id="261" r:id="rId15"/>
    <p:sldId id="263" r:id="rId17"/>
    <p:sldId id="269" r:id="rId23"/>
    <p:sldId id="270" r:id="rId24"/>
    <p:sldId id="271" r:id="rId25"/>
    <p:sldId id="265" r:id="rId19"/>
    <p:sldId id="264" r:id="rId18"/>
    <p:sldId id="262" r:id="rId16"/>
    <p:sldId id="266" r:id="rId20"/>
    <p:sldId id="272" r:id="rId26"/>
    <p:sldId id="267" r:id="rId21"/>
    <p:sldId id="268"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3D7C935-1B6D-4E44-B47C-046E66B68172}" v="1" dt="2026-10-13T08:50:07.235"/>
    <p1510:client id="{D6061613-E3FA-45E3-B0BC-0BB213BEA706}" v="115" dt="2026-10-14T07:17:09.485"/>
    <p1510:client id="{FAAA239D-A7E8-691F-9086-0568C33ECAC9}" v="1" dt="2026-10-13T12:39:32.04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7386" autoAdjust="0"/>
  </p:normalViewPr>
  <p:slideViewPr>
    <p:cSldViewPr snapToGrid="0">
      <p:cViewPr>
        <p:scale>
          <a:sx n="80" d="100"/>
          <a:sy n="80" d="100"/>
        </p:scale>
        <p:origin x="62" y="3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44" Type="http://schemas.microsoft.com/office/2016/11/relationships/changesInfo" Target="changesInfos/changesInfo1.xml"/><Relationship Id="rId4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deep Kandiraju" userId="S::sandeep.kandiraju@insightglobal.com::73c9edc8-56ca-4b73-b526-6c8c5936bb95" providerId="AD" clId="Web-{FAAA239D-A7E8-691F-9086-0568C33ECAC9}"/>
    <pc:docChg chg="delSld">
      <pc:chgData name="Sandeep Kandiraju" userId="S::sandeep.kandiraju@insightglobal.com::73c9edc8-56ca-4b73-b526-6c8c5936bb95" providerId="AD" clId="Web-{FAAA239D-A7E8-691F-9086-0568C33ECAC9}" dt="2026-10-13T12:39:32.049" v="0"/>
      <pc:docMkLst>
        <pc:docMk/>
      </pc:docMkLst>
      <pc:sldChg chg="del">
        <pc:chgData name="Sandeep Kandiraju" userId="S::sandeep.kandiraju@insightglobal.com::73c9edc8-56ca-4b73-b526-6c8c5936bb95" providerId="AD" clId="Web-{FAAA239D-A7E8-691F-9086-0568C33ECAC9}" dt="2026-10-13T12:39:32.049" v="0"/>
        <pc:sldMkLst>
          <pc:docMk/>
          <pc:sldMk cId="0" sldId="329"/>
        </pc:sldMkLst>
      </pc:sldChg>
    </pc:docChg>
  </pc:docChgLst>
  <pc:docChgLst>
    <pc:chgData name="Surya Chinta" userId="41ee6f01-053e-4268-a09b-364f54be2fbe" providerId="ADAL" clId="{E5143D04-8900-4457-BE49-945FECC57414}"/>
    <pc:docChg chg="undo custSel addSld delSld modSld sldOrd">
      <pc:chgData name="Surya Chinta" userId="41ee6f01-053e-4268-a09b-364f54be2fbe" providerId="ADAL" clId="{E5143D04-8900-4457-BE49-945FECC57414}" dt="2026-10-14T07:17:09.485" v="319"/>
      <pc:docMkLst>
        <pc:docMk/>
      </pc:docMkLst>
      <pc:sldChg chg="ord">
        <pc:chgData name="Surya Chinta" userId="41ee6f01-053e-4268-a09b-364f54be2fbe" providerId="ADAL" clId="{E5143D04-8900-4457-BE49-945FECC57414}" dt="2026-10-11T03:43:17.463" v="85"/>
        <pc:sldMkLst>
          <pc:docMk/>
          <pc:sldMk cId="0" sldId="257"/>
        </pc:sldMkLst>
      </pc:sldChg>
      <pc:sldChg chg="ord">
        <pc:chgData name="Surya Chinta" userId="41ee6f01-053e-4268-a09b-364f54be2fbe" providerId="ADAL" clId="{E5143D04-8900-4457-BE49-945FECC57414}" dt="2026-10-11T03:43:17.463" v="85"/>
        <pc:sldMkLst>
          <pc:docMk/>
          <pc:sldMk cId="0" sldId="258"/>
        </pc:sldMkLst>
      </pc:sldChg>
      <pc:sldChg chg="modSp mod">
        <pc:chgData name="Surya Chinta" userId="41ee6f01-053e-4268-a09b-364f54be2fbe" providerId="ADAL" clId="{E5143D04-8900-4457-BE49-945FECC57414}" dt="2026-10-13T03:22:34.188" v="124" actId="6549"/>
        <pc:sldMkLst>
          <pc:docMk/>
          <pc:sldMk cId="3603168410" sldId="318"/>
        </pc:sldMkLst>
        <pc:spChg chg="mod">
          <ac:chgData name="Surya Chinta" userId="41ee6f01-053e-4268-a09b-364f54be2fbe" providerId="ADAL" clId="{E5143D04-8900-4457-BE49-945FECC57414}" dt="2026-10-13T03:22:34.188" v="124" actId="6549"/>
          <ac:spMkLst>
            <pc:docMk/>
            <pc:sldMk cId="3603168410" sldId="318"/>
            <ac:spMk id="2" creationId="{4EA92DF6-3BED-B26E-DE34-1D5A049BE760}"/>
          </ac:spMkLst>
        </pc:spChg>
        <pc:spChg chg="mod">
          <ac:chgData name="Surya Chinta" userId="41ee6f01-053e-4268-a09b-364f54be2fbe" providerId="ADAL" clId="{E5143D04-8900-4457-BE49-945FECC57414}" dt="2026-10-13T03:22:23.260" v="100"/>
          <ac:spMkLst>
            <pc:docMk/>
            <pc:sldMk cId="3603168410" sldId="318"/>
            <ac:spMk id="8" creationId="{D6B1835E-2C04-5EC5-9045-B9B64D0E8440}"/>
          </ac:spMkLst>
        </pc:spChg>
        <pc:spChg chg="mod">
          <ac:chgData name="Surya Chinta" userId="41ee6f01-053e-4268-a09b-364f54be2fbe" providerId="ADAL" clId="{E5143D04-8900-4457-BE49-945FECC57414}" dt="2026-10-13T03:22:06.748" v="99" actId="20577"/>
          <ac:spMkLst>
            <pc:docMk/>
            <pc:sldMk cId="3603168410" sldId="318"/>
            <ac:spMk id="11" creationId="{3CC066D7-8386-587D-D5CA-A9B0917A0A6A}"/>
          </ac:spMkLst>
        </pc:spChg>
      </pc:sldChg>
      <pc:sldChg chg="modSp">
        <pc:chgData name="Surya Chinta" userId="41ee6f01-053e-4268-a09b-364f54be2fbe" providerId="ADAL" clId="{E5143D04-8900-4457-BE49-945FECC57414}" dt="2026-10-13T03:28:34.048" v="185"/>
        <pc:sldMkLst>
          <pc:docMk/>
          <pc:sldMk cId="0" sldId="319"/>
        </pc:sldMkLst>
        <pc:spChg chg="mod">
          <ac:chgData name="Surya Chinta" userId="41ee6f01-053e-4268-a09b-364f54be2fbe" providerId="ADAL" clId="{E5143D04-8900-4457-BE49-945FECC57414}" dt="2026-10-13T03:28:34.048" v="185"/>
          <ac:spMkLst>
            <pc:docMk/>
            <pc:sldMk cId="0" sldId="319"/>
            <ac:spMk id="192" creationId="{00000000-0000-0000-0000-000000000000}"/>
          </ac:spMkLst>
        </pc:spChg>
      </pc:sldChg>
      <pc:sldChg chg="add ord setBg">
        <pc:chgData name="Surya Chinta" userId="41ee6f01-053e-4268-a09b-364f54be2fbe" providerId="ADAL" clId="{E5143D04-8900-4457-BE49-945FECC57414}" dt="2026-10-11T03:43:17.463" v="85"/>
        <pc:sldMkLst>
          <pc:docMk/>
          <pc:sldMk cId="0" sldId="320"/>
        </pc:sldMkLst>
      </pc:sldChg>
      <pc:sldChg chg="add ord setBg">
        <pc:chgData name="Surya Chinta" userId="41ee6f01-053e-4268-a09b-364f54be2fbe" providerId="ADAL" clId="{E5143D04-8900-4457-BE49-945FECC57414}" dt="2026-10-11T03:43:17.463" v="85"/>
        <pc:sldMkLst>
          <pc:docMk/>
          <pc:sldMk cId="0" sldId="321"/>
        </pc:sldMkLst>
      </pc:sldChg>
      <pc:sldChg chg="add ord setBg">
        <pc:chgData name="Surya Chinta" userId="41ee6f01-053e-4268-a09b-364f54be2fbe" providerId="ADAL" clId="{E5143D04-8900-4457-BE49-945FECC57414}" dt="2026-10-11T03:43:17.463" v="85"/>
        <pc:sldMkLst>
          <pc:docMk/>
          <pc:sldMk cId="0" sldId="322"/>
        </pc:sldMkLst>
      </pc:sldChg>
      <pc:sldChg chg="addSp delSp modSp mod modNotes modNotesTx">
        <pc:chgData name="Surya Chinta" userId="41ee6f01-053e-4268-a09b-364f54be2fbe" providerId="ADAL" clId="{E5143D04-8900-4457-BE49-945FECC57414}" dt="2026-10-13T10:58:19.500" v="265" actId="767"/>
        <pc:sldMkLst>
          <pc:docMk/>
          <pc:sldMk cId="0" sldId="323"/>
        </pc:sldMkLst>
        <pc:spChg chg="mod">
          <ac:chgData name="Surya Chinta" userId="41ee6f01-053e-4268-a09b-364f54be2fbe" providerId="ADAL" clId="{E5143D04-8900-4457-BE49-945FECC57414}" dt="2026-10-13T03:23:44.191" v="129"/>
          <ac:spMkLst>
            <pc:docMk/>
            <pc:sldMk cId="0" sldId="323"/>
            <ac:spMk id="2" creationId="{00000000-0000-0000-0000-000000000000}"/>
          </ac:spMkLst>
        </pc:spChg>
        <pc:spChg chg="add del mod">
          <ac:chgData name="Surya Chinta" userId="41ee6f01-053e-4268-a09b-364f54be2fbe" providerId="ADAL" clId="{E5143D04-8900-4457-BE49-945FECC57414}" dt="2026-10-13T10:58:19.500" v="265" actId="767"/>
          <ac:spMkLst>
            <pc:docMk/>
            <pc:sldMk cId="0" sldId="323"/>
            <ac:spMk id="101" creationId="{9D224369-A1F1-48FA-2872-027FA25AA213}"/>
          </ac:spMkLst>
        </pc:spChg>
      </pc:sldChg>
      <pc:sldChg chg="modSp mod modNotes modNotesTx">
        <pc:chgData name="Surya Chinta" userId="41ee6f01-053e-4268-a09b-364f54be2fbe" providerId="ADAL" clId="{E5143D04-8900-4457-BE49-945FECC57414}" dt="2026-10-14T07:14:51.121" v="316"/>
        <pc:sldMkLst>
          <pc:docMk/>
          <pc:sldMk cId="0" sldId="324"/>
        </pc:sldMkLst>
        <pc:spChg chg="mod">
          <ac:chgData name="Surya Chinta" userId="41ee6f01-053e-4268-a09b-364f54be2fbe" providerId="ADAL" clId="{E5143D04-8900-4457-BE49-945FECC57414}" dt="2026-10-13T03:33:07.200" v="197"/>
          <ac:spMkLst>
            <pc:docMk/>
            <pc:sldMk cId="0" sldId="324"/>
            <ac:spMk id="2" creationId="{00000000-0000-0000-0000-000000000000}"/>
          </ac:spMkLst>
        </pc:spChg>
        <pc:spChg chg="mod">
          <ac:chgData name="Surya Chinta" userId="41ee6f01-053e-4268-a09b-364f54be2fbe" providerId="ADAL" clId="{E5143D04-8900-4457-BE49-945FECC57414}" dt="2026-10-13T03:29:40.233" v="187"/>
          <ac:spMkLst>
            <pc:docMk/>
            <pc:sldMk cId="0" sldId="324"/>
            <ac:spMk id="3" creationId="{00000000-0000-0000-0000-000000000000}"/>
          </ac:spMkLst>
        </pc:spChg>
        <pc:spChg chg="mod">
          <ac:chgData name="Surya Chinta" userId="41ee6f01-053e-4268-a09b-364f54be2fbe" providerId="ADAL" clId="{E5143D04-8900-4457-BE49-945FECC57414}" dt="2026-10-14T07:14:51.121" v="316"/>
          <ac:spMkLst>
            <pc:docMk/>
            <pc:sldMk cId="0" sldId="324"/>
            <ac:spMk id="74" creationId="{00000000-0000-0000-0000-000000000000}"/>
          </ac:spMkLst>
        </pc:spChg>
      </pc:sldChg>
      <pc:sldChg chg="modSp mod modNotes modNotesTx">
        <pc:chgData name="Surya Chinta" userId="41ee6f01-053e-4268-a09b-364f54be2fbe" providerId="ADAL" clId="{E5143D04-8900-4457-BE49-945FECC57414}" dt="2026-10-14T07:14:45.178" v="315"/>
        <pc:sldMkLst>
          <pc:docMk/>
          <pc:sldMk cId="0" sldId="325"/>
        </pc:sldMkLst>
        <pc:spChg chg="mod">
          <ac:chgData name="Surya Chinta" userId="41ee6f01-053e-4268-a09b-364f54be2fbe" providerId="ADAL" clId="{E5143D04-8900-4457-BE49-945FECC57414}" dt="2026-10-13T03:33:30.591" v="198"/>
          <ac:spMkLst>
            <pc:docMk/>
            <pc:sldMk cId="0" sldId="325"/>
            <ac:spMk id="2" creationId="{00000000-0000-0000-0000-000000000000}"/>
          </ac:spMkLst>
        </pc:spChg>
        <pc:spChg chg="mod">
          <ac:chgData name="Surya Chinta" userId="41ee6f01-053e-4268-a09b-364f54be2fbe" providerId="ADAL" clId="{E5143D04-8900-4457-BE49-945FECC57414}" dt="2026-10-13T03:29:48.285" v="190" actId="14100"/>
          <ac:spMkLst>
            <pc:docMk/>
            <pc:sldMk cId="0" sldId="325"/>
            <ac:spMk id="3" creationId="{00000000-0000-0000-0000-000000000000}"/>
          </ac:spMkLst>
        </pc:spChg>
        <pc:spChg chg="mod">
          <ac:chgData name="Surya Chinta" userId="41ee6f01-053e-4268-a09b-364f54be2fbe" providerId="ADAL" clId="{E5143D04-8900-4457-BE49-945FECC57414}" dt="2026-10-14T07:14:16.018" v="314" actId="20577"/>
          <ac:spMkLst>
            <pc:docMk/>
            <pc:sldMk cId="0" sldId="325"/>
            <ac:spMk id="7" creationId="{00000000-0000-0000-0000-000000000000}"/>
          </ac:spMkLst>
        </pc:spChg>
        <pc:spChg chg="mod">
          <ac:chgData name="Surya Chinta" userId="41ee6f01-053e-4268-a09b-364f54be2fbe" providerId="ADAL" clId="{E5143D04-8900-4457-BE49-945FECC57414}" dt="2026-10-14T07:14:45.178" v="315"/>
          <ac:spMkLst>
            <pc:docMk/>
            <pc:sldMk cId="0" sldId="325"/>
            <ac:spMk id="74" creationId="{00000000-0000-0000-0000-000000000000}"/>
          </ac:spMkLst>
        </pc:spChg>
      </pc:sldChg>
      <pc:sldChg chg="modSp modNotesTx">
        <pc:chgData name="Surya Chinta" userId="41ee6f01-053e-4268-a09b-364f54be2fbe" providerId="ADAL" clId="{E5143D04-8900-4457-BE49-945FECC57414}" dt="2026-10-13T04:22:22.021" v="251" actId="6549"/>
        <pc:sldMkLst>
          <pc:docMk/>
          <pc:sldMk cId="0" sldId="326"/>
        </pc:sldMkLst>
        <pc:spChg chg="mod">
          <ac:chgData name="Surya Chinta" userId="41ee6f01-053e-4268-a09b-364f54be2fbe" providerId="ADAL" clId="{E5143D04-8900-4457-BE49-945FECC57414}" dt="2026-10-13T03:34:02.933" v="201"/>
          <ac:spMkLst>
            <pc:docMk/>
            <pc:sldMk cId="0" sldId="326"/>
            <ac:spMk id="2" creationId="{00000000-0000-0000-0000-000000000000}"/>
          </ac:spMkLst>
        </pc:spChg>
        <pc:graphicFrameChg chg="mod">
          <ac:chgData name="Surya Chinta" userId="41ee6f01-053e-4268-a09b-364f54be2fbe" providerId="ADAL" clId="{E5143D04-8900-4457-BE49-945FECC57414}" dt="2026-10-13T03:28:34.048" v="185"/>
          <ac:graphicFrameMkLst>
            <pc:docMk/>
            <pc:sldMk cId="0" sldId="326"/>
            <ac:graphicFrameMk id="42" creationId="{00000000-0000-0000-0000-000000000000}"/>
          </ac:graphicFrameMkLst>
        </pc:graphicFrameChg>
      </pc:sldChg>
      <pc:sldChg chg="modSp add ord setBg modNotes modNotesTx">
        <pc:chgData name="Surya Chinta" userId="41ee6f01-053e-4268-a09b-364f54be2fbe" providerId="ADAL" clId="{E5143D04-8900-4457-BE49-945FECC57414}" dt="2026-10-14T07:16:00.554" v="318"/>
        <pc:sldMkLst>
          <pc:docMk/>
          <pc:sldMk cId="0" sldId="327"/>
        </pc:sldMkLst>
        <pc:spChg chg="mod">
          <ac:chgData name="Surya Chinta" userId="41ee6f01-053e-4268-a09b-364f54be2fbe" providerId="ADAL" clId="{E5143D04-8900-4457-BE49-945FECC57414}" dt="2026-10-13T03:33:41.285" v="199"/>
          <ac:spMkLst>
            <pc:docMk/>
            <pc:sldMk cId="0" sldId="327"/>
            <ac:spMk id="2" creationId="{00000000-0000-0000-0000-000000000000}"/>
          </ac:spMkLst>
        </pc:spChg>
        <pc:spChg chg="mod">
          <ac:chgData name="Surya Chinta" userId="41ee6f01-053e-4268-a09b-364f54be2fbe" providerId="ADAL" clId="{E5143D04-8900-4457-BE49-945FECC57414}" dt="2026-10-13T03:28:34.048" v="185"/>
          <ac:spMkLst>
            <pc:docMk/>
            <pc:sldMk cId="0" sldId="327"/>
            <ac:spMk id="4" creationId="{00000000-0000-0000-0000-000000000000}"/>
          </ac:spMkLst>
        </pc:spChg>
        <pc:spChg chg="mod">
          <ac:chgData name="Surya Chinta" userId="41ee6f01-053e-4268-a09b-364f54be2fbe" providerId="ADAL" clId="{E5143D04-8900-4457-BE49-945FECC57414}" dt="2026-10-13T03:28:34.048" v="185"/>
          <ac:spMkLst>
            <pc:docMk/>
            <pc:sldMk cId="0" sldId="327"/>
            <ac:spMk id="6" creationId="{00000000-0000-0000-0000-000000000000}"/>
          </ac:spMkLst>
        </pc:spChg>
        <pc:spChg chg="mod">
          <ac:chgData name="Surya Chinta" userId="41ee6f01-053e-4268-a09b-364f54be2fbe" providerId="ADAL" clId="{E5143D04-8900-4457-BE49-945FECC57414}" dt="2026-10-13T03:28:34.048" v="185"/>
          <ac:spMkLst>
            <pc:docMk/>
            <pc:sldMk cId="0" sldId="327"/>
            <ac:spMk id="69" creationId="{00000000-0000-0000-0000-000000000000}"/>
          </ac:spMkLst>
        </pc:spChg>
        <pc:spChg chg="mod">
          <ac:chgData name="Surya Chinta" userId="41ee6f01-053e-4268-a09b-364f54be2fbe" providerId="ADAL" clId="{E5143D04-8900-4457-BE49-945FECC57414}" dt="2026-10-13T03:28:34.048" v="185"/>
          <ac:spMkLst>
            <pc:docMk/>
            <pc:sldMk cId="0" sldId="327"/>
            <ac:spMk id="80" creationId="{00000000-0000-0000-0000-000000000000}"/>
          </ac:spMkLst>
        </pc:spChg>
        <pc:spChg chg="mod">
          <ac:chgData name="Surya Chinta" userId="41ee6f01-053e-4268-a09b-364f54be2fbe" providerId="ADAL" clId="{E5143D04-8900-4457-BE49-945FECC57414}" dt="2026-10-13T03:28:34.048" v="185"/>
          <ac:spMkLst>
            <pc:docMk/>
            <pc:sldMk cId="0" sldId="327"/>
            <ac:spMk id="84" creationId="{00000000-0000-0000-0000-000000000000}"/>
          </ac:spMkLst>
        </pc:spChg>
      </pc:sldChg>
      <pc:sldChg chg="modSp add ord setBg modNotes modNotesTx">
        <pc:chgData name="Surya Chinta" userId="41ee6f01-053e-4268-a09b-364f54be2fbe" providerId="ADAL" clId="{E5143D04-8900-4457-BE49-945FECC57414}" dt="2026-10-14T07:16:00.554" v="318"/>
        <pc:sldMkLst>
          <pc:docMk/>
          <pc:sldMk cId="0" sldId="328"/>
        </pc:sldMkLst>
        <pc:spChg chg="mod">
          <ac:chgData name="Surya Chinta" userId="41ee6f01-053e-4268-a09b-364f54be2fbe" providerId="ADAL" clId="{E5143D04-8900-4457-BE49-945FECC57414}" dt="2026-10-13T03:33:52.276" v="200"/>
          <ac:spMkLst>
            <pc:docMk/>
            <pc:sldMk cId="0" sldId="328"/>
            <ac:spMk id="2" creationId="{00000000-0000-0000-0000-000000000000}"/>
          </ac:spMkLst>
        </pc:spChg>
        <pc:spChg chg="mod">
          <ac:chgData name="Surya Chinta" userId="41ee6f01-053e-4268-a09b-364f54be2fbe" providerId="ADAL" clId="{E5143D04-8900-4457-BE49-945FECC57414}" dt="2026-10-13T03:28:34.048" v="185"/>
          <ac:spMkLst>
            <pc:docMk/>
            <pc:sldMk cId="0" sldId="328"/>
            <ac:spMk id="4" creationId="{00000000-0000-0000-0000-000000000000}"/>
          </ac:spMkLst>
        </pc:spChg>
      </pc:sldChg>
      <pc:sldChg chg="modSp mod modNotes modNotesTx">
        <pc:chgData name="Surya Chinta" userId="41ee6f01-053e-4268-a09b-364f54be2fbe" providerId="ADAL" clId="{E5143D04-8900-4457-BE49-945FECC57414}" dt="2026-10-13T10:58:02.892" v="260" actId="1076"/>
        <pc:sldMkLst>
          <pc:docMk/>
          <pc:sldMk cId="0" sldId="329"/>
        </pc:sldMkLst>
        <pc:spChg chg="mod">
          <ac:chgData name="Surya Chinta" userId="41ee6f01-053e-4268-a09b-364f54be2fbe" providerId="ADAL" clId="{E5143D04-8900-4457-BE49-945FECC57414}" dt="2026-10-13T03:22:50.685" v="125"/>
          <ac:spMkLst>
            <pc:docMk/>
            <pc:sldMk cId="0" sldId="329"/>
            <ac:spMk id="2" creationId="{00000000-0000-0000-0000-000000000000}"/>
          </ac:spMkLst>
        </pc:spChg>
        <pc:spChg chg="mod">
          <ac:chgData name="Surya Chinta" userId="41ee6f01-053e-4268-a09b-364f54be2fbe" providerId="ADAL" clId="{E5143D04-8900-4457-BE49-945FECC57414}" dt="2026-10-13T03:23:19.005" v="128" actId="20577"/>
          <ac:spMkLst>
            <pc:docMk/>
            <pc:sldMk cId="0" sldId="329"/>
            <ac:spMk id="4" creationId="{00000000-0000-0000-0000-000000000000}"/>
          </ac:spMkLst>
        </pc:spChg>
        <pc:picChg chg="mod">
          <ac:chgData name="Surya Chinta" userId="41ee6f01-053e-4268-a09b-364f54be2fbe" providerId="ADAL" clId="{E5143D04-8900-4457-BE49-945FECC57414}" dt="2026-10-13T10:58:02.892" v="260" actId="1076"/>
          <ac:picMkLst>
            <pc:docMk/>
            <pc:sldMk cId="0" sldId="329"/>
            <ac:picMk id="28" creationId="{00000000-0000-0000-0000-000000000000}"/>
          </ac:picMkLst>
        </pc:picChg>
      </pc:sldChg>
      <pc:sldChg chg="delSp modSp mod modNotes modNotesTx">
        <pc:chgData name="Surya Chinta" userId="41ee6f01-053e-4268-a09b-364f54be2fbe" providerId="ADAL" clId="{E5143D04-8900-4457-BE49-945FECC57414}" dt="2026-10-14T07:11:16.844" v="300" actId="478"/>
        <pc:sldMkLst>
          <pc:docMk/>
          <pc:sldMk cId="0" sldId="330"/>
        </pc:sldMkLst>
        <pc:spChg chg="mod">
          <ac:chgData name="Surya Chinta" userId="41ee6f01-053e-4268-a09b-364f54be2fbe" providerId="ADAL" clId="{E5143D04-8900-4457-BE49-945FECC57414}" dt="2026-10-13T03:24:18.366" v="130"/>
          <ac:spMkLst>
            <pc:docMk/>
            <pc:sldMk cId="0" sldId="330"/>
            <ac:spMk id="2" creationId="{00000000-0000-0000-0000-000000000000}"/>
          </ac:spMkLst>
        </pc:spChg>
        <pc:spChg chg="mod">
          <ac:chgData name="Surya Chinta" userId="41ee6f01-053e-4268-a09b-364f54be2fbe" providerId="ADAL" clId="{E5143D04-8900-4457-BE49-945FECC57414}" dt="2026-10-13T03:24:23.820" v="131"/>
          <ac:spMkLst>
            <pc:docMk/>
            <pc:sldMk cId="0" sldId="330"/>
            <ac:spMk id="3" creationId="{00000000-0000-0000-0000-000000000000}"/>
          </ac:spMkLst>
        </pc:spChg>
        <pc:spChg chg="mod">
          <ac:chgData name="Surya Chinta" userId="41ee6f01-053e-4268-a09b-364f54be2fbe" providerId="ADAL" clId="{E5143D04-8900-4457-BE49-945FECC57414}" dt="2026-10-13T03:24:34.197" v="133" actId="14100"/>
          <ac:spMkLst>
            <pc:docMk/>
            <pc:sldMk cId="0" sldId="330"/>
            <ac:spMk id="15" creationId="{00000000-0000-0000-0000-000000000000}"/>
          </ac:spMkLst>
        </pc:spChg>
        <pc:spChg chg="mod">
          <ac:chgData name="Surya Chinta" userId="41ee6f01-053e-4268-a09b-364f54be2fbe" providerId="ADAL" clId="{E5143D04-8900-4457-BE49-945FECC57414}" dt="2026-10-13T03:24:45.614" v="144" actId="20577"/>
          <ac:spMkLst>
            <pc:docMk/>
            <pc:sldMk cId="0" sldId="330"/>
            <ac:spMk id="24" creationId="{00000000-0000-0000-0000-000000000000}"/>
          </ac:spMkLst>
        </pc:spChg>
        <pc:spChg chg="mod">
          <ac:chgData name="Surya Chinta" userId="41ee6f01-053e-4268-a09b-364f54be2fbe" providerId="ADAL" clId="{E5143D04-8900-4457-BE49-945FECC57414}" dt="2026-10-13T03:24:51.269" v="151" actId="20577"/>
          <ac:spMkLst>
            <pc:docMk/>
            <pc:sldMk cId="0" sldId="330"/>
            <ac:spMk id="33" creationId="{00000000-0000-0000-0000-000000000000}"/>
          </ac:spMkLst>
        </pc:spChg>
        <pc:spChg chg="mod">
          <ac:chgData name="Surya Chinta" userId="41ee6f01-053e-4268-a09b-364f54be2fbe" providerId="ADAL" clId="{E5143D04-8900-4457-BE49-945FECC57414}" dt="2026-10-13T03:24:55.363" v="158" actId="20577"/>
          <ac:spMkLst>
            <pc:docMk/>
            <pc:sldMk cId="0" sldId="330"/>
            <ac:spMk id="42" creationId="{00000000-0000-0000-0000-000000000000}"/>
          </ac:spMkLst>
        </pc:spChg>
        <pc:spChg chg="mod">
          <ac:chgData name="Surya Chinta" userId="41ee6f01-053e-4268-a09b-364f54be2fbe" providerId="ADAL" clId="{E5143D04-8900-4457-BE49-945FECC57414}" dt="2026-10-13T03:25:01.556" v="165" actId="20577"/>
          <ac:spMkLst>
            <pc:docMk/>
            <pc:sldMk cId="0" sldId="330"/>
            <ac:spMk id="65" creationId="{00000000-0000-0000-0000-000000000000}"/>
          </ac:spMkLst>
        </pc:spChg>
        <pc:spChg chg="del mod">
          <ac:chgData name="Surya Chinta" userId="41ee6f01-053e-4268-a09b-364f54be2fbe" providerId="ADAL" clId="{E5143D04-8900-4457-BE49-945FECC57414}" dt="2026-10-14T07:11:16.844" v="300" actId="478"/>
          <ac:spMkLst>
            <pc:docMk/>
            <pc:sldMk cId="0" sldId="330"/>
            <ac:spMk id="105" creationId="{00000000-0000-0000-0000-000000000000}"/>
          </ac:spMkLst>
        </pc:spChg>
        <pc:spChg chg="mod">
          <ac:chgData name="Surya Chinta" userId="41ee6f01-053e-4268-a09b-364f54be2fbe" providerId="ADAL" clId="{E5143D04-8900-4457-BE49-945FECC57414}" dt="2026-10-13T03:26:45.288" v="166"/>
          <ac:spMkLst>
            <pc:docMk/>
            <pc:sldMk cId="0" sldId="330"/>
            <ac:spMk id="108"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1"/>
        </pc:sldMkLst>
        <pc:spChg chg="mod">
          <ac:chgData name="Surya Chinta" userId="41ee6f01-053e-4268-a09b-364f54be2fbe" providerId="ADAL" clId="{E5143D04-8900-4457-BE49-945FECC57414}" dt="2026-10-13T03:28:34.048" v="185"/>
          <ac:spMkLst>
            <pc:docMk/>
            <pc:sldMk cId="0" sldId="331"/>
            <ac:spMk id="2" creationId="{00000000-0000-0000-0000-000000000000}"/>
          </ac:spMkLst>
        </pc:spChg>
        <pc:spChg chg="mod">
          <ac:chgData name="Surya Chinta" userId="41ee6f01-053e-4268-a09b-364f54be2fbe" providerId="ADAL" clId="{E5143D04-8900-4457-BE49-945FECC57414}" dt="2026-10-13T03:28:34.048" v="185"/>
          <ac:spMkLst>
            <pc:docMk/>
            <pc:sldMk cId="0" sldId="331"/>
            <ac:spMk id="4" creationId="{00000000-0000-0000-0000-000000000000}"/>
          </ac:spMkLst>
        </pc:spChg>
        <pc:spChg chg="mod">
          <ac:chgData name="Surya Chinta" userId="41ee6f01-053e-4268-a09b-364f54be2fbe" providerId="ADAL" clId="{E5143D04-8900-4457-BE49-945FECC57414}" dt="2026-10-13T03:28:34.048" v="185"/>
          <ac:spMkLst>
            <pc:docMk/>
            <pc:sldMk cId="0" sldId="331"/>
            <ac:spMk id="81" creationId="{00000000-0000-0000-0000-000000000000}"/>
          </ac:spMkLst>
        </pc:spChg>
      </pc:sldChg>
      <pc:sldChg chg="modSp modNotes">
        <pc:chgData name="Surya Chinta" userId="41ee6f01-053e-4268-a09b-364f54be2fbe" providerId="ADAL" clId="{E5143D04-8900-4457-BE49-945FECC57414}" dt="2026-10-13T03:28:34.048" v="185"/>
        <pc:sldMkLst>
          <pc:docMk/>
          <pc:sldMk cId="0" sldId="332"/>
        </pc:sldMkLst>
        <pc:spChg chg="mod">
          <ac:chgData name="Surya Chinta" userId="41ee6f01-053e-4268-a09b-364f54be2fbe" providerId="ADAL" clId="{E5143D04-8900-4457-BE49-945FECC57414}" dt="2026-10-13T03:28:34.048" v="185"/>
          <ac:spMkLst>
            <pc:docMk/>
            <pc:sldMk cId="0" sldId="332"/>
            <ac:spMk id="2" creationId="{00000000-0000-0000-0000-000000000000}"/>
          </ac:spMkLst>
        </pc:spChg>
        <pc:spChg chg="mod">
          <ac:chgData name="Surya Chinta" userId="41ee6f01-053e-4268-a09b-364f54be2fbe" providerId="ADAL" clId="{E5143D04-8900-4457-BE49-945FECC57414}" dt="2026-10-13T03:28:34.048" v="185"/>
          <ac:spMkLst>
            <pc:docMk/>
            <pc:sldMk cId="0" sldId="332"/>
            <ac:spMk id="126" creationId="{00000000-0000-0000-0000-000000000000}"/>
          </ac:spMkLst>
        </pc:spChg>
      </pc:sldChg>
      <pc:sldChg chg="modSp mod ord modNotesTx">
        <pc:chgData name="Surya Chinta" userId="41ee6f01-053e-4268-a09b-364f54be2fbe" providerId="ADAL" clId="{E5143D04-8900-4457-BE49-945FECC57414}" dt="2026-10-14T07:13:57.250" v="307"/>
        <pc:sldMkLst>
          <pc:docMk/>
          <pc:sldMk cId="0" sldId="333"/>
        </pc:sldMkLst>
        <pc:spChg chg="mod">
          <ac:chgData name="Surya Chinta" userId="41ee6f01-053e-4268-a09b-364f54be2fbe" providerId="ADAL" clId="{E5143D04-8900-4457-BE49-945FECC57414}" dt="2026-10-13T03:27:27.458" v="167"/>
          <ac:spMkLst>
            <pc:docMk/>
            <pc:sldMk cId="0" sldId="333"/>
            <ac:spMk id="2" creationId="{00000000-0000-0000-0000-000000000000}"/>
          </ac:spMkLst>
        </pc:spChg>
        <pc:spChg chg="mod">
          <ac:chgData name="Surya Chinta" userId="41ee6f01-053e-4268-a09b-364f54be2fbe" providerId="ADAL" clId="{E5143D04-8900-4457-BE49-945FECC57414}" dt="2026-10-13T03:28:16.684" v="183" actId="6549"/>
          <ac:spMkLst>
            <pc:docMk/>
            <pc:sldMk cId="0" sldId="333"/>
            <ac:spMk id="4" creationId="{00000000-0000-0000-0000-000000000000}"/>
          </ac:spMkLst>
        </pc:spChg>
        <pc:spChg chg="mod">
          <ac:chgData name="Surya Chinta" userId="41ee6f01-053e-4268-a09b-364f54be2fbe" providerId="ADAL" clId="{E5143D04-8900-4457-BE49-945FECC57414}" dt="2026-10-13T03:27:37.291" v="168"/>
          <ac:spMkLst>
            <pc:docMk/>
            <pc:sldMk cId="0" sldId="333"/>
            <ac:spMk id="25" creationId="{00000000-0000-0000-0000-000000000000}"/>
          </ac:spMkLst>
        </pc:spChg>
        <pc:spChg chg="mod">
          <ac:chgData name="Surya Chinta" userId="41ee6f01-053e-4268-a09b-364f54be2fbe" providerId="ADAL" clId="{E5143D04-8900-4457-BE49-945FECC57414}" dt="2026-10-13T03:28:34.048" v="185"/>
          <ac:spMkLst>
            <pc:docMk/>
            <pc:sldMk cId="0" sldId="333"/>
            <ac:spMk id="29" creationId="{00000000-0000-0000-0000-000000000000}"/>
          </ac:spMkLst>
        </pc:spChg>
        <pc:spChg chg="mod">
          <ac:chgData name="Surya Chinta" userId="41ee6f01-053e-4268-a09b-364f54be2fbe" providerId="ADAL" clId="{E5143D04-8900-4457-BE49-945FECC57414}" dt="2026-10-13T03:27:39.764" v="169"/>
          <ac:spMkLst>
            <pc:docMk/>
            <pc:sldMk cId="0" sldId="333"/>
            <ac:spMk id="40" creationId="{00000000-0000-0000-0000-000000000000}"/>
          </ac:spMkLst>
        </pc:spChg>
        <pc:spChg chg="mod">
          <ac:chgData name="Surya Chinta" userId="41ee6f01-053e-4268-a09b-364f54be2fbe" providerId="ADAL" clId="{E5143D04-8900-4457-BE49-945FECC57414}" dt="2026-10-13T03:27:41.143" v="170"/>
          <ac:spMkLst>
            <pc:docMk/>
            <pc:sldMk cId="0" sldId="333"/>
            <ac:spMk id="55" creationId="{00000000-0000-0000-0000-000000000000}"/>
          </ac:spMkLst>
        </pc:spChg>
        <pc:spChg chg="mod">
          <ac:chgData name="Surya Chinta" userId="41ee6f01-053e-4268-a09b-364f54be2fbe" providerId="ADAL" clId="{E5143D04-8900-4457-BE49-945FECC57414}" dt="2026-10-13T03:27:43.215" v="171"/>
          <ac:spMkLst>
            <pc:docMk/>
            <pc:sldMk cId="0" sldId="333"/>
            <ac:spMk id="70" creationId="{00000000-0000-0000-0000-000000000000}"/>
          </ac:spMkLst>
        </pc:spChg>
        <pc:spChg chg="mod">
          <ac:chgData name="Surya Chinta" userId="41ee6f01-053e-4268-a09b-364f54be2fbe" providerId="ADAL" clId="{E5143D04-8900-4457-BE49-945FECC57414}" dt="2026-10-13T03:27:45.250" v="172"/>
          <ac:spMkLst>
            <pc:docMk/>
            <pc:sldMk cId="0" sldId="333"/>
            <ac:spMk id="85" creationId="{00000000-0000-0000-0000-000000000000}"/>
          </ac:spMkLst>
        </pc:spChg>
        <pc:spChg chg="mod">
          <ac:chgData name="Surya Chinta" userId="41ee6f01-053e-4268-a09b-364f54be2fbe" providerId="ADAL" clId="{E5143D04-8900-4457-BE49-945FECC57414}" dt="2026-10-13T03:27:59.123" v="177"/>
          <ac:spMkLst>
            <pc:docMk/>
            <pc:sldMk cId="0" sldId="333"/>
            <ac:spMk id="96" creationId="{00000000-0000-0000-0000-000000000000}"/>
          </ac:spMkLst>
        </pc:spChg>
      </pc:sldChg>
      <pc:sldChg chg="modSp ord modNotes modNotesTx">
        <pc:chgData name="Surya Chinta" userId="41ee6f01-053e-4268-a09b-364f54be2fbe" providerId="ADAL" clId="{E5143D04-8900-4457-BE49-945FECC57414}" dt="2026-10-13T12:22:32.091" v="298"/>
        <pc:sldMkLst>
          <pc:docMk/>
          <pc:sldMk cId="0" sldId="334"/>
        </pc:sldMkLst>
        <pc:spChg chg="mod">
          <ac:chgData name="Surya Chinta" userId="41ee6f01-053e-4268-a09b-364f54be2fbe" providerId="ADAL" clId="{E5143D04-8900-4457-BE49-945FECC57414}" dt="2026-10-13T03:34:13.524" v="202"/>
          <ac:spMkLst>
            <pc:docMk/>
            <pc:sldMk cId="0" sldId="334"/>
            <ac:spMk id="2" creationId="{00000000-0000-0000-0000-000000000000}"/>
          </ac:spMkLst>
        </pc:spChg>
        <pc:spChg chg="mod">
          <ac:chgData name="Surya Chinta" userId="41ee6f01-053e-4268-a09b-364f54be2fbe" providerId="ADAL" clId="{E5143D04-8900-4457-BE49-945FECC57414}" dt="2026-10-13T03:28:34.048" v="185"/>
          <ac:spMkLst>
            <pc:docMk/>
            <pc:sldMk cId="0" sldId="334"/>
            <ac:spMk id="3" creationId="{00000000-0000-0000-0000-000000000000}"/>
          </ac:spMkLst>
        </pc:spChg>
        <pc:spChg chg="mod">
          <ac:chgData name="Surya Chinta" userId="41ee6f01-053e-4268-a09b-364f54be2fbe" providerId="ADAL" clId="{E5143D04-8900-4457-BE49-945FECC57414}" dt="2026-10-13T03:28:34.048" v="185"/>
          <ac:spMkLst>
            <pc:docMk/>
            <pc:sldMk cId="0" sldId="334"/>
            <ac:spMk id="4" creationId="{00000000-0000-0000-0000-000000000000}"/>
          </ac:spMkLst>
        </pc:spChg>
        <pc:spChg chg="mod">
          <ac:chgData name="Surya Chinta" userId="41ee6f01-053e-4268-a09b-364f54be2fbe" providerId="ADAL" clId="{E5143D04-8900-4457-BE49-945FECC57414}" dt="2026-10-13T03:28:34.048" v="185"/>
          <ac:spMkLst>
            <pc:docMk/>
            <pc:sldMk cId="0" sldId="334"/>
            <ac:spMk id="20" creationId="{00000000-0000-0000-0000-000000000000}"/>
          </ac:spMkLst>
        </pc:spChg>
        <pc:spChg chg="mod">
          <ac:chgData name="Surya Chinta" userId="41ee6f01-053e-4268-a09b-364f54be2fbe" providerId="ADAL" clId="{E5143D04-8900-4457-BE49-945FECC57414}" dt="2026-10-13T03:30:46.884" v="191"/>
          <ac:spMkLst>
            <pc:docMk/>
            <pc:sldMk cId="0" sldId="334"/>
            <ac:spMk id="25" creationId="{00000000-0000-0000-0000-000000000000}"/>
          </ac:spMkLst>
        </pc:spChg>
        <pc:spChg chg="mod">
          <ac:chgData name="Surya Chinta" userId="41ee6f01-053e-4268-a09b-364f54be2fbe" providerId="ADAL" clId="{E5143D04-8900-4457-BE49-945FECC57414}" dt="2026-10-13T03:28:34.048" v="185"/>
          <ac:spMkLst>
            <pc:docMk/>
            <pc:sldMk cId="0" sldId="334"/>
            <ac:spMk id="30" creationId="{00000000-0000-0000-0000-000000000000}"/>
          </ac:spMkLst>
        </pc:spChg>
        <pc:spChg chg="mod">
          <ac:chgData name="Surya Chinta" userId="41ee6f01-053e-4268-a09b-364f54be2fbe" providerId="ADAL" clId="{E5143D04-8900-4457-BE49-945FECC57414}" dt="2026-10-13T03:28:34.048" v="185"/>
          <ac:spMkLst>
            <pc:docMk/>
            <pc:sldMk cId="0" sldId="334"/>
            <ac:spMk id="37" creationId="{00000000-0000-0000-0000-000000000000}"/>
          </ac:spMkLst>
        </pc:spChg>
        <pc:spChg chg="mod">
          <ac:chgData name="Surya Chinta" userId="41ee6f01-053e-4268-a09b-364f54be2fbe" providerId="ADAL" clId="{E5143D04-8900-4457-BE49-945FECC57414}" dt="2026-10-13T03:28:34.048" v="185"/>
          <ac:spMkLst>
            <pc:docMk/>
            <pc:sldMk cId="0" sldId="334"/>
            <ac:spMk id="51" creationId="{00000000-0000-0000-0000-000000000000}"/>
          </ac:spMkLst>
        </pc:spChg>
        <pc:spChg chg="mod">
          <ac:chgData name="Surya Chinta" userId="41ee6f01-053e-4268-a09b-364f54be2fbe" providerId="ADAL" clId="{E5143D04-8900-4457-BE49-945FECC57414}" dt="2026-10-13T03:28:34.048" v="185"/>
          <ac:spMkLst>
            <pc:docMk/>
            <pc:sldMk cId="0" sldId="334"/>
            <ac:spMk id="64" creationId="{00000000-0000-0000-0000-000000000000}"/>
          </ac:spMkLst>
        </pc:spChg>
        <pc:spChg chg="mod">
          <ac:chgData name="Surya Chinta" userId="41ee6f01-053e-4268-a09b-364f54be2fbe" providerId="ADAL" clId="{E5143D04-8900-4457-BE49-945FECC57414}" dt="2026-10-13T03:28:34.048" v="185"/>
          <ac:spMkLst>
            <pc:docMk/>
            <pc:sldMk cId="0" sldId="334"/>
            <ac:spMk id="73" creationId="{00000000-0000-0000-0000-000000000000}"/>
          </ac:spMkLst>
        </pc:spChg>
      </pc:sldChg>
      <pc:sldChg chg="modSp del mod modNotes">
        <pc:chgData name="Surya Chinta" userId="41ee6f01-053e-4268-a09b-364f54be2fbe" providerId="ADAL" clId="{E5143D04-8900-4457-BE49-945FECC57414}" dt="2026-10-13T03:44:33.827" v="216" actId="47"/>
        <pc:sldMkLst>
          <pc:docMk/>
          <pc:sldMk cId="0" sldId="335"/>
        </pc:sldMkLst>
        <pc:spChg chg="mod">
          <ac:chgData name="Surya Chinta" userId="41ee6f01-053e-4268-a09b-364f54be2fbe" providerId="ADAL" clId="{E5143D04-8900-4457-BE49-945FECC57414}" dt="2026-10-13T03:34:23.697" v="203"/>
          <ac:spMkLst>
            <pc:docMk/>
            <pc:sldMk cId="0" sldId="335"/>
            <ac:spMk id="2" creationId="{00000000-0000-0000-0000-000000000000}"/>
          </ac:spMkLst>
        </pc:spChg>
        <pc:spChg chg="mod">
          <ac:chgData name="Surya Chinta" userId="41ee6f01-053e-4268-a09b-364f54be2fbe" providerId="ADAL" clId="{E5143D04-8900-4457-BE49-945FECC57414}" dt="2026-10-13T03:34:36.102" v="206"/>
          <ac:spMkLst>
            <pc:docMk/>
            <pc:sldMk cId="0" sldId="335"/>
            <ac:spMk id="3" creationId="{00000000-0000-0000-0000-000000000000}"/>
          </ac:spMkLst>
        </pc:spChg>
        <pc:spChg chg="mod">
          <ac:chgData name="Surya Chinta" userId="41ee6f01-053e-4268-a09b-364f54be2fbe" providerId="ADAL" clId="{E5143D04-8900-4457-BE49-945FECC57414}" dt="2026-10-13T03:34:51.317" v="207"/>
          <ac:spMkLst>
            <pc:docMk/>
            <pc:sldMk cId="0" sldId="335"/>
            <ac:spMk id="33" creationId="{00000000-0000-0000-0000-000000000000}"/>
          </ac:spMkLst>
        </pc:spChg>
      </pc:sldChg>
      <pc:sldChg chg="modSp mod modNotes modNotesTx">
        <pc:chgData name="Surya Chinta" userId="41ee6f01-053e-4268-a09b-364f54be2fbe" providerId="ADAL" clId="{E5143D04-8900-4457-BE49-945FECC57414}" dt="2026-10-13T04:22:34.933" v="255" actId="6549"/>
        <pc:sldMkLst>
          <pc:docMk/>
          <pc:sldMk cId="0" sldId="339"/>
        </pc:sldMkLst>
        <pc:spChg chg="mod">
          <ac:chgData name="Surya Chinta" userId="41ee6f01-053e-4268-a09b-364f54be2fbe" providerId="ADAL" clId="{E5143D04-8900-4457-BE49-945FECC57414}" dt="2026-10-13T03:35:26.985" v="208"/>
          <ac:spMkLst>
            <pc:docMk/>
            <pc:sldMk cId="0" sldId="339"/>
            <ac:spMk id="2" creationId="{00000000-0000-0000-0000-000000000000}"/>
          </ac:spMkLst>
        </pc:spChg>
        <pc:spChg chg="mod">
          <ac:chgData name="Surya Chinta" userId="41ee6f01-053e-4268-a09b-364f54be2fbe" providerId="ADAL" clId="{E5143D04-8900-4457-BE49-945FECC57414}" dt="2026-10-13T03:31:47.056" v="193"/>
          <ac:spMkLst>
            <pc:docMk/>
            <pc:sldMk cId="0" sldId="339"/>
            <ac:spMk id="26" creationId="{00000000-0000-0000-0000-000000000000}"/>
          </ac:spMkLst>
        </pc:spChg>
        <pc:spChg chg="mod">
          <ac:chgData name="Surya Chinta" userId="41ee6f01-053e-4268-a09b-364f54be2fbe" providerId="ADAL" clId="{E5143D04-8900-4457-BE49-945FECC57414}" dt="2026-10-13T03:31:41.142" v="192"/>
          <ac:spMkLst>
            <pc:docMk/>
            <pc:sldMk cId="0" sldId="339"/>
            <ac:spMk id="27" creationId="{00000000-0000-0000-0000-000000000000}"/>
          </ac:spMkLst>
        </pc:spChg>
        <pc:spChg chg="mod">
          <ac:chgData name="Surya Chinta" userId="41ee6f01-053e-4268-a09b-364f54be2fbe" providerId="ADAL" clId="{E5143D04-8900-4457-BE49-945FECC57414}" dt="2026-10-13T03:31:57.525" v="195"/>
          <ac:spMkLst>
            <pc:docMk/>
            <pc:sldMk cId="0" sldId="339"/>
            <ac:spMk id="32" creationId="{00000000-0000-0000-0000-000000000000}"/>
          </ac:spMkLst>
        </pc:spChg>
        <pc:spChg chg="mod">
          <ac:chgData name="Surya Chinta" userId="41ee6f01-053e-4268-a09b-364f54be2fbe" providerId="ADAL" clId="{E5143D04-8900-4457-BE49-945FECC57414}" dt="2026-10-13T03:32:04.546" v="196"/>
          <ac:spMkLst>
            <pc:docMk/>
            <pc:sldMk cId="0" sldId="339"/>
            <ac:spMk id="33" creationId="{00000000-0000-0000-0000-000000000000}"/>
          </ac:spMkLst>
        </pc:spChg>
      </pc:sldChg>
      <pc:sldChg chg="modSp">
        <pc:chgData name="Surya Chinta" userId="41ee6f01-053e-4268-a09b-364f54be2fbe" providerId="ADAL" clId="{E5143D04-8900-4457-BE49-945FECC57414}" dt="2026-10-13T03:35:36.466" v="209"/>
        <pc:sldMkLst>
          <pc:docMk/>
          <pc:sldMk cId="0" sldId="340"/>
        </pc:sldMkLst>
        <pc:spChg chg="mod">
          <ac:chgData name="Surya Chinta" userId="41ee6f01-053e-4268-a09b-364f54be2fbe" providerId="ADAL" clId="{E5143D04-8900-4457-BE49-945FECC57414}" dt="2026-10-13T03:35:36.466" v="209"/>
          <ac:spMkLst>
            <pc:docMk/>
            <pc:sldMk cId="0" sldId="340"/>
            <ac:spMk id="2" creationId="{00000000-0000-0000-0000-000000000000}"/>
          </ac:spMkLst>
        </pc:spChg>
        <pc:spChg chg="mod">
          <ac:chgData name="Surya Chinta" userId="41ee6f01-053e-4268-a09b-364f54be2fbe" providerId="ADAL" clId="{E5143D04-8900-4457-BE49-945FECC57414}" dt="2026-10-13T03:28:34.048" v="185"/>
          <ac:spMkLst>
            <pc:docMk/>
            <pc:sldMk cId="0" sldId="340"/>
            <ac:spMk id="4" creationId="{00000000-0000-0000-0000-000000000000}"/>
          </ac:spMkLst>
        </pc:spChg>
        <pc:spChg chg="mod">
          <ac:chgData name="Surya Chinta" userId="41ee6f01-053e-4268-a09b-364f54be2fbe" providerId="ADAL" clId="{E5143D04-8900-4457-BE49-945FECC57414}" dt="2026-10-13T03:28:34.048" v="185"/>
          <ac:spMkLst>
            <pc:docMk/>
            <pc:sldMk cId="0" sldId="340"/>
            <ac:spMk id="26" creationId="{00000000-0000-0000-0000-000000000000}"/>
          </ac:spMkLst>
        </pc:spChg>
        <pc:spChg chg="mod">
          <ac:chgData name="Surya Chinta" userId="41ee6f01-053e-4268-a09b-364f54be2fbe" providerId="ADAL" clId="{E5143D04-8900-4457-BE49-945FECC57414}" dt="2026-10-13T03:28:34.048" v="185"/>
          <ac:spMkLst>
            <pc:docMk/>
            <pc:sldMk cId="0" sldId="340"/>
            <ac:spMk id="88" creationId="{00000000-0000-0000-0000-000000000000}"/>
          </ac:spMkLst>
        </pc:spChg>
      </pc:sldChg>
      <pc:sldChg chg="add modNotesTx">
        <pc:chgData name="Surya Chinta" userId="41ee6f01-053e-4268-a09b-364f54be2fbe" providerId="ADAL" clId="{E5143D04-8900-4457-BE49-945FECC57414}" dt="2026-10-13T04:22:29.093" v="253" actId="6549"/>
        <pc:sldMkLst>
          <pc:docMk/>
          <pc:sldMk cId="2669657146" sldId="341"/>
        </pc:sldMkLst>
      </pc:sldChg>
      <pc:sldChg chg="add del">
        <pc:chgData name="Surya Chinta" userId="41ee6f01-053e-4268-a09b-364f54be2fbe" providerId="ADAL" clId="{E5143D04-8900-4457-BE49-945FECC57414}" dt="2026-10-13T03:44:16.334" v="213"/>
        <pc:sldMkLst>
          <pc:docMk/>
          <pc:sldMk cId="2818508910" sldId="341"/>
        </pc:sldMkLst>
      </pc:sldChg>
      <pc:sldChg chg="add del">
        <pc:chgData name="Surya Chinta" userId="41ee6f01-053e-4268-a09b-364f54be2fbe" providerId="ADAL" clId="{E5143D04-8900-4457-BE49-945FECC57414}" dt="2026-10-13T03:44:14.885" v="212"/>
        <pc:sldMkLst>
          <pc:docMk/>
          <pc:sldMk cId="3003088139" sldId="342"/>
        </pc:sldMkLst>
      </pc:sldChg>
      <pc:sldChg chg="add modNotesTx">
        <pc:chgData name="Surya Chinta" userId="41ee6f01-053e-4268-a09b-364f54be2fbe" providerId="ADAL" clId="{E5143D04-8900-4457-BE49-945FECC57414}" dt="2026-10-13T04:22:32.289" v="254" actId="6549"/>
        <pc:sldMkLst>
          <pc:docMk/>
          <pc:sldMk cId="3993354396" sldId="342"/>
        </pc:sldMkLst>
      </pc:sldChg>
      <pc:sldChg chg="new del">
        <pc:chgData name="Surya Chinta" userId="41ee6f01-053e-4268-a09b-364f54be2fbe" providerId="ADAL" clId="{E5143D04-8900-4457-BE49-945FECC57414}" dt="2026-10-13T04:11:46.664" v="218" actId="47"/>
        <pc:sldMkLst>
          <pc:docMk/>
          <pc:sldMk cId="737576513" sldId="343"/>
        </pc:sldMkLst>
      </pc:sldChg>
      <pc:sldChg chg="add del ord">
        <pc:chgData name="Surya Chinta" userId="41ee6f01-053e-4268-a09b-364f54be2fbe" providerId="ADAL" clId="{E5143D04-8900-4457-BE49-945FECC57414}" dt="2026-10-13T12:06:18.032" v="295" actId="47"/>
        <pc:sldMkLst>
          <pc:docMk/>
          <pc:sldMk cId="3339790584" sldId="343"/>
        </pc:sldMkLst>
      </pc:sldChg>
      <pc:sldChg chg="addSp delSp modSp add del mod">
        <pc:chgData name="Surya Chinta" userId="41ee6f01-053e-4268-a09b-364f54be2fbe" providerId="ADAL" clId="{E5143D04-8900-4457-BE49-945FECC57414}" dt="2026-10-13T04:15:22.525" v="238" actId="47"/>
        <pc:sldMkLst>
          <pc:docMk/>
          <pc:sldMk cId="3892843266" sldId="343"/>
        </pc:sldMkLst>
        <pc:spChg chg="mod">
          <ac:chgData name="Surya Chinta" userId="41ee6f01-053e-4268-a09b-364f54be2fbe" providerId="ADAL" clId="{E5143D04-8900-4457-BE49-945FECC57414}" dt="2026-10-13T04:12:55.407" v="230" actId="20577"/>
          <ac:spMkLst>
            <pc:docMk/>
            <pc:sldMk cId="3892843266" sldId="343"/>
            <ac:spMk id="2" creationId="{E0CE59E0-75BE-9435-6D4B-10DDEFDBC63E}"/>
          </ac:spMkLst>
        </pc:spChg>
        <pc:spChg chg="mod">
          <ac:chgData name="Surya Chinta" userId="41ee6f01-053e-4268-a09b-364f54be2fbe" providerId="ADAL" clId="{E5143D04-8900-4457-BE49-945FECC57414}" dt="2026-10-13T04:12:20.340" v="223" actId="207"/>
          <ac:spMkLst>
            <pc:docMk/>
            <pc:sldMk cId="3892843266" sldId="343"/>
            <ac:spMk id="3" creationId="{599C01BF-5D22-1106-AD67-6E63C9DE218F}"/>
          </ac:spMkLst>
        </pc:spChg>
        <pc:spChg chg="del">
          <ac:chgData name="Surya Chinta" userId="41ee6f01-053e-4268-a09b-364f54be2fbe" providerId="ADAL" clId="{E5143D04-8900-4457-BE49-945FECC57414}" dt="2026-10-13T04:12:00.043" v="220" actId="478"/>
          <ac:spMkLst>
            <pc:docMk/>
            <pc:sldMk cId="3892843266" sldId="343"/>
            <ac:spMk id="31" creationId="{8E183A8A-0725-6582-1943-F79D6A7046D1}"/>
          </ac:spMkLst>
        </pc:spChg>
        <pc:spChg chg="del">
          <ac:chgData name="Surya Chinta" userId="41ee6f01-053e-4268-a09b-364f54be2fbe" providerId="ADAL" clId="{E5143D04-8900-4457-BE49-945FECC57414}" dt="2026-10-13T04:12:00.043" v="220" actId="478"/>
          <ac:spMkLst>
            <pc:docMk/>
            <pc:sldMk cId="3892843266" sldId="343"/>
            <ac:spMk id="38" creationId="{63425C44-364C-C4B7-A2FC-0854385A8062}"/>
          </ac:spMkLst>
        </pc:spChg>
        <pc:spChg chg="del">
          <ac:chgData name="Surya Chinta" userId="41ee6f01-053e-4268-a09b-364f54be2fbe" providerId="ADAL" clId="{E5143D04-8900-4457-BE49-945FECC57414}" dt="2026-10-13T04:12:00.043" v="220" actId="478"/>
          <ac:spMkLst>
            <pc:docMk/>
            <pc:sldMk cId="3892843266" sldId="343"/>
            <ac:spMk id="41" creationId="{71DBD3F2-32CF-76F9-CBED-FD96AAC9137F}"/>
          </ac:spMkLst>
        </pc:spChg>
        <pc:spChg chg="del">
          <ac:chgData name="Surya Chinta" userId="41ee6f01-053e-4268-a09b-364f54be2fbe" providerId="ADAL" clId="{E5143D04-8900-4457-BE49-945FECC57414}" dt="2026-10-13T04:12:00.043" v="220" actId="478"/>
          <ac:spMkLst>
            <pc:docMk/>
            <pc:sldMk cId="3892843266" sldId="343"/>
            <ac:spMk id="46" creationId="{B0C810E7-5B23-8DF3-BF67-17B8277548AC}"/>
          </ac:spMkLst>
        </pc:spChg>
        <pc:spChg chg="del">
          <ac:chgData name="Surya Chinta" userId="41ee6f01-053e-4268-a09b-364f54be2fbe" providerId="ADAL" clId="{E5143D04-8900-4457-BE49-945FECC57414}" dt="2026-10-13T04:12:00.043" v="220" actId="478"/>
          <ac:spMkLst>
            <pc:docMk/>
            <pc:sldMk cId="3892843266" sldId="343"/>
            <ac:spMk id="53" creationId="{A2C8178C-C2E9-A652-8894-2357F0135A01}"/>
          </ac:spMkLst>
        </pc:spChg>
        <pc:spChg chg="del">
          <ac:chgData name="Surya Chinta" userId="41ee6f01-053e-4268-a09b-364f54be2fbe" providerId="ADAL" clId="{E5143D04-8900-4457-BE49-945FECC57414}" dt="2026-10-13T04:12:00.043" v="220" actId="478"/>
          <ac:spMkLst>
            <pc:docMk/>
            <pc:sldMk cId="3892843266" sldId="343"/>
            <ac:spMk id="55" creationId="{BA83F133-902C-1573-908A-16E49462339D}"/>
          </ac:spMkLst>
        </pc:spChg>
        <pc:spChg chg="del">
          <ac:chgData name="Surya Chinta" userId="41ee6f01-053e-4268-a09b-364f54be2fbe" providerId="ADAL" clId="{E5143D04-8900-4457-BE49-945FECC57414}" dt="2026-10-13T04:12:00.043" v="220" actId="478"/>
          <ac:spMkLst>
            <pc:docMk/>
            <pc:sldMk cId="3892843266" sldId="343"/>
            <ac:spMk id="68" creationId="{E0D90BEE-2932-970B-A7EE-EFEC78067453}"/>
          </ac:spMkLst>
        </pc:spChg>
        <pc:spChg chg="del">
          <ac:chgData name="Surya Chinta" userId="41ee6f01-053e-4268-a09b-364f54be2fbe" providerId="ADAL" clId="{E5143D04-8900-4457-BE49-945FECC57414}" dt="2026-10-13T04:12:00.043" v="220" actId="478"/>
          <ac:spMkLst>
            <pc:docMk/>
            <pc:sldMk cId="3892843266" sldId="343"/>
            <ac:spMk id="85" creationId="{AEE79047-C152-0D59-62D1-583DF2B29C2A}"/>
          </ac:spMkLst>
        </pc:spChg>
        <pc:spChg chg="del">
          <ac:chgData name="Surya Chinta" userId="41ee6f01-053e-4268-a09b-364f54be2fbe" providerId="ADAL" clId="{E5143D04-8900-4457-BE49-945FECC57414}" dt="2026-10-13T04:12:00.043" v="220" actId="478"/>
          <ac:spMkLst>
            <pc:docMk/>
            <pc:sldMk cId="3892843266" sldId="343"/>
            <ac:spMk id="91" creationId="{8D978C35-A29B-AAE8-BBD6-E44A4FC5102C}"/>
          </ac:spMkLst>
        </pc:spChg>
        <pc:spChg chg="del">
          <ac:chgData name="Surya Chinta" userId="41ee6f01-053e-4268-a09b-364f54be2fbe" providerId="ADAL" clId="{E5143D04-8900-4457-BE49-945FECC57414}" dt="2026-10-13T04:12:00.043" v="220" actId="478"/>
          <ac:spMkLst>
            <pc:docMk/>
            <pc:sldMk cId="3892843266" sldId="343"/>
            <ac:spMk id="99" creationId="{CA3C0FEA-71D2-2AA4-08CC-E641AF679B3B}"/>
          </ac:spMkLst>
        </pc:spChg>
        <pc:spChg chg="del">
          <ac:chgData name="Surya Chinta" userId="41ee6f01-053e-4268-a09b-364f54be2fbe" providerId="ADAL" clId="{E5143D04-8900-4457-BE49-945FECC57414}" dt="2026-10-13T04:12:01.841" v="221" actId="478"/>
          <ac:spMkLst>
            <pc:docMk/>
            <pc:sldMk cId="3892843266" sldId="343"/>
            <ac:spMk id="108" creationId="{E15381FE-68C1-22AF-4D5D-EDB6C331AF52}"/>
          </ac:spMkLst>
        </pc:spChg>
        <pc:spChg chg="add mod">
          <ac:chgData name="Surya Chinta" userId="41ee6f01-053e-4268-a09b-364f54be2fbe" providerId="ADAL" clId="{E5143D04-8900-4457-BE49-945FECC57414}" dt="2026-10-13T04:13:09.951" v="232" actId="1076"/>
          <ac:spMkLst>
            <pc:docMk/>
            <pc:sldMk cId="3892843266" sldId="343"/>
            <ac:spMk id="118" creationId="{4AF22FC1-5D27-8A16-A53B-FCB9926D906B}"/>
          </ac:spMkLst>
        </pc:spChg>
        <pc:spChg chg="add mod">
          <ac:chgData name="Surya Chinta" userId="41ee6f01-053e-4268-a09b-364f54be2fbe" providerId="ADAL" clId="{E5143D04-8900-4457-BE49-945FECC57414}" dt="2026-10-13T04:13:09.951" v="232" actId="1076"/>
          <ac:spMkLst>
            <pc:docMk/>
            <pc:sldMk cId="3892843266" sldId="343"/>
            <ac:spMk id="132" creationId="{466E524F-AB36-8918-1BE9-480623BB13C2}"/>
          </ac:spMkLst>
        </pc:spChg>
        <pc:spChg chg="add mod">
          <ac:chgData name="Surya Chinta" userId="41ee6f01-053e-4268-a09b-364f54be2fbe" providerId="ADAL" clId="{E5143D04-8900-4457-BE49-945FECC57414}" dt="2026-10-13T04:13:09.951" v="232" actId="1076"/>
          <ac:spMkLst>
            <pc:docMk/>
            <pc:sldMk cId="3892843266" sldId="343"/>
            <ac:spMk id="144" creationId="{EC556DE5-EC56-A467-97D2-D3368DFD65A4}"/>
          </ac:spMkLst>
        </pc:spChg>
        <pc:spChg chg="add mod">
          <ac:chgData name="Surya Chinta" userId="41ee6f01-053e-4268-a09b-364f54be2fbe" providerId="ADAL" clId="{E5143D04-8900-4457-BE49-945FECC57414}" dt="2026-10-13T04:13:09.951" v="232" actId="1076"/>
          <ac:spMkLst>
            <pc:docMk/>
            <pc:sldMk cId="3892843266" sldId="343"/>
            <ac:spMk id="170" creationId="{C5A72FE7-385F-9BB7-3B04-934C4FA758EE}"/>
          </ac:spMkLst>
        </pc:spChg>
        <pc:spChg chg="add mod">
          <ac:chgData name="Surya Chinta" userId="41ee6f01-053e-4268-a09b-364f54be2fbe" providerId="ADAL" clId="{E5143D04-8900-4457-BE49-945FECC57414}" dt="2026-10-13T04:13:09.951" v="232" actId="1076"/>
          <ac:spMkLst>
            <pc:docMk/>
            <pc:sldMk cId="3892843266" sldId="343"/>
            <ac:spMk id="172" creationId="{05B8221B-335C-34EE-460A-A86A4D248370}"/>
          </ac:spMkLst>
        </pc:spChg>
        <pc:spChg chg="add mod">
          <ac:chgData name="Surya Chinta" userId="41ee6f01-053e-4268-a09b-364f54be2fbe" providerId="ADAL" clId="{E5143D04-8900-4457-BE49-945FECC57414}" dt="2026-10-13T04:13:09.951" v="232" actId="1076"/>
          <ac:spMkLst>
            <pc:docMk/>
            <pc:sldMk cId="3892843266" sldId="343"/>
            <ac:spMk id="184" creationId="{202324D7-D099-6EEC-8176-12A508DA3E6B}"/>
          </ac:spMkLst>
        </pc:spChg>
        <pc:spChg chg="add mod">
          <ac:chgData name="Surya Chinta" userId="41ee6f01-053e-4268-a09b-364f54be2fbe" providerId="ADAL" clId="{E5143D04-8900-4457-BE49-945FECC57414}" dt="2026-10-13T04:13:09.951" v="232" actId="1076"/>
          <ac:spMkLst>
            <pc:docMk/>
            <pc:sldMk cId="3892843266" sldId="343"/>
            <ac:spMk id="188" creationId="{3693C6B7-C548-4D11-7D35-47285A407E03}"/>
          </ac:spMkLst>
        </pc:spChg>
        <pc:spChg chg="add mod">
          <ac:chgData name="Surya Chinta" userId="41ee6f01-053e-4268-a09b-364f54be2fbe" providerId="ADAL" clId="{E5143D04-8900-4457-BE49-945FECC57414}" dt="2026-10-13T04:13:09.951" v="232" actId="1076"/>
          <ac:spMkLst>
            <pc:docMk/>
            <pc:sldMk cId="3892843266" sldId="343"/>
            <ac:spMk id="190" creationId="{2128F82A-1AD6-0D43-8F62-A5BE8EB2BA93}"/>
          </ac:spMkLst>
        </pc:spChg>
        <pc:spChg chg="add mod">
          <ac:chgData name="Surya Chinta" userId="41ee6f01-053e-4268-a09b-364f54be2fbe" providerId="ADAL" clId="{E5143D04-8900-4457-BE49-945FECC57414}" dt="2026-10-13T04:13:09.951" v="232" actId="1076"/>
          <ac:spMkLst>
            <pc:docMk/>
            <pc:sldMk cId="3892843266" sldId="343"/>
            <ac:spMk id="192" creationId="{02DFBC2B-0868-6FA4-976D-CD8070FA3135}"/>
          </ac:spMkLst>
        </pc:spChg>
        <pc:spChg chg="add mod">
          <ac:chgData name="Surya Chinta" userId="41ee6f01-053e-4268-a09b-364f54be2fbe" providerId="ADAL" clId="{E5143D04-8900-4457-BE49-945FECC57414}" dt="2026-10-13T04:13:09.951" v="232" actId="1076"/>
          <ac:spMkLst>
            <pc:docMk/>
            <pc:sldMk cId="3892843266" sldId="343"/>
            <ac:spMk id="196" creationId="{56F795E0-33B3-64D3-5797-AE87CDE66C3C}"/>
          </ac:spMkLst>
        </pc:spChg>
      </pc:sldChg>
      <pc:sldChg chg="add ord modNotesTx">
        <pc:chgData name="Surya Chinta" userId="41ee6f01-053e-4268-a09b-364f54be2fbe" providerId="ADAL" clId="{E5143D04-8900-4457-BE49-945FECC57414}" dt="2026-10-13T11:51:43.874" v="285"/>
        <pc:sldMkLst>
          <pc:docMk/>
          <pc:sldMk cId="3269789473" sldId="344"/>
        </pc:sldMkLst>
      </pc:sldChg>
      <pc:sldChg chg="add del setBg">
        <pc:chgData name="Surya Chinta" userId="41ee6f01-053e-4268-a09b-364f54be2fbe" providerId="ADAL" clId="{E5143D04-8900-4457-BE49-945FECC57414}" dt="2026-10-13T04:15:16.367" v="234"/>
        <pc:sldMkLst>
          <pc:docMk/>
          <pc:sldMk cId="3998421934" sldId="344"/>
        </pc:sldMkLst>
      </pc:sldChg>
      <pc:sldChg chg="add ord">
        <pc:chgData name="Surya Chinta" userId="41ee6f01-053e-4268-a09b-364f54be2fbe" providerId="ADAL" clId="{E5143D04-8900-4457-BE49-945FECC57414}" dt="2026-10-13T11:51:39.320" v="283"/>
        <pc:sldMkLst>
          <pc:docMk/>
          <pc:sldMk cId="2510581986" sldId="345"/>
        </pc:sldMkLst>
      </pc:sldChg>
      <pc:sldChg chg="add del setBg">
        <pc:chgData name="Surya Chinta" userId="41ee6f01-053e-4268-a09b-364f54be2fbe" providerId="ADAL" clId="{E5143D04-8900-4457-BE49-945FECC57414}" dt="2026-10-13T11:12:46.491" v="267"/>
        <pc:sldMkLst>
          <pc:docMk/>
          <pc:sldMk cId="2168820613" sldId="346"/>
        </pc:sldMkLst>
      </pc:sldChg>
      <pc:sldChg chg="addSp delSp modSp add mod ord">
        <pc:chgData name="Surya Chinta" userId="41ee6f01-053e-4268-a09b-364f54be2fbe" providerId="ADAL" clId="{E5143D04-8900-4457-BE49-945FECC57414}" dt="2026-10-14T07:13:17.527" v="305"/>
        <pc:sldMkLst>
          <pc:docMk/>
          <pc:sldMk cId="3951767496" sldId="346"/>
        </pc:sldMkLst>
        <pc:spChg chg="add del mod">
          <ac:chgData name="Surya Chinta" userId="41ee6f01-053e-4268-a09b-364f54be2fbe" providerId="ADAL" clId="{E5143D04-8900-4457-BE49-945FECC57414}" dt="2026-10-13T11:13:14.607" v="272"/>
          <ac:spMkLst>
            <pc:docMk/>
            <pc:sldMk cId="3951767496" sldId="346"/>
            <ac:spMk id="79" creationId="{F2B1CF47-0C8F-0E49-D014-4F94A5BE112F}"/>
          </ac:spMkLst>
        </pc:spChg>
        <pc:spChg chg="add del mod">
          <ac:chgData name="Surya Chinta" userId="41ee6f01-053e-4268-a09b-364f54be2fbe" providerId="ADAL" clId="{E5143D04-8900-4457-BE49-945FECC57414}" dt="2026-10-13T11:13:16.074" v="275"/>
          <ac:spMkLst>
            <pc:docMk/>
            <pc:sldMk cId="3951767496" sldId="346"/>
            <ac:spMk id="80" creationId="{7FEC237C-6384-FF6A-D5A3-C979EE5C2DAC}"/>
          </ac:spMkLst>
        </pc:spChg>
      </pc:sldChg>
      <pc:sldChg chg="add ord">
        <pc:chgData name="Surya Chinta" userId="41ee6f01-053e-4268-a09b-364f54be2fbe" providerId="ADAL" clId="{E5143D04-8900-4457-BE49-945FECC57414}" dt="2026-10-13T11:27:13.592" v="281"/>
        <pc:sldMkLst>
          <pc:docMk/>
          <pc:sldMk cId="2660977724" sldId="347"/>
        </pc:sldMkLst>
      </pc:sldChg>
      <pc:sldChg chg="add ord">
        <pc:chgData name="Surya Chinta" userId="41ee6f01-053e-4268-a09b-364f54be2fbe" providerId="ADAL" clId="{E5143D04-8900-4457-BE49-945FECC57414}" dt="2026-10-13T11:55:14.336" v="291"/>
        <pc:sldMkLst>
          <pc:docMk/>
          <pc:sldMk cId="2127672974" sldId="348"/>
        </pc:sldMkLst>
      </pc:sldChg>
      <pc:sldChg chg="add ord">
        <pc:chgData name="Surya Chinta" userId="41ee6f01-053e-4268-a09b-364f54be2fbe" providerId="ADAL" clId="{E5143D04-8900-4457-BE49-945FECC57414}" dt="2026-10-13T11:55:14.336" v="291"/>
        <pc:sldMkLst>
          <pc:docMk/>
          <pc:sldMk cId="1731863554" sldId="349"/>
        </pc:sldMkLst>
      </pc:sldChg>
      <pc:sldChg chg="add ord">
        <pc:chgData name="Surya Chinta" userId="41ee6f01-053e-4268-a09b-364f54be2fbe" providerId="ADAL" clId="{E5143D04-8900-4457-BE49-945FECC57414}" dt="2026-10-13T11:55:14.336" v="291"/>
        <pc:sldMkLst>
          <pc:docMk/>
          <pc:sldMk cId="1526011613" sldId="350"/>
        </pc:sldMkLst>
      </pc:sldChg>
      <pc:sldChg chg="add ord">
        <pc:chgData name="Surya Chinta" userId="41ee6f01-053e-4268-a09b-364f54be2fbe" providerId="ADAL" clId="{E5143D04-8900-4457-BE49-945FECC57414}" dt="2026-10-13T11:55:14.336" v="291"/>
        <pc:sldMkLst>
          <pc:docMk/>
          <pc:sldMk cId="2543986423" sldId="351"/>
        </pc:sldMkLst>
      </pc:sldChg>
      <pc:sldChg chg="add">
        <pc:chgData name="Surya Chinta" userId="41ee6f01-053e-4268-a09b-364f54be2fbe" providerId="ADAL" clId="{E5143D04-8900-4457-BE49-945FECC57414}" dt="2026-10-13T12:06:15.251" v="294"/>
        <pc:sldMkLst>
          <pc:docMk/>
          <pc:sldMk cId="279582318" sldId="352"/>
        </pc:sldMkLst>
      </pc:sldChg>
      <pc:sldChg chg="add del setBg">
        <pc:chgData name="Surya Chinta" userId="41ee6f01-053e-4268-a09b-364f54be2fbe" providerId="ADAL" clId="{E5143D04-8900-4457-BE49-945FECC57414}" dt="2026-10-13T12:06:11.921" v="293"/>
        <pc:sldMkLst>
          <pc:docMk/>
          <pc:sldMk cId="967238637" sldId="352"/>
        </pc:sldMkLst>
      </pc:sldChg>
      <pc:sldChg chg="add">
        <pc:chgData name="Surya Chinta" userId="41ee6f01-053e-4268-a09b-364f54be2fbe" providerId="ADAL" clId="{E5143D04-8900-4457-BE49-945FECC57414}" dt="2026-10-13T12:22:23.052" v="296"/>
        <pc:sldMkLst>
          <pc:docMk/>
          <pc:sldMk cId="815528859" sldId="353"/>
        </pc:sldMkLst>
      </pc:sldChg>
      <pc:sldChg chg="add">
        <pc:chgData name="Surya Chinta" userId="41ee6f01-053e-4268-a09b-364f54be2fbe" providerId="ADAL" clId="{E5143D04-8900-4457-BE49-945FECC57414}" dt="2026-10-14T07:13:00.409" v="303"/>
        <pc:sldMkLst>
          <pc:docMk/>
          <pc:sldMk cId="476873487" sldId="354"/>
        </pc:sldMkLst>
      </pc:sldChg>
      <pc:sldChg chg="add del setBg">
        <pc:chgData name="Surya Chinta" userId="41ee6f01-053e-4268-a09b-364f54be2fbe" providerId="ADAL" clId="{E5143D04-8900-4457-BE49-945FECC57414}" dt="2026-10-14T07:12:57.371" v="302"/>
        <pc:sldMkLst>
          <pc:docMk/>
          <pc:sldMk cId="3194574060" sldId="354"/>
        </pc:sldMkLst>
      </pc:sldChg>
      <pc:sldChg chg="add">
        <pc:chgData name="Surya Chinta" userId="41ee6f01-053e-4268-a09b-364f54be2fbe" providerId="ADAL" clId="{E5143D04-8900-4457-BE49-945FECC57414}" dt="2026-10-14T07:17:09.485" v="319"/>
        <pc:sldMkLst>
          <pc:docMk/>
          <pc:sldMk cId="2560747931" sldId="355"/>
        </pc:sldMkLst>
      </pc:sldChg>
    </pc:docChg>
  </pc:docChgLst>
  <pc:docChgLst>
    <pc:chgData name="Sandeep Kandiraju" userId="73c9edc8-56ca-4b73-b526-6c8c5936bb95" providerId="ADAL" clId="{72C2FB20-06DE-4857-9800-006CD8C248A1}"/>
    <pc:docChg chg="custSel modSld">
      <pc:chgData name="Sandeep Kandiraju" userId="73c9edc8-56ca-4b73-b526-6c8c5936bb95" providerId="ADAL" clId="{72C2FB20-06DE-4857-9800-006CD8C248A1}" dt="2026-10-13T08:50:07.235" v="0" actId="33524"/>
      <pc:docMkLst>
        <pc:docMk/>
      </pc:docMkLst>
      <pc:sldChg chg="modSp mod">
        <pc:chgData name="Sandeep Kandiraju" userId="73c9edc8-56ca-4b73-b526-6c8c5936bb95" providerId="ADAL" clId="{72C2FB20-06DE-4857-9800-006CD8C248A1}" dt="2026-10-13T08:50:07.235" v="0" actId="33524"/>
        <pc:sldMkLst>
          <pc:docMk/>
          <pc:sldMk cId="0" sldId="324"/>
        </pc:sldMkLst>
        <pc:spChg chg="mod">
          <ac:chgData name="Sandeep Kandiraju" userId="73c9edc8-56ca-4b73-b526-6c8c5936bb95" providerId="ADAL" clId="{72C2FB20-06DE-4857-9800-006CD8C248A1}" dt="2026-10-13T08:50:07.235" v="0" actId="33524"/>
          <ac:spMkLst>
            <pc:docMk/>
            <pc:sldMk cId="0" sldId="324"/>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083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Open: the same Agentic Factory now does two jobs. For Health Cloud it takes a Jira story to a tested, approved change. For Marketing Cloud it plans and prepares campaigns on governed Google Cloud data, where agents only ever see masked data and people release the right patients.</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One agent team: seven delivery agents and seven campaign agents   (about 2 minutes)</a:t>
            </a:r>
          </a:p>
          <a:p/>
          <a:p>
            <a:r>
              <a:t>KEY MESSAGE</a:t>
            </a:r>
          </a:p>
          <a:p>
            <a:r>
              <a:t>The seven delivery agents are unchanged and serve every pod. Seven campaign agents are added for Marketing Cloud campaigns on governed Google Cloud data. They work on aggregated, masked data only; deterministic services, not agents, resolve identity, evaluate eligibility, enforce policy and release patient data. People approve at every gate.</a:t>
            </a:r>
          </a:p>
          <a:p/>
          <a:p>
            <a:r>
              <a:t>WALK IT</a:t>
            </a:r>
          </a:p>
          <a:p>
            <a:r>
              <a:t>- Left: agent sources. Agents read from and write to these systems, always through the tool gateway and never in production. The engineering sources (Jira, Confluence, Salesforce, Git, Copado, Drive) for every pod. For Marketing Cloud pods, governed Google Cloud data: Gold A aggregates and masked views only.</a:t>
            </a:r>
          </a:p>
          <a:p>
            <a:r>
              <a:t>- Middle: the seven delivery agents, then the seven campaign agents:</a:t>
            </a:r>
          </a:p>
          <a:p>
            <a:r>
              <a:t>  Orchestrator (coordinates analysis, approvals and execution), Campaign Strategist (campaign opportunities from Gold A), Audience Analytics (cohorts, overlap and reach as counts), Compliance Guardian (policy risk and evidence; cannot override policy), Campaign Design (platform-ready specs, journeys with Marketing Cloud's native automation), Activation Readiness (tests on test contacts, readiness without raw PHI), Measurement (aggregated outcomes, forecasts, ROI).</a:t>
            </a:r>
          </a:p>
          <a:p>
            <a:r>
              <a:t>- Right: what changes per pod. Health Cloud pods use the delivery agents; Marketing Cloud pods use the delivery and the campaign agents.</a:t>
            </a:r>
          </a:p>
          <a:p>
            <a:r>
              <a:t>- Bottom: two governed paths, with who does each step. Delivery: the Developer Agent builds, the Release Agent moves it through Copado, Review and Test Agents run the quality gates; business users sign UAT and the change board approves at CAB. Campaigns: the Orchestrator takes the prompt, Strategist and Analytics plan on Gold A, Design and Readiness build and test, the SME and tech lead review before send, and the policy service releases.</a:t>
            </a:r>
          </a:p>
          <a:p>
            <a:r>
              <a:t>- The Change Guardian sits with the Architect Agent: it flags any change that affects another pod before anything is built.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The platform, now with the data harness   (about 2 minutes)</a:t>
            </a:r>
          </a:p>
          <a:p/>
          <a:p>
            <a:r>
              <a:t>KEY MESSAGE</a:t>
            </a:r>
          </a:p>
          <a:p>
            <a:r>
              <a:t>Codex is the engine and the harness runs the agents; the Agentic Factory is all of it, harness, data harness, governance and people. For campaigns it adds a masked data context (Gold A), Collibra masking, a Compliance Guardian with a deterministic policy engine, and a masked pre-send review. Agents get the minimum data they need, never raw PHI.</a:t>
            </a:r>
          </a:p>
          <a:p/>
          <a:p>
            <a:r>
              <a:t>WALK IT</a:t>
            </a:r>
          </a:p>
          <a:p>
            <a:r>
              <a:t>- Surface: where people work. Codex (a Jira number for a delivery story, or a campaign prompt), the Salesforce LWC console, the approval page, masked Tableau dashboards and the pre-send report, and Jira.</a:t>
            </a:r>
          </a:p>
          <a:p>
            <a:r>
              <a:t>- Runtime and Registry: unchanged. Durable runs, one agent task per step; tools, skills and templates, now including campaign skills and journey templates.</a:t>
            </a:r>
          </a:p>
          <a:p>
            <a:r>
              <a:t>- Context: the knowledge graph and cited retrieval, plus the data context: Gold A aggregates and masked views.</a:t>
            </a:r>
          </a:p>
          <a:p>
            <a:r>
              <a:t>- Govern: Change Guardian, Model Armor guardrails, identities, human gates, evals and the change passport, plus Collibra masking and DLP, and the Compliance Guardian with the policy engine. Patient data leaves only through the activation gateway.</a:t>
            </a:r>
          </a:p>
          <a:p>
            <a:r>
              <a:t>- Bottom: it all runs on what Ascension already owns, including BigQuery, Collibra, DLP, Tableau and Spanner.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Health Cloud: a story from Codex to production   (about 3 minutes)</a:t>
            </a:r>
          </a:p>
          <a:p/>
          <a:p>
            <a:r>
              <a:t>KEY MESSAGE</a:t>
            </a:r>
          </a:p>
          <a:p>
            <a:r>
              <a:t>For Health Cloud the harness delivers a change, not a campaign, so it needs the engineering context, not patient data. The governed GCP data source is shown grey: it is not used for delivery stories.</a:t>
            </a:r>
          </a:p>
          <a:p/>
          <a:p>
            <a:r>
              <a:t>WALK IT</a:t>
            </a:r>
          </a:p>
          <a:p>
            <a:r>
              <a:t>1 A team member enters NS-1234 in Codex or the Salesforce console: an HFN validation rule for Texas CIN.</a:t>
            </a:r>
          </a:p>
          <a:p>
            <a:r>
              <a:t>2 The Requirements Agent reads Jira and Confluence and the knowledge graph; the product owner approves the brief (H1).</a:t>
            </a:r>
          </a:p>
          <a:p>
            <a:r>
              <a:t>3 The Architect Agent checks what already exists, its impact and its owners; the Change Guardian names affected pods; the architect and pod owners approve (H2).</a:t>
            </a:r>
          </a:p>
          <a:p>
            <a:r>
              <a:t>4 The Developer Agent builds in the DEV sandbox on its own branch.</a:t>
            </a:r>
          </a:p>
          <a:p>
            <a:r>
              <a:t>5 The Review and Test Agents check code, security and sharing, and run the tests. A failed check goes back to the step that caused it: a code defect to the Developer Agent, a design gap to the Architect Agent, a requirement gap to the Requirements Agent. At most five times, then a named owner. The tech lead approves (H3).</a:t>
            </a:r>
          </a:p>
          <a:p>
            <a:r>
              <a:t>6 The Release Agent promotes through Copado to SIT and UAT; business signs UAT (H4); CAB approves; the owning team deploys to production. No agent holds a production credential.</a:t>
            </a:r>
          </a:p>
          <a:p>
            <a:r>
              <a:t>Every step is scored by evals and recorded in the change passport.</a:t>
            </a:r>
          </a:p>
          <a:p>
            <a:r>
              <a:t>BOTTOM ROW: the Change Guardian reviews every pod's metadata for the change and flags anything that would block deployment (a dependency, a conflict with another pod's work, a missing component) before release; people approve at H1-H4 and CAB, as today; the change passport records every step, approval and test.</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 Health Cloud change: ~2 weeks manual vs ~2 days on the Agentic Factory   (about 2 minutes)</a:t>
            </a:r>
          </a:p>
          <a:p/>
          <a:p>
            <a:r>
              <a:t>KEY MESSAGE</a:t>
            </a:r>
          </a:p>
          <a:p>
            <a:r>
              <a:t>A typical Health Cloud task on the Network Services pod takes about two weeks today, from Jira story to UAT sign-off. On the Agentic Factory the same task goes from story to production in about two days. People still approve at every gate.</a:t>
            </a:r>
          </a:p>
          <a:p/>
          <a:p>
            <a:r>
              <a:t>LEFT · TODAY</a:t>
            </a:r>
          </a:p>
          <a:p>
            <a:r>
              <a:t>Nine steps, one hand-off at a time, inside office hours: about 10 working days. About four and a half of them (magenta) go on understanding the story, finding the impact by hand and writing tests by hand: that is what the harness takes out.</a:t>
            </a:r>
          </a:p>
          <a:p/>
          <a:p>
            <a:r>
              <a:t>RIGHT · WITH THE AGENTIC FACTORY</a:t>
            </a:r>
          </a:p>
          <a:p>
            <a:r>
              <a:t>The same seven delivery agents as every pod, with Health Cloud skills; about 26 working hours over two days.</a:t>
            </a:r>
          </a:p>
          <a:p>
            <a:r>
              <a:t>Day 1: the Requirements Agent turns the story into a brief in about 3 hours and the product owner approves (H1); the Architect Agent reads impact and reuse from the knowledge graph in about 5 hours, the Change Guardian names affected pods, and the architect and pod owners approve (H2). The Developer Agent builds in DEV in about 4 hours; the Review and Test Agents check code, security and sharing and run the tests in about 4 hours, and the tech lead approves (H3); the Release Agent promotes through Copado to SIT and UAT in about 2 hours.</a:t>
            </a:r>
          </a:p>
          <a:p>
            <a:r>
              <a:t>Day 2: about 8 hours of business UAT (H4), CAB approval and the owning team's deployment to production.</a:t>
            </a:r>
          </a:p>
          <a:p/>
          <a:p>
            <a:r>
              <a:t>THE NUMBERS</a:t>
            </a:r>
          </a:p>
          <a:p>
            <a:r>
              <a:t>About 80% faster: 10 working days to about 2 days. Already measured with agent-assisted delivery: 1-2 weeks down to 2-4 days. The graph, the agent build and the automated tests take it to about 2 days, story to production: the target, confirmed against the Phase 0 baseline.</a:t>
            </a:r>
          </a:p>
          <a:p/>
          <a:p>
            <a:r>
              <a:t>BE READY FOR</a:t>
            </a:r>
          </a:p>
          <a:p>
            <a:r>
              <a:t>- "Does every task take 2 days?" Small changes take less; large or cross-pod changes take longer because more owners approve.</a:t>
            </a:r>
          </a:p>
          <a:p>
            <a:r>
              <a:t>- "Does CAB meet every day?" Day 2 assumes a CAB slot; otherwise production waits for the next CAB window. The agents never deploy to production.</a:t>
            </a:r>
          </a:p>
          <a:p>
            <a:r>
              <a:t>- "Why only 4 hours to build?" A typical Health Cloud task is a validation rule, a Flow or a small Apex change; the agent builds it with the design already approved and the context from the graph.</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Section: the HIPAA-aligned agentic healthcare campaign platform. The same harness, now for Marketing Cloud campaigns: the data is governed in Google Cloud first, agents plan and build on masked data, and only approved patients are released. It is a proposed target state, piloted first on the CHF post-discharge nudge.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PHI governance: masking is one control, not HIPAA compliance   (about 3 minutes)</a:t>
            </a:r>
          </a:p>
          <a:p/>
          <a:p>
            <a:r>
              <a:t>KEY MESSAGE</a:t>
            </a:r>
          </a:p>
          <a:p>
            <a:r>
              <a:t>The classification-and-approval flow stays: DLP classifies, a Collibra steward approves, policies protect the columns and bindings prove it. But column masking only controls who sees a value. On its own it does not make data de-identified, establish permitted use, isolate tenants, or complete the HIPAA controls, so we add all four.</a:t>
            </a:r>
          </a:p>
          <a:p/>
          <a:p>
            <a:r>
              <a:t>WALK IT</a:t>
            </a:r>
          </a:p>
          <a:p>
            <a:r>
              <a:t>- Top left: today's flow, with its status. DLP and Collibra are upstream, the reviewed table, rollout gate and bindings are built, the tagger and policies are live in DEV. The rejected path is now fail-closed: rejecting a classification never removes existing protection.</a:t>
            </a:r>
          </a:p>
          <a:p>
            <a:r>
              <a:t>- Top right: three different things. Masking hides values from readers without access; the data underneath is still PHI. Tokenization can still be PHI, depending on linkability. Only HIPAA de-identification (Safe Harbor or Expert Determination) can take data out of PHI status.</a:t>
            </a:r>
          </a:p>
          <a:p>
            <a:r>
              <a:t>- Bottom, the four additions:</a:t>
            </a:r>
          </a:p>
          <a:p>
            <a:r>
              <a:t>  1 Safe de-identification: assess agent-facing data under Safe Harbor or Expert Determination; measure re-identification risk at column, row, combination and aggregate level; agents get aggregates by default.</a:t>
            </a:r>
          </a:p>
          <a:p>
            <a:r>
              <a:t>  2 Permitted use: privacy-approved purpose and authorization rules per campaign, as policy-as-code; consent and restrictions checked at release and again at send; the Compliance Passport records it.</a:t>
            </a:r>
          </a:p>
          <a:p>
            <a:r>
              <a:t>  3 Tenant isolation: per-customer projects, datasets, keys and identities; tenant-specific policies, retention and audit; no cross-tenant joins.</a:t>
            </a:r>
          </a:p>
          <a:p>
            <a:r>
              <a:t>  4 Complete HIPAA controls: a compliance control register mapping evidence to the Privacy, Security and Breach Notification Rule safeguards: BAAs, risk analysis, workforce training, access reviews, incident and breach handling.</a:t>
            </a:r>
          </a:p>
          <a:p>
            <a:r>
              <a:t>- Strip: how we prove it works, and a reminder that PROPOSED items are design, not production evidence.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From governed data to a tested, approved campaign   (about 3-4 minutes)</a:t>
            </a:r>
          </a:p>
          <a:p/>
          <a:p>
            <a:r>
              <a:t>OPEN</a:t>
            </a:r>
          </a:p>
          <a:p>
            <a:r>
              <a:t>This one slide is the whole platform. Read it top to bottom: first we govern the data in Google Cloud, then a marketer works with AI agents on masked data, and only at the end are approved patients released to Marketing Cloud. Two lines cross the slide; they are the two rules that keep patients safe.</a:t>
            </a:r>
          </a:p>
          <a:p/>
          <a:p>
            <a:r>
              <a:t>BAND 1 · GOVERN THE DATA IN GOOGLE CLOUD</a:t>
            </a:r>
          </a:p>
          <a:p>
            <a:r>
              <a:t>(1) Sources: Epic, athenahealth, ADSI, Strata, Salesforce, Marketing Cloud engagement. Approved datasets only, not the whole estate.</a:t>
            </a:r>
          </a:p>
          <a:p>
            <a:r>
              <a:t>(2) Governance comes first: before anything lands, a Collibra steward approves each dataset, DLP finds the sensitive columns and policy tags mask the PHI.</a:t>
            </a:r>
          </a:p>
          <a:p>
            <a:r>
              <a:t>(3) Bronze keeps the approved, tagged extracts with lineage, under restricted access; DLP re-scans what lands.</a:t>
            </a:r>
          </a:p>
          <a:p>
            <a:r>
              <a:t>(4) Silver standardizes identities, encounters, contacts and consent evidence. It keeps every patient: eligibility is decided per campaign.</a:t>
            </a:r>
          </a:p>
          <a:p>
            <a:r>
              <a:t>(5) Gold B: identity-linked eligibility inputs, restricted services only. (6) Gold A: protected aggregates (heart, maternity, general and more), the only thing agents use.</a:t>
            </a:r>
          </a:p>
          <a:p>
            <a:r>
              <a:t>This is prepared once and kept fresh, instead of rebuilt for every campaign.</a:t>
            </a:r>
          </a:p>
          <a:p/>
          <a:p>
            <a:r>
              <a:t>LINE 1 · TRUST BOUNDARY</a:t>
            </a:r>
          </a:p>
          <a:p>
            <a:r>
              <a:t>Agents have no access to raw patient data. Only Gold A's protected aggregates cross this line.</a:t>
            </a:r>
          </a:p>
          <a:p/>
          <a:p>
            <a:r>
              <a:t>BAND 2 · PROMPT IN CODEX, PLAN, BUILD + TEST</a:t>
            </a:r>
          </a:p>
          <a:p>
            <a:r>
              <a:t>(7) The marketer types in Codex or a business console: "Build a post-discharge follow-up campaign for heart patients."</a:t>
            </a:r>
          </a:p>
          <a:p>
            <a:r>
              <a:t>(8) Gold A feeds the knowledge graph, and the Orchestrator, Campaign Strategist and Analytics agents read the knowledge graph to size the audience in counts, never names.</a:t>
            </a:r>
          </a:p>
          <a:p>
            <a:r>
              <a:t>(9) G1: the marketer and a clinical reviewer approve the Campaign Opportunity Brief, using masked Tableau dashboards.</a:t>
            </a:r>
          </a:p>
          <a:p>
            <a:r>
              <a:t>(10) The Campaign Design Agent uses Journey Builder to build the journey and data extension, paused.</a:t>
            </a:r>
          </a:p>
          <a:p>
            <a:r>
              <a:t>(11) The Activation Readiness Agent tests with test contacts only, against a catalog of failure modes (consent, STOP, links, quiet hours). Failures go back to 10, at most five times, then to a named owner.</a:t>
            </a:r>
          </a:p>
          <a:p>
            <a:r>
              <a:t>(12) G3: clinical and compliance approve the journey and content when every test passes. It waits, active, with no one in it.</a:t>
            </a:r>
          </a:p>
          <a:p>
            <a:r>
              <a:t>Underneath: the knowledge graph (metadata, never patients), Tableau, the Compliance Guardian, the Measurement Agent and the people who approve.</a:t>
            </a:r>
          </a:p>
          <a:p/>
          <a:p>
            <a:r>
              <a:t>LINE 2 · RECOMMENDATION IS NOT RELEASE</a:t>
            </a:r>
          </a:p>
          <a:p>
            <a:r>
              <a:t>An agent's recommendation is never permission to release data. Everything above is a proposal; release happens only below, through approved services.</a:t>
            </a:r>
          </a:p>
          <a:p/>
          <a:p>
            <a:r>
              <a:t>BAND 3 · RELEASE + SEND</a:t>
            </a:r>
          </a:p>
          <a:p>
            <a:r>
              <a:t>(13) A deterministic eligibility service applies the approved rules to Gold B: no consent, no phone or email, STOP, deceased, duplicates out, each with a reason.</a:t>
            </a:r>
          </a:p>
          <a:p>
            <a:r>
              <a:t>(14) G2: the SME and tech lead review a masked pre-send report. No PHI on screen.</a:t>
            </a:r>
          </a:p>
          <a:p>
            <a:r>
              <a:t>(15) The policy engine and activation gateway check purpose, consent, suppression and minimum fields, record a Compliance Passport, and release only the fields this campaign needs, for this run, time-limited.</a:t>
            </a:r>
          </a:p>
          <a:p>
            <a:r>
              <a:t>(16) Through Data Cloud today, or a direct pull once proven. (17-18) Records land in the data extension and the tested journey starts. (19) Consent, STOP and caps are checked again at send. (20) Measurement against a holdout refreshes Gold A; engagement returns to Bronze.</a:t>
            </a:r>
          </a:p>
          <a:p/>
          <a:p>
            <a:r>
              <a:t>CLOSE</a:t>
            </a:r>
          </a:p>
          <a:p>
            <a:r>
              <a:t>Build and test before data lands, a masked review, minimum fields after two approvals, no raw PHI for agents, steward-approved masking, a retry cap, and re-checks at send: faster campaigns, never the wrong or a no-consent patient.</a:t>
            </a:r>
          </a:p>
          <a:p/>
          <a:p>
            <a:r>
              <a:t>LIKELY QUESTIONS</a:t>
            </a:r>
          </a:p>
          <a:p>
            <a:r>
              <a:t>- Do agents see names? No: Gold A aggregates and counts only. Only the gateway resolves contact details, after G2 and G3.</a:t>
            </a:r>
          </a:p>
          <a:p>
            <a:r>
              <a:t>- Why test first? The data extension starts the journey by itself, so the journey must be ready before records arrive.</a:t>
            </a:r>
          </a:p>
          <a:p>
            <a:r>
              <a:t>- Are we replacing Data Cloud? No: it stays as Path A. Path B only after parity and security sign-off.</a:t>
            </a:r>
          </a:p>
          <a:p>
            <a:r>
              <a:t>- How much faster? No number yet: we measure today's CHF process against a pilot first.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How we build it   (about 2 minutes)</a:t>
            </a:r>
          </a:p>
          <a:p/>
          <a:p>
            <a:r>
              <a:t>KEY MESSAGE</a:t>
            </a:r>
          </a:p>
          <a:p>
            <a:r>
              <a:t>The 1-20 numbers are the order a campaign runs. We build in a different order: every safeguard exists, and release is proven on synthetic data, before any real patient moves.</a:t>
            </a:r>
          </a:p>
          <a:p/>
          <a:p>
            <a:r>
              <a:t>WALK IT</a:t>
            </a:r>
          </a:p>
          <a:p>
            <a:r>
              <a:t>- Phase 0: confirm what is in Google Cloud and who owns it, map today's CHF campaign, check BAAs and licences, and measure today's process as the baseline.</a:t>
            </a:r>
          </a:p>
          <a:p>
            <a:r>
              <a:t>- Phase 1: PHI governance first, box 2: a Collibra steward approves each dataset, DLP classifies and policy tags are set before anything lands in Bronze. Its exit is a hard gate: zero unauthorized PHI access in security tests before any agent connects.</a:t>
            </a:r>
          </a:p>
          <a:p>
            <a:r>
              <a:t>- Phase 2: the data foundation, boxes 1, 3, 4, 5, 6, overlapping Phase 1, synthetic first: approved, tagged sources into Bronze, then Silver and Gold.</a:t>
            </a:r>
          </a:p>
          <a:p>
            <a:r>
              <a:t>- Phase 3: the knowledge graph, Tableau and agents on Gold A, boxes 7-9. It can start on synthetic Gold A while Phase 2 finishes.</a:t>
            </a:r>
          </a:p>
          <a:p>
            <a:r>
              <a:t>- Phase 4: build and test the journey with test contacts only, boxes 10-12.</a:t>
            </a:r>
          </a:p>
          <a:p>
            <a:r>
              <a:t>- Phase 5: governed activation, boxes 13-19: Data Cloud first, the direct path only after parity; a pilot on synthetic data, then a small real audience.</a:t>
            </a:r>
          </a:p>
          <a:p>
            <a:r>
              <a:t>- Phase 6: measurement, box 20, compared with the Phase 0 baseline. Only here do we state speed and ROI numbers; then we scale to more campaigns.</a:t>
            </a:r>
          </a:p>
          <a:p/>
          <a:p>
            <a:r>
              <a:t>THREE RULES</a:t>
            </a:r>
          </a:p>
          <a:p>
            <a:r>
              <a:t>Governance before agents. Build and test before release. Data Cloud before direct.</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Launching a campaign: ~90 days manual vs ~10-12 days on the data harness   (about 2 minutes)</a:t>
            </a:r>
          </a:p>
          <a:p/>
          <a:p>
            <a:r>
              <a:t>KEY MESSAGE</a:t>
            </a:r>
          </a:p>
          <a:p>
            <a:r>
              <a:t>About 40 of today's 90 days go on discovery, data readiness, Data Cloud ingestion and segmentation, repeated for every campaign. The data harness does that work once and keeps it fresh, so a campaign starts from ready, governed data. The campaign agents build and test; people approve; legal review sets the pace.</a:t>
            </a:r>
          </a:p>
          <a:p/>
          <a:p>
            <a:r>
              <a:t>LEFT · TODAY</a:t>
            </a:r>
          </a:p>
          <a:p>
            <a:r>
              <a:t>Nine steps, one after another: discovery and PRD 10 days, ADSI data readiness 10, Data Cloud ingestion 12, segmentation 8, SFMC data prep 8, content and legal 14, journey build 8, testing and UAT 12, deploy 8. The first four (magenta) are what the data harness takes off every campaign.</a:t>
            </a:r>
          </a:p>
          <a:p/>
          <a:p>
            <a:r>
              <a:t>RIGHT · WITH THE DATA HARNESS</a:t>
            </a:r>
          </a:p>
          <a:p>
            <a:r>
              <a:t>Day 0-1 the marketer prompts in Codex; the Orchestrator, Strategist and Analytics agents produce the Campaign Opportunity Brief and people approve it (G1). The data is already ready. Day 1-2 the eligibility service applies the campaign rule. Day 2-4 the Campaign Design Agent builds the journey and data extension while legal reviews the content (days 2-8, the longest step). Day 8-10 the Activation Readiness Agent tests on test contacts and clinical and compliance approve (G3). Day 10-11 the SME and tech lead review the masked pre-send report (G2) and the gateway releases. Day 11-12 the journey goes live, with consent re-checked at send.</a:t>
            </a:r>
          </a:p>
          <a:p/>
          <a:p>
            <a:r>
              <a:t>BE HONEST</a:t>
            </a:r>
          </a:p>
          <a:p>
            <a:r>
              <a:t>Content and legal approval does not shrink much; it becomes the critical path. The ~10-12 days is a pilot target, measured on the CHF campaign against today's baseline.</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Sierra voice agent: accurate answers, safe patient actions   (about 2 minutes)</a:t>
            </a:r>
          </a:p>
          <a:p/>
          <a:p>
            <a:r>
              <a:t>KEY MESSAGE</a:t>
            </a:r>
          </a:p>
          <a:p>
            <a:r>
              <a:t>Sierra answers questions from governed knowledge base articles in Google Cloud, and books, cancels or reschedules only through scoped APIs to the scheduling system of record, after the caller is verified. Patient records never go into the knowledge base.</a:t>
            </a:r>
          </a:p>
          <a:p/>
          <a:p>
            <a:r>
              <a:t>WALK IT</a:t>
            </a:r>
          </a:p>
          <a:p>
            <a:r>
              <a:t>- Left: the caller talks to the Sierra voice agent.</a:t>
            </a:r>
          </a:p>
          <a:p>
            <a:r>
              <a:t>- Top, knowledge path (no PHI): articles live in GCP with an owner, version, review date and approval; DLP and Collibra scan them for PHI; only approved articles are indexed and synced to Sierra when they change.</a:t>
            </a:r>
          </a:p>
          <a:p>
            <a:r>
              <a:t>- Bottom, patient path: first the Patient Identity &amp; Verification Service checks, in seconds, that the caller ID matches the number on file (with carrier and SIM-swap checks) and the date of birth, and issues a short-lived Verified Patient Token; a step-up (app push, SMS code or a person) only when the caller ID does not match or the change is higher risk. Emergencies skip verification and go straight to 911 or the nurse line. Then the Verified Patient Action Engine exposes narrow functions: SearchAvailableSlots and RescheduleAppointment against Epic, the system of record, with the rules enforced; and GetPatientContext, read-only on Gold B, for this caller's campaign status and consent. It never returns a list.</a:t>
            </a:r>
          </a:p>
          <a:p>
            <a:r>
              <a:t>- Right, after every call: hand-off to a person when needed, masked transcripts with retention limits, opt-outs said on the call update the consent of record at once, outcomes go per call into Gold B and as aggregates into Gold A, and test calls before every release.</a:t>
            </a:r>
          </a:p>
          <a:p>
            <a:r>
              <a:t>- The knowledge base uses the same semantic layer and knowledge graph as campaigns, so Sierra and every campaign use one vocabulary for locations, visit types and services.</a:t>
            </a:r>
          </a:p>
          <a:p>
            <a:r>
              <a:t>- Bottom: the seven safeguards.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Platform fit   (about 2-3 minutes)</a:t>
            </a:r>
          </a:p>
          <a:p/>
          <a:p>
            <a:r>
              <a:t>KEY MESSAGE</a:t>
            </a:r>
          </a:p>
          <a:p>
            <a:r>
              <a:t>One factory serves every pod and three jobs: delivery, campaigns and the Sierra voice agent. Each agent is built once, scales across pods without losing accuracy, and stays under the same controls.</a:t>
            </a:r>
          </a:p>
          <a:p/>
          <a:p>
            <a:r>
              <a:t>WALK IT</a:t>
            </a:r>
          </a:p>
          <a:p>
            <a:r>
              <a:t>- Top: one factory, three jobs, sharing the knowledge graph, governance, evals, approvals and the change passport.</a:t>
            </a:r>
          </a:p>
          <a:p>
            <a:r>
              <a:t>- How we build: one definition per agent plus pod skill packs; versioned prompts, skills and model; an eval gate before any new version ships; pods onboard one at a time.</a:t>
            </a:r>
          </a:p>
          <a:p>
            <a:r>
              <a:t>- How it scales (concurrency): each request is its own isolated run; fair share for every pod, a per-pod cap set in config so no pod crowds out another; scales with demand within model and API quotas, sized in the Phase 0 load test; extra requests wait, none are dropped. If asked for numbers: our starting design is a few runs per pod and a few dozen overall, both settings.</a:t>
            </a:r>
          </a:p>
          <a:p>
            <a:r>
              <a:t>- How it stays accurate: cited facts only; the same eval bar for every pod, max 5 retries then an owner; load changes the wait, not the answer, because runs share no memory; measured every run.</a:t>
            </a:r>
          </a:p>
          <a:p>
            <a:r>
              <a:t>- How we protect data (measured): share of sensitive fields classified by DLP and approved in Collibra (target 100% before use); masking policy tags verified against the schema every run, drift flagged; negative-access tests each release prove agent identities cannot read raw PHI (target zero); every PHI access logged, releases reconciled, access reviewed each quarter.</a:t>
            </a:r>
          </a:p>
          <a:p>
            <a:r>
              <a:t>- How we control: no production access, guardrails, people decide at the gates, quotas and a kill switch.</a:t>
            </a:r>
          </a:p>
          <a:p>
            <a:r>
              <a:t>- Bottom: the core benefits beyond cost: consistency, reuse, knowledge kept, quality, auditability, safe by design.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Lean squads and what they save   (about 3 minutes)</a:t>
            </a:r>
          </a:p>
          <a:p/>
          <a:p>
            <a:r>
              <a:t>KEY MESSAGE</a:t>
            </a:r>
          </a:p>
          <a:p>
            <a:r>
              <a:t>Today a squad is 5-7 people. With the factory it is a PM / tech lead, a dev / QA who directs the harness agent and verifies its work, and a PM / TL shared across two or three squads. Across all pods, $16M a year today falls to about $8M at full run rate: about $20M saved over three years.</a:t>
            </a:r>
          </a:p>
          <a:p/>
          <a:p>
            <a:r>
              <a:t>TOP</a:t>
            </a:r>
          </a:p>
          <a:p>
            <a:r>
              <a:t>- Today's squad: PM / outcome owner, tech lead / SEM, 2-3 developers, 1-2 QA.</a:t>
            </a:r>
          </a:p>
          <a:p>
            <a:r>
              <a:t>- With the factory: the PM / tech lead owns the change and approves the code at H3; one dev / QA directs the agent and verifies; one more PM / TL is shared across 2-3 squads. The agent drafts code, tests and the Copado package.</a:t>
            </a:r>
          </a:p>
          <a:p>
            <a:r>
              <a:t>- Why a human still checks quality: the agent writes requirements, code and tests from the same understanding, so a person must confirm we built the right thing, sign UAT, and own it at CAB.</a:t>
            </a:r>
          </a:p>
          <a:p>
            <a:r>
              <a:t>- What changes per pod: Health Cloud pods take a story to UAT in about 2 days instead of about 2 weeks; Marketing Cloud pods build campaigns on governed data that is already ready; the Sierra pod answers from governed articles and books through scoped APIs.</a:t>
            </a:r>
          </a:p>
          <a:p>
            <a:r>
              <a:t>- Build and run: 17 people at peak over 18 months, then a run team of 4.</a:t>
            </a:r>
          </a:p>
          <a:p/>
          <a:p>
            <a:r>
              <a:t>YEARS</a:t>
            </a:r>
          </a:p>
          <a:p>
            <a:r>
              <a:t>Year 1 saves about $4.8M (pods go live through the year), year 2 about $7.2M, year 3 about $8.0M at full run rate.</a:t>
            </a:r>
          </a:p>
          <a:p/>
          <a:p>
            <a:r>
              <a:t>HOW THE NUMBERS ARE BUILT</a:t>
            </a:r>
          </a:p>
          <a:p>
            <a:r>
              <a:t>People cost falls to 40% of today (2.4 of 6 people per squad). Run cost: run team and platform $1.24M a year, plus a model and token allowance of about $0.4M a year, to confirm against Ascension's Codex limits. Ramp 60%, 90%, 100%. All are planning estimates, confirmed against each pod's Phase 0 baseline.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Codex is the single interface for discovery, approvals and continuous activation   (about 3 minutes)</a:t>
            </a:r>
          </a:p>
          <a:p/>
          <a:p>
            <a:r>
              <a:t>KEY MESSAGE</a:t>
            </a:r>
          </a:p>
          <a:p>
            <a:r>
              <a:t>The business user works in one place, Codex. The data is refreshed every day, agents decide what campaign and what cohort from definitions and counts, and engines we build in Google Cloud decide exactly which patients, push the newly eligible to Marketing Cloud every day and take out anyone who no longer qualifies, without a daily approval.</a:t>
            </a:r>
          </a:p>
          <a:p/>
          <a:p>
            <a:r>
              <a:t>WALK IT</a:t>
            </a:r>
          </a:p>
          <a:p>
            <a:r>
              <a:t>1 Governed intelligence, left: authoritative sources refresh daily or by streaming; a Collibra steward approves each dataset, SDP (Sensitive Data Protection, formerly DLP) classifies the PHI and the policy tags are set before ingest; Bronze, then Silver resolves identity (EUID) and holds the consent of record; Gold A (insight, aggregates for agents) and the restricted patient layer (patients, for the engines only); the semantic layer (Kyvos or built in-house) and the Spanner knowledge graph, with no patient nodes, read Gold A.</a:t>
            </a:r>
          </a:p>
          <a:p>
            <a:r>
              <a:t>2 Codex, middle: the goal; the cohort JSON with its refresh policy, approved at G1; the journey built and tested on test contacts, approved at G3; the first run's counts, approved at G2; then ongoing status. Approvals come from the approval service with named roles.</a:t>
            </a:r>
          </a:p>
          <a:p>
            <a:r>
              <a:t>3 Cohort resolution and activation, right (steps 3.1 to 3.6): the Cohort Resolution Engine checks the JSON and token and builds a controlled query; the patient query finds the matching patients inside the protected boundary; eligibility checks apply consent, STOP, suppression, deceased, duplicates and contactability; a summary with no PHI goes back to Codex; after G2 the Campaign Activation Engine checks the G2 token, purpose, rule version and fields, unmasks only the minimum fields for this run, and loads the Marketing Cloud data extension.</a:t>
            </a:r>
          </a:p>
          <a:p>
            <a:r>
              <a:t>4 Continuous cohort refresh (steps 4.1 to 4.4): every day the data refreshes and its freshness is checked; the refresh trigger runs after it, or skips the run if the data is stale; the incremental resolver applies the approved rule to new and changed patients and re-checks consent; delta activation adds the newly eligible and exit sync removes anyone who opted out, died or no longer qualifies. Each run's results show in Codex.</a:t>
            </a:r>
          </a:p>
          <a:p>
            <a:r>
              <a:t>Marketing Cloud execution, bottom strip, left to right: the data is ready (approved patients only, with a pseudonymous contact key); it loads by REST API or SFTP into a data extension or Data Cloud; the journey is built in Journey Builder with entry, exit and goal rules; it uses approved content with no PHI in the text or links; the journey triggers the send, and an opt-out received in Marketing Cloud stops at once; outcomes return to Google Cloud for measurement. Consent is not decided in Marketing Cloud: it is applied upstream by the eligibility checks (3.3) and re-checked every day (4.3). Re-approval only when the cohort logic, purpose, fields, destination, consent policy, a semantic definition or the campaign status changes, or the approval expires.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Gold B, patients we cannot contact yet   (about 2 minutes)</a:t>
            </a:r>
          </a:p>
          <a:p/>
          <a:p>
            <a:r>
              <a:t>KEY MESSAGE</a:t>
            </a:r>
          </a:p>
          <a:p>
            <a:r>
              <a:t>Gold B holds the patients who have not given consent or whose information is incomplete. They stay restricted; we invite those we are allowed to ask to give consent or complete their details. When they opt in, they move to Gold A. Explicit opt-outs, STOP and deceased patients are never asked again.</a:t>
            </a:r>
          </a:p>
          <a:p/>
          <a:p>
            <a:r>
              <a:t>WALK IT</a:t>
            </a:r>
          </a:p>
          <a:p>
            <a:r>
              <a:t>- Top: Silver resolves identity and consent; patients without consent or with missing information land in Gold B. The Cohort Resolution Engine separates explicit opt-outs (never asked) from patients we may ask (consent unknown, details missing). After the masked G2 summary is approved, the Activation Engine unmasks only the minimum fields needed, for this run, and sends an update request through a permitted channel. Engagement decides the branch: opted in goes to Gold A; not opted in or still missing stays in Gold B.</a:t>
            </a:r>
          </a:p>
          <a:p>
            <a:r>
              <a:t>- Left, what is in it: the patient key, consent status, the missing information, the contact points we do have, the never-contact exclusions, preferences, and the history of requests.</a:t>
            </a:r>
          </a:p>
          <a:p>
            <a:r>
              <a:t>- Middle, who can read it: the two engines, for an approved run only; the Sierra voice agent for one verified caller. Agents, Codex, the semantic layer and the knowledge graph never; people see the masked G2 summary.</a:t>
            </a:r>
          </a:p>
          <a:p>
            <a:r>
              <a:t>- Right, what we can do with it: find who may be asked, never re-ask opt-outs, approve on counts, send the request, write the answers back to Epic and the consent system, and move consented patients to Gold A at the next refresh.</a:t>
            </a:r>
          </a:p>
          <a:p>
            <a:r>
              <a:t>- Bottom: the controls on Gold B.</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what happens behind "create a campaign" in Codex   (about 2 minutes)</a:t>
            </a:r>
          </a:p>
          <a:p/>
          <a:p>
            <a:r>
              <a:t>KEY MESSAGE</a:t>
            </a:r>
          </a:p>
          <a:p>
            <a:r>
              <a:t>Agents work only with definitions and counts. Patient-level data moves only through deterministic services, and only after people approve.</a:t>
            </a:r>
          </a:p>
          <a:p/>
          <a:p>
            <a:r>
              <a:t>WALK IT (top to bottom)</a:t>
            </a:r>
          </a:p>
          <a:p>
            <a:r>
              <a:t>0 Before any request, Gold A keeps the knowledge graph current with aggregates and definitions only: what the data means and how much there is, never who the patients are. Masked Gold A rows are still PHI, so they stay in BigQuery.</a:t>
            </a:r>
          </a:p>
          <a:p>
            <a:r>
              <a:t>1 The marketer asks in Codex. 2-3 The agents ask the knowledge graph what a heart-failure patient is; the semantic layer answers with the definition, the Gold A table and the consent rule, each cited. 4-5 They count the cohort in Gold A; masked views return counts, never names. 6 The Opportunity Brief and a masked Tableau dashboard go to people, who approve it (G1).</a:t>
            </a:r>
          </a:p>
          <a:p>
            <a:r>
              <a:t>7-8 The Campaign Design Agent builds the journey and data extension, paused, and the Readiness Agent tests on test contacts; clinical and compliance approve (G3).</a:t>
            </a:r>
          </a:p>
          <a:p>
            <a:r>
              <a:t>9-11 The eligibility service, not an agent, applies the rule to the opted-in patient records in Gold A (consent, contact, STOP, deceased, duplicates). Anyone with no consent or missing information goes to Gold B, where an update request can invite them to opt in. A masked pre-send report goes to the SME and tech lead, who approve (G2).</a:t>
            </a:r>
          </a:p>
          <a:p>
            <a:r>
              <a:t>12-13 Only then does the activation engine check the policy, unmask only the minimum fields for the eligible patients, and release them, time-limited, to Marketing Cloud. 14 The journey sends, with consent re-checked at send. 15 Results come back as aggregates.</a:t>
            </a:r>
          </a:p>
          <a:p/>
          <a:p>
            <a:r>
              <a:t>BEFORE ANY REQUEST</a:t>
            </a:r>
          </a:p>
          <a:p>
            <a:r>
              <a:t>The data harness keeps Sources, Bronze and Silver current in Google Cloud; consented patients land in Gold A, and patients with no consent or missing information land in Gold B. DLP classifies and a Collibra steward approves the masking.</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a patient calls about a booked appointment   (about 2 minutes)</a:t>
            </a:r>
          </a:p>
          <a:p/>
          <a:p>
            <a:r>
              <a:t>KEY MESSAGE</a:t>
            </a:r>
          </a:p>
          <a:p>
            <a:r>
              <a:t>Knowledge is shared across agents; patient-level transactions are not. Sierra answers general questions from shared, governed knowledge, and acts for a patient only through the Verified Patient Action Engine, after a check that takes seconds. Emergencies never wait for a check.</a:t>
            </a:r>
          </a:p>
          <a:p/>
          <a:p>
            <a:r>
              <a:t>WALK IT (top to bottom)</a:t>
            </a:r>
          </a:p>
          <a:p>
            <a:r>
              <a:t>Emergency: words such as chest pain or can't breathe send the caller straight to 911 or the nurse line. No PHI is needed, so nothing is verified.</a:t>
            </a:r>
          </a:p>
          <a:p>
            <a:r>
              <a:t>1-3 The patient asks about their next cardiology appointment. The Patient Identity &amp; Verification Service checks that the caller ID matches the number on file, with carrier and SIM-swap checks, and the spoken date of birth, and issues a short-lived Verified Patient Token in seconds. No SMS wait.</a:t>
            </a:r>
          </a:p>
          <a:p>
            <a:r>
              <a:t>4-8 With the token, the Verified Patient Action Engine calls GetNextAppointment against Epic and returns the minimum fields; Sierra answers.</a:t>
            </a:r>
          </a:p>
          <a:p>
            <a:r>
              <a:t>9-12 The patient asks to move it; SearchAvailableSlots returns Friday's live availability with the rules applied; Sierra offers 10:00 and 2:30.</a:t>
            </a:r>
          </a:p>
          <a:p>
            <a:r>
              <a:t>13-16 The patient picks 2:30; RescheduleAppointment writes it to Epic; Sierra confirms and a confirmation text is sent.</a:t>
            </a:r>
          </a:p>
          <a:p>
            <a:r>
              <a:t>17 Preparation advice comes from an approved article in the shared knowledge, with no PHI.</a:t>
            </a:r>
          </a:p>
          <a:p>
            <a:r>
              <a:t>Step-up or hand-off: an app push, SMS code or a person only when the caller ID does not match, the change is higher risk (for example new contact details), or the question is clinical.</a:t>
            </a:r>
          </a:p>
          <a:p>
            <a:r>
              <a:t>18 After the call the outcome goes into Gold B for this patient and into Gold A as aggregates; the transcript is masked before any analytics.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000000"/>
                </a:solidFill>
                <a:latin typeface="Trenda IG Text"/>
              </a:rPr>
              <a:t>‹#›</a:t>
            </a:fld>
            <a:endParaRPr lang="en-US" sz="8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lor Title_1">
    <p:bg>
      <p:bgPr>
        <a:solidFill>
          <a:schemeClr val="tx1"/>
        </a:solidFill>
        <a:effectLst/>
      </p:bgPr>
    </p:bg>
    <p:spTree>
      <p:nvGrpSpPr>
        <p:cNvPr id="1" name=""/>
        <p:cNvGrpSpPr/>
        <p:nvPr/>
      </p:nvGrpSpPr>
      <p:grpSpPr>
        <a:xfrm>
          <a:off x="0" y="0"/>
          <a:ext cx="0" cy="0"/>
          <a:chOff x="0" y="0"/>
          <a:chExt cx="0" cy="0"/>
        </a:xfrm>
      </p:grpSpPr>
      <p:pic>
        <p:nvPicPr>
          <p:cNvPr id="17" name="Picture 16" descr="A black background with green and red light&#10;&#10;AI-generated content may be incorrect.">
            <a:extLst>
              <a:ext uri="{FF2B5EF4-FFF2-40B4-BE49-F238E27FC236}">
                <a16:creationId xmlns:a16="http://schemas.microsoft.com/office/drawing/2014/main" id="{FA43BFA5-6845-2522-F411-9ACA730EF22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DA74FCF5-3999-08E6-D3A6-80B33E570B1C}"/>
              </a:ext>
            </a:extLst>
          </p:cNvPr>
          <p:cNvSpPr>
            <a:spLocks noGrp="1"/>
          </p:cNvSpPr>
          <p:nvPr>
            <p:ph type="ctrTitle" hasCustomPrompt="1"/>
          </p:nvPr>
        </p:nvSpPr>
        <p:spPr>
          <a:xfrm>
            <a:off x="1524000" y="2456543"/>
            <a:ext cx="9144000" cy="1944914"/>
          </a:xfrm>
          <a:prstGeom prst="rect">
            <a:avLst/>
          </a:prstGeom>
        </p:spPr>
        <p:txBody>
          <a:bodyPr anchor="ctr">
            <a:normAutofit/>
          </a:bodyPr>
          <a:lstStyle>
            <a:lvl1pPr algn="ctr">
              <a:defRPr sz="3600" b="0" i="0" spc="300" baseline="0">
                <a:solidFill>
                  <a:schemeClr val="bg1"/>
                </a:solidFill>
                <a:latin typeface="Trenda IG Text Light" pitchFamily="2" charset="77"/>
              </a:defRPr>
            </a:lvl1pPr>
          </a:lstStyle>
          <a:p>
            <a:r>
              <a:rPr lang="en-US"/>
              <a:t>PRESENTATION TITLE</a:t>
            </a:r>
          </a:p>
        </p:txBody>
      </p:sp>
      <p:sp>
        <p:nvSpPr>
          <p:cNvPr id="29" name="Text Placeholder 22">
            <a:extLst>
              <a:ext uri="{FF2B5EF4-FFF2-40B4-BE49-F238E27FC236}">
                <a16:creationId xmlns:a16="http://schemas.microsoft.com/office/drawing/2014/main" id="{64EA0AE4-7153-AFD1-6C6D-3F14EFEBB2F1}"/>
              </a:ext>
            </a:extLst>
          </p:cNvPr>
          <p:cNvSpPr>
            <a:spLocks noGrp="1"/>
          </p:cNvSpPr>
          <p:nvPr>
            <p:ph type="body" sz="quarter" idx="10" hasCustomPrompt="1"/>
          </p:nvPr>
        </p:nvSpPr>
        <p:spPr>
          <a:xfrm>
            <a:off x="4446587" y="6170595"/>
            <a:ext cx="3298825" cy="250825"/>
          </a:xfrm>
        </p:spPr>
        <p:txBody>
          <a:bodyPr/>
          <a:lstStyle>
            <a:lvl1pPr algn="ctr">
              <a:lnSpc>
                <a:spcPct val="100000"/>
              </a:lnSpc>
              <a:buNone/>
              <a:defRPr kumimoji="0" lang="en-US" sz="1200" b="1" i="0" u="none" strike="noStrike" kern="0" cap="all" spc="300" normalizeH="0" baseline="0" dirty="0">
                <a:ln>
                  <a:noFill/>
                </a:ln>
                <a:solidFill>
                  <a:srgbClr val="FFFFFF"/>
                </a:solidFill>
                <a:effectLst/>
                <a:uLnTx/>
                <a:uFillTx/>
                <a:latin typeface="Trenda IG Text Semibold" pitchFamily="2" charset="77"/>
                <a:ea typeface="Trenda IG Text Semibold" pitchFamily="2" charset="77"/>
                <a:cs typeface="Trenda IG Text Semibold" pitchFamily="2" charset="77"/>
                <a:sym typeface="Trenda IG Display Bold"/>
              </a:defRPr>
            </a:lvl1pPr>
            <a:lvl2pPr>
              <a:buNone/>
              <a:defRPr>
                <a:solidFill>
                  <a:schemeClr val="bg1"/>
                </a:solidFill>
              </a:defRPr>
            </a:lvl2pPr>
            <a:lvl3pPr>
              <a:buNone/>
              <a:defRPr>
                <a:solidFill>
                  <a:schemeClr val="bg1"/>
                </a:solidFill>
              </a:defRPr>
            </a:lvl3pPr>
            <a:lvl4pPr>
              <a:buNone/>
              <a:defRPr>
                <a:solidFill>
                  <a:schemeClr val="bg1"/>
                </a:solidFill>
              </a:defRPr>
            </a:lvl4pPr>
            <a:lvl5pPr>
              <a:buNone/>
              <a:defRPr>
                <a:solidFill>
                  <a:schemeClr val="bg1"/>
                </a:solidFill>
              </a:defRPr>
            </a:lvl5pPr>
          </a:lstStyle>
          <a:p>
            <a:pPr marL="0" marR="0" lvl="0" indent="0" algn="ctr" defTabSz="412740" rtl="0" eaLnBrk="1" fontAlgn="auto" latinLnBrk="0" hangingPunct="1">
              <a:lnSpc>
                <a:spcPct val="100000"/>
              </a:lnSpc>
              <a:spcBef>
                <a:spcPts val="0"/>
              </a:spcBef>
              <a:spcAft>
                <a:spcPts val="0"/>
              </a:spcAft>
              <a:buClrTx/>
              <a:buSzTx/>
              <a:buFontTx/>
              <a:buNone/>
              <a:tabLst/>
              <a:defRPr/>
            </a:pPr>
            <a:r>
              <a:rPr lang="en-US"/>
              <a:t>00.00.00</a:t>
            </a:r>
          </a:p>
        </p:txBody>
      </p:sp>
      <p:pic>
        <p:nvPicPr>
          <p:cNvPr id="3" name="object 5">
            <a:extLst>
              <a:ext uri="{FF2B5EF4-FFF2-40B4-BE49-F238E27FC236}">
                <a16:creationId xmlns:a16="http://schemas.microsoft.com/office/drawing/2014/main" id="{961F5476-B85D-C3D6-D32E-C43548C30FB4}"/>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087102" y="624974"/>
            <a:ext cx="2017796" cy="594226"/>
          </a:xfrm>
          <a:prstGeom prst="rect">
            <a:avLst/>
          </a:prstGeom>
        </p:spPr>
      </p:pic>
    </p:spTree>
    <p:extLst>
      <p:ext uri="{BB962C8B-B14F-4D97-AF65-F5344CB8AC3E}">
        <p14:creationId xmlns:p14="http://schemas.microsoft.com/office/powerpoint/2010/main" val="1199949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Closer_1">
    <p:bg>
      <p:bgPr>
        <a:solidFill>
          <a:srgbClr val="000000"/>
        </a:solidFill>
        <a:effectLst/>
      </p:bgPr>
    </p:bg>
    <p:spTree>
      <p:nvGrpSpPr>
        <p:cNvPr id="1" name=""/>
        <p:cNvGrpSpPr/>
        <p:nvPr/>
      </p:nvGrpSpPr>
      <p:grpSpPr>
        <a:xfrm>
          <a:off x="0" y="0"/>
          <a:ext cx="0" cy="0"/>
          <a:chOff x="0" y="0"/>
          <a:chExt cx="0" cy="0"/>
        </a:xfrm>
      </p:grpSpPr>
      <p:pic>
        <p:nvPicPr>
          <p:cNvPr id="2" name="Picture 1" descr="A picture containing colorfulness, sphere, circle&#10;&#10;Description automatically generated">
            <a:extLst>
              <a:ext uri="{FF2B5EF4-FFF2-40B4-BE49-F238E27FC236}">
                <a16:creationId xmlns:a16="http://schemas.microsoft.com/office/drawing/2014/main" id="{3F2261EA-3E40-78E8-6DB9-2CF8330EA71E}"/>
              </a:ext>
            </a:extLst>
          </p:cNvPr>
          <p:cNvPicPr>
            <a:picLocks noChangeAspect="1"/>
          </p:cNvPicPr>
          <p:nvPr userDrawn="1"/>
        </p:nvPicPr>
        <p:blipFill rotWithShape="1">
          <a:blip r:embed="rId2" cstate="screen">
            <a:alphaModFix amt="57000"/>
            <a:extLst>
              <a:ext uri="{28A0092B-C50C-407E-A947-70E740481C1C}">
                <a14:useLocalDpi xmlns:a14="http://schemas.microsoft.com/office/drawing/2010/main"/>
              </a:ext>
            </a:extLst>
          </a:blip>
          <a:srcRect l="10687" t="15629" r="10376" b="16259"/>
          <a:stretch/>
        </p:blipFill>
        <p:spPr>
          <a:xfrm>
            <a:off x="1893905" y="837211"/>
            <a:ext cx="8404189" cy="4740230"/>
          </a:xfrm>
          <a:prstGeom prst="rect">
            <a:avLst/>
          </a:prstGeom>
        </p:spPr>
      </p:pic>
      <p:sp>
        <p:nvSpPr>
          <p:cNvPr id="9" name="Title 1">
            <a:extLst>
              <a:ext uri="{FF2B5EF4-FFF2-40B4-BE49-F238E27FC236}">
                <a16:creationId xmlns:a16="http://schemas.microsoft.com/office/drawing/2014/main" id="{36A57205-F056-11EF-D0BE-E6A9D06890F5}"/>
              </a:ext>
            </a:extLst>
          </p:cNvPr>
          <p:cNvSpPr txBox="1">
            <a:spLocks/>
          </p:cNvSpPr>
          <p:nvPr userDrawn="1"/>
        </p:nvSpPr>
        <p:spPr>
          <a:xfrm>
            <a:off x="1524000" y="2234869"/>
            <a:ext cx="9144000" cy="1944914"/>
          </a:xfrm>
          <a:prstGeom prst="rect">
            <a:avLst/>
          </a:prstGeom>
        </p:spPr>
        <p:txBody>
          <a:bodyPr vert="horz" lIns="0" tIns="45720" rIns="91440" bIns="45720" rtlCol="0" anchor="ctr">
            <a:normAutofit/>
          </a:bodyPr>
          <a:lstStyle>
            <a:lvl1pPr algn="ctr" defTabSz="914400" rtl="0" eaLnBrk="1" latinLnBrk="0" hangingPunct="1">
              <a:lnSpc>
                <a:spcPct val="90000"/>
              </a:lnSpc>
              <a:spcBef>
                <a:spcPct val="0"/>
              </a:spcBef>
              <a:buNone/>
              <a:defRPr sz="3600" b="0" i="0" kern="1200" spc="300" baseline="0">
                <a:solidFill>
                  <a:schemeClr val="bg1"/>
                </a:solidFill>
                <a:latin typeface="Trenda IG Text Light" pitchFamily="2" charset="77"/>
                <a:ea typeface="+mj-ea"/>
                <a:cs typeface="+mj-cs"/>
              </a:defRPr>
            </a:lvl1pPr>
          </a:lstStyle>
          <a:p>
            <a:r>
              <a:rPr lang="en-US"/>
              <a:t>THANK YOU</a:t>
            </a:r>
          </a:p>
        </p:txBody>
      </p:sp>
      <p:pic>
        <p:nvPicPr>
          <p:cNvPr id="7" name="object 5">
            <a:extLst>
              <a:ext uri="{FF2B5EF4-FFF2-40B4-BE49-F238E27FC236}">
                <a16:creationId xmlns:a16="http://schemas.microsoft.com/office/drawing/2014/main" id="{B82254D8-1D0C-539A-8106-CE7E82B8B278}"/>
              </a:ext>
            </a:extLst>
          </p:cNvPr>
          <p:cNvPicPr/>
          <p:nvPr userDrawn="1"/>
        </p:nvPicPr>
        <p:blipFill>
          <a:blip r:embed="rId3" cstate="screen">
            <a:extLst>
              <a:ext uri="{28A0092B-C50C-407E-A947-70E740481C1C}">
                <a14:useLocalDpi xmlns:a14="http://schemas.microsoft.com/office/drawing/2010/main"/>
              </a:ext>
            </a:extLst>
          </a:blip>
          <a:srcRect r="8525"/>
          <a:stretch>
            <a:fillRect/>
          </a:stretch>
        </p:blipFill>
        <p:spPr>
          <a:xfrm>
            <a:off x="5454391" y="6082846"/>
            <a:ext cx="1283218" cy="377898"/>
          </a:xfrm>
          <a:prstGeom prst="rect">
            <a:avLst/>
          </a:prstGeom>
        </p:spPr>
      </p:pic>
    </p:spTree>
    <p:extLst>
      <p:ext uri="{BB962C8B-B14F-4D97-AF65-F5344CB8AC3E}">
        <p14:creationId xmlns:p14="http://schemas.microsoft.com/office/powerpoint/2010/main" val="3921798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DEFAULT DARK">
    <p:bg>
      <p:bgRef idx="1001">
        <a:schemeClr val="bg1"/>
      </p:bgRef>
    </p:bg>
    <p:spTree>
      <p:nvGrpSpPr>
        <p:cNvPr id="1" name=""/>
        <p:cNvGrpSpPr/>
        <p:nvPr/>
      </p:nvGrpSpPr>
      <p:grpSpPr>
        <a:xfrm>
          <a:off x="0" y="0"/>
          <a:ext cx="0" cy="0"/>
          <a:chOff x="0" y="0"/>
          <a:chExt cx="0" cy="0"/>
        </a:xfrm>
      </p:grpSpPr>
      <p:pic>
        <p:nvPicPr>
          <p:cNvPr id="900" name="IG Footer Mark" descr="Insight Global"/>
          <p:cNvPicPr>
            <a:picLocks noChangeAspect="1"/>
          </p:cNvPicPr>
          <p:nvPr userDrawn="1"/>
        </p:nvPicPr>
        <p:blipFill>
          <a:blip r:embed="rId2"/>
          <a:stretch>
            <a:fillRect/>
          </a:stretch>
        </p:blipFill>
        <p:spPr>
          <a:xfrm>
            <a:off x="502920" y="6428232"/>
            <a:ext cx="496062" cy="103601"/>
          </a:xfrm>
          <a:prstGeom prst="rect">
            <a:avLst/>
          </a:prstGeom>
        </p:spPr>
      </p:pic>
      <p:sp>
        <p:nvSpPr>
          <p:cNvPr id="901" name="IG Footer Page Number"/>
          <p:cNvSpPr txBox="1"/>
          <p:nvPr userDrawn="1"/>
        </p:nvSpPr>
        <p:spPr>
          <a:xfrm>
            <a:off x="11228832" y="6428232"/>
            <a:ext cx="475488" cy="103601"/>
          </a:xfrm>
          <a:prstGeom prst="rect">
            <a:avLst/>
          </a:prstGeom>
          <a:noFill/>
        </p:spPr>
        <p:txBody>
          <a:bodyPr wrap="none" lIns="0" tIns="0" rIns="0" bIns="0" anchor="ctr"/>
          <a:lstStyle/>
          <a:p>
            <a:pPr algn="r"/>
            <a:fld id="{5C1D3A57-8D5C-4E4B-9A43-7B1E2F0A9C11}" type="slidenum">
              <a:rPr lang="en-US" sz="800">
                <a:solidFill>
                  <a:srgbClr val="FFFFFF"/>
                </a:solidFill>
                <a:latin typeface="Trenda IG Text"/>
              </a:rPr>
              <a:t>‹#›</a:t>
            </a:fld>
            <a:endParaRPr lang="en-US" sz="800"/>
          </a:p>
        </p:txBody>
      </p:sp>
    </p:spTree>
    <p:extLst>
      <p:ext uri="{BB962C8B-B14F-4D97-AF65-F5344CB8AC3E}">
        <p14:creationId xmlns:p14="http://schemas.microsoft.com/office/powerpoint/2010/main" val="9080131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676595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6263902"/>
      </p:ext>
    </p:extLst>
  </p:cSld>
  <p:clrMap bg1="lt1" tx1="dk1" bg2="lt2" tx2="dk2" accent1="accent1" accent2="accent2" accent3="accent3" accent4="accent4" accent5="accent5" accent6="accent6" hlink="hlink" folHlink="folHlink"/>
  <p:sldLayoutIdLst>
    <p:sldLayoutId id="2147483654"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9.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7.png"/><Relationship Id="rId8" Type="http://schemas.openxmlformats.org/officeDocument/2006/relationships/image" Target="../media/image10.png"/><Relationship Id="rId9" Type="http://schemas.openxmlformats.org/officeDocument/2006/relationships/image" Target="../media/image17.png"/><Relationship Id="rId10" Type="http://schemas.openxmlformats.org/officeDocument/2006/relationships/image" Target="../media/image12.png"/><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8.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9.png"/><Relationship Id="rId8" Type="http://schemas.openxmlformats.org/officeDocument/2006/relationships/image" Target="../media/image16.png"/><Relationship Id="rId9" Type="http://schemas.openxmlformats.org/officeDocument/2006/relationships/image" Target="../media/image9.png"/><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2.png"/><Relationship Id="rId4" Type="http://schemas.openxmlformats.org/officeDocument/2006/relationships/image" Target="../media/image17.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image" Target="../media/image9.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19.png"/><Relationship Id="rId6" Type="http://schemas.openxmlformats.org/officeDocument/2006/relationships/image" Target="../media/image12.png"/><Relationship Id="rId7" Type="http://schemas.openxmlformats.org/officeDocument/2006/relationships/image" Target="../media/image9.png"/><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image" Target="../media/image17.png"/><Relationship Id="rId5"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hape 1"/>
          <p:cNvSpPr/>
          <p:nvPr/>
        </p:nvSpPr>
        <p:spPr>
          <a:xfrm>
            <a:off x="822960" y="1965960"/>
            <a:ext cx="1645920" cy="731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2"/>
          <p:cNvSpPr txBox="1"/>
          <p:nvPr/>
        </p:nvSpPr>
        <p:spPr>
          <a:xfrm>
            <a:off x="822960" y="2194560"/>
            <a:ext cx="10515600" cy="329184"/>
          </a:xfrm>
          <a:prstGeom prst="rect">
            <a:avLst/>
          </a:prstGeom>
          <a:noFill/>
        </p:spPr>
        <p:txBody>
          <a:bodyPr wrap="square" lIns="0" rIns="0" tIns="0" bIns="0" anchor="ctr">
            <a:spAutoFit/>
          </a:bodyPr>
          <a:lstStyle/>
          <a:p>
            <a:r>
              <a:rPr sz="1200" b="1" i="0" spc="300">
                <a:solidFill>
                  <a:srgbClr val="0089A0"/>
                </a:solidFill>
                <a:latin typeface="Trenda IG Text"/>
              </a:rPr>
              <a:t>AGENTS FOR DELIVERY AND DATA</a:t>
            </a:r>
          </a:p>
        </p:txBody>
      </p:sp>
      <p:sp>
        <p:nvSpPr>
          <p:cNvPr id="4" name="Text 3"/>
          <p:cNvSpPr txBox="1"/>
          <p:nvPr/>
        </p:nvSpPr>
        <p:spPr>
          <a:xfrm>
            <a:off x="822960" y="2606040"/>
            <a:ext cx="10515600" cy="1371600"/>
          </a:xfrm>
          <a:prstGeom prst="rect">
            <a:avLst/>
          </a:prstGeom>
          <a:noFill/>
        </p:spPr>
        <p:txBody>
          <a:bodyPr wrap="square" lIns="0" rIns="0" tIns="0" bIns="0" anchor="t">
            <a:spAutoFit/>
          </a:bodyPr>
          <a:lstStyle/>
          <a:p>
            <a:pPr>
              <a:lnSpc>
                <a:spcPct val="95000"/>
              </a:lnSpc>
            </a:pPr>
            <a:r>
              <a:rPr sz="4000" b="1" i="0">
                <a:solidFill>
                  <a:srgbClr val="1A1A1A"/>
                </a:solidFill>
                <a:latin typeface="Trenda IG Text"/>
              </a:rPr>
              <a:t>Ascension Agentic Factory</a:t>
            </a:r>
          </a:p>
        </p:txBody>
      </p:sp>
      <p:sp>
        <p:nvSpPr>
          <p:cNvPr id="5" name="Text 4"/>
          <p:cNvSpPr txBox="1"/>
          <p:nvPr/>
        </p:nvSpPr>
        <p:spPr>
          <a:xfrm>
            <a:off x="822960" y="4069080"/>
            <a:ext cx="8686800" cy="731520"/>
          </a:xfrm>
          <a:prstGeom prst="rect">
            <a:avLst/>
          </a:prstGeom>
          <a:noFill/>
        </p:spPr>
        <p:txBody>
          <a:bodyPr wrap="square" lIns="0" rIns="0" tIns="0" bIns="0" anchor="t">
            <a:spAutoFit/>
          </a:bodyPr>
          <a:lstStyle/>
          <a:p>
            <a:r>
              <a:rPr sz="1500" b="0" i="0">
                <a:solidFill>
                  <a:srgbClr val="555555"/>
                </a:solidFill>
                <a:latin typeface="Trenda IG Text"/>
              </a:rPr>
              <a:t>One factory, two jobs: Health Cloud delivery from Codex, and Marketing Cloud campaigns on governed, masked Google Cloud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1A1A1A"/>
                </a:solidFill>
                <a:latin typeface="Trenda IG Text"/>
              </a:rPr>
              <a:t>ASCENSION AGENTIC FACTORY · AGENT TEAM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One agent team: seven delivery agents and seven campaign agents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Delivery agents build and release changes for every pod. Campaign agents plan, design and test on masked data; deterministic services release patients. People approve at every gate.</a:t>
            </a:r>
          </a:p>
        </p:txBody>
      </p:sp>
      <p:sp>
        <p:nvSpPr>
          <p:cNvPr id="5" name="Shape 4"/>
          <p:cNvSpPr/>
          <p:nvPr/>
        </p:nvSpPr>
        <p:spPr>
          <a:xfrm>
            <a:off x="411480" y="1170432"/>
            <a:ext cx="251460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02920" y="1170432"/>
            <a:ext cx="2331720" cy="274320"/>
          </a:xfrm>
          <a:prstGeom prst="rect">
            <a:avLst/>
          </a:prstGeom>
          <a:noFill/>
        </p:spPr>
        <p:txBody>
          <a:bodyPr wrap="square" lIns="0" rIns="0" tIns="0" bIns="0" anchor="ctr">
            <a:spAutoFit/>
          </a:bodyPr>
          <a:lstStyle/>
          <a:p>
            <a:r>
              <a:rPr sz="700" b="1" i="0" spc="150">
                <a:solidFill>
                  <a:srgbClr val="1A1A1A"/>
                </a:solidFill>
                <a:latin typeface="Trenda IG Text"/>
              </a:rPr>
              <a:t>AGENT SOURCES</a:t>
            </a:r>
            <a:r>
              <a:rPr sz="700" b="0" i="0">
                <a:solidFill>
                  <a:srgbClr val="1A1A1A"/>
                </a:solidFill>
                <a:latin typeface="Trenda IG Text"/>
              </a:rPr>
              <a:t>   read + write via the gateway</a:t>
            </a:r>
          </a:p>
        </p:txBody>
      </p:sp>
      <p:sp>
        <p:nvSpPr>
          <p:cNvPr id="7" name="Shape 6"/>
          <p:cNvSpPr/>
          <p:nvPr/>
        </p:nvSpPr>
        <p:spPr>
          <a:xfrm>
            <a:off x="411480" y="1444752"/>
            <a:ext cx="2514600" cy="3995928"/>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jira.png"/>
          <p:cNvPicPr>
            <a:picLocks noChangeAspect="1"/>
          </p:cNvPicPr>
          <p:nvPr/>
        </p:nvPicPr>
        <p:blipFill>
          <a:blip r:embed="rId2"/>
          <a:stretch>
            <a:fillRect/>
          </a:stretch>
        </p:blipFill>
        <p:spPr>
          <a:xfrm>
            <a:off x="521208" y="1609344"/>
            <a:ext cx="201168" cy="201168"/>
          </a:xfrm>
          <a:prstGeom prst="rect">
            <a:avLst/>
          </a:prstGeom>
        </p:spPr>
      </p:pic>
      <p:sp>
        <p:nvSpPr>
          <p:cNvPr id="9" name="Text 7"/>
          <p:cNvSpPr txBox="1"/>
          <p:nvPr/>
        </p:nvSpPr>
        <p:spPr>
          <a:xfrm>
            <a:off x="795528" y="1554480"/>
            <a:ext cx="2057400" cy="329184"/>
          </a:xfrm>
          <a:prstGeom prst="rect">
            <a:avLst/>
          </a:prstGeom>
          <a:noFill/>
        </p:spPr>
        <p:txBody>
          <a:bodyPr wrap="square" lIns="0" rIns="0" tIns="0" bIns="0" anchor="ctr">
            <a:spAutoFit/>
          </a:bodyPr>
          <a:lstStyle/>
          <a:p>
            <a:r>
              <a:rPr sz="740" b="1" i="0">
                <a:solidFill>
                  <a:srgbClr val="1A1A1A"/>
                </a:solidFill>
                <a:latin typeface="Trenda IG Text"/>
              </a:rPr>
              <a:t>Jira</a:t>
            </a:r>
          </a:p>
          <a:p>
            <a:r>
              <a:rPr sz="700" b="0" i="0">
                <a:solidFill>
                  <a:srgbClr val="6B6B6B"/>
                </a:solidFill>
                <a:latin typeface="Trenda IG Text"/>
              </a:rPr>
              <a:t>stories, criteria, history</a:t>
            </a:r>
          </a:p>
        </p:txBody>
      </p:sp>
      <p:pic>
        <p:nvPicPr>
          <p:cNvPr id="10" name="Picture 9" descr="confluence.png"/>
          <p:cNvPicPr>
            <a:picLocks noChangeAspect="1"/>
          </p:cNvPicPr>
          <p:nvPr/>
        </p:nvPicPr>
        <p:blipFill>
          <a:blip r:embed="rId3"/>
          <a:stretch>
            <a:fillRect/>
          </a:stretch>
        </p:blipFill>
        <p:spPr>
          <a:xfrm>
            <a:off x="521208" y="1993392"/>
            <a:ext cx="201168" cy="201168"/>
          </a:xfrm>
          <a:prstGeom prst="rect">
            <a:avLst/>
          </a:prstGeom>
        </p:spPr>
      </p:pic>
      <p:sp>
        <p:nvSpPr>
          <p:cNvPr id="11" name="Text 8"/>
          <p:cNvSpPr txBox="1"/>
          <p:nvPr/>
        </p:nvSpPr>
        <p:spPr>
          <a:xfrm>
            <a:off x="795528" y="1938528"/>
            <a:ext cx="2057400" cy="329184"/>
          </a:xfrm>
          <a:prstGeom prst="rect">
            <a:avLst/>
          </a:prstGeom>
          <a:noFill/>
        </p:spPr>
        <p:txBody>
          <a:bodyPr wrap="square" lIns="0" rIns="0" tIns="0" bIns="0" anchor="ctr">
            <a:spAutoFit/>
          </a:bodyPr>
          <a:lstStyle/>
          <a:p>
            <a:r>
              <a:rPr sz="740" b="1" i="0">
                <a:solidFill>
                  <a:srgbClr val="1A1A1A"/>
                </a:solidFill>
                <a:latin typeface="Trenda IG Text"/>
              </a:rPr>
              <a:t>Confluence</a:t>
            </a:r>
          </a:p>
          <a:p>
            <a:r>
              <a:rPr sz="700" b="0" i="0">
                <a:solidFill>
                  <a:srgbClr val="6B6B6B"/>
                </a:solidFill>
                <a:latin typeface="Trenda IG Text"/>
              </a:rPr>
              <a:t>designs, business rules</a:t>
            </a:r>
          </a:p>
        </p:txBody>
      </p:sp>
      <p:pic>
        <p:nvPicPr>
          <p:cNvPr id="12" name="Picture 11" descr="salesforce.png"/>
          <p:cNvPicPr>
            <a:picLocks noChangeAspect="1"/>
          </p:cNvPicPr>
          <p:nvPr/>
        </p:nvPicPr>
        <p:blipFill>
          <a:blip r:embed="rId4"/>
          <a:stretch>
            <a:fillRect/>
          </a:stretch>
        </p:blipFill>
        <p:spPr>
          <a:xfrm>
            <a:off x="521208" y="2377440"/>
            <a:ext cx="201168" cy="201168"/>
          </a:xfrm>
          <a:prstGeom prst="rect">
            <a:avLst/>
          </a:prstGeom>
        </p:spPr>
      </p:pic>
      <p:sp>
        <p:nvSpPr>
          <p:cNvPr id="13" name="Text 9"/>
          <p:cNvSpPr txBox="1"/>
          <p:nvPr/>
        </p:nvSpPr>
        <p:spPr>
          <a:xfrm>
            <a:off x="795528" y="2322576"/>
            <a:ext cx="2057400" cy="329184"/>
          </a:xfrm>
          <a:prstGeom prst="rect">
            <a:avLst/>
          </a:prstGeom>
          <a:noFill/>
        </p:spPr>
        <p:txBody>
          <a:bodyPr wrap="square" lIns="0" rIns="0" tIns="0" bIns="0" anchor="ctr">
            <a:spAutoFit/>
          </a:bodyPr>
          <a:lstStyle/>
          <a:p>
            <a:r>
              <a:rPr sz="740" b="1" i="0">
                <a:solidFill>
                  <a:srgbClr val="1A1A1A"/>
                </a:solidFill>
                <a:latin typeface="Trenda IG Text"/>
              </a:rPr>
              <a:t>Salesforce</a:t>
            </a:r>
          </a:p>
          <a:p>
            <a:r>
              <a:rPr sz="700" b="0" i="0">
                <a:solidFill>
                  <a:srgbClr val="6B6B6B"/>
                </a:solidFill>
                <a:latin typeface="Trenda IG Text"/>
              </a:rPr>
              <a:t>objects, Flows, Apex, journeys</a:t>
            </a:r>
          </a:p>
        </p:txBody>
      </p:sp>
      <p:pic>
        <p:nvPicPr>
          <p:cNvPr id="14" name="Picture 13" descr="git.png"/>
          <p:cNvPicPr>
            <a:picLocks noChangeAspect="1"/>
          </p:cNvPicPr>
          <p:nvPr/>
        </p:nvPicPr>
        <p:blipFill>
          <a:blip r:embed="rId5"/>
          <a:stretch>
            <a:fillRect/>
          </a:stretch>
        </p:blipFill>
        <p:spPr>
          <a:xfrm>
            <a:off x="521208" y="2761488"/>
            <a:ext cx="201168" cy="201168"/>
          </a:xfrm>
          <a:prstGeom prst="rect">
            <a:avLst/>
          </a:prstGeom>
        </p:spPr>
      </p:pic>
      <p:sp>
        <p:nvSpPr>
          <p:cNvPr id="15" name="Text 10"/>
          <p:cNvSpPr txBox="1"/>
          <p:nvPr/>
        </p:nvSpPr>
        <p:spPr>
          <a:xfrm>
            <a:off x="795528" y="2706624"/>
            <a:ext cx="2057400" cy="329184"/>
          </a:xfrm>
          <a:prstGeom prst="rect">
            <a:avLst/>
          </a:prstGeom>
          <a:noFill/>
        </p:spPr>
        <p:txBody>
          <a:bodyPr wrap="square" lIns="0" rIns="0" tIns="0" bIns="0" anchor="ctr">
            <a:spAutoFit/>
          </a:bodyPr>
          <a:lstStyle/>
          <a:p>
            <a:r>
              <a:rPr sz="740" b="1" i="0">
                <a:solidFill>
                  <a:srgbClr val="1A1A1A"/>
                </a:solidFill>
                <a:latin typeface="Trenda IG Text"/>
              </a:rPr>
              <a:t>Git</a:t>
            </a:r>
          </a:p>
          <a:p>
            <a:r>
              <a:rPr sz="700" b="0" i="0">
                <a:solidFill>
                  <a:srgbClr val="6B6B6B"/>
                </a:solidFill>
                <a:latin typeface="Trenda IG Text"/>
              </a:rPr>
              <a:t>Apex, LWC, metadata</a:t>
            </a:r>
          </a:p>
        </p:txBody>
      </p:sp>
      <p:sp>
        <p:nvSpPr>
          <p:cNvPr id="16" name="Shape 11"/>
          <p:cNvSpPr/>
          <p:nvPr/>
        </p:nvSpPr>
        <p:spPr>
          <a:xfrm>
            <a:off x="521208" y="3163824"/>
            <a:ext cx="201168" cy="182880"/>
          </a:xfrm>
          <a:prstGeom prst="roundRect">
            <a:avLst>
              <a:gd name="adj" fmla="val 50000"/>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2"/>
          <p:cNvSpPr txBox="1"/>
          <p:nvPr/>
        </p:nvSpPr>
        <p:spPr>
          <a:xfrm>
            <a:off x="521208" y="3163824"/>
            <a:ext cx="201168" cy="182880"/>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8" name="Text 13"/>
          <p:cNvSpPr txBox="1"/>
          <p:nvPr/>
        </p:nvSpPr>
        <p:spPr>
          <a:xfrm>
            <a:off x="795528" y="3090672"/>
            <a:ext cx="2057400" cy="329184"/>
          </a:xfrm>
          <a:prstGeom prst="rect">
            <a:avLst/>
          </a:prstGeom>
          <a:noFill/>
        </p:spPr>
        <p:txBody>
          <a:bodyPr wrap="square" lIns="0" rIns="0" tIns="0" bIns="0" anchor="ctr">
            <a:spAutoFit/>
          </a:bodyPr>
          <a:lstStyle/>
          <a:p>
            <a:r>
              <a:rPr sz="740" b="1" i="0">
                <a:solidFill>
                  <a:srgbClr val="1A1A1A"/>
                </a:solidFill>
                <a:latin typeface="Trenda IG Text"/>
              </a:rPr>
              <a:t>Copado</a:t>
            </a:r>
          </a:p>
          <a:p>
            <a:r>
              <a:rPr sz="700" b="0" i="0">
                <a:solidFill>
                  <a:srgbClr val="6B6B6B"/>
                </a:solidFill>
                <a:latin typeface="Trenda IG Text"/>
              </a:rPr>
              <a:t>releases, test runs</a:t>
            </a:r>
          </a:p>
        </p:txBody>
      </p:sp>
      <p:pic>
        <p:nvPicPr>
          <p:cNvPr id="19" name="Picture 18" descr="googledrive.png"/>
          <p:cNvPicPr>
            <a:picLocks noChangeAspect="1"/>
          </p:cNvPicPr>
          <p:nvPr/>
        </p:nvPicPr>
        <p:blipFill>
          <a:blip r:embed="rId6"/>
          <a:stretch>
            <a:fillRect/>
          </a:stretch>
        </p:blipFill>
        <p:spPr>
          <a:xfrm>
            <a:off x="521208" y="3529584"/>
            <a:ext cx="201168" cy="201168"/>
          </a:xfrm>
          <a:prstGeom prst="rect">
            <a:avLst/>
          </a:prstGeom>
        </p:spPr>
      </p:pic>
      <p:sp>
        <p:nvSpPr>
          <p:cNvPr id="20" name="Text 14"/>
          <p:cNvSpPr txBox="1"/>
          <p:nvPr/>
        </p:nvSpPr>
        <p:spPr>
          <a:xfrm>
            <a:off x="795528" y="3474720"/>
            <a:ext cx="2057400" cy="329184"/>
          </a:xfrm>
          <a:prstGeom prst="rect">
            <a:avLst/>
          </a:prstGeom>
          <a:noFill/>
        </p:spPr>
        <p:txBody>
          <a:bodyPr wrap="square" lIns="0" rIns="0" tIns="0" bIns="0" anchor="ctr">
            <a:spAutoFit/>
          </a:bodyPr>
          <a:lstStyle/>
          <a:p>
            <a:r>
              <a:rPr sz="740" b="1" i="0">
                <a:solidFill>
                  <a:srgbClr val="1A1A1A"/>
                </a:solidFill>
                <a:latin typeface="Trenda IG Text"/>
              </a:rPr>
              <a:t>Google Drive</a:t>
            </a:r>
          </a:p>
          <a:p>
            <a:r>
              <a:rPr sz="700" b="0" i="0">
                <a:solidFill>
                  <a:srgbClr val="6B6B6B"/>
                </a:solidFill>
                <a:latin typeface="Trenda IG Text"/>
              </a:rPr>
              <a:t>specs, mapping sheets</a:t>
            </a:r>
          </a:p>
        </p:txBody>
      </p:sp>
      <p:sp>
        <p:nvSpPr>
          <p:cNvPr id="21" name="Text 15"/>
          <p:cNvSpPr txBox="1"/>
          <p:nvPr/>
        </p:nvSpPr>
        <p:spPr>
          <a:xfrm>
            <a:off x="521208" y="3877055"/>
            <a:ext cx="2295144" cy="182880"/>
          </a:xfrm>
          <a:prstGeom prst="rect">
            <a:avLst/>
          </a:prstGeom>
          <a:noFill/>
        </p:spPr>
        <p:txBody>
          <a:bodyPr wrap="square" lIns="0" rIns="0" tIns="0" bIns="0" anchor="t">
            <a:spAutoFit/>
          </a:bodyPr>
          <a:lstStyle/>
          <a:p>
            <a:r>
              <a:rPr sz="700" b="1" i="0" spc="120">
                <a:solidFill>
                  <a:srgbClr val="0089A0"/>
                </a:solidFill>
                <a:latin typeface="Trenda IG Text"/>
              </a:rPr>
              <a:t>FOR MARKETING CLOUD PODS</a:t>
            </a:r>
          </a:p>
        </p:txBody>
      </p:sp>
      <p:sp>
        <p:nvSpPr>
          <p:cNvPr id="22" name="Shape 16"/>
          <p:cNvSpPr/>
          <p:nvPr/>
        </p:nvSpPr>
        <p:spPr>
          <a:xfrm>
            <a:off x="502920" y="4087368"/>
            <a:ext cx="2331720" cy="786384"/>
          </a:xfrm>
          <a:prstGeom prst="roundRect">
            <a:avLst>
              <a:gd name="adj" fmla="val 8000"/>
            </a:avLst>
          </a:prstGeom>
          <a:solidFill>
            <a:srgbClr val="F5F5F5"/>
          </a:solidFill>
          <a:ln w="1587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googlecloud.png"/>
          <p:cNvPicPr>
            <a:picLocks noChangeAspect="1"/>
          </p:cNvPicPr>
          <p:nvPr/>
        </p:nvPicPr>
        <p:blipFill>
          <a:blip r:embed="rId7"/>
          <a:stretch>
            <a:fillRect/>
          </a:stretch>
        </p:blipFill>
        <p:spPr>
          <a:xfrm>
            <a:off x="594360" y="4160520"/>
            <a:ext cx="201168" cy="201168"/>
          </a:xfrm>
          <a:prstGeom prst="rect">
            <a:avLst/>
          </a:prstGeom>
        </p:spPr>
      </p:pic>
      <p:sp>
        <p:nvSpPr>
          <p:cNvPr id="24" name="Text 17"/>
          <p:cNvSpPr txBox="1"/>
          <p:nvPr/>
        </p:nvSpPr>
        <p:spPr>
          <a:xfrm>
            <a:off x="868680" y="4133087"/>
            <a:ext cx="1874519" cy="237744"/>
          </a:xfrm>
          <a:prstGeom prst="rect">
            <a:avLst/>
          </a:prstGeom>
          <a:noFill/>
        </p:spPr>
        <p:txBody>
          <a:bodyPr wrap="square" lIns="0" rIns="0" tIns="0" bIns="0" anchor="ctr">
            <a:spAutoFit/>
          </a:bodyPr>
          <a:lstStyle/>
          <a:p>
            <a:r>
              <a:rPr sz="780" b="1" i="0">
                <a:solidFill>
                  <a:srgbClr val="1A1A1A"/>
                </a:solidFill>
                <a:latin typeface="Trenda IG Text"/>
              </a:rPr>
              <a:t>Governed GCP data</a:t>
            </a:r>
          </a:p>
        </p:txBody>
      </p:sp>
      <p:sp>
        <p:nvSpPr>
          <p:cNvPr id="25" name="Text 18"/>
          <p:cNvSpPr txBox="1"/>
          <p:nvPr/>
        </p:nvSpPr>
        <p:spPr>
          <a:xfrm>
            <a:off x="594360" y="4389120"/>
            <a:ext cx="2148840" cy="457200"/>
          </a:xfrm>
          <a:prstGeom prst="rect">
            <a:avLst/>
          </a:prstGeom>
          <a:noFill/>
        </p:spPr>
        <p:txBody>
          <a:bodyPr wrap="square" lIns="0" rIns="0" tIns="0" bIns="0" anchor="t">
            <a:spAutoFit/>
          </a:bodyPr>
          <a:lstStyle/>
          <a:p>
            <a:r>
              <a:rPr sz="700" b="0" i="0">
                <a:solidFill>
                  <a:srgbClr val="4D4D4D"/>
                </a:solidFill>
                <a:latin typeface="Trenda IG Text"/>
              </a:rPr>
              <a:t>Gold A only: protected aggregates and masked views. Raw PHI stays behind the gateway.</a:t>
            </a:r>
          </a:p>
        </p:txBody>
      </p:sp>
      <p:sp>
        <p:nvSpPr>
          <p:cNvPr id="26" name="Text 19"/>
          <p:cNvSpPr txBox="1"/>
          <p:nvPr/>
        </p:nvSpPr>
        <p:spPr>
          <a:xfrm>
            <a:off x="521208" y="5056632"/>
            <a:ext cx="2295144" cy="329184"/>
          </a:xfrm>
          <a:prstGeom prst="rect">
            <a:avLst/>
          </a:prstGeom>
          <a:noFill/>
        </p:spPr>
        <p:txBody>
          <a:bodyPr wrap="square" lIns="0" rIns="0" tIns="0" bIns="0" anchor="ctr">
            <a:spAutoFit/>
          </a:bodyPr>
          <a:lstStyle/>
          <a:p>
            <a:r>
              <a:rPr sz="700" b="0" i="0">
                <a:solidFill>
                  <a:srgbClr val="6B6B6B"/>
                </a:solidFill>
                <a:latin typeface="Trenda IG Text"/>
              </a:rPr>
              <a:t>Every fact is cited with its source and SHA-256.</a:t>
            </a:r>
          </a:p>
        </p:txBody>
      </p:sp>
      <p:sp>
        <p:nvSpPr>
          <p:cNvPr id="27" name="Shape 20"/>
          <p:cNvSpPr/>
          <p:nvPr/>
        </p:nvSpPr>
        <p:spPr>
          <a:xfrm>
            <a:off x="3063240" y="1170432"/>
            <a:ext cx="580644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1"/>
          <p:cNvSpPr txBox="1"/>
          <p:nvPr/>
        </p:nvSpPr>
        <p:spPr>
          <a:xfrm>
            <a:off x="3154680" y="1170432"/>
            <a:ext cx="5623559" cy="274320"/>
          </a:xfrm>
          <a:prstGeom prst="rect">
            <a:avLst/>
          </a:prstGeom>
          <a:noFill/>
        </p:spPr>
        <p:txBody>
          <a:bodyPr wrap="square" lIns="0" rIns="0" tIns="0" bIns="0" anchor="ctr">
            <a:spAutoFit/>
          </a:bodyPr>
          <a:lstStyle/>
          <a:p>
            <a:r>
              <a:rPr sz="700" b="1" i="0" spc="150">
                <a:solidFill>
                  <a:srgbClr val="1A1A1A"/>
                </a:solidFill>
                <a:latin typeface="Trenda IG Text"/>
              </a:rPr>
              <a:t>DELIVERY AGENTS</a:t>
            </a:r>
            <a:r>
              <a:rPr sz="700" b="0" i="0">
                <a:solidFill>
                  <a:srgbClr val="1A1A1A"/>
                </a:solidFill>
                <a:latin typeface="Trenda IG Text"/>
              </a:rPr>
              <a:t>   the same on every pod</a:t>
            </a:r>
          </a:p>
        </p:txBody>
      </p:sp>
      <p:sp>
        <p:nvSpPr>
          <p:cNvPr id="29" name="Shape 22"/>
          <p:cNvSpPr/>
          <p:nvPr/>
        </p:nvSpPr>
        <p:spPr>
          <a:xfrm>
            <a:off x="3063240" y="1499616"/>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hape 23"/>
          <p:cNvSpPr/>
          <p:nvPr/>
        </p:nvSpPr>
        <p:spPr>
          <a:xfrm>
            <a:off x="3136392" y="1516075"/>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4"/>
          <p:cNvSpPr txBox="1"/>
          <p:nvPr/>
        </p:nvSpPr>
        <p:spPr>
          <a:xfrm>
            <a:off x="3136392" y="15160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sp>
        <p:nvSpPr>
          <p:cNvPr id="32" name="Text 25"/>
          <p:cNvSpPr txBox="1"/>
          <p:nvPr/>
        </p:nvSpPr>
        <p:spPr>
          <a:xfrm>
            <a:off x="3392424" y="1499616"/>
            <a:ext cx="1508760" cy="215798"/>
          </a:xfrm>
          <a:prstGeom prst="rect">
            <a:avLst/>
          </a:prstGeom>
          <a:noFill/>
        </p:spPr>
        <p:txBody>
          <a:bodyPr wrap="square" lIns="0" rIns="0" tIns="0" bIns="0" anchor="ctr">
            <a:spAutoFit/>
          </a:bodyPr>
          <a:lstStyle/>
          <a:p>
            <a:r>
              <a:rPr sz="700" b="1" i="0">
                <a:solidFill>
                  <a:srgbClr val="1A1A1A"/>
                </a:solidFill>
                <a:latin typeface="Trenda IG Text"/>
              </a:rPr>
              <a:t>Orchestrator</a:t>
            </a:r>
          </a:p>
        </p:txBody>
      </p:sp>
      <p:sp>
        <p:nvSpPr>
          <p:cNvPr id="33" name="Text 26"/>
          <p:cNvSpPr txBox="1"/>
          <p:nvPr/>
        </p:nvSpPr>
        <p:spPr>
          <a:xfrm>
            <a:off x="4892040" y="1499616"/>
            <a:ext cx="2971799" cy="215798"/>
          </a:xfrm>
          <a:prstGeom prst="rect">
            <a:avLst/>
          </a:prstGeom>
          <a:noFill/>
        </p:spPr>
        <p:txBody>
          <a:bodyPr wrap="square" lIns="0" rIns="0" tIns="0" bIns="0" anchor="ctr">
            <a:spAutoFit/>
          </a:bodyPr>
          <a:lstStyle/>
          <a:p>
            <a:r>
              <a:rPr sz="700" b="0" i="0">
                <a:solidFill>
                  <a:srgbClr val="4D4D4D"/>
                </a:solidFill>
                <a:latin typeface="Trenda IG Text"/>
              </a:rPr>
              <a:t>Classifies the task, gathers context, routes the chain, enforces gates</a:t>
            </a:r>
          </a:p>
        </p:txBody>
      </p:sp>
      <p:sp>
        <p:nvSpPr>
          <p:cNvPr id="34" name="Shape 27"/>
          <p:cNvSpPr/>
          <p:nvPr/>
        </p:nvSpPr>
        <p:spPr>
          <a:xfrm>
            <a:off x="7955279" y="1534363"/>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7955279" y="1534363"/>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COORDINATES</a:t>
            </a:r>
          </a:p>
        </p:txBody>
      </p:sp>
      <p:sp>
        <p:nvSpPr>
          <p:cNvPr id="36" name="Shape 29"/>
          <p:cNvSpPr/>
          <p:nvPr/>
        </p:nvSpPr>
        <p:spPr>
          <a:xfrm>
            <a:off x="3063240" y="1751990"/>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0"/>
          <p:cNvSpPr/>
          <p:nvPr/>
        </p:nvSpPr>
        <p:spPr>
          <a:xfrm>
            <a:off x="3136392" y="1768449"/>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1"/>
          <p:cNvSpPr txBox="1"/>
          <p:nvPr/>
        </p:nvSpPr>
        <p:spPr>
          <a:xfrm>
            <a:off x="3136392" y="1768449"/>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39" name="Text 32"/>
          <p:cNvSpPr txBox="1"/>
          <p:nvPr/>
        </p:nvSpPr>
        <p:spPr>
          <a:xfrm>
            <a:off x="3392424" y="1751990"/>
            <a:ext cx="1508760" cy="215798"/>
          </a:xfrm>
          <a:prstGeom prst="rect">
            <a:avLst/>
          </a:prstGeom>
          <a:noFill/>
        </p:spPr>
        <p:txBody>
          <a:bodyPr wrap="square" lIns="0" rIns="0" tIns="0" bIns="0" anchor="ctr">
            <a:spAutoFit/>
          </a:bodyPr>
          <a:lstStyle/>
          <a:p>
            <a:r>
              <a:rPr sz="700" b="1" i="0">
                <a:solidFill>
                  <a:srgbClr val="1A1A1A"/>
                </a:solidFill>
                <a:latin typeface="Trenda IG Text"/>
              </a:rPr>
              <a:t>Requirements Agent</a:t>
            </a:r>
          </a:p>
        </p:txBody>
      </p:sp>
      <p:sp>
        <p:nvSpPr>
          <p:cNvPr id="40" name="Text 33"/>
          <p:cNvSpPr txBox="1"/>
          <p:nvPr/>
        </p:nvSpPr>
        <p:spPr>
          <a:xfrm>
            <a:off x="4892040" y="1751990"/>
            <a:ext cx="2971799" cy="215798"/>
          </a:xfrm>
          <a:prstGeom prst="rect">
            <a:avLst/>
          </a:prstGeom>
          <a:noFill/>
        </p:spPr>
        <p:txBody>
          <a:bodyPr wrap="square" lIns="0" rIns="0" tIns="0" bIns="0" anchor="ctr">
            <a:spAutoFit/>
          </a:bodyPr>
          <a:lstStyle/>
          <a:p>
            <a:r>
              <a:rPr sz="700" b="0" i="0">
                <a:solidFill>
                  <a:srgbClr val="4D4D4D"/>
                </a:solidFill>
                <a:latin typeface="Trenda IG Text"/>
              </a:rPr>
              <a:t>User stories and functional decomposition from the Jira story</a:t>
            </a:r>
          </a:p>
        </p:txBody>
      </p:sp>
      <p:sp>
        <p:nvSpPr>
          <p:cNvPr id="41" name="Shape 34"/>
          <p:cNvSpPr/>
          <p:nvPr/>
        </p:nvSpPr>
        <p:spPr>
          <a:xfrm>
            <a:off x="7955279" y="1786737"/>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35"/>
          <p:cNvSpPr txBox="1"/>
          <p:nvPr/>
        </p:nvSpPr>
        <p:spPr>
          <a:xfrm>
            <a:off x="7955279" y="1786737"/>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43" name="Shape 36"/>
          <p:cNvSpPr/>
          <p:nvPr/>
        </p:nvSpPr>
        <p:spPr>
          <a:xfrm>
            <a:off x="3063240" y="2004364"/>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37"/>
          <p:cNvSpPr/>
          <p:nvPr/>
        </p:nvSpPr>
        <p:spPr>
          <a:xfrm>
            <a:off x="3136392" y="2020824"/>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38"/>
          <p:cNvSpPr txBox="1"/>
          <p:nvPr/>
        </p:nvSpPr>
        <p:spPr>
          <a:xfrm>
            <a:off x="3136392" y="2020824"/>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46" name="Text 39"/>
          <p:cNvSpPr txBox="1"/>
          <p:nvPr/>
        </p:nvSpPr>
        <p:spPr>
          <a:xfrm>
            <a:off x="3392424" y="2004364"/>
            <a:ext cx="1508760" cy="215798"/>
          </a:xfrm>
          <a:prstGeom prst="rect">
            <a:avLst/>
          </a:prstGeom>
          <a:noFill/>
        </p:spPr>
        <p:txBody>
          <a:bodyPr wrap="square" lIns="0" rIns="0" tIns="0" bIns="0" anchor="ctr">
            <a:spAutoFit/>
          </a:bodyPr>
          <a:lstStyle/>
          <a:p>
            <a:r>
              <a:rPr sz="700" b="1" i="0">
                <a:solidFill>
                  <a:srgbClr val="1A1A1A"/>
                </a:solidFill>
                <a:latin typeface="Trenda IG Text"/>
              </a:rPr>
              <a:t>Architect Agent</a:t>
            </a:r>
          </a:p>
        </p:txBody>
      </p:sp>
      <p:sp>
        <p:nvSpPr>
          <p:cNvPr id="47" name="Text 40"/>
          <p:cNvSpPr txBox="1"/>
          <p:nvPr/>
        </p:nvSpPr>
        <p:spPr>
          <a:xfrm>
            <a:off x="4892040" y="2004364"/>
            <a:ext cx="2971799" cy="215798"/>
          </a:xfrm>
          <a:prstGeom prst="rect">
            <a:avLst/>
          </a:prstGeom>
          <a:noFill/>
        </p:spPr>
        <p:txBody>
          <a:bodyPr wrap="square" lIns="0" rIns="0" tIns="0" bIns="0" anchor="ctr">
            <a:spAutoFit/>
          </a:bodyPr>
          <a:lstStyle/>
          <a:p>
            <a:r>
              <a:rPr sz="700" b="0" i="0">
                <a:solidFill>
                  <a:srgbClr val="4D4D4D"/>
                </a:solidFill>
                <a:latin typeface="Trenda IG Text"/>
              </a:rPr>
              <a:t>Impact and reuse from the graph; </a:t>
            </a:r>
            <a:r>
              <a:rPr sz="700" b="1" i="0">
                <a:solidFill>
                  <a:srgbClr val="1A1A1A"/>
                </a:solidFill>
                <a:latin typeface="Trenda IG Text"/>
              </a:rPr>
              <a:t>Change Guardian</a:t>
            </a:r>
            <a:r>
              <a:rPr sz="700" b="0" i="0">
                <a:solidFill>
                  <a:srgbClr val="4D4D4D"/>
                </a:solidFill>
                <a:latin typeface="Trenda IG Text"/>
              </a:rPr>
              <a:t> flags cross-pod risk</a:t>
            </a:r>
          </a:p>
        </p:txBody>
      </p:sp>
      <p:sp>
        <p:nvSpPr>
          <p:cNvPr id="48" name="Shape 41"/>
          <p:cNvSpPr/>
          <p:nvPr/>
        </p:nvSpPr>
        <p:spPr>
          <a:xfrm>
            <a:off x="7955279" y="2039112"/>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2"/>
          <p:cNvSpPr txBox="1"/>
          <p:nvPr/>
        </p:nvSpPr>
        <p:spPr>
          <a:xfrm>
            <a:off x="7955279" y="2039112"/>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50" name="Shape 43"/>
          <p:cNvSpPr/>
          <p:nvPr/>
        </p:nvSpPr>
        <p:spPr>
          <a:xfrm>
            <a:off x="3063240" y="2256739"/>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4"/>
          <p:cNvSpPr/>
          <p:nvPr/>
        </p:nvSpPr>
        <p:spPr>
          <a:xfrm>
            <a:off x="3136392" y="2273198"/>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5"/>
          <p:cNvSpPr txBox="1"/>
          <p:nvPr/>
        </p:nvSpPr>
        <p:spPr>
          <a:xfrm>
            <a:off x="3136392" y="2273198"/>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53" name="Text 46"/>
          <p:cNvSpPr txBox="1"/>
          <p:nvPr/>
        </p:nvSpPr>
        <p:spPr>
          <a:xfrm>
            <a:off x="3392424" y="2256739"/>
            <a:ext cx="1508760" cy="215798"/>
          </a:xfrm>
          <a:prstGeom prst="rect">
            <a:avLst/>
          </a:prstGeom>
          <a:noFill/>
        </p:spPr>
        <p:txBody>
          <a:bodyPr wrap="square" lIns="0" rIns="0" tIns="0" bIns="0" anchor="ctr">
            <a:spAutoFit/>
          </a:bodyPr>
          <a:lstStyle/>
          <a:p>
            <a:r>
              <a:rPr sz="700" b="1" i="0">
                <a:solidFill>
                  <a:srgbClr val="1A1A1A"/>
                </a:solidFill>
                <a:latin typeface="Trenda IG Text"/>
              </a:rPr>
              <a:t>Developer Agent</a:t>
            </a:r>
          </a:p>
        </p:txBody>
      </p:sp>
      <p:sp>
        <p:nvSpPr>
          <p:cNvPr id="54" name="Text 47"/>
          <p:cNvSpPr txBox="1"/>
          <p:nvPr/>
        </p:nvSpPr>
        <p:spPr>
          <a:xfrm>
            <a:off x="4892040" y="2256739"/>
            <a:ext cx="2971799" cy="215798"/>
          </a:xfrm>
          <a:prstGeom prst="rect">
            <a:avLst/>
          </a:prstGeom>
          <a:noFill/>
        </p:spPr>
        <p:txBody>
          <a:bodyPr wrap="square" lIns="0" rIns="0" tIns="0" bIns="0" anchor="ctr">
            <a:spAutoFit/>
          </a:bodyPr>
          <a:lstStyle/>
          <a:p>
            <a:r>
              <a:rPr sz="700" b="0" i="0">
                <a:solidFill>
                  <a:srgbClr val="4D4D4D"/>
                </a:solidFill>
                <a:latin typeface="Trenda IG Text"/>
              </a:rPr>
              <a:t>Builds to Ascension standards in DEV; journeys for Marketing Cloud</a:t>
            </a:r>
          </a:p>
        </p:txBody>
      </p:sp>
      <p:sp>
        <p:nvSpPr>
          <p:cNvPr id="55" name="Shape 48"/>
          <p:cNvSpPr/>
          <p:nvPr/>
        </p:nvSpPr>
        <p:spPr>
          <a:xfrm>
            <a:off x="7955279" y="2291486"/>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49"/>
          <p:cNvSpPr txBox="1"/>
          <p:nvPr/>
        </p:nvSpPr>
        <p:spPr>
          <a:xfrm>
            <a:off x="7955279" y="2291486"/>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57" name="Shape 50"/>
          <p:cNvSpPr/>
          <p:nvPr/>
        </p:nvSpPr>
        <p:spPr>
          <a:xfrm>
            <a:off x="3063240" y="2509113"/>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1"/>
          <p:cNvSpPr/>
          <p:nvPr/>
        </p:nvSpPr>
        <p:spPr>
          <a:xfrm>
            <a:off x="3136392" y="2525572"/>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2"/>
          <p:cNvSpPr txBox="1"/>
          <p:nvPr/>
        </p:nvSpPr>
        <p:spPr>
          <a:xfrm>
            <a:off x="3136392" y="252557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60" name="Text 53"/>
          <p:cNvSpPr txBox="1"/>
          <p:nvPr/>
        </p:nvSpPr>
        <p:spPr>
          <a:xfrm>
            <a:off x="3392424" y="2509113"/>
            <a:ext cx="1508760" cy="215798"/>
          </a:xfrm>
          <a:prstGeom prst="rect">
            <a:avLst/>
          </a:prstGeom>
          <a:noFill/>
        </p:spPr>
        <p:txBody>
          <a:bodyPr wrap="square" lIns="0" rIns="0" tIns="0" bIns="0" anchor="ctr">
            <a:spAutoFit/>
          </a:bodyPr>
          <a:lstStyle/>
          <a:p>
            <a:r>
              <a:rPr sz="700" b="1" i="0">
                <a:solidFill>
                  <a:srgbClr val="1A1A1A"/>
                </a:solidFill>
                <a:latin typeface="Trenda IG Text"/>
              </a:rPr>
              <a:t>Review Agent</a:t>
            </a:r>
          </a:p>
        </p:txBody>
      </p:sp>
      <p:sp>
        <p:nvSpPr>
          <p:cNvPr id="61" name="Text 54"/>
          <p:cNvSpPr txBox="1"/>
          <p:nvPr/>
        </p:nvSpPr>
        <p:spPr>
          <a:xfrm>
            <a:off x="4892040" y="2509113"/>
            <a:ext cx="2971799" cy="215798"/>
          </a:xfrm>
          <a:prstGeom prst="rect">
            <a:avLst/>
          </a:prstGeom>
          <a:noFill/>
        </p:spPr>
        <p:txBody>
          <a:bodyPr wrap="square" lIns="0" rIns="0" tIns="0" bIns="0" anchor="ctr">
            <a:spAutoFit/>
          </a:bodyPr>
          <a:lstStyle/>
          <a:p>
            <a:r>
              <a:rPr sz="700" b="0" i="0">
                <a:solidFill>
                  <a:srgbClr val="4D4D4D"/>
                </a:solidFill>
                <a:latin typeface="Trenda IG Text"/>
              </a:rPr>
              <a:t>Quality, security, standards; failures go back to their cause</a:t>
            </a:r>
          </a:p>
        </p:txBody>
      </p:sp>
      <p:sp>
        <p:nvSpPr>
          <p:cNvPr id="62" name="Shape 55"/>
          <p:cNvSpPr/>
          <p:nvPr/>
        </p:nvSpPr>
        <p:spPr>
          <a:xfrm>
            <a:off x="7955279" y="2543860"/>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7955279" y="2543860"/>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64" name="Shape 57"/>
          <p:cNvSpPr/>
          <p:nvPr/>
        </p:nvSpPr>
        <p:spPr>
          <a:xfrm>
            <a:off x="3063240" y="2761487"/>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8"/>
          <p:cNvSpPr/>
          <p:nvPr/>
        </p:nvSpPr>
        <p:spPr>
          <a:xfrm>
            <a:off x="3136392" y="2777947"/>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59"/>
          <p:cNvSpPr txBox="1"/>
          <p:nvPr/>
        </p:nvSpPr>
        <p:spPr>
          <a:xfrm>
            <a:off x="3136392" y="2777947"/>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sp>
        <p:nvSpPr>
          <p:cNvPr id="67" name="Text 60"/>
          <p:cNvSpPr txBox="1"/>
          <p:nvPr/>
        </p:nvSpPr>
        <p:spPr>
          <a:xfrm>
            <a:off x="3392424" y="2761487"/>
            <a:ext cx="1508760" cy="215798"/>
          </a:xfrm>
          <a:prstGeom prst="rect">
            <a:avLst/>
          </a:prstGeom>
          <a:noFill/>
        </p:spPr>
        <p:txBody>
          <a:bodyPr wrap="square" lIns="0" rIns="0" tIns="0" bIns="0" anchor="ctr">
            <a:spAutoFit/>
          </a:bodyPr>
          <a:lstStyle/>
          <a:p>
            <a:r>
              <a:rPr sz="700" b="1" i="0">
                <a:solidFill>
                  <a:srgbClr val="1A1A1A"/>
                </a:solidFill>
                <a:latin typeface="Trenda IG Text"/>
              </a:rPr>
              <a:t>Test Agent</a:t>
            </a:r>
          </a:p>
        </p:txBody>
      </p:sp>
      <p:sp>
        <p:nvSpPr>
          <p:cNvPr id="68" name="Text 61"/>
          <p:cNvSpPr txBox="1"/>
          <p:nvPr/>
        </p:nvSpPr>
        <p:spPr>
          <a:xfrm>
            <a:off x="4892040" y="2761487"/>
            <a:ext cx="2971799" cy="215798"/>
          </a:xfrm>
          <a:prstGeom prst="rect">
            <a:avLst/>
          </a:prstGeom>
          <a:noFill/>
        </p:spPr>
        <p:txBody>
          <a:bodyPr wrap="square" lIns="0" rIns="0" tIns="0" bIns="0" anchor="ctr">
            <a:spAutoFit/>
          </a:bodyPr>
          <a:lstStyle/>
          <a:p>
            <a:r>
              <a:rPr sz="700" b="0" i="0">
                <a:solidFill>
                  <a:srgbClr val="4D4D4D"/>
                </a:solidFill>
                <a:latin typeface="Trenda IG Text"/>
              </a:rPr>
              <a:t>Unit, regression and performance tests; Zephyr to Copado</a:t>
            </a:r>
          </a:p>
        </p:txBody>
      </p:sp>
      <p:sp>
        <p:nvSpPr>
          <p:cNvPr id="69" name="Shape 62"/>
          <p:cNvSpPr/>
          <p:nvPr/>
        </p:nvSpPr>
        <p:spPr>
          <a:xfrm>
            <a:off x="7955279" y="2796235"/>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7955279" y="2796235"/>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71" name="Shape 64"/>
          <p:cNvSpPr/>
          <p:nvPr/>
        </p:nvSpPr>
        <p:spPr>
          <a:xfrm>
            <a:off x="3063240" y="3013862"/>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65"/>
          <p:cNvSpPr/>
          <p:nvPr/>
        </p:nvSpPr>
        <p:spPr>
          <a:xfrm>
            <a:off x="3136392" y="3030321"/>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3136392" y="3030321"/>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7</a:t>
            </a:r>
          </a:p>
        </p:txBody>
      </p:sp>
      <p:sp>
        <p:nvSpPr>
          <p:cNvPr id="74" name="Text 67"/>
          <p:cNvSpPr txBox="1"/>
          <p:nvPr/>
        </p:nvSpPr>
        <p:spPr>
          <a:xfrm>
            <a:off x="3392424" y="3013862"/>
            <a:ext cx="1508760" cy="215798"/>
          </a:xfrm>
          <a:prstGeom prst="rect">
            <a:avLst/>
          </a:prstGeom>
          <a:noFill/>
        </p:spPr>
        <p:txBody>
          <a:bodyPr wrap="square" lIns="0" rIns="0" tIns="0" bIns="0" anchor="ctr">
            <a:spAutoFit/>
          </a:bodyPr>
          <a:lstStyle/>
          <a:p>
            <a:r>
              <a:rPr sz="700" b="1" i="0">
                <a:solidFill>
                  <a:srgbClr val="1A1A1A"/>
                </a:solidFill>
                <a:latin typeface="Trenda IG Text"/>
              </a:rPr>
              <a:t>Release Agent</a:t>
            </a:r>
          </a:p>
        </p:txBody>
      </p:sp>
      <p:sp>
        <p:nvSpPr>
          <p:cNvPr id="75" name="Text 68"/>
          <p:cNvSpPr txBox="1"/>
          <p:nvPr/>
        </p:nvSpPr>
        <p:spPr>
          <a:xfrm>
            <a:off x="4892040" y="3013862"/>
            <a:ext cx="2971799" cy="215798"/>
          </a:xfrm>
          <a:prstGeom prst="rect">
            <a:avLst/>
          </a:prstGeom>
          <a:noFill/>
        </p:spPr>
        <p:txBody>
          <a:bodyPr wrap="square" lIns="0" rIns="0" tIns="0" bIns="0" anchor="ctr">
            <a:spAutoFit/>
          </a:bodyPr>
          <a:lstStyle/>
          <a:p>
            <a:r>
              <a:rPr sz="700" b="0" i="0">
                <a:solidFill>
                  <a:srgbClr val="4D4D4D"/>
                </a:solidFill>
                <a:latin typeface="Trenda IG Text"/>
              </a:rPr>
              <a:t>Packages and promotes through Copado to lower environments</a:t>
            </a:r>
          </a:p>
        </p:txBody>
      </p:sp>
      <p:sp>
        <p:nvSpPr>
          <p:cNvPr id="76" name="Shape 69"/>
          <p:cNvSpPr/>
          <p:nvPr/>
        </p:nvSpPr>
        <p:spPr>
          <a:xfrm>
            <a:off x="7955279" y="3048609"/>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7955279" y="3048609"/>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78" name="Shape 71"/>
          <p:cNvSpPr/>
          <p:nvPr/>
        </p:nvSpPr>
        <p:spPr>
          <a:xfrm>
            <a:off x="3063240" y="3321100"/>
            <a:ext cx="5806440"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3154680" y="3321100"/>
            <a:ext cx="5623559" cy="274320"/>
          </a:xfrm>
          <a:prstGeom prst="rect">
            <a:avLst/>
          </a:prstGeom>
          <a:noFill/>
        </p:spPr>
        <p:txBody>
          <a:bodyPr wrap="square" lIns="0" rIns="0" tIns="0" bIns="0" anchor="ctr">
            <a:spAutoFit/>
          </a:bodyPr>
          <a:lstStyle/>
          <a:p>
            <a:r>
              <a:rPr sz="700" b="1" i="0" spc="150">
                <a:solidFill>
                  <a:srgbClr val="1A1A1A"/>
                </a:solidFill>
                <a:latin typeface="Trenda IG Text"/>
              </a:rPr>
              <a:t>CAMPAIGN AGENTS</a:t>
            </a:r>
            <a:r>
              <a:rPr sz="700" b="0" i="0">
                <a:solidFill>
                  <a:srgbClr val="1A1A1A"/>
                </a:solidFill>
                <a:latin typeface="Trenda IG Text"/>
              </a:rPr>
              <a:t>   new · masked data only · services, not agents, release patients</a:t>
            </a:r>
          </a:p>
        </p:txBody>
      </p:sp>
      <p:sp>
        <p:nvSpPr>
          <p:cNvPr id="80" name="Shape 73"/>
          <p:cNvSpPr/>
          <p:nvPr/>
        </p:nvSpPr>
        <p:spPr>
          <a:xfrm>
            <a:off x="3063240" y="3650284"/>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74"/>
          <p:cNvSpPr/>
          <p:nvPr/>
        </p:nvSpPr>
        <p:spPr>
          <a:xfrm>
            <a:off x="3136392" y="3666743"/>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75"/>
          <p:cNvSpPr txBox="1"/>
          <p:nvPr/>
        </p:nvSpPr>
        <p:spPr>
          <a:xfrm>
            <a:off x="3136392" y="3666743"/>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8</a:t>
            </a:r>
          </a:p>
        </p:txBody>
      </p:sp>
      <p:sp>
        <p:nvSpPr>
          <p:cNvPr id="83" name="Text 76"/>
          <p:cNvSpPr txBox="1"/>
          <p:nvPr/>
        </p:nvSpPr>
        <p:spPr>
          <a:xfrm>
            <a:off x="3392424" y="3650284"/>
            <a:ext cx="1508760" cy="215798"/>
          </a:xfrm>
          <a:prstGeom prst="rect">
            <a:avLst/>
          </a:prstGeom>
          <a:noFill/>
        </p:spPr>
        <p:txBody>
          <a:bodyPr wrap="square" lIns="0" rIns="0" tIns="0" bIns="0" anchor="ctr">
            <a:spAutoFit/>
          </a:bodyPr>
          <a:lstStyle/>
          <a:p>
            <a:r>
              <a:rPr sz="700" b="1" i="0">
                <a:solidFill>
                  <a:srgbClr val="1A1A1A"/>
                </a:solidFill>
                <a:latin typeface="Trenda IG Text"/>
              </a:rPr>
              <a:t>Orchestrator Agent</a:t>
            </a:r>
          </a:p>
        </p:txBody>
      </p:sp>
      <p:sp>
        <p:nvSpPr>
          <p:cNvPr id="84" name="Text 77"/>
          <p:cNvSpPr txBox="1"/>
          <p:nvPr/>
        </p:nvSpPr>
        <p:spPr>
          <a:xfrm>
            <a:off x="4892040" y="3650284"/>
            <a:ext cx="2971799" cy="215798"/>
          </a:xfrm>
          <a:prstGeom prst="rect">
            <a:avLst/>
          </a:prstGeom>
          <a:noFill/>
        </p:spPr>
        <p:txBody>
          <a:bodyPr wrap="square" lIns="0" rIns="0" tIns="0" bIns="0" anchor="ctr">
            <a:spAutoFit/>
          </a:bodyPr>
          <a:lstStyle/>
          <a:p>
            <a:r>
              <a:rPr sz="700" b="0" i="0">
                <a:solidFill>
                  <a:srgbClr val="4D4D4D"/>
                </a:solidFill>
                <a:latin typeface="Trenda IG Text"/>
              </a:rPr>
              <a:t>Coordinates opportunity analysis, approvals and execution steps</a:t>
            </a:r>
          </a:p>
        </p:txBody>
      </p:sp>
      <p:sp>
        <p:nvSpPr>
          <p:cNvPr id="85" name="Shape 78"/>
          <p:cNvSpPr/>
          <p:nvPr/>
        </p:nvSpPr>
        <p:spPr>
          <a:xfrm>
            <a:off x="7955279" y="3685031"/>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79"/>
          <p:cNvSpPr txBox="1"/>
          <p:nvPr/>
        </p:nvSpPr>
        <p:spPr>
          <a:xfrm>
            <a:off x="7955279" y="3685031"/>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COORDINATES</a:t>
            </a:r>
          </a:p>
        </p:txBody>
      </p:sp>
      <p:sp>
        <p:nvSpPr>
          <p:cNvPr id="87" name="Shape 80"/>
          <p:cNvSpPr/>
          <p:nvPr/>
        </p:nvSpPr>
        <p:spPr>
          <a:xfrm>
            <a:off x="3063240" y="3902659"/>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1"/>
          <p:cNvSpPr/>
          <p:nvPr/>
        </p:nvSpPr>
        <p:spPr>
          <a:xfrm>
            <a:off x="3136392" y="3919118"/>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2"/>
          <p:cNvSpPr txBox="1"/>
          <p:nvPr/>
        </p:nvSpPr>
        <p:spPr>
          <a:xfrm>
            <a:off x="3136392" y="3919118"/>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9</a:t>
            </a:r>
          </a:p>
        </p:txBody>
      </p:sp>
      <p:sp>
        <p:nvSpPr>
          <p:cNvPr id="90" name="Text 83"/>
          <p:cNvSpPr txBox="1"/>
          <p:nvPr/>
        </p:nvSpPr>
        <p:spPr>
          <a:xfrm>
            <a:off x="3392424" y="3902659"/>
            <a:ext cx="1508760" cy="215798"/>
          </a:xfrm>
          <a:prstGeom prst="rect">
            <a:avLst/>
          </a:prstGeom>
          <a:noFill/>
        </p:spPr>
        <p:txBody>
          <a:bodyPr wrap="square" lIns="0" rIns="0" tIns="0" bIns="0" anchor="ctr">
            <a:spAutoFit/>
          </a:bodyPr>
          <a:lstStyle/>
          <a:p>
            <a:r>
              <a:rPr sz="700" b="1" i="0">
                <a:solidFill>
                  <a:srgbClr val="1A1A1A"/>
                </a:solidFill>
                <a:latin typeface="Trenda IG Text"/>
              </a:rPr>
              <a:t>Campaign Strategist</a:t>
            </a:r>
          </a:p>
        </p:txBody>
      </p:sp>
      <p:sp>
        <p:nvSpPr>
          <p:cNvPr id="91" name="Text 84"/>
          <p:cNvSpPr txBox="1"/>
          <p:nvPr/>
        </p:nvSpPr>
        <p:spPr>
          <a:xfrm>
            <a:off x="4892040" y="3902659"/>
            <a:ext cx="2971799" cy="215798"/>
          </a:xfrm>
          <a:prstGeom prst="rect">
            <a:avLst/>
          </a:prstGeom>
          <a:noFill/>
        </p:spPr>
        <p:txBody>
          <a:bodyPr wrap="square" lIns="0" rIns="0" tIns="0" bIns="0" anchor="ctr">
            <a:spAutoFit/>
          </a:bodyPr>
          <a:lstStyle/>
          <a:p>
            <a:r>
              <a:rPr sz="700" b="0" i="0">
                <a:solidFill>
                  <a:srgbClr val="4D4D4D"/>
                </a:solidFill>
                <a:latin typeface="Trenda IG Text"/>
              </a:rPr>
              <a:t>Identifies campaigns from approved, aggregated insight (Gold A)</a:t>
            </a:r>
          </a:p>
        </p:txBody>
      </p:sp>
      <p:sp>
        <p:nvSpPr>
          <p:cNvPr id="92" name="Shape 85"/>
          <p:cNvSpPr/>
          <p:nvPr/>
        </p:nvSpPr>
        <p:spPr>
          <a:xfrm>
            <a:off x="7955279" y="3937406"/>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6"/>
          <p:cNvSpPr txBox="1"/>
          <p:nvPr/>
        </p:nvSpPr>
        <p:spPr>
          <a:xfrm>
            <a:off x="7955279" y="3937406"/>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94" name="Shape 87"/>
          <p:cNvSpPr/>
          <p:nvPr/>
        </p:nvSpPr>
        <p:spPr>
          <a:xfrm>
            <a:off x="3063240" y="4155033"/>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3136392" y="4171492"/>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3136392" y="417149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10</a:t>
            </a:r>
          </a:p>
        </p:txBody>
      </p:sp>
      <p:sp>
        <p:nvSpPr>
          <p:cNvPr id="97" name="Text 90"/>
          <p:cNvSpPr txBox="1"/>
          <p:nvPr/>
        </p:nvSpPr>
        <p:spPr>
          <a:xfrm>
            <a:off x="3392424" y="4155033"/>
            <a:ext cx="1508760" cy="215798"/>
          </a:xfrm>
          <a:prstGeom prst="rect">
            <a:avLst/>
          </a:prstGeom>
          <a:noFill/>
        </p:spPr>
        <p:txBody>
          <a:bodyPr wrap="square" lIns="0" rIns="0" tIns="0" bIns="0" anchor="ctr">
            <a:spAutoFit/>
          </a:bodyPr>
          <a:lstStyle/>
          <a:p>
            <a:r>
              <a:rPr sz="700" b="1" i="0">
                <a:solidFill>
                  <a:srgbClr val="1A1A1A"/>
                </a:solidFill>
                <a:latin typeface="Trenda IG Text"/>
              </a:rPr>
              <a:t>Audience Analytics</a:t>
            </a:r>
          </a:p>
        </p:txBody>
      </p:sp>
      <p:sp>
        <p:nvSpPr>
          <p:cNvPr id="98" name="Text 91"/>
          <p:cNvSpPr txBox="1"/>
          <p:nvPr/>
        </p:nvSpPr>
        <p:spPr>
          <a:xfrm>
            <a:off x="4892040" y="4155033"/>
            <a:ext cx="2971799" cy="215798"/>
          </a:xfrm>
          <a:prstGeom prst="rect">
            <a:avLst/>
          </a:prstGeom>
          <a:noFill/>
        </p:spPr>
        <p:txBody>
          <a:bodyPr wrap="square" lIns="0" rIns="0" tIns="0" bIns="0" anchor="ctr">
            <a:spAutoFit/>
          </a:bodyPr>
          <a:lstStyle/>
          <a:p>
            <a:r>
              <a:rPr sz="700" b="0" i="0">
                <a:solidFill>
                  <a:srgbClr val="4D4D4D"/>
                </a:solidFill>
                <a:latin typeface="Trenda IG Text"/>
              </a:rPr>
              <a:t>Aggregate cohorts, overlap and reach; counts, never names</a:t>
            </a:r>
          </a:p>
        </p:txBody>
      </p:sp>
      <p:sp>
        <p:nvSpPr>
          <p:cNvPr id="99" name="Shape 92"/>
          <p:cNvSpPr/>
          <p:nvPr/>
        </p:nvSpPr>
        <p:spPr>
          <a:xfrm>
            <a:off x="7955279" y="4189780"/>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3"/>
          <p:cNvSpPr txBox="1"/>
          <p:nvPr/>
        </p:nvSpPr>
        <p:spPr>
          <a:xfrm>
            <a:off x="7955279" y="4189780"/>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101" name="Shape 94"/>
          <p:cNvSpPr/>
          <p:nvPr/>
        </p:nvSpPr>
        <p:spPr>
          <a:xfrm>
            <a:off x="3063240" y="4407407"/>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95"/>
          <p:cNvSpPr/>
          <p:nvPr/>
        </p:nvSpPr>
        <p:spPr>
          <a:xfrm>
            <a:off x="3136392" y="4423867"/>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96"/>
          <p:cNvSpPr txBox="1"/>
          <p:nvPr/>
        </p:nvSpPr>
        <p:spPr>
          <a:xfrm>
            <a:off x="3136392" y="4423867"/>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11</a:t>
            </a:r>
          </a:p>
        </p:txBody>
      </p:sp>
      <p:sp>
        <p:nvSpPr>
          <p:cNvPr id="104" name="Text 97"/>
          <p:cNvSpPr txBox="1"/>
          <p:nvPr/>
        </p:nvSpPr>
        <p:spPr>
          <a:xfrm>
            <a:off x="3392424" y="4407407"/>
            <a:ext cx="1508760" cy="215798"/>
          </a:xfrm>
          <a:prstGeom prst="rect">
            <a:avLst/>
          </a:prstGeom>
          <a:noFill/>
        </p:spPr>
        <p:txBody>
          <a:bodyPr wrap="square" lIns="0" rIns="0" tIns="0" bIns="0" anchor="ctr">
            <a:spAutoFit/>
          </a:bodyPr>
          <a:lstStyle/>
          <a:p>
            <a:r>
              <a:rPr sz="700" b="1" i="0">
                <a:solidFill>
                  <a:srgbClr val="1A1A1A"/>
                </a:solidFill>
                <a:latin typeface="Trenda IG Text"/>
              </a:rPr>
              <a:t>Compliance Guardian</a:t>
            </a:r>
          </a:p>
        </p:txBody>
      </p:sp>
      <p:sp>
        <p:nvSpPr>
          <p:cNvPr id="105" name="Text 98"/>
          <p:cNvSpPr txBox="1"/>
          <p:nvPr/>
        </p:nvSpPr>
        <p:spPr>
          <a:xfrm>
            <a:off x="4892040" y="4407407"/>
            <a:ext cx="2971799" cy="215798"/>
          </a:xfrm>
          <a:prstGeom prst="rect">
            <a:avLst/>
          </a:prstGeom>
          <a:noFill/>
        </p:spPr>
        <p:txBody>
          <a:bodyPr wrap="square" lIns="0" rIns="0" tIns="0" bIns="0" anchor="ctr">
            <a:spAutoFit/>
          </a:bodyPr>
          <a:lstStyle/>
          <a:p>
            <a:r>
              <a:rPr sz="700" b="0" i="0">
                <a:solidFill>
                  <a:srgbClr val="4D4D4D"/>
                </a:solidFill>
                <a:latin typeface="Trenda IG Text"/>
              </a:rPr>
              <a:t>Investigates policy risk, prepares evidence; cannot override policy</a:t>
            </a:r>
          </a:p>
        </p:txBody>
      </p:sp>
      <p:sp>
        <p:nvSpPr>
          <p:cNvPr id="106" name="Shape 99"/>
          <p:cNvSpPr/>
          <p:nvPr/>
        </p:nvSpPr>
        <p:spPr>
          <a:xfrm>
            <a:off x="7955279" y="4442155"/>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955279" y="4442155"/>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GUARD</a:t>
            </a:r>
          </a:p>
        </p:txBody>
      </p:sp>
      <p:sp>
        <p:nvSpPr>
          <p:cNvPr id="108" name="Shape 101"/>
          <p:cNvSpPr/>
          <p:nvPr/>
        </p:nvSpPr>
        <p:spPr>
          <a:xfrm>
            <a:off x="3063240" y="4659782"/>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102"/>
          <p:cNvSpPr/>
          <p:nvPr/>
        </p:nvSpPr>
        <p:spPr>
          <a:xfrm>
            <a:off x="3136392" y="4676241"/>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3"/>
          <p:cNvSpPr txBox="1"/>
          <p:nvPr/>
        </p:nvSpPr>
        <p:spPr>
          <a:xfrm>
            <a:off x="3136392" y="4676241"/>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12</a:t>
            </a:r>
          </a:p>
        </p:txBody>
      </p:sp>
      <p:sp>
        <p:nvSpPr>
          <p:cNvPr id="111" name="Text 104"/>
          <p:cNvSpPr txBox="1"/>
          <p:nvPr/>
        </p:nvSpPr>
        <p:spPr>
          <a:xfrm>
            <a:off x="3392424" y="4659782"/>
            <a:ext cx="1508760" cy="215798"/>
          </a:xfrm>
          <a:prstGeom prst="rect">
            <a:avLst/>
          </a:prstGeom>
          <a:noFill/>
        </p:spPr>
        <p:txBody>
          <a:bodyPr wrap="square" lIns="0" rIns="0" tIns="0" bIns="0" anchor="ctr">
            <a:spAutoFit/>
          </a:bodyPr>
          <a:lstStyle/>
          <a:p>
            <a:r>
              <a:rPr sz="700" b="1" i="0">
                <a:solidFill>
                  <a:srgbClr val="1A1A1A"/>
                </a:solidFill>
                <a:latin typeface="Trenda IG Text"/>
              </a:rPr>
              <a:t>Campaign Design</a:t>
            </a:r>
          </a:p>
        </p:txBody>
      </p:sp>
      <p:sp>
        <p:nvSpPr>
          <p:cNvPr id="112" name="Text 105"/>
          <p:cNvSpPr txBox="1"/>
          <p:nvPr/>
        </p:nvSpPr>
        <p:spPr>
          <a:xfrm>
            <a:off x="4892040" y="4659782"/>
            <a:ext cx="2971799" cy="215798"/>
          </a:xfrm>
          <a:prstGeom prst="rect">
            <a:avLst/>
          </a:prstGeom>
          <a:noFill/>
        </p:spPr>
        <p:txBody>
          <a:bodyPr wrap="square" lIns="0" rIns="0" tIns="0" bIns="0" anchor="ctr">
            <a:spAutoFit/>
          </a:bodyPr>
          <a:lstStyle/>
          <a:p>
            <a:r>
              <a:rPr sz="700" b="0" i="0">
                <a:solidFill>
                  <a:srgbClr val="4D4D4D"/>
                </a:solidFill>
                <a:latin typeface="Trenda IG Text"/>
              </a:rPr>
              <a:t>Platform-ready specs; journeys on Marketing Cloud's native tools</a:t>
            </a:r>
          </a:p>
        </p:txBody>
      </p:sp>
      <p:sp>
        <p:nvSpPr>
          <p:cNvPr id="113" name="Shape 106"/>
          <p:cNvSpPr/>
          <p:nvPr/>
        </p:nvSpPr>
        <p:spPr>
          <a:xfrm>
            <a:off x="7955279" y="4694529"/>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7"/>
          <p:cNvSpPr txBox="1"/>
          <p:nvPr/>
        </p:nvSpPr>
        <p:spPr>
          <a:xfrm>
            <a:off x="7955279" y="4694529"/>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HUMAN GATE</a:t>
            </a:r>
          </a:p>
        </p:txBody>
      </p:sp>
      <p:sp>
        <p:nvSpPr>
          <p:cNvPr id="115" name="Shape 108"/>
          <p:cNvSpPr/>
          <p:nvPr/>
        </p:nvSpPr>
        <p:spPr>
          <a:xfrm>
            <a:off x="3063240" y="4912156"/>
            <a:ext cx="5806440" cy="21579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Shape 109"/>
          <p:cNvSpPr/>
          <p:nvPr/>
        </p:nvSpPr>
        <p:spPr>
          <a:xfrm>
            <a:off x="3136392" y="4928615"/>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0"/>
          <p:cNvSpPr txBox="1"/>
          <p:nvPr/>
        </p:nvSpPr>
        <p:spPr>
          <a:xfrm>
            <a:off x="3136392" y="492861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13</a:t>
            </a:r>
          </a:p>
        </p:txBody>
      </p:sp>
      <p:sp>
        <p:nvSpPr>
          <p:cNvPr id="118" name="Text 111"/>
          <p:cNvSpPr txBox="1"/>
          <p:nvPr/>
        </p:nvSpPr>
        <p:spPr>
          <a:xfrm>
            <a:off x="3392424" y="4912156"/>
            <a:ext cx="1508760" cy="215798"/>
          </a:xfrm>
          <a:prstGeom prst="rect">
            <a:avLst/>
          </a:prstGeom>
          <a:noFill/>
        </p:spPr>
        <p:txBody>
          <a:bodyPr wrap="square" lIns="0" rIns="0" tIns="0" bIns="0" anchor="ctr">
            <a:spAutoFit/>
          </a:bodyPr>
          <a:lstStyle/>
          <a:p>
            <a:r>
              <a:rPr sz="700" b="1" i="0">
                <a:solidFill>
                  <a:srgbClr val="1A1A1A"/>
                </a:solidFill>
                <a:latin typeface="Trenda IG Text"/>
              </a:rPr>
              <a:t>Activation Readiness</a:t>
            </a:r>
          </a:p>
        </p:txBody>
      </p:sp>
      <p:sp>
        <p:nvSpPr>
          <p:cNvPr id="119" name="Text 112"/>
          <p:cNvSpPr txBox="1"/>
          <p:nvPr/>
        </p:nvSpPr>
        <p:spPr>
          <a:xfrm>
            <a:off x="4892040" y="4912156"/>
            <a:ext cx="2971799" cy="215798"/>
          </a:xfrm>
          <a:prstGeom prst="rect">
            <a:avLst/>
          </a:prstGeom>
          <a:noFill/>
        </p:spPr>
        <p:txBody>
          <a:bodyPr wrap="square" lIns="0" rIns="0" tIns="0" bIns="0" anchor="ctr">
            <a:spAutoFit/>
          </a:bodyPr>
          <a:lstStyle/>
          <a:p>
            <a:r>
              <a:rPr sz="700" b="0" i="0">
                <a:solidFill>
                  <a:srgbClr val="4D4D4D"/>
                </a:solidFill>
                <a:latin typeface="Trenda IG Text"/>
              </a:rPr>
              <a:t>Tests on test contacts; readiness report without raw PHI</a:t>
            </a:r>
          </a:p>
        </p:txBody>
      </p:sp>
      <p:sp>
        <p:nvSpPr>
          <p:cNvPr id="120" name="Shape 113"/>
          <p:cNvSpPr/>
          <p:nvPr/>
        </p:nvSpPr>
        <p:spPr>
          <a:xfrm>
            <a:off x="7955279" y="4946903"/>
            <a:ext cx="822960" cy="146304"/>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4"/>
          <p:cNvSpPr txBox="1"/>
          <p:nvPr/>
        </p:nvSpPr>
        <p:spPr>
          <a:xfrm>
            <a:off x="7955279" y="4946903"/>
            <a:ext cx="822960" cy="146304"/>
          </a:xfrm>
          <a:prstGeom prst="rect">
            <a:avLst/>
          </a:prstGeom>
          <a:noFill/>
        </p:spPr>
        <p:txBody>
          <a:bodyPr wrap="square" lIns="0" rIns="0" tIns="0" bIns="0" anchor="ctr">
            <a:spAutoFit/>
          </a:bodyPr>
          <a:lstStyle/>
          <a:p>
            <a:pPr algn="ctr"/>
            <a:r>
              <a:rPr sz="700" b="1" i="0" spc="80">
                <a:solidFill>
                  <a:srgbClr val="0089A0"/>
                </a:solidFill>
                <a:latin typeface="Trenda IG Text"/>
              </a:rPr>
              <a:t>GUARD</a:t>
            </a:r>
          </a:p>
        </p:txBody>
      </p:sp>
      <p:sp>
        <p:nvSpPr>
          <p:cNvPr id="122" name="Shape 115"/>
          <p:cNvSpPr/>
          <p:nvPr/>
        </p:nvSpPr>
        <p:spPr>
          <a:xfrm>
            <a:off x="3063240" y="5164531"/>
            <a:ext cx="5806440" cy="21579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6"/>
          <p:cNvSpPr/>
          <p:nvPr/>
        </p:nvSpPr>
        <p:spPr>
          <a:xfrm>
            <a:off x="3136392" y="5180990"/>
            <a:ext cx="182880" cy="18288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7"/>
          <p:cNvSpPr txBox="1"/>
          <p:nvPr/>
        </p:nvSpPr>
        <p:spPr>
          <a:xfrm>
            <a:off x="3136392" y="5180990"/>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14</a:t>
            </a:r>
          </a:p>
        </p:txBody>
      </p:sp>
      <p:sp>
        <p:nvSpPr>
          <p:cNvPr id="125" name="Text 118"/>
          <p:cNvSpPr txBox="1"/>
          <p:nvPr/>
        </p:nvSpPr>
        <p:spPr>
          <a:xfrm>
            <a:off x="3392424" y="5164531"/>
            <a:ext cx="1508760" cy="215798"/>
          </a:xfrm>
          <a:prstGeom prst="rect">
            <a:avLst/>
          </a:prstGeom>
          <a:noFill/>
        </p:spPr>
        <p:txBody>
          <a:bodyPr wrap="square" lIns="0" rIns="0" tIns="0" bIns="0" anchor="ctr">
            <a:spAutoFit/>
          </a:bodyPr>
          <a:lstStyle/>
          <a:p>
            <a:r>
              <a:rPr sz="700" b="1" i="0">
                <a:solidFill>
                  <a:srgbClr val="1A1A1A"/>
                </a:solidFill>
                <a:latin typeface="Trenda IG Text"/>
              </a:rPr>
              <a:t>Measurement Agent</a:t>
            </a:r>
          </a:p>
        </p:txBody>
      </p:sp>
      <p:sp>
        <p:nvSpPr>
          <p:cNvPr id="126" name="Text 119"/>
          <p:cNvSpPr txBox="1"/>
          <p:nvPr/>
        </p:nvSpPr>
        <p:spPr>
          <a:xfrm>
            <a:off x="4892040" y="5164531"/>
            <a:ext cx="2971799" cy="215798"/>
          </a:xfrm>
          <a:prstGeom prst="rect">
            <a:avLst/>
          </a:prstGeom>
          <a:noFill/>
        </p:spPr>
        <p:txBody>
          <a:bodyPr wrap="square" lIns="0" rIns="0" tIns="0" bIns="0" anchor="ctr">
            <a:spAutoFit/>
          </a:bodyPr>
          <a:lstStyle/>
          <a:p>
            <a:r>
              <a:rPr sz="700" b="0" i="0">
                <a:solidFill>
                  <a:srgbClr val="4D4D4D"/>
                </a:solidFill>
                <a:latin typeface="Trenda IG Text"/>
              </a:rPr>
              <a:t>Aggregated outcomes, forecasts and experiments; ROI report</a:t>
            </a:r>
          </a:p>
        </p:txBody>
      </p:sp>
      <p:sp>
        <p:nvSpPr>
          <p:cNvPr id="127" name="Shape 120"/>
          <p:cNvSpPr/>
          <p:nvPr/>
        </p:nvSpPr>
        <p:spPr>
          <a:xfrm>
            <a:off x="7955279" y="5199278"/>
            <a:ext cx="822960" cy="146304"/>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1"/>
          <p:cNvSpPr txBox="1"/>
          <p:nvPr/>
        </p:nvSpPr>
        <p:spPr>
          <a:xfrm>
            <a:off x="7955279" y="5199278"/>
            <a:ext cx="822960" cy="146304"/>
          </a:xfrm>
          <a:prstGeom prst="rect">
            <a:avLst/>
          </a:prstGeom>
          <a:noFill/>
        </p:spPr>
        <p:txBody>
          <a:bodyPr wrap="square" lIns="0" rIns="0" tIns="0" bIns="0" anchor="ctr">
            <a:spAutoFit/>
          </a:bodyPr>
          <a:lstStyle/>
          <a:p>
            <a:pPr algn="ctr"/>
            <a:r>
              <a:rPr sz="700" b="1" i="0" spc="80">
                <a:solidFill>
                  <a:srgbClr val="1A1A1A"/>
                </a:solidFill>
                <a:latin typeface="Trenda IG Text"/>
              </a:rPr>
              <a:t>AI-LED</a:t>
            </a:r>
          </a:p>
        </p:txBody>
      </p:sp>
      <p:sp>
        <p:nvSpPr>
          <p:cNvPr id="129" name="Shape 122"/>
          <p:cNvSpPr/>
          <p:nvPr/>
        </p:nvSpPr>
        <p:spPr>
          <a:xfrm>
            <a:off x="9006840" y="1170432"/>
            <a:ext cx="277063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3"/>
          <p:cNvSpPr txBox="1"/>
          <p:nvPr/>
        </p:nvSpPr>
        <p:spPr>
          <a:xfrm>
            <a:off x="9098280" y="1170432"/>
            <a:ext cx="2587751" cy="274320"/>
          </a:xfrm>
          <a:prstGeom prst="rect">
            <a:avLst/>
          </a:prstGeom>
          <a:noFill/>
        </p:spPr>
        <p:txBody>
          <a:bodyPr wrap="square" lIns="0" rIns="0" tIns="0" bIns="0" anchor="ctr">
            <a:spAutoFit/>
          </a:bodyPr>
          <a:lstStyle/>
          <a:p>
            <a:r>
              <a:rPr sz="700" b="1" i="0" spc="150">
                <a:solidFill>
                  <a:srgbClr val="1A1A1A"/>
                </a:solidFill>
                <a:latin typeface="Trenda IG Text"/>
              </a:rPr>
              <a:t>POD SKILLS</a:t>
            </a:r>
            <a:r>
              <a:rPr sz="700" b="0" i="0">
                <a:solidFill>
                  <a:srgbClr val="1A1A1A"/>
                </a:solidFill>
                <a:latin typeface="Trenda IG Text"/>
              </a:rPr>
              <a:t>   what changes per pod</a:t>
            </a:r>
          </a:p>
        </p:txBody>
      </p:sp>
      <p:sp>
        <p:nvSpPr>
          <p:cNvPr id="131" name="Shape 124"/>
          <p:cNvSpPr/>
          <p:nvPr/>
        </p:nvSpPr>
        <p:spPr>
          <a:xfrm>
            <a:off x="9006840" y="1444752"/>
            <a:ext cx="2770632" cy="3995928"/>
          </a:xfrm>
          <a:prstGeom prst="rect">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2" name="Picture 131" descr="salesforce.png"/>
          <p:cNvPicPr>
            <a:picLocks noChangeAspect="1"/>
          </p:cNvPicPr>
          <p:nvPr/>
        </p:nvPicPr>
        <p:blipFill>
          <a:blip r:embed="rId4"/>
          <a:stretch>
            <a:fillRect/>
          </a:stretch>
        </p:blipFill>
        <p:spPr>
          <a:xfrm>
            <a:off x="9116567" y="1563624"/>
            <a:ext cx="182880" cy="182880"/>
          </a:xfrm>
          <a:prstGeom prst="rect">
            <a:avLst/>
          </a:prstGeom>
        </p:spPr>
      </p:pic>
      <p:sp>
        <p:nvSpPr>
          <p:cNvPr id="133" name="Text 125"/>
          <p:cNvSpPr txBox="1"/>
          <p:nvPr/>
        </p:nvSpPr>
        <p:spPr>
          <a:xfrm>
            <a:off x="9363455" y="1554480"/>
            <a:ext cx="2551176" cy="201168"/>
          </a:xfrm>
          <a:prstGeom prst="rect">
            <a:avLst/>
          </a:prstGeom>
          <a:noFill/>
        </p:spPr>
        <p:txBody>
          <a:bodyPr wrap="square" lIns="0" rIns="0" tIns="0" bIns="0" anchor="ctr">
            <a:spAutoFit/>
          </a:bodyPr>
          <a:lstStyle/>
          <a:p>
            <a:r>
              <a:rPr sz="800" b="1" i="0">
                <a:solidFill>
                  <a:srgbClr val="1A1A1A"/>
                </a:solidFill>
                <a:latin typeface="Trenda IG Text"/>
              </a:rPr>
              <a:t>Health Cloud pods</a:t>
            </a:r>
          </a:p>
        </p:txBody>
      </p:sp>
      <p:sp>
        <p:nvSpPr>
          <p:cNvPr id="134" name="Text 126"/>
          <p:cNvSpPr txBox="1"/>
          <p:nvPr/>
        </p:nvSpPr>
        <p:spPr>
          <a:xfrm>
            <a:off x="9116567" y="1755648"/>
            <a:ext cx="2551176" cy="182880"/>
          </a:xfrm>
          <a:prstGeom prst="rect">
            <a:avLst/>
          </a:prstGeom>
          <a:noFill/>
        </p:spPr>
        <p:txBody>
          <a:bodyPr wrap="square" lIns="0" rIns="0" tIns="0" bIns="0" anchor="t">
            <a:spAutoFit/>
          </a:bodyPr>
          <a:lstStyle/>
          <a:p>
            <a:r>
              <a:rPr sz="700" b="0" i="0">
                <a:solidFill>
                  <a:srgbClr val="6B6B6B"/>
                </a:solidFill>
                <a:latin typeface="Trenda IG Text"/>
              </a:rPr>
              <a:t>Network Services, Clinical Transformation, Contact Center</a:t>
            </a:r>
          </a:p>
        </p:txBody>
      </p:sp>
      <p:sp>
        <p:nvSpPr>
          <p:cNvPr id="135" name="Text 127"/>
          <p:cNvSpPr txBox="1"/>
          <p:nvPr/>
        </p:nvSpPr>
        <p:spPr>
          <a:xfrm>
            <a:off x="9116567" y="1938528"/>
            <a:ext cx="2551176" cy="329184"/>
          </a:xfrm>
          <a:prstGeom prst="rect">
            <a:avLst/>
          </a:prstGeom>
          <a:noFill/>
        </p:spPr>
        <p:txBody>
          <a:bodyPr wrap="square" lIns="0" rIns="0" tIns="0" bIns="0" anchor="t">
            <a:spAutoFit/>
          </a:bodyPr>
          <a:lstStyle/>
          <a:p>
            <a:r>
              <a:rPr sz="700" b="0" i="0">
                <a:solidFill>
                  <a:srgbClr val="1A1A1A"/>
                </a:solidFill>
                <a:latin typeface="Trenda IG Text"/>
              </a:rPr>
              <a:t>Apex, Flows, LWC, sharing, Health Cloud objects</a:t>
            </a:r>
          </a:p>
        </p:txBody>
      </p:sp>
      <p:sp>
        <p:nvSpPr>
          <p:cNvPr id="136" name="Shape 128"/>
          <p:cNvSpPr/>
          <p:nvPr/>
        </p:nvSpPr>
        <p:spPr>
          <a:xfrm>
            <a:off x="9116567" y="2267712"/>
            <a:ext cx="978408" cy="164592"/>
          </a:xfrm>
          <a:prstGeom prst="roundRect">
            <a:avLst>
              <a:gd name="adj" fmla="val 50000"/>
            </a:avLst>
          </a:prstGeom>
          <a:noFill/>
          <a:ln w="9525">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9"/>
          <p:cNvSpPr txBox="1"/>
          <p:nvPr/>
        </p:nvSpPr>
        <p:spPr>
          <a:xfrm>
            <a:off x="9116567" y="2267712"/>
            <a:ext cx="978408" cy="164592"/>
          </a:xfrm>
          <a:prstGeom prst="rect">
            <a:avLst/>
          </a:prstGeom>
          <a:noFill/>
        </p:spPr>
        <p:txBody>
          <a:bodyPr wrap="square" lIns="0" rIns="0" tIns="0" bIns="0" anchor="ctr">
            <a:spAutoFit/>
          </a:bodyPr>
          <a:lstStyle/>
          <a:p>
            <a:pPr algn="ctr"/>
            <a:r>
              <a:rPr sz="700" b="1" i="0">
                <a:solidFill>
                  <a:srgbClr val="1A1A1A"/>
                </a:solidFill>
                <a:latin typeface="Trenda IG Text"/>
              </a:rPr>
              <a:t>DELIVERY AGENTS</a:t>
            </a:r>
          </a:p>
        </p:txBody>
      </p:sp>
      <p:pic>
        <p:nvPicPr>
          <p:cNvPr id="138" name="Picture 137" descr="salesforce.png"/>
          <p:cNvPicPr>
            <a:picLocks noChangeAspect="1"/>
          </p:cNvPicPr>
          <p:nvPr/>
        </p:nvPicPr>
        <p:blipFill>
          <a:blip r:embed="rId4"/>
          <a:stretch>
            <a:fillRect/>
          </a:stretch>
        </p:blipFill>
        <p:spPr>
          <a:xfrm>
            <a:off x="9116567" y="2587752"/>
            <a:ext cx="182880" cy="182880"/>
          </a:xfrm>
          <a:prstGeom prst="rect">
            <a:avLst/>
          </a:prstGeom>
        </p:spPr>
      </p:pic>
      <p:sp>
        <p:nvSpPr>
          <p:cNvPr id="139" name="Text 130"/>
          <p:cNvSpPr txBox="1"/>
          <p:nvPr/>
        </p:nvSpPr>
        <p:spPr>
          <a:xfrm>
            <a:off x="9363455" y="2578608"/>
            <a:ext cx="2551176" cy="201168"/>
          </a:xfrm>
          <a:prstGeom prst="rect">
            <a:avLst/>
          </a:prstGeom>
          <a:noFill/>
        </p:spPr>
        <p:txBody>
          <a:bodyPr wrap="square" lIns="0" rIns="0" tIns="0" bIns="0" anchor="ctr">
            <a:spAutoFit/>
          </a:bodyPr>
          <a:lstStyle/>
          <a:p>
            <a:r>
              <a:rPr sz="800" b="1" i="0">
                <a:solidFill>
                  <a:srgbClr val="0089A0"/>
                </a:solidFill>
                <a:latin typeface="Trenda IG Text"/>
              </a:rPr>
              <a:t>Marketing Cloud pods</a:t>
            </a:r>
          </a:p>
        </p:txBody>
      </p:sp>
      <p:sp>
        <p:nvSpPr>
          <p:cNvPr id="140" name="Text 131"/>
          <p:cNvSpPr txBox="1"/>
          <p:nvPr/>
        </p:nvSpPr>
        <p:spPr>
          <a:xfrm>
            <a:off x="9116567" y="2779776"/>
            <a:ext cx="2551176" cy="182880"/>
          </a:xfrm>
          <a:prstGeom prst="rect">
            <a:avLst/>
          </a:prstGeom>
          <a:noFill/>
        </p:spPr>
        <p:txBody>
          <a:bodyPr wrap="square" lIns="0" rIns="0" tIns="0" bIns="0" anchor="t">
            <a:spAutoFit/>
          </a:bodyPr>
          <a:lstStyle/>
          <a:p>
            <a:r>
              <a:rPr sz="700" b="0" i="0">
                <a:solidFill>
                  <a:srgbClr val="6B6B6B"/>
                </a:solidFill>
                <a:latin typeface="Trenda IG Text"/>
              </a:rPr>
              <a:t>Nudge / Demand, VBC outreach</a:t>
            </a:r>
          </a:p>
        </p:txBody>
      </p:sp>
      <p:sp>
        <p:nvSpPr>
          <p:cNvPr id="141" name="Text 132"/>
          <p:cNvSpPr txBox="1"/>
          <p:nvPr/>
        </p:nvSpPr>
        <p:spPr>
          <a:xfrm>
            <a:off x="9116567" y="2962656"/>
            <a:ext cx="2551176" cy="329184"/>
          </a:xfrm>
          <a:prstGeom prst="rect">
            <a:avLst/>
          </a:prstGeom>
          <a:noFill/>
        </p:spPr>
        <p:txBody>
          <a:bodyPr wrap="square" lIns="0" rIns="0" tIns="0" bIns="0" anchor="t">
            <a:spAutoFit/>
          </a:bodyPr>
          <a:lstStyle/>
          <a:p>
            <a:r>
              <a:rPr sz="700" b="0" i="0">
                <a:solidFill>
                  <a:srgbClr val="1A1A1A"/>
                </a:solidFill>
                <a:latin typeface="Trenda IG Text"/>
              </a:rPr>
              <a:t>Data Cloud, SFMC SQL, AMPscript, journeys</a:t>
            </a:r>
          </a:p>
        </p:txBody>
      </p:sp>
      <p:sp>
        <p:nvSpPr>
          <p:cNvPr id="142" name="Shape 133"/>
          <p:cNvSpPr/>
          <p:nvPr/>
        </p:nvSpPr>
        <p:spPr>
          <a:xfrm>
            <a:off x="9116567" y="3291840"/>
            <a:ext cx="1561795"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4"/>
          <p:cNvSpPr txBox="1"/>
          <p:nvPr/>
        </p:nvSpPr>
        <p:spPr>
          <a:xfrm>
            <a:off x="9116567" y="3291840"/>
            <a:ext cx="1561795" cy="164592"/>
          </a:xfrm>
          <a:prstGeom prst="rect">
            <a:avLst/>
          </a:prstGeom>
          <a:noFill/>
        </p:spPr>
        <p:txBody>
          <a:bodyPr wrap="square" lIns="0" rIns="0" tIns="0" bIns="0" anchor="ctr">
            <a:spAutoFit/>
          </a:bodyPr>
          <a:lstStyle/>
          <a:p>
            <a:pPr algn="ctr"/>
            <a:r>
              <a:rPr sz="700" b="1" i="0">
                <a:solidFill>
                  <a:srgbClr val="0089A0"/>
                </a:solidFill>
                <a:latin typeface="Trenda IG Text"/>
              </a:rPr>
              <a:t>DELIVERY + CAMPAIGN AGENTS</a:t>
            </a:r>
          </a:p>
        </p:txBody>
      </p:sp>
      <p:sp>
        <p:nvSpPr>
          <p:cNvPr id="144" name="Shape 135"/>
          <p:cNvSpPr/>
          <p:nvPr/>
        </p:nvSpPr>
        <p:spPr>
          <a:xfrm>
            <a:off x="10733227" y="3291840"/>
            <a:ext cx="607161"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36"/>
          <p:cNvSpPr txBox="1"/>
          <p:nvPr/>
        </p:nvSpPr>
        <p:spPr>
          <a:xfrm>
            <a:off x="10733227" y="3291840"/>
            <a:ext cx="607161" cy="164592"/>
          </a:xfrm>
          <a:prstGeom prst="rect">
            <a:avLst/>
          </a:prstGeom>
          <a:noFill/>
        </p:spPr>
        <p:txBody>
          <a:bodyPr wrap="square" lIns="0" rIns="0" tIns="0" bIns="0" anchor="ctr">
            <a:spAutoFit/>
          </a:bodyPr>
          <a:lstStyle/>
          <a:p>
            <a:pPr algn="ctr"/>
            <a:r>
              <a:rPr sz="700" b="1" i="0">
                <a:solidFill>
                  <a:srgbClr val="0089A0"/>
                </a:solidFill>
                <a:latin typeface="Trenda IG Text"/>
              </a:rPr>
              <a:t>GCP DATA</a:t>
            </a:r>
          </a:p>
        </p:txBody>
      </p:sp>
      <p:sp>
        <p:nvSpPr>
          <p:cNvPr id="146" name="Text 137"/>
          <p:cNvSpPr txBox="1"/>
          <p:nvPr/>
        </p:nvSpPr>
        <p:spPr>
          <a:xfrm>
            <a:off x="9116567" y="3602736"/>
            <a:ext cx="2551176" cy="201168"/>
          </a:xfrm>
          <a:prstGeom prst="rect">
            <a:avLst/>
          </a:prstGeom>
          <a:noFill/>
        </p:spPr>
        <p:txBody>
          <a:bodyPr wrap="square" lIns="0" rIns="0" tIns="0" bIns="0" anchor="ctr">
            <a:spAutoFit/>
          </a:bodyPr>
          <a:lstStyle/>
          <a:p>
            <a:r>
              <a:rPr sz="800" b="1" i="0">
                <a:solidFill>
                  <a:srgbClr val="1A1A1A"/>
                </a:solidFill>
                <a:latin typeface="Trenda IG Text"/>
              </a:rPr>
              <a:t>QA, all pods</a:t>
            </a:r>
          </a:p>
        </p:txBody>
      </p:sp>
      <p:sp>
        <p:nvSpPr>
          <p:cNvPr id="147" name="Text 138"/>
          <p:cNvSpPr txBox="1"/>
          <p:nvPr/>
        </p:nvSpPr>
        <p:spPr>
          <a:xfrm>
            <a:off x="9116567" y="3803904"/>
            <a:ext cx="2551176" cy="182880"/>
          </a:xfrm>
          <a:prstGeom prst="rect">
            <a:avLst/>
          </a:prstGeom>
          <a:noFill/>
        </p:spPr>
        <p:txBody>
          <a:bodyPr wrap="square" lIns="0" rIns="0" tIns="0" bIns="0" anchor="t">
            <a:spAutoFit/>
          </a:bodyPr>
          <a:lstStyle/>
          <a:p>
            <a:r>
              <a:rPr sz="700" b="0" i="0">
                <a:solidFill>
                  <a:srgbClr val="6B6B6B"/>
                </a:solidFill>
                <a:latin typeface="Trenda IG Text"/>
              </a:rPr>
              <a:t>Every release</a:t>
            </a:r>
          </a:p>
        </p:txBody>
      </p:sp>
      <p:sp>
        <p:nvSpPr>
          <p:cNvPr id="148" name="Text 139"/>
          <p:cNvSpPr txBox="1"/>
          <p:nvPr/>
        </p:nvSpPr>
        <p:spPr>
          <a:xfrm>
            <a:off x="9116567" y="3986784"/>
            <a:ext cx="2551176" cy="329184"/>
          </a:xfrm>
          <a:prstGeom prst="rect">
            <a:avLst/>
          </a:prstGeom>
          <a:noFill/>
        </p:spPr>
        <p:txBody>
          <a:bodyPr wrap="square" lIns="0" rIns="0" tIns="0" bIns="0" anchor="t">
            <a:spAutoFit/>
          </a:bodyPr>
          <a:lstStyle/>
          <a:p>
            <a:r>
              <a:rPr sz="700" b="0" i="0">
                <a:solidFill>
                  <a:srgbClr val="1A1A1A"/>
                </a:solidFill>
                <a:latin typeface="Trenda IG Text"/>
              </a:rPr>
              <a:t>Zephyr test cases, Copado robotic and regression</a:t>
            </a:r>
          </a:p>
        </p:txBody>
      </p:sp>
      <p:sp>
        <p:nvSpPr>
          <p:cNvPr id="149" name="Shape 140"/>
          <p:cNvSpPr/>
          <p:nvPr/>
        </p:nvSpPr>
        <p:spPr>
          <a:xfrm>
            <a:off x="9098280" y="4873752"/>
            <a:ext cx="2587751" cy="457200"/>
          </a:xfrm>
          <a:prstGeom prst="roundRect">
            <a:avLst>
              <a:gd name="adj" fmla="val 1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41"/>
          <p:cNvSpPr txBox="1"/>
          <p:nvPr/>
        </p:nvSpPr>
        <p:spPr>
          <a:xfrm>
            <a:off x="9189719" y="4873752"/>
            <a:ext cx="2404872" cy="457200"/>
          </a:xfrm>
          <a:prstGeom prst="rect">
            <a:avLst/>
          </a:prstGeom>
          <a:noFill/>
        </p:spPr>
        <p:txBody>
          <a:bodyPr wrap="square" lIns="0" rIns="0" tIns="0" bIns="0" anchor="ctr">
            <a:spAutoFit/>
          </a:bodyPr>
          <a:lstStyle/>
          <a:p>
            <a:r>
              <a:rPr sz="700" b="0" i="0">
                <a:solidFill>
                  <a:srgbClr val="1A1A1A"/>
                </a:solidFill>
                <a:latin typeface="Trenda IG Text"/>
              </a:rPr>
              <a:t>A new pod adds its sources and skills; new agents plug into the same framework when new work needs them.</a:t>
            </a:r>
          </a:p>
        </p:txBody>
      </p:sp>
      <p:sp>
        <p:nvSpPr>
          <p:cNvPr id="151" name="Text 142"/>
          <p:cNvSpPr txBox="1"/>
          <p:nvPr/>
        </p:nvSpPr>
        <p:spPr>
          <a:xfrm>
            <a:off x="411480" y="5504688"/>
            <a:ext cx="1188720" cy="347472"/>
          </a:xfrm>
          <a:prstGeom prst="rect">
            <a:avLst/>
          </a:prstGeom>
          <a:noFill/>
        </p:spPr>
        <p:txBody>
          <a:bodyPr wrap="square" lIns="0" rIns="0" tIns="0" bIns="0" anchor="ctr">
            <a:spAutoFit/>
          </a:bodyPr>
          <a:lstStyle/>
          <a:p>
            <a:r>
              <a:rPr sz="700" b="1" i="0" spc="120">
                <a:solidFill>
                  <a:srgbClr val="1A1A1A"/>
                </a:solidFill>
                <a:latin typeface="Trenda IG Text"/>
              </a:rPr>
              <a:t>DELIVERY PATH</a:t>
            </a:r>
          </a:p>
        </p:txBody>
      </p:sp>
      <p:sp>
        <p:nvSpPr>
          <p:cNvPr id="152" name="Shape 143"/>
          <p:cNvSpPr/>
          <p:nvPr/>
        </p:nvSpPr>
        <p:spPr>
          <a:xfrm>
            <a:off x="1645920"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44"/>
          <p:cNvSpPr txBox="1"/>
          <p:nvPr/>
        </p:nvSpPr>
        <p:spPr>
          <a:xfrm>
            <a:off x="1645920"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AI build</a:t>
            </a:r>
          </a:p>
          <a:p>
            <a:pPr algn="ctr">
              <a:lnSpc>
                <a:spcPct val="90000"/>
              </a:lnSpc>
            </a:pPr>
            <a:r>
              <a:rPr sz="700" b="0" i="0">
                <a:solidFill>
                  <a:srgbClr val="4D4D4D"/>
                </a:solidFill>
                <a:latin typeface="Trenda IG Text"/>
              </a:rPr>
              <a:t>Developer Agent</a:t>
            </a:r>
          </a:p>
        </p:txBody>
      </p:sp>
      <p:cxnSp>
        <p:nvCxnSpPr>
          <p:cNvPr id="154" name="Arrow 145"/>
          <p:cNvCxnSpPr/>
          <p:nvPr/>
        </p:nvCxnSpPr>
        <p:spPr>
          <a:xfrm>
            <a:off x="2848356"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5" name="Shape 146"/>
          <p:cNvSpPr/>
          <p:nvPr/>
        </p:nvSpPr>
        <p:spPr>
          <a:xfrm>
            <a:off x="2921508"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7"/>
          <p:cNvSpPr txBox="1"/>
          <p:nvPr/>
        </p:nvSpPr>
        <p:spPr>
          <a:xfrm>
            <a:off x="2921508"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Copado</a:t>
            </a:r>
          </a:p>
          <a:p>
            <a:pPr algn="ctr">
              <a:lnSpc>
                <a:spcPct val="90000"/>
              </a:lnSpc>
            </a:pPr>
            <a:r>
              <a:rPr sz="700" b="0" i="0">
                <a:solidFill>
                  <a:srgbClr val="4D4D4D"/>
                </a:solidFill>
                <a:latin typeface="Trenda IG Text"/>
              </a:rPr>
              <a:t>Release Agent</a:t>
            </a:r>
          </a:p>
        </p:txBody>
      </p:sp>
      <p:cxnSp>
        <p:nvCxnSpPr>
          <p:cNvPr id="157" name="Arrow 148"/>
          <p:cNvCxnSpPr/>
          <p:nvPr/>
        </p:nvCxnSpPr>
        <p:spPr>
          <a:xfrm>
            <a:off x="4123944"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8" name="Shape 149"/>
          <p:cNvSpPr/>
          <p:nvPr/>
        </p:nvSpPr>
        <p:spPr>
          <a:xfrm>
            <a:off x="4197096"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 150"/>
          <p:cNvSpPr txBox="1"/>
          <p:nvPr/>
        </p:nvSpPr>
        <p:spPr>
          <a:xfrm>
            <a:off x="4197096"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Quality gates</a:t>
            </a:r>
          </a:p>
          <a:p>
            <a:pPr algn="ctr">
              <a:lnSpc>
                <a:spcPct val="90000"/>
              </a:lnSpc>
            </a:pPr>
            <a:r>
              <a:rPr sz="700" b="0" i="0">
                <a:solidFill>
                  <a:srgbClr val="4D4D4D"/>
                </a:solidFill>
                <a:latin typeface="Trenda IG Text"/>
              </a:rPr>
              <a:t>Review + Test Agents</a:t>
            </a:r>
          </a:p>
        </p:txBody>
      </p:sp>
      <p:cxnSp>
        <p:nvCxnSpPr>
          <p:cNvPr id="160" name="Arrow 151"/>
          <p:cNvCxnSpPr/>
          <p:nvPr/>
        </p:nvCxnSpPr>
        <p:spPr>
          <a:xfrm>
            <a:off x="5399531"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1" name="Shape 152"/>
          <p:cNvSpPr/>
          <p:nvPr/>
        </p:nvSpPr>
        <p:spPr>
          <a:xfrm>
            <a:off x="5472683"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53"/>
          <p:cNvSpPr txBox="1"/>
          <p:nvPr/>
        </p:nvSpPr>
        <p:spPr>
          <a:xfrm>
            <a:off x="5472683"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DEV</a:t>
            </a:r>
          </a:p>
          <a:p>
            <a:pPr algn="ctr">
              <a:lnSpc>
                <a:spcPct val="90000"/>
              </a:lnSpc>
            </a:pPr>
            <a:r>
              <a:rPr sz="700" b="0" i="0">
                <a:solidFill>
                  <a:srgbClr val="4D4D4D"/>
                </a:solidFill>
                <a:latin typeface="Trenda IG Text"/>
              </a:rPr>
              <a:t>Release Agent</a:t>
            </a:r>
          </a:p>
        </p:txBody>
      </p:sp>
      <p:cxnSp>
        <p:nvCxnSpPr>
          <p:cNvPr id="163" name="Arrow 154"/>
          <p:cNvCxnSpPr/>
          <p:nvPr/>
        </p:nvCxnSpPr>
        <p:spPr>
          <a:xfrm>
            <a:off x="6675119"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4" name="Shape 155"/>
          <p:cNvSpPr/>
          <p:nvPr/>
        </p:nvSpPr>
        <p:spPr>
          <a:xfrm>
            <a:off x="6748271"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ext 156"/>
          <p:cNvSpPr txBox="1"/>
          <p:nvPr/>
        </p:nvSpPr>
        <p:spPr>
          <a:xfrm>
            <a:off x="6748271"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SIT</a:t>
            </a:r>
          </a:p>
          <a:p>
            <a:pPr algn="ctr">
              <a:lnSpc>
                <a:spcPct val="90000"/>
              </a:lnSpc>
            </a:pPr>
            <a:r>
              <a:rPr sz="700" b="0" i="0">
                <a:solidFill>
                  <a:srgbClr val="4D4D4D"/>
                </a:solidFill>
                <a:latin typeface="Trenda IG Text"/>
              </a:rPr>
              <a:t>Test Agent</a:t>
            </a:r>
          </a:p>
        </p:txBody>
      </p:sp>
      <p:cxnSp>
        <p:nvCxnSpPr>
          <p:cNvPr id="166" name="Arrow 157"/>
          <p:cNvCxnSpPr/>
          <p:nvPr/>
        </p:nvCxnSpPr>
        <p:spPr>
          <a:xfrm>
            <a:off x="7950707"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7" name="Shape 158"/>
          <p:cNvSpPr/>
          <p:nvPr/>
        </p:nvSpPr>
        <p:spPr>
          <a:xfrm>
            <a:off x="8023859" y="5504688"/>
            <a:ext cx="1202436"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Text 159"/>
          <p:cNvSpPr txBox="1"/>
          <p:nvPr/>
        </p:nvSpPr>
        <p:spPr>
          <a:xfrm>
            <a:off x="8023859" y="5504688"/>
            <a:ext cx="1202436" cy="347472"/>
          </a:xfrm>
          <a:prstGeom prst="rect">
            <a:avLst/>
          </a:prstGeom>
          <a:noFill/>
        </p:spPr>
        <p:txBody>
          <a:bodyPr wrap="square" lIns="0" rIns="0" tIns="0" bIns="0" anchor="ctr">
            <a:spAutoFit/>
          </a:bodyPr>
          <a:lstStyle/>
          <a:p>
            <a:pPr algn="ctr">
              <a:lnSpc>
                <a:spcPct val="90000"/>
              </a:lnSpc>
            </a:pPr>
            <a:r>
              <a:rPr sz="700" b="1" i="0">
                <a:solidFill>
                  <a:srgbClr val="0089A0"/>
                </a:solidFill>
                <a:latin typeface="Trenda IG Text"/>
              </a:rPr>
              <a:t>UAT</a:t>
            </a:r>
          </a:p>
          <a:p>
            <a:pPr algn="ctr">
              <a:lnSpc>
                <a:spcPct val="90000"/>
              </a:lnSpc>
            </a:pPr>
            <a:r>
              <a:rPr sz="700" b="0" i="0">
                <a:solidFill>
                  <a:srgbClr val="0089A0"/>
                </a:solidFill>
                <a:latin typeface="Trenda IG Text"/>
              </a:rPr>
              <a:t>business users</a:t>
            </a:r>
          </a:p>
        </p:txBody>
      </p:sp>
      <p:cxnSp>
        <p:nvCxnSpPr>
          <p:cNvPr id="169" name="Arrow 160"/>
          <p:cNvCxnSpPr/>
          <p:nvPr/>
        </p:nvCxnSpPr>
        <p:spPr>
          <a:xfrm>
            <a:off x="9226295"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0" name="Shape 161"/>
          <p:cNvSpPr/>
          <p:nvPr/>
        </p:nvSpPr>
        <p:spPr>
          <a:xfrm>
            <a:off x="9299447" y="5504688"/>
            <a:ext cx="1202436"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Text 162"/>
          <p:cNvSpPr txBox="1"/>
          <p:nvPr/>
        </p:nvSpPr>
        <p:spPr>
          <a:xfrm>
            <a:off x="9299447" y="5504688"/>
            <a:ext cx="1202436" cy="347472"/>
          </a:xfrm>
          <a:prstGeom prst="rect">
            <a:avLst/>
          </a:prstGeom>
          <a:noFill/>
        </p:spPr>
        <p:txBody>
          <a:bodyPr wrap="square" lIns="0" rIns="0" tIns="0" bIns="0" anchor="ctr">
            <a:spAutoFit/>
          </a:bodyPr>
          <a:lstStyle/>
          <a:p>
            <a:pPr algn="ctr">
              <a:lnSpc>
                <a:spcPct val="90000"/>
              </a:lnSpc>
            </a:pPr>
            <a:r>
              <a:rPr sz="700" b="1" i="0">
                <a:solidFill>
                  <a:srgbClr val="0089A0"/>
                </a:solidFill>
                <a:latin typeface="Trenda IG Text"/>
              </a:rPr>
              <a:t>CAB</a:t>
            </a:r>
          </a:p>
          <a:p>
            <a:pPr algn="ctr">
              <a:lnSpc>
                <a:spcPct val="90000"/>
              </a:lnSpc>
            </a:pPr>
            <a:r>
              <a:rPr sz="700" b="0" i="0">
                <a:solidFill>
                  <a:srgbClr val="0089A0"/>
                </a:solidFill>
                <a:latin typeface="Trenda IG Text"/>
              </a:rPr>
              <a:t>change board</a:t>
            </a:r>
          </a:p>
        </p:txBody>
      </p:sp>
      <p:cxnSp>
        <p:nvCxnSpPr>
          <p:cNvPr id="172" name="Arrow 163"/>
          <p:cNvCxnSpPr/>
          <p:nvPr/>
        </p:nvCxnSpPr>
        <p:spPr>
          <a:xfrm>
            <a:off x="10501883" y="5678424"/>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3" name="Shape 164"/>
          <p:cNvSpPr/>
          <p:nvPr/>
        </p:nvSpPr>
        <p:spPr>
          <a:xfrm>
            <a:off x="10575035" y="5504688"/>
            <a:ext cx="1202436" cy="347472"/>
          </a:xfrm>
          <a:prstGeom prst="roundRect">
            <a:avLst>
              <a:gd name="adj" fmla="val 30000"/>
            </a:avLst>
          </a:prstGeom>
          <a:solidFill>
            <a:srgbClr val="F5F5F5"/>
          </a:solidFill>
          <a:ln w="1143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5"/>
          <p:cNvSpPr txBox="1"/>
          <p:nvPr/>
        </p:nvSpPr>
        <p:spPr>
          <a:xfrm>
            <a:off x="10575035" y="5504688"/>
            <a:ext cx="1202436"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PROD</a:t>
            </a:r>
          </a:p>
          <a:p>
            <a:pPr algn="ctr">
              <a:lnSpc>
                <a:spcPct val="90000"/>
              </a:lnSpc>
            </a:pPr>
            <a:r>
              <a:rPr sz="700" b="0" i="0">
                <a:solidFill>
                  <a:srgbClr val="4D4D4D"/>
                </a:solidFill>
                <a:latin typeface="Trenda IG Text"/>
              </a:rPr>
              <a:t>owning team</a:t>
            </a:r>
          </a:p>
        </p:txBody>
      </p:sp>
      <p:sp>
        <p:nvSpPr>
          <p:cNvPr id="175" name="Text 166"/>
          <p:cNvSpPr txBox="1"/>
          <p:nvPr/>
        </p:nvSpPr>
        <p:spPr>
          <a:xfrm>
            <a:off x="411480" y="5907024"/>
            <a:ext cx="1188720" cy="347472"/>
          </a:xfrm>
          <a:prstGeom prst="rect">
            <a:avLst/>
          </a:prstGeom>
          <a:noFill/>
        </p:spPr>
        <p:txBody>
          <a:bodyPr wrap="square" lIns="0" rIns="0" tIns="0" bIns="0" anchor="ctr">
            <a:spAutoFit/>
          </a:bodyPr>
          <a:lstStyle/>
          <a:p>
            <a:r>
              <a:rPr sz="700" b="1" i="0" spc="120">
                <a:solidFill>
                  <a:srgbClr val="0089A0"/>
                </a:solidFill>
                <a:latin typeface="Trenda IG Text"/>
              </a:rPr>
              <a:t>CAMPAIGN PATH</a:t>
            </a:r>
          </a:p>
        </p:txBody>
      </p:sp>
      <p:sp>
        <p:nvSpPr>
          <p:cNvPr id="176" name="Shape 167"/>
          <p:cNvSpPr/>
          <p:nvPr/>
        </p:nvSpPr>
        <p:spPr>
          <a:xfrm>
            <a:off x="1645920"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Text 168"/>
          <p:cNvSpPr txBox="1"/>
          <p:nvPr/>
        </p:nvSpPr>
        <p:spPr>
          <a:xfrm>
            <a:off x="1645920" y="5907024"/>
            <a:ext cx="1627632"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Prompt in Codex</a:t>
            </a:r>
          </a:p>
          <a:p>
            <a:pPr algn="ctr">
              <a:lnSpc>
                <a:spcPct val="90000"/>
              </a:lnSpc>
            </a:pPr>
            <a:r>
              <a:rPr sz="700" b="0" i="0">
                <a:solidFill>
                  <a:srgbClr val="4D4D4D"/>
                </a:solidFill>
                <a:latin typeface="Trenda IG Text"/>
              </a:rPr>
              <a:t>Orchestrator</a:t>
            </a:r>
          </a:p>
        </p:txBody>
      </p:sp>
      <p:cxnSp>
        <p:nvCxnSpPr>
          <p:cNvPr id="178" name="Arrow 169"/>
          <p:cNvCxnSpPr/>
          <p:nvPr/>
        </p:nvCxnSpPr>
        <p:spPr>
          <a:xfrm>
            <a:off x="3273552"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9" name="Shape 170"/>
          <p:cNvSpPr/>
          <p:nvPr/>
        </p:nvSpPr>
        <p:spPr>
          <a:xfrm>
            <a:off x="3346704"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Text 171"/>
          <p:cNvSpPr txBox="1"/>
          <p:nvPr/>
        </p:nvSpPr>
        <p:spPr>
          <a:xfrm>
            <a:off x="3346704" y="5907024"/>
            <a:ext cx="1627632"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Gold A insights</a:t>
            </a:r>
          </a:p>
          <a:p>
            <a:pPr algn="ctr">
              <a:lnSpc>
                <a:spcPct val="90000"/>
              </a:lnSpc>
            </a:pPr>
            <a:r>
              <a:rPr sz="700" b="0" i="0">
                <a:solidFill>
                  <a:srgbClr val="4D4D4D"/>
                </a:solidFill>
                <a:latin typeface="Trenda IG Text"/>
              </a:rPr>
              <a:t>Strategist + Analytics</a:t>
            </a:r>
          </a:p>
        </p:txBody>
      </p:sp>
      <p:cxnSp>
        <p:nvCxnSpPr>
          <p:cNvPr id="181" name="Arrow 172"/>
          <p:cNvCxnSpPr/>
          <p:nvPr/>
        </p:nvCxnSpPr>
        <p:spPr>
          <a:xfrm>
            <a:off x="4974336"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2" name="Shape 173"/>
          <p:cNvSpPr/>
          <p:nvPr/>
        </p:nvSpPr>
        <p:spPr>
          <a:xfrm>
            <a:off x="5047488"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3" name="Text 174"/>
          <p:cNvSpPr txBox="1"/>
          <p:nvPr/>
        </p:nvSpPr>
        <p:spPr>
          <a:xfrm>
            <a:off x="5047488" y="5907024"/>
            <a:ext cx="1627632"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Build + test</a:t>
            </a:r>
          </a:p>
          <a:p>
            <a:pPr algn="ctr">
              <a:lnSpc>
                <a:spcPct val="90000"/>
              </a:lnSpc>
            </a:pPr>
            <a:r>
              <a:rPr sz="700" b="0" i="0">
                <a:solidFill>
                  <a:srgbClr val="4D4D4D"/>
                </a:solidFill>
                <a:latin typeface="Trenda IG Text"/>
              </a:rPr>
              <a:t>Design + Readiness</a:t>
            </a:r>
          </a:p>
        </p:txBody>
      </p:sp>
      <p:cxnSp>
        <p:nvCxnSpPr>
          <p:cNvPr id="184" name="Arrow 175"/>
          <p:cNvCxnSpPr/>
          <p:nvPr/>
        </p:nvCxnSpPr>
        <p:spPr>
          <a:xfrm>
            <a:off x="6675120"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5" name="Shape 176"/>
          <p:cNvSpPr/>
          <p:nvPr/>
        </p:nvSpPr>
        <p:spPr>
          <a:xfrm>
            <a:off x="6748272"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6" name="Text 177"/>
          <p:cNvSpPr txBox="1"/>
          <p:nvPr/>
        </p:nvSpPr>
        <p:spPr>
          <a:xfrm>
            <a:off x="6748272" y="5907024"/>
            <a:ext cx="1627632" cy="347472"/>
          </a:xfrm>
          <a:prstGeom prst="rect">
            <a:avLst/>
          </a:prstGeom>
          <a:noFill/>
        </p:spPr>
        <p:txBody>
          <a:bodyPr wrap="square" lIns="0" rIns="0" tIns="0" bIns="0" anchor="ctr">
            <a:spAutoFit/>
          </a:bodyPr>
          <a:lstStyle/>
          <a:p>
            <a:pPr algn="ctr">
              <a:lnSpc>
                <a:spcPct val="90000"/>
              </a:lnSpc>
            </a:pPr>
            <a:r>
              <a:rPr sz="700" b="1" i="0">
                <a:solidFill>
                  <a:srgbClr val="0089A0"/>
                </a:solidFill>
                <a:latin typeface="Trenda IG Text"/>
              </a:rPr>
              <a:t>Pre-send review</a:t>
            </a:r>
          </a:p>
          <a:p>
            <a:pPr algn="ctr">
              <a:lnSpc>
                <a:spcPct val="90000"/>
              </a:lnSpc>
            </a:pPr>
            <a:r>
              <a:rPr sz="700" b="0" i="0">
                <a:solidFill>
                  <a:srgbClr val="0089A0"/>
                </a:solidFill>
                <a:latin typeface="Trenda IG Text"/>
              </a:rPr>
              <a:t>SME + tech lead</a:t>
            </a:r>
          </a:p>
        </p:txBody>
      </p:sp>
      <p:cxnSp>
        <p:nvCxnSpPr>
          <p:cNvPr id="187" name="Arrow 178"/>
          <p:cNvCxnSpPr/>
          <p:nvPr/>
        </p:nvCxnSpPr>
        <p:spPr>
          <a:xfrm>
            <a:off x="8375904"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8" name="Shape 179"/>
          <p:cNvSpPr/>
          <p:nvPr/>
        </p:nvSpPr>
        <p:spPr>
          <a:xfrm>
            <a:off x="8449056"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9" name="Text 180"/>
          <p:cNvSpPr txBox="1"/>
          <p:nvPr/>
        </p:nvSpPr>
        <p:spPr>
          <a:xfrm>
            <a:off x="8449056" y="5907024"/>
            <a:ext cx="1627632"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Gateway release</a:t>
            </a:r>
          </a:p>
          <a:p>
            <a:pPr algn="ctr">
              <a:lnSpc>
                <a:spcPct val="90000"/>
              </a:lnSpc>
            </a:pPr>
            <a:r>
              <a:rPr sz="700" b="0" i="0">
                <a:solidFill>
                  <a:srgbClr val="4D4D4D"/>
                </a:solidFill>
                <a:latin typeface="Trenda IG Text"/>
              </a:rPr>
              <a:t>policy service</a:t>
            </a:r>
          </a:p>
        </p:txBody>
      </p:sp>
      <p:cxnSp>
        <p:nvCxnSpPr>
          <p:cNvPr id="190" name="Arrow 181"/>
          <p:cNvCxnSpPr/>
          <p:nvPr/>
        </p:nvCxnSpPr>
        <p:spPr>
          <a:xfrm>
            <a:off x="10076688" y="6080760"/>
            <a:ext cx="73152"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1" name="Shape 182"/>
          <p:cNvSpPr/>
          <p:nvPr/>
        </p:nvSpPr>
        <p:spPr>
          <a:xfrm>
            <a:off x="10149840" y="5907024"/>
            <a:ext cx="1627632" cy="347472"/>
          </a:xfrm>
          <a:prstGeom prst="roundRect">
            <a:avLst>
              <a:gd name="adj" fmla="val 30000"/>
            </a:avLst>
          </a:prstGeom>
          <a:solidFill>
            <a:srgbClr val="F5F5F5"/>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2" name="Text 183"/>
          <p:cNvSpPr txBox="1"/>
          <p:nvPr/>
        </p:nvSpPr>
        <p:spPr>
          <a:xfrm>
            <a:off x="10149840" y="5907024"/>
            <a:ext cx="1627632" cy="347472"/>
          </a:xfrm>
          <a:prstGeom prst="rect">
            <a:avLst/>
          </a:prstGeom>
          <a:noFill/>
        </p:spPr>
        <p:txBody>
          <a:bodyPr wrap="square" lIns="0" rIns="0" tIns="0" bIns="0" anchor="ctr">
            <a:spAutoFit/>
          </a:bodyPr>
          <a:lstStyle/>
          <a:p>
            <a:pPr algn="ctr">
              <a:lnSpc>
                <a:spcPct val="90000"/>
              </a:lnSpc>
            </a:pPr>
            <a:r>
              <a:rPr sz="700" b="1" i="0">
                <a:solidFill>
                  <a:srgbClr val="1A1A1A"/>
                </a:solidFill>
                <a:latin typeface="Trenda IG Text"/>
              </a:rPr>
              <a:t>Journey runs</a:t>
            </a:r>
          </a:p>
          <a:p>
            <a:pPr algn="ctr">
              <a:lnSpc>
                <a:spcPct val="90000"/>
              </a:lnSpc>
            </a:pPr>
            <a:r>
              <a:rPr sz="700" b="0" i="0">
                <a:solidFill>
                  <a:srgbClr val="4D4D4D"/>
                </a:solidFill>
                <a:latin typeface="Trenda IG Text"/>
              </a:rPr>
              <a:t>Marketing Cloud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8A6D00"/>
                </a:solidFill>
                <a:latin typeface="Trenda IG Text"/>
              </a:rPr>
              <a:t>ASCENSION AGENTIC FACTORY · PLATFORM</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Agentic Factory platform, now with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Codex is the engine; the harness runs the agents; the factory is all of it. New: a masked data context, Collibra masking, a Compliance Guardian and a masked pre-send review.</a:t>
            </a:r>
          </a:p>
        </p:txBody>
      </p:sp>
      <p:sp>
        <p:nvSpPr>
          <p:cNvPr id="5" name="Shape 4"/>
          <p:cNvSpPr/>
          <p:nvPr/>
        </p:nvSpPr>
        <p:spPr>
          <a:xfrm>
            <a:off x="1463040" y="1161288"/>
            <a:ext cx="15316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1463040" y="1161288"/>
            <a:ext cx="1531619" cy="329184"/>
          </a:xfrm>
          <a:prstGeom prst="rect">
            <a:avLst/>
          </a:prstGeom>
          <a:noFill/>
        </p:spPr>
        <p:txBody>
          <a:bodyPr wrap="square" lIns="0" rIns="0" tIns="0" bIns="0" anchor="ctr">
            <a:spAutoFit/>
          </a:bodyPr>
          <a:lstStyle/>
          <a:p>
            <a:pPr algn="ctr"/>
            <a:r>
              <a:rPr sz="850" b="0" i="0">
                <a:solidFill>
                  <a:srgbClr val="1A1A1A"/>
                </a:solidFill>
                <a:latin typeface="Trenda IG Text"/>
              </a:rPr>
              <a:t>7 delivery agents</a:t>
            </a:r>
          </a:p>
        </p:txBody>
      </p:sp>
      <p:sp>
        <p:nvSpPr>
          <p:cNvPr id="7" name="Shape 6"/>
          <p:cNvSpPr/>
          <p:nvPr/>
        </p:nvSpPr>
        <p:spPr>
          <a:xfrm>
            <a:off x="3131820" y="1161288"/>
            <a:ext cx="15316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3131820" y="1161288"/>
            <a:ext cx="1531619" cy="329184"/>
          </a:xfrm>
          <a:prstGeom prst="rect">
            <a:avLst/>
          </a:prstGeom>
          <a:noFill/>
        </p:spPr>
        <p:txBody>
          <a:bodyPr wrap="square" lIns="0" rIns="0" tIns="0" bIns="0" anchor="ctr">
            <a:spAutoFit/>
          </a:bodyPr>
          <a:lstStyle/>
          <a:p>
            <a:pPr algn="ctr"/>
            <a:r>
              <a:rPr sz="850" b="0" i="0">
                <a:solidFill>
                  <a:srgbClr val="1A1A1A"/>
                </a:solidFill>
                <a:latin typeface="Trenda IG Text"/>
              </a:rPr>
              <a:t>7 campaign agents</a:t>
            </a:r>
          </a:p>
        </p:txBody>
      </p:sp>
      <p:sp>
        <p:nvSpPr>
          <p:cNvPr id="9" name="Shape 8"/>
          <p:cNvSpPr/>
          <p:nvPr/>
        </p:nvSpPr>
        <p:spPr>
          <a:xfrm>
            <a:off x="4800600" y="1161288"/>
            <a:ext cx="1394460"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4800600" y="1161288"/>
            <a:ext cx="1394460" cy="329184"/>
          </a:xfrm>
          <a:prstGeom prst="rect">
            <a:avLst/>
          </a:prstGeom>
          <a:noFill/>
        </p:spPr>
        <p:txBody>
          <a:bodyPr wrap="square" lIns="0" rIns="0" tIns="0" bIns="0" anchor="ctr">
            <a:spAutoFit/>
          </a:bodyPr>
          <a:lstStyle/>
          <a:p>
            <a:pPr algn="ctr"/>
            <a:r>
              <a:rPr sz="850" b="0" i="0">
                <a:solidFill>
                  <a:srgbClr val="1A1A1A"/>
                </a:solidFill>
                <a:latin typeface="Trenda IG Text"/>
              </a:rPr>
              <a:t>9-step workflow</a:t>
            </a:r>
          </a:p>
        </p:txBody>
      </p:sp>
      <p:sp>
        <p:nvSpPr>
          <p:cNvPr id="11" name="Shape 10"/>
          <p:cNvSpPr/>
          <p:nvPr/>
        </p:nvSpPr>
        <p:spPr>
          <a:xfrm>
            <a:off x="6332220" y="1161288"/>
            <a:ext cx="1188719"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332220" y="1161288"/>
            <a:ext cx="1188719" cy="329184"/>
          </a:xfrm>
          <a:prstGeom prst="rect">
            <a:avLst/>
          </a:prstGeom>
          <a:noFill/>
        </p:spPr>
        <p:txBody>
          <a:bodyPr wrap="square" lIns="0" rIns="0" tIns="0" bIns="0" anchor="ctr">
            <a:spAutoFit/>
          </a:bodyPr>
          <a:lstStyle/>
          <a:p>
            <a:pPr algn="ctr"/>
            <a:r>
              <a:rPr sz="850" b="0" i="0">
                <a:solidFill>
                  <a:srgbClr val="1A1A1A"/>
                </a:solidFill>
                <a:latin typeface="Trenda IG Text"/>
              </a:rPr>
              <a:t>Campaign run</a:t>
            </a:r>
          </a:p>
        </p:txBody>
      </p:sp>
      <p:sp>
        <p:nvSpPr>
          <p:cNvPr id="13" name="Shape 12"/>
          <p:cNvSpPr/>
          <p:nvPr/>
        </p:nvSpPr>
        <p:spPr>
          <a:xfrm>
            <a:off x="7658100" y="1161288"/>
            <a:ext cx="1394460" cy="329184"/>
          </a:xfrm>
          <a:prstGeom prst="roundRect">
            <a:avLst>
              <a:gd name="adj" fmla="val 50000"/>
            </a:avLst>
          </a:prstGeom>
          <a:no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7658100" y="1161288"/>
            <a:ext cx="1394460" cy="329184"/>
          </a:xfrm>
          <a:prstGeom prst="rect">
            <a:avLst/>
          </a:prstGeom>
          <a:noFill/>
        </p:spPr>
        <p:txBody>
          <a:bodyPr wrap="square" lIns="0" rIns="0" tIns="0" bIns="0" anchor="ctr">
            <a:spAutoFit/>
          </a:bodyPr>
          <a:lstStyle/>
          <a:p>
            <a:pPr algn="ctr"/>
            <a:r>
              <a:rPr sz="850" b="0" i="0">
                <a:solidFill>
                  <a:srgbClr val="1A1A1A"/>
                </a:solidFill>
                <a:latin typeface="Trenda IG Text"/>
              </a:rPr>
              <a:t>Pod skill packs</a:t>
            </a:r>
          </a:p>
        </p:txBody>
      </p:sp>
      <p:sp>
        <p:nvSpPr>
          <p:cNvPr id="15" name="Shape 14"/>
          <p:cNvSpPr/>
          <p:nvPr/>
        </p:nvSpPr>
        <p:spPr>
          <a:xfrm>
            <a:off x="411480" y="1627632"/>
            <a:ext cx="8366760" cy="3639312"/>
          </a:xfrm>
          <a:prstGeom prst="roundRect">
            <a:avLst>
              <a:gd name="adj" fmla="val 3000"/>
            </a:avLst>
          </a:prstGeom>
          <a:noFill/>
          <a:ln w="7620">
            <a:solidFill>
              <a:srgbClr val="C9A100"/>
            </a:solidFill>
            <a:prstDash val="sysDot"/>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5"/>
          <p:cNvSpPr/>
          <p:nvPr/>
        </p:nvSpPr>
        <p:spPr>
          <a:xfrm>
            <a:off x="548640" y="1755648"/>
            <a:ext cx="1691640" cy="338328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harness.png"/>
          <p:cNvPicPr>
            <a:picLocks noChangeAspect="1"/>
          </p:cNvPicPr>
          <p:nvPr/>
        </p:nvPicPr>
        <p:blipFill>
          <a:blip r:embed="rId2"/>
          <a:stretch>
            <a:fillRect/>
          </a:stretch>
        </p:blipFill>
        <p:spPr>
          <a:xfrm>
            <a:off x="658368" y="1865376"/>
            <a:ext cx="256032" cy="256032"/>
          </a:xfrm>
          <a:prstGeom prst="rect">
            <a:avLst/>
          </a:prstGeom>
        </p:spPr>
      </p:pic>
      <p:sp>
        <p:nvSpPr>
          <p:cNvPr id="18" name="Text 16"/>
          <p:cNvSpPr txBox="1"/>
          <p:nvPr/>
        </p:nvSpPr>
        <p:spPr>
          <a:xfrm>
            <a:off x="987552" y="1810512"/>
            <a:ext cx="1179576" cy="384048"/>
          </a:xfrm>
          <a:prstGeom prst="rect">
            <a:avLst/>
          </a:prstGeom>
          <a:noFill/>
        </p:spPr>
        <p:txBody>
          <a:bodyPr wrap="square" lIns="0" rIns="0" tIns="0" bIns="0" anchor="t">
            <a:spAutoFit/>
          </a:bodyPr>
          <a:lstStyle/>
          <a:p>
            <a:pPr>
              <a:lnSpc>
                <a:spcPct val="90000"/>
              </a:lnSpc>
            </a:pPr>
            <a:r>
              <a:rPr sz="1000" b="0" i="0">
                <a:solidFill>
                  <a:srgbClr val="1A1A1A"/>
                </a:solidFill>
                <a:latin typeface="Trenda IG Text"/>
              </a:rPr>
              <a:t>Harness</a:t>
            </a:r>
          </a:p>
          <a:p>
            <a:pPr>
              <a:lnSpc>
                <a:spcPct val="90000"/>
              </a:lnSpc>
            </a:pPr>
            <a:r>
              <a:rPr sz="1000" b="0" i="0">
                <a:solidFill>
                  <a:srgbClr val="1A1A1A"/>
                </a:solidFill>
                <a:latin typeface="Trenda IG Text"/>
              </a:rPr>
              <a:t>Surface</a:t>
            </a:r>
          </a:p>
        </p:txBody>
      </p:sp>
      <p:pic>
        <p:nvPicPr>
          <p:cNvPr id="19" name="Picture 18" descr="openai-white.png"/>
          <p:cNvPicPr>
            <a:picLocks noChangeAspect="1"/>
          </p:cNvPicPr>
          <p:nvPr/>
        </p:nvPicPr>
        <p:blipFill>
          <a:blip r:embed="rId3"/>
          <a:stretch>
            <a:fillRect/>
          </a:stretch>
        </p:blipFill>
        <p:spPr>
          <a:xfrm>
            <a:off x="658368" y="2322576"/>
            <a:ext cx="182880" cy="182880"/>
          </a:xfrm>
          <a:prstGeom prst="rect">
            <a:avLst/>
          </a:prstGeom>
        </p:spPr>
      </p:pic>
      <p:sp>
        <p:nvSpPr>
          <p:cNvPr id="20" name="Text 17"/>
          <p:cNvSpPr txBox="1"/>
          <p:nvPr/>
        </p:nvSpPr>
        <p:spPr>
          <a:xfrm>
            <a:off x="914400" y="2313432"/>
            <a:ext cx="1252728" cy="182880"/>
          </a:xfrm>
          <a:prstGeom prst="rect">
            <a:avLst/>
          </a:prstGeom>
          <a:noFill/>
        </p:spPr>
        <p:txBody>
          <a:bodyPr wrap="square" lIns="0" rIns="0" tIns="0" bIns="0" anchor="ctr">
            <a:spAutoFit/>
          </a:bodyPr>
          <a:lstStyle/>
          <a:p>
            <a:r>
              <a:rPr sz="800" b="1" i="0">
                <a:solidFill>
                  <a:srgbClr val="1A1A1A"/>
                </a:solidFill>
                <a:latin typeface="Trenda IG Text"/>
              </a:rPr>
              <a:t>Codex</a:t>
            </a:r>
          </a:p>
        </p:txBody>
      </p:sp>
      <p:sp>
        <p:nvSpPr>
          <p:cNvPr id="21" name="Text 18"/>
          <p:cNvSpPr txBox="1"/>
          <p:nvPr/>
        </p:nvSpPr>
        <p:spPr>
          <a:xfrm>
            <a:off x="914400" y="2496312"/>
            <a:ext cx="1252728" cy="274320"/>
          </a:xfrm>
          <a:prstGeom prst="rect">
            <a:avLst/>
          </a:prstGeom>
          <a:noFill/>
        </p:spPr>
        <p:txBody>
          <a:bodyPr wrap="square" lIns="0" rIns="0" tIns="0" bIns="0" anchor="t">
            <a:spAutoFit/>
          </a:bodyPr>
          <a:lstStyle/>
          <a:p>
            <a:r>
              <a:rPr sz="700" b="0" i="0">
                <a:solidFill>
                  <a:srgbClr val="4D4D4D"/>
                </a:solidFill>
                <a:latin typeface="Trenda IG Text"/>
              </a:rPr>
              <a:t>a Jira number, or a campaign ask</a:t>
            </a:r>
          </a:p>
        </p:txBody>
      </p:sp>
      <p:pic>
        <p:nvPicPr>
          <p:cNvPr id="22" name="Picture 21" descr="salesforce.png"/>
          <p:cNvPicPr>
            <a:picLocks noChangeAspect="1"/>
          </p:cNvPicPr>
          <p:nvPr/>
        </p:nvPicPr>
        <p:blipFill>
          <a:blip r:embed="rId4"/>
          <a:stretch>
            <a:fillRect/>
          </a:stretch>
        </p:blipFill>
        <p:spPr>
          <a:xfrm>
            <a:off x="658368" y="2871216"/>
            <a:ext cx="182880" cy="182880"/>
          </a:xfrm>
          <a:prstGeom prst="rect">
            <a:avLst/>
          </a:prstGeom>
        </p:spPr>
      </p:pic>
      <p:sp>
        <p:nvSpPr>
          <p:cNvPr id="23" name="Text 19"/>
          <p:cNvSpPr txBox="1"/>
          <p:nvPr/>
        </p:nvSpPr>
        <p:spPr>
          <a:xfrm>
            <a:off x="914400" y="2862072"/>
            <a:ext cx="1252728" cy="182880"/>
          </a:xfrm>
          <a:prstGeom prst="rect">
            <a:avLst/>
          </a:prstGeom>
          <a:noFill/>
        </p:spPr>
        <p:txBody>
          <a:bodyPr wrap="square" lIns="0" rIns="0" tIns="0" bIns="0" anchor="ctr">
            <a:spAutoFit/>
          </a:bodyPr>
          <a:lstStyle/>
          <a:p>
            <a:r>
              <a:rPr sz="800" b="1" i="0">
                <a:solidFill>
                  <a:srgbClr val="1A1A1A"/>
                </a:solidFill>
                <a:latin typeface="Trenda IG Text"/>
              </a:rPr>
              <a:t>Salesforce LWC</a:t>
            </a:r>
          </a:p>
        </p:txBody>
      </p:sp>
      <p:sp>
        <p:nvSpPr>
          <p:cNvPr id="24" name="Text 20"/>
          <p:cNvSpPr txBox="1"/>
          <p:nvPr/>
        </p:nvSpPr>
        <p:spPr>
          <a:xfrm>
            <a:off x="914400" y="3044952"/>
            <a:ext cx="1252728" cy="274320"/>
          </a:xfrm>
          <a:prstGeom prst="rect">
            <a:avLst/>
          </a:prstGeom>
          <a:noFill/>
        </p:spPr>
        <p:txBody>
          <a:bodyPr wrap="square" lIns="0" rIns="0" tIns="0" bIns="0" anchor="t">
            <a:spAutoFit/>
          </a:bodyPr>
          <a:lstStyle/>
          <a:p>
            <a:r>
              <a:rPr sz="700" b="0" i="0">
                <a:solidFill>
                  <a:srgbClr val="4D4D4D"/>
                </a:solidFill>
                <a:latin typeface="Trenda IG Text"/>
              </a:rPr>
              <a:t>the Agentic Factory console</a:t>
            </a:r>
          </a:p>
        </p:txBody>
      </p:sp>
      <p:pic>
        <p:nvPicPr>
          <p:cNvPr id="25" name="Picture 24" descr="people.png"/>
          <p:cNvPicPr>
            <a:picLocks noChangeAspect="1"/>
          </p:cNvPicPr>
          <p:nvPr/>
        </p:nvPicPr>
        <p:blipFill>
          <a:blip r:embed="rId5"/>
          <a:stretch>
            <a:fillRect/>
          </a:stretch>
        </p:blipFill>
        <p:spPr>
          <a:xfrm>
            <a:off x="658368" y="3419856"/>
            <a:ext cx="182880" cy="182880"/>
          </a:xfrm>
          <a:prstGeom prst="rect">
            <a:avLst/>
          </a:prstGeom>
        </p:spPr>
      </p:pic>
      <p:sp>
        <p:nvSpPr>
          <p:cNvPr id="26" name="Text 21"/>
          <p:cNvSpPr txBox="1"/>
          <p:nvPr/>
        </p:nvSpPr>
        <p:spPr>
          <a:xfrm>
            <a:off x="914400" y="3410712"/>
            <a:ext cx="1252728" cy="182880"/>
          </a:xfrm>
          <a:prstGeom prst="rect">
            <a:avLst/>
          </a:prstGeom>
          <a:noFill/>
        </p:spPr>
        <p:txBody>
          <a:bodyPr wrap="square" lIns="0" rIns="0" tIns="0" bIns="0" anchor="ctr">
            <a:spAutoFit/>
          </a:bodyPr>
          <a:lstStyle/>
          <a:p>
            <a:r>
              <a:rPr sz="800" b="1" i="0">
                <a:solidFill>
                  <a:srgbClr val="1A1A1A"/>
                </a:solidFill>
                <a:latin typeface="Trenda IG Text"/>
              </a:rPr>
              <a:t>Approval page</a:t>
            </a:r>
          </a:p>
        </p:txBody>
      </p:sp>
      <p:sp>
        <p:nvSpPr>
          <p:cNvPr id="27" name="Text 22"/>
          <p:cNvSpPr txBox="1"/>
          <p:nvPr/>
        </p:nvSpPr>
        <p:spPr>
          <a:xfrm>
            <a:off x="914400" y="3593592"/>
            <a:ext cx="1252728" cy="274320"/>
          </a:xfrm>
          <a:prstGeom prst="rect">
            <a:avLst/>
          </a:prstGeom>
          <a:noFill/>
        </p:spPr>
        <p:txBody>
          <a:bodyPr wrap="square" lIns="0" rIns="0" tIns="0" bIns="0" anchor="t">
            <a:spAutoFit/>
          </a:bodyPr>
          <a:lstStyle/>
          <a:p>
            <a:r>
              <a:rPr sz="700" b="0" i="0">
                <a:solidFill>
                  <a:srgbClr val="4D4D4D"/>
                </a:solidFill>
                <a:latin typeface="Trenda IG Text"/>
              </a:rPr>
              <a:t>SSO · H1-H4 · G1-G3</a:t>
            </a:r>
          </a:p>
        </p:txBody>
      </p:sp>
      <p:pic>
        <p:nvPicPr>
          <p:cNvPr id="28" name="Picture 27" descr="tableau.png"/>
          <p:cNvPicPr>
            <a:picLocks noChangeAspect="1"/>
          </p:cNvPicPr>
          <p:nvPr/>
        </p:nvPicPr>
        <p:blipFill>
          <a:blip r:embed="rId6"/>
          <a:stretch>
            <a:fillRect/>
          </a:stretch>
        </p:blipFill>
        <p:spPr>
          <a:xfrm>
            <a:off x="658368" y="3968496"/>
            <a:ext cx="182880" cy="182880"/>
          </a:xfrm>
          <a:prstGeom prst="rect">
            <a:avLst/>
          </a:prstGeom>
        </p:spPr>
      </p:pic>
      <p:sp>
        <p:nvSpPr>
          <p:cNvPr id="29" name="Text 23"/>
          <p:cNvSpPr txBox="1"/>
          <p:nvPr/>
        </p:nvSpPr>
        <p:spPr>
          <a:xfrm>
            <a:off x="914400" y="3959352"/>
            <a:ext cx="1252728" cy="182880"/>
          </a:xfrm>
          <a:prstGeom prst="rect">
            <a:avLst/>
          </a:prstGeom>
          <a:noFill/>
        </p:spPr>
        <p:txBody>
          <a:bodyPr wrap="square" lIns="0" rIns="0" tIns="0" bIns="0" anchor="ctr">
            <a:spAutoFit/>
          </a:bodyPr>
          <a:lstStyle/>
          <a:p>
            <a:r>
              <a:rPr sz="800" b="1" i="0">
                <a:solidFill>
                  <a:srgbClr val="1A1A1A"/>
                </a:solidFill>
                <a:latin typeface="Trenda IG Text"/>
              </a:rPr>
              <a:t>Tableau review</a:t>
            </a:r>
          </a:p>
        </p:txBody>
      </p:sp>
      <p:sp>
        <p:nvSpPr>
          <p:cNvPr id="30" name="Text 24"/>
          <p:cNvSpPr txBox="1"/>
          <p:nvPr/>
        </p:nvSpPr>
        <p:spPr>
          <a:xfrm>
            <a:off x="914400" y="4142232"/>
            <a:ext cx="1252728" cy="274320"/>
          </a:xfrm>
          <a:prstGeom prst="rect">
            <a:avLst/>
          </a:prstGeom>
          <a:noFill/>
        </p:spPr>
        <p:txBody>
          <a:bodyPr wrap="square" lIns="0" rIns="0" tIns="0" bIns="0" anchor="t">
            <a:spAutoFit/>
          </a:bodyPr>
          <a:lstStyle/>
          <a:p>
            <a:r>
              <a:rPr sz="700" b="0" i="0">
                <a:solidFill>
                  <a:srgbClr val="4D4D4D"/>
                </a:solidFill>
                <a:latin typeface="Trenda IG Text"/>
              </a:rPr>
              <a:t>masked dashboards, pre-send report</a:t>
            </a:r>
          </a:p>
        </p:txBody>
      </p:sp>
      <p:pic>
        <p:nvPicPr>
          <p:cNvPr id="31" name="Picture 30" descr="jira.png"/>
          <p:cNvPicPr>
            <a:picLocks noChangeAspect="1"/>
          </p:cNvPicPr>
          <p:nvPr/>
        </p:nvPicPr>
        <p:blipFill>
          <a:blip r:embed="rId7"/>
          <a:stretch>
            <a:fillRect/>
          </a:stretch>
        </p:blipFill>
        <p:spPr>
          <a:xfrm>
            <a:off x="658368" y="4517136"/>
            <a:ext cx="182880" cy="182880"/>
          </a:xfrm>
          <a:prstGeom prst="rect">
            <a:avLst/>
          </a:prstGeom>
        </p:spPr>
      </p:pic>
      <p:sp>
        <p:nvSpPr>
          <p:cNvPr id="32" name="Text 25"/>
          <p:cNvSpPr txBox="1"/>
          <p:nvPr/>
        </p:nvSpPr>
        <p:spPr>
          <a:xfrm>
            <a:off x="914400" y="4507992"/>
            <a:ext cx="1252728" cy="182880"/>
          </a:xfrm>
          <a:prstGeom prst="rect">
            <a:avLst/>
          </a:prstGeom>
          <a:noFill/>
        </p:spPr>
        <p:txBody>
          <a:bodyPr wrap="square" lIns="0" rIns="0" tIns="0" bIns="0" anchor="ctr">
            <a:spAutoFit/>
          </a:bodyPr>
          <a:lstStyle/>
          <a:p>
            <a:r>
              <a:rPr sz="800" b="1" i="0">
                <a:solidFill>
                  <a:srgbClr val="1A1A1A"/>
                </a:solidFill>
                <a:latin typeface="Trenda IG Text"/>
              </a:rPr>
              <a:t>Jira</a:t>
            </a:r>
          </a:p>
        </p:txBody>
      </p:sp>
      <p:sp>
        <p:nvSpPr>
          <p:cNvPr id="33" name="Text 26"/>
          <p:cNvSpPr txBox="1"/>
          <p:nvPr/>
        </p:nvSpPr>
        <p:spPr>
          <a:xfrm>
            <a:off x="914400" y="4690872"/>
            <a:ext cx="1252728" cy="274320"/>
          </a:xfrm>
          <a:prstGeom prst="rect">
            <a:avLst/>
          </a:prstGeom>
          <a:noFill/>
        </p:spPr>
        <p:txBody>
          <a:bodyPr wrap="square" lIns="0" rIns="0" tIns="0" bIns="0" anchor="t">
            <a:spAutoFit/>
          </a:bodyPr>
          <a:lstStyle/>
          <a:p>
            <a:r>
              <a:rPr sz="700" b="0" i="0">
                <a:solidFill>
                  <a:srgbClr val="4D4D4D"/>
                </a:solidFill>
                <a:latin typeface="Trenda IG Text"/>
              </a:rPr>
              <a:t>status of every step</a:t>
            </a:r>
          </a:p>
        </p:txBody>
      </p:sp>
      <p:sp>
        <p:nvSpPr>
          <p:cNvPr id="34" name="Shape 27"/>
          <p:cNvSpPr/>
          <p:nvPr/>
        </p:nvSpPr>
        <p:spPr>
          <a:xfrm>
            <a:off x="2377440" y="1755648"/>
            <a:ext cx="3886200" cy="82296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28"/>
          <p:cNvSpPr txBox="1"/>
          <p:nvPr/>
        </p:nvSpPr>
        <p:spPr>
          <a:xfrm>
            <a:off x="2487168" y="1810512"/>
            <a:ext cx="1188720" cy="237744"/>
          </a:xfrm>
          <a:prstGeom prst="rect">
            <a:avLst/>
          </a:prstGeom>
          <a:noFill/>
        </p:spPr>
        <p:txBody>
          <a:bodyPr wrap="square" lIns="0" rIns="0" tIns="0" bIns="0" anchor="ctr">
            <a:spAutoFit/>
          </a:bodyPr>
          <a:lstStyle/>
          <a:p>
            <a:r>
              <a:rPr sz="1000" b="1" i="0">
                <a:solidFill>
                  <a:srgbClr val="1A1A1A"/>
                </a:solidFill>
                <a:latin typeface="Trenda IG Text"/>
              </a:rPr>
              <a:t>Runtime</a:t>
            </a:r>
          </a:p>
        </p:txBody>
      </p:sp>
      <p:sp>
        <p:nvSpPr>
          <p:cNvPr id="36" name="Text 29"/>
          <p:cNvSpPr txBox="1"/>
          <p:nvPr/>
        </p:nvSpPr>
        <p:spPr>
          <a:xfrm>
            <a:off x="2487168" y="2048255"/>
            <a:ext cx="1097280" cy="457200"/>
          </a:xfrm>
          <a:prstGeom prst="rect">
            <a:avLst/>
          </a:prstGeom>
          <a:noFill/>
        </p:spPr>
        <p:txBody>
          <a:bodyPr wrap="square" lIns="0" rIns="0" tIns="0" bIns="0" anchor="t">
            <a:spAutoFit/>
          </a:bodyPr>
          <a:lstStyle/>
          <a:p>
            <a:r>
              <a:rPr sz="700" b="0" i="0">
                <a:solidFill>
                  <a:srgbClr val="6B6B6B"/>
                </a:solidFill>
                <a:latin typeface="Trenda IG Text"/>
              </a:rPr>
              <a:t>Runs every story or campaign as a durable workflow.</a:t>
            </a:r>
          </a:p>
        </p:txBody>
      </p:sp>
      <p:sp>
        <p:nvSpPr>
          <p:cNvPr id="37" name="Text 30"/>
          <p:cNvSpPr txBox="1"/>
          <p:nvPr/>
        </p:nvSpPr>
        <p:spPr>
          <a:xfrm>
            <a:off x="365760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Orchestration</a:t>
            </a:r>
          </a:p>
        </p:txBody>
      </p:sp>
      <p:sp>
        <p:nvSpPr>
          <p:cNvPr id="38" name="Text 31"/>
          <p:cNvSpPr txBox="1"/>
          <p:nvPr/>
        </p:nvSpPr>
        <p:spPr>
          <a:xfrm>
            <a:off x="365760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Cloud Workflows</a:t>
            </a:r>
          </a:p>
        </p:txBody>
      </p:sp>
      <p:sp>
        <p:nvSpPr>
          <p:cNvPr id="39" name="Text 32"/>
          <p:cNvSpPr txBox="1"/>
          <p:nvPr/>
        </p:nvSpPr>
        <p:spPr>
          <a:xfrm>
            <a:off x="448056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Dispatcher</a:t>
            </a:r>
          </a:p>
        </p:txBody>
      </p:sp>
      <p:sp>
        <p:nvSpPr>
          <p:cNvPr id="40" name="Text 33"/>
          <p:cNvSpPr txBox="1"/>
          <p:nvPr/>
        </p:nvSpPr>
        <p:spPr>
          <a:xfrm>
            <a:off x="448056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one agent task per step</a:t>
            </a:r>
          </a:p>
        </p:txBody>
      </p:sp>
      <p:sp>
        <p:nvSpPr>
          <p:cNvPr id="41" name="Text 34"/>
          <p:cNvSpPr txBox="1"/>
          <p:nvPr/>
        </p:nvSpPr>
        <p:spPr>
          <a:xfrm>
            <a:off x="5303520" y="1828800"/>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State + memory</a:t>
            </a:r>
          </a:p>
        </p:txBody>
      </p:sp>
      <p:sp>
        <p:nvSpPr>
          <p:cNvPr id="42" name="Text 35"/>
          <p:cNvSpPr txBox="1"/>
          <p:nvPr/>
        </p:nvSpPr>
        <p:spPr>
          <a:xfrm>
            <a:off x="5303520" y="2029967"/>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Firestore checkpoints</a:t>
            </a:r>
          </a:p>
        </p:txBody>
      </p:sp>
      <p:sp>
        <p:nvSpPr>
          <p:cNvPr id="43" name="Shape 36"/>
          <p:cNvSpPr/>
          <p:nvPr/>
        </p:nvSpPr>
        <p:spPr>
          <a:xfrm>
            <a:off x="2377440" y="2651760"/>
            <a:ext cx="3886200" cy="868680"/>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7"/>
          <p:cNvSpPr txBox="1"/>
          <p:nvPr/>
        </p:nvSpPr>
        <p:spPr>
          <a:xfrm>
            <a:off x="2487168" y="2706624"/>
            <a:ext cx="1188720" cy="237744"/>
          </a:xfrm>
          <a:prstGeom prst="rect">
            <a:avLst/>
          </a:prstGeom>
          <a:noFill/>
        </p:spPr>
        <p:txBody>
          <a:bodyPr wrap="square" lIns="0" rIns="0" tIns="0" bIns="0" anchor="ctr">
            <a:spAutoFit/>
          </a:bodyPr>
          <a:lstStyle/>
          <a:p>
            <a:r>
              <a:rPr sz="1000" b="1" i="0">
                <a:solidFill>
                  <a:srgbClr val="1A1A1A"/>
                </a:solidFill>
                <a:latin typeface="Trenda IG Text"/>
              </a:rPr>
              <a:t>Registry</a:t>
            </a:r>
          </a:p>
        </p:txBody>
      </p:sp>
      <p:sp>
        <p:nvSpPr>
          <p:cNvPr id="45" name="Text 38"/>
          <p:cNvSpPr txBox="1"/>
          <p:nvPr/>
        </p:nvSpPr>
        <p:spPr>
          <a:xfrm>
            <a:off x="2487168" y="2944368"/>
            <a:ext cx="1097280" cy="457200"/>
          </a:xfrm>
          <a:prstGeom prst="rect">
            <a:avLst/>
          </a:prstGeom>
          <a:noFill/>
        </p:spPr>
        <p:txBody>
          <a:bodyPr wrap="square" lIns="0" rIns="0" tIns="0" bIns="0" anchor="t">
            <a:spAutoFit/>
          </a:bodyPr>
          <a:lstStyle/>
          <a:p>
            <a:r>
              <a:rPr sz="700" b="0" i="0">
                <a:solidFill>
                  <a:srgbClr val="6B6B6B"/>
                </a:solidFill>
                <a:latin typeface="Trenda IG Text"/>
              </a:rPr>
              <a:t>What agents may use.</a:t>
            </a:r>
          </a:p>
        </p:txBody>
      </p:sp>
      <p:sp>
        <p:nvSpPr>
          <p:cNvPr id="46" name="Text 39"/>
          <p:cNvSpPr txBox="1"/>
          <p:nvPr/>
        </p:nvSpPr>
        <p:spPr>
          <a:xfrm>
            <a:off x="365760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Tools</a:t>
            </a:r>
          </a:p>
        </p:txBody>
      </p:sp>
      <p:sp>
        <p:nvSpPr>
          <p:cNvPr id="47" name="Text 40"/>
          <p:cNvSpPr txBox="1"/>
          <p:nvPr/>
        </p:nvSpPr>
        <p:spPr>
          <a:xfrm>
            <a:off x="365760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MCP gateway tools</a:t>
            </a:r>
          </a:p>
        </p:txBody>
      </p:sp>
      <p:sp>
        <p:nvSpPr>
          <p:cNvPr id="48" name="Text 41"/>
          <p:cNvSpPr txBox="1"/>
          <p:nvPr/>
        </p:nvSpPr>
        <p:spPr>
          <a:xfrm>
            <a:off x="448056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Skills</a:t>
            </a:r>
          </a:p>
        </p:txBody>
      </p:sp>
      <p:sp>
        <p:nvSpPr>
          <p:cNvPr id="49" name="Text 42"/>
          <p:cNvSpPr txBox="1"/>
          <p:nvPr/>
        </p:nvSpPr>
        <p:spPr>
          <a:xfrm>
            <a:off x="448056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Health, Marketing, QA, campaign</a:t>
            </a:r>
          </a:p>
        </p:txBody>
      </p:sp>
      <p:sp>
        <p:nvSpPr>
          <p:cNvPr id="50" name="Text 43"/>
          <p:cNvSpPr txBox="1"/>
          <p:nvPr/>
        </p:nvSpPr>
        <p:spPr>
          <a:xfrm>
            <a:off x="5303520" y="2724912"/>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Templates</a:t>
            </a:r>
          </a:p>
        </p:txBody>
      </p:sp>
      <p:sp>
        <p:nvSpPr>
          <p:cNvPr id="51" name="Text 44"/>
          <p:cNvSpPr txBox="1"/>
          <p:nvPr/>
        </p:nvSpPr>
        <p:spPr>
          <a:xfrm>
            <a:off x="5303520" y="2926080"/>
            <a:ext cx="777239" cy="365760"/>
          </a:xfrm>
          <a:prstGeom prst="rect">
            <a:avLst/>
          </a:prstGeom>
          <a:noFill/>
        </p:spPr>
        <p:txBody>
          <a:bodyPr wrap="square" lIns="0" rIns="0" tIns="0" bIns="0" anchor="t">
            <a:spAutoFit/>
          </a:bodyPr>
          <a:lstStyle/>
          <a:p>
            <a:pPr algn="ctr"/>
            <a:r>
              <a:rPr sz="700" b="0" i="0">
                <a:solidFill>
                  <a:srgbClr val="4D4D4D"/>
                </a:solidFill>
                <a:latin typeface="Trenda IG Text"/>
              </a:rPr>
              <a:t>briefs, designs, journeys</a:t>
            </a:r>
          </a:p>
        </p:txBody>
      </p:sp>
      <p:sp>
        <p:nvSpPr>
          <p:cNvPr id="52" name="Shape 45"/>
          <p:cNvSpPr/>
          <p:nvPr/>
        </p:nvSpPr>
        <p:spPr>
          <a:xfrm>
            <a:off x="2377440" y="3593591"/>
            <a:ext cx="3886200" cy="1545336"/>
          </a:xfrm>
          <a:prstGeom prst="roundRect">
            <a:avLst>
              <a:gd name="adj" fmla="val 5000"/>
            </a:avLst>
          </a:prstGeom>
          <a:noFill/>
          <a:ln w="9525">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46"/>
          <p:cNvSpPr txBox="1"/>
          <p:nvPr/>
        </p:nvSpPr>
        <p:spPr>
          <a:xfrm>
            <a:off x="2487168" y="3648456"/>
            <a:ext cx="1188720" cy="237744"/>
          </a:xfrm>
          <a:prstGeom prst="rect">
            <a:avLst/>
          </a:prstGeom>
          <a:noFill/>
        </p:spPr>
        <p:txBody>
          <a:bodyPr wrap="square" lIns="0" rIns="0" tIns="0" bIns="0" anchor="ctr">
            <a:spAutoFit/>
          </a:bodyPr>
          <a:lstStyle/>
          <a:p>
            <a:r>
              <a:rPr sz="1000" b="1" i="0">
                <a:solidFill>
                  <a:srgbClr val="1A1A1A"/>
                </a:solidFill>
                <a:latin typeface="Trenda IG Text"/>
              </a:rPr>
              <a:t>Context</a:t>
            </a:r>
          </a:p>
        </p:txBody>
      </p:sp>
      <p:sp>
        <p:nvSpPr>
          <p:cNvPr id="54" name="Text 47"/>
          <p:cNvSpPr txBox="1"/>
          <p:nvPr/>
        </p:nvSpPr>
        <p:spPr>
          <a:xfrm>
            <a:off x="2487168" y="3886200"/>
            <a:ext cx="1097280" cy="457200"/>
          </a:xfrm>
          <a:prstGeom prst="rect">
            <a:avLst/>
          </a:prstGeom>
          <a:noFill/>
        </p:spPr>
        <p:txBody>
          <a:bodyPr wrap="square" lIns="0" rIns="0" tIns="0" bIns="0" anchor="t">
            <a:spAutoFit/>
          </a:bodyPr>
          <a:lstStyle/>
          <a:p>
            <a:r>
              <a:rPr sz="700" b="0" i="0">
                <a:solidFill>
                  <a:srgbClr val="6B6B6B"/>
                </a:solidFill>
                <a:latin typeface="Trenda IG Text"/>
              </a:rPr>
              <a:t>What agents know, always cited.</a:t>
            </a:r>
          </a:p>
        </p:txBody>
      </p:sp>
      <p:sp>
        <p:nvSpPr>
          <p:cNvPr id="55" name="Text 48"/>
          <p:cNvSpPr txBox="1"/>
          <p:nvPr/>
        </p:nvSpPr>
        <p:spPr>
          <a:xfrm>
            <a:off x="365760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Knowledge graph</a:t>
            </a:r>
          </a:p>
        </p:txBody>
      </p:sp>
      <p:sp>
        <p:nvSpPr>
          <p:cNvPr id="56" name="Text 49"/>
          <p:cNvSpPr txBox="1"/>
          <p:nvPr/>
        </p:nvSpPr>
        <p:spPr>
          <a:xfrm>
            <a:off x="365760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Spanner Graph, GQL</a:t>
            </a:r>
          </a:p>
        </p:txBody>
      </p:sp>
      <p:sp>
        <p:nvSpPr>
          <p:cNvPr id="57" name="Text 50"/>
          <p:cNvSpPr txBox="1"/>
          <p:nvPr/>
        </p:nvSpPr>
        <p:spPr>
          <a:xfrm>
            <a:off x="448056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Cited retrieval</a:t>
            </a:r>
          </a:p>
        </p:txBody>
      </p:sp>
      <p:sp>
        <p:nvSpPr>
          <p:cNvPr id="58" name="Text 51"/>
          <p:cNvSpPr txBox="1"/>
          <p:nvPr/>
        </p:nvSpPr>
        <p:spPr>
          <a:xfrm>
            <a:off x="448056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Graph API over MCP</a:t>
            </a:r>
          </a:p>
        </p:txBody>
      </p:sp>
      <p:sp>
        <p:nvSpPr>
          <p:cNvPr id="59" name="Text 52"/>
          <p:cNvSpPr txBox="1"/>
          <p:nvPr/>
        </p:nvSpPr>
        <p:spPr>
          <a:xfrm>
            <a:off x="5303520" y="3666744"/>
            <a:ext cx="777239" cy="182880"/>
          </a:xfrm>
          <a:prstGeom prst="rect">
            <a:avLst/>
          </a:prstGeom>
          <a:noFill/>
        </p:spPr>
        <p:txBody>
          <a:bodyPr wrap="square" lIns="0" rIns="0" tIns="0" bIns="0" anchor="ctr">
            <a:spAutoFit/>
          </a:bodyPr>
          <a:lstStyle/>
          <a:p>
            <a:pPr algn="ctr"/>
            <a:r>
              <a:rPr sz="740" b="1" i="0">
                <a:solidFill>
                  <a:srgbClr val="1A1A1A"/>
                </a:solidFill>
                <a:latin typeface="Trenda IG Text"/>
              </a:rPr>
              <a:t>Data context</a:t>
            </a:r>
          </a:p>
        </p:txBody>
      </p:sp>
      <p:sp>
        <p:nvSpPr>
          <p:cNvPr id="60" name="Text 53"/>
          <p:cNvSpPr txBox="1"/>
          <p:nvPr/>
        </p:nvSpPr>
        <p:spPr>
          <a:xfrm>
            <a:off x="5303520" y="3867911"/>
            <a:ext cx="777239" cy="329184"/>
          </a:xfrm>
          <a:prstGeom prst="rect">
            <a:avLst/>
          </a:prstGeom>
          <a:noFill/>
        </p:spPr>
        <p:txBody>
          <a:bodyPr wrap="square" lIns="0" rIns="0" tIns="0" bIns="0" anchor="t">
            <a:spAutoFit/>
          </a:bodyPr>
          <a:lstStyle/>
          <a:p>
            <a:pPr algn="ctr"/>
            <a:r>
              <a:rPr sz="700" b="0" i="0">
                <a:solidFill>
                  <a:srgbClr val="4D4D4D"/>
                </a:solidFill>
                <a:latin typeface="Trenda IG Text"/>
              </a:rPr>
              <a:t>masked BigQuery aggregates</a:t>
            </a:r>
          </a:p>
        </p:txBody>
      </p:sp>
      <p:sp>
        <p:nvSpPr>
          <p:cNvPr id="61" name="Text 54"/>
          <p:cNvSpPr txBox="1"/>
          <p:nvPr/>
        </p:nvSpPr>
        <p:spPr>
          <a:xfrm>
            <a:off x="2487168" y="4398264"/>
            <a:ext cx="914400" cy="146304"/>
          </a:xfrm>
          <a:prstGeom prst="rect">
            <a:avLst/>
          </a:prstGeom>
          <a:noFill/>
        </p:spPr>
        <p:txBody>
          <a:bodyPr wrap="square" lIns="0" rIns="0" tIns="0" bIns="0" anchor="t">
            <a:spAutoFit/>
          </a:bodyPr>
          <a:lstStyle/>
          <a:p>
            <a:r>
              <a:rPr sz="700" b="1" i="0" spc="150">
                <a:solidFill>
                  <a:srgbClr val="8A6D00"/>
                </a:solidFill>
                <a:latin typeface="Trenda IG Text"/>
              </a:rPr>
              <a:t>SOURCES</a:t>
            </a:r>
          </a:p>
        </p:txBody>
      </p:sp>
      <p:sp>
        <p:nvSpPr>
          <p:cNvPr id="62" name="Shape 55"/>
          <p:cNvSpPr/>
          <p:nvPr/>
        </p:nvSpPr>
        <p:spPr>
          <a:xfrm>
            <a:off x="2487168" y="4581144"/>
            <a:ext cx="358444"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6"/>
          <p:cNvSpPr txBox="1"/>
          <p:nvPr/>
        </p:nvSpPr>
        <p:spPr>
          <a:xfrm>
            <a:off x="2487168" y="4581144"/>
            <a:ext cx="358444" cy="182880"/>
          </a:xfrm>
          <a:prstGeom prst="rect">
            <a:avLst/>
          </a:prstGeom>
          <a:noFill/>
        </p:spPr>
        <p:txBody>
          <a:bodyPr wrap="square" lIns="0" rIns="0" tIns="0" bIns="0" anchor="ctr">
            <a:spAutoFit/>
          </a:bodyPr>
          <a:lstStyle/>
          <a:p>
            <a:pPr algn="ctr"/>
            <a:r>
              <a:rPr sz="700" b="0" i="0">
                <a:solidFill>
                  <a:srgbClr val="1A1A1A"/>
                </a:solidFill>
                <a:latin typeface="Trenda IG Text"/>
              </a:rPr>
              <a:t>Jira</a:t>
            </a:r>
          </a:p>
        </p:txBody>
      </p:sp>
      <p:sp>
        <p:nvSpPr>
          <p:cNvPr id="64" name="Shape 57"/>
          <p:cNvSpPr/>
          <p:nvPr/>
        </p:nvSpPr>
        <p:spPr>
          <a:xfrm>
            <a:off x="2900476" y="4581144"/>
            <a:ext cx="6766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58"/>
          <p:cNvSpPr txBox="1"/>
          <p:nvPr/>
        </p:nvSpPr>
        <p:spPr>
          <a:xfrm>
            <a:off x="2900476" y="4581144"/>
            <a:ext cx="676656" cy="182880"/>
          </a:xfrm>
          <a:prstGeom prst="rect">
            <a:avLst/>
          </a:prstGeom>
          <a:noFill/>
        </p:spPr>
        <p:txBody>
          <a:bodyPr wrap="square" lIns="0" rIns="0" tIns="0" bIns="0" anchor="ctr">
            <a:spAutoFit/>
          </a:bodyPr>
          <a:lstStyle/>
          <a:p>
            <a:pPr algn="ctr"/>
            <a:r>
              <a:rPr sz="700" b="0" i="0">
                <a:solidFill>
                  <a:srgbClr val="1A1A1A"/>
                </a:solidFill>
                <a:latin typeface="Trenda IG Text"/>
              </a:rPr>
              <a:t>Confluence</a:t>
            </a:r>
          </a:p>
        </p:txBody>
      </p:sp>
      <p:sp>
        <p:nvSpPr>
          <p:cNvPr id="66" name="Shape 59"/>
          <p:cNvSpPr/>
          <p:nvPr/>
        </p:nvSpPr>
        <p:spPr>
          <a:xfrm>
            <a:off x="3631996" y="4581144"/>
            <a:ext cx="6766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0"/>
          <p:cNvSpPr txBox="1"/>
          <p:nvPr/>
        </p:nvSpPr>
        <p:spPr>
          <a:xfrm>
            <a:off x="3631996" y="4581144"/>
            <a:ext cx="676656" cy="182880"/>
          </a:xfrm>
          <a:prstGeom prst="rect">
            <a:avLst/>
          </a:prstGeom>
          <a:noFill/>
        </p:spPr>
        <p:txBody>
          <a:bodyPr wrap="square" lIns="0" rIns="0" tIns="0" bIns="0" anchor="ctr">
            <a:spAutoFit/>
          </a:bodyPr>
          <a:lstStyle/>
          <a:p>
            <a:pPr algn="ctr"/>
            <a:r>
              <a:rPr sz="700" b="0" i="0">
                <a:solidFill>
                  <a:srgbClr val="1A1A1A"/>
                </a:solidFill>
                <a:latin typeface="Trenda IG Text"/>
              </a:rPr>
              <a:t>Salesforce</a:t>
            </a:r>
          </a:p>
        </p:txBody>
      </p:sp>
      <p:sp>
        <p:nvSpPr>
          <p:cNvPr id="68" name="Shape 61"/>
          <p:cNvSpPr/>
          <p:nvPr/>
        </p:nvSpPr>
        <p:spPr>
          <a:xfrm>
            <a:off x="4363516" y="4581144"/>
            <a:ext cx="305409"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2"/>
          <p:cNvSpPr txBox="1"/>
          <p:nvPr/>
        </p:nvSpPr>
        <p:spPr>
          <a:xfrm>
            <a:off x="4363516" y="4581144"/>
            <a:ext cx="305409" cy="182880"/>
          </a:xfrm>
          <a:prstGeom prst="rect">
            <a:avLst/>
          </a:prstGeom>
          <a:noFill/>
        </p:spPr>
        <p:txBody>
          <a:bodyPr wrap="square" lIns="0" rIns="0" tIns="0" bIns="0" anchor="ctr">
            <a:spAutoFit/>
          </a:bodyPr>
          <a:lstStyle/>
          <a:p>
            <a:pPr algn="ctr"/>
            <a:r>
              <a:rPr sz="700" b="0" i="0">
                <a:solidFill>
                  <a:srgbClr val="1A1A1A"/>
                </a:solidFill>
                <a:latin typeface="Trenda IG Text"/>
              </a:rPr>
              <a:t>Git</a:t>
            </a:r>
          </a:p>
        </p:txBody>
      </p:sp>
      <p:sp>
        <p:nvSpPr>
          <p:cNvPr id="70" name="Shape 63"/>
          <p:cNvSpPr/>
          <p:nvPr/>
        </p:nvSpPr>
        <p:spPr>
          <a:xfrm>
            <a:off x="4723790" y="4581144"/>
            <a:ext cx="464515"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4"/>
          <p:cNvSpPr txBox="1"/>
          <p:nvPr/>
        </p:nvSpPr>
        <p:spPr>
          <a:xfrm>
            <a:off x="4723790" y="4581144"/>
            <a:ext cx="464515" cy="182880"/>
          </a:xfrm>
          <a:prstGeom prst="rect">
            <a:avLst/>
          </a:prstGeom>
          <a:noFill/>
        </p:spPr>
        <p:txBody>
          <a:bodyPr wrap="square" lIns="0" rIns="0" tIns="0" bIns="0" anchor="ctr">
            <a:spAutoFit/>
          </a:bodyPr>
          <a:lstStyle/>
          <a:p>
            <a:pPr algn="ctr"/>
            <a:r>
              <a:rPr sz="700" b="0" i="0">
                <a:solidFill>
                  <a:srgbClr val="1A1A1A"/>
                </a:solidFill>
                <a:latin typeface="Trenda IG Text"/>
              </a:rPr>
              <a:t>Copado</a:t>
            </a:r>
          </a:p>
        </p:txBody>
      </p:sp>
      <p:sp>
        <p:nvSpPr>
          <p:cNvPr id="72" name="Shape 65"/>
          <p:cNvSpPr/>
          <p:nvPr/>
        </p:nvSpPr>
        <p:spPr>
          <a:xfrm>
            <a:off x="5243169" y="4581144"/>
            <a:ext cx="78272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6"/>
          <p:cNvSpPr txBox="1"/>
          <p:nvPr/>
        </p:nvSpPr>
        <p:spPr>
          <a:xfrm>
            <a:off x="5243169" y="4581144"/>
            <a:ext cx="782726" cy="182880"/>
          </a:xfrm>
          <a:prstGeom prst="rect">
            <a:avLst/>
          </a:prstGeom>
          <a:noFill/>
        </p:spPr>
        <p:txBody>
          <a:bodyPr wrap="square" lIns="0" rIns="0" tIns="0" bIns="0" anchor="ctr">
            <a:spAutoFit/>
          </a:bodyPr>
          <a:lstStyle/>
          <a:p>
            <a:pPr algn="ctr"/>
            <a:r>
              <a:rPr sz="700" b="0" i="0">
                <a:solidFill>
                  <a:srgbClr val="1A1A1A"/>
                </a:solidFill>
                <a:latin typeface="Trenda IG Text"/>
              </a:rPr>
              <a:t>Google Drive</a:t>
            </a:r>
          </a:p>
        </p:txBody>
      </p:sp>
      <p:sp>
        <p:nvSpPr>
          <p:cNvPr id="74" name="Shape 67"/>
          <p:cNvSpPr/>
          <p:nvPr/>
        </p:nvSpPr>
        <p:spPr>
          <a:xfrm>
            <a:off x="2487168" y="4818888"/>
            <a:ext cx="1366113" cy="182880"/>
          </a:xfrm>
          <a:prstGeom prst="roundRect">
            <a:avLst>
              <a:gd name="adj" fmla="val 4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68"/>
          <p:cNvSpPr txBox="1"/>
          <p:nvPr/>
        </p:nvSpPr>
        <p:spPr>
          <a:xfrm>
            <a:off x="2487168" y="4818888"/>
            <a:ext cx="1366113" cy="182880"/>
          </a:xfrm>
          <a:prstGeom prst="rect">
            <a:avLst/>
          </a:prstGeom>
          <a:noFill/>
        </p:spPr>
        <p:txBody>
          <a:bodyPr wrap="square" lIns="0" rIns="0" tIns="0" bIns="0" anchor="ctr">
            <a:spAutoFit/>
          </a:bodyPr>
          <a:lstStyle/>
          <a:p>
            <a:pPr algn="ctr"/>
            <a:r>
              <a:rPr sz="700" b="1" i="0">
                <a:solidFill>
                  <a:srgbClr val="1A1A1A"/>
                </a:solidFill>
                <a:latin typeface="Trenda IG Text"/>
              </a:rPr>
              <a:t>GCP · BigQuery (masked)</a:t>
            </a:r>
          </a:p>
        </p:txBody>
      </p:sp>
      <p:sp>
        <p:nvSpPr>
          <p:cNvPr id="76" name="Shape 69"/>
          <p:cNvSpPr/>
          <p:nvPr/>
        </p:nvSpPr>
        <p:spPr>
          <a:xfrm>
            <a:off x="6400800" y="1755648"/>
            <a:ext cx="2240280" cy="3383280"/>
          </a:xfrm>
          <a:prstGeom prst="roundRect">
            <a:avLst>
              <a:gd name="adj" fmla="val 5000"/>
            </a:avLst>
          </a:prstGeom>
          <a:no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0"/>
          <p:cNvSpPr txBox="1"/>
          <p:nvPr/>
        </p:nvSpPr>
        <p:spPr>
          <a:xfrm>
            <a:off x="6528816" y="1810512"/>
            <a:ext cx="2057400" cy="256032"/>
          </a:xfrm>
          <a:prstGeom prst="rect">
            <a:avLst/>
          </a:prstGeom>
          <a:noFill/>
        </p:spPr>
        <p:txBody>
          <a:bodyPr wrap="square" lIns="0" rIns="0" tIns="0" bIns="0" anchor="ctr">
            <a:spAutoFit/>
          </a:bodyPr>
          <a:lstStyle/>
          <a:p>
            <a:r>
              <a:rPr sz="1000" b="0" i="0">
                <a:solidFill>
                  <a:srgbClr val="1A1A1A"/>
                </a:solidFill>
                <a:latin typeface="Trenda IG Text"/>
              </a:rPr>
              <a:t>Harness Govern</a:t>
            </a:r>
          </a:p>
        </p:txBody>
      </p:sp>
      <p:sp>
        <p:nvSpPr>
          <p:cNvPr id="78" name="Text 71"/>
          <p:cNvSpPr txBox="1"/>
          <p:nvPr/>
        </p:nvSpPr>
        <p:spPr>
          <a:xfrm>
            <a:off x="6528816" y="2057400"/>
            <a:ext cx="2057400" cy="182880"/>
          </a:xfrm>
          <a:prstGeom prst="rect">
            <a:avLst/>
          </a:prstGeom>
          <a:noFill/>
        </p:spPr>
        <p:txBody>
          <a:bodyPr wrap="square" lIns="0" rIns="0" tIns="0" bIns="0" anchor="t">
            <a:spAutoFit/>
          </a:bodyPr>
          <a:lstStyle/>
          <a:p>
            <a:r>
              <a:rPr sz="700" b="0" i="0">
                <a:solidFill>
                  <a:srgbClr val="6B6B6B"/>
                </a:solidFill>
                <a:latin typeface="Trenda IG Text"/>
              </a:rPr>
              <a:t>Safe, controlled and measurable.</a:t>
            </a:r>
          </a:p>
        </p:txBody>
      </p:sp>
      <p:sp>
        <p:nvSpPr>
          <p:cNvPr id="79" name="Text 72"/>
          <p:cNvSpPr txBox="1"/>
          <p:nvPr/>
        </p:nvSpPr>
        <p:spPr>
          <a:xfrm>
            <a:off x="6528816" y="2340864"/>
            <a:ext cx="2057400" cy="310896"/>
          </a:xfrm>
          <a:prstGeom prst="rect">
            <a:avLst/>
          </a:prstGeom>
          <a:noFill/>
        </p:spPr>
        <p:txBody>
          <a:bodyPr wrap="square" lIns="0" rIns="0" tIns="0" bIns="0" anchor="ctr">
            <a:spAutoFit/>
          </a:bodyPr>
          <a:lstStyle/>
          <a:p>
            <a:r>
              <a:rPr sz="740" b="1" i="0">
                <a:solidFill>
                  <a:srgbClr val="8A6D00"/>
                </a:solidFill>
                <a:latin typeface="Trenda IG Text"/>
              </a:rPr>
              <a:t>Change Guardian</a:t>
            </a:r>
          </a:p>
        </p:txBody>
      </p:sp>
      <p:sp>
        <p:nvSpPr>
          <p:cNvPr id="80" name="Text 73"/>
          <p:cNvSpPr txBox="1"/>
          <p:nvPr/>
        </p:nvSpPr>
        <p:spPr>
          <a:xfrm>
            <a:off x="6528816" y="2688336"/>
            <a:ext cx="2057400" cy="310896"/>
          </a:xfrm>
          <a:prstGeom prst="rect">
            <a:avLst/>
          </a:prstGeom>
          <a:noFill/>
        </p:spPr>
        <p:txBody>
          <a:bodyPr wrap="square" lIns="0" rIns="0" tIns="0" bIns="0" anchor="ctr">
            <a:spAutoFit/>
          </a:bodyPr>
          <a:lstStyle/>
          <a:p>
            <a:r>
              <a:rPr sz="740" b="1" i="0">
                <a:solidFill>
                  <a:srgbClr val="1A1A1A"/>
                </a:solidFill>
                <a:latin typeface="Trenda IG Text"/>
              </a:rPr>
              <a:t>Guardrails in + out · Model Armor</a:t>
            </a:r>
          </a:p>
        </p:txBody>
      </p:sp>
      <p:sp>
        <p:nvSpPr>
          <p:cNvPr id="81" name="Text 74"/>
          <p:cNvSpPr txBox="1"/>
          <p:nvPr/>
        </p:nvSpPr>
        <p:spPr>
          <a:xfrm>
            <a:off x="6528816" y="3035808"/>
            <a:ext cx="2057400" cy="310896"/>
          </a:xfrm>
          <a:prstGeom prst="rect">
            <a:avLst/>
          </a:prstGeom>
          <a:noFill/>
        </p:spPr>
        <p:txBody>
          <a:bodyPr wrap="square" lIns="0" rIns="0" tIns="0" bIns="0" anchor="ctr">
            <a:spAutoFit/>
          </a:bodyPr>
          <a:lstStyle/>
          <a:p>
            <a:r>
              <a:rPr sz="740" b="1" i="0">
                <a:solidFill>
                  <a:srgbClr val="1A1A1A"/>
                </a:solidFill>
                <a:latin typeface="Trenda IG Text"/>
              </a:rPr>
              <a:t>Identity + access</a:t>
            </a:r>
          </a:p>
        </p:txBody>
      </p:sp>
      <p:sp>
        <p:nvSpPr>
          <p:cNvPr id="82" name="Text 75"/>
          <p:cNvSpPr txBox="1"/>
          <p:nvPr/>
        </p:nvSpPr>
        <p:spPr>
          <a:xfrm>
            <a:off x="6528816" y="3383279"/>
            <a:ext cx="2057400" cy="310896"/>
          </a:xfrm>
          <a:prstGeom prst="rect">
            <a:avLst/>
          </a:prstGeom>
          <a:noFill/>
        </p:spPr>
        <p:txBody>
          <a:bodyPr wrap="square" lIns="0" rIns="0" tIns="0" bIns="0" anchor="ctr">
            <a:spAutoFit/>
          </a:bodyPr>
          <a:lstStyle/>
          <a:p>
            <a:r>
              <a:rPr sz="740" b="1" i="0">
                <a:solidFill>
                  <a:srgbClr val="1A1A1A"/>
                </a:solidFill>
                <a:latin typeface="Trenda IG Text"/>
              </a:rPr>
              <a:t>Collibra masking + DLP</a:t>
            </a:r>
          </a:p>
        </p:txBody>
      </p:sp>
      <p:sp>
        <p:nvSpPr>
          <p:cNvPr id="83" name="Text 76"/>
          <p:cNvSpPr txBox="1"/>
          <p:nvPr/>
        </p:nvSpPr>
        <p:spPr>
          <a:xfrm>
            <a:off x="6528816" y="3730752"/>
            <a:ext cx="2057400" cy="310896"/>
          </a:xfrm>
          <a:prstGeom prst="rect">
            <a:avLst/>
          </a:prstGeom>
          <a:noFill/>
        </p:spPr>
        <p:txBody>
          <a:bodyPr wrap="square" lIns="0" rIns="0" tIns="0" bIns="0" anchor="ctr">
            <a:spAutoFit/>
          </a:bodyPr>
          <a:lstStyle/>
          <a:p>
            <a:r>
              <a:rPr sz="740" b="1" i="0">
                <a:solidFill>
                  <a:srgbClr val="1A1A1A"/>
                </a:solidFill>
                <a:latin typeface="Trenda IG Text"/>
              </a:rPr>
              <a:t>Compliance Guardian + policy engine</a:t>
            </a:r>
          </a:p>
        </p:txBody>
      </p:sp>
      <p:sp>
        <p:nvSpPr>
          <p:cNvPr id="84" name="Text 77"/>
          <p:cNvSpPr txBox="1"/>
          <p:nvPr/>
        </p:nvSpPr>
        <p:spPr>
          <a:xfrm>
            <a:off x="6528816" y="4078224"/>
            <a:ext cx="2057400" cy="310896"/>
          </a:xfrm>
          <a:prstGeom prst="rect">
            <a:avLst/>
          </a:prstGeom>
          <a:noFill/>
        </p:spPr>
        <p:txBody>
          <a:bodyPr wrap="square" lIns="0" rIns="0" tIns="0" bIns="0" anchor="ctr">
            <a:spAutoFit/>
          </a:bodyPr>
          <a:lstStyle/>
          <a:p>
            <a:r>
              <a:rPr sz="740" b="1" i="0">
                <a:solidFill>
                  <a:srgbClr val="1A1A1A"/>
                </a:solidFill>
                <a:latin typeface="Trenda IG Text"/>
              </a:rPr>
              <a:t>Human gates H1-H4, CAB, G1-G3</a:t>
            </a:r>
          </a:p>
        </p:txBody>
      </p:sp>
      <p:sp>
        <p:nvSpPr>
          <p:cNvPr id="85" name="Text 78"/>
          <p:cNvSpPr txBox="1"/>
          <p:nvPr/>
        </p:nvSpPr>
        <p:spPr>
          <a:xfrm>
            <a:off x="6528816" y="4425696"/>
            <a:ext cx="2057400" cy="310896"/>
          </a:xfrm>
          <a:prstGeom prst="rect">
            <a:avLst/>
          </a:prstGeom>
          <a:noFill/>
        </p:spPr>
        <p:txBody>
          <a:bodyPr wrap="square" lIns="0" rIns="0" tIns="0" bIns="0" anchor="ctr">
            <a:spAutoFit/>
          </a:bodyPr>
          <a:lstStyle/>
          <a:p>
            <a:r>
              <a:rPr sz="740" b="1" i="0">
                <a:solidFill>
                  <a:srgbClr val="1A1A1A"/>
                </a:solidFill>
                <a:latin typeface="Trenda IG Text"/>
              </a:rPr>
              <a:t>Evaluation set</a:t>
            </a:r>
          </a:p>
        </p:txBody>
      </p:sp>
      <p:sp>
        <p:nvSpPr>
          <p:cNvPr id="86" name="Text 79"/>
          <p:cNvSpPr txBox="1"/>
          <p:nvPr/>
        </p:nvSpPr>
        <p:spPr>
          <a:xfrm>
            <a:off x="6528816" y="4773168"/>
            <a:ext cx="2057400" cy="310896"/>
          </a:xfrm>
          <a:prstGeom prst="rect">
            <a:avLst/>
          </a:prstGeom>
          <a:noFill/>
        </p:spPr>
        <p:txBody>
          <a:bodyPr wrap="square" lIns="0" rIns="0" tIns="0" bIns="0" anchor="ctr">
            <a:spAutoFit/>
          </a:bodyPr>
          <a:lstStyle/>
          <a:p>
            <a:r>
              <a:rPr sz="740" b="1" i="0">
                <a:solidFill>
                  <a:srgbClr val="1A1A1A"/>
                </a:solidFill>
                <a:latin typeface="Trenda IG Text"/>
              </a:rPr>
              <a:t>Observability + change passport</a:t>
            </a:r>
          </a:p>
        </p:txBody>
      </p:sp>
      <p:sp>
        <p:nvSpPr>
          <p:cNvPr id="87" name="Text 80"/>
          <p:cNvSpPr txBox="1"/>
          <p:nvPr/>
        </p:nvSpPr>
        <p:spPr>
          <a:xfrm>
            <a:off x="8915400" y="1645920"/>
            <a:ext cx="2862072" cy="237744"/>
          </a:xfrm>
          <a:prstGeom prst="rect">
            <a:avLst/>
          </a:prstGeom>
          <a:noFill/>
        </p:spPr>
        <p:txBody>
          <a:bodyPr wrap="square" lIns="0" rIns="0" tIns="0" bIns="0" anchor="ctr">
            <a:spAutoFit/>
          </a:bodyPr>
          <a:lstStyle/>
          <a:p>
            <a:r>
              <a:rPr sz="1100" b="1" i="0">
                <a:solidFill>
                  <a:srgbClr val="1A1A1A"/>
                </a:solidFill>
                <a:latin typeface="Trenda IG Text"/>
              </a:rPr>
              <a:t>Differentiators</a:t>
            </a:r>
          </a:p>
        </p:txBody>
      </p:sp>
      <p:sp>
        <p:nvSpPr>
          <p:cNvPr id="88" name="Shape 81"/>
          <p:cNvSpPr/>
          <p:nvPr/>
        </p:nvSpPr>
        <p:spPr>
          <a:xfrm>
            <a:off x="8897112" y="1920240"/>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88" name="Shape 81"/>
          <p:cNvSpPr/>
          <p:nvPr/>
        </p:nvSpPr>
        <p:spPr>
          <a:xfrm>
            <a:off x="8915400" y="1938528"/>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Shape 82"/>
          <p:cNvSpPr/>
          <p:nvPr/>
        </p:nvSpPr>
        <p:spPr>
          <a:xfrm>
            <a:off x="9025128" y="2066544"/>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3"/>
          <p:cNvSpPr txBox="1"/>
          <p:nvPr/>
        </p:nvSpPr>
        <p:spPr>
          <a:xfrm>
            <a:off x="9025128" y="2066544"/>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sp>
        <p:nvSpPr>
          <p:cNvPr id="91" name="Text 84"/>
          <p:cNvSpPr txBox="1"/>
          <p:nvPr/>
        </p:nvSpPr>
        <p:spPr>
          <a:xfrm>
            <a:off x="9390888" y="2029968"/>
            <a:ext cx="2313432" cy="237744"/>
          </a:xfrm>
          <a:prstGeom prst="rect">
            <a:avLst/>
          </a:prstGeom>
          <a:noFill/>
        </p:spPr>
        <p:txBody>
          <a:bodyPr wrap="square" lIns="0" rIns="0" tIns="0" bIns="0" anchor="ctr">
            <a:spAutoFit/>
          </a:bodyPr>
          <a:lstStyle/>
          <a:p>
            <a:r>
              <a:rPr sz="840" b="1" i="0">
                <a:solidFill>
                  <a:srgbClr val="1A1A1A"/>
                </a:solidFill>
                <a:latin typeface="Trenda IG Text"/>
              </a:rPr>
              <a:t>Grounded in the org and its data</a:t>
            </a:r>
          </a:p>
        </p:txBody>
      </p:sp>
      <p:sp>
        <p:nvSpPr>
          <p:cNvPr id="92" name="Text 85"/>
          <p:cNvSpPr txBox="1"/>
          <p:nvPr/>
        </p:nvSpPr>
        <p:spPr>
          <a:xfrm>
            <a:off x="9390888" y="2286000"/>
            <a:ext cx="2313432" cy="420624"/>
          </a:xfrm>
          <a:prstGeom prst="rect">
            <a:avLst/>
          </a:prstGeom>
          <a:noFill/>
        </p:spPr>
        <p:txBody>
          <a:bodyPr wrap="square" lIns="0" rIns="0" tIns="0" bIns="0" anchor="t">
            <a:spAutoFit/>
          </a:bodyPr>
          <a:lstStyle/>
          <a:p>
            <a:r>
              <a:rPr sz="700" b="0" i="0">
                <a:solidFill>
                  <a:srgbClr val="4D4D4D"/>
                </a:solidFill>
                <a:latin typeface="Trenda IG Text"/>
              </a:rPr>
              <a:t>Agents read a cited graph of the delivery estate, and masked aggregates for campaigns.</a:t>
            </a:r>
          </a:p>
        </p:txBody>
      </p:sp>
      <p:sp>
        <p:nvSpPr>
          <p:cNvPr id="93" name="Text 86"/>
          <p:cNvSpPr txBox="1"/>
          <p:nvPr/>
        </p:nvSpPr>
        <p:spPr>
          <a:xfrm>
            <a:off x="9390888" y="2706624"/>
            <a:ext cx="2313432" cy="182880"/>
          </a:xfrm>
          <a:prstGeom prst="rect">
            <a:avLst/>
          </a:prstGeom>
          <a:noFill/>
        </p:spPr>
        <p:txBody>
          <a:bodyPr wrap="square" lIns="0" rIns="0" tIns="0" bIns="0" anchor="t">
            <a:spAutoFit/>
          </a:bodyPr>
          <a:lstStyle/>
          <a:p>
            <a:r>
              <a:rPr sz="700" b="0" i="0">
                <a:solidFill>
                  <a:srgbClr val="1A1A1A"/>
                </a:solidFill>
                <a:latin typeface="Trenda IG Text"/>
              </a:rPr>
              <a:t>Ask before build.</a:t>
            </a:r>
          </a:p>
        </p:txBody>
      </p:sp>
      <p:sp>
        <p:nvSpPr>
          <p:cNvPr id="94" name="Shape 87"/>
          <p:cNvSpPr/>
          <p:nvPr/>
        </p:nvSpPr>
        <p:spPr>
          <a:xfrm>
            <a:off x="8897112" y="3035808"/>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94" name="Shape 87"/>
          <p:cNvSpPr/>
          <p:nvPr/>
        </p:nvSpPr>
        <p:spPr>
          <a:xfrm>
            <a:off x="8915400" y="3054096"/>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88"/>
          <p:cNvSpPr/>
          <p:nvPr/>
        </p:nvSpPr>
        <p:spPr>
          <a:xfrm>
            <a:off x="9025128" y="3182112"/>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89"/>
          <p:cNvSpPr txBox="1"/>
          <p:nvPr/>
        </p:nvSpPr>
        <p:spPr>
          <a:xfrm>
            <a:off x="9025128" y="3182112"/>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97" name="Text 90"/>
          <p:cNvSpPr txBox="1"/>
          <p:nvPr/>
        </p:nvSpPr>
        <p:spPr>
          <a:xfrm>
            <a:off x="9390888" y="3145536"/>
            <a:ext cx="2313432" cy="237744"/>
          </a:xfrm>
          <a:prstGeom prst="rect">
            <a:avLst/>
          </a:prstGeom>
          <a:noFill/>
        </p:spPr>
        <p:txBody>
          <a:bodyPr wrap="square" lIns="0" rIns="0" tIns="0" bIns="0" anchor="ctr">
            <a:spAutoFit/>
          </a:bodyPr>
          <a:lstStyle/>
          <a:p>
            <a:r>
              <a:rPr sz="840" b="1" i="0">
                <a:solidFill>
                  <a:srgbClr val="1A1A1A"/>
                </a:solidFill>
                <a:latin typeface="Trenda IG Text"/>
              </a:rPr>
              <a:t>No pod breaks another</a:t>
            </a:r>
          </a:p>
        </p:txBody>
      </p:sp>
      <p:sp>
        <p:nvSpPr>
          <p:cNvPr id="98" name="Text 91"/>
          <p:cNvSpPr txBox="1"/>
          <p:nvPr/>
        </p:nvSpPr>
        <p:spPr>
          <a:xfrm>
            <a:off x="9390888" y="3401568"/>
            <a:ext cx="2313432" cy="420624"/>
          </a:xfrm>
          <a:prstGeom prst="rect">
            <a:avLst/>
          </a:prstGeom>
          <a:noFill/>
        </p:spPr>
        <p:txBody>
          <a:bodyPr wrap="square" lIns="0" rIns="0" tIns="0" bIns="0" anchor="t">
            <a:spAutoFit/>
          </a:bodyPr>
          <a:lstStyle/>
          <a:p>
            <a:r>
              <a:rPr sz="700" b="0" i="0">
                <a:solidFill>
                  <a:srgbClr val="4D4D4D"/>
                </a:solidFill>
                <a:latin typeface="Trenda IG Text"/>
              </a:rPr>
              <a:t>The </a:t>
            </a:r>
            <a:r>
              <a:rPr sz="700" b="1" i="0">
                <a:solidFill>
                  <a:srgbClr val="8A6D00"/>
                </a:solidFill>
                <a:latin typeface="Trenda IG Text"/>
              </a:rPr>
              <a:t>Change Guardian</a:t>
            </a:r>
            <a:r>
              <a:rPr sz="700" b="0" i="0">
                <a:solidFill>
                  <a:srgbClr val="4D4D4D"/>
                </a:solidFill>
                <a:latin typeface="Trenda IG Text"/>
              </a:rPr>
              <a:t> checks every change against who owns and uses it.</a:t>
            </a:r>
          </a:p>
        </p:txBody>
      </p:sp>
      <p:sp>
        <p:nvSpPr>
          <p:cNvPr id="99" name="Text 92"/>
          <p:cNvSpPr txBox="1"/>
          <p:nvPr/>
        </p:nvSpPr>
        <p:spPr>
          <a:xfrm>
            <a:off x="9390888" y="3822191"/>
            <a:ext cx="2313432" cy="182880"/>
          </a:xfrm>
          <a:prstGeom prst="rect">
            <a:avLst/>
          </a:prstGeom>
          <a:noFill/>
        </p:spPr>
        <p:txBody>
          <a:bodyPr wrap="square" lIns="0" rIns="0" tIns="0" bIns="0" anchor="t">
            <a:spAutoFit/>
          </a:bodyPr>
          <a:lstStyle/>
          <a:p>
            <a:r>
              <a:rPr sz="700" b="0" i="0">
                <a:solidFill>
                  <a:srgbClr val="1A1A1A"/>
                </a:solidFill>
                <a:latin typeface="Trenda IG Text"/>
              </a:rPr>
              <a:t>Governed by design.</a:t>
            </a:r>
          </a:p>
        </p:txBody>
      </p:sp>
      <p:sp>
        <p:nvSpPr>
          <p:cNvPr id="100" name="Shape 93"/>
          <p:cNvSpPr/>
          <p:nvPr/>
        </p:nvSpPr>
        <p:spPr>
          <a:xfrm>
            <a:off x="8897112" y="4151375"/>
            <a:ext cx="2898648" cy="1060704"/>
          </a:xfrm>
          <a:prstGeom prst="roundRect">
            <a:avLst>
              <a:gd name="adj" fmla="val 10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00" name="Shape 93"/>
          <p:cNvSpPr/>
          <p:nvPr/>
        </p:nvSpPr>
        <p:spPr>
          <a:xfrm>
            <a:off x="8915400" y="4169663"/>
            <a:ext cx="2862072" cy="1024128"/>
          </a:xfrm>
          <a:prstGeom prst="roundRect">
            <a:avLst>
              <a:gd name="adj" fmla="val 10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4"/>
          <p:cNvSpPr/>
          <p:nvPr/>
        </p:nvSpPr>
        <p:spPr>
          <a:xfrm>
            <a:off x="9025128" y="4297679"/>
            <a:ext cx="274320" cy="274320"/>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5"/>
          <p:cNvSpPr txBox="1"/>
          <p:nvPr/>
        </p:nvSpPr>
        <p:spPr>
          <a:xfrm>
            <a:off x="9025128" y="4297679"/>
            <a:ext cx="274320" cy="274320"/>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103" name="Text 96"/>
          <p:cNvSpPr txBox="1"/>
          <p:nvPr/>
        </p:nvSpPr>
        <p:spPr>
          <a:xfrm>
            <a:off x="9390888" y="4261103"/>
            <a:ext cx="2313432" cy="237744"/>
          </a:xfrm>
          <a:prstGeom prst="rect">
            <a:avLst/>
          </a:prstGeom>
          <a:noFill/>
        </p:spPr>
        <p:txBody>
          <a:bodyPr wrap="square" lIns="0" rIns="0" tIns="0" bIns="0" anchor="ctr">
            <a:spAutoFit/>
          </a:bodyPr>
          <a:lstStyle/>
          <a:p>
            <a:r>
              <a:rPr sz="840" b="1" i="0">
                <a:solidFill>
                  <a:srgbClr val="1A1A1A"/>
                </a:solidFill>
                <a:latin typeface="Trenda IG Text"/>
              </a:rPr>
              <a:t>Minimum-data agent access</a:t>
            </a:r>
          </a:p>
        </p:txBody>
      </p:sp>
      <p:sp>
        <p:nvSpPr>
          <p:cNvPr id="104" name="Text 97"/>
          <p:cNvSpPr txBox="1"/>
          <p:nvPr/>
        </p:nvSpPr>
        <p:spPr>
          <a:xfrm>
            <a:off x="9390888" y="4517136"/>
            <a:ext cx="2313432" cy="420624"/>
          </a:xfrm>
          <a:prstGeom prst="rect">
            <a:avLst/>
          </a:prstGeom>
          <a:noFill/>
        </p:spPr>
        <p:txBody>
          <a:bodyPr wrap="square" lIns="0" rIns="0" tIns="0" bIns="0" anchor="t">
            <a:spAutoFit/>
          </a:bodyPr>
          <a:lstStyle/>
          <a:p>
            <a:r>
              <a:rPr sz="700" b="0" i="0">
                <a:solidFill>
                  <a:srgbClr val="4D4D4D"/>
                </a:solidFill>
                <a:latin typeface="Trenda IG Text"/>
              </a:rPr>
              <a:t>Agents get aggregates and masked views, never raw PHI; patient data leaves only through the gateway.</a:t>
            </a:r>
          </a:p>
        </p:txBody>
      </p:sp>
      <p:sp>
        <p:nvSpPr>
          <p:cNvPr id="105" name="Text 98"/>
          <p:cNvSpPr txBox="1"/>
          <p:nvPr/>
        </p:nvSpPr>
        <p:spPr>
          <a:xfrm>
            <a:off x="9390888" y="4937759"/>
            <a:ext cx="2313432" cy="182880"/>
          </a:xfrm>
          <a:prstGeom prst="rect">
            <a:avLst/>
          </a:prstGeom>
          <a:noFill/>
        </p:spPr>
        <p:txBody>
          <a:bodyPr wrap="square" lIns="0" rIns="0" tIns="0" bIns="0" anchor="t">
            <a:spAutoFit/>
          </a:bodyPr>
          <a:lstStyle/>
          <a:p>
            <a:r>
              <a:rPr sz="700" b="0" i="0">
                <a:solidFill>
                  <a:srgbClr val="1A1A1A"/>
                </a:solidFill>
                <a:latin typeface="Trenda IG Text"/>
              </a:rPr>
              <a:t>Private by design.</a:t>
            </a:r>
          </a:p>
        </p:txBody>
      </p:sp>
      <p:sp>
        <p:nvSpPr>
          <p:cNvPr id="106" name="Shape 99"/>
          <p:cNvSpPr/>
          <p:nvPr/>
        </p:nvSpPr>
        <p:spPr>
          <a:xfrm>
            <a:off x="411480" y="5394960"/>
            <a:ext cx="11365992" cy="868680"/>
          </a:xfrm>
          <a:prstGeom prst="roundRect">
            <a:avLst>
              <a:gd name="adj" fmla="val 40000"/>
            </a:avLst>
          </a:prstGeom>
          <a:noFill/>
          <a:ln w="952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0"/>
          <p:cNvSpPr txBox="1"/>
          <p:nvPr/>
        </p:nvSpPr>
        <p:spPr>
          <a:xfrm>
            <a:off x="731520" y="5468112"/>
            <a:ext cx="1965960" cy="182880"/>
          </a:xfrm>
          <a:prstGeom prst="rect">
            <a:avLst/>
          </a:prstGeom>
          <a:noFill/>
        </p:spPr>
        <p:txBody>
          <a:bodyPr wrap="square" lIns="0" rIns="0" tIns="0" bIns="0" anchor="t">
            <a:spAutoFit/>
          </a:bodyPr>
          <a:lstStyle/>
          <a:p>
            <a:r>
              <a:rPr sz="700" b="1" i="0" spc="60">
                <a:solidFill>
                  <a:srgbClr val="1A1A1A"/>
                </a:solidFill>
                <a:latin typeface="Trenda IG Text"/>
              </a:rPr>
              <a:t>ASCENSION CORE COMPONENTS</a:t>
            </a:r>
          </a:p>
        </p:txBody>
      </p:sp>
      <p:sp>
        <p:nvSpPr>
          <p:cNvPr id="108" name="Text 101"/>
          <p:cNvSpPr txBox="1"/>
          <p:nvPr/>
        </p:nvSpPr>
        <p:spPr>
          <a:xfrm>
            <a:off x="731520" y="5724144"/>
            <a:ext cx="1828800" cy="457200"/>
          </a:xfrm>
          <a:prstGeom prst="rect">
            <a:avLst/>
          </a:prstGeom>
          <a:noFill/>
        </p:spPr>
        <p:txBody>
          <a:bodyPr wrap="square" lIns="0" rIns="0" tIns="0" bIns="0" anchor="t">
            <a:spAutoFit/>
          </a:bodyPr>
          <a:lstStyle/>
          <a:p>
            <a:r>
              <a:rPr sz="1100" b="0" i="0">
                <a:solidFill>
                  <a:srgbClr val="1A1A1A"/>
                </a:solidFill>
                <a:latin typeface="Trenda IG Text"/>
              </a:rPr>
              <a:t>Infrastructure</a:t>
            </a:r>
          </a:p>
          <a:p>
            <a:r>
              <a:rPr sz="700" b="0" i="0">
                <a:solidFill>
                  <a:srgbClr val="4D4D4D"/>
                </a:solidFill>
                <a:latin typeface="Trenda IG Text"/>
              </a:rPr>
              <a:t>Runs in Ascension's cloud</a:t>
            </a:r>
          </a:p>
        </p:txBody>
      </p:sp>
      <p:pic>
        <p:nvPicPr>
          <p:cNvPr id="109" name="Picture 108" descr="salesforce.png"/>
          <p:cNvPicPr>
            <a:picLocks noChangeAspect="1"/>
          </p:cNvPicPr>
          <p:nvPr/>
        </p:nvPicPr>
        <p:blipFill>
          <a:blip r:embed="rId4"/>
          <a:stretch>
            <a:fillRect/>
          </a:stretch>
        </p:blipFill>
        <p:spPr>
          <a:xfrm>
            <a:off x="2743200" y="5522976"/>
            <a:ext cx="201168" cy="201168"/>
          </a:xfrm>
          <a:prstGeom prst="rect">
            <a:avLst/>
          </a:prstGeom>
        </p:spPr>
      </p:pic>
      <p:sp>
        <p:nvSpPr>
          <p:cNvPr id="110" name="Text 102"/>
          <p:cNvSpPr txBox="1"/>
          <p:nvPr/>
        </p:nvSpPr>
        <p:spPr>
          <a:xfrm>
            <a:off x="3017520"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Salesforce</a:t>
            </a:r>
          </a:p>
        </p:txBody>
      </p:sp>
      <p:sp>
        <p:nvSpPr>
          <p:cNvPr id="111" name="Text 103"/>
          <p:cNvSpPr txBox="1"/>
          <p:nvPr/>
        </p:nvSpPr>
        <p:spPr>
          <a:xfrm>
            <a:off x="3017520" y="5760720"/>
            <a:ext cx="1404518" cy="411480"/>
          </a:xfrm>
          <a:prstGeom prst="rect">
            <a:avLst/>
          </a:prstGeom>
          <a:noFill/>
        </p:spPr>
        <p:txBody>
          <a:bodyPr wrap="square" lIns="0" rIns="0" tIns="0" bIns="0" anchor="t">
            <a:spAutoFit/>
          </a:bodyPr>
          <a:lstStyle/>
          <a:p>
            <a:r>
              <a:rPr sz="700" b="0" i="0">
                <a:solidFill>
                  <a:srgbClr val="4D4D4D"/>
                </a:solidFill>
                <a:latin typeface="Trenda IG Text"/>
              </a:rPr>
              <a:t>Health, Marketing + Data Cloud</a:t>
            </a:r>
          </a:p>
        </p:txBody>
      </p:sp>
      <p:pic>
        <p:nvPicPr>
          <p:cNvPr id="112" name="Picture 111" descr="git.png"/>
          <p:cNvPicPr>
            <a:picLocks noChangeAspect="1"/>
          </p:cNvPicPr>
          <p:nvPr/>
        </p:nvPicPr>
        <p:blipFill>
          <a:blip r:embed="rId8"/>
          <a:stretch>
            <a:fillRect/>
          </a:stretch>
        </p:blipFill>
        <p:spPr>
          <a:xfrm>
            <a:off x="4513478" y="5522976"/>
            <a:ext cx="201168" cy="201168"/>
          </a:xfrm>
          <a:prstGeom prst="rect">
            <a:avLst/>
          </a:prstGeom>
        </p:spPr>
      </p:pic>
      <p:sp>
        <p:nvSpPr>
          <p:cNvPr id="113" name="Text 104"/>
          <p:cNvSpPr txBox="1"/>
          <p:nvPr/>
        </p:nvSpPr>
        <p:spPr>
          <a:xfrm>
            <a:off x="4787798"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Delivery</a:t>
            </a:r>
          </a:p>
        </p:txBody>
      </p:sp>
      <p:sp>
        <p:nvSpPr>
          <p:cNvPr id="114" name="Text 105"/>
          <p:cNvSpPr txBox="1"/>
          <p:nvPr/>
        </p:nvSpPr>
        <p:spPr>
          <a:xfrm>
            <a:off x="4787798" y="5760720"/>
            <a:ext cx="1404518" cy="411480"/>
          </a:xfrm>
          <a:prstGeom prst="rect">
            <a:avLst/>
          </a:prstGeom>
          <a:noFill/>
        </p:spPr>
        <p:txBody>
          <a:bodyPr wrap="square" lIns="0" rIns="0" tIns="0" bIns="0" anchor="t">
            <a:spAutoFit/>
          </a:bodyPr>
          <a:lstStyle/>
          <a:p>
            <a:r>
              <a:rPr sz="700" b="0" i="0">
                <a:solidFill>
                  <a:srgbClr val="4D4D4D"/>
                </a:solidFill>
                <a:latin typeface="Trenda IG Text"/>
              </a:rPr>
              <a:t>Copado, Git, Jira, Zephyr</a:t>
            </a:r>
          </a:p>
        </p:txBody>
      </p:sp>
      <p:pic>
        <p:nvPicPr>
          <p:cNvPr id="115" name="Picture 114" descr="googlebigquery.png"/>
          <p:cNvPicPr>
            <a:picLocks noChangeAspect="1"/>
          </p:cNvPicPr>
          <p:nvPr/>
        </p:nvPicPr>
        <p:blipFill>
          <a:blip r:embed="rId9"/>
          <a:stretch>
            <a:fillRect/>
          </a:stretch>
        </p:blipFill>
        <p:spPr>
          <a:xfrm>
            <a:off x="6283756" y="5522976"/>
            <a:ext cx="201168" cy="201168"/>
          </a:xfrm>
          <a:prstGeom prst="rect">
            <a:avLst/>
          </a:prstGeom>
        </p:spPr>
      </p:pic>
      <p:sp>
        <p:nvSpPr>
          <p:cNvPr id="116" name="Text 106"/>
          <p:cNvSpPr txBox="1"/>
          <p:nvPr/>
        </p:nvSpPr>
        <p:spPr>
          <a:xfrm>
            <a:off x="6558076"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Data</a:t>
            </a:r>
          </a:p>
        </p:txBody>
      </p:sp>
      <p:sp>
        <p:nvSpPr>
          <p:cNvPr id="117" name="Text 107"/>
          <p:cNvSpPr txBox="1"/>
          <p:nvPr/>
        </p:nvSpPr>
        <p:spPr>
          <a:xfrm>
            <a:off x="6558076" y="5760720"/>
            <a:ext cx="1404518" cy="411480"/>
          </a:xfrm>
          <a:prstGeom prst="rect">
            <a:avLst/>
          </a:prstGeom>
          <a:noFill/>
        </p:spPr>
        <p:txBody>
          <a:bodyPr wrap="square" lIns="0" rIns="0" tIns="0" bIns="0" anchor="t">
            <a:spAutoFit/>
          </a:bodyPr>
          <a:lstStyle/>
          <a:p>
            <a:r>
              <a:rPr sz="700" b="0" i="0">
                <a:solidFill>
                  <a:srgbClr val="4D4D4D"/>
                </a:solidFill>
                <a:latin typeface="Trenda IG Text"/>
              </a:rPr>
              <a:t>BigQuery, Collibra, DLP, Tableau, Spanner</a:t>
            </a:r>
          </a:p>
        </p:txBody>
      </p:sp>
      <p:pic>
        <p:nvPicPr>
          <p:cNvPr id="118" name="Picture 117" descr="openai-white.png"/>
          <p:cNvPicPr>
            <a:picLocks noChangeAspect="1"/>
          </p:cNvPicPr>
          <p:nvPr/>
        </p:nvPicPr>
        <p:blipFill>
          <a:blip r:embed="rId3"/>
          <a:stretch>
            <a:fillRect/>
          </a:stretch>
        </p:blipFill>
        <p:spPr>
          <a:xfrm>
            <a:off x="8054035" y="5522976"/>
            <a:ext cx="201168" cy="201168"/>
          </a:xfrm>
          <a:prstGeom prst="rect">
            <a:avLst/>
          </a:prstGeom>
        </p:spPr>
      </p:pic>
      <p:sp>
        <p:nvSpPr>
          <p:cNvPr id="119" name="Text 108"/>
          <p:cNvSpPr txBox="1"/>
          <p:nvPr/>
        </p:nvSpPr>
        <p:spPr>
          <a:xfrm>
            <a:off x="8328355"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Models</a:t>
            </a:r>
          </a:p>
        </p:txBody>
      </p:sp>
      <p:sp>
        <p:nvSpPr>
          <p:cNvPr id="120" name="Text 109"/>
          <p:cNvSpPr txBox="1"/>
          <p:nvPr/>
        </p:nvSpPr>
        <p:spPr>
          <a:xfrm>
            <a:off x="8328355" y="5760720"/>
            <a:ext cx="1404518" cy="411480"/>
          </a:xfrm>
          <a:prstGeom prst="rect">
            <a:avLst/>
          </a:prstGeom>
          <a:noFill/>
        </p:spPr>
        <p:txBody>
          <a:bodyPr wrap="square" lIns="0" rIns="0" tIns="0" bIns="0" anchor="t">
            <a:spAutoFit/>
          </a:bodyPr>
          <a:lstStyle/>
          <a:p>
            <a:r>
              <a:rPr sz="700" b="0" i="0">
                <a:solidFill>
                  <a:srgbClr val="4D4D4D"/>
                </a:solidFill>
                <a:latin typeface="Trenda IG Text"/>
              </a:rPr>
              <a:t>Codex Enterprise; model in config; tools via MCP</a:t>
            </a:r>
          </a:p>
        </p:txBody>
      </p:sp>
      <p:pic>
        <p:nvPicPr>
          <p:cNvPr id="121" name="Picture 120" descr="googlecloud.png"/>
          <p:cNvPicPr>
            <a:picLocks noChangeAspect="1"/>
          </p:cNvPicPr>
          <p:nvPr/>
        </p:nvPicPr>
        <p:blipFill>
          <a:blip r:embed="rId10"/>
          <a:stretch>
            <a:fillRect/>
          </a:stretch>
        </p:blipFill>
        <p:spPr>
          <a:xfrm>
            <a:off x="9824313" y="5522976"/>
            <a:ext cx="201168" cy="201168"/>
          </a:xfrm>
          <a:prstGeom prst="rect">
            <a:avLst/>
          </a:prstGeom>
        </p:spPr>
      </p:pic>
      <p:sp>
        <p:nvSpPr>
          <p:cNvPr id="122" name="Text 110"/>
          <p:cNvSpPr txBox="1"/>
          <p:nvPr/>
        </p:nvSpPr>
        <p:spPr>
          <a:xfrm>
            <a:off x="10098633" y="5504688"/>
            <a:ext cx="1404518" cy="237744"/>
          </a:xfrm>
          <a:prstGeom prst="rect">
            <a:avLst/>
          </a:prstGeom>
          <a:noFill/>
        </p:spPr>
        <p:txBody>
          <a:bodyPr wrap="square" lIns="0" rIns="0" tIns="0" bIns="0" anchor="ctr">
            <a:spAutoFit/>
          </a:bodyPr>
          <a:lstStyle/>
          <a:p>
            <a:r>
              <a:rPr sz="900" b="1" i="0">
                <a:solidFill>
                  <a:srgbClr val="1A1A1A"/>
                </a:solidFill>
                <a:latin typeface="Trenda IG Text"/>
              </a:rPr>
              <a:t>Cloud</a:t>
            </a:r>
          </a:p>
        </p:txBody>
      </p:sp>
      <p:sp>
        <p:nvSpPr>
          <p:cNvPr id="123" name="Text 111"/>
          <p:cNvSpPr txBox="1"/>
          <p:nvPr/>
        </p:nvSpPr>
        <p:spPr>
          <a:xfrm>
            <a:off x="10098633" y="5760720"/>
            <a:ext cx="1404518" cy="411480"/>
          </a:xfrm>
          <a:prstGeom prst="rect">
            <a:avLst/>
          </a:prstGeom>
          <a:noFill/>
        </p:spPr>
        <p:txBody>
          <a:bodyPr wrap="square" lIns="0" rIns="0" tIns="0" bIns="0" anchor="t">
            <a:spAutoFit/>
          </a:bodyPr>
          <a:lstStyle/>
          <a:p>
            <a:r>
              <a:rPr sz="700" b="0" i="0">
                <a:solidFill>
                  <a:srgbClr val="4D4D4D"/>
                </a:solidFill>
                <a:latin typeface="Trenda IG Text"/>
              </a:rPr>
              <a:t>Google Cloud: Cloud Run, VPC-SC, CMEK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FACTORY · HEALTH CLOUD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Health Cloud: one story from Codex to production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Seven agents, four approval gates, one change passport.</a:t>
            </a:r>
          </a:p>
        </p:txBody>
      </p:sp>
      <p:sp>
        <p:nvSpPr>
          <p:cNvPr id="5" name="Shape 4"/>
          <p:cNvSpPr/>
          <p:nvPr/>
        </p:nvSpPr>
        <p:spPr>
          <a:xfrm>
            <a:off x="411480" y="1188720"/>
            <a:ext cx="2788920" cy="713232"/>
          </a:xfrm>
          <a:prstGeom prst="roundRect">
            <a:avLst>
              <a:gd name="adj" fmla="val 10000"/>
            </a:avLst>
          </a:prstGeom>
          <a:solidFill>
            <a:srgbClr val="FFFFFF"/>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84632" y="1261872"/>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484632" y="1261872"/>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pic>
        <p:nvPicPr>
          <p:cNvPr id="8" name="Picture 7" descr="openai-white.png"/>
          <p:cNvPicPr>
            <a:picLocks noChangeAspect="1"/>
          </p:cNvPicPr>
          <p:nvPr/>
        </p:nvPicPr>
        <p:blipFill>
          <a:blip r:embed="rId2"/>
          <a:stretch>
            <a:fillRect/>
          </a:stretch>
        </p:blipFill>
        <p:spPr>
          <a:xfrm>
            <a:off x="749808" y="1252728"/>
            <a:ext cx="201168" cy="201168"/>
          </a:xfrm>
          <a:prstGeom prst="rect">
            <a:avLst/>
          </a:prstGeom>
        </p:spPr>
      </p:pic>
      <p:sp>
        <p:nvSpPr>
          <p:cNvPr id="9" name="Text 7"/>
          <p:cNvSpPr txBox="1"/>
          <p:nvPr/>
        </p:nvSpPr>
        <p:spPr>
          <a:xfrm>
            <a:off x="1005840" y="1234440"/>
            <a:ext cx="2103120" cy="237744"/>
          </a:xfrm>
          <a:prstGeom prst="rect">
            <a:avLst/>
          </a:prstGeom>
          <a:noFill/>
        </p:spPr>
        <p:txBody>
          <a:bodyPr wrap="square" lIns="0" rIns="0" tIns="0" bIns="0" anchor="ctr">
            <a:spAutoFit/>
          </a:bodyPr>
          <a:lstStyle/>
          <a:p>
            <a:r>
              <a:rPr sz="800" b="1" i="0">
                <a:solidFill>
                  <a:srgbClr val="1A1A1A"/>
                </a:solidFill>
                <a:latin typeface="Trenda IG Text"/>
              </a:rPr>
              <a:t>Start in Codex or the LWC</a:t>
            </a:r>
          </a:p>
        </p:txBody>
      </p:sp>
      <p:sp>
        <p:nvSpPr>
          <p:cNvPr id="10" name="Text 8"/>
          <p:cNvSpPr txBox="1"/>
          <p:nvPr/>
        </p:nvSpPr>
        <p:spPr>
          <a:xfrm>
            <a:off x="521207" y="1517904"/>
            <a:ext cx="2606040" cy="365760"/>
          </a:xfrm>
          <a:prstGeom prst="rect">
            <a:avLst/>
          </a:prstGeom>
          <a:noFill/>
        </p:spPr>
        <p:txBody>
          <a:bodyPr wrap="square" lIns="0" rIns="0" tIns="0" bIns="0" anchor="t">
            <a:spAutoFit/>
          </a:bodyPr>
          <a:lstStyle/>
          <a:p>
            <a:r>
              <a:rPr sz="700" b="0" i="0">
                <a:solidFill>
                  <a:srgbClr val="4D4D4D"/>
                </a:solidFill>
                <a:latin typeface="Courier New"/>
              </a:rPr>
              <a:t>“Deliver NS-1234: HFN validation rule for Texas CIN”</a:t>
            </a:r>
          </a:p>
        </p:txBody>
      </p:sp>
      <p:sp>
        <p:nvSpPr>
          <p:cNvPr id="11" name="Shape 9"/>
          <p:cNvSpPr/>
          <p:nvPr/>
        </p:nvSpPr>
        <p:spPr>
          <a:xfrm>
            <a:off x="3337560" y="1188720"/>
            <a:ext cx="2721864"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3429000"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Run orchestration</a:t>
            </a:r>
          </a:p>
        </p:txBody>
      </p:sp>
      <p:sp>
        <p:nvSpPr>
          <p:cNvPr id="13" name="Text 11"/>
          <p:cNvSpPr txBox="1"/>
          <p:nvPr/>
        </p:nvSpPr>
        <p:spPr>
          <a:xfrm>
            <a:off x="3429000"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Cloud Workflows: 9 steps, checkpoints, resumable</a:t>
            </a:r>
          </a:p>
        </p:txBody>
      </p:sp>
      <p:sp>
        <p:nvSpPr>
          <p:cNvPr id="14" name="Shape 12"/>
          <p:cNvSpPr/>
          <p:nvPr/>
        </p:nvSpPr>
        <p:spPr>
          <a:xfrm>
            <a:off x="6196584" y="1188720"/>
            <a:ext cx="2721864"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3"/>
          <p:cNvSpPr txBox="1"/>
          <p:nvPr/>
        </p:nvSpPr>
        <p:spPr>
          <a:xfrm>
            <a:off x="6288023"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Tool gateway</a:t>
            </a:r>
          </a:p>
        </p:txBody>
      </p:sp>
      <p:sp>
        <p:nvSpPr>
          <p:cNvPr id="16" name="Text 14"/>
          <p:cNvSpPr txBox="1"/>
          <p:nvPr/>
        </p:nvSpPr>
        <p:spPr>
          <a:xfrm>
            <a:off x="6288023"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3 identities: read, develop, release; no production</a:t>
            </a:r>
          </a:p>
        </p:txBody>
      </p:sp>
      <p:sp>
        <p:nvSpPr>
          <p:cNvPr id="17" name="Shape 15"/>
          <p:cNvSpPr/>
          <p:nvPr/>
        </p:nvSpPr>
        <p:spPr>
          <a:xfrm>
            <a:off x="9055608" y="1188720"/>
            <a:ext cx="2721864"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9147047" y="1243584"/>
            <a:ext cx="2557272" cy="201168"/>
          </a:xfrm>
          <a:prstGeom prst="rect">
            <a:avLst/>
          </a:prstGeom>
          <a:noFill/>
        </p:spPr>
        <p:txBody>
          <a:bodyPr wrap="square" lIns="0" rIns="0" tIns="0" bIns="0" anchor="ctr">
            <a:spAutoFit/>
          </a:bodyPr>
          <a:lstStyle/>
          <a:p>
            <a:r>
              <a:rPr sz="800" b="1" i="0">
                <a:solidFill>
                  <a:srgbClr val="1A1A1A"/>
                </a:solidFill>
                <a:latin typeface="Trenda IG Text"/>
              </a:rPr>
              <a:t>Evals on every step</a:t>
            </a:r>
          </a:p>
        </p:txBody>
      </p:sp>
      <p:sp>
        <p:nvSpPr>
          <p:cNvPr id="19" name="Text 17"/>
          <p:cNvSpPr txBox="1"/>
          <p:nvPr/>
        </p:nvSpPr>
        <p:spPr>
          <a:xfrm>
            <a:off x="9147047" y="1472184"/>
            <a:ext cx="2538983"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Scored before it moves; max 5 retries, then a named owner</a:t>
            </a:r>
          </a:p>
        </p:txBody>
      </p:sp>
      <p:cxnSp>
        <p:nvCxnSpPr>
          <p:cNvPr id="20" name="Arrow 18"/>
          <p:cNvCxnSpPr/>
          <p:nvPr/>
        </p:nvCxnSpPr>
        <p:spPr>
          <a:xfrm>
            <a:off x="3200400" y="1545336"/>
            <a:ext cx="137160" cy="0"/>
          </a:xfrm>
          <a:prstGeom prst="line">
            <a:avLst/>
          </a:prstGeom>
          <a:ln w="1143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Shape 19"/>
          <p:cNvSpPr/>
          <p:nvPr/>
        </p:nvSpPr>
        <p:spPr>
          <a:xfrm>
            <a:off x="434339"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20"/>
          <p:cNvSpPr/>
          <p:nvPr/>
        </p:nvSpPr>
        <p:spPr>
          <a:xfrm>
            <a:off x="507491"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1"/>
          <p:cNvSpPr txBox="1"/>
          <p:nvPr/>
        </p:nvSpPr>
        <p:spPr>
          <a:xfrm>
            <a:off x="507491"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24" name="Text 22"/>
          <p:cNvSpPr txBox="1"/>
          <p:nvPr/>
        </p:nvSpPr>
        <p:spPr>
          <a:xfrm>
            <a:off x="763523"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Requirements Agent</a:t>
            </a:r>
          </a:p>
        </p:txBody>
      </p:sp>
      <p:sp>
        <p:nvSpPr>
          <p:cNvPr id="25" name="Text 23"/>
          <p:cNvSpPr txBox="1"/>
          <p:nvPr/>
        </p:nvSpPr>
        <p:spPr>
          <a:xfrm>
            <a:off x="525779"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User stories and functional decomposition from the Jira story; open questions flagged.</a:t>
            </a:r>
          </a:p>
        </p:txBody>
      </p:sp>
      <p:sp>
        <p:nvSpPr>
          <p:cNvPr id="26" name="Shape 24"/>
          <p:cNvSpPr/>
          <p:nvPr/>
        </p:nvSpPr>
        <p:spPr>
          <a:xfrm>
            <a:off x="937259"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 25"/>
          <p:cNvSpPr txBox="1"/>
          <p:nvPr/>
        </p:nvSpPr>
        <p:spPr>
          <a:xfrm>
            <a:off x="937259"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28" name="Shape 26"/>
          <p:cNvSpPr/>
          <p:nvPr/>
        </p:nvSpPr>
        <p:spPr>
          <a:xfrm>
            <a:off x="1988819"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people.png"/>
          <p:cNvPicPr>
            <a:picLocks noChangeAspect="1"/>
          </p:cNvPicPr>
          <p:nvPr/>
        </p:nvPicPr>
        <p:blipFill>
          <a:blip r:embed="rId3"/>
          <a:stretch>
            <a:fillRect/>
          </a:stretch>
        </p:blipFill>
        <p:spPr>
          <a:xfrm>
            <a:off x="2180844" y="2286000"/>
            <a:ext cx="182880" cy="182880"/>
          </a:xfrm>
          <a:prstGeom prst="rect">
            <a:avLst/>
          </a:prstGeom>
        </p:spPr>
      </p:pic>
      <p:sp>
        <p:nvSpPr>
          <p:cNvPr id="30" name="Text 27"/>
          <p:cNvSpPr txBox="1"/>
          <p:nvPr/>
        </p:nvSpPr>
        <p:spPr>
          <a:xfrm>
            <a:off x="2016251"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H1</a:t>
            </a:r>
          </a:p>
        </p:txBody>
      </p:sp>
      <p:sp>
        <p:nvSpPr>
          <p:cNvPr id="31" name="Text 28"/>
          <p:cNvSpPr txBox="1"/>
          <p:nvPr/>
        </p:nvSpPr>
        <p:spPr>
          <a:xfrm>
            <a:off x="2016251"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product owner</a:t>
            </a:r>
          </a:p>
        </p:txBody>
      </p:sp>
      <p:sp>
        <p:nvSpPr>
          <p:cNvPr id="32" name="Shape 29"/>
          <p:cNvSpPr/>
          <p:nvPr/>
        </p:nvSpPr>
        <p:spPr>
          <a:xfrm>
            <a:off x="2647187"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hape 30"/>
          <p:cNvSpPr/>
          <p:nvPr/>
        </p:nvSpPr>
        <p:spPr>
          <a:xfrm>
            <a:off x="2720339"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1"/>
          <p:cNvSpPr txBox="1"/>
          <p:nvPr/>
        </p:nvSpPr>
        <p:spPr>
          <a:xfrm>
            <a:off x="2720339"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35" name="Text 32"/>
          <p:cNvSpPr txBox="1"/>
          <p:nvPr/>
        </p:nvSpPr>
        <p:spPr>
          <a:xfrm>
            <a:off x="2976371" y="2249424"/>
            <a:ext cx="1060703" cy="201168"/>
          </a:xfrm>
          <a:prstGeom prst="rect">
            <a:avLst/>
          </a:prstGeom>
          <a:noFill/>
        </p:spPr>
        <p:txBody>
          <a:bodyPr wrap="square" lIns="0" rIns="0" tIns="0" bIns="0" anchor="ctr">
            <a:spAutoFit/>
          </a:bodyPr>
          <a:lstStyle/>
          <a:p>
            <a:r>
              <a:rPr sz="740" b="1" i="0">
                <a:solidFill>
                  <a:srgbClr val="1A1A1A"/>
                </a:solidFill>
                <a:latin typeface="Trenda IG Text"/>
              </a:rPr>
              <a:t>Architect Agent</a:t>
            </a:r>
          </a:p>
        </p:txBody>
      </p:sp>
      <p:sp>
        <p:nvSpPr>
          <p:cNvPr id="36" name="Text 33"/>
          <p:cNvSpPr txBox="1"/>
          <p:nvPr/>
        </p:nvSpPr>
        <p:spPr>
          <a:xfrm>
            <a:off x="2738627"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Reuse and impact from the graph; Change Guardian names affected pods.</a:t>
            </a:r>
          </a:p>
        </p:txBody>
      </p:sp>
      <p:sp>
        <p:nvSpPr>
          <p:cNvPr id="37" name="Shape 34"/>
          <p:cNvSpPr/>
          <p:nvPr/>
        </p:nvSpPr>
        <p:spPr>
          <a:xfrm>
            <a:off x="3150107"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3150107"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39" name="Shape 36"/>
          <p:cNvSpPr/>
          <p:nvPr/>
        </p:nvSpPr>
        <p:spPr>
          <a:xfrm>
            <a:off x="4201668"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people.png"/>
          <p:cNvPicPr>
            <a:picLocks noChangeAspect="1"/>
          </p:cNvPicPr>
          <p:nvPr/>
        </p:nvPicPr>
        <p:blipFill>
          <a:blip r:embed="rId3"/>
          <a:stretch>
            <a:fillRect/>
          </a:stretch>
        </p:blipFill>
        <p:spPr>
          <a:xfrm>
            <a:off x="4393692" y="2286000"/>
            <a:ext cx="182880" cy="182880"/>
          </a:xfrm>
          <a:prstGeom prst="rect">
            <a:avLst/>
          </a:prstGeom>
        </p:spPr>
      </p:pic>
      <p:sp>
        <p:nvSpPr>
          <p:cNvPr id="41" name="Text 37"/>
          <p:cNvSpPr txBox="1"/>
          <p:nvPr/>
        </p:nvSpPr>
        <p:spPr>
          <a:xfrm>
            <a:off x="4229100"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H2</a:t>
            </a:r>
          </a:p>
        </p:txBody>
      </p:sp>
      <p:sp>
        <p:nvSpPr>
          <p:cNvPr id="42" name="Text 38"/>
          <p:cNvSpPr txBox="1"/>
          <p:nvPr/>
        </p:nvSpPr>
        <p:spPr>
          <a:xfrm>
            <a:off x="4229100"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architect + pod owners</a:t>
            </a:r>
          </a:p>
        </p:txBody>
      </p:sp>
      <p:sp>
        <p:nvSpPr>
          <p:cNvPr id="43" name="Shape 39"/>
          <p:cNvSpPr/>
          <p:nvPr/>
        </p:nvSpPr>
        <p:spPr>
          <a:xfrm>
            <a:off x="4860036"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0"/>
          <p:cNvSpPr/>
          <p:nvPr/>
        </p:nvSpPr>
        <p:spPr>
          <a:xfrm>
            <a:off x="4933188"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1"/>
          <p:cNvSpPr txBox="1"/>
          <p:nvPr/>
        </p:nvSpPr>
        <p:spPr>
          <a:xfrm>
            <a:off x="4933188"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46" name="Text 42"/>
          <p:cNvSpPr txBox="1"/>
          <p:nvPr/>
        </p:nvSpPr>
        <p:spPr>
          <a:xfrm>
            <a:off x="5189220" y="2249424"/>
            <a:ext cx="1060703" cy="201168"/>
          </a:xfrm>
          <a:prstGeom prst="rect">
            <a:avLst/>
          </a:prstGeom>
          <a:noFill/>
        </p:spPr>
        <p:txBody>
          <a:bodyPr wrap="square" lIns="0" rIns="0" tIns="0" bIns="0" anchor="ctr">
            <a:spAutoFit/>
          </a:bodyPr>
          <a:lstStyle/>
          <a:p>
            <a:r>
              <a:rPr sz="740" b="1" i="0">
                <a:solidFill>
                  <a:srgbClr val="1A1A1A"/>
                </a:solidFill>
                <a:latin typeface="Trenda IG Text"/>
              </a:rPr>
              <a:t>Developer Agent</a:t>
            </a:r>
          </a:p>
        </p:txBody>
      </p:sp>
      <p:sp>
        <p:nvSpPr>
          <p:cNvPr id="47" name="Text 43"/>
          <p:cNvSpPr txBox="1"/>
          <p:nvPr/>
        </p:nvSpPr>
        <p:spPr>
          <a:xfrm>
            <a:off x="4951475"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Validation rule, Flow and tests in the DEV sandbox, on its own branch.</a:t>
            </a:r>
          </a:p>
        </p:txBody>
      </p:sp>
      <p:sp>
        <p:nvSpPr>
          <p:cNvPr id="48" name="Shape 44"/>
          <p:cNvSpPr/>
          <p:nvPr/>
        </p:nvSpPr>
        <p:spPr>
          <a:xfrm>
            <a:off x="5362955"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5362955"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50" name="Shape 46"/>
          <p:cNvSpPr/>
          <p:nvPr/>
        </p:nvSpPr>
        <p:spPr>
          <a:xfrm>
            <a:off x="6414516"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47"/>
          <p:cNvSpPr/>
          <p:nvPr/>
        </p:nvSpPr>
        <p:spPr>
          <a:xfrm>
            <a:off x="6487668"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6487668"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53" name="Text 49"/>
          <p:cNvSpPr txBox="1"/>
          <p:nvPr/>
        </p:nvSpPr>
        <p:spPr>
          <a:xfrm>
            <a:off x="6743700"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Review + Test Agents</a:t>
            </a:r>
          </a:p>
        </p:txBody>
      </p:sp>
      <p:sp>
        <p:nvSpPr>
          <p:cNvPr id="54" name="Text 50"/>
          <p:cNvSpPr txBox="1"/>
          <p:nvPr/>
        </p:nvSpPr>
        <p:spPr>
          <a:xfrm>
            <a:off x="6505955"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Code, security and sharing checks; Apex tests and Zephyr cases.</a:t>
            </a:r>
          </a:p>
        </p:txBody>
      </p:sp>
      <p:sp>
        <p:nvSpPr>
          <p:cNvPr id="55" name="Shape 51"/>
          <p:cNvSpPr/>
          <p:nvPr/>
        </p:nvSpPr>
        <p:spPr>
          <a:xfrm>
            <a:off x="6917436"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6917436"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57" name="Shape 53"/>
          <p:cNvSpPr/>
          <p:nvPr/>
        </p:nvSpPr>
        <p:spPr>
          <a:xfrm>
            <a:off x="7968996"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8" name="Picture 57" descr="people.png"/>
          <p:cNvPicPr>
            <a:picLocks noChangeAspect="1"/>
          </p:cNvPicPr>
          <p:nvPr/>
        </p:nvPicPr>
        <p:blipFill>
          <a:blip r:embed="rId3"/>
          <a:stretch>
            <a:fillRect/>
          </a:stretch>
        </p:blipFill>
        <p:spPr>
          <a:xfrm>
            <a:off x="8161020" y="2286000"/>
            <a:ext cx="182880" cy="182880"/>
          </a:xfrm>
          <a:prstGeom prst="rect">
            <a:avLst/>
          </a:prstGeom>
        </p:spPr>
      </p:pic>
      <p:sp>
        <p:nvSpPr>
          <p:cNvPr id="59" name="Text 54"/>
          <p:cNvSpPr txBox="1"/>
          <p:nvPr/>
        </p:nvSpPr>
        <p:spPr>
          <a:xfrm>
            <a:off x="7996427"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H3</a:t>
            </a:r>
          </a:p>
        </p:txBody>
      </p:sp>
      <p:sp>
        <p:nvSpPr>
          <p:cNvPr id="60" name="Text 55"/>
          <p:cNvSpPr txBox="1"/>
          <p:nvPr/>
        </p:nvSpPr>
        <p:spPr>
          <a:xfrm>
            <a:off x="7996427"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tech lead + security</a:t>
            </a:r>
          </a:p>
        </p:txBody>
      </p:sp>
      <p:sp>
        <p:nvSpPr>
          <p:cNvPr id="61" name="Shape 56"/>
          <p:cNvSpPr/>
          <p:nvPr/>
        </p:nvSpPr>
        <p:spPr>
          <a:xfrm>
            <a:off x="8627364" y="2194560"/>
            <a:ext cx="1463040" cy="1115568"/>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57"/>
          <p:cNvSpPr/>
          <p:nvPr/>
        </p:nvSpPr>
        <p:spPr>
          <a:xfrm>
            <a:off x="8700516" y="2258568"/>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8"/>
          <p:cNvSpPr txBox="1"/>
          <p:nvPr/>
        </p:nvSpPr>
        <p:spPr>
          <a:xfrm>
            <a:off x="8700516" y="2258568"/>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sp>
        <p:nvSpPr>
          <p:cNvPr id="64" name="Text 59"/>
          <p:cNvSpPr txBox="1"/>
          <p:nvPr/>
        </p:nvSpPr>
        <p:spPr>
          <a:xfrm>
            <a:off x="8956548" y="2249424"/>
            <a:ext cx="1060704" cy="201168"/>
          </a:xfrm>
          <a:prstGeom prst="rect">
            <a:avLst/>
          </a:prstGeom>
          <a:noFill/>
        </p:spPr>
        <p:txBody>
          <a:bodyPr wrap="square" lIns="0" rIns="0" tIns="0" bIns="0" anchor="ctr">
            <a:spAutoFit/>
          </a:bodyPr>
          <a:lstStyle/>
          <a:p>
            <a:r>
              <a:rPr sz="740" b="1" i="0">
                <a:solidFill>
                  <a:srgbClr val="1A1A1A"/>
                </a:solidFill>
                <a:latin typeface="Trenda IG Text"/>
              </a:rPr>
              <a:t>Release Agent</a:t>
            </a:r>
          </a:p>
        </p:txBody>
      </p:sp>
      <p:sp>
        <p:nvSpPr>
          <p:cNvPr id="65" name="Text 60"/>
          <p:cNvSpPr txBox="1"/>
          <p:nvPr/>
        </p:nvSpPr>
        <p:spPr>
          <a:xfrm>
            <a:off x="8718804" y="2478024"/>
            <a:ext cx="1280160" cy="8046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Copado promotion to SIT, then UAT; rollback plan and CAB pack.</a:t>
            </a:r>
          </a:p>
        </p:txBody>
      </p:sp>
      <p:sp>
        <p:nvSpPr>
          <p:cNvPr id="66" name="Shape 61"/>
          <p:cNvSpPr/>
          <p:nvPr/>
        </p:nvSpPr>
        <p:spPr>
          <a:xfrm>
            <a:off x="9130284" y="3364991"/>
            <a:ext cx="457200" cy="155448"/>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2"/>
          <p:cNvSpPr txBox="1"/>
          <p:nvPr/>
        </p:nvSpPr>
        <p:spPr>
          <a:xfrm>
            <a:off x="9130284" y="3364991"/>
            <a:ext cx="457200" cy="155448"/>
          </a:xfrm>
          <a:prstGeom prst="rect">
            <a:avLst/>
          </a:prstGeom>
          <a:noFill/>
        </p:spPr>
        <p:txBody>
          <a:bodyPr wrap="square" lIns="0" rIns="0" tIns="0" bIns="0" anchor="ctr">
            <a:spAutoFit/>
          </a:bodyPr>
          <a:lstStyle/>
          <a:p>
            <a:pPr algn="ctr"/>
            <a:r>
              <a:rPr sz="700" b="1" i="0" spc="80">
                <a:solidFill>
                  <a:srgbClr val="1A1A1A"/>
                </a:solidFill>
                <a:latin typeface="Trenda IG Text"/>
              </a:rPr>
              <a:t>EVALS</a:t>
            </a:r>
          </a:p>
        </p:txBody>
      </p:sp>
      <p:sp>
        <p:nvSpPr>
          <p:cNvPr id="68" name="Shape 63"/>
          <p:cNvSpPr/>
          <p:nvPr/>
        </p:nvSpPr>
        <p:spPr>
          <a:xfrm>
            <a:off x="10181844" y="2194560"/>
            <a:ext cx="566928" cy="1115568"/>
          </a:xfrm>
          <a:prstGeom prst="roundRect">
            <a:avLst>
              <a:gd name="adj" fmla="val 2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9" name="Picture 68" descr="people.png"/>
          <p:cNvPicPr>
            <a:picLocks noChangeAspect="1"/>
          </p:cNvPicPr>
          <p:nvPr/>
        </p:nvPicPr>
        <p:blipFill>
          <a:blip r:embed="rId3"/>
          <a:stretch>
            <a:fillRect/>
          </a:stretch>
        </p:blipFill>
        <p:spPr>
          <a:xfrm>
            <a:off x="10373868" y="2286000"/>
            <a:ext cx="182880" cy="182880"/>
          </a:xfrm>
          <a:prstGeom prst="rect">
            <a:avLst/>
          </a:prstGeom>
        </p:spPr>
      </p:pic>
      <p:sp>
        <p:nvSpPr>
          <p:cNvPr id="70" name="Text 64"/>
          <p:cNvSpPr txBox="1"/>
          <p:nvPr/>
        </p:nvSpPr>
        <p:spPr>
          <a:xfrm>
            <a:off x="10209276" y="2468879"/>
            <a:ext cx="512064" cy="274320"/>
          </a:xfrm>
          <a:prstGeom prst="rect">
            <a:avLst/>
          </a:prstGeom>
          <a:noFill/>
        </p:spPr>
        <p:txBody>
          <a:bodyPr wrap="square" lIns="0" rIns="0" tIns="0" bIns="0" anchor="ctr">
            <a:spAutoFit/>
          </a:bodyPr>
          <a:lstStyle/>
          <a:p>
            <a:pPr algn="ctr"/>
            <a:r>
              <a:rPr sz="850" b="1" i="0">
                <a:solidFill>
                  <a:srgbClr val="1A1A1A"/>
                </a:solidFill>
                <a:latin typeface="Trenda IG Text"/>
              </a:rPr>
              <a:t>H4 · CAB</a:t>
            </a:r>
          </a:p>
        </p:txBody>
      </p:sp>
      <p:sp>
        <p:nvSpPr>
          <p:cNvPr id="71" name="Text 65"/>
          <p:cNvSpPr txBox="1"/>
          <p:nvPr/>
        </p:nvSpPr>
        <p:spPr>
          <a:xfrm>
            <a:off x="10209276" y="2761488"/>
            <a:ext cx="512064" cy="502920"/>
          </a:xfrm>
          <a:prstGeom prst="rect">
            <a:avLst/>
          </a:prstGeom>
          <a:noFill/>
        </p:spPr>
        <p:txBody>
          <a:bodyPr wrap="square" lIns="0" rIns="0" tIns="0" bIns="0" anchor="t">
            <a:spAutoFit/>
          </a:bodyPr>
          <a:lstStyle/>
          <a:p>
            <a:pPr algn="ctr"/>
            <a:r>
              <a:rPr sz="700" b="0" i="0">
                <a:solidFill>
                  <a:srgbClr val="1A1A1A"/>
                </a:solidFill>
                <a:latin typeface="Trenda IG Text"/>
              </a:rPr>
              <a:t>business UAT, then CAB</a:t>
            </a:r>
          </a:p>
        </p:txBody>
      </p:sp>
      <p:sp>
        <p:nvSpPr>
          <p:cNvPr id="72" name="Shape 66"/>
          <p:cNvSpPr/>
          <p:nvPr/>
        </p:nvSpPr>
        <p:spPr>
          <a:xfrm>
            <a:off x="10840212" y="2194560"/>
            <a:ext cx="914400" cy="1115568"/>
          </a:xfrm>
          <a:prstGeom prst="roundRect">
            <a:avLst>
              <a:gd name="adj" fmla="val 10000"/>
            </a:avLst>
          </a:prstGeom>
          <a:noFill/>
          <a:ln w="7620">
            <a:solidFill>
              <a:srgbClr val="BDBDBD"/>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67"/>
          <p:cNvSpPr txBox="1"/>
          <p:nvPr/>
        </p:nvSpPr>
        <p:spPr>
          <a:xfrm>
            <a:off x="10895076" y="2286000"/>
            <a:ext cx="804672" cy="237744"/>
          </a:xfrm>
          <a:prstGeom prst="rect">
            <a:avLst/>
          </a:prstGeom>
          <a:noFill/>
        </p:spPr>
        <p:txBody>
          <a:bodyPr wrap="square" lIns="0" rIns="0" tIns="0" bIns="0" anchor="ctr">
            <a:spAutoFit/>
          </a:bodyPr>
          <a:lstStyle/>
          <a:p>
            <a:pPr algn="ctr"/>
            <a:r>
              <a:rPr sz="800" b="1" i="0">
                <a:solidFill>
                  <a:srgbClr val="1A1A1A"/>
                </a:solidFill>
                <a:latin typeface="Trenda IG Text"/>
              </a:rPr>
              <a:t>Production</a:t>
            </a:r>
          </a:p>
        </p:txBody>
      </p:sp>
      <p:sp>
        <p:nvSpPr>
          <p:cNvPr id="74" name="Text 68"/>
          <p:cNvSpPr txBox="1"/>
          <p:nvPr/>
        </p:nvSpPr>
        <p:spPr>
          <a:xfrm>
            <a:off x="10895076" y="2578608"/>
            <a:ext cx="804672" cy="640080"/>
          </a:xfrm>
          <a:prstGeom prst="rect">
            <a:avLst/>
          </a:prstGeom>
          <a:noFill/>
        </p:spPr>
        <p:txBody>
          <a:bodyPr wrap="square" lIns="0" rIns="0" tIns="0" bIns="0" anchor="t">
            <a:spAutoFit/>
          </a:bodyPr>
          <a:lstStyle/>
          <a:p>
            <a:pPr algn="ctr"/>
            <a:r>
              <a:rPr sz="700" b="0" i="0">
                <a:solidFill>
                  <a:srgbClr val="4D4D4D"/>
                </a:solidFill>
                <a:latin typeface="Trenda IG Text"/>
              </a:rPr>
              <a:t>the owning team deploys; no agent credential</a:t>
            </a:r>
          </a:p>
        </p:txBody>
      </p:sp>
      <p:cxnSp>
        <p:nvCxnSpPr>
          <p:cNvPr id="75" name="Arrow 69"/>
          <p:cNvCxnSpPr/>
          <p:nvPr/>
        </p:nvCxnSpPr>
        <p:spPr>
          <a:xfrm>
            <a:off x="1897379"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0"/>
          <p:cNvCxnSpPr/>
          <p:nvPr/>
        </p:nvCxnSpPr>
        <p:spPr>
          <a:xfrm>
            <a:off x="2555748"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Arrow 71"/>
          <p:cNvCxnSpPr/>
          <p:nvPr/>
        </p:nvCxnSpPr>
        <p:spPr>
          <a:xfrm>
            <a:off x="4110227"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Arrow 72"/>
          <p:cNvCxnSpPr/>
          <p:nvPr/>
        </p:nvCxnSpPr>
        <p:spPr>
          <a:xfrm>
            <a:off x="4768596"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Arrow 73"/>
          <p:cNvCxnSpPr/>
          <p:nvPr/>
        </p:nvCxnSpPr>
        <p:spPr>
          <a:xfrm>
            <a:off x="6323075"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0" name="Arrow 74"/>
          <p:cNvCxnSpPr/>
          <p:nvPr/>
        </p:nvCxnSpPr>
        <p:spPr>
          <a:xfrm>
            <a:off x="7877556"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1" name="Arrow 75"/>
          <p:cNvCxnSpPr/>
          <p:nvPr/>
        </p:nvCxnSpPr>
        <p:spPr>
          <a:xfrm>
            <a:off x="8535924" y="2752344"/>
            <a:ext cx="91439"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Arrow 76"/>
          <p:cNvCxnSpPr/>
          <p:nvPr/>
        </p:nvCxnSpPr>
        <p:spPr>
          <a:xfrm>
            <a:off x="10090404"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Arrow 77"/>
          <p:cNvCxnSpPr/>
          <p:nvPr/>
        </p:nvCxnSpPr>
        <p:spPr>
          <a:xfrm>
            <a:off x="10748772" y="2752344"/>
            <a:ext cx="91440"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78"/>
          <p:cNvCxnSpPr/>
          <p:nvPr/>
        </p:nvCxnSpPr>
        <p:spPr>
          <a:xfrm>
            <a:off x="3657600" y="1901952"/>
            <a:ext cx="0" cy="73152"/>
          </a:xfrm>
          <a:prstGeom prst="line">
            <a:avLst/>
          </a:prstGeom>
          <a:ln w="1333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85" name="Arrow 79"/>
          <p:cNvCxnSpPr/>
          <p:nvPr/>
        </p:nvCxnSpPr>
        <p:spPr>
          <a:xfrm flipH="1">
            <a:off x="891539" y="1975104"/>
            <a:ext cx="2766061" cy="0"/>
          </a:xfrm>
          <a:prstGeom prst="line">
            <a:avLst/>
          </a:prstGeom>
          <a:ln w="1333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86" name="Arrow 80"/>
          <p:cNvCxnSpPr/>
          <p:nvPr/>
        </p:nvCxnSpPr>
        <p:spPr>
          <a:xfrm>
            <a:off x="891539" y="1975104"/>
            <a:ext cx="0" cy="219456"/>
          </a:xfrm>
          <a:prstGeom prst="line">
            <a:avLst/>
          </a:prstGeom>
          <a:ln w="1333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Arrow 81"/>
          <p:cNvCxnSpPr/>
          <p:nvPr/>
        </p:nvCxnSpPr>
        <p:spPr>
          <a:xfrm flipV="1">
            <a:off x="6734555" y="2103120"/>
            <a:ext cx="0" cy="91440"/>
          </a:xfrm>
          <a:prstGeom prst="line">
            <a:avLst/>
          </a:prstGeom>
          <a:ln w="1333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88" name="Arrow 82"/>
          <p:cNvCxnSpPr/>
          <p:nvPr/>
        </p:nvCxnSpPr>
        <p:spPr>
          <a:xfrm flipH="1">
            <a:off x="1577339" y="2103120"/>
            <a:ext cx="5157216" cy="0"/>
          </a:xfrm>
          <a:prstGeom prst="line">
            <a:avLst/>
          </a:prstGeom>
          <a:ln w="1333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89" name="Arrow 83"/>
          <p:cNvCxnSpPr/>
          <p:nvPr/>
        </p:nvCxnSpPr>
        <p:spPr>
          <a:xfrm>
            <a:off x="6003036" y="2103120"/>
            <a:ext cx="0" cy="91440"/>
          </a:xfrm>
          <a:prstGeom prst="line">
            <a:avLst/>
          </a:prstGeom>
          <a:ln w="1333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0" name="Arrow 84"/>
          <p:cNvCxnSpPr/>
          <p:nvPr/>
        </p:nvCxnSpPr>
        <p:spPr>
          <a:xfrm>
            <a:off x="3790187" y="2103120"/>
            <a:ext cx="0" cy="91440"/>
          </a:xfrm>
          <a:prstGeom prst="line">
            <a:avLst/>
          </a:prstGeom>
          <a:ln w="1333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5"/>
          <p:cNvCxnSpPr/>
          <p:nvPr/>
        </p:nvCxnSpPr>
        <p:spPr>
          <a:xfrm>
            <a:off x="1577339" y="2103120"/>
            <a:ext cx="0" cy="91440"/>
          </a:xfrm>
          <a:prstGeom prst="line">
            <a:avLst/>
          </a:prstGeom>
          <a:ln w="1333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2" name="Shape 86"/>
          <p:cNvSpPr/>
          <p:nvPr/>
        </p:nvSpPr>
        <p:spPr>
          <a:xfrm>
            <a:off x="6844283" y="2020824"/>
            <a:ext cx="4905756"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7"/>
          <p:cNvSpPr txBox="1"/>
          <p:nvPr/>
        </p:nvSpPr>
        <p:spPr>
          <a:xfrm>
            <a:off x="6844283" y="2020824"/>
            <a:ext cx="4905756" cy="164592"/>
          </a:xfrm>
          <a:prstGeom prst="rect">
            <a:avLst/>
          </a:prstGeom>
          <a:noFill/>
        </p:spPr>
        <p:txBody>
          <a:bodyPr wrap="square" lIns="0" rIns="0" tIns="0" bIns="0" anchor="ctr">
            <a:spAutoFit/>
          </a:bodyPr>
          <a:lstStyle/>
          <a:p>
            <a:pPr algn="ctr"/>
            <a:r>
              <a:rPr sz="700" b="1" i="0" spc="80">
                <a:solidFill>
                  <a:srgbClr val="1A1A1A"/>
                </a:solidFill>
                <a:latin typeface="Trenda IG Text"/>
              </a:rPr>
              <a:t>FAIL → ITS CAUSE: CODE 4 · DESIGN 3 · REQUIREMENT 2 · MAX 5, THEN OWNER</a:t>
            </a:r>
          </a:p>
        </p:txBody>
      </p:sp>
      <p:sp>
        <p:nvSpPr>
          <p:cNvPr id="94" name="Shape 88"/>
          <p:cNvSpPr/>
          <p:nvPr/>
        </p:nvSpPr>
        <p:spPr>
          <a:xfrm>
            <a:off x="411480" y="3703320"/>
            <a:ext cx="6903720" cy="1572768"/>
          </a:xfrm>
          <a:prstGeom prst="roundRect">
            <a:avLst>
              <a:gd name="adj" fmla="val 5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89"/>
          <p:cNvSpPr txBox="1"/>
          <p:nvPr/>
        </p:nvSpPr>
        <p:spPr>
          <a:xfrm>
            <a:off x="539496" y="3758183"/>
            <a:ext cx="6629400" cy="219456"/>
          </a:xfrm>
          <a:prstGeom prst="rect">
            <a:avLst/>
          </a:prstGeom>
          <a:noFill/>
        </p:spPr>
        <p:txBody>
          <a:bodyPr wrap="square" lIns="0" rIns="0" tIns="0" bIns="0" anchor="ctr">
            <a:spAutoFit/>
          </a:bodyPr>
          <a:lstStyle/>
          <a:p>
            <a:r>
              <a:rPr sz="700" b="1" i="0" spc="150">
                <a:solidFill>
                  <a:srgbClr val="1A1A1A"/>
                </a:solidFill>
                <a:latin typeface="Trenda IG Text"/>
              </a:rPr>
              <a:t>ENGINEERING CONTEXT KNOWLEDGE GRAPH</a:t>
            </a:r>
            <a:r>
              <a:rPr sz="700" b="0" i="0">
                <a:solidFill>
                  <a:srgbClr val="4D4D4D"/>
                </a:solidFill>
                <a:latin typeface="Trenda IG Text"/>
              </a:rPr>
              <a:t>   Spanner Graph · every fact cited</a:t>
            </a:r>
          </a:p>
        </p:txBody>
      </p:sp>
      <p:sp>
        <p:nvSpPr>
          <p:cNvPr id="96" name="Shape 90"/>
          <p:cNvSpPr/>
          <p:nvPr/>
        </p:nvSpPr>
        <p:spPr>
          <a:xfrm>
            <a:off x="539496"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jira.png"/>
          <p:cNvPicPr>
            <a:picLocks noChangeAspect="1"/>
          </p:cNvPicPr>
          <p:nvPr/>
        </p:nvPicPr>
        <p:blipFill>
          <a:blip r:embed="rId4"/>
          <a:stretch>
            <a:fillRect/>
          </a:stretch>
        </p:blipFill>
        <p:spPr>
          <a:xfrm>
            <a:off x="612648" y="4114800"/>
            <a:ext cx="182880" cy="182880"/>
          </a:xfrm>
          <a:prstGeom prst="rect">
            <a:avLst/>
          </a:prstGeom>
        </p:spPr>
      </p:pic>
      <p:sp>
        <p:nvSpPr>
          <p:cNvPr id="98" name="Text 91"/>
          <p:cNvSpPr txBox="1"/>
          <p:nvPr/>
        </p:nvSpPr>
        <p:spPr>
          <a:xfrm>
            <a:off x="841248"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Jira</a:t>
            </a:r>
          </a:p>
        </p:txBody>
      </p:sp>
      <p:sp>
        <p:nvSpPr>
          <p:cNvPr id="99" name="Text 92"/>
          <p:cNvSpPr txBox="1"/>
          <p:nvPr/>
        </p:nvSpPr>
        <p:spPr>
          <a:xfrm>
            <a:off x="612648" y="4343400"/>
            <a:ext cx="777239" cy="256032"/>
          </a:xfrm>
          <a:prstGeom prst="rect">
            <a:avLst/>
          </a:prstGeom>
          <a:noFill/>
        </p:spPr>
        <p:txBody>
          <a:bodyPr wrap="square" lIns="0" rIns="0" tIns="0" bIns="0" anchor="t">
            <a:spAutoFit/>
          </a:bodyPr>
          <a:lstStyle/>
          <a:p>
            <a:r>
              <a:rPr sz="700" b="0" i="0">
                <a:solidFill>
                  <a:srgbClr val="4D4D4D"/>
                </a:solidFill>
                <a:latin typeface="Trenda IG Text"/>
              </a:rPr>
              <a:t>stories, history</a:t>
            </a:r>
          </a:p>
        </p:txBody>
      </p:sp>
      <p:sp>
        <p:nvSpPr>
          <p:cNvPr id="100" name="Shape 93"/>
          <p:cNvSpPr/>
          <p:nvPr/>
        </p:nvSpPr>
        <p:spPr>
          <a:xfrm>
            <a:off x="1499616"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1" name="Picture 100" descr="confluence.png"/>
          <p:cNvPicPr>
            <a:picLocks noChangeAspect="1"/>
          </p:cNvPicPr>
          <p:nvPr/>
        </p:nvPicPr>
        <p:blipFill>
          <a:blip r:embed="rId5"/>
          <a:stretch>
            <a:fillRect/>
          </a:stretch>
        </p:blipFill>
        <p:spPr>
          <a:xfrm>
            <a:off x="1572768" y="4114800"/>
            <a:ext cx="182880" cy="182880"/>
          </a:xfrm>
          <a:prstGeom prst="rect">
            <a:avLst/>
          </a:prstGeom>
        </p:spPr>
      </p:pic>
      <p:sp>
        <p:nvSpPr>
          <p:cNvPr id="102" name="Text 94"/>
          <p:cNvSpPr txBox="1"/>
          <p:nvPr/>
        </p:nvSpPr>
        <p:spPr>
          <a:xfrm>
            <a:off x="1801368"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Confluence</a:t>
            </a:r>
          </a:p>
        </p:txBody>
      </p:sp>
      <p:sp>
        <p:nvSpPr>
          <p:cNvPr id="103" name="Text 95"/>
          <p:cNvSpPr txBox="1"/>
          <p:nvPr/>
        </p:nvSpPr>
        <p:spPr>
          <a:xfrm>
            <a:off x="1572768" y="4343400"/>
            <a:ext cx="777239" cy="256032"/>
          </a:xfrm>
          <a:prstGeom prst="rect">
            <a:avLst/>
          </a:prstGeom>
          <a:noFill/>
        </p:spPr>
        <p:txBody>
          <a:bodyPr wrap="square" lIns="0" rIns="0" tIns="0" bIns="0" anchor="t">
            <a:spAutoFit/>
          </a:bodyPr>
          <a:lstStyle/>
          <a:p>
            <a:r>
              <a:rPr sz="700" b="0" i="0">
                <a:solidFill>
                  <a:srgbClr val="4D4D4D"/>
                </a:solidFill>
                <a:latin typeface="Trenda IG Text"/>
              </a:rPr>
              <a:t>designs, rules</a:t>
            </a:r>
          </a:p>
        </p:txBody>
      </p:sp>
      <p:sp>
        <p:nvSpPr>
          <p:cNvPr id="104" name="Shape 96"/>
          <p:cNvSpPr/>
          <p:nvPr/>
        </p:nvSpPr>
        <p:spPr>
          <a:xfrm>
            <a:off x="245973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5" name="Picture 104" descr="salesforce.png"/>
          <p:cNvPicPr>
            <a:picLocks noChangeAspect="1"/>
          </p:cNvPicPr>
          <p:nvPr/>
        </p:nvPicPr>
        <p:blipFill>
          <a:blip r:embed="rId6"/>
          <a:stretch>
            <a:fillRect/>
          </a:stretch>
        </p:blipFill>
        <p:spPr>
          <a:xfrm>
            <a:off x="2532887" y="4114800"/>
            <a:ext cx="182880" cy="182880"/>
          </a:xfrm>
          <a:prstGeom prst="rect">
            <a:avLst/>
          </a:prstGeom>
        </p:spPr>
      </p:pic>
      <p:sp>
        <p:nvSpPr>
          <p:cNvPr id="106" name="Text 97"/>
          <p:cNvSpPr txBox="1"/>
          <p:nvPr/>
        </p:nvSpPr>
        <p:spPr>
          <a:xfrm>
            <a:off x="276148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Salesforce</a:t>
            </a:r>
          </a:p>
        </p:txBody>
      </p:sp>
      <p:sp>
        <p:nvSpPr>
          <p:cNvPr id="107" name="Text 98"/>
          <p:cNvSpPr txBox="1"/>
          <p:nvPr/>
        </p:nvSpPr>
        <p:spPr>
          <a:xfrm>
            <a:off x="2532887" y="4343400"/>
            <a:ext cx="777239" cy="256032"/>
          </a:xfrm>
          <a:prstGeom prst="rect">
            <a:avLst/>
          </a:prstGeom>
          <a:noFill/>
        </p:spPr>
        <p:txBody>
          <a:bodyPr wrap="square" lIns="0" rIns="0" tIns="0" bIns="0" anchor="t">
            <a:spAutoFit/>
          </a:bodyPr>
          <a:lstStyle/>
          <a:p>
            <a:r>
              <a:rPr sz="700" b="0" i="0">
                <a:solidFill>
                  <a:srgbClr val="4D4D4D"/>
                </a:solidFill>
                <a:latin typeface="Trenda IG Text"/>
              </a:rPr>
              <a:t>Health Cloud metadata</a:t>
            </a:r>
          </a:p>
        </p:txBody>
      </p:sp>
      <p:sp>
        <p:nvSpPr>
          <p:cNvPr id="108" name="Shape 99"/>
          <p:cNvSpPr/>
          <p:nvPr/>
        </p:nvSpPr>
        <p:spPr>
          <a:xfrm>
            <a:off x="341985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9" name="Picture 108" descr="git.png"/>
          <p:cNvPicPr>
            <a:picLocks noChangeAspect="1"/>
          </p:cNvPicPr>
          <p:nvPr/>
        </p:nvPicPr>
        <p:blipFill>
          <a:blip r:embed="rId7"/>
          <a:stretch>
            <a:fillRect/>
          </a:stretch>
        </p:blipFill>
        <p:spPr>
          <a:xfrm>
            <a:off x="3493007" y="4114800"/>
            <a:ext cx="182880" cy="182880"/>
          </a:xfrm>
          <a:prstGeom prst="rect">
            <a:avLst/>
          </a:prstGeom>
        </p:spPr>
      </p:pic>
      <p:sp>
        <p:nvSpPr>
          <p:cNvPr id="110" name="Text 100"/>
          <p:cNvSpPr txBox="1"/>
          <p:nvPr/>
        </p:nvSpPr>
        <p:spPr>
          <a:xfrm>
            <a:off x="372160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Git</a:t>
            </a:r>
          </a:p>
        </p:txBody>
      </p:sp>
      <p:sp>
        <p:nvSpPr>
          <p:cNvPr id="111" name="Text 101"/>
          <p:cNvSpPr txBox="1"/>
          <p:nvPr/>
        </p:nvSpPr>
        <p:spPr>
          <a:xfrm>
            <a:off x="3493007" y="4343400"/>
            <a:ext cx="777239" cy="256032"/>
          </a:xfrm>
          <a:prstGeom prst="rect">
            <a:avLst/>
          </a:prstGeom>
          <a:noFill/>
        </p:spPr>
        <p:txBody>
          <a:bodyPr wrap="square" lIns="0" rIns="0" tIns="0" bIns="0" anchor="t">
            <a:spAutoFit/>
          </a:bodyPr>
          <a:lstStyle/>
          <a:p>
            <a:r>
              <a:rPr sz="700" b="0" i="0">
                <a:solidFill>
                  <a:srgbClr val="4D4D4D"/>
                </a:solidFill>
                <a:latin typeface="Trenda IG Text"/>
              </a:rPr>
              <a:t>Apex, LWC, tests</a:t>
            </a:r>
          </a:p>
        </p:txBody>
      </p:sp>
      <p:sp>
        <p:nvSpPr>
          <p:cNvPr id="112" name="Shape 102"/>
          <p:cNvSpPr/>
          <p:nvPr/>
        </p:nvSpPr>
        <p:spPr>
          <a:xfrm>
            <a:off x="437997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hape 103"/>
          <p:cNvSpPr/>
          <p:nvPr/>
        </p:nvSpPr>
        <p:spPr>
          <a:xfrm>
            <a:off x="4453127" y="4123944"/>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4"/>
          <p:cNvSpPr txBox="1"/>
          <p:nvPr/>
        </p:nvSpPr>
        <p:spPr>
          <a:xfrm>
            <a:off x="4453127" y="4123944"/>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15" name="Text 105"/>
          <p:cNvSpPr txBox="1"/>
          <p:nvPr/>
        </p:nvSpPr>
        <p:spPr>
          <a:xfrm>
            <a:off x="468172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Copado</a:t>
            </a:r>
          </a:p>
        </p:txBody>
      </p:sp>
      <p:sp>
        <p:nvSpPr>
          <p:cNvPr id="116" name="Text 106"/>
          <p:cNvSpPr txBox="1"/>
          <p:nvPr/>
        </p:nvSpPr>
        <p:spPr>
          <a:xfrm>
            <a:off x="4453127" y="4343400"/>
            <a:ext cx="777239" cy="256032"/>
          </a:xfrm>
          <a:prstGeom prst="rect">
            <a:avLst/>
          </a:prstGeom>
          <a:noFill/>
        </p:spPr>
        <p:txBody>
          <a:bodyPr wrap="square" lIns="0" rIns="0" tIns="0" bIns="0" anchor="t">
            <a:spAutoFit/>
          </a:bodyPr>
          <a:lstStyle/>
          <a:p>
            <a:r>
              <a:rPr sz="700" b="0" i="0">
                <a:solidFill>
                  <a:srgbClr val="4D4D4D"/>
                </a:solidFill>
                <a:latin typeface="Trenda IG Text"/>
              </a:rPr>
              <a:t>releases, test runs</a:t>
            </a:r>
          </a:p>
        </p:txBody>
      </p:sp>
      <p:sp>
        <p:nvSpPr>
          <p:cNvPr id="117" name="Shape 107"/>
          <p:cNvSpPr/>
          <p:nvPr/>
        </p:nvSpPr>
        <p:spPr>
          <a:xfrm>
            <a:off x="5340095" y="4050791"/>
            <a:ext cx="886967" cy="566928"/>
          </a:xfrm>
          <a:prstGeom prst="roundRect">
            <a:avLst>
              <a:gd name="adj" fmla="val 1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8" name="Picture 117" descr="googledrive.png"/>
          <p:cNvPicPr>
            <a:picLocks noChangeAspect="1"/>
          </p:cNvPicPr>
          <p:nvPr/>
        </p:nvPicPr>
        <p:blipFill>
          <a:blip r:embed="rId8"/>
          <a:stretch>
            <a:fillRect/>
          </a:stretch>
        </p:blipFill>
        <p:spPr>
          <a:xfrm>
            <a:off x="5413247" y="4114800"/>
            <a:ext cx="182880" cy="182880"/>
          </a:xfrm>
          <a:prstGeom prst="rect">
            <a:avLst/>
          </a:prstGeom>
        </p:spPr>
      </p:pic>
      <p:sp>
        <p:nvSpPr>
          <p:cNvPr id="119" name="Text 108"/>
          <p:cNvSpPr txBox="1"/>
          <p:nvPr/>
        </p:nvSpPr>
        <p:spPr>
          <a:xfrm>
            <a:off x="564184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Google Drive</a:t>
            </a:r>
          </a:p>
        </p:txBody>
      </p:sp>
      <p:sp>
        <p:nvSpPr>
          <p:cNvPr id="120" name="Text 109"/>
          <p:cNvSpPr txBox="1"/>
          <p:nvPr/>
        </p:nvSpPr>
        <p:spPr>
          <a:xfrm>
            <a:off x="5413247" y="4343400"/>
            <a:ext cx="777239" cy="256032"/>
          </a:xfrm>
          <a:prstGeom prst="rect">
            <a:avLst/>
          </a:prstGeom>
          <a:noFill/>
        </p:spPr>
        <p:txBody>
          <a:bodyPr wrap="square" lIns="0" rIns="0" tIns="0" bIns="0" anchor="t">
            <a:spAutoFit/>
          </a:bodyPr>
          <a:lstStyle/>
          <a:p>
            <a:r>
              <a:rPr sz="700" b="0" i="0">
                <a:solidFill>
                  <a:srgbClr val="4D4D4D"/>
                </a:solidFill>
                <a:latin typeface="Trenda IG Text"/>
              </a:rPr>
              <a:t>specs</a:t>
            </a:r>
          </a:p>
        </p:txBody>
      </p:sp>
      <p:sp>
        <p:nvSpPr>
          <p:cNvPr id="121" name="Shape 110"/>
          <p:cNvSpPr/>
          <p:nvPr/>
        </p:nvSpPr>
        <p:spPr>
          <a:xfrm>
            <a:off x="6300215" y="4050791"/>
            <a:ext cx="886967" cy="566928"/>
          </a:xfrm>
          <a:prstGeom prst="roundRect">
            <a:avLst>
              <a:gd name="adj" fmla="val 10000"/>
            </a:avLst>
          </a:prstGeom>
          <a:solidFill>
            <a:srgbClr val="F7F7F7"/>
          </a:solidFill>
          <a:ln w="6858">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2" name="Picture 121" descr="googlecloud-grey.png"/>
          <p:cNvPicPr>
            <a:picLocks noChangeAspect="1"/>
          </p:cNvPicPr>
          <p:nvPr/>
        </p:nvPicPr>
        <p:blipFill>
          <a:blip r:embed="rId9"/>
          <a:stretch>
            <a:fillRect/>
          </a:stretch>
        </p:blipFill>
        <p:spPr>
          <a:xfrm>
            <a:off x="6373367" y="4114800"/>
            <a:ext cx="182880" cy="182880"/>
          </a:xfrm>
          <a:prstGeom prst="rect">
            <a:avLst/>
          </a:prstGeom>
        </p:spPr>
      </p:pic>
      <p:sp>
        <p:nvSpPr>
          <p:cNvPr id="123" name="Text 111"/>
          <p:cNvSpPr txBox="1"/>
          <p:nvPr/>
        </p:nvSpPr>
        <p:spPr>
          <a:xfrm>
            <a:off x="6601967" y="4087368"/>
            <a:ext cx="557783" cy="219456"/>
          </a:xfrm>
          <a:prstGeom prst="rect">
            <a:avLst/>
          </a:prstGeom>
          <a:noFill/>
        </p:spPr>
        <p:txBody>
          <a:bodyPr wrap="square" lIns="0" rIns="0" tIns="0" bIns="0" anchor="ctr">
            <a:spAutoFit/>
          </a:bodyPr>
          <a:lstStyle/>
          <a:p>
            <a:r>
              <a:rPr sz="700" b="1" i="0">
                <a:solidFill>
                  <a:srgbClr val="1A1A1A"/>
                </a:solidFill>
                <a:latin typeface="Trenda IG Text"/>
              </a:rPr>
              <a:t>GCP data</a:t>
            </a:r>
          </a:p>
        </p:txBody>
      </p:sp>
      <p:sp>
        <p:nvSpPr>
          <p:cNvPr id="124" name="Text 112"/>
          <p:cNvSpPr txBox="1"/>
          <p:nvPr/>
        </p:nvSpPr>
        <p:spPr>
          <a:xfrm>
            <a:off x="6373367" y="4306824"/>
            <a:ext cx="777239" cy="292608"/>
          </a:xfrm>
          <a:prstGeom prst="rect">
            <a:avLst/>
          </a:prstGeom>
          <a:noFill/>
        </p:spPr>
        <p:txBody>
          <a:bodyPr wrap="square" lIns="0" rIns="0" tIns="0" bIns="0" anchor="t">
            <a:spAutoFit/>
          </a:bodyPr>
          <a:lstStyle/>
          <a:p>
            <a:r>
              <a:rPr sz="700" b="0" i="0">
                <a:solidFill>
                  <a:srgbClr val="1A1A1A"/>
                </a:solidFill>
                <a:latin typeface="Trenda IG Text"/>
              </a:rPr>
              <a:t>not needed for Health Cloud</a:t>
            </a:r>
          </a:p>
        </p:txBody>
      </p:sp>
      <p:sp>
        <p:nvSpPr>
          <p:cNvPr id="125" name="Text 113"/>
          <p:cNvSpPr txBox="1"/>
          <p:nvPr/>
        </p:nvSpPr>
        <p:spPr>
          <a:xfrm>
            <a:off x="539496" y="4709160"/>
            <a:ext cx="1188720" cy="182880"/>
          </a:xfrm>
          <a:prstGeom prst="rect">
            <a:avLst/>
          </a:prstGeom>
          <a:noFill/>
        </p:spPr>
        <p:txBody>
          <a:bodyPr wrap="square" lIns="0" rIns="0" tIns="0" bIns="0" anchor="ctr">
            <a:spAutoFit/>
          </a:bodyPr>
          <a:lstStyle/>
          <a:p>
            <a:r>
              <a:rPr sz="700" b="1" i="0" spc="150">
                <a:solidFill>
                  <a:srgbClr val="1A1A1A"/>
                </a:solidFill>
                <a:latin typeface="Trenda IG Text"/>
              </a:rPr>
              <a:t>AGENTS ASK</a:t>
            </a:r>
          </a:p>
        </p:txBody>
      </p:sp>
      <p:sp>
        <p:nvSpPr>
          <p:cNvPr id="126" name="Shape 114"/>
          <p:cNvSpPr/>
          <p:nvPr/>
        </p:nvSpPr>
        <p:spPr>
          <a:xfrm>
            <a:off x="1316736" y="4709160"/>
            <a:ext cx="804672"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15"/>
          <p:cNvSpPr txBox="1"/>
          <p:nvPr/>
        </p:nvSpPr>
        <p:spPr>
          <a:xfrm>
            <a:off x="1316736" y="4709160"/>
            <a:ext cx="804672" cy="182880"/>
          </a:xfrm>
          <a:prstGeom prst="rect">
            <a:avLst/>
          </a:prstGeom>
          <a:noFill/>
        </p:spPr>
        <p:txBody>
          <a:bodyPr wrap="square" lIns="0" rIns="0" tIns="0" bIns="0" anchor="ctr">
            <a:spAutoFit/>
          </a:bodyPr>
          <a:lstStyle/>
          <a:p>
            <a:pPr algn="ctr"/>
            <a:r>
              <a:rPr sz="700" b="0" i="0">
                <a:solidFill>
                  <a:srgbClr val="1A1A1A"/>
                </a:solidFill>
                <a:latin typeface="Courier New"/>
              </a:rPr>
              <a:t>graph.exists</a:t>
            </a:r>
          </a:p>
        </p:txBody>
      </p:sp>
      <p:sp>
        <p:nvSpPr>
          <p:cNvPr id="128" name="Shape 116"/>
          <p:cNvSpPr/>
          <p:nvPr/>
        </p:nvSpPr>
        <p:spPr>
          <a:xfrm>
            <a:off x="2176272" y="4709160"/>
            <a:ext cx="1024127"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17"/>
          <p:cNvSpPr txBox="1"/>
          <p:nvPr/>
        </p:nvSpPr>
        <p:spPr>
          <a:xfrm>
            <a:off x="2176272" y="4709160"/>
            <a:ext cx="1024127" cy="182880"/>
          </a:xfrm>
          <a:prstGeom prst="rect">
            <a:avLst/>
          </a:prstGeom>
          <a:noFill/>
        </p:spPr>
        <p:txBody>
          <a:bodyPr wrap="square" lIns="0" rIns="0" tIns="0" bIns="0" anchor="ctr">
            <a:spAutoFit/>
          </a:bodyPr>
          <a:lstStyle/>
          <a:p>
            <a:pPr algn="ctr"/>
            <a:r>
              <a:rPr sz="700" b="0" i="0">
                <a:solidFill>
                  <a:srgbClr val="1A1A1A"/>
                </a:solidFill>
                <a:latin typeface="Courier New"/>
              </a:rPr>
              <a:t>graph.find_reuse</a:t>
            </a:r>
          </a:p>
        </p:txBody>
      </p:sp>
      <p:sp>
        <p:nvSpPr>
          <p:cNvPr id="130" name="Shape 118"/>
          <p:cNvSpPr/>
          <p:nvPr/>
        </p:nvSpPr>
        <p:spPr>
          <a:xfrm>
            <a:off x="3255263" y="4709160"/>
            <a:ext cx="1133856"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19"/>
          <p:cNvSpPr txBox="1"/>
          <p:nvPr/>
        </p:nvSpPr>
        <p:spPr>
          <a:xfrm>
            <a:off x="3255263" y="4709160"/>
            <a:ext cx="1133856" cy="182880"/>
          </a:xfrm>
          <a:prstGeom prst="rect">
            <a:avLst/>
          </a:prstGeom>
          <a:noFill/>
        </p:spPr>
        <p:txBody>
          <a:bodyPr wrap="square" lIns="0" rIns="0" tIns="0" bIns="0" anchor="ctr">
            <a:spAutoFit/>
          </a:bodyPr>
          <a:lstStyle/>
          <a:p>
            <a:pPr algn="ctr"/>
            <a:r>
              <a:rPr sz="700" b="0" i="0">
                <a:solidFill>
                  <a:srgbClr val="1A1A1A"/>
                </a:solidFill>
                <a:latin typeface="Courier New"/>
              </a:rPr>
              <a:t>graph.blast_radius</a:t>
            </a:r>
          </a:p>
        </p:txBody>
      </p:sp>
      <p:sp>
        <p:nvSpPr>
          <p:cNvPr id="132" name="Shape 120"/>
          <p:cNvSpPr/>
          <p:nvPr/>
        </p:nvSpPr>
        <p:spPr>
          <a:xfrm>
            <a:off x="4443983" y="4709160"/>
            <a:ext cx="804672"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1"/>
          <p:cNvSpPr txBox="1"/>
          <p:nvPr/>
        </p:nvSpPr>
        <p:spPr>
          <a:xfrm>
            <a:off x="4443983" y="4709160"/>
            <a:ext cx="804672" cy="182880"/>
          </a:xfrm>
          <a:prstGeom prst="rect">
            <a:avLst/>
          </a:prstGeom>
          <a:noFill/>
        </p:spPr>
        <p:txBody>
          <a:bodyPr wrap="square" lIns="0" rIns="0" tIns="0" bIns="0" anchor="ctr">
            <a:spAutoFit/>
          </a:bodyPr>
          <a:lstStyle/>
          <a:p>
            <a:pPr algn="ctr"/>
            <a:r>
              <a:rPr sz="700" b="0" i="0">
                <a:solidFill>
                  <a:srgbClr val="1A1A1A"/>
                </a:solidFill>
                <a:latin typeface="Courier New"/>
              </a:rPr>
              <a:t>graph.owners</a:t>
            </a:r>
          </a:p>
        </p:txBody>
      </p:sp>
      <p:sp>
        <p:nvSpPr>
          <p:cNvPr id="134" name="Shape 122"/>
          <p:cNvSpPr/>
          <p:nvPr/>
        </p:nvSpPr>
        <p:spPr>
          <a:xfrm>
            <a:off x="5303519" y="4709160"/>
            <a:ext cx="1188719" cy="182880"/>
          </a:xfrm>
          <a:prstGeom prst="roundRect">
            <a:avLst>
              <a:gd name="adj" fmla="val 40000"/>
            </a:avLst>
          </a:prstGeom>
          <a:solidFill>
            <a:srgbClr val="EEEEEE"/>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 123"/>
          <p:cNvSpPr txBox="1"/>
          <p:nvPr/>
        </p:nvSpPr>
        <p:spPr>
          <a:xfrm>
            <a:off x="5303519" y="4709160"/>
            <a:ext cx="1188719" cy="182880"/>
          </a:xfrm>
          <a:prstGeom prst="rect">
            <a:avLst/>
          </a:prstGeom>
          <a:noFill/>
        </p:spPr>
        <p:txBody>
          <a:bodyPr wrap="square" lIns="0" rIns="0" tIns="0" bIns="0" anchor="ctr">
            <a:spAutoFit/>
          </a:bodyPr>
          <a:lstStyle/>
          <a:p>
            <a:pPr algn="ctr"/>
            <a:r>
              <a:rPr sz="700" b="0" i="0">
                <a:solidFill>
                  <a:srgbClr val="1A1A1A"/>
                </a:solidFill>
                <a:latin typeface="Courier New"/>
              </a:rPr>
              <a:t>graph.context_slice</a:t>
            </a:r>
          </a:p>
        </p:txBody>
      </p:sp>
      <p:sp>
        <p:nvSpPr>
          <p:cNvPr id="136" name="Text 124"/>
          <p:cNvSpPr txBox="1"/>
          <p:nvPr/>
        </p:nvSpPr>
        <p:spPr>
          <a:xfrm>
            <a:off x="539496" y="4965192"/>
            <a:ext cx="6629400" cy="237744"/>
          </a:xfrm>
          <a:prstGeom prst="rect">
            <a:avLst/>
          </a:prstGeom>
          <a:noFill/>
        </p:spPr>
        <p:txBody>
          <a:bodyPr wrap="square" lIns="0" rIns="0" tIns="0" bIns="0" anchor="ctr">
            <a:spAutoFit/>
          </a:bodyPr>
          <a:lstStyle/>
          <a:p>
            <a:r>
              <a:rPr sz="700" b="0" i="0">
                <a:solidFill>
                  <a:srgbClr val="4D4D4D"/>
                </a:solidFill>
                <a:latin typeface="Trenda IG Text"/>
              </a:rPr>
              <a:t>A bounded, cited context slice for each step, never a raw org dump. Agents never write queries.</a:t>
            </a:r>
          </a:p>
        </p:txBody>
      </p:sp>
      <p:cxnSp>
        <p:nvCxnSpPr>
          <p:cNvPr id="137" name="Arrow 125"/>
          <p:cNvCxnSpPr/>
          <p:nvPr/>
        </p:nvCxnSpPr>
        <p:spPr>
          <a:xfrm flipV="1">
            <a:off x="708659" y="3310128"/>
            <a:ext cx="0" cy="393192"/>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8" name="Arrow 126"/>
          <p:cNvCxnSpPr/>
          <p:nvPr/>
        </p:nvCxnSpPr>
        <p:spPr>
          <a:xfrm flipV="1">
            <a:off x="2921507" y="3310128"/>
            <a:ext cx="0" cy="393192"/>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9" name="Shape 127"/>
          <p:cNvSpPr/>
          <p:nvPr/>
        </p:nvSpPr>
        <p:spPr>
          <a:xfrm>
            <a:off x="7452360" y="3703320"/>
            <a:ext cx="4325112" cy="1572768"/>
          </a:xfrm>
          <a:prstGeom prst="roundRect">
            <a:avLst>
              <a:gd name="adj" fmla="val 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 128"/>
          <p:cNvSpPr txBox="1"/>
          <p:nvPr/>
        </p:nvSpPr>
        <p:spPr>
          <a:xfrm>
            <a:off x="7580376" y="3758183"/>
            <a:ext cx="4050792" cy="219456"/>
          </a:xfrm>
          <a:prstGeom prst="rect">
            <a:avLst/>
          </a:prstGeom>
          <a:noFill/>
        </p:spPr>
        <p:txBody>
          <a:bodyPr wrap="square" lIns="0" rIns="0" tIns="0" bIns="0" anchor="ctr">
            <a:spAutoFit/>
          </a:bodyPr>
          <a:lstStyle/>
          <a:p>
            <a:r>
              <a:rPr sz="700" b="1" i="0" spc="150">
                <a:solidFill>
                  <a:srgbClr val="1A1A1A"/>
                </a:solidFill>
                <a:latin typeface="Trenda IG Text"/>
              </a:rPr>
              <a:t>WHERE OUTPUT LANDS</a:t>
            </a:r>
            <a:r>
              <a:rPr sz="700" b="0" i="0">
                <a:solidFill>
                  <a:srgbClr val="4D4D4D"/>
                </a:solidFill>
                <a:latin typeface="Trenda IG Text"/>
              </a:rPr>
              <a:t>   through the tool gateway</a:t>
            </a:r>
          </a:p>
        </p:txBody>
      </p:sp>
      <p:pic>
        <p:nvPicPr>
          <p:cNvPr id="141" name="Picture 140" descr="jira.png"/>
          <p:cNvPicPr>
            <a:picLocks noChangeAspect="1"/>
          </p:cNvPicPr>
          <p:nvPr/>
        </p:nvPicPr>
        <p:blipFill>
          <a:blip r:embed="rId4"/>
          <a:stretch>
            <a:fillRect/>
          </a:stretch>
        </p:blipFill>
        <p:spPr>
          <a:xfrm>
            <a:off x="7580376" y="4078224"/>
            <a:ext cx="182880" cy="182880"/>
          </a:xfrm>
          <a:prstGeom prst="rect">
            <a:avLst/>
          </a:prstGeom>
        </p:spPr>
      </p:pic>
      <p:sp>
        <p:nvSpPr>
          <p:cNvPr id="142" name="Text 129"/>
          <p:cNvSpPr txBox="1"/>
          <p:nvPr/>
        </p:nvSpPr>
        <p:spPr>
          <a:xfrm>
            <a:off x="7827264" y="4032504"/>
            <a:ext cx="1783080" cy="292608"/>
          </a:xfrm>
          <a:prstGeom prst="rect">
            <a:avLst/>
          </a:prstGeom>
          <a:noFill/>
        </p:spPr>
        <p:txBody>
          <a:bodyPr wrap="square" lIns="0" rIns="0" tIns="0" bIns="0" anchor="ctr">
            <a:spAutoFit/>
          </a:bodyPr>
          <a:lstStyle/>
          <a:p>
            <a:r>
              <a:rPr sz="700" b="1" i="0">
                <a:solidFill>
                  <a:srgbClr val="1A1A1A"/>
                </a:solidFill>
                <a:latin typeface="Trenda IG Text"/>
              </a:rPr>
              <a:t>Jira</a:t>
            </a:r>
            <a:r>
              <a:rPr sz="700" b="0" i="0">
                <a:solidFill>
                  <a:srgbClr val="4D4D4D"/>
                </a:solidFill>
                <a:latin typeface="Trenda IG Text"/>
              </a:rPr>
              <a:t>  brief, status to Done</a:t>
            </a:r>
          </a:p>
        </p:txBody>
      </p:sp>
      <p:pic>
        <p:nvPicPr>
          <p:cNvPr id="143" name="Picture 142" descr="confluence.png"/>
          <p:cNvPicPr>
            <a:picLocks noChangeAspect="1"/>
          </p:cNvPicPr>
          <p:nvPr/>
        </p:nvPicPr>
        <p:blipFill>
          <a:blip r:embed="rId5"/>
          <a:stretch>
            <a:fillRect/>
          </a:stretch>
        </p:blipFill>
        <p:spPr>
          <a:xfrm>
            <a:off x="9637776" y="4078224"/>
            <a:ext cx="182880" cy="182880"/>
          </a:xfrm>
          <a:prstGeom prst="rect">
            <a:avLst/>
          </a:prstGeom>
        </p:spPr>
      </p:pic>
      <p:sp>
        <p:nvSpPr>
          <p:cNvPr id="144" name="Text 130"/>
          <p:cNvSpPr txBox="1"/>
          <p:nvPr/>
        </p:nvSpPr>
        <p:spPr>
          <a:xfrm>
            <a:off x="9884664" y="4032504"/>
            <a:ext cx="1783080" cy="292608"/>
          </a:xfrm>
          <a:prstGeom prst="rect">
            <a:avLst/>
          </a:prstGeom>
          <a:noFill/>
        </p:spPr>
        <p:txBody>
          <a:bodyPr wrap="square" lIns="0" rIns="0" tIns="0" bIns="0" anchor="ctr">
            <a:spAutoFit/>
          </a:bodyPr>
          <a:lstStyle/>
          <a:p>
            <a:r>
              <a:rPr sz="700" b="1" i="0">
                <a:solidFill>
                  <a:srgbClr val="1A1A1A"/>
                </a:solidFill>
                <a:latin typeface="Trenda IG Text"/>
              </a:rPr>
              <a:t>Confluence</a:t>
            </a:r>
            <a:r>
              <a:rPr sz="700" b="0" i="0">
                <a:solidFill>
                  <a:srgbClr val="4D4D4D"/>
                </a:solidFill>
                <a:latin typeface="Trenda IG Text"/>
              </a:rPr>
              <a:t>  design draft, as-built</a:t>
            </a:r>
          </a:p>
        </p:txBody>
      </p:sp>
      <p:pic>
        <p:nvPicPr>
          <p:cNvPr id="145" name="Picture 144" descr="git.png"/>
          <p:cNvPicPr>
            <a:picLocks noChangeAspect="1"/>
          </p:cNvPicPr>
          <p:nvPr/>
        </p:nvPicPr>
        <p:blipFill>
          <a:blip r:embed="rId7"/>
          <a:stretch>
            <a:fillRect/>
          </a:stretch>
        </p:blipFill>
        <p:spPr>
          <a:xfrm>
            <a:off x="7580376" y="4398264"/>
            <a:ext cx="182880" cy="182880"/>
          </a:xfrm>
          <a:prstGeom prst="rect">
            <a:avLst/>
          </a:prstGeom>
        </p:spPr>
      </p:pic>
      <p:sp>
        <p:nvSpPr>
          <p:cNvPr id="146" name="Text 131"/>
          <p:cNvSpPr txBox="1"/>
          <p:nvPr/>
        </p:nvSpPr>
        <p:spPr>
          <a:xfrm>
            <a:off x="7827264" y="4352544"/>
            <a:ext cx="1783080" cy="292608"/>
          </a:xfrm>
          <a:prstGeom prst="rect">
            <a:avLst/>
          </a:prstGeom>
          <a:noFill/>
        </p:spPr>
        <p:txBody>
          <a:bodyPr wrap="square" lIns="0" rIns="0" tIns="0" bIns="0" anchor="ctr">
            <a:spAutoFit/>
          </a:bodyPr>
          <a:lstStyle/>
          <a:p>
            <a:r>
              <a:rPr sz="700" b="1" i="0">
                <a:solidFill>
                  <a:srgbClr val="1A1A1A"/>
                </a:solidFill>
                <a:latin typeface="Trenda IG Text"/>
              </a:rPr>
              <a:t>Git</a:t>
            </a:r>
            <a:r>
              <a:rPr sz="700" b="0" i="0">
                <a:solidFill>
                  <a:srgbClr val="4D4D4D"/>
                </a:solidFill>
                <a:latin typeface="Trenda IG Text"/>
              </a:rPr>
              <a:t>  branch, pull request</a:t>
            </a:r>
          </a:p>
        </p:txBody>
      </p:sp>
      <p:pic>
        <p:nvPicPr>
          <p:cNvPr id="147" name="Picture 146" descr="salesforce.png"/>
          <p:cNvPicPr>
            <a:picLocks noChangeAspect="1"/>
          </p:cNvPicPr>
          <p:nvPr/>
        </p:nvPicPr>
        <p:blipFill>
          <a:blip r:embed="rId6"/>
          <a:stretch>
            <a:fillRect/>
          </a:stretch>
        </p:blipFill>
        <p:spPr>
          <a:xfrm>
            <a:off x="9637776" y="4398264"/>
            <a:ext cx="182880" cy="182880"/>
          </a:xfrm>
          <a:prstGeom prst="rect">
            <a:avLst/>
          </a:prstGeom>
        </p:spPr>
      </p:pic>
      <p:sp>
        <p:nvSpPr>
          <p:cNvPr id="148" name="Text 132"/>
          <p:cNvSpPr txBox="1"/>
          <p:nvPr/>
        </p:nvSpPr>
        <p:spPr>
          <a:xfrm>
            <a:off x="9884664" y="4352544"/>
            <a:ext cx="1783080" cy="292608"/>
          </a:xfrm>
          <a:prstGeom prst="rect">
            <a:avLst/>
          </a:prstGeom>
          <a:noFill/>
        </p:spPr>
        <p:txBody>
          <a:bodyPr wrap="square" lIns="0" rIns="0" tIns="0" bIns="0" anchor="ctr">
            <a:spAutoFit/>
          </a:bodyPr>
          <a:lstStyle/>
          <a:p>
            <a:r>
              <a:rPr sz="700" b="1" i="0">
                <a:solidFill>
                  <a:srgbClr val="1A1A1A"/>
                </a:solidFill>
                <a:latin typeface="Trenda IG Text"/>
              </a:rPr>
              <a:t>Salesforce DEV</a:t>
            </a:r>
            <a:r>
              <a:rPr sz="700" b="0" i="0">
                <a:solidFill>
                  <a:srgbClr val="4D4D4D"/>
                </a:solidFill>
                <a:latin typeface="Trenda IG Text"/>
              </a:rPr>
              <a:t>  deploy, Apex tests</a:t>
            </a:r>
          </a:p>
        </p:txBody>
      </p:sp>
      <p:sp>
        <p:nvSpPr>
          <p:cNvPr id="149" name="Shape 133"/>
          <p:cNvSpPr/>
          <p:nvPr/>
        </p:nvSpPr>
        <p:spPr>
          <a:xfrm>
            <a:off x="7580376" y="4727448"/>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Text 134"/>
          <p:cNvSpPr txBox="1"/>
          <p:nvPr/>
        </p:nvSpPr>
        <p:spPr>
          <a:xfrm>
            <a:off x="7580376" y="4727448"/>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Co</a:t>
            </a:r>
          </a:p>
        </p:txBody>
      </p:sp>
      <p:sp>
        <p:nvSpPr>
          <p:cNvPr id="151" name="Text 135"/>
          <p:cNvSpPr txBox="1"/>
          <p:nvPr/>
        </p:nvSpPr>
        <p:spPr>
          <a:xfrm>
            <a:off x="7827264" y="4672584"/>
            <a:ext cx="1783080" cy="292608"/>
          </a:xfrm>
          <a:prstGeom prst="rect">
            <a:avLst/>
          </a:prstGeom>
          <a:noFill/>
        </p:spPr>
        <p:txBody>
          <a:bodyPr wrap="square" lIns="0" rIns="0" tIns="0" bIns="0" anchor="ctr">
            <a:spAutoFit/>
          </a:bodyPr>
          <a:lstStyle/>
          <a:p>
            <a:r>
              <a:rPr sz="700" b="1" i="0">
                <a:solidFill>
                  <a:srgbClr val="1A1A1A"/>
                </a:solidFill>
                <a:latin typeface="Trenda IG Text"/>
              </a:rPr>
              <a:t>Copado</a:t>
            </a:r>
            <a:r>
              <a:rPr sz="700" b="0" i="0">
                <a:solidFill>
                  <a:srgbClr val="4D4D4D"/>
                </a:solidFill>
                <a:latin typeface="Trenda IG Text"/>
              </a:rPr>
              <a:t>  SIT, then UAT</a:t>
            </a:r>
          </a:p>
        </p:txBody>
      </p:sp>
      <p:sp>
        <p:nvSpPr>
          <p:cNvPr id="152" name="Shape 136"/>
          <p:cNvSpPr/>
          <p:nvPr/>
        </p:nvSpPr>
        <p:spPr>
          <a:xfrm>
            <a:off x="9637776" y="4727448"/>
            <a:ext cx="182880" cy="164592"/>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 137"/>
          <p:cNvSpPr txBox="1"/>
          <p:nvPr/>
        </p:nvSpPr>
        <p:spPr>
          <a:xfrm>
            <a:off x="9637776" y="4727448"/>
            <a:ext cx="182880" cy="164592"/>
          </a:xfrm>
          <a:prstGeom prst="rect">
            <a:avLst/>
          </a:prstGeom>
          <a:noFill/>
        </p:spPr>
        <p:txBody>
          <a:bodyPr wrap="square" lIns="0" rIns="0" tIns="0" bIns="0" anchor="ctr">
            <a:spAutoFit/>
          </a:bodyPr>
          <a:lstStyle/>
          <a:p>
            <a:pPr algn="ctr"/>
            <a:r>
              <a:rPr sz="700" b="1" i="0" spc="80">
                <a:solidFill>
                  <a:srgbClr val="4D4D4D"/>
                </a:solidFill>
                <a:latin typeface="Trenda IG Text"/>
              </a:rPr>
              <a:t>ZS</a:t>
            </a:r>
          </a:p>
        </p:txBody>
      </p:sp>
      <p:sp>
        <p:nvSpPr>
          <p:cNvPr id="154" name="Text 138"/>
          <p:cNvSpPr txBox="1"/>
          <p:nvPr/>
        </p:nvSpPr>
        <p:spPr>
          <a:xfrm>
            <a:off x="9884664" y="4672584"/>
            <a:ext cx="1783080" cy="292608"/>
          </a:xfrm>
          <a:prstGeom prst="rect">
            <a:avLst/>
          </a:prstGeom>
          <a:noFill/>
        </p:spPr>
        <p:txBody>
          <a:bodyPr wrap="square" lIns="0" rIns="0" tIns="0" bIns="0" anchor="ctr">
            <a:spAutoFit/>
          </a:bodyPr>
          <a:lstStyle/>
          <a:p>
            <a:r>
              <a:rPr sz="700" b="1" i="0">
                <a:solidFill>
                  <a:srgbClr val="1A1A1A"/>
                </a:solidFill>
                <a:latin typeface="Trenda IG Text"/>
              </a:rPr>
              <a:t>Zephyr Scale</a:t>
            </a:r>
            <a:r>
              <a:rPr sz="700" b="0" i="0">
                <a:solidFill>
                  <a:srgbClr val="4D4D4D"/>
                </a:solidFill>
                <a:latin typeface="Trenda IG Text"/>
              </a:rPr>
              <a:t>  cases, results</a:t>
            </a:r>
          </a:p>
        </p:txBody>
      </p:sp>
      <p:sp>
        <p:nvSpPr>
          <p:cNvPr id="155" name="Text 139"/>
          <p:cNvSpPr txBox="1"/>
          <p:nvPr/>
        </p:nvSpPr>
        <p:spPr>
          <a:xfrm>
            <a:off x="7580376" y="5001768"/>
            <a:ext cx="4050792" cy="201168"/>
          </a:xfrm>
          <a:prstGeom prst="rect">
            <a:avLst/>
          </a:prstGeom>
          <a:noFill/>
        </p:spPr>
        <p:txBody>
          <a:bodyPr wrap="square" lIns="0" rIns="0" tIns="0" bIns="0" anchor="ctr">
            <a:spAutoFit/>
          </a:bodyPr>
          <a:lstStyle/>
          <a:p>
            <a:r>
              <a:rPr sz="700" b="1" i="0">
                <a:solidFill>
                  <a:srgbClr val="1A1A1A"/>
                </a:solidFill>
                <a:latin typeface="Trenda IG Text"/>
              </a:rPr>
              <a:t>Production: the owning team's pipeline after CAB. No agent path.</a:t>
            </a:r>
          </a:p>
        </p:txBody>
      </p:sp>
      <p:sp>
        <p:nvSpPr>
          <p:cNvPr id="156" name="Shape 140"/>
          <p:cNvSpPr/>
          <p:nvPr/>
        </p:nvSpPr>
        <p:spPr>
          <a:xfrm>
            <a:off x="393192"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56" name="Shape 140"/>
          <p:cNvSpPr/>
          <p:nvPr/>
        </p:nvSpPr>
        <p:spPr>
          <a:xfrm>
            <a:off x="411480"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Shape 141"/>
          <p:cNvSpPr/>
          <p:nvPr/>
        </p:nvSpPr>
        <p:spPr>
          <a:xfrm>
            <a:off x="411480"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Text 142"/>
          <p:cNvSpPr txBox="1"/>
          <p:nvPr/>
        </p:nvSpPr>
        <p:spPr>
          <a:xfrm>
            <a:off x="612648"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Change Guardian</a:t>
            </a:r>
          </a:p>
        </p:txBody>
      </p:sp>
      <p:sp>
        <p:nvSpPr>
          <p:cNvPr id="159" name="Text 143"/>
          <p:cNvSpPr txBox="1"/>
          <p:nvPr/>
        </p:nvSpPr>
        <p:spPr>
          <a:xfrm>
            <a:off x="612648"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reviews every pod's metadata; flags deployment blockers before release</a:t>
            </a:r>
          </a:p>
        </p:txBody>
      </p:sp>
      <p:sp>
        <p:nvSpPr>
          <p:cNvPr id="160" name="Shape 144"/>
          <p:cNvSpPr/>
          <p:nvPr/>
        </p:nvSpPr>
        <p:spPr>
          <a:xfrm>
            <a:off x="4227576"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60" name="Shape 144"/>
          <p:cNvSpPr/>
          <p:nvPr/>
        </p:nvSpPr>
        <p:spPr>
          <a:xfrm>
            <a:off x="4245864"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Shape 145"/>
          <p:cNvSpPr/>
          <p:nvPr/>
        </p:nvSpPr>
        <p:spPr>
          <a:xfrm>
            <a:off x="4245864"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Text 146"/>
          <p:cNvSpPr txBox="1"/>
          <p:nvPr/>
        </p:nvSpPr>
        <p:spPr>
          <a:xfrm>
            <a:off x="4447032"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People approve</a:t>
            </a:r>
          </a:p>
        </p:txBody>
      </p:sp>
      <p:sp>
        <p:nvSpPr>
          <p:cNvPr id="163" name="Text 147"/>
          <p:cNvSpPr txBox="1"/>
          <p:nvPr/>
        </p:nvSpPr>
        <p:spPr>
          <a:xfrm>
            <a:off x="4447032"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H1, H2, H3, H4 and CAB, as today</a:t>
            </a:r>
          </a:p>
        </p:txBody>
      </p:sp>
      <p:sp>
        <p:nvSpPr>
          <p:cNvPr id="164" name="Shape 148"/>
          <p:cNvSpPr/>
          <p:nvPr/>
        </p:nvSpPr>
        <p:spPr>
          <a:xfrm>
            <a:off x="8061959" y="5422392"/>
            <a:ext cx="3733799" cy="813816"/>
          </a:xfrm>
          <a:prstGeom prst="rect">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64" name="Shape 148"/>
          <p:cNvSpPr/>
          <p:nvPr/>
        </p:nvSpPr>
        <p:spPr>
          <a:xfrm>
            <a:off x="8080247" y="5440680"/>
            <a:ext cx="3697223" cy="777240"/>
          </a:xfrm>
          <a:prstGeom prst="rect">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Shape 149"/>
          <p:cNvSpPr/>
          <p:nvPr/>
        </p:nvSpPr>
        <p:spPr>
          <a:xfrm>
            <a:off x="8080247" y="5440680"/>
            <a:ext cx="54864" cy="7772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Text 150"/>
          <p:cNvSpPr txBox="1"/>
          <p:nvPr/>
        </p:nvSpPr>
        <p:spPr>
          <a:xfrm>
            <a:off x="8281416" y="5513832"/>
            <a:ext cx="3422904" cy="365760"/>
          </a:xfrm>
          <a:prstGeom prst="rect">
            <a:avLst/>
          </a:prstGeom>
          <a:noFill/>
        </p:spPr>
        <p:txBody>
          <a:bodyPr wrap="square" lIns="0" rIns="0" tIns="0" bIns="0" anchor="ctr">
            <a:spAutoFit/>
          </a:bodyPr>
          <a:lstStyle/>
          <a:p>
            <a:r>
              <a:rPr sz="1400" b="0" i="0">
                <a:solidFill>
                  <a:srgbClr val="1A1A1A"/>
                </a:solidFill>
                <a:latin typeface="Trenda IG Text"/>
              </a:rPr>
              <a:t>Change passport</a:t>
            </a:r>
          </a:p>
        </p:txBody>
      </p:sp>
      <p:sp>
        <p:nvSpPr>
          <p:cNvPr id="167" name="Text 151"/>
          <p:cNvSpPr txBox="1"/>
          <p:nvPr/>
        </p:nvSpPr>
        <p:spPr>
          <a:xfrm>
            <a:off x="8281416" y="5879592"/>
            <a:ext cx="3422904" cy="274320"/>
          </a:xfrm>
          <a:prstGeom prst="rect">
            <a:avLst/>
          </a:prstGeom>
          <a:noFill/>
        </p:spPr>
        <p:txBody>
          <a:bodyPr wrap="square" lIns="0" rIns="0" tIns="0" bIns="0" anchor="ctr">
            <a:spAutoFit/>
          </a:bodyPr>
          <a:lstStyle/>
          <a:p>
            <a:r>
              <a:rPr sz="700" b="0" i="0">
                <a:solidFill>
                  <a:srgbClr val="4D4D4D"/>
                </a:solidFill>
                <a:latin typeface="Trenda IG Text"/>
              </a:rPr>
              <a:t>every step, approval and test recorded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FACTORY · NETWORK SERVICES POD · HEALTH CLOUD</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A Health Cloud change: ~2 weeks manual vs ~2 days on the Agentic Factory</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Any Health Cloud task. The same seven delivery agents with Health Cloud skills: day 1 takes the story to UAT, day 2 is UAT and production. People approve at every gate.</a:t>
            </a:r>
          </a:p>
        </p:txBody>
      </p:sp>
      <p:sp>
        <p:nvSpPr>
          <p:cNvPr id="5" name="Shape 4"/>
          <p:cNvSpPr/>
          <p:nvPr/>
        </p:nvSpPr>
        <p:spPr>
          <a:xfrm>
            <a:off x="411480" y="1170432"/>
            <a:ext cx="5623560" cy="3986784"/>
          </a:xfrm>
          <a:prstGeom prst="roundRect">
            <a:avLst>
              <a:gd name="adj" fmla="val 2000"/>
            </a:avLst>
          </a:prstGeom>
          <a:solidFill>
            <a:srgbClr val="F2F2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39496" y="1225296"/>
            <a:ext cx="2743200" cy="182880"/>
          </a:xfrm>
          <a:prstGeom prst="rect">
            <a:avLst/>
          </a:prstGeom>
          <a:noFill/>
        </p:spPr>
        <p:txBody>
          <a:bodyPr wrap="square" lIns="0" rIns="0" tIns="0" bIns="0" anchor="ctr">
            <a:spAutoFit/>
          </a:bodyPr>
          <a:lstStyle/>
          <a:p>
            <a:r>
              <a:rPr sz="700" b="1" i="0" spc="120">
                <a:solidFill>
                  <a:srgbClr val="4D4D4D"/>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rIns="0" tIns="0" bIns="0" anchor="ctr">
            <a:spAutoFit/>
          </a:bodyPr>
          <a:lstStyle/>
          <a:p>
            <a:r>
              <a:rPr sz="2000" b="0" i="0">
                <a:solidFill>
                  <a:srgbClr val="1A1A1A"/>
                </a:solidFill>
                <a:latin typeface="Trenda IG Text"/>
              </a:rPr>
              <a:t>~2 weeks</a:t>
            </a:r>
          </a:p>
        </p:txBody>
      </p:sp>
      <p:sp>
        <p:nvSpPr>
          <p:cNvPr id="8" name="Text 7"/>
          <p:cNvSpPr txBox="1"/>
          <p:nvPr/>
        </p:nvSpPr>
        <p:spPr>
          <a:xfrm>
            <a:off x="2240280" y="1408176"/>
            <a:ext cx="3666744" cy="384048"/>
          </a:xfrm>
          <a:prstGeom prst="rect">
            <a:avLst/>
          </a:prstGeom>
          <a:noFill/>
        </p:spPr>
        <p:txBody>
          <a:bodyPr wrap="square" lIns="0" rIns="0" tIns="0" bIns="0" anchor="ctr">
            <a:spAutoFit/>
          </a:bodyPr>
          <a:lstStyle/>
          <a:p>
            <a:r>
              <a:rPr sz="700" b="0" i="0">
                <a:solidFill>
                  <a:srgbClr val="4D4D4D"/>
                </a:solidFill>
                <a:latin typeface="Trenda IG Text"/>
              </a:rPr>
              <a:t>~10 working days, one hand-off at a time. </a:t>
            </a:r>
            <a:r>
              <a:rPr sz="700" b="1" i="0">
                <a:solidFill>
                  <a:srgbClr val="FF0069"/>
                </a:solidFill>
                <a:latin typeface="Trenda IG Text"/>
              </a:rPr>
              <a:t>~4.5 days</a:t>
            </a:r>
            <a:r>
              <a:rPr sz="700" b="0" i="0">
                <a:solidFill>
                  <a:srgbClr val="4D4D4D"/>
                </a:solidFill>
                <a:latin typeface="Trenda IG Text"/>
              </a:rPr>
              <a:t> understanding the story, finding the impact and writing tests by hand</a:t>
            </a:r>
          </a:p>
        </p:txBody>
      </p:sp>
      <p:sp>
        <p:nvSpPr>
          <p:cNvPr id="9" name="Shape 8"/>
          <p:cNvSpPr/>
          <p:nvPr/>
        </p:nvSpPr>
        <p:spPr>
          <a:xfrm>
            <a:off x="502920" y="206654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94360" y="2066543"/>
            <a:ext cx="1975103" cy="274320"/>
          </a:xfrm>
          <a:prstGeom prst="rect">
            <a:avLst/>
          </a:prstGeom>
          <a:noFill/>
        </p:spPr>
        <p:txBody>
          <a:bodyPr wrap="square" lIns="0" rIns="0" tIns="0" bIns="0" anchor="ctr">
            <a:spAutoFit/>
          </a:bodyPr>
          <a:lstStyle/>
          <a:p>
            <a:r>
              <a:rPr sz="700" b="1" i="0">
                <a:solidFill>
                  <a:srgbClr val="1A1A1A"/>
                </a:solidFill>
                <a:latin typeface="Trenda IG Text"/>
              </a:rPr>
              <a:t>Story intake</a:t>
            </a:r>
          </a:p>
          <a:p>
            <a:r>
              <a:rPr sz="700" b="0" i="0">
                <a:solidFill>
                  <a:srgbClr val="4D4D4D"/>
                </a:solidFill>
                <a:latin typeface="Trenda IG Text"/>
              </a:rPr>
              <a:t>Jira story; back and forth with the PO</a:t>
            </a:r>
          </a:p>
        </p:txBody>
      </p:sp>
      <p:sp>
        <p:nvSpPr>
          <p:cNvPr id="11" name="Shape 10"/>
          <p:cNvSpPr/>
          <p:nvPr/>
        </p:nvSpPr>
        <p:spPr>
          <a:xfrm>
            <a:off x="2606039" y="214883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2606039" y="214883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13" name="Shape 12"/>
          <p:cNvSpPr/>
          <p:nvPr/>
        </p:nvSpPr>
        <p:spPr>
          <a:xfrm>
            <a:off x="502920" y="2386584"/>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594360" y="2386584"/>
            <a:ext cx="1975103" cy="274320"/>
          </a:xfrm>
          <a:prstGeom prst="rect">
            <a:avLst/>
          </a:prstGeom>
          <a:noFill/>
        </p:spPr>
        <p:txBody>
          <a:bodyPr wrap="square" lIns="0" rIns="0" tIns="0" bIns="0" anchor="ctr">
            <a:spAutoFit/>
          </a:bodyPr>
          <a:lstStyle/>
          <a:p>
            <a:r>
              <a:rPr sz="700" b="1" i="0">
                <a:solidFill>
                  <a:srgbClr val="1A1A1A"/>
                </a:solidFill>
                <a:latin typeface="Trenda IG Text"/>
              </a:rPr>
              <a:t>Clarify requirements</a:t>
            </a:r>
          </a:p>
          <a:p>
            <a:r>
              <a:rPr sz="700" b="0" i="0">
                <a:solidFill>
                  <a:srgbClr val="4D4D4D"/>
                </a:solidFill>
                <a:latin typeface="Trenda IG Text"/>
              </a:rPr>
              <a:t>Confluence, meetings; criteria agreed</a:t>
            </a:r>
          </a:p>
        </p:txBody>
      </p:sp>
      <p:sp>
        <p:nvSpPr>
          <p:cNvPr id="15" name="Shape 14"/>
          <p:cNvSpPr/>
          <p:nvPr/>
        </p:nvSpPr>
        <p:spPr>
          <a:xfrm>
            <a:off x="2930651" y="2468879"/>
            <a:ext cx="324612"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930651" y="2468879"/>
            <a:ext cx="324612"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17" name="Shape 16"/>
          <p:cNvSpPr/>
          <p:nvPr/>
        </p:nvSpPr>
        <p:spPr>
          <a:xfrm>
            <a:off x="502920" y="2706624"/>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594360" y="2706624"/>
            <a:ext cx="1975103" cy="274320"/>
          </a:xfrm>
          <a:prstGeom prst="rect">
            <a:avLst/>
          </a:prstGeom>
          <a:noFill/>
        </p:spPr>
        <p:txBody>
          <a:bodyPr wrap="square" lIns="0" rIns="0" tIns="0" bIns="0" anchor="ctr">
            <a:spAutoFit/>
          </a:bodyPr>
          <a:lstStyle/>
          <a:p>
            <a:r>
              <a:rPr sz="700" b="1" i="0">
                <a:solidFill>
                  <a:srgbClr val="1A1A1A"/>
                </a:solidFill>
                <a:latin typeface="Trenda IG Text"/>
              </a:rPr>
              <a:t>Impact analysis</a:t>
            </a:r>
          </a:p>
          <a:p>
            <a:r>
              <a:rPr sz="700" b="0" i="0">
                <a:solidFill>
                  <a:srgbClr val="4D4D4D"/>
                </a:solidFill>
                <a:latin typeface="Trenda IG Text"/>
              </a:rPr>
              <a:t>objects, Flows, sharing and who uses them</a:t>
            </a:r>
          </a:p>
        </p:txBody>
      </p:sp>
      <p:sp>
        <p:nvSpPr>
          <p:cNvPr id="19" name="Shape 18"/>
          <p:cNvSpPr/>
          <p:nvPr/>
        </p:nvSpPr>
        <p:spPr>
          <a:xfrm>
            <a:off x="3255263" y="2788920"/>
            <a:ext cx="486917"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3255263" y="2788920"/>
            <a:ext cx="486917" cy="109727"/>
          </a:xfrm>
          <a:prstGeom prst="rect">
            <a:avLst/>
          </a:prstGeom>
          <a:noFill/>
        </p:spPr>
        <p:txBody>
          <a:bodyPr wrap="square" lIns="0" rIns="0" tIns="0" bIns="0" anchor="ctr">
            <a:spAutoFit/>
          </a:bodyPr>
          <a:lstStyle/>
          <a:p>
            <a:pPr algn="ctr"/>
            <a:r>
              <a:rPr sz="700" b="1" i="0">
                <a:solidFill>
                  <a:srgbClr val="FFFFFE"/>
                </a:solidFill>
                <a:latin typeface="Trenda IG Text"/>
              </a:rPr>
              <a:t>1.5d</a:t>
            </a:r>
          </a:p>
        </p:txBody>
      </p:sp>
      <p:sp>
        <p:nvSpPr>
          <p:cNvPr id="21" name="Shape 20"/>
          <p:cNvSpPr/>
          <p:nvPr/>
        </p:nvSpPr>
        <p:spPr>
          <a:xfrm>
            <a:off x="502920" y="3026663"/>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94360" y="3026663"/>
            <a:ext cx="1975103" cy="274320"/>
          </a:xfrm>
          <a:prstGeom prst="rect">
            <a:avLst/>
          </a:prstGeom>
          <a:noFill/>
        </p:spPr>
        <p:txBody>
          <a:bodyPr wrap="square" lIns="0" rIns="0" tIns="0" bIns="0" anchor="ctr">
            <a:spAutoFit/>
          </a:bodyPr>
          <a:lstStyle/>
          <a:p>
            <a:r>
              <a:rPr sz="700" b="1" i="0">
                <a:solidFill>
                  <a:srgbClr val="1A1A1A"/>
                </a:solidFill>
                <a:latin typeface="Trenda IG Text"/>
              </a:rPr>
              <a:t>Solution design</a:t>
            </a:r>
          </a:p>
          <a:p>
            <a:r>
              <a:rPr sz="700" b="0" i="0">
                <a:solidFill>
                  <a:srgbClr val="4D4D4D"/>
                </a:solidFill>
                <a:latin typeface="Trenda IG Text"/>
              </a:rPr>
              <a:t>data model, sharing, automation; review</a:t>
            </a:r>
          </a:p>
        </p:txBody>
      </p:sp>
      <p:sp>
        <p:nvSpPr>
          <p:cNvPr id="23" name="Shape 22"/>
          <p:cNvSpPr/>
          <p:nvPr/>
        </p:nvSpPr>
        <p:spPr>
          <a:xfrm>
            <a:off x="3742181" y="3108959"/>
            <a:ext cx="324612"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3742181" y="3108959"/>
            <a:ext cx="324612" cy="109727"/>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25" name="Shape 24"/>
          <p:cNvSpPr/>
          <p:nvPr/>
        </p:nvSpPr>
        <p:spPr>
          <a:xfrm>
            <a:off x="502920" y="334670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594360" y="3346703"/>
            <a:ext cx="1975103" cy="274320"/>
          </a:xfrm>
          <a:prstGeom prst="rect">
            <a:avLst/>
          </a:prstGeom>
          <a:noFill/>
        </p:spPr>
        <p:txBody>
          <a:bodyPr wrap="square" lIns="0" rIns="0" tIns="0" bIns="0" anchor="ctr">
            <a:spAutoFit/>
          </a:bodyPr>
          <a:lstStyle/>
          <a:p>
            <a:r>
              <a:rPr sz="700" b="1" i="0">
                <a:solidFill>
                  <a:srgbClr val="1A1A1A"/>
                </a:solidFill>
                <a:latin typeface="Trenda IG Text"/>
              </a:rPr>
              <a:t>Build</a:t>
            </a:r>
          </a:p>
          <a:p>
            <a:r>
              <a:rPr sz="700" b="0" i="0">
                <a:solidFill>
                  <a:srgbClr val="4D4D4D"/>
                </a:solidFill>
                <a:latin typeface="Trenda IG Text"/>
              </a:rPr>
              <a:t>Apex, LWC, Flows, permission sets in DEV</a:t>
            </a:r>
          </a:p>
        </p:txBody>
      </p:sp>
      <p:sp>
        <p:nvSpPr>
          <p:cNvPr id="27" name="Shape 26"/>
          <p:cNvSpPr/>
          <p:nvPr/>
        </p:nvSpPr>
        <p:spPr>
          <a:xfrm>
            <a:off x="4066794" y="3428999"/>
            <a:ext cx="649224"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4066794" y="3428999"/>
            <a:ext cx="649224" cy="109727"/>
          </a:xfrm>
          <a:prstGeom prst="rect">
            <a:avLst/>
          </a:prstGeom>
          <a:noFill/>
        </p:spPr>
        <p:txBody>
          <a:bodyPr wrap="square" lIns="0" rIns="0" tIns="0" bIns="0" anchor="ctr">
            <a:spAutoFit/>
          </a:bodyPr>
          <a:lstStyle/>
          <a:p>
            <a:pPr algn="ctr"/>
            <a:r>
              <a:rPr sz="700" b="1" i="0">
                <a:solidFill>
                  <a:srgbClr val="000000"/>
                </a:solidFill>
                <a:latin typeface="Trenda IG Text"/>
              </a:rPr>
              <a:t>2d</a:t>
            </a:r>
          </a:p>
        </p:txBody>
      </p:sp>
      <p:sp>
        <p:nvSpPr>
          <p:cNvPr id="29" name="Shape 28"/>
          <p:cNvSpPr/>
          <p:nvPr/>
        </p:nvSpPr>
        <p:spPr>
          <a:xfrm>
            <a:off x="502920" y="3666744"/>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594360" y="3666744"/>
            <a:ext cx="1975103" cy="274320"/>
          </a:xfrm>
          <a:prstGeom prst="rect">
            <a:avLst/>
          </a:prstGeom>
          <a:noFill/>
        </p:spPr>
        <p:txBody>
          <a:bodyPr wrap="square" lIns="0" rIns="0" tIns="0" bIns="0" anchor="ctr">
            <a:spAutoFit/>
          </a:bodyPr>
          <a:lstStyle/>
          <a:p>
            <a:r>
              <a:rPr sz="700" b="1" i="0">
                <a:solidFill>
                  <a:srgbClr val="1A1A1A"/>
                </a:solidFill>
                <a:latin typeface="Trenda IG Text"/>
              </a:rPr>
              <a:t>Code review and fixes</a:t>
            </a:r>
          </a:p>
          <a:p>
            <a:r>
              <a:rPr sz="700" b="0" i="0">
                <a:solidFill>
                  <a:srgbClr val="4D4D4D"/>
                </a:solidFill>
                <a:latin typeface="Trenda IG Text"/>
              </a:rPr>
              <a:t>peer review, Code Analyzer, rework</a:t>
            </a:r>
          </a:p>
        </p:txBody>
      </p:sp>
      <p:sp>
        <p:nvSpPr>
          <p:cNvPr id="31" name="Shape 30"/>
          <p:cNvSpPr/>
          <p:nvPr/>
        </p:nvSpPr>
        <p:spPr>
          <a:xfrm>
            <a:off x="4716018" y="3749039"/>
            <a:ext cx="324612"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4716018" y="3749039"/>
            <a:ext cx="324612" cy="109727"/>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33" name="Shape 32"/>
          <p:cNvSpPr/>
          <p:nvPr/>
        </p:nvSpPr>
        <p:spPr>
          <a:xfrm>
            <a:off x="502920" y="398678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594360" y="3986783"/>
            <a:ext cx="1975103" cy="274320"/>
          </a:xfrm>
          <a:prstGeom prst="rect">
            <a:avLst/>
          </a:prstGeom>
          <a:noFill/>
        </p:spPr>
        <p:txBody>
          <a:bodyPr wrap="square" lIns="0" rIns="0" tIns="0" bIns="0" anchor="ctr">
            <a:spAutoFit/>
          </a:bodyPr>
          <a:lstStyle/>
          <a:p>
            <a:r>
              <a:rPr sz="700" b="1" i="0">
                <a:solidFill>
                  <a:srgbClr val="1A1A1A"/>
                </a:solidFill>
                <a:latin typeface="Trenda IG Text"/>
              </a:rPr>
              <a:t>Test preparation</a:t>
            </a:r>
          </a:p>
          <a:p>
            <a:r>
              <a:rPr sz="700" b="0" i="0">
                <a:solidFill>
                  <a:srgbClr val="4D4D4D"/>
                </a:solidFill>
                <a:latin typeface="Trenda IG Text"/>
              </a:rPr>
              <a:t>Zephyr cases and test data by hand</a:t>
            </a:r>
          </a:p>
        </p:txBody>
      </p:sp>
      <p:sp>
        <p:nvSpPr>
          <p:cNvPr id="35" name="Shape 34"/>
          <p:cNvSpPr/>
          <p:nvPr/>
        </p:nvSpPr>
        <p:spPr>
          <a:xfrm>
            <a:off x="5040630" y="4069079"/>
            <a:ext cx="324611"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5040630" y="4069079"/>
            <a:ext cx="324611" cy="109727"/>
          </a:xfrm>
          <a:prstGeom prst="rect">
            <a:avLst/>
          </a:prstGeom>
          <a:noFill/>
        </p:spPr>
        <p:txBody>
          <a:bodyPr wrap="square" lIns="0" rIns="0" tIns="0" bIns="0" anchor="ctr">
            <a:spAutoFit/>
          </a:bodyPr>
          <a:lstStyle/>
          <a:p>
            <a:pPr algn="ctr"/>
            <a:r>
              <a:rPr sz="700" b="1" i="0">
                <a:solidFill>
                  <a:srgbClr val="FFFFFE"/>
                </a:solidFill>
                <a:latin typeface="Trenda IG Text"/>
              </a:rPr>
              <a:t>1d</a:t>
            </a:r>
          </a:p>
        </p:txBody>
      </p:sp>
      <p:sp>
        <p:nvSpPr>
          <p:cNvPr id="37" name="Shape 36"/>
          <p:cNvSpPr/>
          <p:nvPr/>
        </p:nvSpPr>
        <p:spPr>
          <a:xfrm>
            <a:off x="502920" y="4306823"/>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594360" y="4306823"/>
            <a:ext cx="1975103" cy="274320"/>
          </a:xfrm>
          <a:prstGeom prst="rect">
            <a:avLst/>
          </a:prstGeom>
          <a:noFill/>
        </p:spPr>
        <p:txBody>
          <a:bodyPr wrap="square" lIns="0" rIns="0" tIns="0" bIns="0" anchor="ctr">
            <a:spAutoFit/>
          </a:bodyPr>
          <a:lstStyle/>
          <a:p>
            <a:r>
              <a:rPr sz="700" b="1" i="0">
                <a:solidFill>
                  <a:srgbClr val="1A1A1A"/>
                </a:solidFill>
                <a:latin typeface="Trenda IG Text"/>
              </a:rPr>
              <a:t>QA and regression</a:t>
            </a:r>
          </a:p>
          <a:p>
            <a:r>
              <a:rPr sz="700" b="0" i="0">
                <a:solidFill>
                  <a:srgbClr val="4D4D4D"/>
                </a:solidFill>
                <a:latin typeface="Trenda IG Text"/>
              </a:rPr>
              <a:t>run cases, Copado regression, defects</a:t>
            </a:r>
          </a:p>
        </p:txBody>
      </p:sp>
      <p:sp>
        <p:nvSpPr>
          <p:cNvPr id="39" name="Shape 38"/>
          <p:cNvSpPr/>
          <p:nvPr/>
        </p:nvSpPr>
        <p:spPr>
          <a:xfrm>
            <a:off x="5365242" y="4389119"/>
            <a:ext cx="324612"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5365242" y="4389119"/>
            <a:ext cx="324612" cy="109727"/>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41" name="Shape 40"/>
          <p:cNvSpPr/>
          <p:nvPr/>
        </p:nvSpPr>
        <p:spPr>
          <a:xfrm>
            <a:off x="502920" y="4626864"/>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594360" y="4626864"/>
            <a:ext cx="1975103" cy="274320"/>
          </a:xfrm>
          <a:prstGeom prst="rect">
            <a:avLst/>
          </a:prstGeom>
          <a:noFill/>
        </p:spPr>
        <p:txBody>
          <a:bodyPr wrap="square" lIns="0" rIns="0" tIns="0" bIns="0" anchor="ctr">
            <a:spAutoFit/>
          </a:bodyPr>
          <a:lstStyle/>
          <a:p>
            <a:r>
              <a:rPr sz="700" b="1" i="0">
                <a:solidFill>
                  <a:srgbClr val="1A1A1A"/>
                </a:solidFill>
                <a:latin typeface="Trenda IG Text"/>
              </a:rPr>
              <a:t>Promote and UAT sign-off</a:t>
            </a:r>
          </a:p>
          <a:p>
            <a:r>
              <a:rPr sz="700" b="0" i="0">
                <a:solidFill>
                  <a:srgbClr val="4D4D4D"/>
                </a:solidFill>
                <a:latin typeface="Trenda IG Text"/>
              </a:rPr>
              <a:t>Copado to SIT / UAT; business signs</a:t>
            </a:r>
          </a:p>
        </p:txBody>
      </p:sp>
      <p:sp>
        <p:nvSpPr>
          <p:cNvPr id="43" name="Shape 42"/>
          <p:cNvSpPr/>
          <p:nvPr/>
        </p:nvSpPr>
        <p:spPr>
          <a:xfrm>
            <a:off x="5689854" y="4709159"/>
            <a:ext cx="274320"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5689854" y="4709159"/>
            <a:ext cx="274320" cy="109727"/>
          </a:xfrm>
          <a:prstGeom prst="rect">
            <a:avLst/>
          </a:prstGeom>
          <a:noFill/>
        </p:spPr>
        <p:txBody>
          <a:bodyPr wrap="square" lIns="0" rIns="0" tIns="0" bIns="0" anchor="ctr">
            <a:spAutoFit/>
          </a:bodyPr>
          <a:lstStyle/>
          <a:p>
            <a:pPr algn="ctr"/>
            <a:r>
              <a:rPr sz="700" b="1" i="0">
                <a:solidFill>
                  <a:srgbClr val="000000"/>
                </a:solidFill>
                <a:latin typeface="Trenda IG Text"/>
              </a:rPr>
              <a:t>0.5d</a:t>
            </a:r>
          </a:p>
        </p:txBody>
      </p:sp>
      <p:sp>
        <p:nvSpPr>
          <p:cNvPr id="45" name="Text 44"/>
          <p:cNvSpPr txBox="1"/>
          <p:nvPr/>
        </p:nvSpPr>
        <p:spPr>
          <a:xfrm>
            <a:off x="2494026"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1</a:t>
            </a:r>
          </a:p>
        </p:txBody>
      </p:sp>
      <p:sp>
        <p:nvSpPr>
          <p:cNvPr id="46" name="Text 45"/>
          <p:cNvSpPr txBox="1"/>
          <p:nvPr/>
        </p:nvSpPr>
        <p:spPr>
          <a:xfrm>
            <a:off x="3792474"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5</a:t>
            </a:r>
          </a:p>
        </p:txBody>
      </p:sp>
      <p:sp>
        <p:nvSpPr>
          <p:cNvPr id="47" name="Text 46"/>
          <p:cNvSpPr txBox="1"/>
          <p:nvPr/>
        </p:nvSpPr>
        <p:spPr>
          <a:xfrm>
            <a:off x="5415534"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10</a:t>
            </a:r>
          </a:p>
        </p:txBody>
      </p:sp>
      <p:sp>
        <p:nvSpPr>
          <p:cNvPr id="48" name="Differentiator Border 48"/>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hape 49"/>
          <p:cNvSpPr/>
          <p:nvPr/>
        </p:nvSpPr>
        <p:spPr>
          <a:xfrm>
            <a:off x="6181344" y="1188720"/>
            <a:ext cx="5577840" cy="39502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50"/>
          <p:cNvSpPr txBox="1"/>
          <p:nvPr/>
        </p:nvSpPr>
        <p:spPr>
          <a:xfrm>
            <a:off x="6309359" y="1225296"/>
            <a:ext cx="3657600" cy="182880"/>
          </a:xfrm>
          <a:prstGeom prst="rect">
            <a:avLst/>
          </a:prstGeom>
          <a:noFill/>
        </p:spPr>
        <p:txBody>
          <a:bodyPr wrap="square" lIns="0" rIns="0" tIns="0" bIns="0" anchor="ctr">
            <a:spAutoFit/>
          </a:bodyPr>
          <a:lstStyle/>
          <a:p>
            <a:r>
              <a:rPr sz="700" b="1" i="0" spc="120">
                <a:solidFill>
                  <a:srgbClr val="0089A0"/>
                </a:solidFill>
                <a:latin typeface="Trenda IG Text"/>
              </a:rPr>
              <a:t>WITH THE AGENTIC FACTORY · 7 DELIVERY AGENTS</a:t>
            </a:r>
          </a:p>
        </p:txBody>
      </p:sp>
      <p:sp>
        <p:nvSpPr>
          <p:cNvPr id="51" name="Text 51"/>
          <p:cNvSpPr txBox="1"/>
          <p:nvPr/>
        </p:nvSpPr>
        <p:spPr>
          <a:xfrm>
            <a:off x="6309359" y="1408176"/>
            <a:ext cx="2011680" cy="384048"/>
          </a:xfrm>
          <a:prstGeom prst="rect">
            <a:avLst/>
          </a:prstGeom>
          <a:noFill/>
        </p:spPr>
        <p:txBody>
          <a:bodyPr wrap="square" lIns="0" rIns="0" tIns="0" bIns="0" anchor="ctr">
            <a:spAutoFit/>
          </a:bodyPr>
          <a:lstStyle/>
          <a:p>
            <a:r>
              <a:rPr sz="2000" b="0" i="0">
                <a:solidFill>
                  <a:srgbClr val="0089A0"/>
                </a:solidFill>
                <a:latin typeface="Trenda IG Text"/>
              </a:rPr>
              <a:t>~2 days</a:t>
            </a:r>
          </a:p>
        </p:txBody>
      </p:sp>
      <p:sp>
        <p:nvSpPr>
          <p:cNvPr id="52" name="Text 52"/>
          <p:cNvSpPr txBox="1"/>
          <p:nvPr/>
        </p:nvSpPr>
        <p:spPr>
          <a:xfrm>
            <a:off x="8284463" y="1444752"/>
            <a:ext cx="3346704" cy="329184"/>
          </a:xfrm>
          <a:prstGeom prst="rect">
            <a:avLst/>
          </a:prstGeom>
          <a:noFill/>
        </p:spPr>
        <p:txBody>
          <a:bodyPr wrap="square" lIns="0" rIns="0" tIns="0" bIns="0" anchor="ctr">
            <a:spAutoFit/>
          </a:bodyPr>
          <a:lstStyle/>
          <a:p>
            <a:r>
              <a:rPr sz="700" b="0" i="0">
                <a:solidFill>
                  <a:srgbClr val="4D4D4D"/>
                </a:solidFill>
                <a:latin typeface="Trenda IG Text"/>
              </a:rPr>
              <a:t>~26 working hours: day 1 story to UAT, day 2 UAT and production</a:t>
            </a:r>
          </a:p>
        </p:txBody>
      </p:sp>
      <p:sp>
        <p:nvSpPr>
          <p:cNvPr id="53" name="Shape 53"/>
          <p:cNvSpPr/>
          <p:nvPr/>
        </p:nvSpPr>
        <p:spPr>
          <a:xfrm>
            <a:off x="6254496" y="2066543"/>
            <a:ext cx="5431536"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4"/>
          <p:cNvSpPr txBox="1"/>
          <p:nvPr/>
        </p:nvSpPr>
        <p:spPr>
          <a:xfrm>
            <a:off x="6345936" y="2066543"/>
            <a:ext cx="2157984" cy="365760"/>
          </a:xfrm>
          <a:prstGeom prst="rect">
            <a:avLst/>
          </a:prstGeom>
          <a:noFill/>
        </p:spPr>
        <p:txBody>
          <a:bodyPr wrap="square" lIns="0" rIns="0" tIns="0" bIns="0" anchor="ctr">
            <a:spAutoFit/>
          </a:bodyPr>
          <a:lstStyle/>
          <a:p>
            <a:r>
              <a:rPr sz="700" b="1" i="0">
                <a:solidFill>
                  <a:srgbClr val="1A1A1A"/>
                </a:solidFill>
                <a:latin typeface="Trenda IG Text"/>
              </a:rPr>
              <a:t>Requirements Agent</a:t>
            </a:r>
          </a:p>
          <a:p>
            <a:r>
              <a:rPr sz="700" b="0" i="0">
                <a:solidFill>
                  <a:srgbClr val="4D4D4D"/>
                </a:solidFill>
                <a:latin typeface="Trenda IG Text"/>
              </a:rPr>
              <a:t>Jira + Confluence into a brief</a:t>
            </a:r>
          </a:p>
        </p:txBody>
      </p:sp>
      <p:sp>
        <p:nvSpPr>
          <p:cNvPr id="55" name="Shape 55"/>
          <p:cNvSpPr/>
          <p:nvPr/>
        </p:nvSpPr>
        <p:spPr>
          <a:xfrm>
            <a:off x="8540496" y="2148839"/>
            <a:ext cx="352395"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6"/>
          <p:cNvSpPr txBox="1"/>
          <p:nvPr/>
        </p:nvSpPr>
        <p:spPr>
          <a:xfrm>
            <a:off x="8540496" y="2148839"/>
            <a:ext cx="352395" cy="201168"/>
          </a:xfrm>
          <a:prstGeom prst="rect">
            <a:avLst/>
          </a:prstGeom>
          <a:noFill/>
        </p:spPr>
        <p:txBody>
          <a:bodyPr wrap="square" lIns="0" rIns="0" tIns="0" bIns="0" anchor="ctr">
            <a:spAutoFit/>
          </a:bodyPr>
          <a:lstStyle/>
          <a:p>
            <a:pPr algn="ctr"/>
            <a:r>
              <a:rPr sz="700" b="1" i="0">
                <a:solidFill>
                  <a:srgbClr val="000000"/>
                </a:solidFill>
                <a:latin typeface="Trenda IG Text"/>
              </a:rPr>
              <a:t>3h</a:t>
            </a:r>
          </a:p>
        </p:txBody>
      </p:sp>
      <p:sp>
        <p:nvSpPr>
          <p:cNvPr id="57" name="Shape 57"/>
          <p:cNvSpPr/>
          <p:nvPr/>
        </p:nvSpPr>
        <p:spPr>
          <a:xfrm>
            <a:off x="6254496" y="2478024"/>
            <a:ext cx="5431536" cy="365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8"/>
          <p:cNvSpPr txBox="1"/>
          <p:nvPr/>
        </p:nvSpPr>
        <p:spPr>
          <a:xfrm>
            <a:off x="6345936" y="2478024"/>
            <a:ext cx="2157984" cy="365760"/>
          </a:xfrm>
          <a:prstGeom prst="rect">
            <a:avLst/>
          </a:prstGeom>
          <a:noFill/>
        </p:spPr>
        <p:txBody>
          <a:bodyPr wrap="square" lIns="0" rIns="0" tIns="0" bIns="0" anchor="ctr">
            <a:spAutoFit/>
          </a:bodyPr>
          <a:lstStyle/>
          <a:p>
            <a:r>
              <a:rPr sz="700" b="1" i="0">
                <a:solidFill>
                  <a:srgbClr val="1A1A1A"/>
                </a:solidFill>
                <a:latin typeface="Trenda IG Text"/>
              </a:rPr>
              <a:t>Architect Agent</a:t>
            </a:r>
          </a:p>
          <a:p>
            <a:r>
              <a:rPr sz="700" b="0" i="0">
                <a:solidFill>
                  <a:srgbClr val="4D4D4D"/>
                </a:solidFill>
                <a:latin typeface="Trenda IG Text"/>
              </a:rPr>
              <a:t>impact and reuse from the graph; Change Guardian</a:t>
            </a:r>
          </a:p>
        </p:txBody>
      </p:sp>
      <p:sp>
        <p:nvSpPr>
          <p:cNvPr id="59" name="Shape 59"/>
          <p:cNvSpPr/>
          <p:nvPr/>
        </p:nvSpPr>
        <p:spPr>
          <a:xfrm>
            <a:off x="8892891" y="2560320"/>
            <a:ext cx="587326"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0"/>
          <p:cNvSpPr txBox="1"/>
          <p:nvPr/>
        </p:nvSpPr>
        <p:spPr>
          <a:xfrm>
            <a:off x="8892891" y="2560320"/>
            <a:ext cx="587326" cy="201168"/>
          </a:xfrm>
          <a:prstGeom prst="rect">
            <a:avLst/>
          </a:prstGeom>
          <a:noFill/>
        </p:spPr>
        <p:txBody>
          <a:bodyPr wrap="square" lIns="0" rIns="0" tIns="0" bIns="0" anchor="ctr">
            <a:spAutoFit/>
          </a:bodyPr>
          <a:lstStyle/>
          <a:p>
            <a:pPr algn="ctr"/>
            <a:r>
              <a:rPr sz="700" b="1" i="0">
                <a:solidFill>
                  <a:srgbClr val="000000"/>
                </a:solidFill>
                <a:latin typeface="Trenda IG Text"/>
              </a:rPr>
              <a:t>5h</a:t>
            </a:r>
          </a:p>
        </p:txBody>
      </p:sp>
      <p:sp>
        <p:nvSpPr>
          <p:cNvPr id="61" name="Shape 61"/>
          <p:cNvSpPr/>
          <p:nvPr/>
        </p:nvSpPr>
        <p:spPr>
          <a:xfrm>
            <a:off x="6254496" y="2889503"/>
            <a:ext cx="5431536"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2"/>
          <p:cNvSpPr txBox="1"/>
          <p:nvPr/>
        </p:nvSpPr>
        <p:spPr>
          <a:xfrm>
            <a:off x="6345936" y="2889503"/>
            <a:ext cx="2157984" cy="365760"/>
          </a:xfrm>
          <a:prstGeom prst="rect">
            <a:avLst/>
          </a:prstGeom>
          <a:noFill/>
        </p:spPr>
        <p:txBody>
          <a:bodyPr wrap="square" lIns="0" rIns="0" tIns="0" bIns="0" anchor="ctr">
            <a:spAutoFit/>
          </a:bodyPr>
          <a:lstStyle/>
          <a:p>
            <a:r>
              <a:rPr sz="700" b="1" i="0">
                <a:solidFill>
                  <a:srgbClr val="1A1A1A"/>
                </a:solidFill>
                <a:latin typeface="Trenda IG Text"/>
              </a:rPr>
              <a:t>Developer Agent</a:t>
            </a:r>
          </a:p>
          <a:p>
            <a:r>
              <a:rPr sz="700" b="0" i="0">
                <a:solidFill>
                  <a:srgbClr val="4D4D4D"/>
                </a:solidFill>
                <a:latin typeface="Trenda IG Text"/>
              </a:rPr>
              <a:t>Apex, LWC, Flows, sharing in DEV</a:t>
            </a:r>
          </a:p>
        </p:txBody>
      </p:sp>
      <p:sp>
        <p:nvSpPr>
          <p:cNvPr id="63" name="Shape 63"/>
          <p:cNvSpPr/>
          <p:nvPr/>
        </p:nvSpPr>
        <p:spPr>
          <a:xfrm>
            <a:off x="9480217" y="297179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4"/>
          <p:cNvSpPr txBox="1"/>
          <p:nvPr/>
        </p:nvSpPr>
        <p:spPr>
          <a:xfrm>
            <a:off x="9480217" y="2971799"/>
            <a:ext cx="469860" cy="201168"/>
          </a:xfrm>
          <a:prstGeom prst="rect">
            <a:avLst/>
          </a:prstGeom>
          <a:noFill/>
        </p:spPr>
        <p:txBody>
          <a:bodyPr wrap="square" lIns="0" rIns="0" tIns="0" bIns="0" anchor="ctr">
            <a:spAutoFit/>
          </a:bodyPr>
          <a:lstStyle/>
          <a:p>
            <a:pPr algn="ctr"/>
            <a:r>
              <a:rPr sz="700" b="1" i="0">
                <a:solidFill>
                  <a:srgbClr val="000000"/>
                </a:solidFill>
                <a:latin typeface="Trenda IG Text"/>
              </a:rPr>
              <a:t>4h</a:t>
            </a:r>
          </a:p>
        </p:txBody>
      </p:sp>
      <p:sp>
        <p:nvSpPr>
          <p:cNvPr id="65" name="Shape 65"/>
          <p:cNvSpPr/>
          <p:nvPr/>
        </p:nvSpPr>
        <p:spPr>
          <a:xfrm>
            <a:off x="6254496" y="3300984"/>
            <a:ext cx="5431536" cy="365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6"/>
          <p:cNvSpPr txBox="1"/>
          <p:nvPr/>
        </p:nvSpPr>
        <p:spPr>
          <a:xfrm>
            <a:off x="6345936" y="3300984"/>
            <a:ext cx="2157984" cy="365760"/>
          </a:xfrm>
          <a:prstGeom prst="rect">
            <a:avLst/>
          </a:prstGeom>
          <a:noFill/>
        </p:spPr>
        <p:txBody>
          <a:bodyPr wrap="square" lIns="0" rIns="0" tIns="0" bIns="0" anchor="ctr">
            <a:spAutoFit/>
          </a:bodyPr>
          <a:lstStyle/>
          <a:p>
            <a:r>
              <a:rPr sz="700" b="1" i="0">
                <a:solidFill>
                  <a:srgbClr val="1A1A1A"/>
                </a:solidFill>
                <a:latin typeface="Trenda IG Text"/>
              </a:rPr>
              <a:t>Review + Test Agents</a:t>
            </a:r>
          </a:p>
          <a:p>
            <a:r>
              <a:rPr sz="700" b="0" i="0">
                <a:solidFill>
                  <a:srgbClr val="4D4D4D"/>
                </a:solidFill>
                <a:latin typeface="Trenda IG Text"/>
              </a:rPr>
              <a:t>code, security, sharing; Apex tests, Zephyr</a:t>
            </a:r>
          </a:p>
        </p:txBody>
      </p:sp>
      <p:sp>
        <p:nvSpPr>
          <p:cNvPr id="67" name="Shape 67"/>
          <p:cNvSpPr/>
          <p:nvPr/>
        </p:nvSpPr>
        <p:spPr>
          <a:xfrm>
            <a:off x="9950078" y="3383279"/>
            <a:ext cx="46986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8"/>
          <p:cNvSpPr txBox="1"/>
          <p:nvPr/>
        </p:nvSpPr>
        <p:spPr>
          <a:xfrm>
            <a:off x="9950078" y="3383279"/>
            <a:ext cx="469860" cy="201168"/>
          </a:xfrm>
          <a:prstGeom prst="rect">
            <a:avLst/>
          </a:prstGeom>
          <a:noFill/>
        </p:spPr>
        <p:txBody>
          <a:bodyPr wrap="square" lIns="0" rIns="0" tIns="0" bIns="0" anchor="ctr">
            <a:spAutoFit/>
          </a:bodyPr>
          <a:lstStyle/>
          <a:p>
            <a:pPr algn="ctr"/>
            <a:r>
              <a:rPr sz="700" b="1" i="0">
                <a:solidFill>
                  <a:srgbClr val="000000"/>
                </a:solidFill>
                <a:latin typeface="Trenda IG Text"/>
              </a:rPr>
              <a:t>4h</a:t>
            </a:r>
          </a:p>
        </p:txBody>
      </p:sp>
      <p:sp>
        <p:nvSpPr>
          <p:cNvPr id="69" name="Shape 69"/>
          <p:cNvSpPr/>
          <p:nvPr/>
        </p:nvSpPr>
        <p:spPr>
          <a:xfrm>
            <a:off x="6254496" y="3712463"/>
            <a:ext cx="5431536" cy="36576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6345936" y="3712463"/>
            <a:ext cx="2157984" cy="365760"/>
          </a:xfrm>
          <a:prstGeom prst="rect">
            <a:avLst/>
          </a:prstGeom>
          <a:noFill/>
        </p:spPr>
        <p:txBody>
          <a:bodyPr wrap="square" lIns="0" rIns="0" tIns="0" bIns="0" anchor="ctr">
            <a:spAutoFit/>
          </a:bodyPr>
          <a:lstStyle/>
          <a:p>
            <a:r>
              <a:rPr sz="700" b="1" i="0">
                <a:solidFill>
                  <a:srgbClr val="1A1A1A"/>
                </a:solidFill>
                <a:latin typeface="Trenda IG Text"/>
              </a:rPr>
              <a:t>Release Agent</a:t>
            </a:r>
          </a:p>
          <a:p>
            <a:r>
              <a:rPr sz="700" b="0" i="0">
                <a:solidFill>
                  <a:srgbClr val="4D4D4D"/>
                </a:solidFill>
                <a:latin typeface="Trenda IG Text"/>
              </a:rPr>
              <a:t>Copado to SIT, then UAT; CAB pack</a:t>
            </a:r>
          </a:p>
        </p:txBody>
      </p:sp>
      <p:sp>
        <p:nvSpPr>
          <p:cNvPr id="71" name="Shape 71"/>
          <p:cNvSpPr/>
          <p:nvPr/>
        </p:nvSpPr>
        <p:spPr>
          <a:xfrm>
            <a:off x="10419939" y="3794759"/>
            <a:ext cx="274320" cy="201168"/>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2"/>
          <p:cNvSpPr txBox="1"/>
          <p:nvPr/>
        </p:nvSpPr>
        <p:spPr>
          <a:xfrm>
            <a:off x="10419939" y="3794759"/>
            <a:ext cx="274320" cy="201168"/>
          </a:xfrm>
          <a:prstGeom prst="rect">
            <a:avLst/>
          </a:prstGeom>
          <a:noFill/>
        </p:spPr>
        <p:txBody>
          <a:bodyPr wrap="square" lIns="0" rIns="0" tIns="0" bIns="0" anchor="ctr">
            <a:spAutoFit/>
          </a:bodyPr>
          <a:lstStyle/>
          <a:p>
            <a:pPr algn="ctr"/>
            <a:r>
              <a:rPr sz="700" b="1" i="0">
                <a:solidFill>
                  <a:srgbClr val="000000"/>
                </a:solidFill>
                <a:latin typeface="Trenda IG Text"/>
              </a:rPr>
              <a:t>2h</a:t>
            </a:r>
          </a:p>
        </p:txBody>
      </p:sp>
      <p:sp>
        <p:nvSpPr>
          <p:cNvPr id="73" name="Shape 73"/>
          <p:cNvSpPr/>
          <p:nvPr/>
        </p:nvSpPr>
        <p:spPr>
          <a:xfrm>
            <a:off x="6254496" y="4123944"/>
            <a:ext cx="5431536" cy="36576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6345936" y="4123944"/>
            <a:ext cx="2157984" cy="365760"/>
          </a:xfrm>
          <a:prstGeom prst="rect">
            <a:avLst/>
          </a:prstGeom>
          <a:noFill/>
        </p:spPr>
        <p:txBody>
          <a:bodyPr wrap="square" lIns="0" rIns="0" tIns="0" bIns="0" anchor="ctr">
            <a:spAutoFit/>
          </a:bodyPr>
          <a:lstStyle/>
          <a:p>
            <a:r>
              <a:rPr sz="700" b="1" i="0">
                <a:solidFill>
                  <a:srgbClr val="1A1A1A"/>
                </a:solidFill>
                <a:latin typeface="Trenda IG Text"/>
              </a:rPr>
              <a:t>UAT + production · H4 · CAB</a:t>
            </a:r>
          </a:p>
          <a:p>
            <a:r>
              <a:rPr sz="700" b="0" i="0">
                <a:solidFill>
                  <a:srgbClr val="4D4D4D"/>
                </a:solidFill>
                <a:latin typeface="Trenda IG Text"/>
              </a:rPr>
              <a:t>business signs UAT; CAB; the owning team deploys</a:t>
            </a:r>
          </a:p>
        </p:txBody>
      </p:sp>
      <p:sp>
        <p:nvSpPr>
          <p:cNvPr id="75" name="Shape 75"/>
          <p:cNvSpPr/>
          <p:nvPr/>
        </p:nvSpPr>
        <p:spPr>
          <a:xfrm>
            <a:off x="10654870" y="4206240"/>
            <a:ext cx="939721"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10654870" y="4206240"/>
            <a:ext cx="939721" cy="201168"/>
          </a:xfrm>
          <a:prstGeom prst="rect">
            <a:avLst/>
          </a:prstGeom>
          <a:noFill/>
        </p:spPr>
        <p:txBody>
          <a:bodyPr wrap="square" lIns="0" rIns="0" tIns="0" bIns="0" anchor="ctr">
            <a:spAutoFit/>
          </a:bodyPr>
          <a:lstStyle/>
          <a:p>
            <a:pPr algn="ctr"/>
            <a:r>
              <a:rPr sz="700" b="1" i="0">
                <a:solidFill>
                  <a:srgbClr val="000000"/>
                </a:solidFill>
                <a:latin typeface="Trenda IG Text"/>
              </a:rPr>
              <a:t>8h</a:t>
            </a:r>
          </a:p>
        </p:txBody>
      </p:sp>
      <p:sp>
        <p:nvSpPr>
          <p:cNvPr id="77" name="Text 77"/>
          <p:cNvSpPr txBox="1"/>
          <p:nvPr/>
        </p:nvSpPr>
        <p:spPr>
          <a:xfrm>
            <a:off x="9323363"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1</a:t>
            </a:r>
          </a:p>
        </p:txBody>
      </p:sp>
      <p:sp>
        <p:nvSpPr>
          <p:cNvPr id="78" name="Text 78"/>
          <p:cNvSpPr txBox="1"/>
          <p:nvPr/>
        </p:nvSpPr>
        <p:spPr>
          <a:xfrm>
            <a:off x="10850411"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2</a:t>
            </a:r>
          </a:p>
        </p:txBody>
      </p:sp>
      <p:sp>
        <p:nvSpPr>
          <p:cNvPr id="79" name="Shape 79"/>
          <p:cNvSpPr/>
          <p:nvPr/>
        </p:nvSpPr>
        <p:spPr>
          <a:xfrm>
            <a:off x="10707975" y="2011679"/>
            <a:ext cx="9144" cy="247802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hape 80"/>
          <p:cNvSpPr/>
          <p:nvPr/>
        </p:nvSpPr>
        <p:spPr>
          <a:xfrm>
            <a:off x="8938611" y="214883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1"/>
          <p:cNvSpPr txBox="1"/>
          <p:nvPr/>
        </p:nvSpPr>
        <p:spPr>
          <a:xfrm>
            <a:off x="8938611" y="2148839"/>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H1</a:t>
            </a:r>
          </a:p>
        </p:txBody>
      </p:sp>
      <p:sp>
        <p:nvSpPr>
          <p:cNvPr id="82" name="Shape 82"/>
          <p:cNvSpPr/>
          <p:nvPr/>
        </p:nvSpPr>
        <p:spPr>
          <a:xfrm>
            <a:off x="9525937" y="2560320"/>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3"/>
          <p:cNvSpPr txBox="1"/>
          <p:nvPr/>
        </p:nvSpPr>
        <p:spPr>
          <a:xfrm>
            <a:off x="9525937" y="2560320"/>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H2</a:t>
            </a:r>
          </a:p>
        </p:txBody>
      </p:sp>
      <p:sp>
        <p:nvSpPr>
          <p:cNvPr id="84" name="Shape 84"/>
          <p:cNvSpPr/>
          <p:nvPr/>
        </p:nvSpPr>
        <p:spPr>
          <a:xfrm>
            <a:off x="10465659" y="3383279"/>
            <a:ext cx="310896" cy="201168"/>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5"/>
          <p:cNvSpPr txBox="1"/>
          <p:nvPr/>
        </p:nvSpPr>
        <p:spPr>
          <a:xfrm>
            <a:off x="10465659" y="3383279"/>
            <a:ext cx="310896" cy="201168"/>
          </a:xfrm>
          <a:prstGeom prst="rect">
            <a:avLst/>
          </a:prstGeom>
          <a:noFill/>
        </p:spPr>
        <p:txBody>
          <a:bodyPr wrap="square" lIns="0" rIns="0" tIns="0" bIns="0" anchor="ctr">
            <a:spAutoFit/>
          </a:bodyPr>
          <a:lstStyle/>
          <a:p>
            <a:pPr algn="ctr"/>
            <a:r>
              <a:rPr sz="700" b="1" i="0">
                <a:solidFill>
                  <a:srgbClr val="000000"/>
                </a:solidFill>
                <a:latin typeface="Trenda IG Text"/>
              </a:rPr>
              <a:t>H3</a:t>
            </a:r>
          </a:p>
        </p:txBody>
      </p:sp>
      <p:sp>
        <p:nvSpPr>
          <p:cNvPr id="86" name="Text 86"/>
          <p:cNvSpPr txBox="1"/>
          <p:nvPr/>
        </p:nvSpPr>
        <p:spPr>
          <a:xfrm>
            <a:off x="6309359" y="4590288"/>
            <a:ext cx="5321808" cy="384048"/>
          </a:xfrm>
          <a:prstGeom prst="rect">
            <a:avLst/>
          </a:prstGeom>
          <a:noFill/>
        </p:spPr>
        <p:txBody>
          <a:bodyPr wrap="square" lIns="0" rIns="0" tIns="0" bIns="0" anchor="ctr">
            <a:spAutoFit/>
          </a:bodyPr>
          <a:lstStyle/>
          <a:p>
            <a:r>
              <a:rPr sz="700" b="1" i="0">
                <a:solidFill>
                  <a:srgbClr val="8A6D00"/>
                </a:solidFill>
                <a:latin typeface="Trenda IG Text"/>
              </a:rPr>
              <a:t>Day 2 assumes a CAB slot; otherwise the next CAB window. </a:t>
            </a:r>
            <a:r>
              <a:rPr sz="700" b="0" i="0">
                <a:solidFill>
                  <a:srgbClr val="4D4D4D"/>
                </a:solidFill>
                <a:latin typeface="Trenda IG Text"/>
              </a:rPr>
              <a:t>Cyan: agents. Yellow: people approve (H1-H4).</a:t>
            </a:r>
          </a:p>
        </p:txBody>
      </p:sp>
      <p:sp>
        <p:nvSpPr>
          <p:cNvPr id="87" name="Shape 87"/>
          <p:cNvSpPr/>
          <p:nvPr/>
        </p:nvSpPr>
        <p:spPr>
          <a:xfrm>
            <a:off x="41148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8"/>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9"/>
          <p:cNvSpPr txBox="1"/>
          <p:nvPr/>
        </p:nvSpPr>
        <p:spPr>
          <a:xfrm>
            <a:off x="576072" y="5266944"/>
            <a:ext cx="1097280" cy="676656"/>
          </a:xfrm>
          <a:prstGeom prst="rect">
            <a:avLst/>
          </a:prstGeom>
          <a:noFill/>
        </p:spPr>
        <p:txBody>
          <a:bodyPr wrap="square" lIns="0" rIns="0" tIns="0" bIns="0" anchor="ctr">
            <a:spAutoFit/>
          </a:bodyPr>
          <a:lstStyle/>
          <a:p>
            <a:r>
              <a:rPr sz="1800" b="0" i="0">
                <a:solidFill>
                  <a:srgbClr val="0089A0"/>
                </a:solidFill>
                <a:latin typeface="Trenda IG Text"/>
              </a:rPr>
              <a:t>~80%</a:t>
            </a:r>
          </a:p>
        </p:txBody>
      </p:sp>
      <p:sp>
        <p:nvSpPr>
          <p:cNvPr id="90" name="Text 90"/>
          <p:cNvSpPr txBox="1"/>
          <p:nvPr/>
        </p:nvSpPr>
        <p:spPr>
          <a:xfrm>
            <a:off x="1691639"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faster per task</a:t>
            </a:r>
          </a:p>
          <a:p>
            <a:r>
              <a:rPr sz="700" b="0" i="0">
                <a:solidFill>
                  <a:srgbClr val="4D4D4D"/>
                </a:solidFill>
                <a:latin typeface="Trenda IG Text"/>
              </a:rPr>
              <a:t>~10 working days to ~2 days, now to production</a:t>
            </a:r>
          </a:p>
        </p:txBody>
      </p:sp>
      <p:sp>
        <p:nvSpPr>
          <p:cNvPr id="91" name="Shape 91"/>
          <p:cNvSpPr/>
          <p:nvPr/>
        </p:nvSpPr>
        <p:spPr>
          <a:xfrm>
            <a:off x="328041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92"/>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3"/>
          <p:cNvSpPr txBox="1"/>
          <p:nvPr/>
        </p:nvSpPr>
        <p:spPr>
          <a:xfrm>
            <a:off x="3445002" y="5266944"/>
            <a:ext cx="1097280" cy="676656"/>
          </a:xfrm>
          <a:prstGeom prst="rect">
            <a:avLst/>
          </a:prstGeom>
          <a:noFill/>
        </p:spPr>
        <p:txBody>
          <a:bodyPr wrap="square" lIns="0" rIns="0" tIns="0" bIns="0" anchor="ctr">
            <a:spAutoFit/>
          </a:bodyPr>
          <a:lstStyle/>
          <a:p>
            <a:r>
              <a:rPr sz="1800" b="0" i="0">
                <a:solidFill>
                  <a:srgbClr val="FF0069"/>
                </a:solidFill>
                <a:latin typeface="Trenda IG Text"/>
              </a:rPr>
              <a:t>2-4 days</a:t>
            </a:r>
          </a:p>
        </p:txBody>
      </p:sp>
      <p:sp>
        <p:nvSpPr>
          <p:cNvPr id="94" name="Text 94"/>
          <p:cNvSpPr txBox="1"/>
          <p:nvPr/>
        </p:nvSpPr>
        <p:spPr>
          <a:xfrm>
            <a:off x="456057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measured so far</a:t>
            </a:r>
          </a:p>
          <a:p>
            <a:r>
              <a:rPr sz="700" b="0" i="0">
                <a:solidFill>
                  <a:srgbClr val="4D4D4D"/>
                </a:solidFill>
                <a:latin typeface="Trenda IG Text"/>
              </a:rPr>
              <a:t>agent-assisted today; the factory takes it to ~2</a:t>
            </a:r>
          </a:p>
        </p:txBody>
      </p:sp>
      <p:sp>
        <p:nvSpPr>
          <p:cNvPr id="95" name="Shape 95"/>
          <p:cNvSpPr/>
          <p:nvPr/>
        </p:nvSpPr>
        <p:spPr>
          <a:xfrm>
            <a:off x="614934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6"/>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7"/>
          <p:cNvSpPr txBox="1"/>
          <p:nvPr/>
        </p:nvSpPr>
        <p:spPr>
          <a:xfrm>
            <a:off x="6313932" y="5266944"/>
            <a:ext cx="1097280" cy="676656"/>
          </a:xfrm>
          <a:prstGeom prst="rect">
            <a:avLst/>
          </a:prstGeom>
          <a:noFill/>
        </p:spPr>
        <p:txBody>
          <a:bodyPr wrap="square" lIns="0" rIns="0" tIns="0" bIns="0" anchor="ctr">
            <a:spAutoFit/>
          </a:bodyPr>
          <a:lstStyle/>
          <a:p>
            <a:r>
              <a:rPr sz="1800" b="0" i="0">
                <a:solidFill>
                  <a:srgbClr val="1A1A1A"/>
                </a:solidFill>
                <a:latin typeface="Trenda IG Text"/>
              </a:rPr>
              <a:t>7</a:t>
            </a:r>
          </a:p>
        </p:txBody>
      </p:sp>
      <p:sp>
        <p:nvSpPr>
          <p:cNvPr id="98" name="Text 98"/>
          <p:cNvSpPr txBox="1"/>
          <p:nvPr/>
        </p:nvSpPr>
        <p:spPr>
          <a:xfrm>
            <a:off x="742950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delivery agents</a:t>
            </a:r>
          </a:p>
          <a:p>
            <a:r>
              <a:rPr sz="700" b="0" i="0">
                <a:solidFill>
                  <a:srgbClr val="4D4D4D"/>
                </a:solidFill>
                <a:latin typeface="Trenda IG Text"/>
              </a:rPr>
              <a:t>the same for every pod, with Health Cloud skills</a:t>
            </a:r>
          </a:p>
        </p:txBody>
      </p:sp>
      <p:sp>
        <p:nvSpPr>
          <p:cNvPr id="99" name="Shape 99"/>
          <p:cNvSpPr/>
          <p:nvPr/>
        </p:nvSpPr>
        <p:spPr>
          <a:xfrm>
            <a:off x="901827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Shape 100"/>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 101"/>
          <p:cNvSpPr txBox="1"/>
          <p:nvPr/>
        </p:nvSpPr>
        <p:spPr>
          <a:xfrm>
            <a:off x="9182862" y="5266944"/>
            <a:ext cx="1097280" cy="676656"/>
          </a:xfrm>
          <a:prstGeom prst="rect">
            <a:avLst/>
          </a:prstGeom>
          <a:noFill/>
        </p:spPr>
        <p:txBody>
          <a:bodyPr wrap="square" lIns="0" rIns="0" tIns="0" bIns="0" anchor="ctr">
            <a:spAutoFit/>
          </a:bodyPr>
          <a:lstStyle/>
          <a:p>
            <a:r>
              <a:rPr sz="1800" b="0" i="0">
                <a:solidFill>
                  <a:srgbClr val="8A6D00"/>
                </a:solidFill>
                <a:latin typeface="Trenda IG Text"/>
              </a:rPr>
              <a:t>4 gates</a:t>
            </a:r>
          </a:p>
        </p:txBody>
      </p:sp>
      <p:sp>
        <p:nvSpPr>
          <p:cNvPr id="102" name="Text 102"/>
          <p:cNvSpPr txBox="1"/>
          <p:nvPr/>
        </p:nvSpPr>
        <p:spPr>
          <a:xfrm>
            <a:off x="1029843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people still approve</a:t>
            </a:r>
          </a:p>
          <a:p>
            <a:r>
              <a:rPr sz="700" b="0" i="0">
                <a:solidFill>
                  <a:srgbClr val="4D4D4D"/>
                </a:solidFill>
                <a:latin typeface="Trenda IG Text"/>
              </a:rPr>
              <a:t>H1 brief, H2 design, H3 code, H4 UAT; plus CAB</a:t>
            </a:r>
          </a:p>
        </p:txBody>
      </p:sp>
      <p:sp>
        <p:nvSpPr>
          <p:cNvPr id="103" name="Text 103"/>
          <p:cNvSpPr txBox="1"/>
          <p:nvPr/>
        </p:nvSpPr>
        <p:spPr>
          <a:xfrm>
            <a:off x="411480" y="5980176"/>
            <a:ext cx="11365992" cy="182880"/>
          </a:xfrm>
          <a:prstGeom prst="rect">
            <a:avLst/>
          </a:prstGeom>
          <a:noFill/>
        </p:spPr>
        <p:txBody>
          <a:bodyPr wrap="square" lIns="0" rIns="0" tIns="0" bIns="0" anchor="ctr">
            <a:spAutoFit/>
          </a:bodyPr>
          <a:lstStyle/>
          <a:p>
            <a:r>
              <a:rPr sz="700" b="0" i="0">
                <a:solidFill>
                  <a:srgbClr val="6B6B6B"/>
                </a:solidFill>
                <a:latin typeface="Trenda IG Text"/>
              </a:rPr>
              <a:t>Today: a typical Health Cloud task on the Network Services pod, Jira story to UAT sign-off. Measured: agent-assisted delivery at Ascension, 1-2 weeks to 2-4 days. ~2 days to production is the factory target, confirmed against the Phase 0 baseline.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Shape 1"/>
          <p:cNvSpPr/>
          <p:nvPr/>
        </p:nvSpPr>
        <p:spPr>
          <a:xfrm>
            <a:off x="822960" y="1965960"/>
            <a:ext cx="1645920" cy="7315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 2"/>
          <p:cNvSpPr txBox="1"/>
          <p:nvPr/>
        </p:nvSpPr>
        <p:spPr>
          <a:xfrm>
            <a:off x="822960" y="2194560"/>
            <a:ext cx="10515600" cy="329184"/>
          </a:xfrm>
          <a:prstGeom prst="rect">
            <a:avLst/>
          </a:prstGeom>
          <a:noFill/>
        </p:spPr>
        <p:txBody>
          <a:bodyPr wrap="square" lIns="0" rIns="0" tIns="0" bIns="0" anchor="ctr">
            <a:spAutoFit/>
          </a:bodyPr>
          <a:lstStyle/>
          <a:p>
            <a:r>
              <a:rPr sz="1200" b="1" i="0" spc="300">
                <a:solidFill>
                  <a:srgbClr val="0089A0"/>
                </a:solidFill>
                <a:latin typeface="Trenda IG Text"/>
              </a:rPr>
              <a:t>MARKETING CLOUD CAMPAIGNS</a:t>
            </a:r>
          </a:p>
        </p:txBody>
      </p:sp>
      <p:sp>
        <p:nvSpPr>
          <p:cNvPr id="4" name="Text 3"/>
          <p:cNvSpPr txBox="1"/>
          <p:nvPr/>
        </p:nvSpPr>
        <p:spPr>
          <a:xfrm>
            <a:off x="822960" y="2606040"/>
            <a:ext cx="10515600" cy="1371600"/>
          </a:xfrm>
          <a:prstGeom prst="rect">
            <a:avLst/>
          </a:prstGeom>
          <a:noFill/>
        </p:spPr>
        <p:txBody>
          <a:bodyPr wrap="square" lIns="0" rIns="0" tIns="0" bIns="0" anchor="t">
            <a:spAutoFit/>
          </a:bodyPr>
          <a:lstStyle/>
          <a:p>
            <a:pPr>
              <a:lnSpc>
                <a:spcPct val="95000"/>
              </a:lnSpc>
            </a:pPr>
            <a:r>
              <a:rPr sz="4000" b="1" i="0">
                <a:solidFill>
                  <a:srgbClr val="1A1A1A"/>
                </a:solidFill>
                <a:latin typeface="Trenda IG Text"/>
              </a:rPr>
              <a:t>HIPAA-Aligned Agentic Healthcare Campaign Platform</a:t>
            </a:r>
          </a:p>
        </p:txBody>
      </p:sp>
      <p:sp>
        <p:nvSpPr>
          <p:cNvPr id="5" name="Text 4"/>
          <p:cNvSpPr txBox="1"/>
          <p:nvPr/>
        </p:nvSpPr>
        <p:spPr>
          <a:xfrm>
            <a:off x="822960" y="4069080"/>
            <a:ext cx="8686800" cy="731520"/>
          </a:xfrm>
          <a:prstGeom prst="rect">
            <a:avLst/>
          </a:prstGeom>
          <a:noFill/>
        </p:spPr>
        <p:txBody>
          <a:bodyPr wrap="square" lIns="0" rIns="0" tIns="0" bIns="0" anchor="t">
            <a:spAutoFit/>
          </a:bodyPr>
          <a:lstStyle/>
          <a:p>
            <a:r>
              <a:rPr sz="1500" b="0" i="0">
                <a:solidFill>
                  <a:srgbClr val="555555"/>
                </a:solidFill>
                <a:latin typeface="Trenda IG Text"/>
              </a:rPr>
              <a:t>Governed data in Google Cloud, agents on masked data, approved patients released to Marketing Cloud. Proposed target state.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PHI GOVERNANCE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Classification and approval stay. Masking alone is not HIPAA compliance.</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Column masking controls who sees a value. It does not by itself give safe de-identification, permitted use, tenant isolation or complete HIPAA controls, so we add all four.</a:t>
            </a:r>
          </a:p>
        </p:txBody>
      </p:sp>
      <p:sp>
        <p:nvSpPr>
          <p:cNvPr id="5" name="Text 4"/>
          <p:cNvSpPr txBox="1"/>
          <p:nvPr/>
        </p:nvSpPr>
        <p:spPr>
          <a:xfrm>
            <a:off x="411480" y="1188720"/>
            <a:ext cx="4572000" cy="201168"/>
          </a:xfrm>
          <a:prstGeom prst="rect">
            <a:avLst/>
          </a:prstGeom>
          <a:noFill/>
        </p:spPr>
        <p:txBody>
          <a:bodyPr wrap="square" lIns="0" rIns="0" tIns="0" bIns="0" anchor="ctr">
            <a:spAutoFit/>
          </a:bodyPr>
          <a:lstStyle/>
          <a:p>
            <a:r>
              <a:rPr sz="700" b="1" i="0" spc="120">
                <a:solidFill>
                  <a:srgbClr val="1A1A1A"/>
                </a:solidFill>
                <a:latin typeface="Trenda IG Text"/>
              </a:rPr>
              <a:t>TODAY'S FLOW STAYS, WITH STATUS</a:t>
            </a:r>
          </a:p>
        </p:txBody>
      </p:sp>
      <p:sp>
        <p:nvSpPr>
          <p:cNvPr id="6" name="Shape 5"/>
          <p:cNvSpPr/>
          <p:nvPr/>
        </p:nvSpPr>
        <p:spPr>
          <a:xfrm>
            <a:off x="411480" y="1463040"/>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Shape 6"/>
          <p:cNvSpPr/>
          <p:nvPr/>
        </p:nvSpPr>
        <p:spPr>
          <a:xfrm>
            <a:off x="411480" y="1463040"/>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eople.png"/>
          <p:cNvPicPr>
            <a:picLocks noChangeAspect="1"/>
          </p:cNvPicPr>
          <p:nvPr/>
        </p:nvPicPr>
        <p:blipFill>
          <a:blip r:embed="rId2"/>
          <a:stretch>
            <a:fillRect/>
          </a:stretch>
        </p:blipFill>
        <p:spPr>
          <a:xfrm>
            <a:off x="466344" y="1636776"/>
            <a:ext cx="164592" cy="164592"/>
          </a:xfrm>
          <a:prstGeom prst="rect">
            <a:avLst/>
          </a:prstGeom>
        </p:spPr>
      </p:pic>
      <p:sp>
        <p:nvSpPr>
          <p:cNvPr id="9" name="Text 7"/>
          <p:cNvSpPr txBox="1"/>
          <p:nvPr/>
        </p:nvSpPr>
        <p:spPr>
          <a:xfrm>
            <a:off x="685800" y="1463040"/>
            <a:ext cx="804672" cy="512064"/>
          </a:xfrm>
          <a:prstGeom prst="rect">
            <a:avLst/>
          </a:prstGeom>
          <a:noFill/>
        </p:spPr>
        <p:txBody>
          <a:bodyPr wrap="square" lIns="0" rIns="0" tIns="0" bIns="0" anchor="ctr">
            <a:spAutoFit/>
          </a:bodyPr>
          <a:lstStyle/>
          <a:p>
            <a:r>
              <a:rPr sz="700" b="1" i="0">
                <a:solidFill>
                  <a:srgbClr val="1A1A1A"/>
                </a:solidFill>
                <a:latin typeface="Trenda IG Text"/>
              </a:rPr>
              <a:t>REVIEW</a:t>
            </a:r>
          </a:p>
          <a:p>
            <a:r>
              <a:rPr sz="700" b="0" i="0">
                <a:solidFill>
                  <a:srgbClr val="6B6B6B"/>
                </a:solidFill>
                <a:latin typeface="Courier New"/>
              </a:rPr>
              <a:t>Collibra</a:t>
            </a:r>
          </a:p>
        </p:txBody>
      </p:sp>
      <p:sp>
        <p:nvSpPr>
          <p:cNvPr id="10" name="Shape 8"/>
          <p:cNvSpPr/>
          <p:nvPr/>
        </p:nvSpPr>
        <p:spPr>
          <a:xfrm>
            <a:off x="411480" y="2020824"/>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hape 9"/>
          <p:cNvSpPr/>
          <p:nvPr/>
        </p:nvSpPr>
        <p:spPr>
          <a:xfrm>
            <a:off x="411480" y="2020824"/>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googlecloud.png"/>
          <p:cNvPicPr>
            <a:picLocks noChangeAspect="1"/>
          </p:cNvPicPr>
          <p:nvPr/>
        </p:nvPicPr>
        <p:blipFill>
          <a:blip r:embed="rId3"/>
          <a:stretch>
            <a:fillRect/>
          </a:stretch>
        </p:blipFill>
        <p:spPr>
          <a:xfrm>
            <a:off x="466344" y="2194560"/>
            <a:ext cx="164592" cy="164592"/>
          </a:xfrm>
          <a:prstGeom prst="rect">
            <a:avLst/>
          </a:prstGeom>
        </p:spPr>
      </p:pic>
      <p:sp>
        <p:nvSpPr>
          <p:cNvPr id="13" name="Text 10"/>
          <p:cNvSpPr txBox="1"/>
          <p:nvPr/>
        </p:nvSpPr>
        <p:spPr>
          <a:xfrm>
            <a:off x="685800" y="2020824"/>
            <a:ext cx="804672" cy="512064"/>
          </a:xfrm>
          <a:prstGeom prst="rect">
            <a:avLst/>
          </a:prstGeom>
          <a:noFill/>
        </p:spPr>
        <p:txBody>
          <a:bodyPr wrap="square" lIns="0" rIns="0" tIns="0" bIns="0" anchor="ctr">
            <a:spAutoFit/>
          </a:bodyPr>
          <a:lstStyle/>
          <a:p>
            <a:r>
              <a:rPr sz="700" b="1" i="0">
                <a:solidFill>
                  <a:srgbClr val="1A1A1A"/>
                </a:solidFill>
                <a:latin typeface="Trenda IG Text"/>
              </a:rPr>
              <a:t>GOVERNANCE</a:t>
            </a:r>
          </a:p>
          <a:p>
            <a:r>
              <a:rPr sz="700" b="0" i="0">
                <a:solidFill>
                  <a:srgbClr val="6B6B6B"/>
                </a:solidFill>
                <a:latin typeface="Courier New"/>
              </a:rPr>
              <a:t>datarepository</a:t>
            </a:r>
          </a:p>
        </p:txBody>
      </p:sp>
      <p:sp>
        <p:nvSpPr>
          <p:cNvPr id="14" name="Shape 11"/>
          <p:cNvSpPr/>
          <p:nvPr/>
        </p:nvSpPr>
        <p:spPr>
          <a:xfrm>
            <a:off x="411480" y="2578608"/>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 12"/>
          <p:cNvSpPr/>
          <p:nvPr/>
        </p:nvSpPr>
        <p:spPr>
          <a:xfrm>
            <a:off x="411480" y="2578608"/>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ooglecloud.png"/>
          <p:cNvPicPr>
            <a:picLocks noChangeAspect="1"/>
          </p:cNvPicPr>
          <p:nvPr/>
        </p:nvPicPr>
        <p:blipFill>
          <a:blip r:embed="rId3"/>
          <a:stretch>
            <a:fillRect/>
          </a:stretch>
        </p:blipFill>
        <p:spPr>
          <a:xfrm>
            <a:off x="466344" y="2752344"/>
            <a:ext cx="164592" cy="164592"/>
          </a:xfrm>
          <a:prstGeom prst="rect">
            <a:avLst/>
          </a:prstGeom>
        </p:spPr>
      </p:pic>
      <p:sp>
        <p:nvSpPr>
          <p:cNvPr id="17" name="Text 13"/>
          <p:cNvSpPr txBox="1"/>
          <p:nvPr/>
        </p:nvSpPr>
        <p:spPr>
          <a:xfrm>
            <a:off x="685800" y="2578608"/>
            <a:ext cx="804672" cy="512064"/>
          </a:xfrm>
          <a:prstGeom prst="rect">
            <a:avLst/>
          </a:prstGeom>
          <a:noFill/>
        </p:spPr>
        <p:txBody>
          <a:bodyPr wrap="square" lIns="0" rIns="0" tIns="0" bIns="0" anchor="ctr">
            <a:spAutoFit/>
          </a:bodyPr>
          <a:lstStyle/>
          <a:p>
            <a:r>
              <a:rPr sz="700" b="1" i="0">
                <a:solidFill>
                  <a:srgbClr val="1A1A1A"/>
                </a:solidFill>
                <a:latin typeface="Trenda IG Text"/>
              </a:rPr>
              <a:t>COMPUTE</a:t>
            </a:r>
          </a:p>
          <a:p>
            <a:r>
              <a:rPr sz="700" b="0" i="0">
                <a:solidFill>
                  <a:srgbClr val="6B6B6B"/>
                </a:solidFill>
                <a:latin typeface="Courier New"/>
              </a:rPr>
              <a:t>datalake</a:t>
            </a:r>
          </a:p>
        </p:txBody>
      </p:sp>
      <p:sp>
        <p:nvSpPr>
          <p:cNvPr id="18" name="Shape 14"/>
          <p:cNvSpPr/>
          <p:nvPr/>
        </p:nvSpPr>
        <p:spPr>
          <a:xfrm>
            <a:off x="411480" y="3136392"/>
            <a:ext cx="6537959" cy="51206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5"/>
          <p:cNvSpPr/>
          <p:nvPr/>
        </p:nvSpPr>
        <p:spPr>
          <a:xfrm>
            <a:off x="411480" y="3136392"/>
            <a:ext cx="1097280" cy="512064"/>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googlecloud.png"/>
          <p:cNvPicPr>
            <a:picLocks noChangeAspect="1"/>
          </p:cNvPicPr>
          <p:nvPr/>
        </p:nvPicPr>
        <p:blipFill>
          <a:blip r:embed="rId3"/>
          <a:stretch>
            <a:fillRect/>
          </a:stretch>
        </p:blipFill>
        <p:spPr>
          <a:xfrm>
            <a:off x="466344" y="3310128"/>
            <a:ext cx="164592" cy="164592"/>
          </a:xfrm>
          <a:prstGeom prst="rect">
            <a:avLst/>
          </a:prstGeom>
        </p:spPr>
      </p:pic>
      <p:sp>
        <p:nvSpPr>
          <p:cNvPr id="21" name="Text 16"/>
          <p:cNvSpPr txBox="1"/>
          <p:nvPr/>
        </p:nvSpPr>
        <p:spPr>
          <a:xfrm>
            <a:off x="685800" y="3136392"/>
            <a:ext cx="804672" cy="512064"/>
          </a:xfrm>
          <a:prstGeom prst="rect">
            <a:avLst/>
          </a:prstGeom>
          <a:noFill/>
        </p:spPr>
        <p:txBody>
          <a:bodyPr wrap="square" lIns="0" rIns="0" tIns="0" bIns="0" anchor="ctr">
            <a:spAutoFit/>
          </a:bodyPr>
          <a:lstStyle/>
          <a:p>
            <a:r>
              <a:rPr sz="700" b="1" i="0">
                <a:solidFill>
                  <a:srgbClr val="1A1A1A"/>
                </a:solidFill>
                <a:latin typeface="Trenda IG Text"/>
              </a:rPr>
              <a:t>TARGET</a:t>
            </a:r>
          </a:p>
          <a:p>
            <a:r>
              <a:rPr sz="700" b="0" i="0">
                <a:solidFill>
                  <a:srgbClr val="6B6B6B"/>
                </a:solidFill>
                <a:latin typeface="Courier New"/>
              </a:rPr>
              <a:t>dataplace</a:t>
            </a:r>
          </a:p>
        </p:txBody>
      </p:sp>
      <p:cxnSp>
        <p:nvCxnSpPr>
          <p:cNvPr id="22" name="Arrow 17"/>
          <p:cNvCxnSpPr/>
          <p:nvPr/>
        </p:nvCxnSpPr>
        <p:spPr>
          <a:xfrm>
            <a:off x="2386584" y="2276856"/>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3" name="Arrow 18"/>
          <p:cNvCxnSpPr/>
          <p:nvPr/>
        </p:nvCxnSpPr>
        <p:spPr>
          <a:xfrm flipV="1">
            <a:off x="2423160" y="1719072"/>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4" name="Arrow 19"/>
          <p:cNvCxnSpPr/>
          <p:nvPr/>
        </p:nvCxnSpPr>
        <p:spPr>
          <a:xfrm>
            <a:off x="2423160" y="1719072"/>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Arrow 20"/>
          <p:cNvCxnSpPr/>
          <p:nvPr/>
        </p:nvCxnSpPr>
        <p:spPr>
          <a:xfrm>
            <a:off x="3282696" y="1719072"/>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6" name="Arrow 21"/>
          <p:cNvCxnSpPr/>
          <p:nvPr/>
        </p:nvCxnSpPr>
        <p:spPr>
          <a:xfrm>
            <a:off x="3319272" y="1719072"/>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7" name="Arrow 22"/>
          <p:cNvCxnSpPr/>
          <p:nvPr/>
        </p:nvCxnSpPr>
        <p:spPr>
          <a:xfrm>
            <a:off x="3319272" y="2276856"/>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3"/>
          <p:cNvCxnSpPr/>
          <p:nvPr/>
        </p:nvCxnSpPr>
        <p:spPr>
          <a:xfrm>
            <a:off x="4178808" y="2276856"/>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29" name="Arrow 24"/>
          <p:cNvCxnSpPr/>
          <p:nvPr/>
        </p:nvCxnSpPr>
        <p:spPr>
          <a:xfrm>
            <a:off x="4215384" y="2276856"/>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0" name="Arrow 25"/>
          <p:cNvCxnSpPr/>
          <p:nvPr/>
        </p:nvCxnSpPr>
        <p:spPr>
          <a:xfrm>
            <a:off x="4215384" y="2834640"/>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26"/>
          <p:cNvCxnSpPr/>
          <p:nvPr/>
        </p:nvCxnSpPr>
        <p:spPr>
          <a:xfrm>
            <a:off x="4178808" y="2834640"/>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2" name="Arrow 27"/>
          <p:cNvCxnSpPr/>
          <p:nvPr/>
        </p:nvCxnSpPr>
        <p:spPr>
          <a:xfrm>
            <a:off x="4215384" y="2834640"/>
            <a:ext cx="0"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3" name="Arrow 28"/>
          <p:cNvCxnSpPr/>
          <p:nvPr/>
        </p:nvCxnSpPr>
        <p:spPr>
          <a:xfrm>
            <a:off x="4215384" y="2834640"/>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Arrow 29"/>
          <p:cNvCxnSpPr/>
          <p:nvPr/>
        </p:nvCxnSpPr>
        <p:spPr>
          <a:xfrm>
            <a:off x="5074920" y="2834640"/>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5" name="Arrow 30"/>
          <p:cNvCxnSpPr/>
          <p:nvPr/>
        </p:nvCxnSpPr>
        <p:spPr>
          <a:xfrm>
            <a:off x="5111496" y="2834640"/>
            <a:ext cx="0" cy="557784"/>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6" name="Arrow 31"/>
          <p:cNvCxnSpPr/>
          <p:nvPr/>
        </p:nvCxnSpPr>
        <p:spPr>
          <a:xfrm>
            <a:off x="5111496" y="3392424"/>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Arrow 32"/>
          <p:cNvCxnSpPr/>
          <p:nvPr/>
        </p:nvCxnSpPr>
        <p:spPr>
          <a:xfrm>
            <a:off x="5971032" y="3392424"/>
            <a:ext cx="36576" cy="0"/>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8" name="Arrow 33"/>
          <p:cNvCxnSpPr/>
          <p:nvPr/>
        </p:nvCxnSpPr>
        <p:spPr>
          <a:xfrm flipV="1">
            <a:off x="6007608" y="2276856"/>
            <a:ext cx="0" cy="1115568"/>
          </a:xfrm>
          <a:prstGeom prst="line">
            <a:avLst/>
          </a:prstGeom>
          <a:ln w="952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39" name="Arrow 34"/>
          <p:cNvCxnSpPr/>
          <p:nvPr/>
        </p:nvCxnSpPr>
        <p:spPr>
          <a:xfrm>
            <a:off x="6007608" y="2276856"/>
            <a:ext cx="36576" cy="0"/>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Arrow 35"/>
          <p:cNvCxnSpPr/>
          <p:nvPr/>
        </p:nvCxnSpPr>
        <p:spPr>
          <a:xfrm>
            <a:off x="4178808" y="2386584"/>
            <a:ext cx="1380744"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cxnSp>
        <p:nvCxnSpPr>
          <p:cNvPr id="41" name="Arrow 36"/>
          <p:cNvCxnSpPr/>
          <p:nvPr/>
        </p:nvCxnSpPr>
        <p:spPr>
          <a:xfrm>
            <a:off x="5559552" y="2386584"/>
            <a:ext cx="0" cy="219456"/>
          </a:xfrm>
          <a:prstGeom prst="line">
            <a:avLst/>
          </a:prstGeom>
          <a:ln w="9525">
            <a:solidFill>
              <a:srgbClr val="D0D0D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7"/>
          <p:cNvCxnSpPr/>
          <p:nvPr/>
        </p:nvCxnSpPr>
        <p:spPr>
          <a:xfrm>
            <a:off x="5559552" y="3063240"/>
            <a:ext cx="0" cy="100584"/>
          </a:xfrm>
          <a:prstGeom prst="line">
            <a:avLst/>
          </a:prstGeom>
          <a:ln w="9525">
            <a:solidFill>
              <a:srgbClr val="D0D0D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3" name="Shape 38"/>
          <p:cNvSpPr/>
          <p:nvPr/>
        </p:nvSpPr>
        <p:spPr>
          <a:xfrm>
            <a:off x="1563624"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39"/>
          <p:cNvSpPr txBox="1"/>
          <p:nvPr/>
        </p:nvSpPr>
        <p:spPr>
          <a:xfrm>
            <a:off x="1609344"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DLP classification</a:t>
            </a:r>
          </a:p>
        </p:txBody>
      </p:sp>
      <p:sp>
        <p:nvSpPr>
          <p:cNvPr id="45" name="Shape 40"/>
          <p:cNvSpPr/>
          <p:nvPr/>
        </p:nvSpPr>
        <p:spPr>
          <a:xfrm>
            <a:off x="1609344" y="2322576"/>
            <a:ext cx="555955" cy="146304"/>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1"/>
          <p:cNvSpPr txBox="1"/>
          <p:nvPr/>
        </p:nvSpPr>
        <p:spPr>
          <a:xfrm>
            <a:off x="1609344" y="2322576"/>
            <a:ext cx="555955" cy="146304"/>
          </a:xfrm>
          <a:prstGeom prst="rect">
            <a:avLst/>
          </a:prstGeom>
          <a:noFill/>
        </p:spPr>
        <p:txBody>
          <a:bodyPr wrap="square" lIns="0" rIns="0" tIns="0" bIns="0" anchor="ctr">
            <a:spAutoFit/>
          </a:bodyPr>
          <a:lstStyle/>
          <a:p>
            <a:pPr algn="ctr"/>
            <a:r>
              <a:rPr sz="700" b="1" i="0">
                <a:solidFill>
                  <a:srgbClr val="4D4D4D"/>
                </a:solidFill>
                <a:latin typeface="Trenda IG Text"/>
              </a:rPr>
              <a:t>UPSTREAM</a:t>
            </a:r>
          </a:p>
        </p:txBody>
      </p:sp>
      <p:sp>
        <p:nvSpPr>
          <p:cNvPr id="47" name="Shape 42"/>
          <p:cNvSpPr/>
          <p:nvPr/>
        </p:nvSpPr>
        <p:spPr>
          <a:xfrm>
            <a:off x="2459736" y="1490472"/>
            <a:ext cx="822960" cy="457200"/>
          </a:xfrm>
          <a:prstGeom prst="roundRect">
            <a:avLst>
              <a:gd name="adj" fmla="val 10000"/>
            </a:avLst>
          </a:prstGeom>
          <a:solidFill>
            <a:srgbClr val="F5F5F5"/>
          </a:solidFill>
          <a:ln w="762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3"/>
          <p:cNvSpPr txBox="1"/>
          <p:nvPr/>
        </p:nvSpPr>
        <p:spPr>
          <a:xfrm>
            <a:off x="2505456" y="1517904"/>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Steward review</a:t>
            </a:r>
          </a:p>
        </p:txBody>
      </p:sp>
      <p:sp>
        <p:nvSpPr>
          <p:cNvPr id="49" name="Shape 44"/>
          <p:cNvSpPr/>
          <p:nvPr/>
        </p:nvSpPr>
        <p:spPr>
          <a:xfrm>
            <a:off x="2505456" y="1764792"/>
            <a:ext cx="555955" cy="146304"/>
          </a:xfrm>
          <a:prstGeom prst="roundRect">
            <a:avLst>
              <a:gd name="adj" fmla="val 50000"/>
            </a:avLst>
          </a:prstGeom>
          <a:noFill/>
          <a:ln w="6350">
            <a:solidFill>
              <a:srgbClr val="BDBDB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5"/>
          <p:cNvSpPr txBox="1"/>
          <p:nvPr/>
        </p:nvSpPr>
        <p:spPr>
          <a:xfrm>
            <a:off x="2505456" y="1764792"/>
            <a:ext cx="555955" cy="146304"/>
          </a:xfrm>
          <a:prstGeom prst="rect">
            <a:avLst/>
          </a:prstGeom>
          <a:noFill/>
        </p:spPr>
        <p:txBody>
          <a:bodyPr wrap="square" lIns="0" rIns="0" tIns="0" bIns="0" anchor="ctr">
            <a:spAutoFit/>
          </a:bodyPr>
          <a:lstStyle/>
          <a:p>
            <a:pPr algn="ctr"/>
            <a:r>
              <a:rPr sz="700" b="1" i="0">
                <a:solidFill>
                  <a:srgbClr val="4D4D4D"/>
                </a:solidFill>
                <a:latin typeface="Trenda IG Text"/>
              </a:rPr>
              <a:t>UPSTREAM</a:t>
            </a:r>
          </a:p>
        </p:txBody>
      </p:sp>
      <p:sp>
        <p:nvSpPr>
          <p:cNvPr id="51" name="Shape 46"/>
          <p:cNvSpPr/>
          <p:nvPr/>
        </p:nvSpPr>
        <p:spPr>
          <a:xfrm>
            <a:off x="3355848"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7"/>
          <p:cNvSpPr txBox="1"/>
          <p:nvPr/>
        </p:nvSpPr>
        <p:spPr>
          <a:xfrm>
            <a:off x="3401568"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Reviewed classifications</a:t>
            </a:r>
          </a:p>
        </p:txBody>
      </p:sp>
      <p:sp>
        <p:nvSpPr>
          <p:cNvPr id="53" name="Shape 48"/>
          <p:cNvSpPr/>
          <p:nvPr/>
        </p:nvSpPr>
        <p:spPr>
          <a:xfrm>
            <a:off x="3401568" y="2322576"/>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49"/>
          <p:cNvSpPr txBox="1"/>
          <p:nvPr/>
        </p:nvSpPr>
        <p:spPr>
          <a:xfrm>
            <a:off x="3401568" y="2322576"/>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55" name="Shape 50"/>
          <p:cNvSpPr/>
          <p:nvPr/>
        </p:nvSpPr>
        <p:spPr>
          <a:xfrm>
            <a:off x="3355848" y="2606040"/>
            <a:ext cx="822960" cy="457200"/>
          </a:xfrm>
          <a:prstGeom prst="roundRect">
            <a:avLst>
              <a:gd name="adj" fmla="val 10000"/>
            </a:avLst>
          </a:prstGeom>
          <a:solidFill>
            <a:srgbClr val="F5F5F5"/>
          </a:solidFill>
          <a:ln w="7620">
            <a:solidFill>
              <a:srgbClr val="C9A1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1"/>
          <p:cNvSpPr txBox="1"/>
          <p:nvPr/>
        </p:nvSpPr>
        <p:spPr>
          <a:xfrm>
            <a:off x="3401568"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Rollout gate</a:t>
            </a:r>
          </a:p>
        </p:txBody>
      </p:sp>
      <p:sp>
        <p:nvSpPr>
          <p:cNvPr id="57" name="Shape 52"/>
          <p:cNvSpPr/>
          <p:nvPr/>
        </p:nvSpPr>
        <p:spPr>
          <a:xfrm>
            <a:off x="3401568" y="2880360"/>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3"/>
          <p:cNvSpPr txBox="1"/>
          <p:nvPr/>
        </p:nvSpPr>
        <p:spPr>
          <a:xfrm>
            <a:off x="3401568" y="2880360"/>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59" name="Shape 54"/>
          <p:cNvSpPr/>
          <p:nvPr/>
        </p:nvSpPr>
        <p:spPr>
          <a:xfrm>
            <a:off x="4251960" y="2606040"/>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5"/>
          <p:cNvSpPr txBox="1"/>
          <p:nvPr/>
        </p:nvSpPr>
        <p:spPr>
          <a:xfrm>
            <a:off x="4297680"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Data Policy Tagger</a:t>
            </a:r>
          </a:p>
        </p:txBody>
      </p:sp>
      <p:sp>
        <p:nvSpPr>
          <p:cNvPr id="61" name="Shape 56"/>
          <p:cNvSpPr/>
          <p:nvPr/>
        </p:nvSpPr>
        <p:spPr>
          <a:xfrm>
            <a:off x="4297680" y="2880360"/>
            <a:ext cx="709574" cy="146304"/>
          </a:xfrm>
          <a:prstGeom prst="roundRect">
            <a:avLst>
              <a:gd name="adj" fmla="val 50000"/>
            </a:avLst>
          </a:prstGeom>
          <a:no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7"/>
          <p:cNvSpPr txBox="1"/>
          <p:nvPr/>
        </p:nvSpPr>
        <p:spPr>
          <a:xfrm>
            <a:off x="4297680" y="2880360"/>
            <a:ext cx="709574" cy="146304"/>
          </a:xfrm>
          <a:prstGeom prst="rect">
            <a:avLst/>
          </a:prstGeom>
          <a:noFill/>
        </p:spPr>
        <p:txBody>
          <a:bodyPr wrap="square" lIns="0" rIns="0" tIns="0" bIns="0" anchor="ctr">
            <a:spAutoFit/>
          </a:bodyPr>
          <a:lstStyle/>
          <a:p>
            <a:pPr algn="ctr"/>
            <a:r>
              <a:rPr sz="700" b="1" i="0">
                <a:solidFill>
                  <a:srgbClr val="0089A0"/>
                </a:solidFill>
                <a:latin typeface="Trenda IG Text"/>
              </a:rPr>
              <a:t>LIVE IN DEV</a:t>
            </a:r>
          </a:p>
        </p:txBody>
      </p:sp>
      <p:sp>
        <p:nvSpPr>
          <p:cNvPr id="63" name="Shape 58"/>
          <p:cNvSpPr/>
          <p:nvPr/>
        </p:nvSpPr>
        <p:spPr>
          <a:xfrm>
            <a:off x="5148072" y="3163824"/>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59"/>
          <p:cNvSpPr txBox="1"/>
          <p:nvPr/>
        </p:nvSpPr>
        <p:spPr>
          <a:xfrm>
            <a:off x="5193792" y="3191256"/>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Policies applied</a:t>
            </a:r>
          </a:p>
        </p:txBody>
      </p:sp>
      <p:sp>
        <p:nvSpPr>
          <p:cNvPr id="65" name="Shape 60"/>
          <p:cNvSpPr/>
          <p:nvPr/>
        </p:nvSpPr>
        <p:spPr>
          <a:xfrm>
            <a:off x="5193792" y="3438144"/>
            <a:ext cx="709574" cy="146304"/>
          </a:xfrm>
          <a:prstGeom prst="roundRect">
            <a:avLst>
              <a:gd name="adj" fmla="val 50000"/>
            </a:avLst>
          </a:prstGeom>
          <a:no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1"/>
          <p:cNvSpPr txBox="1"/>
          <p:nvPr/>
        </p:nvSpPr>
        <p:spPr>
          <a:xfrm>
            <a:off x="5193792" y="3438144"/>
            <a:ext cx="709574" cy="146304"/>
          </a:xfrm>
          <a:prstGeom prst="rect">
            <a:avLst/>
          </a:prstGeom>
          <a:noFill/>
        </p:spPr>
        <p:txBody>
          <a:bodyPr wrap="square" lIns="0" rIns="0" tIns="0" bIns="0" anchor="ctr">
            <a:spAutoFit/>
          </a:bodyPr>
          <a:lstStyle/>
          <a:p>
            <a:pPr algn="ctr"/>
            <a:r>
              <a:rPr sz="700" b="1" i="0">
                <a:solidFill>
                  <a:srgbClr val="0089A0"/>
                </a:solidFill>
                <a:latin typeface="Trenda IG Text"/>
              </a:rPr>
              <a:t>LIVE IN DEV</a:t>
            </a:r>
          </a:p>
        </p:txBody>
      </p:sp>
      <p:sp>
        <p:nvSpPr>
          <p:cNvPr id="67" name="Shape 62"/>
          <p:cNvSpPr/>
          <p:nvPr/>
        </p:nvSpPr>
        <p:spPr>
          <a:xfrm>
            <a:off x="6044184" y="2048256"/>
            <a:ext cx="822960" cy="457200"/>
          </a:xfrm>
          <a:prstGeom prst="roundRect">
            <a:avLst>
              <a:gd name="adj" fmla="val 10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3"/>
          <p:cNvSpPr txBox="1"/>
          <p:nvPr/>
        </p:nvSpPr>
        <p:spPr>
          <a:xfrm>
            <a:off x="6089904" y="2075688"/>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Bindings + validation</a:t>
            </a:r>
          </a:p>
        </p:txBody>
      </p:sp>
      <p:sp>
        <p:nvSpPr>
          <p:cNvPr id="69" name="Shape 64"/>
          <p:cNvSpPr/>
          <p:nvPr/>
        </p:nvSpPr>
        <p:spPr>
          <a:xfrm>
            <a:off x="6089904" y="2322576"/>
            <a:ext cx="402336"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5"/>
          <p:cNvSpPr txBox="1"/>
          <p:nvPr/>
        </p:nvSpPr>
        <p:spPr>
          <a:xfrm>
            <a:off x="6089904" y="2322576"/>
            <a:ext cx="402336" cy="146304"/>
          </a:xfrm>
          <a:prstGeom prst="rect">
            <a:avLst/>
          </a:prstGeom>
          <a:noFill/>
        </p:spPr>
        <p:txBody>
          <a:bodyPr wrap="square" lIns="0" rIns="0" tIns="0" bIns="0" anchor="ctr">
            <a:spAutoFit/>
          </a:bodyPr>
          <a:lstStyle/>
          <a:p>
            <a:pPr algn="ctr"/>
            <a:r>
              <a:rPr sz="700" b="1" i="0">
                <a:solidFill>
                  <a:srgbClr val="1A1A1A"/>
                </a:solidFill>
                <a:latin typeface="Trenda IG Text"/>
              </a:rPr>
              <a:t>BUILT</a:t>
            </a:r>
          </a:p>
        </p:txBody>
      </p:sp>
      <p:sp>
        <p:nvSpPr>
          <p:cNvPr id="71" name="Shape 66"/>
          <p:cNvSpPr/>
          <p:nvPr/>
        </p:nvSpPr>
        <p:spPr>
          <a:xfrm>
            <a:off x="5148072" y="2606040"/>
            <a:ext cx="822960" cy="457200"/>
          </a:xfrm>
          <a:prstGeom prst="roundRect">
            <a:avLst>
              <a:gd name="adj" fmla="val 10000"/>
            </a:avLst>
          </a:prstGeom>
          <a:solidFill>
            <a:srgbClr val="FFFFFF"/>
          </a:solid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7"/>
          <p:cNvSpPr txBox="1"/>
          <p:nvPr/>
        </p:nvSpPr>
        <p:spPr>
          <a:xfrm>
            <a:off x="5193792" y="2633472"/>
            <a:ext cx="749808" cy="219456"/>
          </a:xfrm>
          <a:prstGeom prst="rect">
            <a:avLst/>
          </a:prstGeom>
          <a:noFill/>
        </p:spPr>
        <p:txBody>
          <a:bodyPr wrap="square" lIns="0" rIns="0" tIns="0" bIns="0" anchor="t">
            <a:spAutoFit/>
          </a:bodyPr>
          <a:lstStyle/>
          <a:p>
            <a:pPr>
              <a:lnSpc>
                <a:spcPct val="85000"/>
              </a:lnSpc>
            </a:pPr>
            <a:r>
              <a:rPr sz="700" b="1" i="0">
                <a:solidFill>
                  <a:srgbClr val="1A1A1A"/>
                </a:solidFill>
                <a:latin typeface="Trenda IG Text"/>
              </a:rPr>
              <a:t>Policy change review</a:t>
            </a:r>
          </a:p>
        </p:txBody>
      </p:sp>
      <p:sp>
        <p:nvSpPr>
          <p:cNvPr id="73" name="Shape 68"/>
          <p:cNvSpPr/>
          <p:nvPr/>
        </p:nvSpPr>
        <p:spPr>
          <a:xfrm>
            <a:off x="5193792" y="2880360"/>
            <a:ext cx="555955" cy="146304"/>
          </a:xfrm>
          <a:prstGeom prst="roundRect">
            <a:avLst>
              <a:gd name="adj" fmla="val 50000"/>
            </a:avLst>
          </a:prstGeom>
          <a:no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9"/>
          <p:cNvSpPr txBox="1"/>
          <p:nvPr/>
        </p:nvSpPr>
        <p:spPr>
          <a:xfrm>
            <a:off x="5193792" y="2880360"/>
            <a:ext cx="555955" cy="146304"/>
          </a:xfrm>
          <a:prstGeom prst="rect">
            <a:avLst/>
          </a:prstGeom>
          <a:noFill/>
        </p:spPr>
        <p:txBody>
          <a:bodyPr wrap="square" lIns="0" rIns="0" tIns="0" bIns="0" anchor="ctr">
            <a:spAutoFit/>
          </a:bodyPr>
          <a:lstStyle/>
          <a:p>
            <a:pPr algn="ctr"/>
            <a:r>
              <a:rPr sz="700" b="1" i="0">
                <a:solidFill>
                  <a:srgbClr val="1A1A1A"/>
                </a:solidFill>
                <a:latin typeface="Trenda IG Text"/>
              </a:rPr>
              <a:t>PROPOSED</a:t>
            </a:r>
          </a:p>
        </p:txBody>
      </p:sp>
      <p:sp>
        <p:nvSpPr>
          <p:cNvPr id="75" name="Text 70"/>
          <p:cNvSpPr txBox="1"/>
          <p:nvPr/>
        </p:nvSpPr>
        <p:spPr>
          <a:xfrm>
            <a:off x="411480" y="3712464"/>
            <a:ext cx="6537959" cy="182880"/>
          </a:xfrm>
          <a:prstGeom prst="rect">
            <a:avLst/>
          </a:prstGeom>
          <a:noFill/>
        </p:spPr>
        <p:txBody>
          <a:bodyPr wrap="square" lIns="0" rIns="0" tIns="0" bIns="0" anchor="ctr">
            <a:spAutoFit/>
          </a:bodyPr>
          <a:lstStyle/>
          <a:p>
            <a:r>
              <a:rPr sz="700" b="1" i="0">
                <a:solidFill>
                  <a:srgbClr val="1A1A1A"/>
                </a:solidFill>
                <a:latin typeface="Trenda IG Text"/>
              </a:rPr>
              <a:t>Fail-closed: </a:t>
            </a:r>
            <a:r>
              <a:rPr sz="700" b="0" i="0">
                <a:solidFill>
                  <a:srgbClr val="4D4D4D"/>
                </a:solidFill>
                <a:latin typeface="Trenda IG Text"/>
              </a:rPr>
              <a:t>rejecting a classification never removes existing protection; relaxing a policy needs independent approval.</a:t>
            </a:r>
          </a:p>
        </p:txBody>
      </p:sp>
      <p:sp>
        <p:nvSpPr>
          <p:cNvPr id="76" name="Shape 71"/>
          <p:cNvSpPr/>
          <p:nvPr/>
        </p:nvSpPr>
        <p:spPr>
          <a:xfrm>
            <a:off x="7114032" y="1188720"/>
            <a:ext cx="4663440" cy="2487168"/>
          </a:xfrm>
          <a:prstGeom prst="roundRect">
            <a:avLst>
              <a:gd name="adj" fmla="val 4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2"/>
          <p:cNvSpPr txBox="1"/>
          <p:nvPr/>
        </p:nvSpPr>
        <p:spPr>
          <a:xfrm>
            <a:off x="7223760" y="1225296"/>
            <a:ext cx="4443984" cy="219456"/>
          </a:xfrm>
          <a:prstGeom prst="rect">
            <a:avLst/>
          </a:prstGeom>
          <a:noFill/>
        </p:spPr>
        <p:txBody>
          <a:bodyPr wrap="square" lIns="0" rIns="0" tIns="0" bIns="0" anchor="ctr">
            <a:spAutoFit/>
          </a:bodyPr>
          <a:lstStyle/>
          <a:p>
            <a:r>
              <a:rPr sz="700" b="1" i="0" spc="120">
                <a:solidFill>
                  <a:srgbClr val="8A6D00"/>
                </a:solidFill>
                <a:latin typeface="Trenda IG Text"/>
              </a:rPr>
              <a:t>MASKED IS NOT DE-IDENTIFIED</a:t>
            </a:r>
          </a:p>
        </p:txBody>
      </p:sp>
      <p:sp>
        <p:nvSpPr>
          <p:cNvPr id="78" name="Text 73"/>
          <p:cNvSpPr txBox="1"/>
          <p:nvPr/>
        </p:nvSpPr>
        <p:spPr>
          <a:xfrm>
            <a:off x="7223760" y="1481328"/>
            <a:ext cx="1097280" cy="164592"/>
          </a:xfrm>
          <a:prstGeom prst="rect">
            <a:avLst/>
          </a:prstGeom>
          <a:noFill/>
        </p:spPr>
        <p:txBody>
          <a:bodyPr wrap="square" lIns="0" rIns="0" tIns="0" bIns="0" anchor="t">
            <a:spAutoFit/>
          </a:bodyPr>
          <a:lstStyle/>
          <a:p>
            <a:r>
              <a:rPr sz="700" b="1" i="0">
                <a:solidFill>
                  <a:srgbClr val="6B6B6B"/>
                </a:solidFill>
                <a:latin typeface="Trenda IG Text"/>
              </a:rPr>
              <a:t/>
            </a:r>
          </a:p>
        </p:txBody>
      </p:sp>
      <p:sp>
        <p:nvSpPr>
          <p:cNvPr id="79" name="Text 74"/>
          <p:cNvSpPr txBox="1"/>
          <p:nvPr/>
        </p:nvSpPr>
        <p:spPr>
          <a:xfrm>
            <a:off x="8348472" y="1481328"/>
            <a:ext cx="1508760" cy="164592"/>
          </a:xfrm>
          <a:prstGeom prst="rect">
            <a:avLst/>
          </a:prstGeom>
          <a:noFill/>
        </p:spPr>
        <p:txBody>
          <a:bodyPr wrap="square" lIns="0" rIns="0" tIns="0" bIns="0" anchor="t">
            <a:spAutoFit/>
          </a:bodyPr>
          <a:lstStyle/>
          <a:p>
            <a:r>
              <a:rPr sz="700" b="1" i="0">
                <a:solidFill>
                  <a:srgbClr val="6B6B6B"/>
                </a:solidFill>
                <a:latin typeface="Trenda IG Text"/>
              </a:rPr>
              <a:t>What it does</a:t>
            </a:r>
          </a:p>
        </p:txBody>
      </p:sp>
      <p:sp>
        <p:nvSpPr>
          <p:cNvPr id="80" name="Text 75"/>
          <p:cNvSpPr txBox="1"/>
          <p:nvPr/>
        </p:nvSpPr>
        <p:spPr>
          <a:xfrm>
            <a:off x="9902952" y="1481328"/>
            <a:ext cx="1810512" cy="164592"/>
          </a:xfrm>
          <a:prstGeom prst="rect">
            <a:avLst/>
          </a:prstGeom>
          <a:noFill/>
        </p:spPr>
        <p:txBody>
          <a:bodyPr wrap="square" lIns="0" rIns="0" tIns="0" bIns="0" anchor="t">
            <a:spAutoFit/>
          </a:bodyPr>
          <a:lstStyle/>
          <a:p>
            <a:r>
              <a:rPr sz="700" b="1" i="0">
                <a:solidFill>
                  <a:srgbClr val="6B6B6B"/>
                </a:solidFill>
                <a:latin typeface="Trenda IG Text"/>
              </a:rPr>
              <a:t>HIPAA implication</a:t>
            </a:r>
          </a:p>
        </p:txBody>
      </p:sp>
      <p:sp>
        <p:nvSpPr>
          <p:cNvPr id="81" name="Shape 76"/>
          <p:cNvSpPr/>
          <p:nvPr/>
        </p:nvSpPr>
        <p:spPr>
          <a:xfrm>
            <a:off x="7187184" y="1682496"/>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77"/>
          <p:cNvSpPr/>
          <p:nvPr/>
        </p:nvSpPr>
        <p:spPr>
          <a:xfrm>
            <a:off x="7187184" y="1682496"/>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78"/>
          <p:cNvSpPr txBox="1"/>
          <p:nvPr/>
        </p:nvSpPr>
        <p:spPr>
          <a:xfrm>
            <a:off x="7278624" y="1682496"/>
            <a:ext cx="1097280" cy="457200"/>
          </a:xfrm>
          <a:prstGeom prst="rect">
            <a:avLst/>
          </a:prstGeom>
          <a:noFill/>
        </p:spPr>
        <p:txBody>
          <a:bodyPr wrap="square" lIns="0" rIns="0" tIns="0" bIns="0" anchor="ctr">
            <a:spAutoFit/>
          </a:bodyPr>
          <a:lstStyle/>
          <a:p>
            <a:r>
              <a:rPr sz="700" b="1" i="0">
                <a:solidFill>
                  <a:srgbClr val="1A1A1A"/>
                </a:solidFill>
                <a:latin typeface="Trenda IG Text"/>
              </a:rPr>
              <a:t>Masking</a:t>
            </a:r>
          </a:p>
        </p:txBody>
      </p:sp>
      <p:sp>
        <p:nvSpPr>
          <p:cNvPr id="84" name="Text 79"/>
          <p:cNvSpPr txBox="1"/>
          <p:nvPr/>
        </p:nvSpPr>
        <p:spPr>
          <a:xfrm>
            <a:off x="8348472" y="1682496"/>
            <a:ext cx="1508760" cy="457200"/>
          </a:xfrm>
          <a:prstGeom prst="rect">
            <a:avLst/>
          </a:prstGeom>
          <a:noFill/>
        </p:spPr>
        <p:txBody>
          <a:bodyPr wrap="square" lIns="0" rIns="0" tIns="0" bIns="0" anchor="ctr">
            <a:spAutoFit/>
          </a:bodyPr>
          <a:lstStyle/>
          <a:p>
            <a:r>
              <a:rPr sz="700" b="0" i="0">
                <a:solidFill>
                  <a:srgbClr val="1A1A1A"/>
                </a:solidFill>
                <a:latin typeface="Trenda IG Text"/>
              </a:rPr>
              <a:t>Hides values from readers without access</a:t>
            </a:r>
          </a:p>
        </p:txBody>
      </p:sp>
      <p:sp>
        <p:nvSpPr>
          <p:cNvPr id="85" name="Text 80"/>
          <p:cNvSpPr txBox="1"/>
          <p:nvPr/>
        </p:nvSpPr>
        <p:spPr>
          <a:xfrm>
            <a:off x="9902952" y="1682496"/>
            <a:ext cx="1810512" cy="457200"/>
          </a:xfrm>
          <a:prstGeom prst="rect">
            <a:avLst/>
          </a:prstGeom>
          <a:noFill/>
        </p:spPr>
        <p:txBody>
          <a:bodyPr wrap="square" lIns="0" rIns="0" tIns="0" bIns="0" anchor="ctr">
            <a:spAutoFit/>
          </a:bodyPr>
          <a:lstStyle/>
          <a:p>
            <a:r>
              <a:rPr sz="700" b="0" i="0">
                <a:solidFill>
                  <a:srgbClr val="4D4D4D"/>
                </a:solidFill>
                <a:latin typeface="Trenda IG Text"/>
              </a:rPr>
              <a:t>An access control; the data underneath is still PHI</a:t>
            </a:r>
          </a:p>
        </p:txBody>
      </p:sp>
      <p:sp>
        <p:nvSpPr>
          <p:cNvPr id="86" name="Shape 81"/>
          <p:cNvSpPr/>
          <p:nvPr/>
        </p:nvSpPr>
        <p:spPr>
          <a:xfrm>
            <a:off x="7187184" y="2194560"/>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2"/>
          <p:cNvSpPr/>
          <p:nvPr/>
        </p:nvSpPr>
        <p:spPr>
          <a:xfrm>
            <a:off x="7187184" y="2194560"/>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3"/>
          <p:cNvSpPr txBox="1"/>
          <p:nvPr/>
        </p:nvSpPr>
        <p:spPr>
          <a:xfrm>
            <a:off x="7278624" y="2194560"/>
            <a:ext cx="1097280" cy="457200"/>
          </a:xfrm>
          <a:prstGeom prst="rect">
            <a:avLst/>
          </a:prstGeom>
          <a:noFill/>
        </p:spPr>
        <p:txBody>
          <a:bodyPr wrap="square" lIns="0" rIns="0" tIns="0" bIns="0" anchor="ctr">
            <a:spAutoFit/>
          </a:bodyPr>
          <a:lstStyle/>
          <a:p>
            <a:r>
              <a:rPr sz="700" b="1" i="0">
                <a:solidFill>
                  <a:srgbClr val="1A1A1A"/>
                </a:solidFill>
                <a:latin typeface="Trenda IG Text"/>
              </a:rPr>
              <a:t>Tokenization</a:t>
            </a:r>
          </a:p>
        </p:txBody>
      </p:sp>
      <p:sp>
        <p:nvSpPr>
          <p:cNvPr id="89" name="Text 84"/>
          <p:cNvSpPr txBox="1"/>
          <p:nvPr/>
        </p:nvSpPr>
        <p:spPr>
          <a:xfrm>
            <a:off x="8348472" y="2194560"/>
            <a:ext cx="1508760" cy="457200"/>
          </a:xfrm>
          <a:prstGeom prst="rect">
            <a:avLst/>
          </a:prstGeom>
          <a:noFill/>
        </p:spPr>
        <p:txBody>
          <a:bodyPr wrap="square" lIns="0" rIns="0" tIns="0" bIns="0" anchor="ctr">
            <a:spAutoFit/>
          </a:bodyPr>
          <a:lstStyle/>
          <a:p>
            <a:r>
              <a:rPr sz="700" b="0" i="0">
                <a:solidFill>
                  <a:srgbClr val="1A1A1A"/>
                </a:solidFill>
                <a:latin typeface="Trenda IG Text"/>
              </a:rPr>
              <a:t>Replaces identifiers; reversible through a separate map</a:t>
            </a:r>
          </a:p>
        </p:txBody>
      </p:sp>
      <p:sp>
        <p:nvSpPr>
          <p:cNvPr id="90" name="Text 85"/>
          <p:cNvSpPr txBox="1"/>
          <p:nvPr/>
        </p:nvSpPr>
        <p:spPr>
          <a:xfrm>
            <a:off x="9902952" y="2194560"/>
            <a:ext cx="1810512" cy="457200"/>
          </a:xfrm>
          <a:prstGeom prst="rect">
            <a:avLst/>
          </a:prstGeom>
          <a:noFill/>
        </p:spPr>
        <p:txBody>
          <a:bodyPr wrap="square" lIns="0" rIns="0" tIns="0" bIns="0" anchor="ctr">
            <a:spAutoFit/>
          </a:bodyPr>
          <a:lstStyle/>
          <a:p>
            <a:r>
              <a:rPr sz="700" b="0" i="0">
                <a:solidFill>
                  <a:srgbClr val="4D4D4D"/>
                </a:solidFill>
                <a:latin typeface="Trenda IG Text"/>
              </a:rPr>
              <a:t>Can still be PHI, depending on linkability and context</a:t>
            </a:r>
          </a:p>
        </p:txBody>
      </p:sp>
      <p:sp>
        <p:nvSpPr>
          <p:cNvPr id="91" name="Shape 86"/>
          <p:cNvSpPr/>
          <p:nvPr/>
        </p:nvSpPr>
        <p:spPr>
          <a:xfrm>
            <a:off x="7187184" y="2706624"/>
            <a:ext cx="4517136" cy="457200"/>
          </a:xfrm>
          <a:prstGeom prst="rect">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7"/>
          <p:cNvSpPr/>
          <p:nvPr/>
        </p:nvSpPr>
        <p:spPr>
          <a:xfrm>
            <a:off x="7187184" y="2706624"/>
            <a:ext cx="45720" cy="45720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8"/>
          <p:cNvSpPr txBox="1"/>
          <p:nvPr/>
        </p:nvSpPr>
        <p:spPr>
          <a:xfrm>
            <a:off x="7278624" y="2706624"/>
            <a:ext cx="1097280" cy="457200"/>
          </a:xfrm>
          <a:prstGeom prst="rect">
            <a:avLst/>
          </a:prstGeom>
          <a:noFill/>
        </p:spPr>
        <p:txBody>
          <a:bodyPr wrap="square" lIns="0" rIns="0" tIns="0" bIns="0" anchor="ctr">
            <a:spAutoFit/>
          </a:bodyPr>
          <a:lstStyle/>
          <a:p>
            <a:r>
              <a:rPr sz="700" b="1" i="0">
                <a:solidFill>
                  <a:srgbClr val="1A1A1A"/>
                </a:solidFill>
                <a:latin typeface="Trenda IG Text"/>
              </a:rPr>
              <a:t>De-identification</a:t>
            </a:r>
          </a:p>
        </p:txBody>
      </p:sp>
      <p:sp>
        <p:nvSpPr>
          <p:cNvPr id="94" name="Text 89"/>
          <p:cNvSpPr txBox="1"/>
          <p:nvPr/>
        </p:nvSpPr>
        <p:spPr>
          <a:xfrm>
            <a:off x="8348472" y="2706624"/>
            <a:ext cx="1508760" cy="457200"/>
          </a:xfrm>
          <a:prstGeom prst="rect">
            <a:avLst/>
          </a:prstGeom>
          <a:noFill/>
        </p:spPr>
        <p:txBody>
          <a:bodyPr wrap="square" lIns="0" rIns="0" tIns="0" bIns="0" anchor="ctr">
            <a:spAutoFit/>
          </a:bodyPr>
          <a:lstStyle/>
          <a:p>
            <a:r>
              <a:rPr sz="700" b="0" i="0">
                <a:solidFill>
                  <a:srgbClr val="1A1A1A"/>
                </a:solidFill>
                <a:latin typeface="Trenda IG Text"/>
              </a:rPr>
              <a:t>Safe Harbor or Expert Determination met</a:t>
            </a:r>
          </a:p>
        </p:txBody>
      </p:sp>
      <p:sp>
        <p:nvSpPr>
          <p:cNvPr id="95" name="Text 90"/>
          <p:cNvSpPr txBox="1"/>
          <p:nvPr/>
        </p:nvSpPr>
        <p:spPr>
          <a:xfrm>
            <a:off x="9902952" y="2706624"/>
            <a:ext cx="1810512" cy="457200"/>
          </a:xfrm>
          <a:prstGeom prst="rect">
            <a:avLst/>
          </a:prstGeom>
          <a:noFill/>
        </p:spPr>
        <p:txBody>
          <a:bodyPr wrap="square" lIns="0" rIns="0" tIns="0" bIns="0" anchor="ctr">
            <a:spAutoFit/>
          </a:bodyPr>
          <a:lstStyle/>
          <a:p>
            <a:r>
              <a:rPr sz="700" b="0" i="0">
                <a:solidFill>
                  <a:srgbClr val="4D4D4D"/>
                </a:solidFill>
                <a:latin typeface="Trenda IG Text"/>
              </a:rPr>
              <a:t>Can leave PHI status when the standard is met</a:t>
            </a:r>
          </a:p>
        </p:txBody>
      </p:sp>
      <p:sp>
        <p:nvSpPr>
          <p:cNvPr id="96" name="Text 91"/>
          <p:cNvSpPr txBox="1"/>
          <p:nvPr/>
        </p:nvSpPr>
        <p:spPr>
          <a:xfrm>
            <a:off x="7223760" y="3218688"/>
            <a:ext cx="4443984" cy="420624"/>
          </a:xfrm>
          <a:prstGeom prst="rect">
            <a:avLst/>
          </a:prstGeom>
          <a:noFill/>
        </p:spPr>
        <p:txBody>
          <a:bodyPr wrap="square" lIns="0" rIns="0" tIns="0" bIns="0" anchor="ctr">
            <a:spAutoFit/>
          </a:bodyPr>
          <a:lstStyle/>
          <a:p>
            <a:r>
              <a:rPr sz="700" b="0" i="0">
                <a:solidFill>
                  <a:srgbClr val="1A1A1A"/>
                </a:solidFill>
                <a:latin typeface="Trenda IG Text"/>
              </a:rPr>
              <a:t>A token, a count, a diagnosis combination or a small cohort can remain sensitive. </a:t>
            </a:r>
            <a:r>
              <a:rPr sz="700" b="1" i="0">
                <a:solidFill>
                  <a:srgbClr val="8A6D00"/>
                </a:solidFill>
                <a:latin typeface="Trenda IG Text"/>
              </a:rPr>
              <a:t>Each is assessed, not assumed safe.</a:t>
            </a:r>
          </a:p>
        </p:txBody>
      </p:sp>
      <p:sp>
        <p:nvSpPr>
          <p:cNvPr id="97" name="Text 92"/>
          <p:cNvSpPr txBox="1"/>
          <p:nvPr/>
        </p:nvSpPr>
        <p:spPr>
          <a:xfrm>
            <a:off x="411480" y="3931920"/>
            <a:ext cx="8229600" cy="201168"/>
          </a:xfrm>
          <a:prstGeom prst="rect">
            <a:avLst/>
          </a:prstGeom>
          <a:noFill/>
        </p:spPr>
        <p:txBody>
          <a:bodyPr wrap="square" lIns="0" rIns="0" tIns="0" bIns="0" anchor="ctr">
            <a:spAutoFit/>
          </a:bodyPr>
          <a:lstStyle/>
          <a:p>
            <a:r>
              <a:rPr sz="700" b="1" i="0" spc="120">
                <a:solidFill>
                  <a:srgbClr val="1A1A1A"/>
                </a:solidFill>
                <a:latin typeface="Trenda IG Text"/>
              </a:rPr>
              <a:t>WHAT MASKING ALONE DOES NOT GIVE US, AND WHAT WE ADD</a:t>
            </a:r>
            <a:r>
              <a:rPr sz="700" b="0" i="0">
                <a:solidFill>
                  <a:srgbClr val="4D4D4D"/>
                </a:solidFill>
                <a:latin typeface="Trenda IG Text"/>
              </a:rPr>
              <a:t>   proposed design</a:t>
            </a:r>
          </a:p>
        </p:txBody>
      </p:sp>
      <p:sp>
        <p:nvSpPr>
          <p:cNvPr id="98" name="Shape 93"/>
          <p:cNvSpPr/>
          <p:nvPr/>
        </p:nvSpPr>
        <p:spPr>
          <a:xfrm>
            <a:off x="39319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98" name="Shape 93"/>
          <p:cNvSpPr/>
          <p:nvPr/>
        </p:nvSpPr>
        <p:spPr>
          <a:xfrm>
            <a:off x="41148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4"/>
          <p:cNvSpPr/>
          <p:nvPr/>
        </p:nvSpPr>
        <p:spPr>
          <a:xfrm>
            <a:off x="41148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5"/>
          <p:cNvSpPr txBox="1"/>
          <p:nvPr/>
        </p:nvSpPr>
        <p:spPr>
          <a:xfrm>
            <a:off x="50292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1  </a:t>
            </a:r>
            <a:r>
              <a:rPr sz="720" b="1" i="0">
                <a:solidFill>
                  <a:srgbClr val="1A1A1A"/>
                </a:solidFill>
                <a:latin typeface="Trenda IG Text"/>
              </a:rPr>
              <a:t>Safe de-identification</a:t>
            </a:r>
          </a:p>
        </p:txBody>
      </p:sp>
      <p:sp>
        <p:nvSpPr>
          <p:cNvPr id="101" name="Shape 96"/>
          <p:cNvSpPr/>
          <p:nvPr/>
        </p:nvSpPr>
        <p:spPr>
          <a:xfrm>
            <a:off x="232943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7"/>
          <p:cNvSpPr txBox="1"/>
          <p:nvPr/>
        </p:nvSpPr>
        <p:spPr>
          <a:xfrm>
            <a:off x="232943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03" name="Text 98"/>
          <p:cNvSpPr txBox="1"/>
          <p:nvPr/>
        </p:nvSpPr>
        <p:spPr>
          <a:xfrm>
            <a:off x="50292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A masked or tokenized row can still identify a patient: dates, rare diagnoses, facility, geography.</a:t>
            </a:r>
          </a:p>
        </p:txBody>
      </p:sp>
      <p:sp>
        <p:nvSpPr>
          <p:cNvPr id="104" name="Shape 99"/>
          <p:cNvSpPr/>
          <p:nvPr/>
        </p:nvSpPr>
        <p:spPr>
          <a:xfrm>
            <a:off x="52120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0"/>
          <p:cNvSpPr txBox="1"/>
          <p:nvPr/>
        </p:nvSpPr>
        <p:spPr>
          <a:xfrm>
            <a:off x="63093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Safe Harbor or Expert Determination assessment for agent-facing data</a:t>
            </a:r>
          </a:p>
        </p:txBody>
      </p:sp>
      <p:sp>
        <p:nvSpPr>
          <p:cNvPr id="106" name="Shape 101"/>
          <p:cNvSpPr/>
          <p:nvPr/>
        </p:nvSpPr>
        <p:spPr>
          <a:xfrm>
            <a:off x="52120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2"/>
          <p:cNvSpPr txBox="1"/>
          <p:nvPr/>
        </p:nvSpPr>
        <p:spPr>
          <a:xfrm>
            <a:off x="63093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Re-identification risk at column, row, combination and aggregate level; small-cell suppression</a:t>
            </a:r>
          </a:p>
        </p:txBody>
      </p:sp>
      <p:sp>
        <p:nvSpPr>
          <p:cNvPr id="108" name="Shape 103"/>
          <p:cNvSpPr/>
          <p:nvPr/>
        </p:nvSpPr>
        <p:spPr>
          <a:xfrm>
            <a:off x="52120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63093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Agents get aggregates by default; tokenized rows only for an authorized task</a:t>
            </a:r>
          </a:p>
        </p:txBody>
      </p:sp>
      <p:sp>
        <p:nvSpPr>
          <p:cNvPr id="110" name="Shape 105"/>
          <p:cNvSpPr/>
          <p:nvPr/>
        </p:nvSpPr>
        <p:spPr>
          <a:xfrm>
            <a:off x="326212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10" name="Shape 105"/>
          <p:cNvSpPr/>
          <p:nvPr/>
        </p:nvSpPr>
        <p:spPr>
          <a:xfrm>
            <a:off x="328041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06"/>
          <p:cNvSpPr/>
          <p:nvPr/>
        </p:nvSpPr>
        <p:spPr>
          <a:xfrm>
            <a:off x="328041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07"/>
          <p:cNvSpPr txBox="1"/>
          <p:nvPr/>
        </p:nvSpPr>
        <p:spPr>
          <a:xfrm>
            <a:off x="337185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2  </a:t>
            </a:r>
            <a:r>
              <a:rPr sz="720" b="1" i="0">
                <a:solidFill>
                  <a:srgbClr val="1A1A1A"/>
                </a:solidFill>
                <a:latin typeface="Trenda IG Text"/>
              </a:rPr>
              <a:t>Permitted use</a:t>
            </a:r>
          </a:p>
        </p:txBody>
      </p:sp>
      <p:sp>
        <p:nvSpPr>
          <p:cNvPr id="113" name="Shape 108"/>
          <p:cNvSpPr/>
          <p:nvPr/>
        </p:nvSpPr>
        <p:spPr>
          <a:xfrm>
            <a:off x="5198364" y="4251960"/>
            <a:ext cx="749808" cy="146304"/>
          </a:xfrm>
          <a:prstGeom prst="roundRect">
            <a:avLst>
              <a:gd name="adj" fmla="val 50000"/>
            </a:avLst>
          </a:prstGeom>
          <a:noFill/>
          <a:ln w="6350">
            <a:solidFill>
              <a:srgbClr val="FFFFF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9"/>
          <p:cNvSpPr txBox="1"/>
          <p:nvPr/>
        </p:nvSpPr>
        <p:spPr>
          <a:xfrm>
            <a:off x="519836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15" name="Text 110"/>
          <p:cNvSpPr txBox="1"/>
          <p:nvPr/>
        </p:nvSpPr>
        <p:spPr>
          <a:xfrm>
            <a:off x="337185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Having the data is not permission to use it for a campaign.</a:t>
            </a:r>
          </a:p>
        </p:txBody>
      </p:sp>
      <p:sp>
        <p:nvSpPr>
          <p:cNvPr id="116" name="Shape 111"/>
          <p:cNvSpPr/>
          <p:nvPr/>
        </p:nvSpPr>
        <p:spPr>
          <a:xfrm>
            <a:off x="339013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 112"/>
          <p:cNvSpPr txBox="1"/>
          <p:nvPr/>
        </p:nvSpPr>
        <p:spPr>
          <a:xfrm>
            <a:off x="349986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Privacy-approved purpose and authorization rules per campaign, as policy-as-code</a:t>
            </a:r>
          </a:p>
        </p:txBody>
      </p:sp>
      <p:sp>
        <p:nvSpPr>
          <p:cNvPr id="118" name="Shape 113"/>
          <p:cNvSpPr/>
          <p:nvPr/>
        </p:nvSpPr>
        <p:spPr>
          <a:xfrm>
            <a:off x="339013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4"/>
          <p:cNvSpPr txBox="1"/>
          <p:nvPr/>
        </p:nvSpPr>
        <p:spPr>
          <a:xfrm>
            <a:off x="349986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Consent and communication restrictions checked at release and again at send</a:t>
            </a:r>
          </a:p>
        </p:txBody>
      </p:sp>
      <p:sp>
        <p:nvSpPr>
          <p:cNvPr id="120" name="Shape 115"/>
          <p:cNvSpPr/>
          <p:nvPr/>
        </p:nvSpPr>
        <p:spPr>
          <a:xfrm>
            <a:off x="339013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6"/>
          <p:cNvSpPr txBox="1"/>
          <p:nvPr/>
        </p:nvSpPr>
        <p:spPr>
          <a:xfrm>
            <a:off x="349986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Campaign Compliance Passport records purpose, rule version and approvals</a:t>
            </a:r>
          </a:p>
        </p:txBody>
      </p:sp>
      <p:sp>
        <p:nvSpPr>
          <p:cNvPr id="122" name="Shape 117"/>
          <p:cNvSpPr/>
          <p:nvPr/>
        </p:nvSpPr>
        <p:spPr>
          <a:xfrm>
            <a:off x="613105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22" name="Shape 117"/>
          <p:cNvSpPr/>
          <p:nvPr/>
        </p:nvSpPr>
        <p:spPr>
          <a:xfrm>
            <a:off x="614934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8"/>
          <p:cNvSpPr/>
          <p:nvPr/>
        </p:nvSpPr>
        <p:spPr>
          <a:xfrm>
            <a:off x="614934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9"/>
          <p:cNvSpPr txBox="1"/>
          <p:nvPr/>
        </p:nvSpPr>
        <p:spPr>
          <a:xfrm>
            <a:off x="624078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3  </a:t>
            </a:r>
            <a:r>
              <a:rPr sz="720" b="1" i="0">
                <a:solidFill>
                  <a:srgbClr val="1A1A1A"/>
                </a:solidFill>
                <a:latin typeface="Trenda IG Text"/>
              </a:rPr>
              <a:t>Tenant isolation</a:t>
            </a:r>
          </a:p>
        </p:txBody>
      </p:sp>
      <p:sp>
        <p:nvSpPr>
          <p:cNvPr id="125" name="Shape 120"/>
          <p:cNvSpPr/>
          <p:nvPr/>
        </p:nvSpPr>
        <p:spPr>
          <a:xfrm>
            <a:off x="806729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Text 121"/>
          <p:cNvSpPr txBox="1"/>
          <p:nvPr/>
        </p:nvSpPr>
        <p:spPr>
          <a:xfrm>
            <a:off x="806729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27" name="Text 122"/>
          <p:cNvSpPr txBox="1"/>
          <p:nvPr/>
        </p:nvSpPr>
        <p:spPr>
          <a:xfrm>
            <a:off x="624078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A product for many healthcare organizations cannot mix their PHI or policies.</a:t>
            </a:r>
          </a:p>
        </p:txBody>
      </p:sp>
      <p:sp>
        <p:nvSpPr>
          <p:cNvPr id="128" name="Shape 123"/>
          <p:cNvSpPr/>
          <p:nvPr/>
        </p:nvSpPr>
        <p:spPr>
          <a:xfrm>
            <a:off x="625906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 124"/>
          <p:cNvSpPr txBox="1"/>
          <p:nvPr/>
        </p:nvSpPr>
        <p:spPr>
          <a:xfrm>
            <a:off x="636879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Per-customer projects, datasets, CMEK keys and service identities</a:t>
            </a:r>
          </a:p>
        </p:txBody>
      </p:sp>
      <p:sp>
        <p:nvSpPr>
          <p:cNvPr id="130" name="Shape 125"/>
          <p:cNvSpPr/>
          <p:nvPr/>
        </p:nvSpPr>
        <p:spPr>
          <a:xfrm>
            <a:off x="625906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 126"/>
          <p:cNvSpPr txBox="1"/>
          <p:nvPr/>
        </p:nvSpPr>
        <p:spPr>
          <a:xfrm>
            <a:off x="636879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Tenant-specific policies, retention and audit boundaries</a:t>
            </a:r>
          </a:p>
        </p:txBody>
      </p:sp>
      <p:sp>
        <p:nvSpPr>
          <p:cNvPr id="132" name="Shape 127"/>
          <p:cNvSpPr/>
          <p:nvPr/>
        </p:nvSpPr>
        <p:spPr>
          <a:xfrm>
            <a:off x="625906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8"/>
          <p:cNvSpPr txBox="1"/>
          <p:nvPr/>
        </p:nvSpPr>
        <p:spPr>
          <a:xfrm>
            <a:off x="636879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No cross-tenant joins; proven with negative-access tests</a:t>
            </a:r>
          </a:p>
        </p:txBody>
      </p:sp>
      <p:sp>
        <p:nvSpPr>
          <p:cNvPr id="134" name="Shape 129"/>
          <p:cNvSpPr/>
          <p:nvPr/>
        </p:nvSpPr>
        <p:spPr>
          <a:xfrm>
            <a:off x="8999982" y="4169664"/>
            <a:ext cx="2795778" cy="1572768"/>
          </a:xfrm>
          <a:prstGeom prst="roundRect">
            <a:avLst>
              <a:gd name="adj" fmla="val 5000"/>
            </a:avLst>
          </a:prstGeom>
          <a:gradFill rotWithShape="1">
            <a:gsLst>
              <a:gs pos="0">
                <a:srgbClr val="FFD700"/>
              </a:gs>
              <a:gs pos="50000">
                <a:srgbClr val="FF0069"/>
              </a:gs>
              <a:gs pos="100000">
                <a:srgbClr val="00D6F2"/>
              </a:gs>
            </a:gsLst>
            <a:lin ang="0" scaled="0"/>
          </a:gradFill>
          <a:effectLst/>
          <a:ln>
            <a:noFill/>
          </a:ln>
        </p:spPr>
        <p:style>
          <a:lnRef idx="1">
            <a:schemeClr val="accent1"/>
          </a:lnRef>
          <a:fillRef idx="3">
            <a:schemeClr val="accent1"/>
          </a:fillRef>
          <a:effectRef idx="2">
            <a:schemeClr val="accent1"/>
          </a:effectRef>
          <a:fontRef idx="minor">
            <a:schemeClr val="lt1"/>
          </a:fontRef>
        </p:style>
      </p:sp>
      <p:sp>
        <p:nvSpPr>
          <p:cNvPr id="134" name="Shape 129"/>
          <p:cNvSpPr/>
          <p:nvPr/>
        </p:nvSpPr>
        <p:spPr>
          <a:xfrm>
            <a:off x="9018270" y="4187952"/>
            <a:ext cx="2759202" cy="1536192"/>
          </a:xfrm>
          <a:prstGeom prst="roundRect">
            <a:avLst>
              <a:gd name="adj" fmla="val 5000"/>
            </a:avLst>
          </a:prstGeom>
          <a:solidFill>
            <a:srgbClr val="F5F5F5"/>
          </a:solidFill>
          <a:effectLst/>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Shape 130"/>
          <p:cNvSpPr/>
          <p:nvPr/>
        </p:nvSpPr>
        <p:spPr>
          <a:xfrm>
            <a:off x="9018270" y="4187952"/>
            <a:ext cx="2759202" cy="274320"/>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1"/>
          <p:cNvSpPr txBox="1"/>
          <p:nvPr/>
        </p:nvSpPr>
        <p:spPr>
          <a:xfrm>
            <a:off x="9109710" y="4187952"/>
            <a:ext cx="1936242" cy="274320"/>
          </a:xfrm>
          <a:prstGeom prst="rect">
            <a:avLst/>
          </a:prstGeom>
          <a:noFill/>
        </p:spPr>
        <p:txBody>
          <a:bodyPr wrap="square" lIns="0" rIns="0" tIns="0" bIns="0" anchor="ctr">
            <a:spAutoFit/>
          </a:bodyPr>
          <a:lstStyle/>
          <a:p>
            <a:r>
              <a:rPr sz="720" b="1" i="0">
                <a:solidFill>
                  <a:srgbClr val="1A1A1A"/>
                </a:solidFill>
                <a:latin typeface="Trenda IG Text"/>
              </a:rPr>
              <a:t>4  </a:t>
            </a:r>
            <a:r>
              <a:rPr sz="720" b="1" i="0">
                <a:solidFill>
                  <a:srgbClr val="1A1A1A"/>
                </a:solidFill>
                <a:latin typeface="Trenda IG Text"/>
              </a:rPr>
              <a:t>Complete HIPAA controls</a:t>
            </a:r>
          </a:p>
        </p:txBody>
      </p:sp>
      <p:sp>
        <p:nvSpPr>
          <p:cNvPr id="137" name="Shape 132"/>
          <p:cNvSpPr/>
          <p:nvPr/>
        </p:nvSpPr>
        <p:spPr>
          <a:xfrm>
            <a:off x="10936224" y="4251960"/>
            <a:ext cx="749808" cy="146304"/>
          </a:xfrm>
          <a:prstGeom prst="roundRect">
            <a:avLst>
              <a:gd name="adj" fmla="val 50000"/>
            </a:avLst>
          </a:prstGeom>
          <a:noFill/>
          <a:ln w="6350">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Text 133"/>
          <p:cNvSpPr txBox="1"/>
          <p:nvPr/>
        </p:nvSpPr>
        <p:spPr>
          <a:xfrm>
            <a:off x="10936224" y="4251960"/>
            <a:ext cx="749808" cy="146304"/>
          </a:xfrm>
          <a:prstGeom prst="rect">
            <a:avLst/>
          </a:prstGeom>
          <a:noFill/>
        </p:spPr>
        <p:txBody>
          <a:bodyPr wrap="square" lIns="0" rIns="0" tIns="0" bIns="0" anchor="ctr">
            <a:spAutoFit/>
          </a:bodyPr>
          <a:lstStyle/>
          <a:p>
            <a:pPr algn="ctr"/>
            <a:r>
              <a:rPr sz="700" b="1" i="0" spc="80">
                <a:solidFill>
                  <a:srgbClr val="1A1A1A"/>
                </a:solidFill>
                <a:latin typeface="Trenda IG Text"/>
              </a:rPr>
              <a:t>PROPOSED</a:t>
            </a:r>
          </a:p>
        </p:txBody>
      </p:sp>
      <p:sp>
        <p:nvSpPr>
          <p:cNvPr id="139" name="Text 134"/>
          <p:cNvSpPr txBox="1"/>
          <p:nvPr/>
        </p:nvSpPr>
        <p:spPr>
          <a:xfrm>
            <a:off x="9109710" y="4498848"/>
            <a:ext cx="2576322" cy="310896"/>
          </a:xfrm>
          <a:prstGeom prst="rect">
            <a:avLst/>
          </a:prstGeom>
          <a:noFill/>
        </p:spPr>
        <p:txBody>
          <a:bodyPr wrap="square" lIns="0" rIns="0" tIns="0" bIns="0" anchor="t">
            <a:spAutoFit/>
          </a:bodyPr>
          <a:lstStyle/>
          <a:p>
            <a:r>
              <a:rPr sz="700" b="1" i="0">
                <a:solidFill>
                  <a:srgbClr val="1A1A1A"/>
                </a:solidFill>
                <a:latin typeface="Trenda IG Text"/>
              </a:rPr>
              <a:t>Gap: </a:t>
            </a:r>
            <a:r>
              <a:rPr sz="700" b="0" i="0">
                <a:solidFill>
                  <a:srgbClr val="4D4D4D"/>
                </a:solidFill>
                <a:latin typeface="Trenda IG Text"/>
              </a:rPr>
              <a:t>Technical controls and audit evidence are not compliance on their own.</a:t>
            </a:r>
          </a:p>
        </p:txBody>
      </p:sp>
      <p:sp>
        <p:nvSpPr>
          <p:cNvPr id="140" name="Shape 135"/>
          <p:cNvSpPr/>
          <p:nvPr/>
        </p:nvSpPr>
        <p:spPr>
          <a:xfrm>
            <a:off x="9127998" y="4910328"/>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 136"/>
          <p:cNvSpPr txBox="1"/>
          <p:nvPr/>
        </p:nvSpPr>
        <p:spPr>
          <a:xfrm>
            <a:off x="9237726" y="4846320"/>
            <a:ext cx="2466594" cy="274320"/>
          </a:xfrm>
          <a:prstGeom prst="rect">
            <a:avLst/>
          </a:prstGeom>
          <a:noFill/>
        </p:spPr>
        <p:txBody>
          <a:bodyPr wrap="square" lIns="0" rIns="0" tIns="0" bIns="0" anchor="t">
            <a:spAutoFit/>
          </a:bodyPr>
          <a:lstStyle/>
          <a:p>
            <a:r>
              <a:rPr sz="700" b="0" i="0">
                <a:solidFill>
                  <a:srgbClr val="1A1A1A"/>
                </a:solidFill>
                <a:latin typeface="Trenda IG Text"/>
              </a:rPr>
              <a:t>Compliance control register: evidence mapped to Privacy, Security and Breach Notification safeguards</a:t>
            </a:r>
          </a:p>
        </p:txBody>
      </p:sp>
      <p:sp>
        <p:nvSpPr>
          <p:cNvPr id="142" name="Shape 137"/>
          <p:cNvSpPr/>
          <p:nvPr/>
        </p:nvSpPr>
        <p:spPr>
          <a:xfrm>
            <a:off x="9127998" y="5193792"/>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 138"/>
          <p:cNvSpPr txBox="1"/>
          <p:nvPr/>
        </p:nvSpPr>
        <p:spPr>
          <a:xfrm>
            <a:off x="9237726" y="5129783"/>
            <a:ext cx="2466594" cy="274320"/>
          </a:xfrm>
          <a:prstGeom prst="rect">
            <a:avLst/>
          </a:prstGeom>
          <a:noFill/>
        </p:spPr>
        <p:txBody>
          <a:bodyPr wrap="square" lIns="0" rIns="0" tIns="0" bIns="0" anchor="t">
            <a:spAutoFit/>
          </a:bodyPr>
          <a:lstStyle/>
          <a:p>
            <a:r>
              <a:rPr sz="700" b="0" i="0">
                <a:solidFill>
                  <a:srgbClr val="1A1A1A"/>
                </a:solidFill>
                <a:latin typeface="Trenda IG Text"/>
              </a:rPr>
              <a:t>BAAs, risk analysis, workforce training, access reviews</a:t>
            </a:r>
          </a:p>
        </p:txBody>
      </p:sp>
      <p:sp>
        <p:nvSpPr>
          <p:cNvPr id="144" name="Shape 139"/>
          <p:cNvSpPr/>
          <p:nvPr/>
        </p:nvSpPr>
        <p:spPr>
          <a:xfrm>
            <a:off x="9127998" y="5477256"/>
            <a:ext cx="54864" cy="54864"/>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 140"/>
          <p:cNvSpPr txBox="1"/>
          <p:nvPr/>
        </p:nvSpPr>
        <p:spPr>
          <a:xfrm>
            <a:off x="9237726" y="5413248"/>
            <a:ext cx="2466594" cy="274320"/>
          </a:xfrm>
          <a:prstGeom prst="rect">
            <a:avLst/>
          </a:prstGeom>
          <a:noFill/>
        </p:spPr>
        <p:txBody>
          <a:bodyPr wrap="square" lIns="0" rIns="0" tIns="0" bIns="0" anchor="t">
            <a:spAutoFit/>
          </a:bodyPr>
          <a:lstStyle/>
          <a:p>
            <a:r>
              <a:rPr sz="700" b="0" i="0">
                <a:solidFill>
                  <a:srgbClr val="1A1A1A"/>
                </a:solidFill>
                <a:latin typeface="Trenda IG Text"/>
              </a:rPr>
              <a:t>Incident and breach handling; independent approval to weaken any policy</a:t>
            </a:r>
          </a:p>
        </p:txBody>
      </p:sp>
      <p:sp>
        <p:nvSpPr>
          <p:cNvPr id="146" name="Shape 141"/>
          <p:cNvSpPr/>
          <p:nvPr/>
        </p:nvSpPr>
        <p:spPr>
          <a:xfrm>
            <a:off x="411480" y="5806440"/>
            <a:ext cx="11365992" cy="420624"/>
          </a:xfrm>
          <a:prstGeom prst="roundRect">
            <a:avLst>
              <a:gd name="adj" fmla="val 20000"/>
            </a:avLst>
          </a:prstGeom>
          <a:solidFill>
            <a:srgbClr val="F5F5F5"/>
          </a:solidFill>
          <a:ln w="6858">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 142"/>
          <p:cNvSpPr txBox="1"/>
          <p:nvPr/>
        </p:nvSpPr>
        <p:spPr>
          <a:xfrm>
            <a:off x="548640" y="5806440"/>
            <a:ext cx="11064240" cy="420624"/>
          </a:xfrm>
          <a:prstGeom prst="rect">
            <a:avLst/>
          </a:prstGeom>
          <a:noFill/>
        </p:spPr>
        <p:txBody>
          <a:bodyPr wrap="square" lIns="0" rIns="0" tIns="0" bIns="0" anchor="ctr">
            <a:spAutoFit/>
          </a:bodyPr>
          <a:lstStyle/>
          <a:p>
            <a:r>
              <a:rPr sz="700" b="1" i="0" spc="100">
                <a:solidFill>
                  <a:srgbClr val="1A1A1A"/>
                </a:solidFill>
                <a:latin typeface="Trenda IG Text"/>
              </a:rPr>
              <a:t>HOW WE PROVE IT  </a:t>
            </a:r>
            <a:r>
              <a:rPr sz="700" b="0" i="0">
                <a:solidFill>
                  <a:srgbClr val="1A1A1A"/>
                </a:solidFill>
                <a:latin typeface="Trenda IG Text"/>
              </a:rPr>
              <a:t>Discovery inventory across the approved scope · row-level security and authorized views with masking · raw access isolated from the LLM runtime · negative-access tests · drift detection · periodic access review. </a:t>
            </a:r>
            <a:r>
              <a:rPr sz="700" b="1" i="0">
                <a:solidFill>
                  <a:srgbClr val="1A1A1A"/>
                </a:solidFill>
                <a:latin typeface="Trenda IG Text"/>
              </a:rPr>
              <a:t>PROPOSED items are design, not production evidence.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END TO END (FOR REVIEW)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From governed data to a tested, approved campaign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Read top to bottom: the data is governed in Google Cloud first, then the user prompts in Codex, then approved patients are released to Marketing Cloud.</a:t>
            </a:r>
          </a:p>
        </p:txBody>
      </p:sp>
      <p:sp>
        <p:nvSpPr>
          <p:cNvPr id="5" name="Shape 4"/>
          <p:cNvSpPr/>
          <p:nvPr/>
        </p:nvSpPr>
        <p:spPr>
          <a:xfrm>
            <a:off x="411480" y="1170432"/>
            <a:ext cx="11201400" cy="1207008"/>
          </a:xfrm>
          <a:prstGeom prst="roundRect">
            <a:avLst>
              <a:gd name="adj" fmla="val 2000"/>
            </a:avLst>
          </a:prstGeom>
          <a:solidFill>
            <a:srgbClr val="FFFFFF"/>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484632" y="1197864"/>
            <a:ext cx="182880" cy="182880"/>
          </a:xfrm>
          <a:prstGeom prst="rect">
            <a:avLst/>
          </a:prstGeom>
        </p:spPr>
      </p:pic>
      <p:sp>
        <p:nvSpPr>
          <p:cNvPr id="8" name="Text 6"/>
          <p:cNvSpPr txBox="1"/>
          <p:nvPr/>
        </p:nvSpPr>
        <p:spPr>
          <a:xfrm>
            <a:off x="731520" y="1170432"/>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1  GOVERN THE DATA IN GOOGLE CLOUD</a:t>
            </a:r>
          </a:p>
        </p:txBody>
      </p:sp>
      <p:sp>
        <p:nvSpPr>
          <p:cNvPr id="9" name="Shape 7"/>
          <p:cNvSpPr/>
          <p:nvPr/>
        </p:nvSpPr>
        <p:spPr>
          <a:xfrm>
            <a:off x="548640" y="1481328"/>
            <a:ext cx="2068372" cy="87782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Shape 8"/>
          <p:cNvSpPr/>
          <p:nvPr/>
        </p:nvSpPr>
        <p:spPr>
          <a:xfrm>
            <a:off x="621792" y="154533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 9"/>
          <p:cNvSpPr txBox="1"/>
          <p:nvPr/>
        </p:nvSpPr>
        <p:spPr>
          <a:xfrm>
            <a:off x="621792"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a:t>
            </a:r>
          </a:p>
        </p:txBody>
      </p:sp>
      <p:pic>
        <p:nvPicPr>
          <p:cNvPr id="12" name="Picture 11" descr="googlecloud.png"/>
          <p:cNvPicPr>
            <a:picLocks noChangeAspect="1"/>
          </p:cNvPicPr>
          <p:nvPr/>
        </p:nvPicPr>
        <p:blipFill>
          <a:blip r:embed="rId2"/>
          <a:stretch>
            <a:fillRect/>
          </a:stretch>
        </p:blipFill>
        <p:spPr>
          <a:xfrm>
            <a:off x="877824" y="1545336"/>
            <a:ext cx="182880" cy="182880"/>
          </a:xfrm>
          <a:prstGeom prst="rect">
            <a:avLst/>
          </a:prstGeom>
        </p:spPr>
      </p:pic>
      <p:sp>
        <p:nvSpPr>
          <p:cNvPr id="13" name="Text 10"/>
          <p:cNvSpPr txBox="1"/>
          <p:nvPr/>
        </p:nvSpPr>
        <p:spPr>
          <a:xfrm>
            <a:off x="1115568" y="1536192"/>
            <a:ext cx="1428292" cy="201168"/>
          </a:xfrm>
          <a:prstGeom prst="rect">
            <a:avLst/>
          </a:prstGeom>
          <a:noFill/>
        </p:spPr>
        <p:txBody>
          <a:bodyPr wrap="square" lIns="0" rIns="0" tIns="0" bIns="0" anchor="ctr">
            <a:spAutoFit/>
          </a:bodyPr>
          <a:lstStyle/>
          <a:p>
            <a:r>
              <a:rPr sz="700" b="1" i="0">
                <a:solidFill>
                  <a:srgbClr val="1A1A1A"/>
                </a:solidFill>
                <a:latin typeface="Trenda IG Text"/>
              </a:rPr>
              <a:t>Sources</a:t>
            </a:r>
          </a:p>
        </p:txBody>
      </p:sp>
      <p:sp>
        <p:nvSpPr>
          <p:cNvPr id="14" name="Text 11"/>
          <p:cNvSpPr txBox="1"/>
          <p:nvPr/>
        </p:nvSpPr>
        <p:spPr>
          <a:xfrm>
            <a:off x="640080"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Epic, athenahealth, ADSI, Strata, SFDC, SFMC engagement. Approved datasets only.</a:t>
            </a:r>
          </a:p>
        </p:txBody>
      </p:sp>
      <p:cxnSp>
        <p:nvCxnSpPr>
          <p:cNvPr id="15" name="Arrow 12"/>
          <p:cNvCxnSpPr/>
          <p:nvPr/>
        </p:nvCxnSpPr>
        <p:spPr>
          <a:xfrm>
            <a:off x="2617012"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2763316" y="1481328"/>
            <a:ext cx="2068372" cy="87782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hape 14"/>
          <p:cNvSpPr/>
          <p:nvPr/>
        </p:nvSpPr>
        <p:spPr>
          <a:xfrm>
            <a:off x="2836468" y="154533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5"/>
          <p:cNvSpPr txBox="1"/>
          <p:nvPr/>
        </p:nvSpPr>
        <p:spPr>
          <a:xfrm>
            <a:off x="2836468"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a:t>
            </a:r>
          </a:p>
        </p:txBody>
      </p:sp>
      <p:sp>
        <p:nvSpPr>
          <p:cNvPr id="19" name="Text 16"/>
          <p:cNvSpPr txBox="1"/>
          <p:nvPr/>
        </p:nvSpPr>
        <p:spPr>
          <a:xfrm>
            <a:off x="3092500"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DLP + Collibra</a:t>
            </a:r>
          </a:p>
        </p:txBody>
      </p:sp>
      <p:sp>
        <p:nvSpPr>
          <p:cNvPr id="20" name="Text 17"/>
          <p:cNvSpPr txBox="1"/>
          <p:nvPr/>
        </p:nvSpPr>
        <p:spPr>
          <a:xfrm>
            <a:off x="2854756"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Before ingest: the Collibra steward approves, DLP classifies, policy tags mask PHI.</a:t>
            </a:r>
          </a:p>
        </p:txBody>
      </p:sp>
      <p:cxnSp>
        <p:nvCxnSpPr>
          <p:cNvPr id="21" name="Arrow 18"/>
          <p:cNvCxnSpPr/>
          <p:nvPr/>
        </p:nvCxnSpPr>
        <p:spPr>
          <a:xfrm>
            <a:off x="4831689"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Shape 19"/>
          <p:cNvSpPr/>
          <p:nvPr/>
        </p:nvSpPr>
        <p:spPr>
          <a:xfrm>
            <a:off x="4977993" y="1481328"/>
            <a:ext cx="2068372" cy="877824"/>
          </a:xfrm>
          <a:prstGeom prst="roundRect">
            <a:avLst>
              <a:gd name="adj" fmla="val 7000"/>
            </a:avLst>
          </a:prstGeom>
          <a:solidFill>
            <a:srgbClr val="F8ECE0"/>
          </a:solidFill>
          <a:ln w="15875">
            <a:solidFill>
              <a:srgbClr val="CD7F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hape 20"/>
          <p:cNvSpPr/>
          <p:nvPr/>
        </p:nvSpPr>
        <p:spPr>
          <a:xfrm>
            <a:off x="5051145" y="1545336"/>
            <a:ext cx="201168" cy="201168"/>
          </a:xfrm>
          <a:prstGeom prst="ellipse">
            <a:avLst/>
          </a:prstGeom>
          <a:solidFill>
            <a:srgbClr val="CD7F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1"/>
          <p:cNvSpPr txBox="1"/>
          <p:nvPr/>
        </p:nvSpPr>
        <p:spPr>
          <a:xfrm>
            <a:off x="5051145"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3</a:t>
            </a:r>
          </a:p>
        </p:txBody>
      </p:sp>
      <p:sp>
        <p:nvSpPr>
          <p:cNvPr id="25" name="Text 22"/>
          <p:cNvSpPr txBox="1"/>
          <p:nvPr/>
        </p:nvSpPr>
        <p:spPr>
          <a:xfrm>
            <a:off x="5307177"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Bronze</a:t>
            </a:r>
          </a:p>
        </p:txBody>
      </p:sp>
      <p:sp>
        <p:nvSpPr>
          <p:cNvPr id="26" name="Text 23"/>
          <p:cNvSpPr txBox="1"/>
          <p:nvPr/>
        </p:nvSpPr>
        <p:spPr>
          <a:xfrm>
            <a:off x="5069433"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Approved, tagged extracts with lineage and timestamps. Restricted; DLP re-scans.</a:t>
            </a:r>
          </a:p>
        </p:txBody>
      </p:sp>
      <p:cxnSp>
        <p:nvCxnSpPr>
          <p:cNvPr id="27" name="Arrow 24"/>
          <p:cNvCxnSpPr/>
          <p:nvPr/>
        </p:nvCxnSpPr>
        <p:spPr>
          <a:xfrm>
            <a:off x="7046366" y="19202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Shape 25"/>
          <p:cNvSpPr/>
          <p:nvPr/>
        </p:nvSpPr>
        <p:spPr>
          <a:xfrm>
            <a:off x="7192670" y="1481328"/>
            <a:ext cx="2068372" cy="877824"/>
          </a:xfrm>
          <a:prstGeom prst="roundRect">
            <a:avLst>
              <a:gd name="adj" fmla="val 7000"/>
            </a:avLst>
          </a:prstGeom>
          <a:solidFill>
            <a:srgbClr val="F0F1F2"/>
          </a:solidFill>
          <a:ln w="15875">
            <a:solidFill>
              <a:srgbClr val="8C8C8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6"/>
          <p:cNvSpPr/>
          <p:nvPr/>
        </p:nvSpPr>
        <p:spPr>
          <a:xfrm>
            <a:off x="7265822" y="1545336"/>
            <a:ext cx="201168" cy="201168"/>
          </a:xfrm>
          <a:prstGeom prst="ellipse">
            <a:avLst/>
          </a:prstGeom>
          <a:solidFill>
            <a:srgbClr val="A8A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7"/>
          <p:cNvSpPr txBox="1"/>
          <p:nvPr/>
        </p:nvSpPr>
        <p:spPr>
          <a:xfrm>
            <a:off x="7265822"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4</a:t>
            </a:r>
          </a:p>
        </p:txBody>
      </p:sp>
      <p:sp>
        <p:nvSpPr>
          <p:cNvPr id="31" name="Text 28"/>
          <p:cNvSpPr txBox="1"/>
          <p:nvPr/>
        </p:nvSpPr>
        <p:spPr>
          <a:xfrm>
            <a:off x="7521854"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Silver</a:t>
            </a:r>
          </a:p>
        </p:txBody>
      </p:sp>
      <p:sp>
        <p:nvSpPr>
          <p:cNvPr id="32" name="Text 29"/>
          <p:cNvSpPr txBox="1"/>
          <p:nvPr/>
        </p:nvSpPr>
        <p:spPr>
          <a:xfrm>
            <a:off x="7284110" y="1764792"/>
            <a:ext cx="1885492" cy="566927"/>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Validated identities, encounters, contacts, consent evidence. Keeps everyone.</a:t>
            </a:r>
          </a:p>
        </p:txBody>
      </p:sp>
      <p:sp>
        <p:nvSpPr>
          <p:cNvPr id="33" name="Shape 30"/>
          <p:cNvSpPr/>
          <p:nvPr/>
        </p:nvSpPr>
        <p:spPr>
          <a:xfrm>
            <a:off x="9407347" y="1481328"/>
            <a:ext cx="2068372" cy="411479"/>
          </a:xfrm>
          <a:prstGeom prst="roundRect">
            <a:avLst>
              <a:gd name="adj" fmla="val 7000"/>
            </a:avLst>
          </a:prstGeom>
          <a:solidFill>
            <a:srgbClr val="FBF4DC"/>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9480499" y="1545336"/>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9480499" y="154533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5</a:t>
            </a:r>
          </a:p>
        </p:txBody>
      </p:sp>
      <p:sp>
        <p:nvSpPr>
          <p:cNvPr id="36" name="Text 33"/>
          <p:cNvSpPr txBox="1"/>
          <p:nvPr/>
        </p:nvSpPr>
        <p:spPr>
          <a:xfrm>
            <a:off x="9736531" y="1536192"/>
            <a:ext cx="1666036" cy="201168"/>
          </a:xfrm>
          <a:prstGeom prst="rect">
            <a:avLst/>
          </a:prstGeom>
          <a:noFill/>
        </p:spPr>
        <p:txBody>
          <a:bodyPr wrap="square" lIns="0" rIns="0" tIns="0" bIns="0" anchor="ctr">
            <a:spAutoFit/>
          </a:bodyPr>
          <a:lstStyle/>
          <a:p>
            <a:r>
              <a:rPr sz="700" b="1" i="0">
                <a:solidFill>
                  <a:srgbClr val="1A1A1A"/>
                </a:solidFill>
                <a:latin typeface="Trenda IG Text"/>
              </a:rPr>
              <a:t>Gold B · eligibility</a:t>
            </a:r>
          </a:p>
        </p:txBody>
      </p:sp>
      <p:sp>
        <p:nvSpPr>
          <p:cNvPr id="37" name="Text 34"/>
          <p:cNvSpPr txBox="1"/>
          <p:nvPr/>
        </p:nvSpPr>
        <p:spPr>
          <a:xfrm>
            <a:off x="9498787" y="1764792"/>
            <a:ext cx="1885492" cy="100583"/>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Identity-linked; restricted services only</a:t>
            </a:r>
          </a:p>
        </p:txBody>
      </p:sp>
      <p:sp>
        <p:nvSpPr>
          <p:cNvPr id="38" name="Shape 35"/>
          <p:cNvSpPr/>
          <p:nvPr/>
        </p:nvSpPr>
        <p:spPr>
          <a:xfrm>
            <a:off x="9407347" y="1947672"/>
            <a:ext cx="2068372" cy="411479"/>
          </a:xfrm>
          <a:prstGeom prst="roundRect">
            <a:avLst>
              <a:gd name="adj" fmla="val 7000"/>
            </a:avLst>
          </a:prstGeom>
          <a:solidFill>
            <a:srgbClr val="FBF4DC"/>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hape 36"/>
          <p:cNvSpPr/>
          <p:nvPr/>
        </p:nvSpPr>
        <p:spPr>
          <a:xfrm>
            <a:off x="9480499" y="2011680"/>
            <a:ext cx="201168" cy="201168"/>
          </a:xfrm>
          <a:prstGeom prst="ellipse">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7"/>
          <p:cNvSpPr txBox="1"/>
          <p:nvPr/>
        </p:nvSpPr>
        <p:spPr>
          <a:xfrm>
            <a:off x="9480499" y="2011680"/>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6</a:t>
            </a:r>
          </a:p>
        </p:txBody>
      </p:sp>
      <p:pic>
        <p:nvPicPr>
          <p:cNvPr id="41" name="Picture 40" descr="googlebigquery.png"/>
          <p:cNvPicPr>
            <a:picLocks noChangeAspect="1"/>
          </p:cNvPicPr>
          <p:nvPr/>
        </p:nvPicPr>
        <p:blipFill>
          <a:blip r:embed="rId3"/>
          <a:stretch>
            <a:fillRect/>
          </a:stretch>
        </p:blipFill>
        <p:spPr>
          <a:xfrm>
            <a:off x="9736531" y="2011680"/>
            <a:ext cx="182880" cy="182880"/>
          </a:xfrm>
          <a:prstGeom prst="rect">
            <a:avLst/>
          </a:prstGeom>
        </p:spPr>
      </p:pic>
      <p:sp>
        <p:nvSpPr>
          <p:cNvPr id="42" name="Text 38"/>
          <p:cNvSpPr txBox="1"/>
          <p:nvPr/>
        </p:nvSpPr>
        <p:spPr>
          <a:xfrm>
            <a:off x="9974275" y="2002536"/>
            <a:ext cx="1428292" cy="201168"/>
          </a:xfrm>
          <a:prstGeom prst="rect">
            <a:avLst/>
          </a:prstGeom>
          <a:noFill/>
        </p:spPr>
        <p:txBody>
          <a:bodyPr wrap="square" lIns="0" rIns="0" tIns="0" bIns="0" anchor="ctr">
            <a:spAutoFit/>
          </a:bodyPr>
          <a:lstStyle/>
          <a:p>
            <a:r>
              <a:rPr sz="700" b="1" i="0">
                <a:solidFill>
                  <a:srgbClr val="1A1A1A"/>
                </a:solidFill>
                <a:latin typeface="Trenda IG Text"/>
              </a:rPr>
              <a:t>Gold A · intelligence</a:t>
            </a:r>
          </a:p>
        </p:txBody>
      </p:sp>
      <p:sp>
        <p:nvSpPr>
          <p:cNvPr id="43" name="Text 39"/>
          <p:cNvSpPr txBox="1"/>
          <p:nvPr/>
        </p:nvSpPr>
        <p:spPr>
          <a:xfrm>
            <a:off x="9498787" y="2231136"/>
            <a:ext cx="1885492" cy="100583"/>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Aggregates: Heart, Maternity, General, more</a:t>
            </a:r>
          </a:p>
        </p:txBody>
      </p:sp>
      <p:cxnSp>
        <p:nvCxnSpPr>
          <p:cNvPr id="44" name="Arrow 40"/>
          <p:cNvCxnSpPr/>
          <p:nvPr/>
        </p:nvCxnSpPr>
        <p:spPr>
          <a:xfrm>
            <a:off x="9261043" y="168706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Arrow 41"/>
          <p:cNvCxnSpPr/>
          <p:nvPr/>
        </p:nvCxnSpPr>
        <p:spPr>
          <a:xfrm>
            <a:off x="9261043" y="2153412"/>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Arrow 42"/>
          <p:cNvCxnSpPr/>
          <p:nvPr/>
        </p:nvCxnSpPr>
        <p:spPr>
          <a:xfrm>
            <a:off x="411480" y="2514600"/>
            <a:ext cx="11201400"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sp>
        <p:nvSpPr>
          <p:cNvPr id="47" name="Shape 43"/>
          <p:cNvSpPr/>
          <p:nvPr/>
        </p:nvSpPr>
        <p:spPr>
          <a:xfrm>
            <a:off x="548640" y="2432304"/>
            <a:ext cx="2743200"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548640" y="2432304"/>
            <a:ext cx="2743200" cy="164592"/>
          </a:xfrm>
          <a:prstGeom prst="rect">
            <a:avLst/>
          </a:prstGeom>
          <a:noFill/>
        </p:spPr>
        <p:txBody>
          <a:bodyPr wrap="square" lIns="0" rIns="0" tIns="0" bIns="0" anchor="ctr">
            <a:spAutoFit/>
          </a:bodyPr>
          <a:lstStyle/>
          <a:p>
            <a:pPr algn="ctr"/>
            <a:r>
              <a:rPr sz="700" b="1" i="0" spc="80">
                <a:solidFill>
                  <a:srgbClr val="1A1A1A"/>
                </a:solidFill>
                <a:latin typeface="Trenda IG Text"/>
              </a:rPr>
              <a:t>TRUST BOUNDARY · AGENTS: NO RAW-PHI ACCESS</a:t>
            </a:r>
          </a:p>
        </p:txBody>
      </p:sp>
      <p:sp>
        <p:nvSpPr>
          <p:cNvPr id="49" name="Shape 45"/>
          <p:cNvSpPr/>
          <p:nvPr/>
        </p:nvSpPr>
        <p:spPr>
          <a:xfrm>
            <a:off x="411480" y="2651760"/>
            <a:ext cx="11201400" cy="1600200"/>
          </a:xfrm>
          <a:prstGeom prst="roundRect">
            <a:avLst>
              <a:gd name="adj" fmla="val 2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6"/>
          <p:cNvSpPr/>
          <p:nvPr/>
        </p:nvSpPr>
        <p:spPr>
          <a:xfrm>
            <a:off x="411480" y="2651760"/>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Picture 50" descr="harness.png"/>
          <p:cNvPicPr>
            <a:picLocks noChangeAspect="1"/>
          </p:cNvPicPr>
          <p:nvPr/>
        </p:nvPicPr>
        <p:blipFill>
          <a:blip r:embed="rId4"/>
          <a:stretch>
            <a:fillRect/>
          </a:stretch>
        </p:blipFill>
        <p:spPr>
          <a:xfrm>
            <a:off x="484632" y="2679191"/>
            <a:ext cx="182880" cy="182880"/>
          </a:xfrm>
          <a:prstGeom prst="rect">
            <a:avLst/>
          </a:prstGeom>
        </p:spPr>
      </p:pic>
      <p:sp>
        <p:nvSpPr>
          <p:cNvPr id="52" name="Text 47"/>
          <p:cNvSpPr txBox="1"/>
          <p:nvPr/>
        </p:nvSpPr>
        <p:spPr>
          <a:xfrm>
            <a:off x="731520" y="2651760"/>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2  AGENTIC HARNESS · PROMPT IN CODEX, PLAN, BUILD + TEST · MASKED DATA ONLY · RUNS IN GOOGLE CLOUD</a:t>
            </a:r>
          </a:p>
        </p:txBody>
      </p:sp>
      <p:sp>
        <p:nvSpPr>
          <p:cNvPr id="53" name="Shape 48"/>
          <p:cNvSpPr/>
          <p:nvPr/>
        </p:nvSpPr>
        <p:spPr>
          <a:xfrm>
            <a:off x="548640" y="2944368"/>
            <a:ext cx="1699259" cy="713232"/>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49"/>
          <p:cNvSpPr/>
          <p:nvPr/>
        </p:nvSpPr>
        <p:spPr>
          <a:xfrm>
            <a:off x="621792"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0"/>
          <p:cNvSpPr txBox="1"/>
          <p:nvPr/>
        </p:nvSpPr>
        <p:spPr>
          <a:xfrm>
            <a:off x="621792"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7</a:t>
            </a:r>
          </a:p>
        </p:txBody>
      </p:sp>
      <p:pic>
        <p:nvPicPr>
          <p:cNvPr id="56" name="Picture 55" descr="openai-white.png"/>
          <p:cNvPicPr>
            <a:picLocks noChangeAspect="1"/>
          </p:cNvPicPr>
          <p:nvPr/>
        </p:nvPicPr>
        <p:blipFill>
          <a:blip r:embed="rId5"/>
          <a:stretch>
            <a:fillRect/>
          </a:stretch>
        </p:blipFill>
        <p:spPr>
          <a:xfrm>
            <a:off x="877824" y="3008375"/>
            <a:ext cx="182880" cy="182880"/>
          </a:xfrm>
          <a:prstGeom prst="rect">
            <a:avLst/>
          </a:prstGeom>
        </p:spPr>
      </p:pic>
      <p:sp>
        <p:nvSpPr>
          <p:cNvPr id="57" name="Text 51"/>
          <p:cNvSpPr txBox="1"/>
          <p:nvPr/>
        </p:nvSpPr>
        <p:spPr>
          <a:xfrm>
            <a:off x="1115568" y="2999232"/>
            <a:ext cx="1059179" cy="201168"/>
          </a:xfrm>
          <a:prstGeom prst="rect">
            <a:avLst/>
          </a:prstGeom>
          <a:noFill/>
        </p:spPr>
        <p:txBody>
          <a:bodyPr wrap="square" lIns="0" rIns="0" tIns="0" bIns="0" anchor="ctr">
            <a:spAutoFit/>
          </a:bodyPr>
          <a:lstStyle/>
          <a:p>
            <a:r>
              <a:rPr sz="700" b="1" i="0">
                <a:solidFill>
                  <a:srgbClr val="1A1A1A"/>
                </a:solidFill>
                <a:latin typeface="Trenda IG Text"/>
              </a:rPr>
              <a:t>Prompt in Codex</a:t>
            </a:r>
          </a:p>
        </p:txBody>
      </p:sp>
      <p:sp>
        <p:nvSpPr>
          <p:cNvPr id="58" name="Text 52"/>
          <p:cNvSpPr txBox="1"/>
          <p:nvPr/>
        </p:nvSpPr>
        <p:spPr>
          <a:xfrm>
            <a:off x="640080"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“Build a post-discharge follow-up campaign for heart patients”. Or the business console.</a:t>
            </a:r>
          </a:p>
        </p:txBody>
      </p:sp>
      <p:sp>
        <p:nvSpPr>
          <p:cNvPr id="59" name="Shape 53"/>
          <p:cNvSpPr/>
          <p:nvPr/>
        </p:nvSpPr>
        <p:spPr>
          <a:xfrm>
            <a:off x="2394204"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4"/>
          <p:cNvSpPr/>
          <p:nvPr/>
        </p:nvSpPr>
        <p:spPr>
          <a:xfrm>
            <a:off x="2467356"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2467356"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8</a:t>
            </a:r>
          </a:p>
        </p:txBody>
      </p:sp>
      <p:sp>
        <p:nvSpPr>
          <p:cNvPr id="62" name="Text 56"/>
          <p:cNvSpPr txBox="1"/>
          <p:nvPr/>
        </p:nvSpPr>
        <p:spPr>
          <a:xfrm>
            <a:off x="2723387" y="2999232"/>
            <a:ext cx="1296924" cy="201168"/>
          </a:xfrm>
          <a:prstGeom prst="rect">
            <a:avLst/>
          </a:prstGeom>
          <a:noFill/>
        </p:spPr>
        <p:txBody>
          <a:bodyPr wrap="square" lIns="0" rIns="0" tIns="0" bIns="0" anchor="ctr">
            <a:spAutoFit/>
          </a:bodyPr>
          <a:lstStyle/>
          <a:p>
            <a:r>
              <a:rPr sz="700" b="1" i="0">
                <a:solidFill>
                  <a:srgbClr val="1A1A1A"/>
                </a:solidFill>
                <a:latin typeface="Trenda IG Text"/>
              </a:rPr>
              <a:t>Planning agents</a:t>
            </a:r>
          </a:p>
        </p:txBody>
      </p:sp>
      <p:sp>
        <p:nvSpPr>
          <p:cNvPr id="63" name="Text 57"/>
          <p:cNvSpPr txBox="1"/>
          <p:nvPr/>
        </p:nvSpPr>
        <p:spPr>
          <a:xfrm>
            <a:off x="2485644"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Orchestrator, Strategist and Analytics read the knowledge graph; counts only.</a:t>
            </a:r>
          </a:p>
        </p:txBody>
      </p:sp>
      <p:sp>
        <p:nvSpPr>
          <p:cNvPr id="64" name="Shape 58"/>
          <p:cNvSpPr/>
          <p:nvPr/>
        </p:nvSpPr>
        <p:spPr>
          <a:xfrm>
            <a:off x="4239768" y="2944368"/>
            <a:ext cx="1699259" cy="71323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hape 59"/>
          <p:cNvSpPr/>
          <p:nvPr/>
        </p:nvSpPr>
        <p:spPr>
          <a:xfrm>
            <a:off x="4312920" y="30083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4312920" y="30083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9</a:t>
            </a:r>
          </a:p>
        </p:txBody>
      </p:sp>
      <p:pic>
        <p:nvPicPr>
          <p:cNvPr id="67" name="Picture 66" descr="people.png"/>
          <p:cNvPicPr>
            <a:picLocks noChangeAspect="1"/>
          </p:cNvPicPr>
          <p:nvPr/>
        </p:nvPicPr>
        <p:blipFill>
          <a:blip r:embed="rId6"/>
          <a:stretch>
            <a:fillRect/>
          </a:stretch>
        </p:blipFill>
        <p:spPr>
          <a:xfrm>
            <a:off x="4541520" y="3008375"/>
            <a:ext cx="164592" cy="164592"/>
          </a:xfrm>
          <a:prstGeom prst="rect">
            <a:avLst/>
          </a:prstGeom>
        </p:spPr>
      </p:pic>
      <p:sp>
        <p:nvSpPr>
          <p:cNvPr id="68" name="Text 61"/>
          <p:cNvSpPr txBox="1"/>
          <p:nvPr/>
        </p:nvSpPr>
        <p:spPr>
          <a:xfrm>
            <a:off x="4751832" y="2980944"/>
            <a:ext cx="766571" cy="219456"/>
          </a:xfrm>
          <a:prstGeom prst="rect">
            <a:avLst/>
          </a:prstGeom>
          <a:noFill/>
        </p:spPr>
        <p:txBody>
          <a:bodyPr wrap="square" lIns="0" rIns="0" tIns="0" bIns="0" anchor="ctr">
            <a:spAutoFit/>
          </a:bodyPr>
          <a:lstStyle/>
          <a:p>
            <a:r>
              <a:rPr sz="700" b="1" i="0">
                <a:solidFill>
                  <a:srgbClr val="1A1A1A"/>
                </a:solidFill>
                <a:latin typeface="Trenda IG Text"/>
              </a:rPr>
              <a:t>Confirm brief</a:t>
            </a:r>
          </a:p>
        </p:txBody>
      </p:sp>
      <p:sp>
        <p:nvSpPr>
          <p:cNvPr id="69" name="Shape 62"/>
          <p:cNvSpPr/>
          <p:nvPr/>
        </p:nvSpPr>
        <p:spPr>
          <a:xfrm>
            <a:off x="5554980" y="301752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3"/>
          <p:cNvSpPr txBox="1"/>
          <p:nvPr/>
        </p:nvSpPr>
        <p:spPr>
          <a:xfrm>
            <a:off x="5554980" y="301752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G1</a:t>
            </a:r>
          </a:p>
        </p:txBody>
      </p:sp>
      <p:sp>
        <p:nvSpPr>
          <p:cNvPr id="71" name="Text 64"/>
          <p:cNvSpPr txBox="1"/>
          <p:nvPr/>
        </p:nvSpPr>
        <p:spPr>
          <a:xfrm>
            <a:off x="4312920" y="3236975"/>
            <a:ext cx="1571244" cy="402336"/>
          </a:xfrm>
          <a:prstGeom prst="rect">
            <a:avLst/>
          </a:prstGeom>
          <a:noFill/>
        </p:spPr>
        <p:txBody>
          <a:bodyPr wrap="square" lIns="0" rIns="0" tIns="0" bIns="0" anchor="t">
            <a:spAutoFit/>
          </a:bodyPr>
          <a:lstStyle/>
          <a:p>
            <a:r>
              <a:rPr sz="700" b="0" i="0">
                <a:solidFill>
                  <a:srgbClr val="4D4D4D"/>
                </a:solidFill>
                <a:latin typeface="Trenda IG Text"/>
              </a:rPr>
              <a:t>People only, no agent: marketer + clinical approve the brief: size, channel, content plan.</a:t>
            </a:r>
          </a:p>
        </p:txBody>
      </p:sp>
      <p:sp>
        <p:nvSpPr>
          <p:cNvPr id="72" name="Shape 65"/>
          <p:cNvSpPr/>
          <p:nvPr/>
        </p:nvSpPr>
        <p:spPr>
          <a:xfrm>
            <a:off x="6085331"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66"/>
          <p:cNvSpPr/>
          <p:nvPr/>
        </p:nvSpPr>
        <p:spPr>
          <a:xfrm>
            <a:off x="6158483" y="3008375"/>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7"/>
          <p:cNvSpPr txBox="1"/>
          <p:nvPr/>
        </p:nvSpPr>
        <p:spPr>
          <a:xfrm>
            <a:off x="6158483" y="3008375"/>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10</a:t>
            </a:r>
          </a:p>
        </p:txBody>
      </p:sp>
      <p:sp>
        <p:nvSpPr>
          <p:cNvPr id="75" name="Text 68"/>
          <p:cNvSpPr txBox="1"/>
          <p:nvPr/>
        </p:nvSpPr>
        <p:spPr>
          <a:xfrm>
            <a:off x="6414516" y="2999232"/>
            <a:ext cx="1296923" cy="201168"/>
          </a:xfrm>
          <a:prstGeom prst="rect">
            <a:avLst/>
          </a:prstGeom>
          <a:noFill/>
        </p:spPr>
        <p:txBody>
          <a:bodyPr wrap="square" lIns="0" rIns="0" tIns="0" bIns="0" anchor="ctr">
            <a:spAutoFit/>
          </a:bodyPr>
          <a:lstStyle/>
          <a:p>
            <a:r>
              <a:rPr sz="700" b="1" i="0">
                <a:solidFill>
                  <a:srgbClr val="1A1A1A"/>
                </a:solidFill>
                <a:latin typeface="Trenda IG Text"/>
              </a:rPr>
              <a:t>Campaign Design Agent</a:t>
            </a:r>
          </a:p>
        </p:txBody>
      </p:sp>
      <p:sp>
        <p:nvSpPr>
          <p:cNvPr id="76" name="Text 69"/>
          <p:cNvSpPr txBox="1"/>
          <p:nvPr/>
        </p:nvSpPr>
        <p:spPr>
          <a:xfrm>
            <a:off x="6176771" y="3227832"/>
            <a:ext cx="1516380" cy="40233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Invokes Journey Builder (native); builds the journey and data extension, paused; seeds risks.</a:t>
            </a:r>
          </a:p>
        </p:txBody>
      </p:sp>
      <p:sp>
        <p:nvSpPr>
          <p:cNvPr id="77" name="Shape 70"/>
          <p:cNvSpPr/>
          <p:nvPr/>
        </p:nvSpPr>
        <p:spPr>
          <a:xfrm>
            <a:off x="7930895" y="2944368"/>
            <a:ext cx="1699259" cy="71323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1"/>
          <p:cNvSpPr/>
          <p:nvPr/>
        </p:nvSpPr>
        <p:spPr>
          <a:xfrm>
            <a:off x="8004047" y="2999232"/>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2"/>
          <p:cNvSpPr txBox="1"/>
          <p:nvPr/>
        </p:nvSpPr>
        <p:spPr>
          <a:xfrm>
            <a:off x="8004047" y="2999232"/>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11</a:t>
            </a:r>
          </a:p>
        </p:txBody>
      </p:sp>
      <p:sp>
        <p:nvSpPr>
          <p:cNvPr id="80" name="Text 73"/>
          <p:cNvSpPr txBox="1"/>
          <p:nvPr/>
        </p:nvSpPr>
        <p:spPr>
          <a:xfrm>
            <a:off x="8260079" y="2980944"/>
            <a:ext cx="1333499" cy="201168"/>
          </a:xfrm>
          <a:prstGeom prst="rect">
            <a:avLst/>
          </a:prstGeom>
          <a:noFill/>
        </p:spPr>
        <p:txBody>
          <a:bodyPr wrap="square" lIns="0" rIns="0" tIns="0" bIns="0" anchor="ctr">
            <a:spAutoFit/>
          </a:bodyPr>
          <a:lstStyle/>
          <a:p>
            <a:r>
              <a:rPr sz="700" b="1" i="0">
                <a:solidFill>
                  <a:srgbClr val="1A1A1A"/>
                </a:solidFill>
                <a:latin typeface="Trenda IG Text"/>
              </a:rPr>
              <a:t>Readiness · testing</a:t>
            </a:r>
          </a:p>
        </p:txBody>
      </p:sp>
      <p:sp>
        <p:nvSpPr>
          <p:cNvPr id="81" name="Text 74"/>
          <p:cNvSpPr txBox="1"/>
          <p:nvPr/>
        </p:nvSpPr>
        <p:spPr>
          <a:xfrm>
            <a:off x="8004047" y="3200400"/>
            <a:ext cx="1571244" cy="438912"/>
          </a:xfrm>
          <a:prstGeom prst="rect">
            <a:avLst/>
          </a:prstGeom>
          <a:noFill/>
        </p:spPr>
        <p:txBody>
          <a:bodyPr wrap="square" lIns="0" rIns="0" tIns="0" bIns="0" anchor="t">
            <a:spAutoFit/>
          </a:bodyPr>
          <a:lstStyle/>
          <a:p>
            <a:r>
              <a:rPr sz="700" b="0" i="0">
                <a:solidFill>
                  <a:srgbClr val="4D4D4D"/>
                </a:solidFill>
                <a:latin typeface="Trenda IG Text"/>
              </a:rPr>
              <a:t>Test contacts only: consent, STOP, links, hours. </a:t>
            </a:r>
            <a:r>
              <a:rPr sz="700" b="1" i="0">
                <a:solidFill>
                  <a:srgbClr val="1A1A1A"/>
                </a:solidFill>
                <a:latin typeface="Trenda IG Text"/>
              </a:rPr>
              <a:t>Fail → its cause: journey 10, rule 8 or the data.</a:t>
            </a:r>
          </a:p>
        </p:txBody>
      </p:sp>
      <p:sp>
        <p:nvSpPr>
          <p:cNvPr id="82" name="Shape 75"/>
          <p:cNvSpPr/>
          <p:nvPr/>
        </p:nvSpPr>
        <p:spPr>
          <a:xfrm>
            <a:off x="9776459" y="2944368"/>
            <a:ext cx="1699259" cy="71323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hape 76"/>
          <p:cNvSpPr/>
          <p:nvPr/>
        </p:nvSpPr>
        <p:spPr>
          <a:xfrm>
            <a:off x="9849611" y="3008375"/>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7"/>
          <p:cNvSpPr txBox="1"/>
          <p:nvPr/>
        </p:nvSpPr>
        <p:spPr>
          <a:xfrm>
            <a:off x="9849611" y="3008375"/>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12</a:t>
            </a:r>
          </a:p>
        </p:txBody>
      </p:sp>
      <p:pic>
        <p:nvPicPr>
          <p:cNvPr id="85" name="Picture 84" descr="people.png"/>
          <p:cNvPicPr>
            <a:picLocks noChangeAspect="1"/>
          </p:cNvPicPr>
          <p:nvPr/>
        </p:nvPicPr>
        <p:blipFill>
          <a:blip r:embed="rId6"/>
          <a:stretch>
            <a:fillRect/>
          </a:stretch>
        </p:blipFill>
        <p:spPr>
          <a:xfrm>
            <a:off x="10078211" y="3008375"/>
            <a:ext cx="164592" cy="164592"/>
          </a:xfrm>
          <a:prstGeom prst="rect">
            <a:avLst/>
          </a:prstGeom>
        </p:spPr>
      </p:pic>
      <p:sp>
        <p:nvSpPr>
          <p:cNvPr id="86" name="Text 78"/>
          <p:cNvSpPr txBox="1"/>
          <p:nvPr/>
        </p:nvSpPr>
        <p:spPr>
          <a:xfrm>
            <a:off x="10288523" y="2980944"/>
            <a:ext cx="766571" cy="219456"/>
          </a:xfrm>
          <a:prstGeom prst="rect">
            <a:avLst/>
          </a:prstGeom>
          <a:noFill/>
        </p:spPr>
        <p:txBody>
          <a:bodyPr wrap="square" lIns="0" rIns="0" tIns="0" bIns="0" anchor="ctr">
            <a:spAutoFit/>
          </a:bodyPr>
          <a:lstStyle/>
          <a:p>
            <a:r>
              <a:rPr sz="700" b="1" i="0">
                <a:solidFill>
                  <a:srgbClr val="1A1A1A"/>
                </a:solidFill>
                <a:latin typeface="Trenda IG Text"/>
              </a:rPr>
              <a:t>Approve journey</a:t>
            </a:r>
          </a:p>
        </p:txBody>
      </p:sp>
      <p:sp>
        <p:nvSpPr>
          <p:cNvPr id="87" name="Shape 79"/>
          <p:cNvSpPr/>
          <p:nvPr/>
        </p:nvSpPr>
        <p:spPr>
          <a:xfrm>
            <a:off x="11091671" y="301752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0"/>
          <p:cNvSpPr txBox="1"/>
          <p:nvPr/>
        </p:nvSpPr>
        <p:spPr>
          <a:xfrm>
            <a:off x="11091671" y="301752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G3</a:t>
            </a:r>
          </a:p>
        </p:txBody>
      </p:sp>
      <p:sp>
        <p:nvSpPr>
          <p:cNvPr id="89" name="Text 81"/>
          <p:cNvSpPr txBox="1"/>
          <p:nvPr/>
        </p:nvSpPr>
        <p:spPr>
          <a:xfrm>
            <a:off x="9849611" y="3236975"/>
            <a:ext cx="1571244" cy="402336"/>
          </a:xfrm>
          <a:prstGeom prst="rect">
            <a:avLst/>
          </a:prstGeom>
          <a:noFill/>
        </p:spPr>
        <p:txBody>
          <a:bodyPr wrap="square" lIns="0" rIns="0" tIns="0" bIns="0" anchor="t">
            <a:spAutoFit/>
          </a:bodyPr>
          <a:lstStyle/>
          <a:p>
            <a:r>
              <a:rPr sz="700" b="0" i="0">
                <a:solidFill>
                  <a:srgbClr val="4D4D4D"/>
                </a:solidFill>
                <a:latin typeface="Trenda IG Text"/>
              </a:rPr>
              <a:t>Clinical + compliance, when every test passes. The journey then waits, active.</a:t>
            </a:r>
          </a:p>
        </p:txBody>
      </p:sp>
      <p:cxnSp>
        <p:nvCxnSpPr>
          <p:cNvPr id="90" name="Arrow 82"/>
          <p:cNvCxnSpPr/>
          <p:nvPr/>
        </p:nvCxnSpPr>
        <p:spPr>
          <a:xfrm>
            <a:off x="2247899" y="3300984"/>
            <a:ext cx="146305"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1" name="Arrow 83"/>
          <p:cNvCxnSpPr/>
          <p:nvPr/>
        </p:nvCxnSpPr>
        <p:spPr>
          <a:xfrm>
            <a:off x="4093464"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Arrow 84"/>
          <p:cNvCxnSpPr/>
          <p:nvPr/>
        </p:nvCxnSpPr>
        <p:spPr>
          <a:xfrm>
            <a:off x="5939028" y="3300984"/>
            <a:ext cx="146303"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3" name="Arrow 85"/>
          <p:cNvCxnSpPr/>
          <p:nvPr/>
        </p:nvCxnSpPr>
        <p:spPr>
          <a:xfrm>
            <a:off x="7784591"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Arrow 86"/>
          <p:cNvCxnSpPr/>
          <p:nvPr/>
        </p:nvCxnSpPr>
        <p:spPr>
          <a:xfrm>
            <a:off x="9630155" y="330098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Arrow 87"/>
          <p:cNvCxnSpPr/>
          <p:nvPr/>
        </p:nvCxnSpPr>
        <p:spPr>
          <a:xfrm>
            <a:off x="8780526" y="3657600"/>
            <a:ext cx="0" cy="4572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96" name="Arrow 88"/>
          <p:cNvCxnSpPr/>
          <p:nvPr/>
        </p:nvCxnSpPr>
        <p:spPr>
          <a:xfrm flipH="1">
            <a:off x="457200" y="3703320"/>
            <a:ext cx="8323326"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97" name="Arrow 89"/>
          <p:cNvCxnSpPr/>
          <p:nvPr/>
        </p:nvCxnSpPr>
        <p:spPr>
          <a:xfrm flipV="1">
            <a:off x="7510271" y="3657600"/>
            <a:ext cx="0" cy="45720"/>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8" name="Arrow 90"/>
          <p:cNvCxnSpPr/>
          <p:nvPr/>
        </p:nvCxnSpPr>
        <p:spPr>
          <a:xfrm flipV="1">
            <a:off x="3819144" y="3657600"/>
            <a:ext cx="0" cy="45720"/>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9" name="Arrow 91"/>
          <p:cNvCxnSpPr/>
          <p:nvPr/>
        </p:nvCxnSpPr>
        <p:spPr>
          <a:xfrm flipV="1">
            <a:off x="457200" y="2194560"/>
            <a:ext cx="0" cy="150876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00" name="Arrow 92"/>
          <p:cNvCxnSpPr/>
          <p:nvPr/>
        </p:nvCxnSpPr>
        <p:spPr>
          <a:xfrm>
            <a:off x="457200" y="2194560"/>
            <a:ext cx="91440" cy="0"/>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1" name="Text 93"/>
          <p:cNvSpPr txBox="1"/>
          <p:nvPr/>
        </p:nvSpPr>
        <p:spPr>
          <a:xfrm>
            <a:off x="548640" y="3767328"/>
            <a:ext cx="1699259" cy="429768"/>
          </a:xfrm>
          <a:prstGeom prst="rect">
            <a:avLst/>
          </a:prstGeom>
          <a:noFill/>
        </p:spPr>
        <p:txBody>
          <a:bodyPr wrap="square" lIns="0" rIns="0" tIns="0" bIns="0" anchor="ctr">
            <a:spAutoFit/>
          </a:bodyPr>
          <a:lstStyle/>
          <a:p>
            <a:pPr>
              <a:spcAft>
                <a:spcPts val="100"/>
              </a:spcAft>
            </a:pPr>
            <a:r>
              <a:rPr sz="700" b="1" i="0" spc="100">
                <a:solidFill>
                  <a:srgbClr val="6B6B6B"/>
                </a:solidFill>
                <a:latin typeface="Trenda IG Text"/>
              </a:rPr>
              <a:t>CONTEXT + OVERSIGHT</a:t>
            </a:r>
          </a:p>
          <a:p>
            <a:pPr>
              <a:spcAft>
                <a:spcPts val="100"/>
              </a:spcAft>
            </a:pPr>
            <a:r>
              <a:rPr sz="700" b="0" i="0">
                <a:solidFill>
                  <a:srgbClr val="6B6B6B"/>
                </a:solidFill>
                <a:latin typeface="Trenda IG Text"/>
              </a:rPr>
              <a:t>masked data only</a:t>
            </a:r>
          </a:p>
        </p:txBody>
      </p:sp>
      <p:sp>
        <p:nvSpPr>
          <p:cNvPr id="102" name="Shape 94"/>
          <p:cNvSpPr/>
          <p:nvPr/>
        </p:nvSpPr>
        <p:spPr>
          <a:xfrm>
            <a:off x="2394204"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3" name="Picture 102" descr="googlecloudspanner.png"/>
          <p:cNvPicPr>
            <a:picLocks noChangeAspect="1"/>
          </p:cNvPicPr>
          <p:nvPr/>
        </p:nvPicPr>
        <p:blipFill>
          <a:blip r:embed="rId7"/>
          <a:stretch>
            <a:fillRect/>
          </a:stretch>
        </p:blipFill>
        <p:spPr>
          <a:xfrm>
            <a:off x="2485644" y="3831336"/>
            <a:ext cx="182880" cy="182880"/>
          </a:xfrm>
          <a:prstGeom prst="rect">
            <a:avLst/>
          </a:prstGeom>
        </p:spPr>
      </p:pic>
      <p:sp>
        <p:nvSpPr>
          <p:cNvPr id="104" name="Text 95"/>
          <p:cNvSpPr txBox="1"/>
          <p:nvPr/>
        </p:nvSpPr>
        <p:spPr>
          <a:xfrm>
            <a:off x="2723388" y="3822191"/>
            <a:ext cx="1296923" cy="201168"/>
          </a:xfrm>
          <a:prstGeom prst="rect">
            <a:avLst/>
          </a:prstGeom>
          <a:noFill/>
        </p:spPr>
        <p:txBody>
          <a:bodyPr wrap="square" lIns="0" rIns="0" tIns="0" bIns="0" anchor="ctr">
            <a:spAutoFit/>
          </a:bodyPr>
          <a:lstStyle/>
          <a:p>
            <a:r>
              <a:rPr sz="700" b="1" i="0">
                <a:solidFill>
                  <a:srgbClr val="1A1A1A"/>
                </a:solidFill>
                <a:latin typeface="Trenda IG Text"/>
              </a:rPr>
              <a:t>Knowledge graph</a:t>
            </a:r>
          </a:p>
        </p:txBody>
      </p:sp>
      <p:sp>
        <p:nvSpPr>
          <p:cNvPr id="105" name="Text 96"/>
          <p:cNvSpPr txBox="1"/>
          <p:nvPr/>
        </p:nvSpPr>
        <p:spPr>
          <a:xfrm>
            <a:off x="2485644"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Metadata, rules, lineage; from 6.</a:t>
            </a:r>
          </a:p>
        </p:txBody>
      </p:sp>
      <p:sp>
        <p:nvSpPr>
          <p:cNvPr id="106" name="Shape 97"/>
          <p:cNvSpPr/>
          <p:nvPr/>
        </p:nvSpPr>
        <p:spPr>
          <a:xfrm>
            <a:off x="4239768"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7" name="Picture 106" descr="tableau.png"/>
          <p:cNvPicPr>
            <a:picLocks noChangeAspect="1"/>
          </p:cNvPicPr>
          <p:nvPr/>
        </p:nvPicPr>
        <p:blipFill>
          <a:blip r:embed="rId8"/>
          <a:stretch>
            <a:fillRect/>
          </a:stretch>
        </p:blipFill>
        <p:spPr>
          <a:xfrm>
            <a:off x="4331208" y="3831336"/>
            <a:ext cx="182880" cy="182880"/>
          </a:xfrm>
          <a:prstGeom prst="rect">
            <a:avLst/>
          </a:prstGeom>
        </p:spPr>
      </p:pic>
      <p:sp>
        <p:nvSpPr>
          <p:cNvPr id="108" name="Text 98"/>
          <p:cNvSpPr txBox="1"/>
          <p:nvPr/>
        </p:nvSpPr>
        <p:spPr>
          <a:xfrm>
            <a:off x="4568951" y="3822191"/>
            <a:ext cx="1296924" cy="201168"/>
          </a:xfrm>
          <a:prstGeom prst="rect">
            <a:avLst/>
          </a:prstGeom>
          <a:noFill/>
        </p:spPr>
        <p:txBody>
          <a:bodyPr wrap="square" lIns="0" rIns="0" tIns="0" bIns="0" anchor="ctr">
            <a:spAutoFit/>
          </a:bodyPr>
          <a:lstStyle/>
          <a:p>
            <a:r>
              <a:rPr sz="700" b="1" i="0">
                <a:solidFill>
                  <a:srgbClr val="1A1A1A"/>
                </a:solidFill>
                <a:latin typeface="Trenda IG Text"/>
              </a:rPr>
              <a:t>Tableau</a:t>
            </a:r>
          </a:p>
        </p:txBody>
      </p:sp>
      <p:sp>
        <p:nvSpPr>
          <p:cNvPr id="109" name="Text 99"/>
          <p:cNvSpPr txBox="1"/>
          <p:nvPr/>
        </p:nvSpPr>
        <p:spPr>
          <a:xfrm>
            <a:off x="4331208"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Masked dashboards from 6.</a:t>
            </a:r>
          </a:p>
        </p:txBody>
      </p:sp>
      <p:sp>
        <p:nvSpPr>
          <p:cNvPr id="110" name="Shape 100"/>
          <p:cNvSpPr/>
          <p:nvPr/>
        </p:nvSpPr>
        <p:spPr>
          <a:xfrm>
            <a:off x="6085331"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ext 101"/>
          <p:cNvSpPr txBox="1"/>
          <p:nvPr/>
        </p:nvSpPr>
        <p:spPr>
          <a:xfrm>
            <a:off x="6176771" y="3822191"/>
            <a:ext cx="1534667" cy="201168"/>
          </a:xfrm>
          <a:prstGeom prst="rect">
            <a:avLst/>
          </a:prstGeom>
          <a:noFill/>
        </p:spPr>
        <p:txBody>
          <a:bodyPr wrap="square" lIns="0" rIns="0" tIns="0" bIns="0" anchor="ctr">
            <a:spAutoFit/>
          </a:bodyPr>
          <a:lstStyle/>
          <a:p>
            <a:r>
              <a:rPr sz="700" b="1" i="0">
                <a:solidFill>
                  <a:srgbClr val="1A1A1A"/>
                </a:solidFill>
                <a:latin typeface="Trenda IG Text"/>
              </a:rPr>
              <a:t>Compliance Guardian</a:t>
            </a:r>
          </a:p>
        </p:txBody>
      </p:sp>
      <p:sp>
        <p:nvSpPr>
          <p:cNvPr id="112" name="Text 102"/>
          <p:cNvSpPr txBox="1"/>
          <p:nvPr/>
        </p:nvSpPr>
        <p:spPr>
          <a:xfrm>
            <a:off x="6176771"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Explains exclusions for 14.</a:t>
            </a:r>
          </a:p>
        </p:txBody>
      </p:sp>
      <p:sp>
        <p:nvSpPr>
          <p:cNvPr id="113" name="Shape 103"/>
          <p:cNvSpPr/>
          <p:nvPr/>
        </p:nvSpPr>
        <p:spPr>
          <a:xfrm>
            <a:off x="7930895" y="3767328"/>
            <a:ext cx="1699259" cy="429768"/>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04"/>
          <p:cNvSpPr txBox="1"/>
          <p:nvPr/>
        </p:nvSpPr>
        <p:spPr>
          <a:xfrm>
            <a:off x="8022335" y="3822191"/>
            <a:ext cx="1534667" cy="201168"/>
          </a:xfrm>
          <a:prstGeom prst="rect">
            <a:avLst/>
          </a:prstGeom>
          <a:noFill/>
        </p:spPr>
        <p:txBody>
          <a:bodyPr wrap="square" lIns="0" rIns="0" tIns="0" bIns="0" anchor="ctr">
            <a:spAutoFit/>
          </a:bodyPr>
          <a:lstStyle/>
          <a:p>
            <a:r>
              <a:rPr sz="700" b="1" i="0">
                <a:solidFill>
                  <a:srgbClr val="1A1A1A"/>
                </a:solidFill>
                <a:latin typeface="Trenda IG Text"/>
              </a:rPr>
              <a:t>Measurement Agent</a:t>
            </a:r>
          </a:p>
        </p:txBody>
      </p:sp>
      <p:sp>
        <p:nvSpPr>
          <p:cNvPr id="115" name="Text 105"/>
          <p:cNvSpPr txBox="1"/>
          <p:nvPr/>
        </p:nvSpPr>
        <p:spPr>
          <a:xfrm>
            <a:off x="8022335" y="4050791"/>
            <a:ext cx="1516380" cy="1188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Reads results from 20.</a:t>
            </a:r>
          </a:p>
        </p:txBody>
      </p:sp>
      <p:sp>
        <p:nvSpPr>
          <p:cNvPr id="116" name="Shape 106"/>
          <p:cNvSpPr/>
          <p:nvPr/>
        </p:nvSpPr>
        <p:spPr>
          <a:xfrm>
            <a:off x="9776459" y="3767328"/>
            <a:ext cx="1699259" cy="429768"/>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7" name="Picture 116" descr="people.png"/>
          <p:cNvPicPr>
            <a:picLocks noChangeAspect="1"/>
          </p:cNvPicPr>
          <p:nvPr/>
        </p:nvPicPr>
        <p:blipFill>
          <a:blip r:embed="rId6"/>
          <a:stretch>
            <a:fillRect/>
          </a:stretch>
        </p:blipFill>
        <p:spPr>
          <a:xfrm>
            <a:off x="9849611" y="3831336"/>
            <a:ext cx="164592" cy="164592"/>
          </a:xfrm>
          <a:prstGeom prst="rect">
            <a:avLst/>
          </a:prstGeom>
        </p:spPr>
      </p:pic>
      <p:sp>
        <p:nvSpPr>
          <p:cNvPr id="118" name="Text 107"/>
          <p:cNvSpPr txBox="1"/>
          <p:nvPr/>
        </p:nvSpPr>
        <p:spPr>
          <a:xfrm>
            <a:off x="10059923" y="3803904"/>
            <a:ext cx="995171" cy="219456"/>
          </a:xfrm>
          <a:prstGeom prst="rect">
            <a:avLst/>
          </a:prstGeom>
          <a:noFill/>
        </p:spPr>
        <p:txBody>
          <a:bodyPr wrap="square" lIns="0" rIns="0" tIns="0" bIns="0" anchor="ctr">
            <a:spAutoFit/>
          </a:bodyPr>
          <a:lstStyle/>
          <a:p>
            <a:r>
              <a:rPr sz="700" b="1" i="0">
                <a:solidFill>
                  <a:srgbClr val="1A1A1A"/>
                </a:solidFill>
                <a:latin typeface="Trenda IG Text"/>
              </a:rPr>
              <a:t>People approve</a:t>
            </a:r>
          </a:p>
        </p:txBody>
      </p:sp>
      <p:sp>
        <p:nvSpPr>
          <p:cNvPr id="119" name="Shape 108"/>
          <p:cNvSpPr/>
          <p:nvPr/>
        </p:nvSpPr>
        <p:spPr>
          <a:xfrm>
            <a:off x="11091671" y="384048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09"/>
          <p:cNvSpPr txBox="1"/>
          <p:nvPr/>
        </p:nvSpPr>
        <p:spPr>
          <a:xfrm>
            <a:off x="11091671" y="384048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G1-3</a:t>
            </a:r>
          </a:p>
        </p:txBody>
      </p:sp>
      <p:sp>
        <p:nvSpPr>
          <p:cNvPr id="121" name="Text 110"/>
          <p:cNvSpPr txBox="1"/>
          <p:nvPr/>
        </p:nvSpPr>
        <p:spPr>
          <a:xfrm>
            <a:off x="9849611" y="4059936"/>
            <a:ext cx="1571244" cy="118871"/>
          </a:xfrm>
          <a:prstGeom prst="rect">
            <a:avLst/>
          </a:prstGeom>
          <a:noFill/>
        </p:spPr>
        <p:txBody>
          <a:bodyPr wrap="square" lIns="0" rIns="0" tIns="0" bIns="0" anchor="t">
            <a:spAutoFit/>
          </a:bodyPr>
          <a:lstStyle/>
          <a:p>
            <a:r>
              <a:rPr sz="700" b="0" i="0">
                <a:solidFill>
                  <a:srgbClr val="4D4D4D"/>
                </a:solidFill>
                <a:latin typeface="Trenda IG Text"/>
              </a:rPr>
              <a:t>Approvals go to the gateway (15).</a:t>
            </a:r>
          </a:p>
        </p:txBody>
      </p:sp>
      <p:cxnSp>
        <p:nvCxnSpPr>
          <p:cNvPr id="122" name="Arrow 111"/>
          <p:cNvCxnSpPr/>
          <p:nvPr/>
        </p:nvCxnSpPr>
        <p:spPr>
          <a:xfrm flipV="1">
            <a:off x="3243834" y="3657600"/>
            <a:ext cx="0" cy="109728"/>
          </a:xfrm>
          <a:prstGeom prst="line">
            <a:avLst/>
          </a:prstGeom>
          <a:ln w="952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3" name="Arrow 112"/>
          <p:cNvCxnSpPr/>
          <p:nvPr/>
        </p:nvCxnSpPr>
        <p:spPr>
          <a:xfrm flipV="1">
            <a:off x="5089398" y="3657600"/>
            <a:ext cx="0" cy="109728"/>
          </a:xfrm>
          <a:prstGeom prst="line">
            <a:avLst/>
          </a:prstGeom>
          <a:ln w="952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4" name="Arrow 113"/>
          <p:cNvCxnSpPr/>
          <p:nvPr/>
        </p:nvCxnSpPr>
        <p:spPr>
          <a:xfrm>
            <a:off x="10441533" y="2359152"/>
            <a:ext cx="0" cy="91440"/>
          </a:xfrm>
          <a:prstGeom prst="line">
            <a:avLst/>
          </a:prstGeom>
          <a:ln w="11430">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125" name="Arrow 114"/>
          <p:cNvCxnSpPr/>
          <p:nvPr/>
        </p:nvCxnSpPr>
        <p:spPr>
          <a:xfrm flipH="1">
            <a:off x="4166616" y="2450592"/>
            <a:ext cx="6274917" cy="0"/>
          </a:xfrm>
          <a:prstGeom prst="line">
            <a:avLst/>
          </a:prstGeom>
          <a:ln w="11430">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126" name="Arrow 115"/>
          <p:cNvCxnSpPr/>
          <p:nvPr/>
        </p:nvCxnSpPr>
        <p:spPr>
          <a:xfrm>
            <a:off x="4166616" y="2450592"/>
            <a:ext cx="0" cy="1531620"/>
          </a:xfrm>
          <a:prstGeom prst="line">
            <a:avLst/>
          </a:prstGeom>
          <a:ln w="11430">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127" name="Arrow 116"/>
          <p:cNvCxnSpPr/>
          <p:nvPr/>
        </p:nvCxnSpPr>
        <p:spPr>
          <a:xfrm flipH="1">
            <a:off x="4093464" y="3982212"/>
            <a:ext cx="73152" cy="0"/>
          </a:xfrm>
          <a:prstGeom prst="line">
            <a:avLst/>
          </a:prstGeom>
          <a:ln w="1143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8" name="Arrow 117"/>
          <p:cNvCxnSpPr/>
          <p:nvPr/>
        </p:nvCxnSpPr>
        <p:spPr>
          <a:xfrm>
            <a:off x="411480" y="4334256"/>
            <a:ext cx="11201400" cy="0"/>
          </a:xfrm>
          <a:prstGeom prst="line">
            <a:avLst/>
          </a:prstGeom>
          <a:ln w="9525">
            <a:solidFill>
              <a:srgbClr val="D0D0D0"/>
            </a:solidFill>
            <a:prstDash val="dash"/>
          </a:ln>
        </p:spPr>
        <p:style>
          <a:lnRef idx="2">
            <a:schemeClr val="accent1"/>
          </a:lnRef>
          <a:fillRef idx="0">
            <a:schemeClr val="accent1"/>
          </a:fillRef>
          <a:effectRef idx="1">
            <a:schemeClr val="accent1"/>
          </a:effectRef>
          <a:fontRef idx="minor">
            <a:schemeClr val="tx1"/>
          </a:fontRef>
        </p:style>
      </p:cxnSp>
      <p:sp>
        <p:nvSpPr>
          <p:cNvPr id="129" name="Shape 118"/>
          <p:cNvSpPr/>
          <p:nvPr/>
        </p:nvSpPr>
        <p:spPr>
          <a:xfrm>
            <a:off x="4572000" y="4251960"/>
            <a:ext cx="2743200" cy="164592"/>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19"/>
          <p:cNvSpPr txBox="1"/>
          <p:nvPr/>
        </p:nvSpPr>
        <p:spPr>
          <a:xfrm>
            <a:off x="4572000" y="4251960"/>
            <a:ext cx="2743200" cy="164592"/>
          </a:xfrm>
          <a:prstGeom prst="rect">
            <a:avLst/>
          </a:prstGeom>
          <a:noFill/>
        </p:spPr>
        <p:txBody>
          <a:bodyPr wrap="square" lIns="0" rIns="0" tIns="0" bIns="0" anchor="ctr">
            <a:spAutoFit/>
          </a:bodyPr>
          <a:lstStyle/>
          <a:p>
            <a:pPr algn="ctr"/>
            <a:r>
              <a:rPr sz="700" b="1" i="0" spc="80">
                <a:solidFill>
                  <a:srgbClr val="1A1A1A"/>
                </a:solidFill>
                <a:latin typeface="Trenda IG Text"/>
              </a:rPr>
              <a:t>RECOMMENDATION ≠ RELEASE</a:t>
            </a:r>
          </a:p>
        </p:txBody>
      </p:sp>
      <p:sp>
        <p:nvSpPr>
          <p:cNvPr id="131" name="Shape 120"/>
          <p:cNvSpPr/>
          <p:nvPr/>
        </p:nvSpPr>
        <p:spPr>
          <a:xfrm>
            <a:off x="411480" y="4526280"/>
            <a:ext cx="11201400" cy="1161288"/>
          </a:xfrm>
          <a:prstGeom prst="roundRect">
            <a:avLst>
              <a:gd name="adj" fmla="val 2000"/>
            </a:avLst>
          </a:prstGeom>
          <a:solidFill>
            <a:srgbClr val="FFFFFF"/>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Shape 121"/>
          <p:cNvSpPr/>
          <p:nvPr/>
        </p:nvSpPr>
        <p:spPr>
          <a:xfrm>
            <a:off x="411480" y="4526280"/>
            <a:ext cx="11201400" cy="23774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3" name="Picture 132" descr="salesforce.png"/>
          <p:cNvPicPr>
            <a:picLocks noChangeAspect="1"/>
          </p:cNvPicPr>
          <p:nvPr/>
        </p:nvPicPr>
        <p:blipFill>
          <a:blip r:embed="rId9"/>
          <a:stretch>
            <a:fillRect/>
          </a:stretch>
        </p:blipFill>
        <p:spPr>
          <a:xfrm>
            <a:off x="484632" y="4553712"/>
            <a:ext cx="182880" cy="182880"/>
          </a:xfrm>
          <a:prstGeom prst="rect">
            <a:avLst/>
          </a:prstGeom>
        </p:spPr>
      </p:pic>
      <p:sp>
        <p:nvSpPr>
          <p:cNvPr id="134" name="Text 122"/>
          <p:cNvSpPr txBox="1"/>
          <p:nvPr/>
        </p:nvSpPr>
        <p:spPr>
          <a:xfrm>
            <a:off x="731520" y="4526280"/>
            <a:ext cx="10744200" cy="237744"/>
          </a:xfrm>
          <a:prstGeom prst="rect">
            <a:avLst/>
          </a:prstGeom>
          <a:noFill/>
        </p:spPr>
        <p:txBody>
          <a:bodyPr wrap="square" lIns="0" rIns="0" tIns="0" bIns="0" anchor="ctr">
            <a:spAutoFit/>
          </a:bodyPr>
          <a:lstStyle/>
          <a:p>
            <a:pPr algn="r"/>
            <a:r>
              <a:rPr sz="700" b="1" i="0" spc="100">
                <a:solidFill>
                  <a:srgbClr val="1A1A1A"/>
                </a:solidFill>
                <a:latin typeface="Trenda IG Text"/>
              </a:rPr>
              <a:t>3  RELEASE + SEND · ONLY AFTER G2 + G3</a:t>
            </a:r>
          </a:p>
        </p:txBody>
      </p:sp>
      <p:sp>
        <p:nvSpPr>
          <p:cNvPr id="135" name="Shape 123"/>
          <p:cNvSpPr/>
          <p:nvPr/>
        </p:nvSpPr>
        <p:spPr>
          <a:xfrm>
            <a:off x="548640" y="4818888"/>
            <a:ext cx="15544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Shape 124"/>
          <p:cNvSpPr/>
          <p:nvPr/>
        </p:nvSpPr>
        <p:spPr>
          <a:xfrm>
            <a:off x="621792"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 125"/>
          <p:cNvSpPr txBox="1"/>
          <p:nvPr/>
        </p:nvSpPr>
        <p:spPr>
          <a:xfrm>
            <a:off x="621792"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13</a:t>
            </a:r>
          </a:p>
        </p:txBody>
      </p:sp>
      <p:sp>
        <p:nvSpPr>
          <p:cNvPr id="138" name="Text 126"/>
          <p:cNvSpPr txBox="1"/>
          <p:nvPr/>
        </p:nvSpPr>
        <p:spPr>
          <a:xfrm>
            <a:off x="877824" y="4873752"/>
            <a:ext cx="1152143" cy="201168"/>
          </a:xfrm>
          <a:prstGeom prst="rect">
            <a:avLst/>
          </a:prstGeom>
          <a:noFill/>
        </p:spPr>
        <p:txBody>
          <a:bodyPr wrap="square" lIns="0" rIns="0" tIns="0" bIns="0" anchor="ctr">
            <a:spAutoFit/>
          </a:bodyPr>
          <a:lstStyle/>
          <a:p>
            <a:r>
              <a:rPr sz="700" b="1" i="0">
                <a:solidFill>
                  <a:srgbClr val="1A1A1A"/>
                </a:solidFill>
                <a:latin typeface="Trenda IG Text"/>
              </a:rPr>
              <a:t>Eligibility service</a:t>
            </a:r>
          </a:p>
        </p:txBody>
      </p:sp>
      <p:sp>
        <p:nvSpPr>
          <p:cNvPr id="139" name="Text 127"/>
          <p:cNvSpPr txBox="1"/>
          <p:nvPr/>
        </p:nvSpPr>
        <p:spPr>
          <a:xfrm>
            <a:off x="640080" y="5102352"/>
            <a:ext cx="13716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Gold B + approved rules: no consent, no phone or email, STOP, deceased, duplicates out, with reasons.</a:t>
            </a:r>
          </a:p>
        </p:txBody>
      </p:sp>
      <p:sp>
        <p:nvSpPr>
          <p:cNvPr id="140" name="Shape 128"/>
          <p:cNvSpPr/>
          <p:nvPr/>
        </p:nvSpPr>
        <p:spPr>
          <a:xfrm>
            <a:off x="2249424" y="4818888"/>
            <a:ext cx="1463040" cy="804672"/>
          </a:xfrm>
          <a:prstGeom prst="roundRect">
            <a:avLst>
              <a:gd name="adj" fmla="val 8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Shape 129"/>
          <p:cNvSpPr/>
          <p:nvPr/>
        </p:nvSpPr>
        <p:spPr>
          <a:xfrm>
            <a:off x="2322576" y="4882896"/>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 130"/>
          <p:cNvSpPr txBox="1"/>
          <p:nvPr/>
        </p:nvSpPr>
        <p:spPr>
          <a:xfrm>
            <a:off x="2322576" y="4882896"/>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14</a:t>
            </a:r>
          </a:p>
        </p:txBody>
      </p:sp>
      <p:pic>
        <p:nvPicPr>
          <p:cNvPr id="143" name="Picture 142" descr="people.png"/>
          <p:cNvPicPr>
            <a:picLocks noChangeAspect="1"/>
          </p:cNvPicPr>
          <p:nvPr/>
        </p:nvPicPr>
        <p:blipFill>
          <a:blip r:embed="rId6"/>
          <a:stretch>
            <a:fillRect/>
          </a:stretch>
        </p:blipFill>
        <p:spPr>
          <a:xfrm>
            <a:off x="2551176" y="4882896"/>
            <a:ext cx="164592" cy="164592"/>
          </a:xfrm>
          <a:prstGeom prst="rect">
            <a:avLst/>
          </a:prstGeom>
        </p:spPr>
      </p:pic>
      <p:sp>
        <p:nvSpPr>
          <p:cNvPr id="144" name="Text 131"/>
          <p:cNvSpPr txBox="1"/>
          <p:nvPr/>
        </p:nvSpPr>
        <p:spPr>
          <a:xfrm>
            <a:off x="2761488" y="4855464"/>
            <a:ext cx="530352" cy="219456"/>
          </a:xfrm>
          <a:prstGeom prst="rect">
            <a:avLst/>
          </a:prstGeom>
          <a:noFill/>
        </p:spPr>
        <p:txBody>
          <a:bodyPr wrap="square" lIns="0" rIns="0" tIns="0" bIns="0" anchor="ctr">
            <a:spAutoFit/>
          </a:bodyPr>
          <a:lstStyle/>
          <a:p>
            <a:r>
              <a:rPr sz="700" b="1" i="0">
                <a:solidFill>
                  <a:srgbClr val="1A1A1A"/>
                </a:solidFill>
                <a:latin typeface="Trenda IG Text"/>
              </a:rPr>
              <a:t>Pre-send</a:t>
            </a:r>
          </a:p>
        </p:txBody>
      </p:sp>
      <p:sp>
        <p:nvSpPr>
          <p:cNvPr id="145" name="Shape 132"/>
          <p:cNvSpPr/>
          <p:nvPr/>
        </p:nvSpPr>
        <p:spPr>
          <a:xfrm>
            <a:off x="3328416" y="4892040"/>
            <a:ext cx="310896" cy="137160"/>
          </a:xfrm>
          <a:prstGeom prst="roundRect">
            <a:avLst>
              <a:gd name="adj" fmla="val 50000"/>
            </a:avLst>
          </a:prstGeom>
          <a:solidFill>
            <a:srgbClr val="00D6F2"/>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6" name="Text 133"/>
          <p:cNvSpPr txBox="1"/>
          <p:nvPr/>
        </p:nvSpPr>
        <p:spPr>
          <a:xfrm>
            <a:off x="3328416" y="4892040"/>
            <a:ext cx="310896" cy="137160"/>
          </a:xfrm>
          <a:prstGeom prst="rect">
            <a:avLst/>
          </a:prstGeom>
          <a:noFill/>
        </p:spPr>
        <p:txBody>
          <a:bodyPr wrap="square" lIns="0" rIns="0" tIns="0" bIns="0" anchor="ctr">
            <a:spAutoFit/>
          </a:bodyPr>
          <a:lstStyle/>
          <a:p>
            <a:pPr algn="ctr"/>
            <a:r>
              <a:rPr sz="700" b="1" i="0" spc="80">
                <a:solidFill>
                  <a:srgbClr val="1A1A1A"/>
                </a:solidFill>
                <a:latin typeface="Trenda IG Text"/>
              </a:rPr>
              <a:t>G2</a:t>
            </a:r>
          </a:p>
        </p:txBody>
      </p:sp>
      <p:sp>
        <p:nvSpPr>
          <p:cNvPr id="147" name="Text 134"/>
          <p:cNvSpPr txBox="1"/>
          <p:nvPr/>
        </p:nvSpPr>
        <p:spPr>
          <a:xfrm>
            <a:off x="2322576" y="5111496"/>
            <a:ext cx="1335024" cy="493776"/>
          </a:xfrm>
          <a:prstGeom prst="rect">
            <a:avLst/>
          </a:prstGeom>
          <a:noFill/>
        </p:spPr>
        <p:txBody>
          <a:bodyPr wrap="square" lIns="0" rIns="0" tIns="0" bIns="0" anchor="t">
            <a:spAutoFit/>
          </a:bodyPr>
          <a:lstStyle/>
          <a:p>
            <a:r>
              <a:rPr sz="700" b="0" i="0">
                <a:solidFill>
                  <a:srgbClr val="4D4D4D"/>
                </a:solidFill>
                <a:latin typeface="Trenda IG Text"/>
              </a:rPr>
              <a:t>SME + tech lead review a masked report: counts, consent, exclusions. No PHI on screen.</a:t>
            </a:r>
          </a:p>
        </p:txBody>
      </p:sp>
      <p:sp>
        <p:nvSpPr>
          <p:cNvPr id="148" name="Differentiator Border 136"/>
          <p:cNvSpPr/>
          <p:nvPr/>
        </p:nvSpPr>
        <p:spPr>
          <a:xfrm>
            <a:off x="3858768" y="4818888"/>
            <a:ext cx="1828800" cy="804672"/>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Shape 137"/>
          <p:cNvSpPr/>
          <p:nvPr/>
        </p:nvSpPr>
        <p:spPr>
          <a:xfrm>
            <a:off x="3877055" y="4837176"/>
            <a:ext cx="1792224" cy="76809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0" name="Shape 138"/>
          <p:cNvSpPr/>
          <p:nvPr/>
        </p:nvSpPr>
        <p:spPr>
          <a:xfrm>
            <a:off x="3922775" y="4873752"/>
            <a:ext cx="182880" cy="182880"/>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 139"/>
          <p:cNvSpPr txBox="1"/>
          <p:nvPr/>
        </p:nvSpPr>
        <p:spPr>
          <a:xfrm>
            <a:off x="3922775" y="4873752"/>
            <a:ext cx="182880" cy="182880"/>
          </a:xfrm>
          <a:prstGeom prst="rect">
            <a:avLst/>
          </a:prstGeom>
          <a:noFill/>
        </p:spPr>
        <p:txBody>
          <a:bodyPr wrap="square" lIns="0" rIns="0" tIns="0" bIns="0" anchor="ctr">
            <a:spAutoFit/>
          </a:bodyPr>
          <a:lstStyle/>
          <a:p>
            <a:pPr algn="ctr"/>
            <a:r>
              <a:rPr sz="700" b="1" i="0">
                <a:solidFill>
                  <a:srgbClr val="1A1A1A"/>
                </a:solidFill>
                <a:latin typeface="Trenda IG Text"/>
              </a:rPr>
              <a:t>15</a:t>
            </a:r>
          </a:p>
        </p:txBody>
      </p:sp>
      <p:sp>
        <p:nvSpPr>
          <p:cNvPr id="152" name="Text 140"/>
          <p:cNvSpPr txBox="1"/>
          <p:nvPr/>
        </p:nvSpPr>
        <p:spPr>
          <a:xfrm>
            <a:off x="4151375" y="4846320"/>
            <a:ext cx="1481328" cy="329184"/>
          </a:xfrm>
          <a:prstGeom prst="rect">
            <a:avLst/>
          </a:prstGeom>
          <a:noFill/>
        </p:spPr>
        <p:txBody>
          <a:bodyPr wrap="square" lIns="0" rIns="0" tIns="0" bIns="0" anchor="t">
            <a:spAutoFit/>
          </a:bodyPr>
          <a:lstStyle/>
          <a:p>
            <a:pPr>
              <a:lnSpc>
                <a:spcPct val="90000"/>
              </a:lnSpc>
            </a:pPr>
            <a:r>
              <a:rPr sz="700" b="1" i="0">
                <a:solidFill>
                  <a:srgbClr val="1A1A1A"/>
                </a:solidFill>
                <a:latin typeface="Trenda IG Text"/>
              </a:rPr>
              <a:t>Policy engine + activation gateway</a:t>
            </a:r>
          </a:p>
        </p:txBody>
      </p:sp>
      <p:sp>
        <p:nvSpPr>
          <p:cNvPr id="153" name="Text 141"/>
          <p:cNvSpPr txBox="1"/>
          <p:nvPr/>
        </p:nvSpPr>
        <p:spPr>
          <a:xfrm>
            <a:off x="3950207" y="5184648"/>
            <a:ext cx="1664207" cy="411479"/>
          </a:xfrm>
          <a:prstGeom prst="rect">
            <a:avLst/>
          </a:prstGeom>
          <a:noFill/>
        </p:spPr>
        <p:txBody>
          <a:bodyPr wrap="square" lIns="0" rIns="0" tIns="0" bIns="0" anchor="t">
            <a:spAutoFit/>
          </a:bodyPr>
          <a:lstStyle/>
          <a:p>
            <a:r>
              <a:rPr sz="700" b="0" i="0">
                <a:solidFill>
                  <a:srgbClr val="4D4D4D"/>
                </a:solidFill>
                <a:latin typeface="Trenda IG Text"/>
              </a:rPr>
              <a:t>Purpose, consent, suppression, minimum fields, human authorization. Compliance Passport; time-limited.</a:t>
            </a:r>
          </a:p>
        </p:txBody>
      </p:sp>
      <p:sp>
        <p:nvSpPr>
          <p:cNvPr id="154" name="Shape 142"/>
          <p:cNvSpPr/>
          <p:nvPr/>
        </p:nvSpPr>
        <p:spPr>
          <a:xfrm>
            <a:off x="5833872" y="4818888"/>
            <a:ext cx="1325880" cy="374904"/>
          </a:xfrm>
          <a:prstGeom prst="roundRect">
            <a:avLst>
              <a:gd name="adj" fmla="val 7000"/>
            </a:avLst>
          </a:prstGeom>
          <a:solidFill>
            <a:srgbClr val="F5F5F5"/>
          </a:solidFill>
          <a:ln w="762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Shape 143"/>
          <p:cNvSpPr/>
          <p:nvPr/>
        </p:nvSpPr>
        <p:spPr>
          <a:xfrm>
            <a:off x="5907024"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 144"/>
          <p:cNvSpPr txBox="1"/>
          <p:nvPr/>
        </p:nvSpPr>
        <p:spPr>
          <a:xfrm>
            <a:off x="5907024"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16</a:t>
            </a:r>
          </a:p>
        </p:txBody>
      </p:sp>
      <p:pic>
        <p:nvPicPr>
          <p:cNvPr id="157" name="Picture 156" descr="salesforce.png"/>
          <p:cNvPicPr>
            <a:picLocks noChangeAspect="1"/>
          </p:cNvPicPr>
          <p:nvPr/>
        </p:nvPicPr>
        <p:blipFill>
          <a:blip r:embed="rId9"/>
          <a:stretch>
            <a:fillRect/>
          </a:stretch>
        </p:blipFill>
        <p:spPr>
          <a:xfrm>
            <a:off x="6163056" y="4882896"/>
            <a:ext cx="182880" cy="182880"/>
          </a:xfrm>
          <a:prstGeom prst="rect">
            <a:avLst/>
          </a:prstGeom>
        </p:spPr>
      </p:pic>
      <p:sp>
        <p:nvSpPr>
          <p:cNvPr id="158" name="Text 145"/>
          <p:cNvSpPr txBox="1"/>
          <p:nvPr/>
        </p:nvSpPr>
        <p:spPr>
          <a:xfrm>
            <a:off x="6400800" y="4873752"/>
            <a:ext cx="685800" cy="201168"/>
          </a:xfrm>
          <a:prstGeom prst="rect">
            <a:avLst/>
          </a:prstGeom>
          <a:noFill/>
        </p:spPr>
        <p:txBody>
          <a:bodyPr wrap="square" lIns="0" rIns="0" tIns="0" bIns="0" anchor="ctr">
            <a:spAutoFit/>
          </a:bodyPr>
          <a:lstStyle/>
          <a:p>
            <a:r>
              <a:rPr sz="700" b="1" i="0">
                <a:solidFill>
                  <a:srgbClr val="1A1A1A"/>
                </a:solidFill>
                <a:latin typeface="Trenda IG Text"/>
              </a:rPr>
              <a:t>A · via Data Cloud</a:t>
            </a:r>
          </a:p>
        </p:txBody>
      </p:sp>
      <p:sp>
        <p:nvSpPr>
          <p:cNvPr id="159" name="Shape 146"/>
          <p:cNvSpPr/>
          <p:nvPr/>
        </p:nvSpPr>
        <p:spPr>
          <a:xfrm>
            <a:off x="5833872" y="5248656"/>
            <a:ext cx="1325880" cy="374904"/>
          </a:xfrm>
          <a:prstGeom prst="roundRect">
            <a:avLst>
              <a:gd name="adj" fmla="val 7000"/>
            </a:avLst>
          </a:prstGeom>
          <a:solidFill>
            <a:srgbClr val="F5F5F5"/>
          </a:solidFill>
          <a:ln w="7620">
            <a:solidFill>
              <a:srgbClr val="00B8D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Text 147"/>
          <p:cNvSpPr txBox="1"/>
          <p:nvPr/>
        </p:nvSpPr>
        <p:spPr>
          <a:xfrm>
            <a:off x="5925312" y="5303520"/>
            <a:ext cx="1161288" cy="201168"/>
          </a:xfrm>
          <a:prstGeom prst="rect">
            <a:avLst/>
          </a:prstGeom>
          <a:noFill/>
        </p:spPr>
        <p:txBody>
          <a:bodyPr wrap="square" lIns="0" rIns="0" tIns="0" bIns="0" anchor="ctr">
            <a:spAutoFit/>
          </a:bodyPr>
          <a:lstStyle/>
          <a:p>
            <a:r>
              <a:rPr sz="700" b="1" i="0">
                <a:solidFill>
                  <a:srgbClr val="1A1A1A"/>
                </a:solidFill>
                <a:latin typeface="Trenda IG Text"/>
              </a:rPr>
              <a:t>B · direct pull</a:t>
            </a:r>
          </a:p>
        </p:txBody>
      </p:sp>
      <p:sp>
        <p:nvSpPr>
          <p:cNvPr id="161" name="Shape 148"/>
          <p:cNvSpPr/>
          <p:nvPr/>
        </p:nvSpPr>
        <p:spPr>
          <a:xfrm>
            <a:off x="7306056" y="4818888"/>
            <a:ext cx="13258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Shape 149"/>
          <p:cNvSpPr/>
          <p:nvPr/>
        </p:nvSpPr>
        <p:spPr>
          <a:xfrm>
            <a:off x="7379208"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ext 150"/>
          <p:cNvSpPr txBox="1"/>
          <p:nvPr/>
        </p:nvSpPr>
        <p:spPr>
          <a:xfrm>
            <a:off x="7379208"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17</a:t>
            </a:r>
          </a:p>
        </p:txBody>
      </p:sp>
      <p:pic>
        <p:nvPicPr>
          <p:cNvPr id="164" name="Picture 163" descr="salesforce.png"/>
          <p:cNvPicPr>
            <a:picLocks noChangeAspect="1"/>
          </p:cNvPicPr>
          <p:nvPr/>
        </p:nvPicPr>
        <p:blipFill>
          <a:blip r:embed="rId9"/>
          <a:stretch>
            <a:fillRect/>
          </a:stretch>
        </p:blipFill>
        <p:spPr>
          <a:xfrm>
            <a:off x="7635240" y="4882896"/>
            <a:ext cx="182880" cy="182880"/>
          </a:xfrm>
          <a:prstGeom prst="rect">
            <a:avLst/>
          </a:prstGeom>
        </p:spPr>
      </p:pic>
      <p:sp>
        <p:nvSpPr>
          <p:cNvPr id="165" name="Text 151"/>
          <p:cNvSpPr txBox="1"/>
          <p:nvPr/>
        </p:nvSpPr>
        <p:spPr>
          <a:xfrm>
            <a:off x="7872983" y="4873752"/>
            <a:ext cx="685800" cy="201168"/>
          </a:xfrm>
          <a:prstGeom prst="rect">
            <a:avLst/>
          </a:prstGeom>
          <a:noFill/>
        </p:spPr>
        <p:txBody>
          <a:bodyPr wrap="square" lIns="0" rIns="0" tIns="0" bIns="0" anchor="ctr">
            <a:spAutoFit/>
          </a:bodyPr>
          <a:lstStyle/>
          <a:p>
            <a:r>
              <a:rPr sz="700" b="1" i="0">
                <a:solidFill>
                  <a:srgbClr val="1A1A1A"/>
                </a:solidFill>
                <a:latin typeface="Trenda IG Text"/>
              </a:rPr>
              <a:t>Data extension</a:t>
            </a:r>
          </a:p>
        </p:txBody>
      </p:sp>
      <p:sp>
        <p:nvSpPr>
          <p:cNvPr id="166" name="Text 152"/>
          <p:cNvSpPr txBox="1"/>
          <p:nvPr/>
        </p:nvSpPr>
        <p:spPr>
          <a:xfrm>
            <a:off x="7397496" y="5102352"/>
            <a:ext cx="11430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Approved records, this run only.</a:t>
            </a:r>
          </a:p>
        </p:txBody>
      </p:sp>
      <p:sp>
        <p:nvSpPr>
          <p:cNvPr id="167" name="Shape 153"/>
          <p:cNvSpPr/>
          <p:nvPr/>
        </p:nvSpPr>
        <p:spPr>
          <a:xfrm>
            <a:off x="8778240" y="4818888"/>
            <a:ext cx="1325880" cy="804672"/>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Shape 154"/>
          <p:cNvSpPr/>
          <p:nvPr/>
        </p:nvSpPr>
        <p:spPr>
          <a:xfrm>
            <a:off x="8851392"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ext 155"/>
          <p:cNvSpPr txBox="1"/>
          <p:nvPr/>
        </p:nvSpPr>
        <p:spPr>
          <a:xfrm>
            <a:off x="8851392"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18</a:t>
            </a:r>
          </a:p>
        </p:txBody>
      </p:sp>
      <p:sp>
        <p:nvSpPr>
          <p:cNvPr id="170" name="Text 156"/>
          <p:cNvSpPr txBox="1"/>
          <p:nvPr/>
        </p:nvSpPr>
        <p:spPr>
          <a:xfrm>
            <a:off x="9107424" y="4873752"/>
            <a:ext cx="923543" cy="201168"/>
          </a:xfrm>
          <a:prstGeom prst="rect">
            <a:avLst/>
          </a:prstGeom>
          <a:noFill/>
        </p:spPr>
        <p:txBody>
          <a:bodyPr wrap="square" lIns="0" rIns="0" tIns="0" bIns="0" anchor="ctr">
            <a:spAutoFit/>
          </a:bodyPr>
          <a:lstStyle/>
          <a:p>
            <a:r>
              <a:rPr sz="700" b="1" i="0">
                <a:solidFill>
                  <a:srgbClr val="1A1A1A"/>
                </a:solidFill>
                <a:latin typeface="Trenda IG Text"/>
              </a:rPr>
              <a:t>Journey starts</a:t>
            </a:r>
          </a:p>
        </p:txBody>
      </p:sp>
      <p:sp>
        <p:nvSpPr>
          <p:cNvPr id="171" name="Text 157"/>
          <p:cNvSpPr txBox="1"/>
          <p:nvPr/>
        </p:nvSpPr>
        <p:spPr>
          <a:xfrm>
            <a:off x="8869680" y="5102352"/>
            <a:ext cx="1143000" cy="493776"/>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Built in 10, tested in 11, approved in 12.</a:t>
            </a:r>
          </a:p>
        </p:txBody>
      </p:sp>
      <p:sp>
        <p:nvSpPr>
          <p:cNvPr id="172" name="Shape 158"/>
          <p:cNvSpPr/>
          <p:nvPr/>
        </p:nvSpPr>
        <p:spPr>
          <a:xfrm>
            <a:off x="10250424" y="4818888"/>
            <a:ext cx="1225296" cy="37490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Shape 159"/>
          <p:cNvSpPr/>
          <p:nvPr/>
        </p:nvSpPr>
        <p:spPr>
          <a:xfrm>
            <a:off x="10323576" y="4882896"/>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Text 160"/>
          <p:cNvSpPr txBox="1"/>
          <p:nvPr/>
        </p:nvSpPr>
        <p:spPr>
          <a:xfrm>
            <a:off x="10323576" y="4882896"/>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19</a:t>
            </a:r>
          </a:p>
        </p:txBody>
      </p:sp>
      <p:sp>
        <p:nvSpPr>
          <p:cNvPr id="175" name="Text 161"/>
          <p:cNvSpPr txBox="1"/>
          <p:nvPr/>
        </p:nvSpPr>
        <p:spPr>
          <a:xfrm>
            <a:off x="10579607" y="4873752"/>
            <a:ext cx="822960" cy="201168"/>
          </a:xfrm>
          <a:prstGeom prst="rect">
            <a:avLst/>
          </a:prstGeom>
          <a:noFill/>
        </p:spPr>
        <p:txBody>
          <a:bodyPr wrap="square" lIns="0" rIns="0" tIns="0" bIns="0" anchor="ctr">
            <a:spAutoFit/>
          </a:bodyPr>
          <a:lstStyle/>
          <a:p>
            <a:r>
              <a:rPr sz="700" b="1" i="0">
                <a:solidFill>
                  <a:srgbClr val="1A1A1A"/>
                </a:solidFill>
                <a:latin typeface="Trenda IG Text"/>
              </a:rPr>
              <a:t>Send-time check</a:t>
            </a:r>
          </a:p>
        </p:txBody>
      </p:sp>
      <p:sp>
        <p:nvSpPr>
          <p:cNvPr id="176" name="Shape 162"/>
          <p:cNvSpPr/>
          <p:nvPr/>
        </p:nvSpPr>
        <p:spPr>
          <a:xfrm>
            <a:off x="10250424" y="5248656"/>
            <a:ext cx="1225296" cy="374904"/>
          </a:xfrm>
          <a:prstGeom prst="roundRect">
            <a:avLst>
              <a:gd name="adj" fmla="val 7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Shape 163"/>
          <p:cNvSpPr/>
          <p:nvPr/>
        </p:nvSpPr>
        <p:spPr>
          <a:xfrm>
            <a:off x="10323576" y="5312664"/>
            <a:ext cx="201168" cy="20116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Text 164"/>
          <p:cNvSpPr txBox="1"/>
          <p:nvPr/>
        </p:nvSpPr>
        <p:spPr>
          <a:xfrm>
            <a:off x="10323576" y="5312664"/>
            <a:ext cx="201168" cy="201168"/>
          </a:xfrm>
          <a:prstGeom prst="rect">
            <a:avLst/>
          </a:prstGeom>
          <a:noFill/>
        </p:spPr>
        <p:txBody>
          <a:bodyPr wrap="square" lIns="0" rIns="0" tIns="0" bIns="0" anchor="ctr">
            <a:spAutoFit/>
          </a:bodyPr>
          <a:lstStyle/>
          <a:p>
            <a:pPr algn="ctr"/>
            <a:r>
              <a:rPr sz="700" b="1" i="0">
                <a:solidFill>
                  <a:srgbClr val="1A1A1A"/>
                </a:solidFill>
                <a:latin typeface="Trenda IG Text"/>
              </a:rPr>
              <a:t>20</a:t>
            </a:r>
          </a:p>
        </p:txBody>
      </p:sp>
      <p:sp>
        <p:nvSpPr>
          <p:cNvPr id="179" name="Text 165"/>
          <p:cNvSpPr txBox="1"/>
          <p:nvPr/>
        </p:nvSpPr>
        <p:spPr>
          <a:xfrm>
            <a:off x="10579607" y="5303520"/>
            <a:ext cx="822960" cy="201168"/>
          </a:xfrm>
          <a:prstGeom prst="rect">
            <a:avLst/>
          </a:prstGeom>
          <a:noFill/>
        </p:spPr>
        <p:txBody>
          <a:bodyPr wrap="square" lIns="0" rIns="0" tIns="0" bIns="0" anchor="ctr">
            <a:spAutoFit/>
          </a:bodyPr>
          <a:lstStyle/>
          <a:p>
            <a:r>
              <a:rPr sz="700" b="1" i="0">
                <a:solidFill>
                  <a:srgbClr val="1A1A1A"/>
                </a:solidFill>
                <a:latin typeface="Trenda IG Text"/>
              </a:rPr>
              <a:t>Measurement</a:t>
            </a:r>
          </a:p>
        </p:txBody>
      </p:sp>
      <p:cxnSp>
        <p:nvCxnSpPr>
          <p:cNvPr id="180" name="Arrow 166"/>
          <p:cNvCxnSpPr/>
          <p:nvPr/>
        </p:nvCxnSpPr>
        <p:spPr>
          <a:xfrm>
            <a:off x="10863072" y="5193792"/>
            <a:ext cx="0" cy="54864"/>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1" name="Arrow 167"/>
          <p:cNvCxnSpPr/>
          <p:nvPr/>
        </p:nvCxnSpPr>
        <p:spPr>
          <a:xfrm>
            <a:off x="2103120"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2" name="Arrow 168"/>
          <p:cNvCxnSpPr/>
          <p:nvPr/>
        </p:nvCxnSpPr>
        <p:spPr>
          <a:xfrm>
            <a:off x="3712464"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3" name="Arrow 169"/>
          <p:cNvCxnSpPr/>
          <p:nvPr/>
        </p:nvCxnSpPr>
        <p:spPr>
          <a:xfrm>
            <a:off x="5687568" y="50063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4" name="Arrow 170"/>
          <p:cNvCxnSpPr/>
          <p:nvPr/>
        </p:nvCxnSpPr>
        <p:spPr>
          <a:xfrm>
            <a:off x="7159752" y="5006340"/>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5" name="Arrow 171"/>
          <p:cNvCxnSpPr/>
          <p:nvPr/>
        </p:nvCxnSpPr>
        <p:spPr>
          <a:xfrm>
            <a:off x="5687568" y="543610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6" name="Arrow 172"/>
          <p:cNvCxnSpPr/>
          <p:nvPr/>
        </p:nvCxnSpPr>
        <p:spPr>
          <a:xfrm>
            <a:off x="7159752" y="5436108"/>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7" name="Arrow 173"/>
          <p:cNvCxnSpPr/>
          <p:nvPr/>
        </p:nvCxnSpPr>
        <p:spPr>
          <a:xfrm>
            <a:off x="8631936" y="5221224"/>
            <a:ext cx="146304"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8" name="Arrow 174"/>
          <p:cNvCxnSpPr/>
          <p:nvPr/>
        </p:nvCxnSpPr>
        <p:spPr>
          <a:xfrm>
            <a:off x="10104119" y="5006340"/>
            <a:ext cx="146305" cy="0"/>
          </a:xfrm>
          <a:prstGeom prst="line">
            <a:avLst/>
          </a:prstGeom>
          <a:ln w="9525">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9" name="Arrow 175"/>
          <p:cNvCxnSpPr/>
          <p:nvPr/>
        </p:nvCxnSpPr>
        <p:spPr>
          <a:xfrm>
            <a:off x="11475719" y="1687068"/>
            <a:ext cx="246889"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0" name="Arrow 176"/>
          <p:cNvCxnSpPr/>
          <p:nvPr/>
        </p:nvCxnSpPr>
        <p:spPr>
          <a:xfrm>
            <a:off x="11722608" y="1687068"/>
            <a:ext cx="0" cy="2756916"/>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1" name="Arrow 177"/>
          <p:cNvCxnSpPr/>
          <p:nvPr/>
        </p:nvCxnSpPr>
        <p:spPr>
          <a:xfrm flipH="1">
            <a:off x="1005840" y="4443984"/>
            <a:ext cx="10716768" cy="0"/>
          </a:xfrm>
          <a:prstGeom prst="line">
            <a:avLst/>
          </a:prstGeom>
          <a:ln w="11430">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2" name="Arrow 178"/>
          <p:cNvCxnSpPr/>
          <p:nvPr/>
        </p:nvCxnSpPr>
        <p:spPr>
          <a:xfrm>
            <a:off x="1005840" y="4443984"/>
            <a:ext cx="0" cy="374904"/>
          </a:xfrm>
          <a:prstGeom prst="line">
            <a:avLst/>
          </a:prstGeom>
          <a:ln w="11430">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3" name="Arrow 179"/>
          <p:cNvCxnSpPr/>
          <p:nvPr/>
        </p:nvCxnSpPr>
        <p:spPr>
          <a:xfrm>
            <a:off x="10863072" y="5623560"/>
            <a:ext cx="0" cy="109728"/>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4" name="Arrow 180"/>
          <p:cNvCxnSpPr/>
          <p:nvPr/>
        </p:nvCxnSpPr>
        <p:spPr>
          <a:xfrm flipH="1">
            <a:off x="301752" y="5733288"/>
            <a:ext cx="1056132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5" name="Arrow 181"/>
          <p:cNvCxnSpPr/>
          <p:nvPr/>
        </p:nvCxnSpPr>
        <p:spPr>
          <a:xfrm flipV="1">
            <a:off x="301752" y="1920240"/>
            <a:ext cx="0" cy="3813048"/>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cxnSp>
        <p:nvCxnSpPr>
          <p:cNvPr id="196" name="Arrow 182"/>
          <p:cNvCxnSpPr/>
          <p:nvPr/>
        </p:nvCxnSpPr>
        <p:spPr>
          <a:xfrm>
            <a:off x="301752" y="1920240"/>
            <a:ext cx="246888" cy="0"/>
          </a:xfrm>
          <a:prstGeom prst="line">
            <a:avLst/>
          </a:prstGeom>
          <a:ln w="9525">
            <a:solidFill>
              <a:srgbClr val="D0D0D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7" name="Shape 183"/>
          <p:cNvSpPr/>
          <p:nvPr/>
        </p:nvSpPr>
        <p:spPr>
          <a:xfrm>
            <a:off x="7863840" y="5669279"/>
            <a:ext cx="2194560" cy="128016"/>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8" name="Text 184"/>
          <p:cNvSpPr txBox="1"/>
          <p:nvPr/>
        </p:nvSpPr>
        <p:spPr>
          <a:xfrm>
            <a:off x="7863840" y="5669279"/>
            <a:ext cx="2194560" cy="128016"/>
          </a:xfrm>
          <a:prstGeom prst="rect">
            <a:avLst/>
          </a:prstGeom>
          <a:noFill/>
        </p:spPr>
        <p:txBody>
          <a:bodyPr wrap="square" lIns="0" rIns="0" tIns="0" bIns="0" anchor="ctr">
            <a:spAutoFit/>
          </a:bodyPr>
          <a:lstStyle/>
          <a:p>
            <a:pPr algn="ctr"/>
            <a:r>
              <a:rPr sz="700" b="1" i="0" spc="80">
                <a:solidFill>
                  <a:srgbClr val="1A1A1A"/>
                </a:solidFill>
                <a:latin typeface="Trenda IG Text"/>
              </a:rPr>
              <a:t>ENGAGEMENT BACK → NEXT RUN</a:t>
            </a:r>
          </a:p>
        </p:txBody>
      </p:sp>
      <p:sp>
        <p:nvSpPr>
          <p:cNvPr id="199" name="Text 185"/>
          <p:cNvSpPr txBox="1"/>
          <p:nvPr/>
        </p:nvSpPr>
        <p:spPr>
          <a:xfrm>
            <a:off x="411480" y="5815584"/>
            <a:ext cx="1143000" cy="457200"/>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SAFEGUARDS</a:t>
            </a:r>
          </a:p>
          <a:p>
            <a:pPr>
              <a:spcAft>
                <a:spcPts val="100"/>
              </a:spcAft>
            </a:pPr>
            <a:r>
              <a:rPr sz="700" b="0" i="0">
                <a:solidFill>
                  <a:srgbClr val="6B6B6B"/>
                </a:solidFill>
                <a:latin typeface="Trenda IG Text"/>
              </a:rPr>
              <a:t>no wrong or no-consent patient</a:t>
            </a:r>
          </a:p>
        </p:txBody>
      </p:sp>
      <p:sp>
        <p:nvSpPr>
          <p:cNvPr id="200" name="Shape 186"/>
          <p:cNvSpPr/>
          <p:nvPr/>
        </p:nvSpPr>
        <p:spPr>
          <a:xfrm>
            <a:off x="1600200"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1" name="Shape 187"/>
          <p:cNvSpPr/>
          <p:nvPr/>
        </p:nvSpPr>
        <p:spPr>
          <a:xfrm>
            <a:off x="1600200"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2" name="Text 188"/>
          <p:cNvSpPr txBox="1"/>
          <p:nvPr/>
        </p:nvSpPr>
        <p:spPr>
          <a:xfrm>
            <a:off x="1709928"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Build and test before any data lands</a:t>
            </a:r>
          </a:p>
        </p:txBody>
      </p:sp>
      <p:sp>
        <p:nvSpPr>
          <p:cNvPr id="203" name="Shape 189"/>
          <p:cNvSpPr/>
          <p:nvPr/>
        </p:nvSpPr>
        <p:spPr>
          <a:xfrm>
            <a:off x="3041033"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4" name="Shape 190"/>
          <p:cNvSpPr/>
          <p:nvPr/>
        </p:nvSpPr>
        <p:spPr>
          <a:xfrm>
            <a:off x="3041033"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 name="Text 191"/>
          <p:cNvSpPr txBox="1"/>
          <p:nvPr/>
        </p:nvSpPr>
        <p:spPr>
          <a:xfrm>
            <a:off x="3150761"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G2: masked pre-send report</a:t>
            </a:r>
          </a:p>
        </p:txBody>
      </p:sp>
      <p:sp>
        <p:nvSpPr>
          <p:cNvPr id="206" name="Shape 192"/>
          <p:cNvSpPr/>
          <p:nvPr/>
        </p:nvSpPr>
        <p:spPr>
          <a:xfrm>
            <a:off x="4481866"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 name="Shape 193"/>
          <p:cNvSpPr/>
          <p:nvPr/>
        </p:nvSpPr>
        <p:spPr>
          <a:xfrm>
            <a:off x="4481866"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 name="Text 194"/>
          <p:cNvSpPr txBox="1"/>
          <p:nvPr/>
        </p:nvSpPr>
        <p:spPr>
          <a:xfrm>
            <a:off x="4591594"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Minimum fields, only after G2 + G3</a:t>
            </a:r>
          </a:p>
        </p:txBody>
      </p:sp>
      <p:sp>
        <p:nvSpPr>
          <p:cNvPr id="209" name="Shape 195"/>
          <p:cNvSpPr/>
          <p:nvPr/>
        </p:nvSpPr>
        <p:spPr>
          <a:xfrm>
            <a:off x="5922699"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 name="Shape 196"/>
          <p:cNvSpPr/>
          <p:nvPr/>
        </p:nvSpPr>
        <p:spPr>
          <a:xfrm>
            <a:off x="5922699"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 name="Text 197"/>
          <p:cNvSpPr txBox="1"/>
          <p:nvPr/>
        </p:nvSpPr>
        <p:spPr>
          <a:xfrm>
            <a:off x="6032427"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Gateway release; agents hold no raw PHI</a:t>
            </a:r>
          </a:p>
        </p:txBody>
      </p:sp>
      <p:sp>
        <p:nvSpPr>
          <p:cNvPr id="212" name="Shape 198"/>
          <p:cNvSpPr/>
          <p:nvPr/>
        </p:nvSpPr>
        <p:spPr>
          <a:xfrm>
            <a:off x="7363532"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3" name="Shape 199"/>
          <p:cNvSpPr/>
          <p:nvPr/>
        </p:nvSpPr>
        <p:spPr>
          <a:xfrm>
            <a:off x="7363532"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4" name="Text 200"/>
          <p:cNvSpPr txBox="1"/>
          <p:nvPr/>
        </p:nvSpPr>
        <p:spPr>
          <a:xfrm>
            <a:off x="7473260"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Collibra steward approves masking</a:t>
            </a:r>
          </a:p>
        </p:txBody>
      </p:sp>
      <p:sp>
        <p:nvSpPr>
          <p:cNvPr id="215" name="Shape 201"/>
          <p:cNvSpPr/>
          <p:nvPr/>
        </p:nvSpPr>
        <p:spPr>
          <a:xfrm>
            <a:off x="8804365"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6" name="Shape 202"/>
          <p:cNvSpPr/>
          <p:nvPr/>
        </p:nvSpPr>
        <p:spPr>
          <a:xfrm>
            <a:off x="8804365"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7" name="Text 203"/>
          <p:cNvSpPr txBox="1"/>
          <p:nvPr/>
        </p:nvSpPr>
        <p:spPr>
          <a:xfrm>
            <a:off x="8914093"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Retry cap: 5, then an owner</a:t>
            </a:r>
          </a:p>
        </p:txBody>
      </p:sp>
      <p:sp>
        <p:nvSpPr>
          <p:cNvPr id="218" name="Shape 204"/>
          <p:cNvSpPr/>
          <p:nvPr/>
        </p:nvSpPr>
        <p:spPr>
          <a:xfrm>
            <a:off x="10245198" y="5815584"/>
            <a:ext cx="1367681" cy="457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9" name="Shape 205"/>
          <p:cNvSpPr/>
          <p:nvPr/>
        </p:nvSpPr>
        <p:spPr>
          <a:xfrm>
            <a:off x="10245198" y="5815584"/>
            <a:ext cx="45720" cy="45720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0" name="Text 206"/>
          <p:cNvSpPr txBox="1"/>
          <p:nvPr/>
        </p:nvSpPr>
        <p:spPr>
          <a:xfrm>
            <a:off x="10354926" y="5815584"/>
            <a:ext cx="1221377" cy="457200"/>
          </a:xfrm>
          <a:prstGeom prst="rect">
            <a:avLst/>
          </a:prstGeom>
          <a:noFill/>
        </p:spPr>
        <p:txBody>
          <a:bodyPr wrap="square" lIns="0" rIns="0" tIns="0" bIns="0" anchor="ctr">
            <a:spAutoFit/>
          </a:bodyPr>
          <a:lstStyle/>
          <a:p>
            <a:r>
              <a:rPr sz="700" b="0" i="0">
                <a:solidFill>
                  <a:srgbClr val="1A1A1A"/>
                </a:solidFill>
                <a:latin typeface="Trenda IG Text"/>
              </a:rPr>
              <a:t>Send-time re-checks + feedback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1A1A1A"/>
                </a:solidFill>
                <a:latin typeface="Trenda IG Text"/>
              </a:rPr>
              <a:t>AGENTIC HEALTHCARE CAMPAIGN PLATFORM · BUILD ORDER</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How we build it: safeguards first, release last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The 1-20 numbers are the order a campaign runs. We build in this order, so every safeguard exists and release is proven on synthetic data before any real patient moves.</a:t>
            </a:r>
          </a:p>
        </p:txBody>
      </p:sp>
      <p:sp>
        <p:nvSpPr>
          <p:cNvPr id="5" name="Shape 4"/>
          <p:cNvSpPr/>
          <p:nvPr/>
        </p:nvSpPr>
        <p:spPr>
          <a:xfrm>
            <a:off x="411480" y="1188720"/>
            <a:ext cx="1561011" cy="329184"/>
          </a:xfrm>
          <a:prstGeom prst="homePlat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21208"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0  </a:t>
            </a:r>
            <a:r>
              <a:rPr sz="700" b="1" i="0">
                <a:solidFill>
                  <a:srgbClr val="1A1A1A"/>
                </a:solidFill>
                <a:latin typeface="Trenda IG Text"/>
              </a:rPr>
              <a:t>Discovery</a:t>
            </a:r>
          </a:p>
        </p:txBody>
      </p:sp>
      <p:sp>
        <p:nvSpPr>
          <p:cNvPr id="7" name="Shape 6"/>
          <p:cNvSpPr/>
          <p:nvPr/>
        </p:nvSpPr>
        <p:spPr>
          <a:xfrm>
            <a:off x="41148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 7"/>
          <p:cNvSpPr txBox="1"/>
          <p:nvPr/>
        </p:nvSpPr>
        <p:spPr>
          <a:xfrm>
            <a:off x="50292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9" name="Shape 8"/>
          <p:cNvSpPr/>
          <p:nvPr/>
        </p:nvSpPr>
        <p:spPr>
          <a:xfrm>
            <a:off x="50292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0292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before 1</a:t>
            </a:r>
          </a:p>
        </p:txBody>
      </p:sp>
      <p:sp>
        <p:nvSpPr>
          <p:cNvPr id="11" name="Shape 10"/>
          <p:cNvSpPr/>
          <p:nvPr/>
        </p:nvSpPr>
        <p:spPr>
          <a:xfrm>
            <a:off x="50292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612648" y="2157984"/>
            <a:ext cx="1304979" cy="420623"/>
          </a:xfrm>
          <a:prstGeom prst="rect">
            <a:avLst/>
          </a:prstGeom>
          <a:noFill/>
        </p:spPr>
        <p:txBody>
          <a:bodyPr wrap="square" lIns="0" rIns="0" tIns="0" bIns="0" anchor="t">
            <a:spAutoFit/>
          </a:bodyPr>
          <a:lstStyle/>
          <a:p>
            <a:r>
              <a:rPr sz="700" b="0" i="0">
                <a:solidFill>
                  <a:srgbClr val="1A1A1A"/>
                </a:solidFill>
                <a:latin typeface="Trenda IG Text"/>
              </a:rPr>
              <a:t>BigQuery inventory, PHI classifications, Collibra owners, refresh rates</a:t>
            </a:r>
          </a:p>
        </p:txBody>
      </p:sp>
      <p:sp>
        <p:nvSpPr>
          <p:cNvPr id="13" name="Shape 12"/>
          <p:cNvSpPr/>
          <p:nvPr/>
        </p:nvSpPr>
        <p:spPr>
          <a:xfrm>
            <a:off x="502920" y="2679191"/>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612648" y="2596896"/>
            <a:ext cx="1304979" cy="420623"/>
          </a:xfrm>
          <a:prstGeom prst="rect">
            <a:avLst/>
          </a:prstGeom>
          <a:noFill/>
        </p:spPr>
        <p:txBody>
          <a:bodyPr wrap="square" lIns="0" rIns="0" tIns="0" bIns="0" anchor="t">
            <a:spAutoFit/>
          </a:bodyPr>
          <a:lstStyle/>
          <a:p>
            <a:r>
              <a:rPr sz="700" b="0" i="0">
                <a:solidFill>
                  <a:srgbClr val="1A1A1A"/>
                </a:solidFill>
                <a:latin typeface="Trenda IG Text"/>
              </a:rPr>
              <a:t>Map today's CHF campaign end to end</a:t>
            </a:r>
          </a:p>
        </p:txBody>
      </p:sp>
      <p:sp>
        <p:nvSpPr>
          <p:cNvPr id="15" name="Shape 14"/>
          <p:cNvSpPr/>
          <p:nvPr/>
        </p:nvSpPr>
        <p:spPr>
          <a:xfrm>
            <a:off x="502920" y="3118103"/>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612648" y="3035808"/>
            <a:ext cx="1304979" cy="420623"/>
          </a:xfrm>
          <a:prstGeom prst="rect">
            <a:avLst/>
          </a:prstGeom>
          <a:noFill/>
        </p:spPr>
        <p:txBody>
          <a:bodyPr wrap="square" lIns="0" rIns="0" tIns="0" bIns="0" anchor="t">
            <a:spAutoFit/>
          </a:bodyPr>
          <a:lstStyle/>
          <a:p>
            <a:r>
              <a:rPr sz="700" b="0" i="0">
                <a:solidFill>
                  <a:srgbClr val="1A1A1A"/>
                </a:solidFill>
                <a:latin typeface="Trenda IG Text"/>
              </a:rPr>
              <a:t>BAAs, Salesforce licences, G1-G3 signers</a:t>
            </a:r>
          </a:p>
        </p:txBody>
      </p:sp>
      <p:sp>
        <p:nvSpPr>
          <p:cNvPr id="17" name="Shape 16"/>
          <p:cNvSpPr/>
          <p:nvPr/>
        </p:nvSpPr>
        <p:spPr>
          <a:xfrm>
            <a:off x="502920" y="355701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12648" y="3474720"/>
            <a:ext cx="1304979" cy="420623"/>
          </a:xfrm>
          <a:prstGeom prst="rect">
            <a:avLst/>
          </a:prstGeom>
          <a:noFill/>
        </p:spPr>
        <p:txBody>
          <a:bodyPr wrap="square" lIns="0" rIns="0" tIns="0" bIns="0" anchor="t">
            <a:spAutoFit/>
          </a:bodyPr>
          <a:lstStyle/>
          <a:p>
            <a:r>
              <a:rPr sz="700" b="0" i="0">
                <a:solidFill>
                  <a:srgbClr val="1A1A1A"/>
                </a:solidFill>
                <a:latin typeface="Trenda IG Text"/>
              </a:rPr>
              <a:t>Measure today's CHF process</a:t>
            </a:r>
          </a:p>
        </p:txBody>
      </p:sp>
      <p:sp>
        <p:nvSpPr>
          <p:cNvPr id="19" name="Shape 18"/>
          <p:cNvSpPr/>
          <p:nvPr/>
        </p:nvSpPr>
        <p:spPr>
          <a:xfrm>
            <a:off x="48463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53949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Approved architecture, owners, a baseline</a:t>
            </a:r>
          </a:p>
        </p:txBody>
      </p:sp>
      <p:sp>
        <p:nvSpPr>
          <p:cNvPr id="21" name="Shape 20"/>
          <p:cNvSpPr/>
          <p:nvPr/>
        </p:nvSpPr>
        <p:spPr>
          <a:xfrm>
            <a:off x="2045643"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2283387"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1  </a:t>
            </a:r>
            <a:r>
              <a:rPr sz="700" b="1" i="0">
                <a:solidFill>
                  <a:srgbClr val="1A1A1A"/>
                </a:solidFill>
                <a:latin typeface="Trenda IG Text"/>
              </a:rPr>
              <a:t>PHI governance</a:t>
            </a:r>
          </a:p>
        </p:txBody>
      </p:sp>
      <p:sp>
        <p:nvSpPr>
          <p:cNvPr id="23" name="Shape 22"/>
          <p:cNvSpPr/>
          <p:nvPr/>
        </p:nvSpPr>
        <p:spPr>
          <a:xfrm>
            <a:off x="2045643"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2137083"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25" name="Shape 24"/>
          <p:cNvSpPr/>
          <p:nvPr/>
        </p:nvSpPr>
        <p:spPr>
          <a:xfrm>
            <a:off x="2137083"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2137083"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2</a:t>
            </a:r>
          </a:p>
        </p:txBody>
      </p:sp>
      <p:sp>
        <p:nvSpPr>
          <p:cNvPr id="27" name="Shape 26"/>
          <p:cNvSpPr/>
          <p:nvPr/>
        </p:nvSpPr>
        <p:spPr>
          <a:xfrm>
            <a:off x="2137083"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2246811" y="2157984"/>
            <a:ext cx="1304979" cy="420623"/>
          </a:xfrm>
          <a:prstGeom prst="rect">
            <a:avLst/>
          </a:prstGeom>
          <a:noFill/>
        </p:spPr>
        <p:txBody>
          <a:bodyPr wrap="square" lIns="0" rIns="0" tIns="0" bIns="0" anchor="t">
            <a:spAutoFit/>
          </a:bodyPr>
          <a:lstStyle/>
          <a:p>
            <a:r>
              <a:rPr sz="700" b="0" i="0">
                <a:solidFill>
                  <a:srgbClr val="1A1A1A"/>
                </a:solidFill>
                <a:latin typeface="Trenda IG Text"/>
              </a:rPr>
              <a:t>Collibra steward approves each dataset before ingest</a:t>
            </a:r>
          </a:p>
        </p:txBody>
      </p:sp>
      <p:sp>
        <p:nvSpPr>
          <p:cNvPr id="29" name="Shape 28"/>
          <p:cNvSpPr/>
          <p:nvPr/>
        </p:nvSpPr>
        <p:spPr>
          <a:xfrm>
            <a:off x="2137083" y="2679191"/>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2246811" y="2596896"/>
            <a:ext cx="1304979" cy="420623"/>
          </a:xfrm>
          <a:prstGeom prst="rect">
            <a:avLst/>
          </a:prstGeom>
          <a:noFill/>
        </p:spPr>
        <p:txBody>
          <a:bodyPr wrap="square" lIns="0" rIns="0" tIns="0" bIns="0" anchor="t">
            <a:spAutoFit/>
          </a:bodyPr>
          <a:lstStyle/>
          <a:p>
            <a:r>
              <a:rPr sz="700" b="0" i="0">
                <a:solidFill>
                  <a:srgbClr val="1A1A1A"/>
                </a:solidFill>
                <a:latin typeface="Trenda IG Text"/>
              </a:rPr>
              <a:t>DLP classification, policy tags, masking, row access</a:t>
            </a:r>
          </a:p>
        </p:txBody>
      </p:sp>
      <p:sp>
        <p:nvSpPr>
          <p:cNvPr id="31" name="Shape 30"/>
          <p:cNvSpPr/>
          <p:nvPr/>
        </p:nvSpPr>
        <p:spPr>
          <a:xfrm>
            <a:off x="2137083" y="3118103"/>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2246811" y="3035808"/>
            <a:ext cx="1304979" cy="420623"/>
          </a:xfrm>
          <a:prstGeom prst="rect">
            <a:avLst/>
          </a:prstGeom>
          <a:noFill/>
        </p:spPr>
        <p:txBody>
          <a:bodyPr wrap="square" lIns="0" rIns="0" tIns="0" bIns="0" anchor="t">
            <a:spAutoFit/>
          </a:bodyPr>
          <a:lstStyle/>
          <a:p>
            <a:r>
              <a:rPr sz="700" b="0" i="0">
                <a:solidFill>
                  <a:srgbClr val="1A1A1A"/>
                </a:solidFill>
                <a:latin typeface="Trenda IG Text"/>
              </a:rPr>
              <a:t>Separate service identities; fail-closed policy removal</a:t>
            </a:r>
          </a:p>
        </p:txBody>
      </p:sp>
      <p:sp>
        <p:nvSpPr>
          <p:cNvPr id="33" name="Shape 32"/>
          <p:cNvSpPr/>
          <p:nvPr/>
        </p:nvSpPr>
        <p:spPr>
          <a:xfrm>
            <a:off x="2137083" y="355701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2246811" y="3474720"/>
            <a:ext cx="1304979" cy="420623"/>
          </a:xfrm>
          <a:prstGeom prst="rect">
            <a:avLst/>
          </a:prstGeom>
          <a:noFill/>
        </p:spPr>
        <p:txBody>
          <a:bodyPr wrap="square" lIns="0" rIns="0" tIns="0" bIns="0" anchor="t">
            <a:spAutoFit/>
          </a:bodyPr>
          <a:lstStyle/>
          <a:p>
            <a:r>
              <a:rPr sz="700" b="0" i="0">
                <a:solidFill>
                  <a:srgbClr val="1A1A1A"/>
                </a:solidFill>
                <a:latin typeface="Trenda IG Text"/>
              </a:rPr>
              <a:t>Negative-access tests</a:t>
            </a:r>
          </a:p>
        </p:txBody>
      </p:sp>
      <p:sp>
        <p:nvSpPr>
          <p:cNvPr id="35" name="Shape 34"/>
          <p:cNvSpPr/>
          <p:nvPr/>
        </p:nvSpPr>
        <p:spPr>
          <a:xfrm>
            <a:off x="2118795"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2173659"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Approved and tagged before ingest; zero unauthorized PHI access in tests</a:t>
            </a:r>
          </a:p>
        </p:txBody>
      </p:sp>
      <p:sp>
        <p:nvSpPr>
          <p:cNvPr id="37" name="Shape 36"/>
          <p:cNvSpPr/>
          <p:nvPr/>
        </p:nvSpPr>
        <p:spPr>
          <a:xfrm>
            <a:off x="3679806"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3917550"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2  </a:t>
            </a:r>
            <a:r>
              <a:rPr sz="700" b="1" i="0">
                <a:solidFill>
                  <a:srgbClr val="1A1A1A"/>
                </a:solidFill>
                <a:latin typeface="Trenda IG Text"/>
              </a:rPr>
              <a:t>Data foundation</a:t>
            </a:r>
          </a:p>
        </p:txBody>
      </p:sp>
      <p:sp>
        <p:nvSpPr>
          <p:cNvPr id="39" name="Shape 38"/>
          <p:cNvSpPr/>
          <p:nvPr/>
        </p:nvSpPr>
        <p:spPr>
          <a:xfrm>
            <a:off x="3679806"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3771246"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41" name="Shape 40"/>
          <p:cNvSpPr/>
          <p:nvPr/>
        </p:nvSpPr>
        <p:spPr>
          <a:xfrm>
            <a:off x="3771246"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3771246"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 · 3 · 4 · 5 · 6</a:t>
            </a:r>
          </a:p>
        </p:txBody>
      </p:sp>
      <p:sp>
        <p:nvSpPr>
          <p:cNvPr id="43" name="Shape 42"/>
          <p:cNvSpPr/>
          <p:nvPr/>
        </p:nvSpPr>
        <p:spPr>
          <a:xfrm>
            <a:off x="3771246"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3880974" y="2157984"/>
            <a:ext cx="1304979" cy="420623"/>
          </a:xfrm>
          <a:prstGeom prst="rect">
            <a:avLst/>
          </a:prstGeom>
          <a:noFill/>
        </p:spPr>
        <p:txBody>
          <a:bodyPr wrap="square" lIns="0" rIns="0" tIns="0" bIns="0" anchor="t">
            <a:spAutoFit/>
          </a:bodyPr>
          <a:lstStyle/>
          <a:p>
            <a:r>
              <a:rPr sz="700" b="0" i="0">
                <a:solidFill>
                  <a:srgbClr val="1A1A1A"/>
                </a:solidFill>
                <a:latin typeface="Trenda IG Text"/>
              </a:rPr>
              <a:t>Approved, tagged sources into Bronze</a:t>
            </a:r>
          </a:p>
        </p:txBody>
      </p:sp>
      <p:sp>
        <p:nvSpPr>
          <p:cNvPr id="45" name="Shape 44"/>
          <p:cNvSpPr/>
          <p:nvPr/>
        </p:nvSpPr>
        <p:spPr>
          <a:xfrm>
            <a:off x="3771246" y="2679191"/>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3880974" y="2596896"/>
            <a:ext cx="1304979" cy="420623"/>
          </a:xfrm>
          <a:prstGeom prst="rect">
            <a:avLst/>
          </a:prstGeom>
          <a:noFill/>
        </p:spPr>
        <p:txBody>
          <a:bodyPr wrap="square" lIns="0" rIns="0" tIns="0" bIns="0" anchor="t">
            <a:spAutoFit/>
          </a:bodyPr>
          <a:lstStyle/>
          <a:p>
            <a:r>
              <a:rPr sz="700" b="0" i="0">
                <a:solidFill>
                  <a:srgbClr val="1A1A1A"/>
                </a:solidFill>
                <a:latin typeface="Trenda IG Text"/>
              </a:rPr>
              <a:t>Silver: identities, encounters, contacts, consent; keeps everyone</a:t>
            </a:r>
          </a:p>
        </p:txBody>
      </p:sp>
      <p:sp>
        <p:nvSpPr>
          <p:cNvPr id="47" name="Shape 46"/>
          <p:cNvSpPr/>
          <p:nvPr/>
        </p:nvSpPr>
        <p:spPr>
          <a:xfrm>
            <a:off x="3771246" y="3118103"/>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3880974" y="3035808"/>
            <a:ext cx="1304979" cy="420623"/>
          </a:xfrm>
          <a:prstGeom prst="rect">
            <a:avLst/>
          </a:prstGeom>
          <a:noFill/>
        </p:spPr>
        <p:txBody>
          <a:bodyPr wrap="square" lIns="0" rIns="0" tIns="0" bIns="0" anchor="t">
            <a:spAutoFit/>
          </a:bodyPr>
          <a:lstStyle/>
          <a:p>
            <a:r>
              <a:rPr sz="700" b="0" i="0">
                <a:solidFill>
                  <a:srgbClr val="1A1A1A"/>
                </a:solidFill>
                <a:latin typeface="Trenda IG Text"/>
              </a:rPr>
              <a:t>Gold B (restricted) and Gold A (aggregates)</a:t>
            </a:r>
          </a:p>
        </p:txBody>
      </p:sp>
      <p:sp>
        <p:nvSpPr>
          <p:cNvPr id="49" name="Shape 48"/>
          <p:cNvSpPr/>
          <p:nvPr/>
        </p:nvSpPr>
        <p:spPr>
          <a:xfrm>
            <a:off x="3771246" y="355701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9"/>
          <p:cNvSpPr txBox="1"/>
          <p:nvPr/>
        </p:nvSpPr>
        <p:spPr>
          <a:xfrm>
            <a:off x="3880974" y="3474720"/>
            <a:ext cx="1304979" cy="420623"/>
          </a:xfrm>
          <a:prstGeom prst="rect">
            <a:avLst/>
          </a:prstGeom>
          <a:noFill/>
        </p:spPr>
        <p:txBody>
          <a:bodyPr wrap="square" lIns="0" rIns="0" tIns="0" bIns="0" anchor="t">
            <a:spAutoFit/>
          </a:bodyPr>
          <a:lstStyle/>
          <a:p>
            <a:r>
              <a:rPr sz="700" b="0" i="0">
                <a:solidFill>
                  <a:srgbClr val="1A1A1A"/>
                </a:solidFill>
                <a:latin typeface="Trenda IG Text"/>
              </a:rPr>
              <a:t>Synthetic data first</a:t>
            </a:r>
          </a:p>
        </p:txBody>
      </p:sp>
      <p:sp>
        <p:nvSpPr>
          <p:cNvPr id="51" name="Shape 50"/>
          <p:cNvSpPr/>
          <p:nvPr/>
        </p:nvSpPr>
        <p:spPr>
          <a:xfrm>
            <a:off x="3752958"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3807822"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Data contracts, refresh times, quality checks pass</a:t>
            </a:r>
          </a:p>
        </p:txBody>
      </p:sp>
      <p:sp>
        <p:nvSpPr>
          <p:cNvPr id="53" name="Shape 52"/>
          <p:cNvSpPr/>
          <p:nvPr/>
        </p:nvSpPr>
        <p:spPr>
          <a:xfrm>
            <a:off x="5313970"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5551714"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3  </a:t>
            </a:r>
            <a:r>
              <a:rPr sz="700" b="1" i="0">
                <a:solidFill>
                  <a:srgbClr val="1A1A1A"/>
                </a:solidFill>
                <a:latin typeface="Trenda IG Text"/>
              </a:rPr>
              <a:t>Agentic intelligence</a:t>
            </a:r>
          </a:p>
        </p:txBody>
      </p:sp>
      <p:sp>
        <p:nvSpPr>
          <p:cNvPr id="55" name="Shape 54"/>
          <p:cNvSpPr/>
          <p:nvPr/>
        </p:nvSpPr>
        <p:spPr>
          <a:xfrm>
            <a:off x="531397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5"/>
          <p:cNvSpPr txBox="1"/>
          <p:nvPr/>
        </p:nvSpPr>
        <p:spPr>
          <a:xfrm>
            <a:off x="540541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57" name="Shape 56"/>
          <p:cNvSpPr/>
          <p:nvPr/>
        </p:nvSpPr>
        <p:spPr>
          <a:xfrm>
            <a:off x="540541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40541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6 → 7 · 8 · 9</a:t>
            </a:r>
          </a:p>
        </p:txBody>
      </p:sp>
      <p:sp>
        <p:nvSpPr>
          <p:cNvPr id="59" name="Shape 58"/>
          <p:cNvSpPr/>
          <p:nvPr/>
        </p:nvSpPr>
        <p:spPr>
          <a:xfrm>
            <a:off x="540541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5515138" y="2157984"/>
            <a:ext cx="1304979" cy="548640"/>
          </a:xfrm>
          <a:prstGeom prst="rect">
            <a:avLst/>
          </a:prstGeom>
          <a:noFill/>
        </p:spPr>
        <p:txBody>
          <a:bodyPr wrap="square" lIns="0" rIns="0" tIns="0" bIns="0" anchor="t">
            <a:spAutoFit/>
          </a:bodyPr>
          <a:lstStyle/>
          <a:p>
            <a:r>
              <a:rPr sz="700" b="0" i="0">
                <a:solidFill>
                  <a:srgbClr val="1A1A1A"/>
                </a:solidFill>
                <a:latin typeface="Trenda IG Text"/>
              </a:rPr>
              <a:t>Knowledge graph and Tableau on Gold A only</a:t>
            </a:r>
          </a:p>
        </p:txBody>
      </p:sp>
      <p:sp>
        <p:nvSpPr>
          <p:cNvPr id="61" name="Shape 60"/>
          <p:cNvSpPr/>
          <p:nvPr/>
        </p:nvSpPr>
        <p:spPr>
          <a:xfrm>
            <a:off x="5405410"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1"/>
          <p:cNvSpPr txBox="1"/>
          <p:nvPr/>
        </p:nvSpPr>
        <p:spPr>
          <a:xfrm>
            <a:off x="5515138" y="2724912"/>
            <a:ext cx="1304979" cy="548640"/>
          </a:xfrm>
          <a:prstGeom prst="rect">
            <a:avLst/>
          </a:prstGeom>
          <a:noFill/>
        </p:spPr>
        <p:txBody>
          <a:bodyPr wrap="square" lIns="0" rIns="0" tIns="0" bIns="0" anchor="t">
            <a:spAutoFit/>
          </a:bodyPr>
          <a:lstStyle/>
          <a:p>
            <a:r>
              <a:rPr sz="700" b="0" i="0">
                <a:solidFill>
                  <a:srgbClr val="1A1A1A"/>
                </a:solidFill>
                <a:latin typeface="Trenda IG Text"/>
              </a:rPr>
              <a:t>Codex prompt; Orchestrator, Strategist, Analytics</a:t>
            </a:r>
          </a:p>
        </p:txBody>
      </p:sp>
      <p:sp>
        <p:nvSpPr>
          <p:cNvPr id="63" name="Shape 62"/>
          <p:cNvSpPr/>
          <p:nvPr/>
        </p:nvSpPr>
        <p:spPr>
          <a:xfrm>
            <a:off x="5405410"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5515138" y="3291839"/>
            <a:ext cx="1304979" cy="548640"/>
          </a:xfrm>
          <a:prstGeom prst="rect">
            <a:avLst/>
          </a:prstGeom>
          <a:noFill/>
        </p:spPr>
        <p:txBody>
          <a:bodyPr wrap="square" lIns="0" rIns="0" tIns="0" bIns="0" anchor="t">
            <a:spAutoFit/>
          </a:bodyPr>
          <a:lstStyle/>
          <a:p>
            <a:r>
              <a:rPr sz="700" b="0" i="0">
                <a:solidFill>
                  <a:srgbClr val="1A1A1A"/>
                </a:solidFill>
                <a:latin typeface="Trenda IG Text"/>
              </a:rPr>
              <a:t>Opportunity Brief and G1</a:t>
            </a:r>
          </a:p>
        </p:txBody>
      </p:sp>
      <p:sp>
        <p:nvSpPr>
          <p:cNvPr id="65" name="Shape 64"/>
          <p:cNvSpPr/>
          <p:nvPr/>
        </p:nvSpPr>
        <p:spPr>
          <a:xfrm>
            <a:off x="538712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544198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 CHF brief from counts only, approved</a:t>
            </a:r>
          </a:p>
        </p:txBody>
      </p:sp>
      <p:sp>
        <p:nvSpPr>
          <p:cNvPr id="67" name="Shape 66"/>
          <p:cNvSpPr/>
          <p:nvPr/>
        </p:nvSpPr>
        <p:spPr>
          <a:xfrm>
            <a:off x="6948133"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7"/>
          <p:cNvSpPr txBox="1"/>
          <p:nvPr/>
        </p:nvSpPr>
        <p:spPr>
          <a:xfrm>
            <a:off x="7185877"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4  </a:t>
            </a:r>
            <a:r>
              <a:rPr sz="700" b="1" i="0">
                <a:solidFill>
                  <a:srgbClr val="1A1A1A"/>
                </a:solidFill>
                <a:latin typeface="Trenda IG Text"/>
              </a:rPr>
              <a:t>Build + test</a:t>
            </a:r>
          </a:p>
        </p:txBody>
      </p:sp>
      <p:sp>
        <p:nvSpPr>
          <p:cNvPr id="69" name="Shape 68"/>
          <p:cNvSpPr/>
          <p:nvPr/>
        </p:nvSpPr>
        <p:spPr>
          <a:xfrm>
            <a:off x="6948133"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039573"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71" name="Shape 70"/>
          <p:cNvSpPr/>
          <p:nvPr/>
        </p:nvSpPr>
        <p:spPr>
          <a:xfrm>
            <a:off x="7039573"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1"/>
          <p:cNvSpPr txBox="1"/>
          <p:nvPr/>
        </p:nvSpPr>
        <p:spPr>
          <a:xfrm>
            <a:off x="7039573"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10 · 11 · 12</a:t>
            </a:r>
          </a:p>
        </p:txBody>
      </p:sp>
      <p:sp>
        <p:nvSpPr>
          <p:cNvPr id="73" name="Shape 72"/>
          <p:cNvSpPr/>
          <p:nvPr/>
        </p:nvSpPr>
        <p:spPr>
          <a:xfrm>
            <a:off x="7039573"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3"/>
          <p:cNvSpPr txBox="1"/>
          <p:nvPr/>
        </p:nvSpPr>
        <p:spPr>
          <a:xfrm>
            <a:off x="7149301" y="2157984"/>
            <a:ext cx="1304979" cy="548640"/>
          </a:xfrm>
          <a:prstGeom prst="rect">
            <a:avLst/>
          </a:prstGeom>
          <a:noFill/>
        </p:spPr>
        <p:txBody>
          <a:bodyPr wrap="square" lIns="0" rIns="0" tIns="0" bIns="0" anchor="t">
            <a:spAutoFit/>
          </a:bodyPr>
          <a:lstStyle/>
          <a:p>
            <a:r>
              <a:rPr sz="700" b="0" i="0">
                <a:solidFill>
                  <a:srgbClr val="1A1A1A"/>
                </a:solidFill>
                <a:latin typeface="Trenda IG Text"/>
              </a:rPr>
              <a:t>Campaign Design Agent: journey + data extension, paused</a:t>
            </a:r>
          </a:p>
        </p:txBody>
      </p:sp>
      <p:sp>
        <p:nvSpPr>
          <p:cNvPr id="75" name="Shape 74"/>
          <p:cNvSpPr/>
          <p:nvPr/>
        </p:nvSpPr>
        <p:spPr>
          <a:xfrm>
            <a:off x="7039573"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7149301" y="2724912"/>
            <a:ext cx="1304979" cy="548640"/>
          </a:xfrm>
          <a:prstGeom prst="rect">
            <a:avLst/>
          </a:prstGeom>
          <a:noFill/>
        </p:spPr>
        <p:txBody>
          <a:bodyPr wrap="square" lIns="0" rIns="0" tIns="0" bIns="0" anchor="t">
            <a:spAutoFit/>
          </a:bodyPr>
          <a:lstStyle/>
          <a:p>
            <a:r>
              <a:rPr sz="700" b="0" i="0">
                <a:solidFill>
                  <a:srgbClr val="1A1A1A"/>
                </a:solidFill>
                <a:latin typeface="Trenda IG Text"/>
              </a:rPr>
              <a:t>Testing loop: test contacts, failure modes, 5-retry cap</a:t>
            </a:r>
          </a:p>
        </p:txBody>
      </p:sp>
      <p:sp>
        <p:nvSpPr>
          <p:cNvPr id="77" name="Shape 76"/>
          <p:cNvSpPr/>
          <p:nvPr/>
        </p:nvSpPr>
        <p:spPr>
          <a:xfrm>
            <a:off x="7039573"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149301" y="3291839"/>
            <a:ext cx="1304979" cy="548640"/>
          </a:xfrm>
          <a:prstGeom prst="rect">
            <a:avLst/>
          </a:prstGeom>
          <a:noFill/>
        </p:spPr>
        <p:txBody>
          <a:bodyPr wrap="square" lIns="0" rIns="0" tIns="0" bIns="0" anchor="t">
            <a:spAutoFit/>
          </a:bodyPr>
          <a:lstStyle/>
          <a:p>
            <a:r>
              <a:rPr sz="700" b="0" i="0">
                <a:solidFill>
                  <a:srgbClr val="1A1A1A"/>
                </a:solidFill>
                <a:latin typeface="Trenda IG Text"/>
              </a:rPr>
              <a:t>G3 approval flow</a:t>
            </a:r>
          </a:p>
        </p:txBody>
      </p:sp>
      <p:sp>
        <p:nvSpPr>
          <p:cNvPr id="79" name="Shape 78"/>
          <p:cNvSpPr/>
          <p:nvPr/>
        </p:nvSpPr>
        <p:spPr>
          <a:xfrm>
            <a:off x="7021285"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9"/>
          <p:cNvSpPr txBox="1"/>
          <p:nvPr/>
        </p:nvSpPr>
        <p:spPr>
          <a:xfrm>
            <a:off x="7076149"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CHF journey built, tested, approved; no real patient</a:t>
            </a:r>
          </a:p>
        </p:txBody>
      </p:sp>
      <p:sp>
        <p:nvSpPr>
          <p:cNvPr id="81" name="Shape 80"/>
          <p:cNvSpPr/>
          <p:nvPr/>
        </p:nvSpPr>
        <p:spPr>
          <a:xfrm>
            <a:off x="8582297" y="1188720"/>
            <a:ext cx="1561011" cy="329184"/>
          </a:xfrm>
          <a:prstGeom prst="chevron">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8820041"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5  </a:t>
            </a:r>
            <a:r>
              <a:rPr sz="700" b="1" i="0">
                <a:solidFill>
                  <a:srgbClr val="1A1A1A"/>
                </a:solidFill>
                <a:latin typeface="Trenda IG Text"/>
              </a:rPr>
              <a:t>Governed activation</a:t>
            </a:r>
          </a:p>
        </p:txBody>
      </p:sp>
      <p:sp>
        <p:nvSpPr>
          <p:cNvPr id="83" name="Shape 82"/>
          <p:cNvSpPr/>
          <p:nvPr/>
        </p:nvSpPr>
        <p:spPr>
          <a:xfrm>
            <a:off x="8582297" y="1591056"/>
            <a:ext cx="1561011" cy="3072384"/>
          </a:xfrm>
          <a:prstGeom prst="roundRect">
            <a:avLst>
              <a:gd name="adj" fmla="val 4000"/>
            </a:avLst>
          </a:prstGeom>
          <a:solidFill>
            <a:srgbClr val="F5F5F5"/>
          </a:solidFill>
          <a:ln w="762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8673737"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85" name="Shape 84"/>
          <p:cNvSpPr/>
          <p:nvPr/>
        </p:nvSpPr>
        <p:spPr>
          <a:xfrm>
            <a:off x="8673737" y="1828800"/>
            <a:ext cx="1378131" cy="237744"/>
          </a:xfrm>
          <a:prstGeom prst="roundRect">
            <a:avLst>
              <a:gd name="adj" fmla="val 30000"/>
            </a:avLst>
          </a:prstGeom>
          <a:solidFill>
            <a:srgbClr val="F5F5F5"/>
          </a:solidFill>
          <a:ln w="63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5"/>
          <p:cNvSpPr txBox="1"/>
          <p:nvPr/>
        </p:nvSpPr>
        <p:spPr>
          <a:xfrm>
            <a:off x="8673737"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13 → 19</a:t>
            </a:r>
          </a:p>
        </p:txBody>
      </p:sp>
      <p:sp>
        <p:nvSpPr>
          <p:cNvPr id="87" name="Shape 86"/>
          <p:cNvSpPr/>
          <p:nvPr/>
        </p:nvSpPr>
        <p:spPr>
          <a:xfrm>
            <a:off x="8673737" y="224027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783465" y="2157984"/>
            <a:ext cx="1304979" cy="332841"/>
          </a:xfrm>
          <a:prstGeom prst="rect">
            <a:avLst/>
          </a:prstGeom>
          <a:noFill/>
        </p:spPr>
        <p:txBody>
          <a:bodyPr wrap="square" lIns="0" rIns="0" tIns="0" bIns="0" anchor="t">
            <a:spAutoFit/>
          </a:bodyPr>
          <a:lstStyle/>
          <a:p>
            <a:r>
              <a:rPr sz="700" b="0" i="0">
                <a:solidFill>
                  <a:srgbClr val="1A1A1A"/>
                </a:solidFill>
                <a:latin typeface="Trenda IG Text"/>
              </a:rPr>
              <a:t>Eligibility service on Gold B</a:t>
            </a:r>
          </a:p>
        </p:txBody>
      </p:sp>
      <p:sp>
        <p:nvSpPr>
          <p:cNvPr id="89" name="Shape 88"/>
          <p:cNvSpPr/>
          <p:nvPr/>
        </p:nvSpPr>
        <p:spPr>
          <a:xfrm>
            <a:off x="8673737" y="259140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9"/>
          <p:cNvSpPr txBox="1"/>
          <p:nvPr/>
        </p:nvSpPr>
        <p:spPr>
          <a:xfrm>
            <a:off x="8783465" y="2509113"/>
            <a:ext cx="1304979" cy="332841"/>
          </a:xfrm>
          <a:prstGeom prst="rect">
            <a:avLst/>
          </a:prstGeom>
          <a:noFill/>
        </p:spPr>
        <p:txBody>
          <a:bodyPr wrap="square" lIns="0" rIns="0" tIns="0" bIns="0" anchor="t">
            <a:spAutoFit/>
          </a:bodyPr>
          <a:lstStyle/>
          <a:p>
            <a:r>
              <a:rPr sz="700" b="0" i="0">
                <a:solidFill>
                  <a:srgbClr val="1A1A1A"/>
                </a:solidFill>
                <a:latin typeface="Trenda IG Text"/>
              </a:rPr>
              <a:t>G2 masked pre-send report</a:t>
            </a:r>
          </a:p>
        </p:txBody>
      </p:sp>
      <p:sp>
        <p:nvSpPr>
          <p:cNvPr id="91" name="Shape 90"/>
          <p:cNvSpPr/>
          <p:nvPr/>
        </p:nvSpPr>
        <p:spPr>
          <a:xfrm>
            <a:off x="8673737" y="2942539"/>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91"/>
          <p:cNvSpPr txBox="1"/>
          <p:nvPr/>
        </p:nvSpPr>
        <p:spPr>
          <a:xfrm>
            <a:off x="8783465" y="2860243"/>
            <a:ext cx="1304979" cy="332841"/>
          </a:xfrm>
          <a:prstGeom prst="rect">
            <a:avLst/>
          </a:prstGeom>
          <a:noFill/>
        </p:spPr>
        <p:txBody>
          <a:bodyPr wrap="square" lIns="0" rIns="0" tIns="0" bIns="0" anchor="t">
            <a:spAutoFit/>
          </a:bodyPr>
          <a:lstStyle/>
          <a:p>
            <a:r>
              <a:rPr sz="700" b="0" i="0">
                <a:solidFill>
                  <a:srgbClr val="1A1A1A"/>
                </a:solidFill>
                <a:latin typeface="Trenda IG Text"/>
              </a:rPr>
              <a:t>Gateway + Compliance Passport</a:t>
            </a:r>
          </a:p>
        </p:txBody>
      </p:sp>
      <p:sp>
        <p:nvSpPr>
          <p:cNvPr id="93" name="Shape 92"/>
          <p:cNvSpPr/>
          <p:nvPr/>
        </p:nvSpPr>
        <p:spPr>
          <a:xfrm>
            <a:off x="8673737" y="329366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783465" y="3211372"/>
            <a:ext cx="1304979" cy="332841"/>
          </a:xfrm>
          <a:prstGeom prst="rect">
            <a:avLst/>
          </a:prstGeom>
          <a:noFill/>
        </p:spPr>
        <p:txBody>
          <a:bodyPr wrap="square" lIns="0" rIns="0" tIns="0" bIns="0" anchor="t">
            <a:spAutoFit/>
          </a:bodyPr>
          <a:lstStyle/>
          <a:p>
            <a:r>
              <a:rPr sz="700" b="0" i="0">
                <a:solidFill>
                  <a:srgbClr val="1A1A1A"/>
                </a:solidFill>
                <a:latin typeface="Trenda IG Text"/>
              </a:rPr>
              <a:t>Path A (Data Cloud) first; Path B after parity</a:t>
            </a:r>
          </a:p>
        </p:txBody>
      </p:sp>
      <p:sp>
        <p:nvSpPr>
          <p:cNvPr id="95" name="Shape 94"/>
          <p:cNvSpPr/>
          <p:nvPr/>
        </p:nvSpPr>
        <p:spPr>
          <a:xfrm>
            <a:off x="8673737" y="3644798"/>
            <a:ext cx="64008" cy="64008"/>
          </a:xfrm>
          <a:prstGeom prst="ellipse">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5"/>
          <p:cNvSpPr txBox="1"/>
          <p:nvPr/>
        </p:nvSpPr>
        <p:spPr>
          <a:xfrm>
            <a:off x="8783465" y="3562502"/>
            <a:ext cx="1304979" cy="332841"/>
          </a:xfrm>
          <a:prstGeom prst="rect">
            <a:avLst/>
          </a:prstGeom>
          <a:noFill/>
        </p:spPr>
        <p:txBody>
          <a:bodyPr wrap="square" lIns="0" rIns="0" tIns="0" bIns="0" anchor="t">
            <a:spAutoFit/>
          </a:bodyPr>
          <a:lstStyle/>
          <a:p>
            <a:r>
              <a:rPr sz="700" b="0" i="0">
                <a:solidFill>
                  <a:srgbClr val="1A1A1A"/>
                </a:solidFill>
                <a:latin typeface="Trenda IG Text"/>
              </a:rPr>
              <a:t>Pilot: synthetic, then a small real audience</a:t>
            </a:r>
          </a:p>
        </p:txBody>
      </p:sp>
      <p:sp>
        <p:nvSpPr>
          <p:cNvPr id="97" name="Shape 96"/>
          <p:cNvSpPr/>
          <p:nvPr/>
        </p:nvSpPr>
        <p:spPr>
          <a:xfrm>
            <a:off x="8655449"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7"/>
          <p:cNvSpPr txBox="1"/>
          <p:nvPr/>
        </p:nvSpPr>
        <p:spPr>
          <a:xfrm>
            <a:off x="8710313" y="3950208"/>
            <a:ext cx="1341555" cy="658368"/>
          </a:xfrm>
          <a:prstGeom prst="rect">
            <a:avLst/>
          </a:prstGeom>
          <a:noFill/>
        </p:spPr>
        <p:txBody>
          <a:bodyPr wrap="square" lIns="0" rIns="0" tIns="0" bIns="0" anchor="ctr">
            <a:spAutoFit/>
          </a:bodyPr>
          <a:lstStyle/>
          <a:p>
            <a:pPr>
              <a:spcAft>
                <a:spcPts val="100"/>
              </a:spcAft>
            </a:pPr>
            <a:r>
              <a:rPr sz="700" b="1" i="0">
                <a:solidFill>
                  <a:srgbClr val="8A6D00"/>
                </a:solidFill>
                <a:latin typeface="Trenda IG Text"/>
              </a:rPr>
              <a:t>EXIT  </a:t>
            </a:r>
          </a:p>
          <a:p>
            <a:pPr>
              <a:spcAft>
                <a:spcPts val="100"/>
              </a:spcAft>
            </a:pPr>
            <a:r>
              <a:rPr sz="700" b="1" i="0">
                <a:solidFill>
                  <a:srgbClr val="1A1A1A"/>
                </a:solidFill>
                <a:latin typeface="Trenda IG Text"/>
              </a:rPr>
              <a:t>Real CHF audience, equal or stronger controls; release reconciles</a:t>
            </a:r>
          </a:p>
        </p:txBody>
      </p:sp>
      <p:sp>
        <p:nvSpPr>
          <p:cNvPr id="99" name="Shape 98"/>
          <p:cNvSpPr/>
          <p:nvPr/>
        </p:nvSpPr>
        <p:spPr>
          <a:xfrm>
            <a:off x="10216460" y="1188720"/>
            <a:ext cx="1561011" cy="329184"/>
          </a:xfrm>
          <a:prstGeom prst="chevron">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10454204" y="1188720"/>
            <a:ext cx="1231827" cy="329184"/>
          </a:xfrm>
          <a:prstGeom prst="rect">
            <a:avLst/>
          </a:prstGeom>
          <a:noFill/>
        </p:spPr>
        <p:txBody>
          <a:bodyPr wrap="square" lIns="0" rIns="0" tIns="0" bIns="0" anchor="ctr">
            <a:spAutoFit/>
          </a:bodyPr>
          <a:lstStyle/>
          <a:p>
            <a:r>
              <a:rPr sz="700" b="1" i="0">
                <a:solidFill>
                  <a:srgbClr val="1A1A1A"/>
                </a:solidFill>
                <a:latin typeface="Trenda IG Text"/>
              </a:rPr>
              <a:t>PHASE 6  </a:t>
            </a:r>
            <a:r>
              <a:rPr sz="700" b="1" i="0">
                <a:solidFill>
                  <a:srgbClr val="1A1A1A"/>
                </a:solidFill>
                <a:latin typeface="Trenda IG Text"/>
              </a:rPr>
              <a:t>Measure + scale</a:t>
            </a:r>
          </a:p>
        </p:txBody>
      </p:sp>
      <p:sp>
        <p:nvSpPr>
          <p:cNvPr id="101" name="Shape 100"/>
          <p:cNvSpPr/>
          <p:nvPr/>
        </p:nvSpPr>
        <p:spPr>
          <a:xfrm>
            <a:off x="10216460" y="1591056"/>
            <a:ext cx="1561011" cy="3072384"/>
          </a:xfrm>
          <a:prstGeom prst="roundRect">
            <a:avLst>
              <a:gd name="adj" fmla="val 4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1"/>
          <p:cNvSpPr txBox="1"/>
          <p:nvPr/>
        </p:nvSpPr>
        <p:spPr>
          <a:xfrm>
            <a:off x="10307900" y="1645920"/>
            <a:ext cx="1378131" cy="164592"/>
          </a:xfrm>
          <a:prstGeom prst="rect">
            <a:avLst/>
          </a:prstGeom>
          <a:noFill/>
        </p:spPr>
        <p:txBody>
          <a:bodyPr wrap="square" lIns="0" rIns="0" tIns="0" bIns="0" anchor="ctr">
            <a:spAutoFit/>
          </a:bodyPr>
          <a:lstStyle/>
          <a:p>
            <a:r>
              <a:rPr sz="700" b="1" i="0" spc="100">
                <a:solidFill>
                  <a:srgbClr val="6B6B6B"/>
                </a:solidFill>
                <a:latin typeface="Trenda IG Text"/>
              </a:rPr>
              <a:t>BOXES ON THE SLIDE</a:t>
            </a:r>
          </a:p>
        </p:txBody>
      </p:sp>
      <p:sp>
        <p:nvSpPr>
          <p:cNvPr id="103" name="Shape 102"/>
          <p:cNvSpPr/>
          <p:nvPr/>
        </p:nvSpPr>
        <p:spPr>
          <a:xfrm>
            <a:off x="10307900" y="1828800"/>
            <a:ext cx="1378131" cy="237744"/>
          </a:xfrm>
          <a:prstGeom prst="roundRect">
            <a:avLst>
              <a:gd name="adj" fmla="val 30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Text 103"/>
          <p:cNvSpPr txBox="1"/>
          <p:nvPr/>
        </p:nvSpPr>
        <p:spPr>
          <a:xfrm>
            <a:off x="10307900" y="1828800"/>
            <a:ext cx="1378131" cy="237744"/>
          </a:xfrm>
          <a:prstGeom prst="rect">
            <a:avLst/>
          </a:prstGeom>
          <a:noFill/>
        </p:spPr>
        <p:txBody>
          <a:bodyPr wrap="square" lIns="0" rIns="0" tIns="0" bIns="0" anchor="ctr">
            <a:spAutoFit/>
          </a:bodyPr>
          <a:lstStyle/>
          <a:p>
            <a:pPr algn="ctr"/>
            <a:r>
              <a:rPr sz="740" b="1" i="0">
                <a:solidFill>
                  <a:srgbClr val="1A1A1A"/>
                </a:solidFill>
                <a:latin typeface="Trenda IG Text"/>
              </a:rPr>
              <a:t>20 + feedback</a:t>
            </a:r>
          </a:p>
        </p:txBody>
      </p:sp>
      <p:sp>
        <p:nvSpPr>
          <p:cNvPr id="105" name="Shape 104"/>
          <p:cNvSpPr/>
          <p:nvPr/>
        </p:nvSpPr>
        <p:spPr>
          <a:xfrm>
            <a:off x="10307900" y="2240279"/>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5"/>
          <p:cNvSpPr txBox="1"/>
          <p:nvPr/>
        </p:nvSpPr>
        <p:spPr>
          <a:xfrm>
            <a:off x="10417628" y="2157984"/>
            <a:ext cx="1304979" cy="548640"/>
          </a:xfrm>
          <a:prstGeom prst="rect">
            <a:avLst/>
          </a:prstGeom>
          <a:noFill/>
        </p:spPr>
        <p:txBody>
          <a:bodyPr wrap="square" lIns="0" rIns="0" tIns="0" bIns="0" anchor="t">
            <a:spAutoFit/>
          </a:bodyPr>
          <a:lstStyle/>
          <a:p>
            <a:r>
              <a:rPr sz="700" b="0" i="0">
                <a:solidFill>
                  <a:srgbClr val="1A1A1A"/>
                </a:solidFill>
                <a:latin typeface="Trenda IG Text"/>
              </a:rPr>
              <a:t>Measurement vs holdout; refresh Gold A</a:t>
            </a:r>
          </a:p>
        </p:txBody>
      </p:sp>
      <p:sp>
        <p:nvSpPr>
          <p:cNvPr id="107" name="Shape 106"/>
          <p:cNvSpPr/>
          <p:nvPr/>
        </p:nvSpPr>
        <p:spPr>
          <a:xfrm>
            <a:off x="10307900" y="2807208"/>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7"/>
          <p:cNvSpPr txBox="1"/>
          <p:nvPr/>
        </p:nvSpPr>
        <p:spPr>
          <a:xfrm>
            <a:off x="10417628" y="2724912"/>
            <a:ext cx="1304979" cy="548640"/>
          </a:xfrm>
          <a:prstGeom prst="rect">
            <a:avLst/>
          </a:prstGeom>
          <a:noFill/>
        </p:spPr>
        <p:txBody>
          <a:bodyPr wrap="square" lIns="0" rIns="0" tIns="0" bIns="0" anchor="t">
            <a:spAutoFit/>
          </a:bodyPr>
          <a:lstStyle/>
          <a:p>
            <a:r>
              <a:rPr sz="700" b="0" i="0">
                <a:solidFill>
                  <a:srgbClr val="1A1A1A"/>
                </a:solidFill>
                <a:latin typeface="Trenda IG Text"/>
              </a:rPr>
              <a:t>Compare with the Phase 0 baseline: first real speed and ROI</a:t>
            </a:r>
          </a:p>
        </p:txBody>
      </p:sp>
      <p:sp>
        <p:nvSpPr>
          <p:cNvPr id="109" name="Shape 108"/>
          <p:cNvSpPr/>
          <p:nvPr/>
        </p:nvSpPr>
        <p:spPr>
          <a:xfrm>
            <a:off x="10307900" y="3374135"/>
            <a:ext cx="64008" cy="64008"/>
          </a:xfrm>
          <a:prstGeom prst="ellipse">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10417628" y="3291839"/>
            <a:ext cx="1304979" cy="548640"/>
          </a:xfrm>
          <a:prstGeom prst="rect">
            <a:avLst/>
          </a:prstGeom>
          <a:noFill/>
        </p:spPr>
        <p:txBody>
          <a:bodyPr wrap="square" lIns="0" rIns="0" tIns="0" bIns="0" anchor="t">
            <a:spAutoFit/>
          </a:bodyPr>
          <a:lstStyle/>
          <a:p>
            <a:r>
              <a:rPr sz="700" b="0" i="0">
                <a:solidFill>
                  <a:srgbClr val="1A1A1A"/>
                </a:solidFill>
                <a:latin typeface="Trenda IG Text"/>
              </a:rPr>
              <a:t>More templates, Path B, monitoring, multi-tenancy</a:t>
            </a:r>
          </a:p>
        </p:txBody>
      </p:sp>
      <p:sp>
        <p:nvSpPr>
          <p:cNvPr id="111" name="Shape 110"/>
          <p:cNvSpPr/>
          <p:nvPr/>
        </p:nvSpPr>
        <p:spPr>
          <a:xfrm>
            <a:off x="10289612" y="3950208"/>
            <a:ext cx="1414707" cy="658368"/>
          </a:xfrm>
          <a:prstGeom prst="roundRect">
            <a:avLst>
              <a:gd name="adj" fmla="val 10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10344476" y="3950208"/>
            <a:ext cx="1341555" cy="65836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EXIT  </a:t>
            </a:r>
          </a:p>
          <a:p>
            <a:pPr>
              <a:spcAft>
                <a:spcPts val="100"/>
              </a:spcAft>
            </a:pPr>
            <a:r>
              <a:rPr sz="700" b="1" i="0">
                <a:solidFill>
                  <a:srgbClr val="1A1A1A"/>
                </a:solidFill>
                <a:latin typeface="Trenda IG Text"/>
              </a:rPr>
              <a:t>A multi-campaign accelerator</a:t>
            </a:r>
          </a:p>
        </p:txBody>
      </p:sp>
      <p:sp>
        <p:nvSpPr>
          <p:cNvPr id="113" name="Shape 112"/>
          <p:cNvSpPr/>
          <p:nvPr/>
        </p:nvSpPr>
        <p:spPr>
          <a:xfrm>
            <a:off x="2137083" y="4754880"/>
            <a:ext cx="3012294" cy="182880"/>
          </a:xfrm>
          <a:prstGeom prst="roundRect">
            <a:avLst>
              <a:gd name="adj" fmla="val 50000"/>
            </a:avLst>
          </a:prstGeom>
          <a:no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Text 113"/>
          <p:cNvSpPr txBox="1"/>
          <p:nvPr/>
        </p:nvSpPr>
        <p:spPr>
          <a:xfrm>
            <a:off x="2137083" y="4754880"/>
            <a:ext cx="3012294" cy="182880"/>
          </a:xfrm>
          <a:prstGeom prst="rect">
            <a:avLst/>
          </a:prstGeom>
          <a:noFill/>
        </p:spPr>
        <p:txBody>
          <a:bodyPr wrap="square" lIns="0" rIns="0" tIns="0" bIns="0" anchor="ctr">
            <a:spAutoFit/>
          </a:bodyPr>
          <a:lstStyle/>
          <a:p>
            <a:pPr algn="ctr"/>
            <a:r>
              <a:rPr sz="700" b="1" i="0" spc="80">
                <a:solidFill>
                  <a:srgbClr val="1A1A1A"/>
                </a:solidFill>
                <a:latin typeface="Trenda IG Text"/>
              </a:rPr>
              <a:t>PHASES 1 + 2 RUN PARTLY IN PARALLEL</a:t>
            </a:r>
          </a:p>
        </p:txBody>
      </p:sp>
      <p:sp>
        <p:nvSpPr>
          <p:cNvPr id="115" name="Shape 114"/>
          <p:cNvSpPr/>
          <p:nvPr/>
        </p:nvSpPr>
        <p:spPr>
          <a:xfrm>
            <a:off x="3103734" y="1097280"/>
            <a:ext cx="914400" cy="146304"/>
          </a:xfrm>
          <a:prstGeom prst="roundRect">
            <a:avLst>
              <a:gd name="adj" fmla="val 50000"/>
            </a:avLst>
          </a:prstGeom>
          <a:solidFill>
            <a:srgbClr val="E6E6E6"/>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3103734" y="1097280"/>
            <a:ext cx="914400" cy="146304"/>
          </a:xfrm>
          <a:prstGeom prst="rect">
            <a:avLst/>
          </a:prstGeom>
          <a:noFill/>
        </p:spPr>
        <p:txBody>
          <a:bodyPr wrap="square" lIns="0" rIns="0" tIns="0" bIns="0" anchor="ctr">
            <a:spAutoFit/>
          </a:bodyPr>
          <a:lstStyle/>
          <a:p>
            <a:pPr algn="ctr"/>
            <a:r>
              <a:rPr sz="700" b="1" i="0" spc="80">
                <a:solidFill>
                  <a:srgbClr val="1A1A1A"/>
                </a:solidFill>
                <a:latin typeface="Trenda IG Text"/>
              </a:rPr>
              <a:t>HARD GATE</a:t>
            </a:r>
          </a:p>
        </p:txBody>
      </p:sp>
      <p:sp>
        <p:nvSpPr>
          <p:cNvPr id="117" name="Shape 116"/>
          <p:cNvSpPr/>
          <p:nvPr/>
        </p:nvSpPr>
        <p:spPr>
          <a:xfrm>
            <a:off x="5405410" y="4754880"/>
            <a:ext cx="1378131" cy="182880"/>
          </a:xfrm>
          <a:prstGeom prst="roundRect">
            <a:avLst>
              <a:gd name="adj" fmla="val 50000"/>
            </a:avLst>
          </a:prstGeom>
          <a:noFill/>
          <a:ln w="762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Text 117"/>
          <p:cNvSpPr txBox="1"/>
          <p:nvPr/>
        </p:nvSpPr>
        <p:spPr>
          <a:xfrm>
            <a:off x="5405410" y="4754880"/>
            <a:ext cx="1378131" cy="182880"/>
          </a:xfrm>
          <a:prstGeom prst="rect">
            <a:avLst/>
          </a:prstGeom>
          <a:noFill/>
        </p:spPr>
        <p:txBody>
          <a:bodyPr wrap="square" lIns="0" rIns="0" tIns="0" bIns="0" anchor="ctr">
            <a:spAutoFit/>
          </a:bodyPr>
          <a:lstStyle/>
          <a:p>
            <a:pPr algn="ctr"/>
            <a:r>
              <a:rPr sz="700" b="1" i="0">
                <a:solidFill>
                  <a:srgbClr val="1A1A1A"/>
                </a:solidFill>
                <a:latin typeface="Trenda IG Text"/>
              </a:rPr>
              <a:t>SYNTHETIC GOLD A FIRST</a:t>
            </a:r>
          </a:p>
        </p:txBody>
      </p:sp>
      <p:sp>
        <p:nvSpPr>
          <p:cNvPr id="119" name="Shape 118"/>
          <p:cNvSpPr/>
          <p:nvPr/>
        </p:nvSpPr>
        <p:spPr>
          <a:xfrm>
            <a:off x="8673737" y="4754880"/>
            <a:ext cx="1378131"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9"/>
          <p:cNvSpPr txBox="1"/>
          <p:nvPr/>
        </p:nvSpPr>
        <p:spPr>
          <a:xfrm>
            <a:off x="8673737" y="4754880"/>
            <a:ext cx="1378131" cy="182880"/>
          </a:xfrm>
          <a:prstGeom prst="rect">
            <a:avLst/>
          </a:prstGeom>
          <a:noFill/>
        </p:spPr>
        <p:txBody>
          <a:bodyPr wrap="square" lIns="0" rIns="0" tIns="0" bIns="0" anchor="ctr">
            <a:spAutoFit/>
          </a:bodyPr>
          <a:lstStyle/>
          <a:p>
            <a:pPr algn="ctr"/>
            <a:r>
              <a:rPr sz="700" b="1" i="0" spc="80">
                <a:solidFill>
                  <a:srgbClr val="1A1A1A"/>
                </a:solidFill>
                <a:latin typeface="Trenda IG Text"/>
              </a:rPr>
              <a:t>FIRST REAL PATIENTS</a:t>
            </a:r>
          </a:p>
        </p:txBody>
      </p:sp>
      <p:sp>
        <p:nvSpPr>
          <p:cNvPr id="121" name="Text 120"/>
          <p:cNvSpPr txBox="1"/>
          <p:nvPr/>
        </p:nvSpPr>
        <p:spPr>
          <a:xfrm>
            <a:off x="411480" y="5047488"/>
            <a:ext cx="3657600" cy="182880"/>
          </a:xfrm>
          <a:prstGeom prst="rect">
            <a:avLst/>
          </a:prstGeom>
          <a:noFill/>
        </p:spPr>
        <p:txBody>
          <a:bodyPr wrap="square" lIns="0" rIns="0" tIns="0" bIns="0" anchor="ctr">
            <a:spAutoFit/>
          </a:bodyPr>
          <a:lstStyle/>
          <a:p>
            <a:r>
              <a:rPr sz="700" b="1" i="0" spc="120">
                <a:solidFill>
                  <a:srgbClr val="1A1A1A"/>
                </a:solidFill>
                <a:latin typeface="Trenda IG Text"/>
              </a:rPr>
              <a:t>THREE RULES SET THIS ORDER</a:t>
            </a:r>
          </a:p>
        </p:txBody>
      </p:sp>
      <p:sp>
        <p:nvSpPr>
          <p:cNvPr id="122" name="Shape 121"/>
          <p:cNvSpPr/>
          <p:nvPr/>
        </p:nvSpPr>
        <p:spPr>
          <a:xfrm>
            <a:off x="41148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22"/>
          <p:cNvSpPr/>
          <p:nvPr/>
        </p:nvSpPr>
        <p:spPr>
          <a:xfrm>
            <a:off x="41148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23"/>
          <p:cNvSpPr txBox="1"/>
          <p:nvPr/>
        </p:nvSpPr>
        <p:spPr>
          <a:xfrm>
            <a:off x="57607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Governance before agents</a:t>
            </a:r>
          </a:p>
          <a:p>
            <a:pPr>
              <a:spcAft>
                <a:spcPts val="100"/>
              </a:spcAft>
            </a:pPr>
            <a:r>
              <a:rPr sz="700" b="0" i="0">
                <a:solidFill>
                  <a:srgbClr val="4D4D4D"/>
                </a:solidFill>
                <a:latin typeface="Trenda IG Text"/>
              </a:rPr>
              <a:t>No data lands and no agent connects until governance passes its tests (Phase 1 exit).</a:t>
            </a:r>
          </a:p>
        </p:txBody>
      </p:sp>
      <p:sp>
        <p:nvSpPr>
          <p:cNvPr id="125" name="Shape 124"/>
          <p:cNvSpPr/>
          <p:nvPr/>
        </p:nvSpPr>
        <p:spPr>
          <a:xfrm>
            <a:off x="423672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Shape 125"/>
          <p:cNvSpPr/>
          <p:nvPr/>
        </p:nvSpPr>
        <p:spPr>
          <a:xfrm>
            <a:off x="423672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26"/>
          <p:cNvSpPr txBox="1"/>
          <p:nvPr/>
        </p:nvSpPr>
        <p:spPr>
          <a:xfrm>
            <a:off x="4401312"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Build and test before release</a:t>
            </a:r>
          </a:p>
          <a:p>
            <a:pPr>
              <a:spcAft>
                <a:spcPts val="100"/>
              </a:spcAft>
            </a:pPr>
            <a:r>
              <a:rPr sz="700" b="0" i="0">
                <a:solidFill>
                  <a:srgbClr val="4D4D4D"/>
                </a:solidFill>
                <a:latin typeface="Trenda IG Text"/>
              </a:rPr>
              <a:t>The data extension starts the journey by itself, so the journey is ready first (Phase 4 before 5).</a:t>
            </a:r>
          </a:p>
        </p:txBody>
      </p:sp>
      <p:sp>
        <p:nvSpPr>
          <p:cNvPr id="128" name="Shape 127"/>
          <p:cNvSpPr/>
          <p:nvPr/>
        </p:nvSpPr>
        <p:spPr>
          <a:xfrm>
            <a:off x="8061960" y="5285232"/>
            <a:ext cx="3715512"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Shape 128"/>
          <p:cNvSpPr/>
          <p:nvPr/>
        </p:nvSpPr>
        <p:spPr>
          <a:xfrm>
            <a:off x="8061960" y="5285232"/>
            <a:ext cx="45720" cy="60350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9"/>
          <p:cNvSpPr txBox="1"/>
          <p:nvPr/>
        </p:nvSpPr>
        <p:spPr>
          <a:xfrm>
            <a:off x="8226551" y="5285232"/>
            <a:ext cx="3477768" cy="603504"/>
          </a:xfrm>
          <a:prstGeom prst="rect">
            <a:avLst/>
          </a:prstGeom>
          <a:noFill/>
        </p:spPr>
        <p:txBody>
          <a:bodyPr wrap="square" lIns="0" rIns="0" tIns="0" bIns="0" anchor="ctr">
            <a:spAutoFit/>
          </a:bodyPr>
          <a:lstStyle/>
          <a:p>
            <a:pPr>
              <a:spcAft>
                <a:spcPts val="100"/>
              </a:spcAft>
            </a:pPr>
            <a:r>
              <a:rPr sz="760" b="1" i="0">
                <a:solidFill>
                  <a:srgbClr val="1A1A1A"/>
                </a:solidFill>
                <a:latin typeface="Trenda IG Text"/>
              </a:rPr>
              <a:t>Data Cloud before direct</a:t>
            </a:r>
          </a:p>
          <a:p>
            <a:pPr>
              <a:spcAft>
                <a:spcPts val="100"/>
              </a:spcAft>
            </a:pPr>
            <a:r>
              <a:rPr sz="700" b="0" i="0">
                <a:solidFill>
                  <a:srgbClr val="4D4D4D"/>
                </a:solidFill>
                <a:latin typeface="Trenda IG Text"/>
              </a:rPr>
              <a:t>Keep today's proven route until the direct path passes parity and security review.</a:t>
            </a:r>
          </a:p>
        </p:txBody>
      </p:sp>
      <p:sp>
        <p:nvSpPr>
          <p:cNvPr id="131" name="Text 130"/>
          <p:cNvSpPr txBox="1"/>
          <p:nvPr/>
        </p:nvSpPr>
        <p:spPr>
          <a:xfrm>
            <a:off x="411480" y="5943600"/>
            <a:ext cx="11365992" cy="274320"/>
          </a:xfrm>
          <a:prstGeom prst="rect">
            <a:avLst/>
          </a:prstGeom>
          <a:noFill/>
        </p:spPr>
        <p:txBody>
          <a:bodyPr wrap="square" lIns="0" rIns="0" tIns="0" bIns="0" anchor="ctr">
            <a:spAutoFit/>
          </a:bodyPr>
          <a:lstStyle/>
          <a:p>
            <a:r>
              <a:rPr sz="700" b="1" i="0">
                <a:solidFill>
                  <a:srgbClr val="1A1A1A"/>
                </a:solidFill>
                <a:latin typeface="Trenda IG Text"/>
              </a:rPr>
              <a:t>Nothing in Phase 5 touches real patients until Phases 1 and 4 pass their exits. </a:t>
            </a:r>
            <a:r>
              <a:rPr sz="700" b="0" i="0">
                <a:solidFill>
                  <a:srgbClr val="4D4D4D"/>
                </a:solidFill>
                <a:latin typeface="Trenda IG Text"/>
              </a:rPr>
              <a:t>No speed or ROI number is committed before Phase 6 compares the pilot with today's baseline.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FACTORY · NUDGE POD · DATA HARNESS + MARKETING CLOUD</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Launching a campaign: ~90 days manual vs ~10-12 days on the data harness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Data readiness, ingestion and segmentation are done once by the data harness, not per campaign. Campaign agents build and test; people approve; legal review sets the pace.</a:t>
            </a:r>
          </a:p>
        </p:txBody>
      </p:sp>
      <p:sp>
        <p:nvSpPr>
          <p:cNvPr id="5" name="Shape 4"/>
          <p:cNvSpPr/>
          <p:nvPr/>
        </p:nvSpPr>
        <p:spPr>
          <a:xfrm>
            <a:off x="411480" y="1170432"/>
            <a:ext cx="5623560" cy="3986784"/>
          </a:xfrm>
          <a:prstGeom prst="roundRect">
            <a:avLst>
              <a:gd name="adj" fmla="val 2000"/>
            </a:avLst>
          </a:prstGeom>
          <a:solidFill>
            <a:srgbClr val="F2F2F2"/>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539496" y="1225296"/>
            <a:ext cx="2743200" cy="182880"/>
          </a:xfrm>
          <a:prstGeom prst="rect">
            <a:avLst/>
          </a:prstGeom>
          <a:noFill/>
        </p:spPr>
        <p:txBody>
          <a:bodyPr wrap="square" lIns="0" rIns="0" tIns="0" bIns="0" anchor="ctr">
            <a:spAutoFit/>
          </a:bodyPr>
          <a:lstStyle/>
          <a:p>
            <a:r>
              <a:rPr sz="700" b="1" i="0" spc="120">
                <a:solidFill>
                  <a:srgbClr val="4D4D4D"/>
                </a:solidFill>
                <a:latin typeface="Trenda IG Text"/>
              </a:rPr>
              <a:t>TODAY · MANUAL DELIVERY</a:t>
            </a:r>
          </a:p>
        </p:txBody>
      </p:sp>
      <p:sp>
        <p:nvSpPr>
          <p:cNvPr id="7" name="Text 6"/>
          <p:cNvSpPr txBox="1"/>
          <p:nvPr/>
        </p:nvSpPr>
        <p:spPr>
          <a:xfrm>
            <a:off x="539496" y="1408176"/>
            <a:ext cx="1828800" cy="384048"/>
          </a:xfrm>
          <a:prstGeom prst="rect">
            <a:avLst/>
          </a:prstGeom>
          <a:noFill/>
        </p:spPr>
        <p:txBody>
          <a:bodyPr wrap="square" lIns="0" rIns="0" tIns="0" bIns="0" anchor="ctr">
            <a:spAutoFit/>
          </a:bodyPr>
          <a:lstStyle/>
          <a:p>
            <a:r>
              <a:rPr sz="2000" b="0" i="0">
                <a:solidFill>
                  <a:srgbClr val="1A1A1A"/>
                </a:solidFill>
                <a:latin typeface="Trenda IG Text"/>
              </a:rPr>
              <a:t>~90 days</a:t>
            </a:r>
          </a:p>
        </p:txBody>
      </p:sp>
      <p:sp>
        <p:nvSpPr>
          <p:cNvPr id="8" name="Text 7"/>
          <p:cNvSpPr txBox="1"/>
          <p:nvPr/>
        </p:nvSpPr>
        <p:spPr>
          <a:xfrm>
            <a:off x="2240280" y="1408176"/>
            <a:ext cx="3666744" cy="384048"/>
          </a:xfrm>
          <a:prstGeom prst="rect">
            <a:avLst/>
          </a:prstGeom>
          <a:noFill/>
        </p:spPr>
        <p:txBody>
          <a:bodyPr wrap="square" lIns="0" rIns="0" tIns="0" bIns="0" anchor="ctr">
            <a:spAutoFit/>
          </a:bodyPr>
          <a:lstStyle/>
          <a:p>
            <a:r>
              <a:rPr sz="700" b="0" i="0">
                <a:solidFill>
                  <a:srgbClr val="4D4D4D"/>
                </a:solidFill>
                <a:latin typeface="Trenda IG Text"/>
              </a:rPr>
              <a:t>9 steps in sequence. </a:t>
            </a:r>
            <a:r>
              <a:rPr sz="700" b="1" i="0">
                <a:solidFill>
                  <a:srgbClr val="FF0069"/>
                </a:solidFill>
                <a:latin typeface="Trenda IG Text"/>
              </a:rPr>
              <a:t>~40 days</a:t>
            </a:r>
            <a:r>
              <a:rPr sz="700" b="0" i="0">
                <a:solidFill>
                  <a:srgbClr val="4D4D4D"/>
                </a:solidFill>
                <a:latin typeface="Trenda IG Text"/>
              </a:rPr>
              <a:t> of data and segmentation work, repeated for every campaign</a:t>
            </a:r>
          </a:p>
        </p:txBody>
      </p:sp>
      <p:sp>
        <p:nvSpPr>
          <p:cNvPr id="9" name="Shape 8"/>
          <p:cNvSpPr/>
          <p:nvPr/>
        </p:nvSpPr>
        <p:spPr>
          <a:xfrm>
            <a:off x="502920" y="206654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94360" y="2066543"/>
            <a:ext cx="1975103" cy="274320"/>
          </a:xfrm>
          <a:prstGeom prst="rect">
            <a:avLst/>
          </a:prstGeom>
          <a:noFill/>
        </p:spPr>
        <p:txBody>
          <a:bodyPr wrap="square" lIns="0" rIns="0" tIns="0" bIns="0" anchor="ctr">
            <a:spAutoFit/>
          </a:bodyPr>
          <a:lstStyle/>
          <a:p>
            <a:r>
              <a:rPr sz="700" b="1" i="0">
                <a:solidFill>
                  <a:srgbClr val="1A1A1A"/>
                </a:solidFill>
                <a:latin typeface="Trenda IG Text"/>
              </a:rPr>
              <a:t>Discovery &amp; PRD</a:t>
            </a:r>
          </a:p>
          <a:p>
            <a:r>
              <a:rPr sz="700" b="0" i="0">
                <a:solidFill>
                  <a:srgbClr val="4D4D4D"/>
                </a:solidFill>
                <a:latin typeface="Trenda IG Text"/>
              </a:rPr>
              <a:t>scope, audience, KPIs, holdout design</a:t>
            </a:r>
          </a:p>
        </p:txBody>
      </p:sp>
      <p:sp>
        <p:nvSpPr>
          <p:cNvPr id="11" name="Shape 10"/>
          <p:cNvSpPr/>
          <p:nvPr/>
        </p:nvSpPr>
        <p:spPr>
          <a:xfrm>
            <a:off x="2606039" y="214883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2606039" y="2148839"/>
            <a:ext cx="360679" cy="109727"/>
          </a:xfrm>
          <a:prstGeom prst="rect">
            <a:avLst/>
          </a:prstGeom>
          <a:noFill/>
        </p:spPr>
        <p:txBody>
          <a:bodyPr wrap="square" lIns="0" rIns="0" tIns="0" bIns="0" anchor="ctr">
            <a:spAutoFit/>
          </a:bodyPr>
          <a:lstStyle/>
          <a:p>
            <a:pPr algn="ctr"/>
            <a:r>
              <a:rPr sz="700" b="1" i="0">
                <a:solidFill>
                  <a:srgbClr val="FFFFFE"/>
                </a:solidFill>
                <a:latin typeface="Trenda IG Text"/>
              </a:rPr>
              <a:t>10d</a:t>
            </a:r>
          </a:p>
        </p:txBody>
      </p:sp>
      <p:sp>
        <p:nvSpPr>
          <p:cNvPr id="13" name="Shape 12"/>
          <p:cNvSpPr/>
          <p:nvPr/>
        </p:nvSpPr>
        <p:spPr>
          <a:xfrm>
            <a:off x="502920" y="2386584"/>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594360" y="2386584"/>
            <a:ext cx="1975103" cy="274320"/>
          </a:xfrm>
          <a:prstGeom prst="rect">
            <a:avLst/>
          </a:prstGeom>
          <a:noFill/>
        </p:spPr>
        <p:txBody>
          <a:bodyPr wrap="square" lIns="0" rIns="0" tIns="0" bIns="0" anchor="ctr">
            <a:spAutoFit/>
          </a:bodyPr>
          <a:lstStyle/>
          <a:p>
            <a:r>
              <a:rPr sz="700" b="1" i="0">
                <a:solidFill>
                  <a:srgbClr val="1A1A1A"/>
                </a:solidFill>
                <a:latin typeface="Trenda IG Text"/>
              </a:rPr>
              <a:t>ADSI data readiness</a:t>
            </a:r>
          </a:p>
          <a:p>
            <a:r>
              <a:rPr sz="700" b="0" i="0">
                <a:solidFill>
                  <a:srgbClr val="4D4D4D"/>
                </a:solidFill>
                <a:latin typeface="Trenda IG Text"/>
              </a:rPr>
              <a:t>BigQuery tables, mapping, EUID, consent</a:t>
            </a:r>
          </a:p>
        </p:txBody>
      </p:sp>
      <p:sp>
        <p:nvSpPr>
          <p:cNvPr id="15" name="Shape 14"/>
          <p:cNvSpPr/>
          <p:nvPr/>
        </p:nvSpPr>
        <p:spPr>
          <a:xfrm>
            <a:off x="2966719" y="2468879"/>
            <a:ext cx="360679"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2966719" y="2468879"/>
            <a:ext cx="360679" cy="109727"/>
          </a:xfrm>
          <a:prstGeom prst="rect">
            <a:avLst/>
          </a:prstGeom>
          <a:noFill/>
        </p:spPr>
        <p:txBody>
          <a:bodyPr wrap="square" lIns="0" rIns="0" tIns="0" bIns="0" anchor="ctr">
            <a:spAutoFit/>
          </a:bodyPr>
          <a:lstStyle/>
          <a:p>
            <a:pPr algn="ctr"/>
            <a:r>
              <a:rPr sz="700" b="1" i="0">
                <a:solidFill>
                  <a:srgbClr val="FFFFFE"/>
                </a:solidFill>
                <a:latin typeface="Trenda IG Text"/>
              </a:rPr>
              <a:t>10d</a:t>
            </a:r>
          </a:p>
        </p:txBody>
      </p:sp>
      <p:sp>
        <p:nvSpPr>
          <p:cNvPr id="17" name="Shape 16"/>
          <p:cNvSpPr/>
          <p:nvPr/>
        </p:nvSpPr>
        <p:spPr>
          <a:xfrm>
            <a:off x="502920" y="2706624"/>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594360" y="2706624"/>
            <a:ext cx="1975103" cy="274320"/>
          </a:xfrm>
          <a:prstGeom prst="rect">
            <a:avLst/>
          </a:prstGeom>
          <a:noFill/>
        </p:spPr>
        <p:txBody>
          <a:bodyPr wrap="square" lIns="0" rIns="0" tIns="0" bIns="0" anchor="ctr">
            <a:spAutoFit/>
          </a:bodyPr>
          <a:lstStyle/>
          <a:p>
            <a:r>
              <a:rPr sz="700" b="1" i="0">
                <a:solidFill>
                  <a:srgbClr val="1A1A1A"/>
                </a:solidFill>
                <a:latin typeface="Trenda IG Text"/>
              </a:rPr>
              <a:t>Data Cloud ingestion</a:t>
            </a:r>
          </a:p>
          <a:p>
            <a:r>
              <a:rPr sz="700" b="0" i="0">
                <a:solidFill>
                  <a:srgbClr val="4D4D4D"/>
                </a:solidFill>
                <a:latin typeface="Trenda IG Text"/>
              </a:rPr>
              <a:t>streams, transforms, DMOs, identity links</a:t>
            </a:r>
          </a:p>
        </p:txBody>
      </p:sp>
      <p:sp>
        <p:nvSpPr>
          <p:cNvPr id="19" name="Shape 18"/>
          <p:cNvSpPr/>
          <p:nvPr/>
        </p:nvSpPr>
        <p:spPr>
          <a:xfrm>
            <a:off x="3327399" y="2788920"/>
            <a:ext cx="432816"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9"/>
          <p:cNvSpPr txBox="1"/>
          <p:nvPr/>
        </p:nvSpPr>
        <p:spPr>
          <a:xfrm>
            <a:off x="3327399" y="2788920"/>
            <a:ext cx="432816" cy="109727"/>
          </a:xfrm>
          <a:prstGeom prst="rect">
            <a:avLst/>
          </a:prstGeom>
          <a:noFill/>
        </p:spPr>
        <p:txBody>
          <a:bodyPr wrap="square" lIns="0" rIns="0" tIns="0" bIns="0" anchor="ctr">
            <a:spAutoFit/>
          </a:bodyPr>
          <a:lstStyle/>
          <a:p>
            <a:pPr algn="ctr"/>
            <a:r>
              <a:rPr sz="700" b="1" i="0">
                <a:solidFill>
                  <a:srgbClr val="FFFFFE"/>
                </a:solidFill>
                <a:latin typeface="Trenda IG Text"/>
              </a:rPr>
              <a:t>12d</a:t>
            </a:r>
          </a:p>
        </p:txBody>
      </p:sp>
      <p:sp>
        <p:nvSpPr>
          <p:cNvPr id="21" name="Shape 20"/>
          <p:cNvSpPr/>
          <p:nvPr/>
        </p:nvSpPr>
        <p:spPr>
          <a:xfrm>
            <a:off x="502920" y="3026663"/>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94360" y="3026663"/>
            <a:ext cx="1975103" cy="274320"/>
          </a:xfrm>
          <a:prstGeom prst="rect">
            <a:avLst/>
          </a:prstGeom>
          <a:noFill/>
        </p:spPr>
        <p:txBody>
          <a:bodyPr wrap="square" lIns="0" rIns="0" tIns="0" bIns="0" anchor="ctr">
            <a:spAutoFit/>
          </a:bodyPr>
          <a:lstStyle/>
          <a:p>
            <a:r>
              <a:rPr sz="700" b="1" i="0">
                <a:solidFill>
                  <a:srgbClr val="1A1A1A"/>
                </a:solidFill>
                <a:latin typeface="Trenda IG Text"/>
              </a:rPr>
              <a:t>Segment &amp; activation</a:t>
            </a:r>
          </a:p>
          <a:p>
            <a:r>
              <a:rPr sz="700" b="0" i="0">
                <a:solidFill>
                  <a:srgbClr val="4D4D4D"/>
                </a:solidFill>
                <a:latin typeface="Trenda IG Text"/>
              </a:rPr>
              <a:t>consent and age filters, activate to SFMC</a:t>
            </a:r>
          </a:p>
        </p:txBody>
      </p:sp>
      <p:sp>
        <p:nvSpPr>
          <p:cNvPr id="23" name="Shape 22"/>
          <p:cNvSpPr/>
          <p:nvPr/>
        </p:nvSpPr>
        <p:spPr>
          <a:xfrm>
            <a:off x="3760216" y="3108959"/>
            <a:ext cx="288543" cy="109727"/>
          </a:xfrm>
          <a:prstGeom prst="roundRect">
            <a:avLst>
              <a:gd name="adj" fmla="val 3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3760216" y="3108959"/>
            <a:ext cx="288543" cy="109727"/>
          </a:xfrm>
          <a:prstGeom prst="rect">
            <a:avLst/>
          </a:prstGeom>
          <a:noFill/>
        </p:spPr>
        <p:txBody>
          <a:bodyPr wrap="square" lIns="0" rIns="0" tIns="0" bIns="0" anchor="ctr">
            <a:spAutoFit/>
          </a:bodyPr>
          <a:lstStyle/>
          <a:p>
            <a:pPr algn="ctr"/>
            <a:r>
              <a:rPr sz="700" b="1" i="0">
                <a:solidFill>
                  <a:srgbClr val="FFFFFE"/>
                </a:solidFill>
                <a:latin typeface="Trenda IG Text"/>
              </a:rPr>
              <a:t>8d</a:t>
            </a:r>
          </a:p>
        </p:txBody>
      </p:sp>
      <p:sp>
        <p:nvSpPr>
          <p:cNvPr id="25" name="Shape 24"/>
          <p:cNvSpPr/>
          <p:nvPr/>
        </p:nvSpPr>
        <p:spPr>
          <a:xfrm>
            <a:off x="502920" y="334670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594360" y="3346703"/>
            <a:ext cx="1975103" cy="274320"/>
          </a:xfrm>
          <a:prstGeom prst="rect">
            <a:avLst/>
          </a:prstGeom>
          <a:noFill/>
        </p:spPr>
        <p:txBody>
          <a:bodyPr wrap="square" lIns="0" rIns="0" tIns="0" bIns="0" anchor="ctr">
            <a:spAutoFit/>
          </a:bodyPr>
          <a:lstStyle/>
          <a:p>
            <a:r>
              <a:rPr sz="700" b="1" i="0">
                <a:solidFill>
                  <a:srgbClr val="1A1A1A"/>
                </a:solidFill>
                <a:latin typeface="Trenda IG Text"/>
              </a:rPr>
              <a:t>SFMC data prep</a:t>
            </a:r>
          </a:p>
          <a:p>
            <a:r>
              <a:rPr sz="700" b="0" i="0">
                <a:solidFill>
                  <a:srgbClr val="4D4D4D"/>
                </a:solidFill>
                <a:latin typeface="Trenda IG Text"/>
              </a:rPr>
              <a:t>SQL, messaging DE, suppression</a:t>
            </a:r>
          </a:p>
        </p:txBody>
      </p:sp>
      <p:sp>
        <p:nvSpPr>
          <p:cNvPr id="27" name="Shape 26"/>
          <p:cNvSpPr/>
          <p:nvPr/>
        </p:nvSpPr>
        <p:spPr>
          <a:xfrm>
            <a:off x="4048759" y="3428999"/>
            <a:ext cx="288544"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 27"/>
          <p:cNvSpPr txBox="1"/>
          <p:nvPr/>
        </p:nvSpPr>
        <p:spPr>
          <a:xfrm>
            <a:off x="4048759" y="3428999"/>
            <a:ext cx="288544" cy="109727"/>
          </a:xfrm>
          <a:prstGeom prst="rect">
            <a:avLst/>
          </a:prstGeom>
          <a:noFill/>
        </p:spPr>
        <p:txBody>
          <a:bodyPr wrap="square" lIns="0" rIns="0" tIns="0" bIns="0" anchor="ctr">
            <a:spAutoFit/>
          </a:bodyPr>
          <a:lstStyle/>
          <a:p>
            <a:pPr algn="ctr"/>
            <a:r>
              <a:rPr sz="700" b="1" i="0">
                <a:solidFill>
                  <a:srgbClr val="000000"/>
                </a:solidFill>
                <a:latin typeface="Trenda IG Text"/>
              </a:rPr>
              <a:t>8d</a:t>
            </a:r>
          </a:p>
        </p:txBody>
      </p:sp>
      <p:sp>
        <p:nvSpPr>
          <p:cNvPr id="29" name="Shape 28"/>
          <p:cNvSpPr/>
          <p:nvPr/>
        </p:nvSpPr>
        <p:spPr>
          <a:xfrm>
            <a:off x="502920" y="3666744"/>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9"/>
          <p:cNvSpPr txBox="1"/>
          <p:nvPr/>
        </p:nvSpPr>
        <p:spPr>
          <a:xfrm>
            <a:off x="594360" y="3666744"/>
            <a:ext cx="1975103" cy="274320"/>
          </a:xfrm>
          <a:prstGeom prst="rect">
            <a:avLst/>
          </a:prstGeom>
          <a:noFill/>
        </p:spPr>
        <p:txBody>
          <a:bodyPr wrap="square" lIns="0" rIns="0" tIns="0" bIns="0" anchor="ctr">
            <a:spAutoFit/>
          </a:bodyPr>
          <a:lstStyle/>
          <a:p>
            <a:r>
              <a:rPr sz="700" b="1" i="0">
                <a:solidFill>
                  <a:srgbClr val="1A1A1A"/>
                </a:solidFill>
                <a:latin typeface="Trenda IG Text"/>
              </a:rPr>
              <a:t>Content &amp; legal approval</a:t>
            </a:r>
          </a:p>
          <a:p>
            <a:r>
              <a:rPr sz="700" b="0" i="0">
                <a:solidFill>
                  <a:srgbClr val="4D4D4D"/>
                </a:solidFill>
                <a:latin typeface="Trenda IG Text"/>
              </a:rPr>
              <a:t>copy, AMPscript, STOP keywords, sign-off</a:t>
            </a:r>
          </a:p>
        </p:txBody>
      </p:sp>
      <p:sp>
        <p:nvSpPr>
          <p:cNvPr id="31" name="Shape 30"/>
          <p:cNvSpPr/>
          <p:nvPr/>
        </p:nvSpPr>
        <p:spPr>
          <a:xfrm>
            <a:off x="4337304" y="3749039"/>
            <a:ext cx="504952"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31"/>
          <p:cNvSpPr txBox="1"/>
          <p:nvPr/>
        </p:nvSpPr>
        <p:spPr>
          <a:xfrm>
            <a:off x="4337304" y="3749039"/>
            <a:ext cx="504952" cy="109727"/>
          </a:xfrm>
          <a:prstGeom prst="rect">
            <a:avLst/>
          </a:prstGeom>
          <a:noFill/>
        </p:spPr>
        <p:txBody>
          <a:bodyPr wrap="square" lIns="0" rIns="0" tIns="0" bIns="0" anchor="ctr">
            <a:spAutoFit/>
          </a:bodyPr>
          <a:lstStyle/>
          <a:p>
            <a:pPr algn="ctr"/>
            <a:r>
              <a:rPr sz="700" b="1" i="0">
                <a:solidFill>
                  <a:srgbClr val="000000"/>
                </a:solidFill>
                <a:latin typeface="Trenda IG Text"/>
              </a:rPr>
              <a:t>14d</a:t>
            </a:r>
          </a:p>
        </p:txBody>
      </p:sp>
      <p:sp>
        <p:nvSpPr>
          <p:cNvPr id="33" name="Shape 32"/>
          <p:cNvSpPr/>
          <p:nvPr/>
        </p:nvSpPr>
        <p:spPr>
          <a:xfrm>
            <a:off x="502920" y="3986783"/>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594360" y="3986783"/>
            <a:ext cx="1975103" cy="274320"/>
          </a:xfrm>
          <a:prstGeom prst="rect">
            <a:avLst/>
          </a:prstGeom>
          <a:noFill/>
        </p:spPr>
        <p:txBody>
          <a:bodyPr wrap="square" lIns="0" rIns="0" tIns="0" bIns="0" anchor="ctr">
            <a:spAutoFit/>
          </a:bodyPr>
          <a:lstStyle/>
          <a:p>
            <a:r>
              <a:rPr sz="700" b="1" i="0">
                <a:solidFill>
                  <a:srgbClr val="1A1A1A"/>
                </a:solidFill>
                <a:latin typeface="Trenda IG Text"/>
              </a:rPr>
              <a:t>Journey Builder build</a:t>
            </a:r>
          </a:p>
          <a:p>
            <a:r>
              <a:rPr sz="700" b="0" i="0">
                <a:solidFill>
                  <a:srgbClr val="4D4D4D"/>
                </a:solidFill>
                <a:latin typeface="Trenda IG Text"/>
              </a:rPr>
              <a:t>entry DE, splits, CloudPages, surveys</a:t>
            </a:r>
          </a:p>
        </p:txBody>
      </p:sp>
      <p:sp>
        <p:nvSpPr>
          <p:cNvPr id="35" name="Shape 34"/>
          <p:cNvSpPr/>
          <p:nvPr/>
        </p:nvSpPr>
        <p:spPr>
          <a:xfrm>
            <a:off x="4842256" y="4069079"/>
            <a:ext cx="288543"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4842256" y="4069079"/>
            <a:ext cx="288543" cy="109727"/>
          </a:xfrm>
          <a:prstGeom prst="rect">
            <a:avLst/>
          </a:prstGeom>
          <a:noFill/>
        </p:spPr>
        <p:txBody>
          <a:bodyPr wrap="square" lIns="0" rIns="0" tIns="0" bIns="0" anchor="ctr">
            <a:spAutoFit/>
          </a:bodyPr>
          <a:lstStyle/>
          <a:p>
            <a:pPr algn="ctr"/>
            <a:r>
              <a:rPr sz="700" b="1" i="0">
                <a:solidFill>
                  <a:srgbClr val="000000"/>
                </a:solidFill>
                <a:latin typeface="Trenda IG Text"/>
              </a:rPr>
              <a:t>8d</a:t>
            </a:r>
          </a:p>
        </p:txBody>
      </p:sp>
      <p:sp>
        <p:nvSpPr>
          <p:cNvPr id="37" name="Shape 36"/>
          <p:cNvSpPr/>
          <p:nvPr/>
        </p:nvSpPr>
        <p:spPr>
          <a:xfrm>
            <a:off x="502920" y="4306823"/>
            <a:ext cx="5440680" cy="274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594360" y="4306823"/>
            <a:ext cx="1975103" cy="274320"/>
          </a:xfrm>
          <a:prstGeom prst="rect">
            <a:avLst/>
          </a:prstGeom>
          <a:noFill/>
        </p:spPr>
        <p:txBody>
          <a:bodyPr wrap="square" lIns="0" rIns="0" tIns="0" bIns="0" anchor="ctr">
            <a:spAutoFit/>
          </a:bodyPr>
          <a:lstStyle/>
          <a:p>
            <a:r>
              <a:rPr sz="700" b="1" i="0">
                <a:solidFill>
                  <a:srgbClr val="1A1A1A"/>
                </a:solidFill>
                <a:latin typeface="Trenda IG Text"/>
              </a:rPr>
              <a:t>Testing &amp; UAT</a:t>
            </a:r>
          </a:p>
          <a:p>
            <a:r>
              <a:rPr sz="700" b="0" i="0">
                <a:solidFill>
                  <a:srgbClr val="4D4D4D"/>
                </a:solidFill>
                <a:latin typeface="Trenda IG Text"/>
              </a:rPr>
              <a:t>scenarios, seed sends, UAT sign-off</a:t>
            </a:r>
          </a:p>
        </p:txBody>
      </p:sp>
      <p:sp>
        <p:nvSpPr>
          <p:cNvPr id="39" name="Shape 38"/>
          <p:cNvSpPr/>
          <p:nvPr/>
        </p:nvSpPr>
        <p:spPr>
          <a:xfrm>
            <a:off x="5130800" y="4389119"/>
            <a:ext cx="432816"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5130800" y="4389119"/>
            <a:ext cx="432816" cy="109727"/>
          </a:xfrm>
          <a:prstGeom prst="rect">
            <a:avLst/>
          </a:prstGeom>
          <a:noFill/>
        </p:spPr>
        <p:txBody>
          <a:bodyPr wrap="square" lIns="0" rIns="0" tIns="0" bIns="0" anchor="ctr">
            <a:spAutoFit/>
          </a:bodyPr>
          <a:lstStyle/>
          <a:p>
            <a:pPr algn="ctr"/>
            <a:r>
              <a:rPr sz="700" b="1" i="0">
                <a:solidFill>
                  <a:srgbClr val="000000"/>
                </a:solidFill>
                <a:latin typeface="Trenda IG Text"/>
              </a:rPr>
              <a:t>12d</a:t>
            </a:r>
          </a:p>
        </p:txBody>
      </p:sp>
      <p:sp>
        <p:nvSpPr>
          <p:cNvPr id="41" name="Shape 40"/>
          <p:cNvSpPr/>
          <p:nvPr/>
        </p:nvSpPr>
        <p:spPr>
          <a:xfrm>
            <a:off x="502920" y="4626864"/>
            <a:ext cx="5440680"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41"/>
          <p:cNvSpPr txBox="1"/>
          <p:nvPr/>
        </p:nvSpPr>
        <p:spPr>
          <a:xfrm>
            <a:off x="594360" y="4626864"/>
            <a:ext cx="1975103" cy="274320"/>
          </a:xfrm>
          <a:prstGeom prst="rect">
            <a:avLst/>
          </a:prstGeom>
          <a:noFill/>
        </p:spPr>
        <p:txBody>
          <a:bodyPr wrap="square" lIns="0" rIns="0" tIns="0" bIns="0" anchor="ctr">
            <a:spAutoFit/>
          </a:bodyPr>
          <a:lstStyle/>
          <a:p>
            <a:r>
              <a:rPr sz="700" b="1" i="0">
                <a:solidFill>
                  <a:srgbClr val="1A1A1A"/>
                </a:solidFill>
                <a:latin typeface="Trenda IG Text"/>
              </a:rPr>
              <a:t>Deploy &amp; go-live</a:t>
            </a:r>
          </a:p>
          <a:p>
            <a:r>
              <a:rPr sz="700" b="0" i="0">
                <a:solidFill>
                  <a:srgbClr val="4D4D4D"/>
                </a:solidFill>
                <a:latin typeface="Trenda IG Text"/>
              </a:rPr>
              <a:t>Data Kit, Copado, smoke test</a:t>
            </a:r>
          </a:p>
        </p:txBody>
      </p:sp>
      <p:sp>
        <p:nvSpPr>
          <p:cNvPr id="43" name="Shape 42"/>
          <p:cNvSpPr/>
          <p:nvPr/>
        </p:nvSpPr>
        <p:spPr>
          <a:xfrm>
            <a:off x="5563616" y="4709159"/>
            <a:ext cx="288543" cy="109727"/>
          </a:xfrm>
          <a:prstGeom prst="roundRect">
            <a:avLst>
              <a:gd name="adj" fmla="val 30000"/>
            </a:avLst>
          </a:prstGeom>
          <a:solidFill>
            <a:srgbClr val="9E9E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3"/>
          <p:cNvSpPr txBox="1"/>
          <p:nvPr/>
        </p:nvSpPr>
        <p:spPr>
          <a:xfrm>
            <a:off x="5563616" y="4709159"/>
            <a:ext cx="288543" cy="109727"/>
          </a:xfrm>
          <a:prstGeom prst="rect">
            <a:avLst/>
          </a:prstGeom>
          <a:noFill/>
        </p:spPr>
        <p:txBody>
          <a:bodyPr wrap="square" lIns="0" rIns="0" tIns="0" bIns="0" anchor="ctr">
            <a:spAutoFit/>
          </a:bodyPr>
          <a:lstStyle/>
          <a:p>
            <a:pPr algn="ctr"/>
            <a:r>
              <a:rPr sz="700" b="1" i="0">
                <a:solidFill>
                  <a:srgbClr val="000000"/>
                </a:solidFill>
                <a:latin typeface="Trenda IG Text"/>
              </a:rPr>
              <a:t>8d</a:t>
            </a:r>
          </a:p>
        </p:txBody>
      </p:sp>
      <p:sp>
        <p:nvSpPr>
          <p:cNvPr id="45" name="Text 44"/>
          <p:cNvSpPr txBox="1"/>
          <p:nvPr/>
        </p:nvSpPr>
        <p:spPr>
          <a:xfrm>
            <a:off x="2331720"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0</a:t>
            </a:r>
          </a:p>
        </p:txBody>
      </p:sp>
      <p:sp>
        <p:nvSpPr>
          <p:cNvPr id="46" name="Text 45"/>
          <p:cNvSpPr txBox="1"/>
          <p:nvPr/>
        </p:nvSpPr>
        <p:spPr>
          <a:xfrm>
            <a:off x="3413760"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30</a:t>
            </a:r>
          </a:p>
        </p:txBody>
      </p:sp>
      <p:sp>
        <p:nvSpPr>
          <p:cNvPr id="47" name="Text 46"/>
          <p:cNvSpPr txBox="1"/>
          <p:nvPr/>
        </p:nvSpPr>
        <p:spPr>
          <a:xfrm>
            <a:off x="4495800"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60</a:t>
            </a:r>
          </a:p>
        </p:txBody>
      </p:sp>
      <p:sp>
        <p:nvSpPr>
          <p:cNvPr id="48" name="Text 47"/>
          <p:cNvSpPr txBox="1"/>
          <p:nvPr/>
        </p:nvSpPr>
        <p:spPr>
          <a:xfrm>
            <a:off x="5577840"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90</a:t>
            </a:r>
          </a:p>
        </p:txBody>
      </p:sp>
      <p:sp>
        <p:nvSpPr>
          <p:cNvPr id="49" name="Shape 48"/>
          <p:cNvSpPr/>
          <p:nvPr/>
        </p:nvSpPr>
        <p:spPr>
          <a:xfrm>
            <a:off x="438912" y="2066543"/>
            <a:ext cx="36576" cy="1234440"/>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Differentiator Border 50"/>
          <p:cNvSpPr/>
          <p:nvPr/>
        </p:nvSpPr>
        <p:spPr>
          <a:xfrm>
            <a:off x="6163056" y="1170432"/>
            <a:ext cx="5614416" cy="398678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1"/>
          <p:cNvSpPr/>
          <p:nvPr/>
        </p:nvSpPr>
        <p:spPr>
          <a:xfrm>
            <a:off x="6181344" y="1188720"/>
            <a:ext cx="5577840" cy="39502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2"/>
          <p:cNvSpPr txBox="1"/>
          <p:nvPr/>
        </p:nvSpPr>
        <p:spPr>
          <a:xfrm>
            <a:off x="6309359" y="1225296"/>
            <a:ext cx="3657600" cy="182880"/>
          </a:xfrm>
          <a:prstGeom prst="rect">
            <a:avLst/>
          </a:prstGeom>
          <a:noFill/>
        </p:spPr>
        <p:txBody>
          <a:bodyPr wrap="square" lIns="0" rIns="0" tIns="0" bIns="0" anchor="ctr">
            <a:spAutoFit/>
          </a:bodyPr>
          <a:lstStyle/>
          <a:p>
            <a:r>
              <a:rPr sz="700" b="1" i="0" spc="120">
                <a:solidFill>
                  <a:srgbClr val="0089A0"/>
                </a:solidFill>
                <a:latin typeface="Trenda IG Text"/>
              </a:rPr>
              <a:t>WITH THE DATA HARNESS + CAMPAIGN AGENTS</a:t>
            </a:r>
          </a:p>
        </p:txBody>
      </p:sp>
      <p:sp>
        <p:nvSpPr>
          <p:cNvPr id="53" name="Text 53"/>
          <p:cNvSpPr txBox="1"/>
          <p:nvPr/>
        </p:nvSpPr>
        <p:spPr>
          <a:xfrm>
            <a:off x="6309359" y="1408176"/>
            <a:ext cx="2011680" cy="384048"/>
          </a:xfrm>
          <a:prstGeom prst="rect">
            <a:avLst/>
          </a:prstGeom>
          <a:noFill/>
        </p:spPr>
        <p:txBody>
          <a:bodyPr wrap="square" lIns="0" rIns="0" tIns="0" bIns="0" anchor="ctr">
            <a:spAutoFit/>
          </a:bodyPr>
          <a:lstStyle/>
          <a:p>
            <a:r>
              <a:rPr sz="2000" b="0" i="0">
                <a:solidFill>
                  <a:srgbClr val="0089A0"/>
                </a:solidFill>
                <a:latin typeface="Trenda IG Text"/>
              </a:rPr>
              <a:t>~10-12 days</a:t>
            </a:r>
          </a:p>
        </p:txBody>
      </p:sp>
      <p:sp>
        <p:nvSpPr>
          <p:cNvPr id="54" name="Text 54"/>
          <p:cNvSpPr txBox="1"/>
          <p:nvPr/>
        </p:nvSpPr>
        <p:spPr>
          <a:xfrm>
            <a:off x="8284463" y="1444752"/>
            <a:ext cx="3346704" cy="329184"/>
          </a:xfrm>
          <a:prstGeom prst="rect">
            <a:avLst/>
          </a:prstGeom>
          <a:noFill/>
        </p:spPr>
        <p:txBody>
          <a:bodyPr wrap="square" lIns="0" rIns="0" tIns="0" bIns="0" anchor="ctr">
            <a:spAutoFit/>
          </a:bodyPr>
          <a:lstStyle/>
          <a:p>
            <a:r>
              <a:rPr sz="700" b="0" i="0">
                <a:solidFill>
                  <a:srgbClr val="4D4D4D"/>
                </a:solidFill>
                <a:latin typeface="Trenda IG Text"/>
              </a:rPr>
              <a:t>data already governed and ready; build runs alongside legal review</a:t>
            </a:r>
          </a:p>
        </p:txBody>
      </p:sp>
      <p:sp>
        <p:nvSpPr>
          <p:cNvPr id="55" name="Shape 55"/>
          <p:cNvSpPr/>
          <p:nvPr/>
        </p:nvSpPr>
        <p:spPr>
          <a:xfrm>
            <a:off x="6254496" y="2066543"/>
            <a:ext cx="5431536" cy="2651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6"/>
          <p:cNvSpPr txBox="1"/>
          <p:nvPr/>
        </p:nvSpPr>
        <p:spPr>
          <a:xfrm>
            <a:off x="6345936" y="2066543"/>
            <a:ext cx="2157984" cy="265176"/>
          </a:xfrm>
          <a:prstGeom prst="rect">
            <a:avLst/>
          </a:prstGeom>
          <a:noFill/>
        </p:spPr>
        <p:txBody>
          <a:bodyPr wrap="square" lIns="0" rIns="0" tIns="0" bIns="0" anchor="ctr">
            <a:spAutoFit/>
          </a:bodyPr>
          <a:lstStyle/>
          <a:p>
            <a:r>
              <a:rPr sz="700" b="1" i="0">
                <a:solidFill>
                  <a:srgbClr val="1A1A1A"/>
                </a:solidFill>
                <a:latin typeface="Trenda IG Text"/>
              </a:rPr>
              <a:t>Prompt → Opportunity Brief · G1</a:t>
            </a:r>
          </a:p>
          <a:p>
            <a:r>
              <a:rPr sz="700" b="0" i="0">
                <a:solidFill>
                  <a:srgbClr val="4D4D4D"/>
                </a:solidFill>
                <a:latin typeface="Trenda IG Text"/>
              </a:rPr>
              <a:t>Orchestrator, Strategist, Analytics; people approve</a:t>
            </a:r>
          </a:p>
        </p:txBody>
      </p:sp>
      <p:sp>
        <p:nvSpPr>
          <p:cNvPr id="57" name="Shape 57"/>
          <p:cNvSpPr/>
          <p:nvPr/>
        </p:nvSpPr>
        <p:spPr>
          <a:xfrm>
            <a:off x="8540496" y="2148839"/>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8"/>
          <p:cNvSpPr txBox="1"/>
          <p:nvPr/>
        </p:nvSpPr>
        <p:spPr>
          <a:xfrm>
            <a:off x="8540496" y="2148839"/>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59" name="Shape 59"/>
          <p:cNvSpPr/>
          <p:nvPr/>
        </p:nvSpPr>
        <p:spPr>
          <a:xfrm>
            <a:off x="6254496" y="2377439"/>
            <a:ext cx="5431536" cy="26517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60"/>
          <p:cNvSpPr txBox="1"/>
          <p:nvPr/>
        </p:nvSpPr>
        <p:spPr>
          <a:xfrm>
            <a:off x="6345936" y="2377439"/>
            <a:ext cx="2157984" cy="265176"/>
          </a:xfrm>
          <a:prstGeom prst="rect">
            <a:avLst/>
          </a:prstGeom>
          <a:noFill/>
        </p:spPr>
        <p:txBody>
          <a:bodyPr wrap="square" lIns="0" rIns="0" tIns="0" bIns="0" anchor="ctr">
            <a:spAutoFit/>
          </a:bodyPr>
          <a:lstStyle/>
          <a:p>
            <a:r>
              <a:rPr sz="700" b="1" i="0">
                <a:solidFill>
                  <a:srgbClr val="1A1A1A"/>
                </a:solidFill>
                <a:latin typeface="Trenda IG Text"/>
              </a:rPr>
              <a:t>Data ready</a:t>
            </a:r>
          </a:p>
          <a:p>
            <a:r>
              <a:rPr sz="700" b="0" i="0">
                <a:solidFill>
                  <a:srgbClr val="4D4D4D"/>
                </a:solidFill>
                <a:latin typeface="Trenda IG Text"/>
              </a:rPr>
              <a:t>governed in Gold A / B by the data harness</a:t>
            </a:r>
          </a:p>
        </p:txBody>
      </p:sp>
      <p:sp>
        <p:nvSpPr>
          <p:cNvPr id="61" name="Shape 61"/>
          <p:cNvSpPr/>
          <p:nvPr/>
        </p:nvSpPr>
        <p:spPr>
          <a:xfrm>
            <a:off x="8540496" y="2459735"/>
            <a:ext cx="566928" cy="100584"/>
          </a:xfrm>
          <a:prstGeom prst="roundRect">
            <a:avLst>
              <a:gd name="adj" fmla="val 30000"/>
            </a:avLst>
          </a:prstGeom>
          <a:no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62"/>
          <p:cNvSpPr txBox="1"/>
          <p:nvPr/>
        </p:nvSpPr>
        <p:spPr>
          <a:xfrm>
            <a:off x="8540496" y="2459735"/>
            <a:ext cx="566928" cy="100584"/>
          </a:xfrm>
          <a:prstGeom prst="rect">
            <a:avLst/>
          </a:prstGeom>
          <a:noFill/>
        </p:spPr>
        <p:txBody>
          <a:bodyPr wrap="square" lIns="0" rIns="0" tIns="0" bIns="0" anchor="ctr">
            <a:spAutoFit/>
          </a:bodyPr>
          <a:lstStyle/>
          <a:p>
            <a:pPr algn="ctr"/>
            <a:r>
              <a:rPr sz="700" b="1" i="0">
                <a:solidFill>
                  <a:srgbClr val="FF0069"/>
                </a:solidFill>
                <a:latin typeface="Trenda IG Text"/>
              </a:rPr>
              <a:t>READY</a:t>
            </a:r>
          </a:p>
        </p:txBody>
      </p:sp>
      <p:sp>
        <p:nvSpPr>
          <p:cNvPr id="63" name="Shape 63"/>
          <p:cNvSpPr/>
          <p:nvPr/>
        </p:nvSpPr>
        <p:spPr>
          <a:xfrm>
            <a:off x="6254496" y="2688336"/>
            <a:ext cx="5431536" cy="2651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4"/>
          <p:cNvSpPr txBox="1"/>
          <p:nvPr/>
        </p:nvSpPr>
        <p:spPr>
          <a:xfrm>
            <a:off x="6345936" y="2688336"/>
            <a:ext cx="2157984" cy="265176"/>
          </a:xfrm>
          <a:prstGeom prst="rect">
            <a:avLst/>
          </a:prstGeom>
          <a:noFill/>
        </p:spPr>
        <p:txBody>
          <a:bodyPr wrap="square" lIns="0" rIns="0" tIns="0" bIns="0" anchor="ctr">
            <a:spAutoFit/>
          </a:bodyPr>
          <a:lstStyle/>
          <a:p>
            <a:r>
              <a:rPr sz="700" b="1" i="0">
                <a:solidFill>
                  <a:srgbClr val="1A1A1A"/>
                </a:solidFill>
                <a:latin typeface="Trenda IG Text"/>
              </a:rPr>
              <a:t>Eligibility rule</a:t>
            </a:r>
          </a:p>
          <a:p>
            <a:r>
              <a:rPr sz="700" b="0" i="0">
                <a:solidFill>
                  <a:srgbClr val="4D4D4D"/>
                </a:solidFill>
                <a:latin typeface="Trenda IG Text"/>
              </a:rPr>
              <a:t>eligibility service: consent, contact, exclusions</a:t>
            </a:r>
          </a:p>
        </p:txBody>
      </p:sp>
      <p:sp>
        <p:nvSpPr>
          <p:cNvPr id="65" name="Shape 65"/>
          <p:cNvSpPr/>
          <p:nvPr/>
        </p:nvSpPr>
        <p:spPr>
          <a:xfrm>
            <a:off x="8795004" y="277063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6"/>
          <p:cNvSpPr txBox="1"/>
          <p:nvPr/>
        </p:nvSpPr>
        <p:spPr>
          <a:xfrm>
            <a:off x="8795004" y="2770632"/>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67" name="Shape 67"/>
          <p:cNvSpPr/>
          <p:nvPr/>
        </p:nvSpPr>
        <p:spPr>
          <a:xfrm>
            <a:off x="6254496" y="2999232"/>
            <a:ext cx="5431536" cy="26517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8"/>
          <p:cNvSpPr txBox="1"/>
          <p:nvPr/>
        </p:nvSpPr>
        <p:spPr>
          <a:xfrm>
            <a:off x="6345936" y="2999232"/>
            <a:ext cx="2157984" cy="265176"/>
          </a:xfrm>
          <a:prstGeom prst="rect">
            <a:avLst/>
          </a:prstGeom>
          <a:noFill/>
        </p:spPr>
        <p:txBody>
          <a:bodyPr wrap="square" lIns="0" rIns="0" tIns="0" bIns="0" anchor="ctr">
            <a:spAutoFit/>
          </a:bodyPr>
          <a:lstStyle/>
          <a:p>
            <a:r>
              <a:rPr sz="700" b="1" i="0">
                <a:solidFill>
                  <a:srgbClr val="1A1A1A"/>
                </a:solidFill>
                <a:latin typeface="Trenda IG Text"/>
              </a:rPr>
              <a:t>Journey + data extension build</a:t>
            </a:r>
          </a:p>
          <a:p>
            <a:r>
              <a:rPr sz="700" b="0" i="0">
                <a:solidFill>
                  <a:srgbClr val="4D4D4D"/>
                </a:solidFill>
                <a:latin typeface="Trenda IG Text"/>
              </a:rPr>
              <a:t>Campaign Design Agent, from approved templates</a:t>
            </a:r>
          </a:p>
        </p:txBody>
      </p:sp>
      <p:sp>
        <p:nvSpPr>
          <p:cNvPr id="69" name="Shape 69"/>
          <p:cNvSpPr/>
          <p:nvPr/>
        </p:nvSpPr>
        <p:spPr>
          <a:xfrm>
            <a:off x="9049512" y="3081527"/>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70"/>
          <p:cNvSpPr txBox="1"/>
          <p:nvPr/>
        </p:nvSpPr>
        <p:spPr>
          <a:xfrm>
            <a:off x="9049512" y="3081527"/>
            <a:ext cx="509016" cy="100584"/>
          </a:xfrm>
          <a:prstGeom prst="rect">
            <a:avLst/>
          </a:prstGeom>
          <a:noFill/>
        </p:spPr>
        <p:txBody>
          <a:bodyPr wrap="square" lIns="0" rIns="0" tIns="0" bIns="0" anchor="ctr">
            <a:spAutoFit/>
          </a:bodyPr>
          <a:lstStyle/>
          <a:p>
            <a:pPr algn="ctr"/>
            <a:r>
              <a:rPr sz="700" b="1" i="0">
                <a:solidFill>
                  <a:srgbClr val="000000"/>
                </a:solidFill>
                <a:latin typeface="Trenda IG Text"/>
              </a:rPr>
              <a:t>2d</a:t>
            </a:r>
          </a:p>
        </p:txBody>
      </p:sp>
      <p:sp>
        <p:nvSpPr>
          <p:cNvPr id="71" name="Shape 71"/>
          <p:cNvSpPr/>
          <p:nvPr/>
        </p:nvSpPr>
        <p:spPr>
          <a:xfrm>
            <a:off x="6254496" y="3310128"/>
            <a:ext cx="5431536" cy="2651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72"/>
          <p:cNvSpPr txBox="1"/>
          <p:nvPr/>
        </p:nvSpPr>
        <p:spPr>
          <a:xfrm>
            <a:off x="6345936" y="3310128"/>
            <a:ext cx="2157984" cy="265176"/>
          </a:xfrm>
          <a:prstGeom prst="rect">
            <a:avLst/>
          </a:prstGeom>
          <a:noFill/>
        </p:spPr>
        <p:txBody>
          <a:bodyPr wrap="square" lIns="0" rIns="0" tIns="0" bIns="0" anchor="ctr">
            <a:spAutoFit/>
          </a:bodyPr>
          <a:lstStyle/>
          <a:p>
            <a:r>
              <a:rPr sz="700" b="1" i="0">
                <a:solidFill>
                  <a:srgbClr val="1A1A1A"/>
                </a:solidFill>
                <a:latin typeface="Trenda IG Text"/>
              </a:rPr>
              <a:t>Content &amp; legal approval</a:t>
            </a:r>
          </a:p>
          <a:p>
            <a:r>
              <a:rPr sz="700" b="0" i="0">
                <a:solidFill>
                  <a:srgbClr val="4D4D4D"/>
                </a:solidFill>
                <a:latin typeface="Trenda IG Text"/>
              </a:rPr>
              <a:t>Design Agent drafts; legal approves</a:t>
            </a:r>
          </a:p>
        </p:txBody>
      </p:sp>
      <p:sp>
        <p:nvSpPr>
          <p:cNvPr id="73" name="Shape 73"/>
          <p:cNvSpPr/>
          <p:nvPr/>
        </p:nvSpPr>
        <p:spPr>
          <a:xfrm>
            <a:off x="9049512" y="3392424"/>
            <a:ext cx="1527048"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4"/>
          <p:cNvSpPr txBox="1"/>
          <p:nvPr/>
        </p:nvSpPr>
        <p:spPr>
          <a:xfrm>
            <a:off x="9049512" y="3392424"/>
            <a:ext cx="1527048" cy="100584"/>
          </a:xfrm>
          <a:prstGeom prst="rect">
            <a:avLst/>
          </a:prstGeom>
          <a:noFill/>
        </p:spPr>
        <p:txBody>
          <a:bodyPr wrap="square" lIns="0" rIns="0" tIns="0" bIns="0" anchor="ctr">
            <a:spAutoFit/>
          </a:bodyPr>
          <a:lstStyle/>
          <a:p>
            <a:pPr algn="ctr"/>
            <a:r>
              <a:rPr sz="700" b="1" i="0">
                <a:solidFill>
                  <a:srgbClr val="000000"/>
                </a:solidFill>
                <a:latin typeface="Trenda IG Text"/>
              </a:rPr>
              <a:t>6d</a:t>
            </a:r>
          </a:p>
        </p:txBody>
      </p:sp>
      <p:sp>
        <p:nvSpPr>
          <p:cNvPr id="75" name="Shape 75"/>
          <p:cNvSpPr/>
          <p:nvPr/>
        </p:nvSpPr>
        <p:spPr>
          <a:xfrm>
            <a:off x="6254496" y="3621024"/>
            <a:ext cx="5431536" cy="26517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6"/>
          <p:cNvSpPr txBox="1"/>
          <p:nvPr/>
        </p:nvSpPr>
        <p:spPr>
          <a:xfrm>
            <a:off x="6345936" y="3621024"/>
            <a:ext cx="2157984" cy="265176"/>
          </a:xfrm>
          <a:prstGeom prst="rect">
            <a:avLst/>
          </a:prstGeom>
          <a:noFill/>
        </p:spPr>
        <p:txBody>
          <a:bodyPr wrap="square" lIns="0" rIns="0" tIns="0" bIns="0" anchor="ctr">
            <a:spAutoFit/>
          </a:bodyPr>
          <a:lstStyle/>
          <a:p>
            <a:r>
              <a:rPr sz="700" b="1" i="0">
                <a:solidFill>
                  <a:srgbClr val="1A1A1A"/>
                </a:solidFill>
                <a:latin typeface="Trenda IG Text"/>
              </a:rPr>
              <a:t>Testing on test contacts · G3</a:t>
            </a:r>
          </a:p>
          <a:p>
            <a:r>
              <a:rPr sz="700" b="0" i="0">
                <a:solidFill>
                  <a:srgbClr val="4D4D4D"/>
                </a:solidFill>
                <a:latin typeface="Trenda IG Text"/>
              </a:rPr>
              <a:t>Activation Readiness; clinical + compliance approve</a:t>
            </a:r>
          </a:p>
        </p:txBody>
      </p:sp>
      <p:sp>
        <p:nvSpPr>
          <p:cNvPr id="77" name="Shape 77"/>
          <p:cNvSpPr/>
          <p:nvPr/>
        </p:nvSpPr>
        <p:spPr>
          <a:xfrm>
            <a:off x="10576560" y="3703320"/>
            <a:ext cx="509016"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8"/>
          <p:cNvSpPr txBox="1"/>
          <p:nvPr/>
        </p:nvSpPr>
        <p:spPr>
          <a:xfrm>
            <a:off x="10576560" y="3703320"/>
            <a:ext cx="509016" cy="100584"/>
          </a:xfrm>
          <a:prstGeom prst="rect">
            <a:avLst/>
          </a:prstGeom>
          <a:noFill/>
        </p:spPr>
        <p:txBody>
          <a:bodyPr wrap="square" lIns="0" rIns="0" tIns="0" bIns="0" anchor="ctr">
            <a:spAutoFit/>
          </a:bodyPr>
          <a:lstStyle/>
          <a:p>
            <a:pPr algn="ctr"/>
            <a:r>
              <a:rPr sz="700" b="1" i="0">
                <a:solidFill>
                  <a:srgbClr val="000000"/>
                </a:solidFill>
                <a:latin typeface="Trenda IG Text"/>
              </a:rPr>
              <a:t>2d</a:t>
            </a:r>
          </a:p>
        </p:txBody>
      </p:sp>
      <p:sp>
        <p:nvSpPr>
          <p:cNvPr id="79" name="Shape 79"/>
          <p:cNvSpPr/>
          <p:nvPr/>
        </p:nvSpPr>
        <p:spPr>
          <a:xfrm>
            <a:off x="6254496" y="3931920"/>
            <a:ext cx="5431536" cy="26517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80"/>
          <p:cNvSpPr txBox="1"/>
          <p:nvPr/>
        </p:nvSpPr>
        <p:spPr>
          <a:xfrm>
            <a:off x="6345936" y="3931920"/>
            <a:ext cx="2157984" cy="265176"/>
          </a:xfrm>
          <a:prstGeom prst="rect">
            <a:avLst/>
          </a:prstGeom>
          <a:noFill/>
        </p:spPr>
        <p:txBody>
          <a:bodyPr wrap="square" lIns="0" rIns="0" tIns="0" bIns="0" anchor="ctr">
            <a:spAutoFit/>
          </a:bodyPr>
          <a:lstStyle/>
          <a:p>
            <a:r>
              <a:rPr sz="700" b="1" i="0">
                <a:solidFill>
                  <a:srgbClr val="1A1A1A"/>
                </a:solidFill>
                <a:latin typeface="Trenda IG Text"/>
              </a:rPr>
              <a:t>Pre-send review G2 + release</a:t>
            </a:r>
          </a:p>
          <a:p>
            <a:r>
              <a:rPr sz="700" b="0" i="0">
                <a:solidFill>
                  <a:srgbClr val="4D4D4D"/>
                </a:solidFill>
                <a:latin typeface="Trenda IG Text"/>
              </a:rPr>
              <a:t>SME + tech lead; activation gateway</a:t>
            </a:r>
          </a:p>
        </p:txBody>
      </p:sp>
      <p:sp>
        <p:nvSpPr>
          <p:cNvPr id="81" name="Shape 81"/>
          <p:cNvSpPr/>
          <p:nvPr/>
        </p:nvSpPr>
        <p:spPr>
          <a:xfrm>
            <a:off x="11085576" y="4014215"/>
            <a:ext cx="274320" cy="100584"/>
          </a:xfrm>
          <a:prstGeom prst="roundRect">
            <a:avLst>
              <a:gd name="adj" fmla="val 3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2"/>
          <p:cNvSpPr txBox="1"/>
          <p:nvPr/>
        </p:nvSpPr>
        <p:spPr>
          <a:xfrm>
            <a:off x="11085576" y="4014215"/>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83" name="Shape 83"/>
          <p:cNvSpPr/>
          <p:nvPr/>
        </p:nvSpPr>
        <p:spPr>
          <a:xfrm>
            <a:off x="6254496" y="4242816"/>
            <a:ext cx="5431536" cy="26517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4"/>
          <p:cNvSpPr txBox="1"/>
          <p:nvPr/>
        </p:nvSpPr>
        <p:spPr>
          <a:xfrm>
            <a:off x="6345936" y="4242816"/>
            <a:ext cx="2157984" cy="265176"/>
          </a:xfrm>
          <a:prstGeom prst="rect">
            <a:avLst/>
          </a:prstGeom>
          <a:noFill/>
        </p:spPr>
        <p:txBody>
          <a:bodyPr wrap="square" lIns="0" rIns="0" tIns="0" bIns="0" anchor="ctr">
            <a:spAutoFit/>
          </a:bodyPr>
          <a:lstStyle/>
          <a:p>
            <a:r>
              <a:rPr sz="700" b="1" i="0">
                <a:solidFill>
                  <a:srgbClr val="1A1A1A"/>
                </a:solidFill>
                <a:latin typeface="Trenda IG Text"/>
              </a:rPr>
              <a:t>Go live</a:t>
            </a:r>
          </a:p>
          <a:p>
            <a:r>
              <a:rPr sz="700" b="0" i="0">
                <a:solidFill>
                  <a:srgbClr val="4D4D4D"/>
                </a:solidFill>
                <a:latin typeface="Trenda IG Text"/>
              </a:rPr>
              <a:t>Marketing Cloud; consent re-checked at send</a:t>
            </a:r>
          </a:p>
        </p:txBody>
      </p:sp>
      <p:sp>
        <p:nvSpPr>
          <p:cNvPr id="85" name="Shape 85"/>
          <p:cNvSpPr/>
          <p:nvPr/>
        </p:nvSpPr>
        <p:spPr>
          <a:xfrm>
            <a:off x="11340084" y="4325112"/>
            <a:ext cx="274320" cy="100584"/>
          </a:xfrm>
          <a:prstGeom prst="roundRect">
            <a:avLst>
              <a:gd name="adj" fmla="val 3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6"/>
          <p:cNvSpPr txBox="1"/>
          <p:nvPr/>
        </p:nvSpPr>
        <p:spPr>
          <a:xfrm>
            <a:off x="11340084" y="4325112"/>
            <a:ext cx="274320" cy="100584"/>
          </a:xfrm>
          <a:prstGeom prst="rect">
            <a:avLst/>
          </a:prstGeom>
          <a:noFill/>
        </p:spPr>
        <p:txBody>
          <a:bodyPr wrap="square" lIns="0" rIns="0" tIns="0" bIns="0" anchor="ctr">
            <a:spAutoFit/>
          </a:bodyPr>
          <a:lstStyle/>
          <a:p>
            <a:pPr algn="ctr"/>
            <a:r>
              <a:rPr sz="700" b="1" i="0">
                <a:solidFill>
                  <a:srgbClr val="000000"/>
                </a:solidFill>
                <a:latin typeface="Trenda IG Text"/>
              </a:rPr>
              <a:t>1d</a:t>
            </a:r>
          </a:p>
        </p:txBody>
      </p:sp>
      <p:sp>
        <p:nvSpPr>
          <p:cNvPr id="87" name="Text 87"/>
          <p:cNvSpPr txBox="1"/>
          <p:nvPr/>
        </p:nvSpPr>
        <p:spPr>
          <a:xfrm>
            <a:off x="8266175"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0</a:t>
            </a:r>
          </a:p>
        </p:txBody>
      </p:sp>
      <p:sp>
        <p:nvSpPr>
          <p:cNvPr id="88" name="Text 88"/>
          <p:cNvSpPr txBox="1"/>
          <p:nvPr/>
        </p:nvSpPr>
        <p:spPr>
          <a:xfrm>
            <a:off x="9284208"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4</a:t>
            </a:r>
          </a:p>
        </p:txBody>
      </p:sp>
      <p:sp>
        <p:nvSpPr>
          <p:cNvPr id="89" name="Text 89"/>
          <p:cNvSpPr txBox="1"/>
          <p:nvPr/>
        </p:nvSpPr>
        <p:spPr>
          <a:xfrm>
            <a:off x="10302240"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8</a:t>
            </a:r>
          </a:p>
        </p:txBody>
      </p:sp>
      <p:sp>
        <p:nvSpPr>
          <p:cNvPr id="90" name="Text 90"/>
          <p:cNvSpPr txBox="1"/>
          <p:nvPr/>
        </p:nvSpPr>
        <p:spPr>
          <a:xfrm>
            <a:off x="11320272" y="1865375"/>
            <a:ext cx="548640" cy="146304"/>
          </a:xfrm>
          <a:prstGeom prst="rect">
            <a:avLst/>
          </a:prstGeom>
          <a:noFill/>
        </p:spPr>
        <p:txBody>
          <a:bodyPr wrap="square" lIns="0" rIns="0" tIns="0" bIns="0" anchor="ctr">
            <a:spAutoFit/>
          </a:bodyPr>
          <a:lstStyle/>
          <a:p>
            <a:pPr algn="ctr"/>
            <a:r>
              <a:rPr sz="700" b="0" i="0">
                <a:solidFill>
                  <a:srgbClr val="6B6B6B"/>
                </a:solidFill>
                <a:latin typeface="Trenda IG Text"/>
              </a:rPr>
              <a:t>Day 12</a:t>
            </a:r>
          </a:p>
        </p:txBody>
      </p:sp>
      <p:sp>
        <p:nvSpPr>
          <p:cNvPr id="91" name="Text 91"/>
          <p:cNvSpPr txBox="1"/>
          <p:nvPr/>
        </p:nvSpPr>
        <p:spPr>
          <a:xfrm>
            <a:off x="6309359" y="4608576"/>
            <a:ext cx="5321808" cy="384048"/>
          </a:xfrm>
          <a:prstGeom prst="rect">
            <a:avLst/>
          </a:prstGeom>
          <a:noFill/>
        </p:spPr>
        <p:txBody>
          <a:bodyPr wrap="square" lIns="0" rIns="0" tIns="0" bIns="0" anchor="ctr">
            <a:spAutoFit/>
          </a:bodyPr>
          <a:lstStyle/>
          <a:p>
            <a:r>
              <a:rPr sz="700" b="1" i="0">
                <a:solidFill>
                  <a:srgbClr val="8A6D00"/>
                </a:solidFill>
                <a:latin typeface="Trenda IG Text"/>
              </a:rPr>
              <a:t>Legal review is now the critical path. </a:t>
            </a:r>
            <a:r>
              <a:rPr sz="700" b="0" i="0">
                <a:solidFill>
                  <a:srgbClr val="4D4D4D"/>
                </a:solidFill>
                <a:latin typeface="Trenda IG Text"/>
              </a:rPr>
              <a:t>Yellow: people approve (G1, legal, G2). Cyan: agents and services.</a:t>
            </a:r>
          </a:p>
        </p:txBody>
      </p:sp>
      <p:sp>
        <p:nvSpPr>
          <p:cNvPr id="92" name="Shape 92"/>
          <p:cNvSpPr/>
          <p:nvPr/>
        </p:nvSpPr>
        <p:spPr>
          <a:xfrm>
            <a:off x="41148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3"/>
          <p:cNvSpPr/>
          <p:nvPr/>
        </p:nvSpPr>
        <p:spPr>
          <a:xfrm>
            <a:off x="41148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4"/>
          <p:cNvSpPr txBox="1"/>
          <p:nvPr/>
        </p:nvSpPr>
        <p:spPr>
          <a:xfrm>
            <a:off x="576072" y="5266944"/>
            <a:ext cx="1097280" cy="676656"/>
          </a:xfrm>
          <a:prstGeom prst="rect">
            <a:avLst/>
          </a:prstGeom>
          <a:noFill/>
        </p:spPr>
        <p:txBody>
          <a:bodyPr wrap="square" lIns="0" rIns="0" tIns="0" bIns="0" anchor="ctr">
            <a:spAutoFit/>
          </a:bodyPr>
          <a:lstStyle/>
          <a:p>
            <a:r>
              <a:rPr sz="1800" b="0" i="0">
                <a:solidFill>
                  <a:srgbClr val="0089A0"/>
                </a:solidFill>
                <a:latin typeface="Trenda IG Text"/>
              </a:rPr>
              <a:t>~87%</a:t>
            </a:r>
          </a:p>
        </p:txBody>
      </p:sp>
      <p:sp>
        <p:nvSpPr>
          <p:cNvPr id="95" name="Text 95"/>
          <p:cNvSpPr txBox="1"/>
          <p:nvPr/>
        </p:nvSpPr>
        <p:spPr>
          <a:xfrm>
            <a:off x="1691639"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faster to launch</a:t>
            </a:r>
          </a:p>
          <a:p>
            <a:r>
              <a:rPr sz="700" b="0" i="0">
                <a:solidFill>
                  <a:srgbClr val="4D4D4D"/>
                </a:solidFill>
                <a:latin typeface="Trenda IG Text"/>
              </a:rPr>
              <a:t>90 to ~10-12 days</a:t>
            </a:r>
          </a:p>
        </p:txBody>
      </p:sp>
      <p:sp>
        <p:nvSpPr>
          <p:cNvPr id="96" name="Shape 96"/>
          <p:cNvSpPr/>
          <p:nvPr/>
        </p:nvSpPr>
        <p:spPr>
          <a:xfrm>
            <a:off x="328041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Shape 97"/>
          <p:cNvSpPr/>
          <p:nvPr/>
        </p:nvSpPr>
        <p:spPr>
          <a:xfrm>
            <a:off x="328041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Text 98"/>
          <p:cNvSpPr txBox="1"/>
          <p:nvPr/>
        </p:nvSpPr>
        <p:spPr>
          <a:xfrm>
            <a:off x="3445002" y="5266944"/>
            <a:ext cx="1097280" cy="676656"/>
          </a:xfrm>
          <a:prstGeom prst="rect">
            <a:avLst/>
          </a:prstGeom>
          <a:noFill/>
        </p:spPr>
        <p:txBody>
          <a:bodyPr wrap="square" lIns="0" rIns="0" tIns="0" bIns="0" anchor="ctr">
            <a:spAutoFit/>
          </a:bodyPr>
          <a:lstStyle/>
          <a:p>
            <a:r>
              <a:rPr sz="1800" b="0" i="0">
                <a:solidFill>
                  <a:srgbClr val="FF0069"/>
                </a:solidFill>
                <a:latin typeface="Trenda IG Text"/>
              </a:rPr>
              <a:t>0 days</a:t>
            </a:r>
          </a:p>
        </p:txBody>
      </p:sp>
      <p:sp>
        <p:nvSpPr>
          <p:cNvPr id="99" name="Text 99"/>
          <p:cNvSpPr txBox="1"/>
          <p:nvPr/>
        </p:nvSpPr>
        <p:spPr>
          <a:xfrm>
            <a:off x="456057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data preparation per campaign</a:t>
            </a:r>
          </a:p>
          <a:p>
            <a:r>
              <a:rPr sz="700" b="0" i="0">
                <a:solidFill>
                  <a:srgbClr val="4D4D4D"/>
                </a:solidFill>
                <a:latin typeface="Trenda IG Text"/>
              </a:rPr>
              <a:t>the data harness keeps it ready</a:t>
            </a:r>
          </a:p>
        </p:txBody>
      </p:sp>
      <p:sp>
        <p:nvSpPr>
          <p:cNvPr id="100" name="Shape 100"/>
          <p:cNvSpPr/>
          <p:nvPr/>
        </p:nvSpPr>
        <p:spPr>
          <a:xfrm>
            <a:off x="614934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101"/>
          <p:cNvSpPr/>
          <p:nvPr/>
        </p:nvSpPr>
        <p:spPr>
          <a:xfrm>
            <a:off x="614934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102"/>
          <p:cNvSpPr txBox="1"/>
          <p:nvPr/>
        </p:nvSpPr>
        <p:spPr>
          <a:xfrm>
            <a:off x="6313932" y="5266944"/>
            <a:ext cx="1097280" cy="676656"/>
          </a:xfrm>
          <a:prstGeom prst="rect">
            <a:avLst/>
          </a:prstGeom>
          <a:noFill/>
        </p:spPr>
        <p:txBody>
          <a:bodyPr wrap="square" lIns="0" rIns="0" tIns="0" bIns="0" anchor="ctr">
            <a:spAutoFit/>
          </a:bodyPr>
          <a:lstStyle/>
          <a:p>
            <a:r>
              <a:rPr sz="1800" b="0" i="0">
                <a:solidFill>
                  <a:srgbClr val="1A1A1A"/>
                </a:solidFill>
                <a:latin typeface="Trenda IG Text"/>
              </a:rPr>
              <a:t>7</a:t>
            </a:r>
          </a:p>
        </p:txBody>
      </p:sp>
      <p:sp>
        <p:nvSpPr>
          <p:cNvPr id="103" name="Text 103"/>
          <p:cNvSpPr txBox="1"/>
          <p:nvPr/>
        </p:nvSpPr>
        <p:spPr>
          <a:xfrm>
            <a:off x="742950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campaign agents</a:t>
            </a:r>
          </a:p>
          <a:p>
            <a:r>
              <a:rPr sz="700" b="0" i="0">
                <a:solidFill>
                  <a:srgbClr val="4D4D4D"/>
                </a:solidFill>
                <a:latin typeface="Trenda IG Text"/>
              </a:rPr>
              <a:t>the same for every Marketing Cloud pod</a:t>
            </a:r>
          </a:p>
        </p:txBody>
      </p:sp>
      <p:sp>
        <p:nvSpPr>
          <p:cNvPr id="104" name="Shape 104"/>
          <p:cNvSpPr/>
          <p:nvPr/>
        </p:nvSpPr>
        <p:spPr>
          <a:xfrm>
            <a:off x="9018270" y="5266944"/>
            <a:ext cx="275920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Shape 105"/>
          <p:cNvSpPr/>
          <p:nvPr/>
        </p:nvSpPr>
        <p:spPr>
          <a:xfrm>
            <a:off x="9018270" y="5266944"/>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6"/>
          <p:cNvSpPr txBox="1"/>
          <p:nvPr/>
        </p:nvSpPr>
        <p:spPr>
          <a:xfrm>
            <a:off x="9182862" y="5266944"/>
            <a:ext cx="1097280" cy="676656"/>
          </a:xfrm>
          <a:prstGeom prst="rect">
            <a:avLst/>
          </a:prstGeom>
          <a:noFill/>
        </p:spPr>
        <p:txBody>
          <a:bodyPr wrap="square" lIns="0" rIns="0" tIns="0" bIns="0" anchor="ctr">
            <a:spAutoFit/>
          </a:bodyPr>
          <a:lstStyle/>
          <a:p>
            <a:r>
              <a:rPr sz="1800" b="0" i="0">
                <a:solidFill>
                  <a:srgbClr val="8A6D00"/>
                </a:solidFill>
                <a:latin typeface="Trenda IG Text"/>
              </a:rPr>
              <a:t>3 gates</a:t>
            </a:r>
          </a:p>
        </p:txBody>
      </p:sp>
      <p:sp>
        <p:nvSpPr>
          <p:cNvPr id="107" name="Text 107"/>
          <p:cNvSpPr txBox="1"/>
          <p:nvPr/>
        </p:nvSpPr>
        <p:spPr>
          <a:xfrm>
            <a:off x="10298430" y="5266944"/>
            <a:ext cx="1387602" cy="676656"/>
          </a:xfrm>
          <a:prstGeom prst="rect">
            <a:avLst/>
          </a:prstGeom>
          <a:noFill/>
        </p:spPr>
        <p:txBody>
          <a:bodyPr wrap="square" lIns="0" rIns="0" tIns="0" bIns="0" anchor="ctr">
            <a:spAutoFit/>
          </a:bodyPr>
          <a:lstStyle/>
          <a:p>
            <a:r>
              <a:rPr sz="700" b="1" i="0">
                <a:solidFill>
                  <a:srgbClr val="1A1A1A"/>
                </a:solidFill>
                <a:latin typeface="Trenda IG Text"/>
              </a:rPr>
              <a:t>people still approve</a:t>
            </a:r>
          </a:p>
          <a:p>
            <a:r>
              <a:rPr sz="700" b="0" i="0">
                <a:solidFill>
                  <a:srgbClr val="4D4D4D"/>
                </a:solidFill>
                <a:latin typeface="Trenda IG Text"/>
              </a:rPr>
              <a:t>G1 brief, G3 journey, G2 pre-send</a:t>
            </a:r>
          </a:p>
        </p:txBody>
      </p:sp>
      <p:sp>
        <p:nvSpPr>
          <p:cNvPr id="108" name="Text 108"/>
          <p:cNvSpPr txBox="1"/>
          <p:nvPr/>
        </p:nvSpPr>
        <p:spPr>
          <a:xfrm>
            <a:off x="411480" y="5980176"/>
            <a:ext cx="11365992" cy="182880"/>
          </a:xfrm>
          <a:prstGeom prst="rect">
            <a:avLst/>
          </a:prstGeom>
          <a:noFill/>
        </p:spPr>
        <p:txBody>
          <a:bodyPr wrap="square" lIns="0" rIns="0" tIns="0" bIns="0" anchor="ctr">
            <a:spAutoFit/>
          </a:bodyPr>
          <a:lstStyle/>
          <a:p>
            <a:r>
              <a:rPr sz="700" b="0" i="0">
                <a:solidFill>
                  <a:srgbClr val="6B6B6B"/>
                </a:solidFill>
                <a:latin typeface="Trenda IG Text"/>
              </a:rPr>
              <a:t>Today: CHF post-discharge nudge manual steps and SFMC standards. With the data harness: pilot targets, measured on the CHF campaign against today's baseline.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 SIERRA VOICE AGENT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Sierra voice agent: governed knowledge for answers, scoped APIs for patient actions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Approved articles keep every answer accurate. Patient actions go through the Verified Patient Action Engine after a quick check; emergencies go straight to 911 or a nurse.</a:t>
            </a:r>
          </a:p>
        </p:txBody>
      </p:sp>
      <p:sp>
        <p:nvSpPr>
          <p:cNvPr id="5" name="Shape 4"/>
          <p:cNvSpPr/>
          <p:nvPr/>
        </p:nvSpPr>
        <p:spPr>
          <a:xfrm>
            <a:off x="411480" y="1188720"/>
            <a:ext cx="1874519" cy="960120"/>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people.png"/>
          <p:cNvPicPr>
            <a:picLocks noChangeAspect="1"/>
          </p:cNvPicPr>
          <p:nvPr/>
        </p:nvPicPr>
        <p:blipFill>
          <a:blip r:embed="rId2"/>
          <a:stretch>
            <a:fillRect/>
          </a:stretch>
        </p:blipFill>
        <p:spPr>
          <a:xfrm>
            <a:off x="521208" y="1280160"/>
            <a:ext cx="219456" cy="219456"/>
          </a:xfrm>
          <a:prstGeom prst="rect">
            <a:avLst/>
          </a:prstGeom>
        </p:spPr>
      </p:pic>
      <p:sp>
        <p:nvSpPr>
          <p:cNvPr id="7" name="Text 5"/>
          <p:cNvSpPr txBox="1"/>
          <p:nvPr/>
        </p:nvSpPr>
        <p:spPr>
          <a:xfrm>
            <a:off x="813816" y="1261872"/>
            <a:ext cx="1417319" cy="256032"/>
          </a:xfrm>
          <a:prstGeom prst="rect">
            <a:avLst/>
          </a:prstGeom>
          <a:noFill/>
        </p:spPr>
        <p:txBody>
          <a:bodyPr wrap="square" lIns="0" rIns="0" tIns="0" bIns="0" anchor="ctr">
            <a:spAutoFit/>
          </a:bodyPr>
          <a:lstStyle/>
          <a:p>
            <a:r>
              <a:rPr sz="800" b="1" i="0">
                <a:solidFill>
                  <a:srgbClr val="1A1A1A"/>
                </a:solidFill>
                <a:latin typeface="Trenda IG Text"/>
              </a:rPr>
              <a:t>Patient calls</a:t>
            </a:r>
          </a:p>
        </p:txBody>
      </p:sp>
      <p:sp>
        <p:nvSpPr>
          <p:cNvPr id="8" name="Text 6"/>
          <p:cNvSpPr txBox="1"/>
          <p:nvPr/>
        </p:nvSpPr>
        <p:spPr>
          <a:xfrm>
            <a:off x="521208" y="1572768"/>
            <a:ext cx="1673351" cy="548640"/>
          </a:xfrm>
          <a:prstGeom prst="rect">
            <a:avLst/>
          </a:prstGeom>
          <a:noFill/>
        </p:spPr>
        <p:txBody>
          <a:bodyPr wrap="square" lIns="0" rIns="0" tIns="0" bIns="0" anchor="t">
            <a:spAutoFit/>
          </a:bodyPr>
          <a:lstStyle/>
          <a:p>
            <a:r>
              <a:rPr sz="700" b="0" i="0">
                <a:solidFill>
                  <a:srgbClr val="4D4D4D"/>
                </a:solidFill>
                <a:latin typeface="Trenda IG Text"/>
              </a:rPr>
              <a:t>Book, cancel or reschedule, or ask a question: prep, locations, hours, insurance.</a:t>
            </a:r>
          </a:p>
        </p:txBody>
      </p:sp>
      <p:sp>
        <p:nvSpPr>
          <p:cNvPr id="9" name="Shape 7"/>
          <p:cNvSpPr/>
          <p:nvPr/>
        </p:nvSpPr>
        <p:spPr>
          <a:xfrm>
            <a:off x="411480" y="2377440"/>
            <a:ext cx="1874519" cy="2852927"/>
          </a:xfrm>
          <a:prstGeom prst="roundRect">
            <a:avLst>
              <a:gd name="adj" fmla="val 4000"/>
            </a:avLst>
          </a:prstGeom>
          <a:solidFill>
            <a:srgbClr val="F5F5F5"/>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8"/>
          <p:cNvSpPr txBox="1"/>
          <p:nvPr/>
        </p:nvSpPr>
        <p:spPr>
          <a:xfrm>
            <a:off x="521208" y="2468880"/>
            <a:ext cx="1691639" cy="310896"/>
          </a:xfrm>
          <a:prstGeom prst="rect">
            <a:avLst/>
          </a:prstGeom>
          <a:noFill/>
        </p:spPr>
        <p:txBody>
          <a:bodyPr wrap="square" lIns="0" rIns="0" tIns="0" bIns="0" anchor="t">
            <a:spAutoFit/>
          </a:bodyPr>
          <a:lstStyle/>
          <a:p>
            <a:pPr>
              <a:lnSpc>
                <a:spcPct val="90000"/>
              </a:lnSpc>
            </a:pPr>
            <a:r>
              <a:rPr sz="840" b="1" i="0">
                <a:solidFill>
                  <a:srgbClr val="1A1A1A"/>
                </a:solidFill>
                <a:latin typeface="Trenda IG Text"/>
              </a:rPr>
              <a:t>Sierra</a:t>
            </a:r>
          </a:p>
          <a:p>
            <a:pPr>
              <a:lnSpc>
                <a:spcPct val="90000"/>
              </a:lnSpc>
            </a:pPr>
            <a:r>
              <a:rPr sz="700" b="0" i="0">
                <a:solidFill>
                  <a:srgbClr val="4D4D4D"/>
                </a:solidFill>
                <a:latin typeface="Trenda IG Text"/>
              </a:rPr>
              <a:t>voice agent</a:t>
            </a:r>
          </a:p>
        </p:txBody>
      </p:sp>
      <p:sp>
        <p:nvSpPr>
          <p:cNvPr id="11" name="Shape 9"/>
          <p:cNvSpPr/>
          <p:nvPr/>
        </p:nvSpPr>
        <p:spPr>
          <a:xfrm>
            <a:off x="521208" y="2990088"/>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0"/>
          <p:cNvSpPr txBox="1"/>
          <p:nvPr/>
        </p:nvSpPr>
        <p:spPr>
          <a:xfrm>
            <a:off x="649224" y="2926080"/>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Answers questions</a:t>
            </a:r>
          </a:p>
          <a:p>
            <a:pPr>
              <a:spcAft>
                <a:spcPts val="100"/>
              </a:spcAft>
            </a:pPr>
            <a:r>
              <a:rPr sz="700" b="0" i="0">
                <a:solidFill>
                  <a:srgbClr val="4D4D4D"/>
                </a:solidFill>
                <a:latin typeface="Trenda IG Text"/>
              </a:rPr>
              <a:t>from approved articles only</a:t>
            </a:r>
          </a:p>
        </p:txBody>
      </p:sp>
      <p:sp>
        <p:nvSpPr>
          <p:cNvPr id="13" name="Shape 11"/>
          <p:cNvSpPr/>
          <p:nvPr/>
        </p:nvSpPr>
        <p:spPr>
          <a:xfrm>
            <a:off x="521208" y="3557016"/>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2"/>
          <p:cNvSpPr txBox="1"/>
          <p:nvPr/>
        </p:nvSpPr>
        <p:spPr>
          <a:xfrm>
            <a:off x="649224" y="3493008"/>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Verifies the caller</a:t>
            </a:r>
          </a:p>
          <a:p>
            <a:pPr>
              <a:spcAft>
                <a:spcPts val="100"/>
              </a:spcAft>
            </a:pPr>
            <a:r>
              <a:rPr sz="700" b="0" i="0">
                <a:solidFill>
                  <a:srgbClr val="4D4D4D"/>
                </a:solidFill>
                <a:latin typeface="Trenda IG Text"/>
              </a:rPr>
              <a:t>before anything patient-specific</a:t>
            </a:r>
          </a:p>
        </p:txBody>
      </p:sp>
      <p:sp>
        <p:nvSpPr>
          <p:cNvPr id="15" name="Shape 13"/>
          <p:cNvSpPr/>
          <p:nvPr/>
        </p:nvSpPr>
        <p:spPr>
          <a:xfrm>
            <a:off x="521208" y="4123944"/>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4"/>
          <p:cNvSpPr txBox="1"/>
          <p:nvPr/>
        </p:nvSpPr>
        <p:spPr>
          <a:xfrm>
            <a:off x="649224" y="4059936"/>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Books, cancels, reschedules</a:t>
            </a:r>
          </a:p>
          <a:p>
            <a:pPr>
              <a:spcAft>
                <a:spcPts val="100"/>
              </a:spcAft>
            </a:pPr>
            <a:r>
              <a:rPr sz="700" b="0" i="0">
                <a:solidFill>
                  <a:srgbClr val="4D4D4D"/>
                </a:solidFill>
                <a:latin typeface="Trenda IG Text"/>
              </a:rPr>
              <a:t>through the scoped API</a:t>
            </a:r>
          </a:p>
        </p:txBody>
      </p:sp>
      <p:sp>
        <p:nvSpPr>
          <p:cNvPr id="17" name="Shape 15"/>
          <p:cNvSpPr/>
          <p:nvPr/>
        </p:nvSpPr>
        <p:spPr>
          <a:xfrm>
            <a:off x="521208" y="4690872"/>
            <a:ext cx="64008" cy="64008"/>
          </a:xfrm>
          <a:prstGeom prst="ellipse">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6"/>
          <p:cNvSpPr txBox="1"/>
          <p:nvPr/>
        </p:nvSpPr>
        <p:spPr>
          <a:xfrm>
            <a:off x="649224" y="4626864"/>
            <a:ext cx="1563623" cy="512064"/>
          </a:xfrm>
          <a:prstGeom prst="rect">
            <a:avLst/>
          </a:prstGeom>
          <a:noFill/>
        </p:spPr>
        <p:txBody>
          <a:bodyPr wrap="square" lIns="0" rIns="0" tIns="0" bIns="0" anchor="t">
            <a:spAutoFit/>
          </a:bodyPr>
          <a:lstStyle/>
          <a:p>
            <a:pPr>
              <a:spcAft>
                <a:spcPts val="100"/>
              </a:spcAft>
            </a:pPr>
            <a:r>
              <a:rPr sz="700" b="1" i="0">
                <a:solidFill>
                  <a:srgbClr val="1A1A1A"/>
                </a:solidFill>
                <a:latin typeface="Trenda IG Text"/>
              </a:rPr>
              <a:t>Hands off at once</a:t>
            </a:r>
          </a:p>
          <a:p>
            <a:pPr>
              <a:spcAft>
                <a:spcPts val="100"/>
              </a:spcAft>
            </a:pPr>
            <a:r>
              <a:rPr sz="700" b="0" i="0">
                <a:solidFill>
                  <a:srgbClr val="4D4D4D"/>
                </a:solidFill>
                <a:latin typeface="Trenda IG Text"/>
              </a:rPr>
              <a:t>emergencies to 911 or a nurse</a:t>
            </a:r>
          </a:p>
        </p:txBody>
      </p:sp>
      <p:cxnSp>
        <p:nvCxnSpPr>
          <p:cNvPr id="19" name="Arrow 17"/>
          <p:cNvCxnSpPr/>
          <p:nvPr/>
        </p:nvCxnSpPr>
        <p:spPr>
          <a:xfrm>
            <a:off x="1348739" y="2148840"/>
            <a:ext cx="0" cy="2286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8"/>
          <p:cNvSpPr/>
          <p:nvPr/>
        </p:nvSpPr>
        <p:spPr>
          <a:xfrm>
            <a:off x="2468880" y="1188720"/>
            <a:ext cx="6583680" cy="1874519"/>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19"/>
          <p:cNvSpPr/>
          <p:nvPr/>
        </p:nvSpPr>
        <p:spPr>
          <a:xfrm>
            <a:off x="2468880" y="1188720"/>
            <a:ext cx="6583680"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0"/>
          <p:cNvSpPr txBox="1"/>
          <p:nvPr/>
        </p:nvSpPr>
        <p:spPr>
          <a:xfrm>
            <a:off x="2578608" y="1188720"/>
            <a:ext cx="6364224" cy="256032"/>
          </a:xfrm>
          <a:prstGeom prst="rect">
            <a:avLst/>
          </a:prstGeom>
          <a:noFill/>
        </p:spPr>
        <p:txBody>
          <a:bodyPr wrap="square" lIns="0" rIns="0" tIns="0" bIns="0" anchor="ctr">
            <a:spAutoFit/>
          </a:bodyPr>
          <a:lstStyle/>
          <a:p>
            <a:r>
              <a:rPr sz="700" b="1" i="0" spc="120">
                <a:solidFill>
                  <a:srgbClr val="1A1A1A"/>
                </a:solidFill>
                <a:latin typeface="Trenda IG Text"/>
              </a:rPr>
              <a:t>1  KNOWLEDGE PATH</a:t>
            </a:r>
            <a:r>
              <a:rPr sz="700" b="0" i="0">
                <a:solidFill>
                  <a:srgbClr val="4D4D4D"/>
                </a:solidFill>
                <a:latin typeface="Trenda IG Text"/>
              </a:rPr>
              <a:t>   no PHI · keeps every answer accurate</a:t>
            </a:r>
          </a:p>
        </p:txBody>
      </p:sp>
      <p:sp>
        <p:nvSpPr>
          <p:cNvPr id="23" name="Shape 21"/>
          <p:cNvSpPr/>
          <p:nvPr/>
        </p:nvSpPr>
        <p:spPr>
          <a:xfrm>
            <a:off x="2468880" y="3355848"/>
            <a:ext cx="6583680" cy="1874519"/>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2"/>
          <p:cNvSpPr/>
          <p:nvPr/>
        </p:nvSpPr>
        <p:spPr>
          <a:xfrm>
            <a:off x="2468880" y="3355848"/>
            <a:ext cx="6583680"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3"/>
          <p:cNvSpPr txBox="1"/>
          <p:nvPr/>
        </p:nvSpPr>
        <p:spPr>
          <a:xfrm>
            <a:off x="2578608" y="3355848"/>
            <a:ext cx="6364224" cy="256032"/>
          </a:xfrm>
          <a:prstGeom prst="rect">
            <a:avLst/>
          </a:prstGeom>
          <a:noFill/>
        </p:spPr>
        <p:txBody>
          <a:bodyPr wrap="square" lIns="0" rIns="0" tIns="0" bIns="0" anchor="ctr">
            <a:spAutoFit/>
          </a:bodyPr>
          <a:lstStyle/>
          <a:p>
            <a:r>
              <a:rPr sz="700" b="1" i="0" spc="120">
                <a:solidFill>
                  <a:srgbClr val="1A1A1A"/>
                </a:solidFill>
                <a:latin typeface="Trenda IG Text"/>
              </a:rPr>
              <a:t>2  PATIENT PATH</a:t>
            </a:r>
            <a:r>
              <a:rPr sz="700" b="0" i="0">
                <a:solidFill>
                  <a:srgbClr val="4D4D4D"/>
                </a:solidFill>
                <a:latin typeface="Trenda IG Text"/>
              </a:rPr>
              <a:t>   PHI · verified patient token · Verified Patient Action Engine</a:t>
            </a:r>
          </a:p>
        </p:txBody>
      </p:sp>
      <p:sp>
        <p:nvSpPr>
          <p:cNvPr id="26" name="Shape 24"/>
          <p:cNvSpPr/>
          <p:nvPr/>
        </p:nvSpPr>
        <p:spPr>
          <a:xfrm>
            <a:off x="2578608" y="1554480"/>
            <a:ext cx="1481328" cy="896112"/>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googlecloud.png"/>
          <p:cNvPicPr>
            <a:picLocks noChangeAspect="1"/>
          </p:cNvPicPr>
          <p:nvPr/>
        </p:nvPicPr>
        <p:blipFill>
          <a:blip r:embed="rId3"/>
          <a:stretch>
            <a:fillRect/>
          </a:stretch>
        </p:blipFill>
        <p:spPr>
          <a:xfrm>
            <a:off x="2670048" y="1618488"/>
            <a:ext cx="182880" cy="182880"/>
          </a:xfrm>
          <a:prstGeom prst="rect">
            <a:avLst/>
          </a:prstGeom>
        </p:spPr>
      </p:pic>
      <p:sp>
        <p:nvSpPr>
          <p:cNvPr id="28" name="Text 25"/>
          <p:cNvSpPr txBox="1"/>
          <p:nvPr/>
        </p:nvSpPr>
        <p:spPr>
          <a:xfrm>
            <a:off x="2907792" y="1609344"/>
            <a:ext cx="1078991" cy="201168"/>
          </a:xfrm>
          <a:prstGeom prst="rect">
            <a:avLst/>
          </a:prstGeom>
          <a:noFill/>
        </p:spPr>
        <p:txBody>
          <a:bodyPr wrap="square" lIns="0" rIns="0" tIns="0" bIns="0" anchor="ctr">
            <a:spAutoFit/>
          </a:bodyPr>
          <a:lstStyle/>
          <a:p>
            <a:r>
              <a:rPr sz="700" b="1" i="0">
                <a:solidFill>
                  <a:srgbClr val="1A1A1A"/>
                </a:solidFill>
                <a:latin typeface="Trenda IG Text"/>
              </a:rPr>
              <a:t>KB articles in GCP</a:t>
            </a:r>
          </a:p>
        </p:txBody>
      </p:sp>
      <p:sp>
        <p:nvSpPr>
          <p:cNvPr id="29" name="Text 26"/>
          <p:cNvSpPr txBox="1"/>
          <p:nvPr/>
        </p:nvSpPr>
        <p:spPr>
          <a:xfrm>
            <a:off x="2670048"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Source of truth. Each has an owner, version and review date.</a:t>
            </a:r>
          </a:p>
        </p:txBody>
      </p:sp>
      <p:sp>
        <p:nvSpPr>
          <p:cNvPr id="30" name="Shape 27"/>
          <p:cNvSpPr/>
          <p:nvPr/>
        </p:nvSpPr>
        <p:spPr>
          <a:xfrm>
            <a:off x="4206240" y="1554480"/>
            <a:ext cx="1481328" cy="896112"/>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28"/>
          <p:cNvSpPr txBox="1"/>
          <p:nvPr/>
        </p:nvSpPr>
        <p:spPr>
          <a:xfrm>
            <a:off x="4297680" y="1609344"/>
            <a:ext cx="1316736" cy="201168"/>
          </a:xfrm>
          <a:prstGeom prst="rect">
            <a:avLst/>
          </a:prstGeom>
          <a:noFill/>
        </p:spPr>
        <p:txBody>
          <a:bodyPr wrap="square" lIns="0" rIns="0" tIns="0" bIns="0" anchor="ctr">
            <a:spAutoFit/>
          </a:bodyPr>
          <a:lstStyle/>
          <a:p>
            <a:r>
              <a:rPr sz="700" b="1" i="0">
                <a:solidFill>
                  <a:srgbClr val="1A1A1A"/>
                </a:solidFill>
                <a:latin typeface="Trenda IG Text"/>
              </a:rPr>
              <a:t>PHI scan</a:t>
            </a:r>
          </a:p>
        </p:txBody>
      </p:sp>
      <p:sp>
        <p:nvSpPr>
          <p:cNvPr id="32" name="Text 29"/>
          <p:cNvSpPr txBox="1"/>
          <p:nvPr/>
        </p:nvSpPr>
        <p:spPr>
          <a:xfrm>
            <a:off x="4297680"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DLP and Collibra check every article; no patient example is published.</a:t>
            </a:r>
          </a:p>
        </p:txBody>
      </p:sp>
      <p:sp>
        <p:nvSpPr>
          <p:cNvPr id="33" name="Shape 30"/>
          <p:cNvSpPr/>
          <p:nvPr/>
        </p:nvSpPr>
        <p:spPr>
          <a:xfrm>
            <a:off x="5833872" y="1554480"/>
            <a:ext cx="1481328" cy="896112"/>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people.png"/>
          <p:cNvPicPr>
            <a:picLocks noChangeAspect="1"/>
          </p:cNvPicPr>
          <p:nvPr/>
        </p:nvPicPr>
        <p:blipFill>
          <a:blip r:embed="rId2"/>
          <a:stretch>
            <a:fillRect/>
          </a:stretch>
        </p:blipFill>
        <p:spPr>
          <a:xfrm>
            <a:off x="5925312" y="1627632"/>
            <a:ext cx="182880" cy="182880"/>
          </a:xfrm>
          <a:prstGeom prst="rect">
            <a:avLst/>
          </a:prstGeom>
        </p:spPr>
      </p:pic>
      <p:sp>
        <p:nvSpPr>
          <p:cNvPr id="35" name="Text 31"/>
          <p:cNvSpPr txBox="1"/>
          <p:nvPr/>
        </p:nvSpPr>
        <p:spPr>
          <a:xfrm>
            <a:off x="6163056" y="1600200"/>
            <a:ext cx="1078992" cy="237744"/>
          </a:xfrm>
          <a:prstGeom prst="rect">
            <a:avLst/>
          </a:prstGeom>
          <a:noFill/>
        </p:spPr>
        <p:txBody>
          <a:bodyPr wrap="square" lIns="0" rIns="0" tIns="0" bIns="0" anchor="ctr">
            <a:spAutoFit/>
          </a:bodyPr>
          <a:lstStyle/>
          <a:p>
            <a:r>
              <a:rPr sz="700" b="1" i="0">
                <a:solidFill>
                  <a:srgbClr val="8A6D00"/>
                </a:solidFill>
                <a:latin typeface="Trenda IG Text"/>
              </a:rPr>
              <a:t>Owner approves</a:t>
            </a:r>
          </a:p>
        </p:txBody>
      </p:sp>
      <p:sp>
        <p:nvSpPr>
          <p:cNvPr id="36" name="Text 32"/>
          <p:cNvSpPr txBox="1"/>
          <p:nvPr/>
        </p:nvSpPr>
        <p:spPr>
          <a:xfrm>
            <a:off x="5925312" y="1883664"/>
            <a:ext cx="1316736" cy="530352"/>
          </a:xfrm>
          <a:prstGeom prst="rect">
            <a:avLst/>
          </a:prstGeom>
          <a:noFill/>
        </p:spPr>
        <p:txBody>
          <a:bodyPr wrap="square" lIns="0" rIns="0" tIns="0" bIns="0" anchor="t">
            <a:spAutoFit/>
          </a:bodyPr>
          <a:lstStyle/>
          <a:p>
            <a:r>
              <a:rPr sz="700" b="0" i="0">
                <a:solidFill>
                  <a:srgbClr val="4D4D4D"/>
                </a:solidFill>
                <a:latin typeface="Trenda IG Text"/>
              </a:rPr>
              <a:t>Clinical content gets a clinical reviewer. Conflicting versions retired.</a:t>
            </a:r>
          </a:p>
        </p:txBody>
      </p:sp>
      <p:sp>
        <p:nvSpPr>
          <p:cNvPr id="37" name="Shape 33"/>
          <p:cNvSpPr/>
          <p:nvPr/>
        </p:nvSpPr>
        <p:spPr>
          <a:xfrm>
            <a:off x="7461504" y="1554480"/>
            <a:ext cx="1481328" cy="896112"/>
          </a:xfrm>
          <a:prstGeom prst="roundRect">
            <a:avLst>
              <a:gd name="adj" fmla="val 7000"/>
            </a:avLst>
          </a:prstGeom>
          <a:solidFill>
            <a:srgbClr val="F5F5F5"/>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4"/>
          <p:cNvSpPr txBox="1"/>
          <p:nvPr/>
        </p:nvSpPr>
        <p:spPr>
          <a:xfrm>
            <a:off x="7552944" y="1609344"/>
            <a:ext cx="1316736" cy="201168"/>
          </a:xfrm>
          <a:prstGeom prst="rect">
            <a:avLst/>
          </a:prstGeom>
          <a:noFill/>
        </p:spPr>
        <p:txBody>
          <a:bodyPr wrap="square" lIns="0" rIns="0" tIns="0" bIns="0" anchor="ctr">
            <a:spAutoFit/>
          </a:bodyPr>
          <a:lstStyle/>
          <a:p>
            <a:r>
              <a:rPr sz="700" b="1" i="0">
                <a:solidFill>
                  <a:srgbClr val="1A1A1A"/>
                </a:solidFill>
                <a:latin typeface="Trenda IG Text"/>
              </a:rPr>
              <a:t>Approved KB index</a:t>
            </a:r>
          </a:p>
        </p:txBody>
      </p:sp>
      <p:sp>
        <p:nvSpPr>
          <p:cNvPr id="39" name="Text 35"/>
          <p:cNvSpPr txBox="1"/>
          <p:nvPr/>
        </p:nvSpPr>
        <p:spPr>
          <a:xfrm>
            <a:off x="7552944" y="1837944"/>
            <a:ext cx="1298448" cy="585215"/>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Same semantic layer and knowledge graph as campaigns; synced to Sierra on every change.</a:t>
            </a:r>
          </a:p>
        </p:txBody>
      </p:sp>
      <p:cxnSp>
        <p:nvCxnSpPr>
          <p:cNvPr id="40" name="Arrow 36"/>
          <p:cNvCxnSpPr/>
          <p:nvPr/>
        </p:nvCxnSpPr>
        <p:spPr>
          <a:xfrm>
            <a:off x="4059936"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Arrow 37"/>
          <p:cNvCxnSpPr/>
          <p:nvPr/>
        </p:nvCxnSpPr>
        <p:spPr>
          <a:xfrm>
            <a:off x="5687568"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Arrow 38"/>
          <p:cNvCxnSpPr/>
          <p:nvPr/>
        </p:nvCxnSpPr>
        <p:spPr>
          <a:xfrm>
            <a:off x="7315200" y="2002536"/>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3" name="Arrow 39"/>
          <p:cNvCxnSpPr/>
          <p:nvPr/>
        </p:nvCxnSpPr>
        <p:spPr>
          <a:xfrm>
            <a:off x="8805672" y="2450592"/>
            <a:ext cx="0" cy="429767"/>
          </a:xfrm>
          <a:prstGeom prst="line">
            <a:avLst/>
          </a:prstGeom>
          <a:ln w="15875">
            <a:solidFill>
              <a:srgbClr val="00B8D4"/>
            </a:solidFill>
          </a:ln>
        </p:spPr>
        <p:style>
          <a:lnRef idx="2">
            <a:schemeClr val="accent1"/>
          </a:lnRef>
          <a:fillRef idx="0">
            <a:schemeClr val="accent1"/>
          </a:fillRef>
          <a:effectRef idx="1">
            <a:schemeClr val="accent1"/>
          </a:effectRef>
          <a:fontRef idx="minor">
            <a:schemeClr val="tx1"/>
          </a:fontRef>
        </p:style>
      </p:cxnSp>
      <p:cxnSp>
        <p:nvCxnSpPr>
          <p:cNvPr id="44" name="Arrow 40"/>
          <p:cNvCxnSpPr/>
          <p:nvPr/>
        </p:nvCxnSpPr>
        <p:spPr>
          <a:xfrm flipH="1">
            <a:off x="2286000" y="2880359"/>
            <a:ext cx="6519672"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 41"/>
          <p:cNvSpPr txBox="1"/>
          <p:nvPr/>
        </p:nvSpPr>
        <p:spPr>
          <a:xfrm>
            <a:off x="4297680" y="2724911"/>
            <a:ext cx="2743200" cy="137160"/>
          </a:xfrm>
          <a:prstGeom prst="rect">
            <a:avLst/>
          </a:prstGeom>
          <a:noFill/>
        </p:spPr>
        <p:txBody>
          <a:bodyPr wrap="square" lIns="0" rIns="0" tIns="0" bIns="0" anchor="ctr">
            <a:spAutoFit/>
          </a:bodyPr>
          <a:lstStyle/>
          <a:p>
            <a:r>
              <a:rPr sz="700" b="0" i="0">
                <a:solidFill>
                  <a:srgbClr val="0089A0"/>
                </a:solidFill>
                <a:latin typeface="Trenda IG Text"/>
              </a:rPr>
              <a:t>Sierra reads approved articles only</a:t>
            </a:r>
          </a:p>
        </p:txBody>
      </p:sp>
      <p:sp>
        <p:nvSpPr>
          <p:cNvPr id="46" name="Text 42"/>
          <p:cNvSpPr txBox="1"/>
          <p:nvPr/>
        </p:nvSpPr>
        <p:spPr>
          <a:xfrm>
            <a:off x="2578608" y="2542032"/>
            <a:ext cx="960120" cy="201168"/>
          </a:xfrm>
          <a:prstGeom prst="rect">
            <a:avLst/>
          </a:prstGeom>
          <a:noFill/>
        </p:spPr>
        <p:txBody>
          <a:bodyPr wrap="square" lIns="0" rIns="0" tIns="0" bIns="0" anchor="ctr">
            <a:spAutoFit/>
          </a:bodyPr>
          <a:lstStyle/>
          <a:p>
            <a:r>
              <a:rPr sz="700" b="1" i="0" spc="100">
                <a:solidFill>
                  <a:srgbClr val="6B6B6B"/>
                </a:solidFill>
                <a:latin typeface="Trenda IG Text"/>
              </a:rPr>
              <a:t>ARTICLES</a:t>
            </a:r>
          </a:p>
        </p:txBody>
      </p:sp>
      <p:sp>
        <p:nvSpPr>
          <p:cNvPr id="47" name="Shape 43"/>
          <p:cNvSpPr/>
          <p:nvPr/>
        </p:nvSpPr>
        <p:spPr>
          <a:xfrm>
            <a:off x="3566160" y="2542032"/>
            <a:ext cx="373075"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4"/>
          <p:cNvSpPr txBox="1"/>
          <p:nvPr/>
        </p:nvSpPr>
        <p:spPr>
          <a:xfrm>
            <a:off x="3566160" y="2542032"/>
            <a:ext cx="373075" cy="201168"/>
          </a:xfrm>
          <a:prstGeom prst="rect">
            <a:avLst/>
          </a:prstGeom>
          <a:noFill/>
        </p:spPr>
        <p:txBody>
          <a:bodyPr wrap="square" lIns="0" rIns="0" tIns="0" bIns="0" anchor="ctr">
            <a:spAutoFit/>
          </a:bodyPr>
          <a:lstStyle/>
          <a:p>
            <a:pPr algn="ctr"/>
            <a:r>
              <a:rPr sz="700" b="0" i="0">
                <a:solidFill>
                  <a:srgbClr val="1A1A1A"/>
                </a:solidFill>
                <a:latin typeface="Trenda IG Text"/>
              </a:rPr>
              <a:t>FAQs</a:t>
            </a:r>
          </a:p>
        </p:txBody>
      </p:sp>
      <p:sp>
        <p:nvSpPr>
          <p:cNvPr id="49" name="Shape 45"/>
          <p:cNvSpPr/>
          <p:nvPr/>
        </p:nvSpPr>
        <p:spPr>
          <a:xfrm>
            <a:off x="3994099" y="2542032"/>
            <a:ext cx="991209"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6"/>
          <p:cNvSpPr txBox="1"/>
          <p:nvPr/>
        </p:nvSpPr>
        <p:spPr>
          <a:xfrm>
            <a:off x="3994099" y="2542032"/>
            <a:ext cx="991209" cy="201168"/>
          </a:xfrm>
          <a:prstGeom prst="rect">
            <a:avLst/>
          </a:prstGeom>
          <a:noFill/>
        </p:spPr>
        <p:txBody>
          <a:bodyPr wrap="square" lIns="0" rIns="0" tIns="0" bIns="0" anchor="ctr">
            <a:spAutoFit/>
          </a:bodyPr>
          <a:lstStyle/>
          <a:p>
            <a:pPr algn="ctr"/>
            <a:r>
              <a:rPr sz="700" b="0" i="0">
                <a:solidFill>
                  <a:srgbClr val="1A1A1A"/>
                </a:solidFill>
                <a:latin typeface="Trenda IG Text"/>
              </a:rPr>
              <a:t>prep instructions</a:t>
            </a:r>
          </a:p>
        </p:txBody>
      </p:sp>
      <p:sp>
        <p:nvSpPr>
          <p:cNvPr id="51" name="Shape 47"/>
          <p:cNvSpPr/>
          <p:nvPr/>
        </p:nvSpPr>
        <p:spPr>
          <a:xfrm>
            <a:off x="5040172" y="2542032"/>
            <a:ext cx="991209"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5040172" y="2542032"/>
            <a:ext cx="991209" cy="201168"/>
          </a:xfrm>
          <a:prstGeom prst="rect">
            <a:avLst/>
          </a:prstGeom>
          <a:noFill/>
        </p:spPr>
        <p:txBody>
          <a:bodyPr wrap="square" lIns="0" rIns="0" tIns="0" bIns="0" anchor="ctr">
            <a:spAutoFit/>
          </a:bodyPr>
          <a:lstStyle/>
          <a:p>
            <a:pPr algn="ctr"/>
            <a:r>
              <a:rPr sz="700" b="0" i="0">
                <a:solidFill>
                  <a:srgbClr val="1A1A1A"/>
                </a:solidFill>
                <a:latin typeface="Trenda IG Text"/>
              </a:rPr>
              <a:t>locations + hours</a:t>
            </a:r>
          </a:p>
        </p:txBody>
      </p:sp>
      <p:sp>
        <p:nvSpPr>
          <p:cNvPr id="53" name="Shape 49"/>
          <p:cNvSpPr/>
          <p:nvPr/>
        </p:nvSpPr>
        <p:spPr>
          <a:xfrm>
            <a:off x="6086246" y="2542032"/>
            <a:ext cx="1086307"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0"/>
          <p:cNvSpPr txBox="1"/>
          <p:nvPr/>
        </p:nvSpPr>
        <p:spPr>
          <a:xfrm>
            <a:off x="6086246" y="2542032"/>
            <a:ext cx="1086307" cy="201168"/>
          </a:xfrm>
          <a:prstGeom prst="rect">
            <a:avLst/>
          </a:prstGeom>
          <a:noFill/>
        </p:spPr>
        <p:txBody>
          <a:bodyPr wrap="square" lIns="0" rIns="0" tIns="0" bIns="0" anchor="ctr">
            <a:spAutoFit/>
          </a:bodyPr>
          <a:lstStyle/>
          <a:p>
            <a:pPr algn="ctr"/>
            <a:r>
              <a:rPr sz="700" b="0" i="0">
                <a:solidFill>
                  <a:srgbClr val="1A1A1A"/>
                </a:solidFill>
                <a:latin typeface="Trenda IG Text"/>
              </a:rPr>
              <a:t>insurance + billing</a:t>
            </a:r>
          </a:p>
        </p:txBody>
      </p:sp>
      <p:sp>
        <p:nvSpPr>
          <p:cNvPr id="55" name="Shape 51"/>
          <p:cNvSpPr/>
          <p:nvPr/>
        </p:nvSpPr>
        <p:spPr>
          <a:xfrm>
            <a:off x="7227417" y="2542032"/>
            <a:ext cx="801014"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2"/>
          <p:cNvSpPr txBox="1"/>
          <p:nvPr/>
        </p:nvSpPr>
        <p:spPr>
          <a:xfrm>
            <a:off x="7227417" y="2542032"/>
            <a:ext cx="801014" cy="201168"/>
          </a:xfrm>
          <a:prstGeom prst="rect">
            <a:avLst/>
          </a:prstGeom>
          <a:noFill/>
        </p:spPr>
        <p:txBody>
          <a:bodyPr wrap="square" lIns="0" rIns="0" tIns="0" bIns="0" anchor="ctr">
            <a:spAutoFit/>
          </a:bodyPr>
          <a:lstStyle/>
          <a:p>
            <a:pPr algn="ctr"/>
            <a:r>
              <a:rPr sz="700" b="0" i="0">
                <a:solidFill>
                  <a:srgbClr val="1A1A1A"/>
                </a:solidFill>
                <a:latin typeface="Trenda IG Text"/>
              </a:rPr>
              <a:t>visitor rules</a:t>
            </a:r>
          </a:p>
        </p:txBody>
      </p:sp>
      <p:sp>
        <p:nvSpPr>
          <p:cNvPr id="57" name="Shape 53"/>
          <p:cNvSpPr/>
          <p:nvPr/>
        </p:nvSpPr>
        <p:spPr>
          <a:xfrm>
            <a:off x="8083296" y="2542032"/>
            <a:ext cx="563270"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4"/>
          <p:cNvSpPr txBox="1"/>
          <p:nvPr/>
        </p:nvSpPr>
        <p:spPr>
          <a:xfrm>
            <a:off x="8083296" y="2542032"/>
            <a:ext cx="563270" cy="201168"/>
          </a:xfrm>
          <a:prstGeom prst="rect">
            <a:avLst/>
          </a:prstGeom>
          <a:noFill/>
        </p:spPr>
        <p:txBody>
          <a:bodyPr wrap="square" lIns="0" rIns="0" tIns="0" bIns="0" anchor="ctr">
            <a:spAutoFit/>
          </a:bodyPr>
          <a:lstStyle/>
          <a:p>
            <a:pPr algn="ctr"/>
            <a:r>
              <a:rPr sz="700" b="0" i="0">
                <a:solidFill>
                  <a:srgbClr val="1A1A1A"/>
                </a:solidFill>
                <a:latin typeface="Trenda IG Text"/>
              </a:rPr>
              <a:t>policies</a:t>
            </a:r>
          </a:p>
        </p:txBody>
      </p:sp>
      <p:cxnSp>
        <p:nvCxnSpPr>
          <p:cNvPr id="59" name="Arrow 55"/>
          <p:cNvCxnSpPr/>
          <p:nvPr/>
        </p:nvCxnSpPr>
        <p:spPr>
          <a:xfrm>
            <a:off x="2468880" y="3209544"/>
            <a:ext cx="6583680" cy="0"/>
          </a:xfrm>
          <a:prstGeom prst="line">
            <a:avLst/>
          </a:prstGeom>
          <a:ln w="12700">
            <a:solidFill>
              <a:srgbClr val="BDBDBD"/>
            </a:solidFill>
            <a:prstDash val="dash"/>
          </a:ln>
        </p:spPr>
        <p:style>
          <a:lnRef idx="2">
            <a:schemeClr val="accent1"/>
          </a:lnRef>
          <a:fillRef idx="0">
            <a:schemeClr val="accent1"/>
          </a:fillRef>
          <a:effectRef idx="1">
            <a:schemeClr val="accent1"/>
          </a:effectRef>
          <a:fontRef idx="minor">
            <a:schemeClr val="tx1"/>
          </a:fontRef>
        </p:style>
      </p:cxnSp>
      <p:sp>
        <p:nvSpPr>
          <p:cNvPr id="60" name="Shape 56"/>
          <p:cNvSpPr/>
          <p:nvPr/>
        </p:nvSpPr>
        <p:spPr>
          <a:xfrm>
            <a:off x="4297680" y="3118103"/>
            <a:ext cx="292608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7"/>
          <p:cNvSpPr/>
          <p:nvPr/>
        </p:nvSpPr>
        <p:spPr>
          <a:xfrm>
            <a:off x="4343400" y="3127248"/>
            <a:ext cx="2834640" cy="164592"/>
          </a:xfrm>
          <a:prstGeom prst="roundRect">
            <a:avLst>
              <a:gd name="adj" fmla="val 50000"/>
            </a:avLst>
          </a:prstGeom>
          <a:no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8"/>
          <p:cNvSpPr txBox="1"/>
          <p:nvPr/>
        </p:nvSpPr>
        <p:spPr>
          <a:xfrm>
            <a:off x="4343400" y="3127248"/>
            <a:ext cx="2834640" cy="164592"/>
          </a:xfrm>
          <a:prstGeom prst="rect">
            <a:avLst/>
          </a:prstGeom>
          <a:noFill/>
        </p:spPr>
        <p:txBody>
          <a:bodyPr wrap="square" lIns="0" rIns="0" tIns="0" bIns="0" anchor="ctr">
            <a:spAutoFit/>
          </a:bodyPr>
          <a:lstStyle/>
          <a:p>
            <a:pPr algn="ctr"/>
            <a:r>
              <a:rPr sz="700" b="1" i="0" spc="80">
                <a:solidFill>
                  <a:srgbClr val="0089A0"/>
                </a:solidFill>
                <a:latin typeface="Trenda IG Text"/>
              </a:rPr>
              <a:t>NO PATIENT RECORDS IN THE KNOWLEDGE BASE</a:t>
            </a:r>
          </a:p>
        </p:txBody>
      </p:sp>
      <p:sp>
        <p:nvSpPr>
          <p:cNvPr id="63" name="Shape 59"/>
          <p:cNvSpPr/>
          <p:nvPr/>
        </p:nvSpPr>
        <p:spPr>
          <a:xfrm>
            <a:off x="2578608" y="3721608"/>
            <a:ext cx="1463040" cy="914400"/>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4" name="Picture 63" descr="people.png"/>
          <p:cNvPicPr>
            <a:picLocks noChangeAspect="1"/>
          </p:cNvPicPr>
          <p:nvPr/>
        </p:nvPicPr>
        <p:blipFill>
          <a:blip r:embed="rId2"/>
          <a:stretch>
            <a:fillRect/>
          </a:stretch>
        </p:blipFill>
        <p:spPr>
          <a:xfrm>
            <a:off x="2670048" y="3794760"/>
            <a:ext cx="182880" cy="182880"/>
          </a:xfrm>
          <a:prstGeom prst="rect">
            <a:avLst/>
          </a:prstGeom>
        </p:spPr>
      </p:pic>
      <p:sp>
        <p:nvSpPr>
          <p:cNvPr id="65" name="Text 60"/>
          <p:cNvSpPr txBox="1"/>
          <p:nvPr/>
        </p:nvSpPr>
        <p:spPr>
          <a:xfrm>
            <a:off x="2907792" y="3767328"/>
            <a:ext cx="1060704" cy="237744"/>
          </a:xfrm>
          <a:prstGeom prst="rect">
            <a:avLst/>
          </a:prstGeom>
          <a:noFill/>
        </p:spPr>
        <p:txBody>
          <a:bodyPr wrap="square" lIns="0" rIns="0" tIns="0" bIns="0" anchor="ctr">
            <a:spAutoFit/>
          </a:bodyPr>
          <a:lstStyle/>
          <a:p>
            <a:r>
              <a:rPr sz="700" b="1" i="0">
                <a:solidFill>
                  <a:srgbClr val="8A6D00"/>
                </a:solidFill>
                <a:latin typeface="Trenda IG Text"/>
              </a:rPr>
              <a:t>Identity + verification</a:t>
            </a:r>
          </a:p>
        </p:txBody>
      </p:sp>
      <p:sp>
        <p:nvSpPr>
          <p:cNvPr id="66" name="Text 61"/>
          <p:cNvSpPr txBox="1"/>
          <p:nvPr/>
        </p:nvSpPr>
        <p:spPr>
          <a:xfrm>
            <a:off x="2670048" y="4050792"/>
            <a:ext cx="1298448" cy="548640"/>
          </a:xfrm>
          <a:prstGeom prst="rect">
            <a:avLst/>
          </a:prstGeom>
          <a:noFill/>
        </p:spPr>
        <p:txBody>
          <a:bodyPr wrap="square" lIns="0" rIns="0" tIns="0" bIns="0" anchor="t">
            <a:spAutoFit/>
          </a:bodyPr>
          <a:lstStyle/>
          <a:p>
            <a:r>
              <a:rPr sz="700" b="0" i="0">
                <a:solidFill>
                  <a:srgbClr val="4D4D4D"/>
                </a:solidFill>
                <a:latin typeface="Trenda IG Text"/>
              </a:rPr>
              <a:t>Caller ID on file + date of birth, in seconds; step-up only if needed.</a:t>
            </a:r>
          </a:p>
        </p:txBody>
      </p:sp>
      <p:sp>
        <p:nvSpPr>
          <p:cNvPr id="67" name="Differentiator Border 63"/>
          <p:cNvSpPr/>
          <p:nvPr/>
        </p:nvSpPr>
        <p:spPr>
          <a:xfrm>
            <a:off x="4224528" y="3721608"/>
            <a:ext cx="2377440" cy="42062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Shape 64"/>
          <p:cNvSpPr/>
          <p:nvPr/>
        </p:nvSpPr>
        <p:spPr>
          <a:xfrm>
            <a:off x="4242816" y="3739896"/>
            <a:ext cx="2340864" cy="38404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5"/>
          <p:cNvSpPr txBox="1"/>
          <p:nvPr/>
        </p:nvSpPr>
        <p:spPr>
          <a:xfrm>
            <a:off x="4315968" y="3739896"/>
            <a:ext cx="2194560" cy="38404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Action Engine · scheduling</a:t>
            </a:r>
          </a:p>
          <a:p>
            <a:pPr>
              <a:spcAft>
                <a:spcPts val="100"/>
              </a:spcAft>
            </a:pPr>
            <a:r>
              <a:rPr sz="700" b="0" i="0">
                <a:solidFill>
                  <a:srgbClr val="4D4D4D"/>
                </a:solidFill>
                <a:latin typeface="Trenda IG Text"/>
              </a:rPr>
              <a:t>SearchAvailableSlots, Reschedule; this patient only.</a:t>
            </a:r>
          </a:p>
        </p:txBody>
      </p:sp>
      <p:sp>
        <p:nvSpPr>
          <p:cNvPr id="70" name="Shape 66"/>
          <p:cNvSpPr/>
          <p:nvPr/>
        </p:nvSpPr>
        <p:spPr>
          <a:xfrm>
            <a:off x="6784848" y="3721608"/>
            <a:ext cx="2194560" cy="42062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hape 67"/>
          <p:cNvSpPr/>
          <p:nvPr/>
        </p:nvSpPr>
        <p:spPr>
          <a:xfrm>
            <a:off x="6876288" y="3840480"/>
            <a:ext cx="384048" cy="182880"/>
          </a:xfrm>
          <a:prstGeom prst="roundRect">
            <a:avLst>
              <a:gd name="adj" fmla="val 30000"/>
            </a:avLst>
          </a:prstGeom>
          <a:solidFill>
            <a:srgbClr val="EEEEEE"/>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8"/>
          <p:cNvSpPr txBox="1"/>
          <p:nvPr/>
        </p:nvSpPr>
        <p:spPr>
          <a:xfrm>
            <a:off x="6876288" y="3840480"/>
            <a:ext cx="384048" cy="182880"/>
          </a:xfrm>
          <a:prstGeom prst="rect">
            <a:avLst/>
          </a:prstGeom>
          <a:noFill/>
        </p:spPr>
        <p:txBody>
          <a:bodyPr wrap="square" lIns="0" rIns="0" tIns="0" bIns="0" anchor="ctr">
            <a:spAutoFit/>
          </a:bodyPr>
          <a:lstStyle/>
          <a:p>
            <a:pPr algn="ctr"/>
            <a:r>
              <a:rPr sz="700" b="1" i="0">
                <a:solidFill>
                  <a:srgbClr val="1A1A1A"/>
                </a:solidFill>
                <a:latin typeface="Trenda IG Text"/>
              </a:rPr>
              <a:t>Epic</a:t>
            </a:r>
          </a:p>
        </p:txBody>
      </p:sp>
      <p:sp>
        <p:nvSpPr>
          <p:cNvPr id="73" name="Text 69"/>
          <p:cNvSpPr txBox="1"/>
          <p:nvPr/>
        </p:nvSpPr>
        <p:spPr>
          <a:xfrm>
            <a:off x="7333488" y="3739896"/>
            <a:ext cx="1591056" cy="38404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Scheduling system of record</a:t>
            </a:r>
          </a:p>
          <a:p>
            <a:pPr>
              <a:spcAft>
                <a:spcPts val="100"/>
              </a:spcAft>
            </a:pPr>
            <a:r>
              <a:rPr sz="700" b="0" i="0">
                <a:solidFill>
                  <a:srgbClr val="4D4D4D"/>
                </a:solidFill>
                <a:latin typeface="Trenda IG Text"/>
              </a:rPr>
              <a:t>Book, cancel, reschedule written here.</a:t>
            </a:r>
          </a:p>
        </p:txBody>
      </p:sp>
      <p:cxnSp>
        <p:nvCxnSpPr>
          <p:cNvPr id="74" name="Arrow 70"/>
          <p:cNvCxnSpPr/>
          <p:nvPr/>
        </p:nvCxnSpPr>
        <p:spPr>
          <a:xfrm>
            <a:off x="4041648" y="3931920"/>
            <a:ext cx="182880"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Arrow 71"/>
          <p:cNvCxnSpPr/>
          <p:nvPr/>
        </p:nvCxnSpPr>
        <p:spPr>
          <a:xfrm>
            <a:off x="6601968" y="3877056"/>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6" name="Arrow 72"/>
          <p:cNvCxnSpPr/>
          <p:nvPr/>
        </p:nvCxnSpPr>
        <p:spPr>
          <a:xfrm flipH="1">
            <a:off x="6601968" y="3986784"/>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Shape 73"/>
          <p:cNvSpPr/>
          <p:nvPr/>
        </p:nvSpPr>
        <p:spPr>
          <a:xfrm>
            <a:off x="4224528" y="4215384"/>
            <a:ext cx="2377440" cy="420624"/>
          </a:xfrm>
          <a:prstGeom prst="roundRect">
            <a:avLst>
              <a:gd name="adj" fmla="val 8000"/>
            </a:avLst>
          </a:prstGeom>
          <a:solidFill>
            <a:srgbClr val="F5F5F5"/>
          </a:solidFill>
          <a:ln w="1587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4"/>
          <p:cNvSpPr txBox="1"/>
          <p:nvPr/>
        </p:nvSpPr>
        <p:spPr>
          <a:xfrm>
            <a:off x="4315968" y="4233672"/>
            <a:ext cx="2194560" cy="38404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Action Engine · patient context</a:t>
            </a:r>
          </a:p>
          <a:p>
            <a:pPr>
              <a:spcAft>
                <a:spcPts val="100"/>
              </a:spcAft>
            </a:pPr>
            <a:r>
              <a:rPr sz="700" b="0" i="0">
                <a:solidFill>
                  <a:srgbClr val="4D4D4D"/>
                </a:solidFill>
                <a:latin typeface="Trenda IG Text"/>
              </a:rPr>
              <a:t>GetPatientContext: campaign status, consent; no lists.</a:t>
            </a:r>
          </a:p>
        </p:txBody>
      </p:sp>
      <p:sp>
        <p:nvSpPr>
          <p:cNvPr id="79" name="Shape 75"/>
          <p:cNvSpPr/>
          <p:nvPr/>
        </p:nvSpPr>
        <p:spPr>
          <a:xfrm>
            <a:off x="6784848" y="4215384"/>
            <a:ext cx="2194560" cy="42062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Shape 76"/>
          <p:cNvSpPr/>
          <p:nvPr/>
        </p:nvSpPr>
        <p:spPr>
          <a:xfrm>
            <a:off x="6876288" y="4334256"/>
            <a:ext cx="493776" cy="182880"/>
          </a:xfrm>
          <a:prstGeom prst="roundRect">
            <a:avLst>
              <a:gd name="adj" fmla="val 30000"/>
            </a:avLst>
          </a:prstGeom>
          <a:solidFill>
            <a:srgbClr val="EEEEEE"/>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7"/>
          <p:cNvSpPr txBox="1"/>
          <p:nvPr/>
        </p:nvSpPr>
        <p:spPr>
          <a:xfrm>
            <a:off x="6876288" y="4334256"/>
            <a:ext cx="493776" cy="182880"/>
          </a:xfrm>
          <a:prstGeom prst="rect">
            <a:avLst/>
          </a:prstGeom>
          <a:noFill/>
        </p:spPr>
        <p:txBody>
          <a:bodyPr wrap="square" lIns="0" rIns="0" tIns="0" bIns="0" anchor="ctr">
            <a:spAutoFit/>
          </a:bodyPr>
          <a:lstStyle/>
          <a:p>
            <a:pPr algn="ctr"/>
            <a:r>
              <a:rPr sz="700" b="1" i="0">
                <a:solidFill>
                  <a:srgbClr val="1A1A1A"/>
                </a:solidFill>
                <a:latin typeface="Trenda IG Text"/>
              </a:rPr>
              <a:t>Gold B</a:t>
            </a:r>
          </a:p>
        </p:txBody>
      </p:sp>
      <p:sp>
        <p:nvSpPr>
          <p:cNvPr id="82" name="Text 78"/>
          <p:cNvSpPr txBox="1"/>
          <p:nvPr/>
        </p:nvSpPr>
        <p:spPr>
          <a:xfrm>
            <a:off x="7443216" y="4233672"/>
            <a:ext cx="1481328" cy="384048"/>
          </a:xfrm>
          <a:prstGeom prst="rect">
            <a:avLst/>
          </a:prstGeom>
          <a:noFill/>
        </p:spPr>
        <p:txBody>
          <a:bodyPr wrap="square" lIns="0" rIns="0" tIns="0" bIns="0" anchor="ctr">
            <a:spAutoFit/>
          </a:bodyPr>
          <a:lstStyle/>
          <a:p>
            <a:pPr>
              <a:spcAft>
                <a:spcPts val="100"/>
              </a:spcAft>
            </a:pPr>
            <a:r>
              <a:rPr sz="700" b="1" i="0">
                <a:solidFill>
                  <a:srgbClr val="1A1A1A"/>
                </a:solidFill>
                <a:latin typeface="Trenda IG Text"/>
              </a:rPr>
              <a:t>Restricted patient layer</a:t>
            </a:r>
          </a:p>
          <a:p>
            <a:pPr>
              <a:spcAft>
                <a:spcPts val="100"/>
              </a:spcAft>
            </a:pPr>
            <a:r>
              <a:rPr sz="700" b="0" i="0">
                <a:solidFill>
                  <a:srgbClr val="4D4D4D"/>
                </a:solidFill>
                <a:latin typeface="Trenda IG Text"/>
              </a:rPr>
              <a:t>Read-only, for this verified call.</a:t>
            </a:r>
          </a:p>
        </p:txBody>
      </p:sp>
      <p:cxnSp>
        <p:nvCxnSpPr>
          <p:cNvPr id="83" name="Arrow 79"/>
          <p:cNvCxnSpPr/>
          <p:nvPr/>
        </p:nvCxnSpPr>
        <p:spPr>
          <a:xfrm>
            <a:off x="4041648" y="4425696"/>
            <a:ext cx="182880"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Arrow 80"/>
          <p:cNvCxnSpPr/>
          <p:nvPr/>
        </p:nvCxnSpPr>
        <p:spPr>
          <a:xfrm>
            <a:off x="6601968" y="4370832"/>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Arrow 81"/>
          <p:cNvCxnSpPr/>
          <p:nvPr/>
        </p:nvCxnSpPr>
        <p:spPr>
          <a:xfrm flipH="1">
            <a:off x="6601968" y="4480560"/>
            <a:ext cx="182880"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Arrow 82"/>
          <p:cNvCxnSpPr/>
          <p:nvPr/>
        </p:nvCxnSpPr>
        <p:spPr>
          <a:xfrm>
            <a:off x="2286000" y="4178808"/>
            <a:ext cx="292608"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7" name="Text 83"/>
          <p:cNvSpPr txBox="1"/>
          <p:nvPr/>
        </p:nvSpPr>
        <p:spPr>
          <a:xfrm>
            <a:off x="2578608" y="4764024"/>
            <a:ext cx="960120" cy="201168"/>
          </a:xfrm>
          <a:prstGeom prst="rect">
            <a:avLst/>
          </a:prstGeom>
          <a:noFill/>
        </p:spPr>
        <p:txBody>
          <a:bodyPr wrap="square" lIns="0" rIns="0" tIns="0" bIns="0" anchor="ctr">
            <a:spAutoFit/>
          </a:bodyPr>
          <a:lstStyle/>
          <a:p>
            <a:r>
              <a:rPr sz="700" b="1" i="0" spc="100">
                <a:solidFill>
                  <a:srgbClr val="6B6B6B"/>
                </a:solidFill>
                <a:latin typeface="Trenda IG Text"/>
              </a:rPr>
              <a:t>RULES IN THE ENGINE</a:t>
            </a:r>
          </a:p>
        </p:txBody>
      </p:sp>
      <p:sp>
        <p:nvSpPr>
          <p:cNvPr id="88" name="Shape 84"/>
          <p:cNvSpPr/>
          <p:nvPr/>
        </p:nvSpPr>
        <p:spPr>
          <a:xfrm>
            <a:off x="3566160" y="4764024"/>
            <a:ext cx="1086307"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5"/>
          <p:cNvSpPr txBox="1"/>
          <p:nvPr/>
        </p:nvSpPr>
        <p:spPr>
          <a:xfrm>
            <a:off x="3566160" y="4764024"/>
            <a:ext cx="1086307" cy="201168"/>
          </a:xfrm>
          <a:prstGeom prst="rect">
            <a:avLst/>
          </a:prstGeom>
          <a:noFill/>
        </p:spPr>
        <p:txBody>
          <a:bodyPr wrap="square" lIns="0" rIns="0" tIns="0" bIns="0" anchor="ctr">
            <a:spAutoFit/>
          </a:bodyPr>
          <a:lstStyle/>
          <a:p>
            <a:pPr algn="ctr"/>
            <a:r>
              <a:rPr sz="700" b="0" i="0">
                <a:solidFill>
                  <a:srgbClr val="1A1A1A"/>
                </a:solidFill>
                <a:latin typeface="Trenda IG Text"/>
              </a:rPr>
              <a:t>cancellation window</a:t>
            </a:r>
          </a:p>
        </p:txBody>
      </p:sp>
      <p:sp>
        <p:nvSpPr>
          <p:cNvPr id="90" name="Shape 86"/>
          <p:cNvSpPr/>
          <p:nvPr/>
        </p:nvSpPr>
        <p:spPr>
          <a:xfrm>
            <a:off x="4707331" y="4764024"/>
            <a:ext cx="943660"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87"/>
          <p:cNvSpPr txBox="1"/>
          <p:nvPr/>
        </p:nvSpPr>
        <p:spPr>
          <a:xfrm>
            <a:off x="4707331" y="4764024"/>
            <a:ext cx="943660" cy="201168"/>
          </a:xfrm>
          <a:prstGeom prst="rect">
            <a:avLst/>
          </a:prstGeom>
          <a:noFill/>
        </p:spPr>
        <p:txBody>
          <a:bodyPr wrap="square" lIns="0" rIns="0" tIns="0" bIns="0" anchor="ctr">
            <a:spAutoFit/>
          </a:bodyPr>
          <a:lstStyle/>
          <a:p>
            <a:pPr algn="ctr"/>
            <a:r>
              <a:rPr sz="700" b="0" i="0">
                <a:solidFill>
                  <a:srgbClr val="1A1A1A"/>
                </a:solidFill>
                <a:latin typeface="Trenda IG Text"/>
              </a:rPr>
              <a:t>reschedule rules</a:t>
            </a:r>
          </a:p>
        </p:txBody>
      </p:sp>
      <p:sp>
        <p:nvSpPr>
          <p:cNvPr id="92" name="Shape 88"/>
          <p:cNvSpPr/>
          <p:nvPr/>
        </p:nvSpPr>
        <p:spPr>
          <a:xfrm>
            <a:off x="5705856" y="4764024"/>
            <a:ext cx="705916"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89"/>
          <p:cNvSpPr txBox="1"/>
          <p:nvPr/>
        </p:nvSpPr>
        <p:spPr>
          <a:xfrm>
            <a:off x="5705856" y="4764024"/>
            <a:ext cx="705916" cy="201168"/>
          </a:xfrm>
          <a:prstGeom prst="rect">
            <a:avLst/>
          </a:prstGeom>
          <a:noFill/>
        </p:spPr>
        <p:txBody>
          <a:bodyPr wrap="square" lIns="0" rIns="0" tIns="0" bIns="0" anchor="ctr">
            <a:spAutoFit/>
          </a:bodyPr>
          <a:lstStyle/>
          <a:p>
            <a:pPr algn="ctr"/>
            <a:r>
              <a:rPr sz="700" b="0" i="0">
                <a:solidFill>
                  <a:srgbClr val="1A1A1A"/>
                </a:solidFill>
                <a:latin typeface="Trenda IG Text"/>
              </a:rPr>
              <a:t>visit types</a:t>
            </a:r>
          </a:p>
        </p:txBody>
      </p:sp>
      <p:sp>
        <p:nvSpPr>
          <p:cNvPr id="94" name="Shape 90"/>
          <p:cNvSpPr/>
          <p:nvPr/>
        </p:nvSpPr>
        <p:spPr>
          <a:xfrm>
            <a:off x="6466636" y="4764024"/>
            <a:ext cx="1181404"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1"/>
          <p:cNvSpPr txBox="1"/>
          <p:nvPr/>
        </p:nvSpPr>
        <p:spPr>
          <a:xfrm>
            <a:off x="6466636" y="4764024"/>
            <a:ext cx="1181404" cy="201168"/>
          </a:xfrm>
          <a:prstGeom prst="rect">
            <a:avLst/>
          </a:prstGeom>
          <a:noFill/>
        </p:spPr>
        <p:txBody>
          <a:bodyPr wrap="square" lIns="0" rIns="0" tIns="0" bIns="0" anchor="ctr">
            <a:spAutoFit/>
          </a:bodyPr>
          <a:lstStyle/>
          <a:p>
            <a:pPr algn="ctr"/>
            <a:r>
              <a:rPr sz="700" b="0" i="0">
                <a:solidFill>
                  <a:srgbClr val="1A1A1A"/>
                </a:solidFill>
                <a:latin typeface="Trenda IG Text"/>
              </a:rPr>
              <a:t>provider restrictions</a:t>
            </a:r>
          </a:p>
        </p:txBody>
      </p:sp>
      <p:sp>
        <p:nvSpPr>
          <p:cNvPr id="96" name="Shape 92"/>
          <p:cNvSpPr/>
          <p:nvPr/>
        </p:nvSpPr>
        <p:spPr>
          <a:xfrm>
            <a:off x="7702905" y="4764024"/>
            <a:ext cx="848563" cy="201168"/>
          </a:xfrm>
          <a:prstGeom prst="roundRect">
            <a:avLst>
              <a:gd name="adj" fmla="val 40000"/>
            </a:avLst>
          </a:prstGeom>
          <a:solidFill>
            <a:srgbClr val="F5F5F5"/>
          </a:solidFill>
          <a:ln w="762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3"/>
          <p:cNvSpPr txBox="1"/>
          <p:nvPr/>
        </p:nvSpPr>
        <p:spPr>
          <a:xfrm>
            <a:off x="7702905" y="4764024"/>
            <a:ext cx="848563" cy="201168"/>
          </a:xfrm>
          <a:prstGeom prst="rect">
            <a:avLst/>
          </a:prstGeom>
          <a:noFill/>
        </p:spPr>
        <p:txBody>
          <a:bodyPr wrap="square" lIns="0" rIns="0" tIns="0" bIns="0" anchor="ctr">
            <a:spAutoFit/>
          </a:bodyPr>
          <a:lstStyle/>
          <a:p>
            <a:pPr algn="ctr"/>
            <a:r>
              <a:rPr sz="700" b="0" i="0">
                <a:solidFill>
                  <a:srgbClr val="1A1A1A"/>
                </a:solidFill>
                <a:latin typeface="Trenda IG Text"/>
              </a:rPr>
              <a:t>minimum fields</a:t>
            </a:r>
          </a:p>
        </p:txBody>
      </p:sp>
      <p:sp>
        <p:nvSpPr>
          <p:cNvPr id="98" name="Shape 94"/>
          <p:cNvSpPr/>
          <p:nvPr/>
        </p:nvSpPr>
        <p:spPr>
          <a:xfrm>
            <a:off x="9189720" y="1188720"/>
            <a:ext cx="2587752" cy="404164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5"/>
          <p:cNvSpPr/>
          <p:nvPr/>
        </p:nvSpPr>
        <p:spPr>
          <a:xfrm>
            <a:off x="9189720" y="1188720"/>
            <a:ext cx="2587752"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6"/>
          <p:cNvSpPr txBox="1"/>
          <p:nvPr/>
        </p:nvSpPr>
        <p:spPr>
          <a:xfrm>
            <a:off x="9299448" y="1188720"/>
            <a:ext cx="2368296" cy="256032"/>
          </a:xfrm>
          <a:prstGeom prst="rect">
            <a:avLst/>
          </a:prstGeom>
          <a:noFill/>
        </p:spPr>
        <p:txBody>
          <a:bodyPr wrap="square" lIns="0" rIns="0" tIns="0" bIns="0" anchor="ctr">
            <a:spAutoFit/>
          </a:bodyPr>
          <a:lstStyle/>
          <a:p>
            <a:r>
              <a:rPr sz="700" b="1" i="0" spc="120">
                <a:solidFill>
                  <a:srgbClr val="1A1A1A"/>
                </a:solidFill>
                <a:latin typeface="Trenda IG Text"/>
              </a:rPr>
              <a:t>3  AFTER EVERY CALL</a:t>
            </a:r>
          </a:p>
        </p:txBody>
      </p:sp>
      <p:sp>
        <p:nvSpPr>
          <p:cNvPr id="101" name="Shape 97"/>
          <p:cNvSpPr/>
          <p:nvPr/>
        </p:nvSpPr>
        <p:spPr>
          <a:xfrm>
            <a:off x="9299448" y="1536192"/>
            <a:ext cx="2368296" cy="640080"/>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2" name="Picture 101" descr="people.png"/>
          <p:cNvPicPr>
            <a:picLocks noChangeAspect="1"/>
          </p:cNvPicPr>
          <p:nvPr/>
        </p:nvPicPr>
        <p:blipFill>
          <a:blip r:embed="rId2"/>
          <a:stretch>
            <a:fillRect/>
          </a:stretch>
        </p:blipFill>
        <p:spPr>
          <a:xfrm>
            <a:off x="9390888" y="1609344"/>
            <a:ext cx="182880" cy="182880"/>
          </a:xfrm>
          <a:prstGeom prst="rect">
            <a:avLst/>
          </a:prstGeom>
        </p:spPr>
      </p:pic>
      <p:sp>
        <p:nvSpPr>
          <p:cNvPr id="103" name="Text 98"/>
          <p:cNvSpPr txBox="1"/>
          <p:nvPr/>
        </p:nvSpPr>
        <p:spPr>
          <a:xfrm>
            <a:off x="9628632" y="1581912"/>
            <a:ext cx="1965960" cy="237744"/>
          </a:xfrm>
          <a:prstGeom prst="rect">
            <a:avLst/>
          </a:prstGeom>
          <a:noFill/>
        </p:spPr>
        <p:txBody>
          <a:bodyPr wrap="square" lIns="0" rIns="0" tIns="0" bIns="0" anchor="ctr">
            <a:spAutoFit/>
          </a:bodyPr>
          <a:lstStyle/>
          <a:p>
            <a:r>
              <a:rPr sz="700" b="1" i="0">
                <a:solidFill>
                  <a:srgbClr val="8A6D00"/>
                </a:solidFill>
                <a:latin typeface="Trenda IG Text"/>
              </a:rPr>
              <a:t>Hand-off to a person</a:t>
            </a:r>
          </a:p>
        </p:txBody>
      </p:sp>
      <p:sp>
        <p:nvSpPr>
          <p:cNvPr id="104" name="Text 99"/>
          <p:cNvSpPr txBox="1"/>
          <p:nvPr/>
        </p:nvSpPr>
        <p:spPr>
          <a:xfrm>
            <a:off x="9390888" y="1865376"/>
            <a:ext cx="2203703" cy="274319"/>
          </a:xfrm>
          <a:prstGeom prst="rect">
            <a:avLst/>
          </a:prstGeom>
          <a:noFill/>
        </p:spPr>
        <p:txBody>
          <a:bodyPr wrap="square" lIns="0" rIns="0" tIns="0" bIns="0" anchor="t">
            <a:spAutoFit/>
          </a:bodyPr>
          <a:lstStyle/>
          <a:p>
            <a:r>
              <a:rPr sz="700" b="0" i="0">
                <a:solidFill>
                  <a:srgbClr val="4D4D4D"/>
                </a:solidFill>
                <a:latin typeface="Trenda IG Text"/>
              </a:rPr>
              <a:t>Identity not verified, upset caller or a clinical question.</a:t>
            </a:r>
          </a:p>
        </p:txBody>
      </p:sp>
      <p:sp>
        <p:nvSpPr>
          <p:cNvPr id="105" name="Shape 100"/>
          <p:cNvSpPr/>
          <p:nvPr/>
        </p:nvSpPr>
        <p:spPr>
          <a:xfrm>
            <a:off x="9299448" y="2249424"/>
            <a:ext cx="2368296" cy="658368"/>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Text 101"/>
          <p:cNvSpPr txBox="1"/>
          <p:nvPr/>
        </p:nvSpPr>
        <p:spPr>
          <a:xfrm>
            <a:off x="9390888" y="2304288"/>
            <a:ext cx="2203704" cy="201168"/>
          </a:xfrm>
          <a:prstGeom prst="rect">
            <a:avLst/>
          </a:prstGeom>
          <a:noFill/>
        </p:spPr>
        <p:txBody>
          <a:bodyPr wrap="square" lIns="0" rIns="0" tIns="0" bIns="0" anchor="ctr">
            <a:spAutoFit/>
          </a:bodyPr>
          <a:lstStyle/>
          <a:p>
            <a:r>
              <a:rPr sz="700" b="1" i="0">
                <a:solidFill>
                  <a:srgbClr val="1A1A1A"/>
                </a:solidFill>
                <a:latin typeface="Trenda IG Text"/>
              </a:rPr>
              <a:t>Masked transcripts</a:t>
            </a:r>
          </a:p>
        </p:txBody>
      </p:sp>
      <p:sp>
        <p:nvSpPr>
          <p:cNvPr id="107" name="Text 102"/>
          <p:cNvSpPr txBox="1"/>
          <p:nvPr/>
        </p:nvSpPr>
        <p:spPr>
          <a:xfrm>
            <a:off x="9390888" y="2532888"/>
            <a:ext cx="2185415" cy="3474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Recordings hold PHI: access control, retention limits, masked before analytics.</a:t>
            </a:r>
          </a:p>
        </p:txBody>
      </p:sp>
      <p:sp>
        <p:nvSpPr>
          <p:cNvPr id="108" name="Shape 103"/>
          <p:cNvSpPr/>
          <p:nvPr/>
        </p:nvSpPr>
        <p:spPr>
          <a:xfrm>
            <a:off x="9299448" y="2962656"/>
            <a:ext cx="2368296" cy="658368"/>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4"/>
          <p:cNvSpPr txBox="1"/>
          <p:nvPr/>
        </p:nvSpPr>
        <p:spPr>
          <a:xfrm>
            <a:off x="9390888" y="3017520"/>
            <a:ext cx="2203704" cy="201168"/>
          </a:xfrm>
          <a:prstGeom prst="rect">
            <a:avLst/>
          </a:prstGeom>
          <a:noFill/>
        </p:spPr>
        <p:txBody>
          <a:bodyPr wrap="square" lIns="0" rIns="0" tIns="0" bIns="0" anchor="ctr">
            <a:spAutoFit/>
          </a:bodyPr>
          <a:lstStyle/>
          <a:p>
            <a:r>
              <a:rPr sz="700" b="1" i="0">
                <a:solidFill>
                  <a:srgbClr val="1A1A1A"/>
                </a:solidFill>
                <a:latin typeface="Trenda IG Text"/>
              </a:rPr>
              <a:t>Opt-outs at once</a:t>
            </a:r>
          </a:p>
        </p:txBody>
      </p:sp>
      <p:sp>
        <p:nvSpPr>
          <p:cNvPr id="110" name="Text 105"/>
          <p:cNvSpPr txBox="1"/>
          <p:nvPr/>
        </p:nvSpPr>
        <p:spPr>
          <a:xfrm>
            <a:off x="9390888" y="3246120"/>
            <a:ext cx="2185415" cy="3474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A caller who says stop: the consent of record updates immediately.</a:t>
            </a:r>
          </a:p>
        </p:txBody>
      </p:sp>
      <p:sp>
        <p:nvSpPr>
          <p:cNvPr id="111" name="Shape 106"/>
          <p:cNvSpPr/>
          <p:nvPr/>
        </p:nvSpPr>
        <p:spPr>
          <a:xfrm>
            <a:off x="9299448" y="3675888"/>
            <a:ext cx="2368296" cy="658368"/>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2" name="Picture 111" descr="googlebigquery.png"/>
          <p:cNvPicPr>
            <a:picLocks noChangeAspect="1"/>
          </p:cNvPicPr>
          <p:nvPr/>
        </p:nvPicPr>
        <p:blipFill>
          <a:blip r:embed="rId4"/>
          <a:stretch>
            <a:fillRect/>
          </a:stretch>
        </p:blipFill>
        <p:spPr>
          <a:xfrm>
            <a:off x="9390888" y="3739896"/>
            <a:ext cx="182880" cy="182880"/>
          </a:xfrm>
          <a:prstGeom prst="rect">
            <a:avLst/>
          </a:prstGeom>
        </p:spPr>
      </p:pic>
      <p:sp>
        <p:nvSpPr>
          <p:cNvPr id="113" name="Text 107"/>
          <p:cNvSpPr txBox="1"/>
          <p:nvPr/>
        </p:nvSpPr>
        <p:spPr>
          <a:xfrm>
            <a:off x="9628632" y="3730752"/>
            <a:ext cx="1965960" cy="201168"/>
          </a:xfrm>
          <a:prstGeom prst="rect">
            <a:avLst/>
          </a:prstGeom>
          <a:noFill/>
        </p:spPr>
        <p:txBody>
          <a:bodyPr wrap="square" lIns="0" rIns="0" tIns="0" bIns="0" anchor="ctr">
            <a:spAutoFit/>
          </a:bodyPr>
          <a:lstStyle/>
          <a:p>
            <a:r>
              <a:rPr sz="700" b="1" i="0">
                <a:solidFill>
                  <a:srgbClr val="1A1A1A"/>
                </a:solidFill>
                <a:latin typeface="Trenda IG Text"/>
              </a:rPr>
              <a:t>Outcomes → Gold B → Gold A</a:t>
            </a:r>
          </a:p>
        </p:txBody>
      </p:sp>
      <p:sp>
        <p:nvSpPr>
          <p:cNvPr id="114" name="Text 108"/>
          <p:cNvSpPr txBox="1"/>
          <p:nvPr/>
        </p:nvSpPr>
        <p:spPr>
          <a:xfrm>
            <a:off x="9390888" y="3959352"/>
            <a:ext cx="2185415" cy="3474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Per call into Gold B; aggregates into Gold A for measurement.</a:t>
            </a:r>
          </a:p>
        </p:txBody>
      </p:sp>
      <p:sp>
        <p:nvSpPr>
          <p:cNvPr id="115" name="Shape 109"/>
          <p:cNvSpPr/>
          <p:nvPr/>
        </p:nvSpPr>
        <p:spPr>
          <a:xfrm>
            <a:off x="9299448" y="4389120"/>
            <a:ext cx="2368296" cy="658368"/>
          </a:xfrm>
          <a:prstGeom prst="roundRect">
            <a:avLst>
              <a:gd name="adj" fmla="val 7000"/>
            </a:avLst>
          </a:prstGeom>
          <a:solidFill>
            <a:srgbClr val="F5F5F5"/>
          </a:solidFill>
          <a:ln w="1270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0"/>
          <p:cNvSpPr txBox="1"/>
          <p:nvPr/>
        </p:nvSpPr>
        <p:spPr>
          <a:xfrm>
            <a:off x="9390888" y="4443984"/>
            <a:ext cx="2203704" cy="201168"/>
          </a:xfrm>
          <a:prstGeom prst="rect">
            <a:avLst/>
          </a:prstGeom>
          <a:noFill/>
        </p:spPr>
        <p:txBody>
          <a:bodyPr wrap="square" lIns="0" rIns="0" tIns="0" bIns="0" anchor="ctr">
            <a:spAutoFit/>
          </a:bodyPr>
          <a:lstStyle/>
          <a:p>
            <a:r>
              <a:rPr sz="700" b="1" i="0">
                <a:solidFill>
                  <a:srgbClr val="1A1A1A"/>
                </a:solidFill>
                <a:latin typeface="Trenda IG Text"/>
              </a:rPr>
              <a:t>Test calls before go-live</a:t>
            </a:r>
          </a:p>
        </p:txBody>
      </p:sp>
      <p:sp>
        <p:nvSpPr>
          <p:cNvPr id="117" name="Text 111"/>
          <p:cNvSpPr txBox="1"/>
          <p:nvPr/>
        </p:nvSpPr>
        <p:spPr>
          <a:xfrm>
            <a:off x="9390888" y="4672584"/>
            <a:ext cx="2185415" cy="347471"/>
          </a:xfrm>
          <a:prstGeom prst="rect">
            <a:avLst/>
          </a:prstGeom>
          <a:noFill/>
        </p:spPr>
        <p:txBody>
          <a:bodyPr wrap="square" lIns="0" rIns="0" tIns="0" bIns="0" anchor="t">
            <a:spAutoFit/>
          </a:bodyPr>
          <a:lstStyle/>
          <a:p>
            <a:pPr>
              <a:spcAft>
                <a:spcPts val="100"/>
              </a:spcAft>
            </a:pPr>
            <a:r>
              <a:rPr sz="700" b="0" i="0">
                <a:solidFill>
                  <a:srgbClr val="4D4D4D"/>
                </a:solidFill>
                <a:latin typeface="Trenda IG Text"/>
              </a:rPr>
              <a:t>Wrong caller, outside the window, a question no article covers.</a:t>
            </a:r>
          </a:p>
        </p:txBody>
      </p:sp>
      <p:sp>
        <p:nvSpPr>
          <p:cNvPr id="118" name="Text 112"/>
          <p:cNvSpPr txBox="1"/>
          <p:nvPr/>
        </p:nvSpPr>
        <p:spPr>
          <a:xfrm>
            <a:off x="411480" y="5376672"/>
            <a:ext cx="1188720" cy="786384"/>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SAFEGUARDS</a:t>
            </a:r>
          </a:p>
          <a:p>
            <a:pPr>
              <a:spcAft>
                <a:spcPts val="100"/>
              </a:spcAft>
            </a:pPr>
            <a:r>
              <a:rPr sz="700" b="0" i="0">
                <a:solidFill>
                  <a:srgbClr val="6B6B6B"/>
                </a:solidFill>
                <a:latin typeface="Trenda IG Text"/>
              </a:rPr>
              <a:t>accurate, and safe for patients</a:t>
            </a:r>
          </a:p>
        </p:txBody>
      </p:sp>
      <p:sp>
        <p:nvSpPr>
          <p:cNvPr id="119" name="Shape 113"/>
          <p:cNvSpPr/>
          <p:nvPr/>
        </p:nvSpPr>
        <p:spPr>
          <a:xfrm>
            <a:off x="1645920"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Shape 114"/>
          <p:cNvSpPr/>
          <p:nvPr/>
        </p:nvSpPr>
        <p:spPr>
          <a:xfrm>
            <a:off x="1645920"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 115"/>
          <p:cNvSpPr txBox="1"/>
          <p:nvPr/>
        </p:nvSpPr>
        <p:spPr>
          <a:xfrm>
            <a:off x="1792224"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BAA with Sierra</a:t>
            </a:r>
          </a:p>
          <a:p>
            <a:pPr>
              <a:spcAft>
                <a:spcPts val="100"/>
              </a:spcAft>
            </a:pPr>
            <a:r>
              <a:rPr sz="700" b="0" i="0">
                <a:solidFill>
                  <a:srgbClr val="4D4D4D"/>
                </a:solidFill>
                <a:latin typeface="Trenda IG Text"/>
              </a:rPr>
              <a:t>calls carry PHI</a:t>
            </a:r>
          </a:p>
        </p:txBody>
      </p:sp>
      <p:sp>
        <p:nvSpPr>
          <p:cNvPr id="122" name="Shape 116"/>
          <p:cNvSpPr/>
          <p:nvPr/>
        </p:nvSpPr>
        <p:spPr>
          <a:xfrm>
            <a:off x="3106347"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17"/>
          <p:cNvSpPr/>
          <p:nvPr/>
        </p:nvSpPr>
        <p:spPr>
          <a:xfrm>
            <a:off x="3106347"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18"/>
          <p:cNvSpPr txBox="1"/>
          <p:nvPr/>
        </p:nvSpPr>
        <p:spPr>
          <a:xfrm>
            <a:off x="3252651"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Verified in seconds</a:t>
            </a:r>
          </a:p>
          <a:p>
            <a:pPr>
              <a:spcAft>
                <a:spcPts val="100"/>
              </a:spcAft>
            </a:pPr>
            <a:r>
              <a:rPr sz="700" b="0" i="0">
                <a:solidFill>
                  <a:srgbClr val="4D4D4D"/>
                </a:solidFill>
                <a:latin typeface="Trenda IG Text"/>
              </a:rPr>
              <a:t>no SMS wait; step-up if needed</a:t>
            </a:r>
          </a:p>
        </p:txBody>
      </p:sp>
      <p:sp>
        <p:nvSpPr>
          <p:cNvPr id="125" name="Shape 119"/>
          <p:cNvSpPr/>
          <p:nvPr/>
        </p:nvSpPr>
        <p:spPr>
          <a:xfrm>
            <a:off x="4566774"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Shape 120"/>
          <p:cNvSpPr/>
          <p:nvPr/>
        </p:nvSpPr>
        <p:spPr>
          <a:xfrm>
            <a:off x="4566774"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 121"/>
          <p:cNvSpPr txBox="1"/>
          <p:nvPr/>
        </p:nvSpPr>
        <p:spPr>
          <a:xfrm>
            <a:off x="4713078"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System of record</a:t>
            </a:r>
          </a:p>
          <a:p>
            <a:pPr>
              <a:spcAft>
                <a:spcPts val="100"/>
              </a:spcAft>
            </a:pPr>
            <a:r>
              <a:rPr sz="700" b="0" i="0">
                <a:solidFill>
                  <a:srgbClr val="4D4D4D"/>
                </a:solidFill>
                <a:latin typeface="Trenda IG Text"/>
              </a:rPr>
              <a:t>never a GCP copy</a:t>
            </a:r>
          </a:p>
        </p:txBody>
      </p:sp>
      <p:sp>
        <p:nvSpPr>
          <p:cNvPr id="128" name="Shape 122"/>
          <p:cNvSpPr/>
          <p:nvPr/>
        </p:nvSpPr>
        <p:spPr>
          <a:xfrm>
            <a:off x="6027202"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Shape 123"/>
          <p:cNvSpPr/>
          <p:nvPr/>
        </p:nvSpPr>
        <p:spPr>
          <a:xfrm>
            <a:off x="6027202"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0" name="Text 124"/>
          <p:cNvSpPr txBox="1"/>
          <p:nvPr/>
        </p:nvSpPr>
        <p:spPr>
          <a:xfrm>
            <a:off x="6173506"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Rules in the engine</a:t>
            </a:r>
          </a:p>
          <a:p>
            <a:pPr>
              <a:spcAft>
                <a:spcPts val="100"/>
              </a:spcAft>
            </a:pPr>
            <a:r>
              <a:rPr sz="700" b="0" i="0">
                <a:solidFill>
                  <a:srgbClr val="4D4D4D"/>
                </a:solidFill>
                <a:latin typeface="Trenda IG Text"/>
              </a:rPr>
              <a:t>not only in an article</a:t>
            </a:r>
          </a:p>
        </p:txBody>
      </p:sp>
      <p:sp>
        <p:nvSpPr>
          <p:cNvPr id="131" name="Shape 125"/>
          <p:cNvSpPr/>
          <p:nvPr/>
        </p:nvSpPr>
        <p:spPr>
          <a:xfrm>
            <a:off x="7487629"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Shape 126"/>
          <p:cNvSpPr/>
          <p:nvPr/>
        </p:nvSpPr>
        <p:spPr>
          <a:xfrm>
            <a:off x="7487629"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 127"/>
          <p:cNvSpPr txBox="1"/>
          <p:nvPr/>
        </p:nvSpPr>
        <p:spPr>
          <a:xfrm>
            <a:off x="7633933"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Governed articles</a:t>
            </a:r>
          </a:p>
          <a:p>
            <a:pPr>
              <a:spcAft>
                <a:spcPts val="100"/>
              </a:spcAft>
            </a:pPr>
            <a:r>
              <a:rPr sz="700" b="0" i="0">
                <a:solidFill>
                  <a:srgbClr val="4D4D4D"/>
                </a:solidFill>
                <a:latin typeface="Trenda IG Text"/>
              </a:rPr>
              <a:t>owner, version, PHI-scanned</a:t>
            </a:r>
          </a:p>
        </p:txBody>
      </p:sp>
      <p:sp>
        <p:nvSpPr>
          <p:cNvPr id="134" name="Shape 128"/>
          <p:cNvSpPr/>
          <p:nvPr/>
        </p:nvSpPr>
        <p:spPr>
          <a:xfrm>
            <a:off x="8948057"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Shape 129"/>
          <p:cNvSpPr/>
          <p:nvPr/>
        </p:nvSpPr>
        <p:spPr>
          <a:xfrm>
            <a:off x="8948057"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6" name="Text 130"/>
          <p:cNvSpPr txBox="1"/>
          <p:nvPr/>
        </p:nvSpPr>
        <p:spPr>
          <a:xfrm>
            <a:off x="9094361"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Tested before release</a:t>
            </a:r>
          </a:p>
          <a:p>
            <a:pPr>
              <a:spcAft>
                <a:spcPts val="100"/>
              </a:spcAft>
            </a:pPr>
            <a:r>
              <a:rPr sz="700" b="0" i="0">
                <a:solidFill>
                  <a:srgbClr val="4D4D4D"/>
                </a:solidFill>
                <a:latin typeface="Trenda IG Text"/>
              </a:rPr>
              <a:t>scripted test calls</a:t>
            </a:r>
          </a:p>
        </p:txBody>
      </p:sp>
      <p:sp>
        <p:nvSpPr>
          <p:cNvPr id="137" name="Shape 131"/>
          <p:cNvSpPr/>
          <p:nvPr/>
        </p:nvSpPr>
        <p:spPr>
          <a:xfrm>
            <a:off x="10408484" y="5376672"/>
            <a:ext cx="1368987" cy="78638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8" name="Shape 132"/>
          <p:cNvSpPr/>
          <p:nvPr/>
        </p:nvSpPr>
        <p:spPr>
          <a:xfrm>
            <a:off x="10408484" y="5376672"/>
            <a:ext cx="45720" cy="786384"/>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 133"/>
          <p:cNvSpPr txBox="1"/>
          <p:nvPr/>
        </p:nvSpPr>
        <p:spPr>
          <a:xfrm>
            <a:off x="10554788" y="5376672"/>
            <a:ext cx="1167819" cy="786384"/>
          </a:xfrm>
          <a:prstGeom prst="rect">
            <a:avLst/>
          </a:prstGeom>
          <a:noFill/>
        </p:spPr>
        <p:txBody>
          <a:bodyPr wrap="square" lIns="0" rIns="0" tIns="0" bIns="0" anchor="ctr">
            <a:spAutoFit/>
          </a:bodyPr>
          <a:lstStyle/>
          <a:p>
            <a:pPr>
              <a:spcAft>
                <a:spcPts val="100"/>
              </a:spcAft>
            </a:pPr>
            <a:r>
              <a:rPr sz="720" b="1" i="0">
                <a:solidFill>
                  <a:srgbClr val="1A1A1A"/>
                </a:solidFill>
                <a:latin typeface="Trenda IG Text"/>
              </a:rPr>
              <a:t>Emergencies never wait</a:t>
            </a:r>
          </a:p>
          <a:p>
            <a:pPr>
              <a:spcAft>
                <a:spcPts val="100"/>
              </a:spcAft>
            </a:pPr>
            <a:r>
              <a:rPr sz="700" b="0" i="0">
                <a:solidFill>
                  <a:srgbClr val="4D4D4D"/>
                </a:solidFill>
                <a:latin typeface="Trenda IG Text"/>
              </a:rPr>
              <a:t>911 or a nurse; no check</a:t>
            </a:r>
          </a:p>
        </p:txBody>
      </p:sp>
      <p:sp>
        <p:nvSpPr>
          <p:cNvPr id="140" name="Shape 1"/>
          <p:cNvSpPr/>
          <p:nvPr/>
        </p:nvSpPr>
        <p:spPr>
          <a:xfrm>
            <a:off x="411480" y="1097280"/>
            <a:ext cx="11365992" cy="36576"/>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Shape 2"/>
          <p:cNvSpPr/>
          <p:nvPr/>
        </p:nvSpPr>
        <p:spPr>
          <a:xfrm>
            <a:off x="393192" y="2359152"/>
            <a:ext cx="1911095" cy="2889504"/>
          </a:xfrm>
          <a:prstGeom prst="roundRect">
            <a:avLst>
              <a:gd name="adj" fmla="val 4000"/>
            </a:avLst>
          </a:prstGeom>
          <a:noFill/>
          <a:ln w="28575">
            <a:gradFill rotWithShape="1">
              <a:gsLst>
                <a:gs pos="0">
                  <a:srgbClr val="FFD700"/>
                </a:gs>
                <a:gs pos="50000">
                  <a:srgbClr val="FF0069"/>
                </a:gs>
                <a:gs pos="100000">
                  <a:srgbClr val="00D6F2"/>
                </a:gs>
              </a:gsLst>
              <a:lin ang="0" scaled="0"/>
            </a:gra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FACTORY · PLATFORM FIT</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Platform fit: one factory for every pod, every job</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Delivery, campaigns and the Sierra voice agent share one graph, one governance layer and one approval flow. Each agent is built once and serves every pod at once.</a:t>
            </a:r>
          </a:p>
        </p:txBody>
      </p:sp>
      <p:sp>
        <p:nvSpPr>
          <p:cNvPr id="5" name="Text 4"/>
          <p:cNvSpPr txBox="1"/>
          <p:nvPr/>
        </p:nvSpPr>
        <p:spPr>
          <a:xfrm>
            <a:off x="411480" y="1188720"/>
            <a:ext cx="1371600" cy="457200"/>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ONE FACTORY</a:t>
            </a:r>
          </a:p>
          <a:p>
            <a:pPr>
              <a:spcAft>
                <a:spcPts val="100"/>
              </a:spcAft>
            </a:pPr>
            <a:r>
              <a:rPr sz="700" b="0" i="0">
                <a:solidFill>
                  <a:srgbClr val="6B6B6B"/>
                </a:solidFill>
                <a:latin typeface="Trenda IG Text"/>
              </a:rPr>
              <a:t>three jobs</a:t>
            </a:r>
          </a:p>
        </p:txBody>
      </p:sp>
      <p:sp>
        <p:nvSpPr>
          <p:cNvPr id="6" name="Shape 5"/>
          <p:cNvSpPr/>
          <p:nvPr/>
        </p:nvSpPr>
        <p:spPr>
          <a:xfrm>
            <a:off x="1783080" y="1188720"/>
            <a:ext cx="2240280" cy="457200"/>
          </a:xfrm>
          <a:prstGeom prst="roundRect">
            <a:avLst>
              <a:gd name="adj" fmla="val 12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openai-white.png"/>
          <p:cNvPicPr>
            <a:picLocks noChangeAspect="1"/>
          </p:cNvPicPr>
          <p:nvPr/>
        </p:nvPicPr>
        <p:blipFill>
          <a:blip r:embed="rId2"/>
          <a:stretch>
            <a:fillRect/>
          </a:stretch>
        </p:blipFill>
        <p:spPr>
          <a:xfrm>
            <a:off x="1892807" y="1316736"/>
            <a:ext cx="201168" cy="201168"/>
          </a:xfrm>
          <a:prstGeom prst="rect">
            <a:avLst/>
          </a:prstGeom>
        </p:spPr>
      </p:pic>
      <p:sp>
        <p:nvSpPr>
          <p:cNvPr id="8" name="Text 6"/>
          <p:cNvSpPr txBox="1"/>
          <p:nvPr/>
        </p:nvSpPr>
        <p:spPr>
          <a:xfrm>
            <a:off x="2167127" y="1188720"/>
            <a:ext cx="1783080" cy="457200"/>
          </a:xfrm>
          <a:prstGeom prst="rect">
            <a:avLst/>
          </a:prstGeom>
          <a:noFill/>
        </p:spPr>
        <p:txBody>
          <a:bodyPr wrap="square" lIns="0" rIns="0" tIns="0" bIns="0" anchor="ctr">
            <a:spAutoFit/>
          </a:bodyPr>
          <a:lstStyle/>
          <a:p>
            <a:r>
              <a:rPr sz="720" b="1" i="0">
                <a:solidFill>
                  <a:srgbClr val="1A1A1A"/>
                </a:solidFill>
                <a:latin typeface="Trenda IG Text"/>
              </a:rPr>
              <a:t>Delivery</a:t>
            </a:r>
          </a:p>
          <a:p>
            <a:r>
              <a:rPr sz="700" b="0" i="0">
                <a:solidFill>
                  <a:srgbClr val="4D4D4D"/>
                </a:solidFill>
                <a:latin typeface="Trenda IG Text"/>
              </a:rPr>
              <a:t>Codex to production · every pod</a:t>
            </a:r>
          </a:p>
        </p:txBody>
      </p:sp>
      <p:sp>
        <p:nvSpPr>
          <p:cNvPr id="9" name="Shape 7"/>
          <p:cNvSpPr/>
          <p:nvPr/>
        </p:nvSpPr>
        <p:spPr>
          <a:xfrm>
            <a:off x="4133088" y="1188720"/>
            <a:ext cx="2240280" cy="457200"/>
          </a:xfrm>
          <a:prstGeom prst="roundRect">
            <a:avLst>
              <a:gd name="adj" fmla="val 12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salesforce.png"/>
          <p:cNvPicPr>
            <a:picLocks noChangeAspect="1"/>
          </p:cNvPicPr>
          <p:nvPr/>
        </p:nvPicPr>
        <p:blipFill>
          <a:blip r:embed="rId3"/>
          <a:stretch>
            <a:fillRect/>
          </a:stretch>
        </p:blipFill>
        <p:spPr>
          <a:xfrm>
            <a:off x="4242816" y="1316736"/>
            <a:ext cx="201168" cy="201168"/>
          </a:xfrm>
          <a:prstGeom prst="rect">
            <a:avLst/>
          </a:prstGeom>
        </p:spPr>
      </p:pic>
      <p:sp>
        <p:nvSpPr>
          <p:cNvPr id="11" name="Text 8"/>
          <p:cNvSpPr txBox="1"/>
          <p:nvPr/>
        </p:nvSpPr>
        <p:spPr>
          <a:xfrm>
            <a:off x="4517136" y="1188720"/>
            <a:ext cx="1783080" cy="457200"/>
          </a:xfrm>
          <a:prstGeom prst="rect">
            <a:avLst/>
          </a:prstGeom>
          <a:noFill/>
        </p:spPr>
        <p:txBody>
          <a:bodyPr wrap="square" lIns="0" rIns="0" tIns="0" bIns="0" anchor="ctr">
            <a:spAutoFit/>
          </a:bodyPr>
          <a:lstStyle/>
          <a:p>
            <a:r>
              <a:rPr sz="720" b="1" i="0">
                <a:solidFill>
                  <a:srgbClr val="1A1A1A"/>
                </a:solidFill>
                <a:latin typeface="Trenda IG Text"/>
              </a:rPr>
              <a:t>Campaigns</a:t>
            </a:r>
          </a:p>
          <a:p>
            <a:r>
              <a:rPr sz="700" b="0" i="0">
                <a:solidFill>
                  <a:srgbClr val="4D4D4D"/>
                </a:solidFill>
                <a:latin typeface="Trenda IG Text"/>
              </a:rPr>
              <a:t>Marketing Cloud on governed GCP data</a:t>
            </a:r>
          </a:p>
        </p:txBody>
      </p:sp>
      <p:sp>
        <p:nvSpPr>
          <p:cNvPr id="12" name="Shape 9"/>
          <p:cNvSpPr/>
          <p:nvPr/>
        </p:nvSpPr>
        <p:spPr>
          <a:xfrm>
            <a:off x="6483096" y="1188720"/>
            <a:ext cx="2240280" cy="457200"/>
          </a:xfrm>
          <a:prstGeom prst="roundRect">
            <a:avLst>
              <a:gd name="adj" fmla="val 12000"/>
            </a:avLst>
          </a:prstGeom>
          <a:solidFill>
            <a:srgbClr val="F5F5F5"/>
          </a:solidFill>
          <a:ln w="9525">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0"/>
          <p:cNvSpPr txBox="1"/>
          <p:nvPr/>
        </p:nvSpPr>
        <p:spPr>
          <a:xfrm>
            <a:off x="6592824" y="1188720"/>
            <a:ext cx="2057400" cy="457200"/>
          </a:xfrm>
          <a:prstGeom prst="rect">
            <a:avLst/>
          </a:prstGeom>
          <a:noFill/>
        </p:spPr>
        <p:txBody>
          <a:bodyPr wrap="square" lIns="0" rIns="0" tIns="0" bIns="0" anchor="ctr">
            <a:spAutoFit/>
          </a:bodyPr>
          <a:lstStyle/>
          <a:p>
            <a:r>
              <a:rPr sz="720" b="1" i="0">
                <a:solidFill>
                  <a:srgbClr val="1A1A1A"/>
                </a:solidFill>
                <a:latin typeface="Trenda IG Text"/>
              </a:rPr>
              <a:t>Sierra voice agent</a:t>
            </a:r>
          </a:p>
          <a:p>
            <a:r>
              <a:rPr sz="700" b="0" i="0">
                <a:solidFill>
                  <a:srgbClr val="4D4D4D"/>
                </a:solidFill>
                <a:latin typeface="Trenda IG Text"/>
              </a:rPr>
              <a:t>bookings, reschedules, questions</a:t>
            </a:r>
          </a:p>
        </p:txBody>
      </p:sp>
      <p:sp>
        <p:nvSpPr>
          <p:cNvPr id="14" name="Text 11"/>
          <p:cNvSpPr txBox="1"/>
          <p:nvPr/>
        </p:nvSpPr>
        <p:spPr>
          <a:xfrm>
            <a:off x="8878824" y="1188720"/>
            <a:ext cx="2898648" cy="457200"/>
          </a:xfrm>
          <a:prstGeom prst="rect">
            <a:avLst/>
          </a:prstGeom>
          <a:noFill/>
        </p:spPr>
        <p:txBody>
          <a:bodyPr wrap="square" lIns="0" rIns="0" tIns="0" bIns="0" anchor="ctr">
            <a:spAutoFit/>
          </a:bodyPr>
          <a:lstStyle/>
          <a:p>
            <a:pPr>
              <a:spcAft>
                <a:spcPts val="100"/>
              </a:spcAft>
            </a:pPr>
            <a:r>
              <a:rPr sz="700" b="1" i="0" spc="100">
                <a:solidFill>
                  <a:srgbClr val="0089A0"/>
                </a:solidFill>
                <a:latin typeface="Trenda IG Text"/>
              </a:rPr>
              <a:t>SHARED BY ALL THREE</a:t>
            </a:r>
          </a:p>
          <a:p>
            <a:pPr>
              <a:spcAft>
                <a:spcPts val="100"/>
              </a:spcAft>
            </a:pPr>
            <a:r>
              <a:rPr sz="700" b="0" i="0">
                <a:solidFill>
                  <a:srgbClr val="4D4D4D"/>
                </a:solidFill>
                <a:latin typeface="Trenda IG Text"/>
              </a:rPr>
              <a:t>knowledge graph · governance · evals · approvals · change passport</a:t>
            </a:r>
          </a:p>
        </p:txBody>
      </p:sp>
      <p:sp>
        <p:nvSpPr>
          <p:cNvPr id="15" name="Shape 12"/>
          <p:cNvSpPr/>
          <p:nvPr/>
        </p:nvSpPr>
        <p:spPr>
          <a:xfrm>
            <a:off x="411480" y="1783080"/>
            <a:ext cx="2185415" cy="331012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hape 13"/>
          <p:cNvSpPr/>
          <p:nvPr/>
        </p:nvSpPr>
        <p:spPr>
          <a:xfrm>
            <a:off x="411480" y="1783080"/>
            <a:ext cx="2185415"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4"/>
          <p:cNvSpPr txBox="1"/>
          <p:nvPr/>
        </p:nvSpPr>
        <p:spPr>
          <a:xfrm>
            <a:off x="521208" y="1783080"/>
            <a:ext cx="1965959" cy="256032"/>
          </a:xfrm>
          <a:prstGeom prst="rect">
            <a:avLst/>
          </a:prstGeom>
          <a:noFill/>
        </p:spPr>
        <p:txBody>
          <a:bodyPr wrap="square" lIns="0" rIns="0" tIns="0" bIns="0" anchor="ctr">
            <a:spAutoFit/>
          </a:bodyPr>
          <a:lstStyle/>
          <a:p>
            <a:r>
              <a:rPr sz="700" b="1" i="0" spc="120">
                <a:solidFill>
                  <a:srgbClr val="1A1A1A"/>
                </a:solidFill>
                <a:latin typeface="Trenda IG Text"/>
              </a:rPr>
              <a:t>HOW WE BUILD</a:t>
            </a:r>
          </a:p>
        </p:txBody>
      </p:sp>
      <p:sp>
        <p:nvSpPr>
          <p:cNvPr id="18" name="Shape 15"/>
          <p:cNvSpPr/>
          <p:nvPr/>
        </p:nvSpPr>
        <p:spPr>
          <a:xfrm>
            <a:off x="521208" y="213055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hape 16"/>
          <p:cNvSpPr/>
          <p:nvPr/>
        </p:nvSpPr>
        <p:spPr>
          <a:xfrm>
            <a:off x="521208" y="213055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 17"/>
          <p:cNvSpPr txBox="1"/>
          <p:nvPr/>
        </p:nvSpPr>
        <p:spPr>
          <a:xfrm>
            <a:off x="630936" y="216712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One definition per agent</a:t>
            </a:r>
          </a:p>
          <a:p>
            <a:pPr>
              <a:spcAft>
                <a:spcPts val="200"/>
              </a:spcAft>
            </a:pPr>
            <a:r>
              <a:rPr sz="700" b="0" i="0">
                <a:solidFill>
                  <a:srgbClr val="4D4D4D"/>
                </a:solidFill>
                <a:latin typeface="Trenda IG Text"/>
              </a:rPr>
              <a:t>plus a skill pack per pod; new agents plug into the same framework when new work needs them</a:t>
            </a:r>
          </a:p>
        </p:txBody>
      </p:sp>
      <p:sp>
        <p:nvSpPr>
          <p:cNvPr id="21" name="Shape 18"/>
          <p:cNvSpPr/>
          <p:nvPr/>
        </p:nvSpPr>
        <p:spPr>
          <a:xfrm>
            <a:off x="521208" y="288493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hape 19"/>
          <p:cNvSpPr/>
          <p:nvPr/>
        </p:nvSpPr>
        <p:spPr>
          <a:xfrm>
            <a:off x="521208" y="288493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 20"/>
          <p:cNvSpPr txBox="1"/>
          <p:nvPr/>
        </p:nvSpPr>
        <p:spPr>
          <a:xfrm>
            <a:off x="630936" y="292150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Versioned</a:t>
            </a:r>
          </a:p>
          <a:p>
            <a:pPr>
              <a:spcAft>
                <a:spcPts val="200"/>
              </a:spcAft>
            </a:pPr>
            <a:r>
              <a:rPr sz="700" b="0" i="0">
                <a:solidFill>
                  <a:srgbClr val="4D4D4D"/>
                </a:solidFill>
                <a:latin typeface="Trenda IG Text"/>
              </a:rPr>
              <a:t>prompts, skills and model pinned in config; roll back in one step</a:t>
            </a:r>
          </a:p>
        </p:txBody>
      </p:sp>
      <p:sp>
        <p:nvSpPr>
          <p:cNvPr id="24" name="Shape 21"/>
          <p:cNvSpPr/>
          <p:nvPr/>
        </p:nvSpPr>
        <p:spPr>
          <a:xfrm>
            <a:off x="521208" y="3639311"/>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hape 22"/>
          <p:cNvSpPr/>
          <p:nvPr/>
        </p:nvSpPr>
        <p:spPr>
          <a:xfrm>
            <a:off x="521208" y="3639311"/>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3"/>
          <p:cNvSpPr txBox="1"/>
          <p:nvPr/>
        </p:nvSpPr>
        <p:spPr>
          <a:xfrm>
            <a:off x="630936" y="3675887"/>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Eval gate</a:t>
            </a:r>
          </a:p>
          <a:p>
            <a:pPr>
              <a:spcAft>
                <a:spcPts val="200"/>
              </a:spcAft>
            </a:pPr>
            <a:r>
              <a:rPr sz="700" b="0" i="0">
                <a:solidFill>
                  <a:srgbClr val="4D4D4D"/>
                </a:solidFill>
                <a:latin typeface="Trenda IG Text"/>
              </a:rPr>
              <a:t>a new agent version ships only if it passes its eval set</a:t>
            </a:r>
          </a:p>
        </p:txBody>
      </p:sp>
      <p:sp>
        <p:nvSpPr>
          <p:cNvPr id="27" name="Shape 24"/>
          <p:cNvSpPr/>
          <p:nvPr/>
        </p:nvSpPr>
        <p:spPr>
          <a:xfrm>
            <a:off x="521208" y="439369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Shape 25"/>
          <p:cNvSpPr/>
          <p:nvPr/>
        </p:nvSpPr>
        <p:spPr>
          <a:xfrm>
            <a:off x="521208" y="439369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 26"/>
          <p:cNvSpPr txBox="1"/>
          <p:nvPr/>
        </p:nvSpPr>
        <p:spPr>
          <a:xfrm>
            <a:off x="630936" y="443026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Pod by pod</a:t>
            </a:r>
          </a:p>
          <a:p>
            <a:pPr>
              <a:spcAft>
                <a:spcPts val="200"/>
              </a:spcAft>
            </a:pPr>
            <a:r>
              <a:rPr sz="700" b="0" i="0">
                <a:solidFill>
                  <a:srgbClr val="4D4D4D"/>
                </a:solidFill>
                <a:latin typeface="Trenda IG Text"/>
              </a:rPr>
              <a:t>onboard one pod, measure it, then the next</a:t>
            </a:r>
          </a:p>
        </p:txBody>
      </p:sp>
      <p:sp>
        <p:nvSpPr>
          <p:cNvPr id="30" name="Shape 27"/>
          <p:cNvSpPr/>
          <p:nvPr/>
        </p:nvSpPr>
        <p:spPr>
          <a:xfrm>
            <a:off x="2706624" y="1783080"/>
            <a:ext cx="2185415" cy="331012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hape 28"/>
          <p:cNvSpPr/>
          <p:nvPr/>
        </p:nvSpPr>
        <p:spPr>
          <a:xfrm>
            <a:off x="2706624" y="1783080"/>
            <a:ext cx="2185415"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 29"/>
          <p:cNvSpPr txBox="1"/>
          <p:nvPr/>
        </p:nvSpPr>
        <p:spPr>
          <a:xfrm>
            <a:off x="2816352" y="1783080"/>
            <a:ext cx="1965959" cy="256032"/>
          </a:xfrm>
          <a:prstGeom prst="rect">
            <a:avLst/>
          </a:prstGeom>
          <a:noFill/>
        </p:spPr>
        <p:txBody>
          <a:bodyPr wrap="square" lIns="0" rIns="0" tIns="0" bIns="0" anchor="ctr">
            <a:spAutoFit/>
          </a:bodyPr>
          <a:lstStyle/>
          <a:p>
            <a:r>
              <a:rPr sz="700" b="1" i="0" spc="120">
                <a:solidFill>
                  <a:srgbClr val="1A1A1A"/>
                </a:solidFill>
                <a:latin typeface="Trenda IG Text"/>
              </a:rPr>
              <a:t>HOW IT SCALES</a:t>
            </a:r>
            <a:r>
              <a:rPr sz="700" b="0" i="0">
                <a:solidFill>
                  <a:srgbClr val="4D4D4D"/>
                </a:solidFill>
                <a:latin typeface="Trenda IG Text"/>
              </a:rPr>
              <a:t>   concurrency</a:t>
            </a:r>
          </a:p>
        </p:txBody>
      </p:sp>
      <p:sp>
        <p:nvSpPr>
          <p:cNvPr id="33" name="Shape 30"/>
          <p:cNvSpPr/>
          <p:nvPr/>
        </p:nvSpPr>
        <p:spPr>
          <a:xfrm>
            <a:off x="2816352" y="213055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Shape 31"/>
          <p:cNvSpPr/>
          <p:nvPr/>
        </p:nvSpPr>
        <p:spPr>
          <a:xfrm>
            <a:off x="2816352" y="213055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 32"/>
          <p:cNvSpPr txBox="1"/>
          <p:nvPr/>
        </p:nvSpPr>
        <p:spPr>
          <a:xfrm>
            <a:off x="2926080" y="216712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One isolated run per request</a:t>
            </a:r>
          </a:p>
          <a:p>
            <a:pPr>
              <a:spcAft>
                <a:spcPts val="200"/>
              </a:spcAft>
            </a:pPr>
            <a:r>
              <a:rPr sz="700" b="0" i="0">
                <a:solidFill>
                  <a:srgbClr val="4D4D4D"/>
                </a:solidFill>
                <a:latin typeface="Trenda IG Text"/>
              </a:rPr>
              <a:t>own container, context, branch and checkpoint; no shared memory</a:t>
            </a:r>
          </a:p>
        </p:txBody>
      </p:sp>
      <p:sp>
        <p:nvSpPr>
          <p:cNvPr id="36" name="Shape 33"/>
          <p:cNvSpPr/>
          <p:nvPr/>
        </p:nvSpPr>
        <p:spPr>
          <a:xfrm>
            <a:off x="2816352" y="288493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4"/>
          <p:cNvSpPr/>
          <p:nvPr/>
        </p:nvSpPr>
        <p:spPr>
          <a:xfrm>
            <a:off x="2816352" y="288493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5"/>
          <p:cNvSpPr txBox="1"/>
          <p:nvPr/>
        </p:nvSpPr>
        <p:spPr>
          <a:xfrm>
            <a:off x="2926080" y="292150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Fair share for every pod</a:t>
            </a:r>
          </a:p>
          <a:p>
            <a:pPr>
              <a:spcAft>
                <a:spcPts val="200"/>
              </a:spcAft>
            </a:pPr>
            <a:r>
              <a:rPr sz="700" b="0" i="0">
                <a:solidFill>
                  <a:srgbClr val="4D4D4D"/>
                </a:solidFill>
                <a:latin typeface="Trenda IG Text"/>
              </a:rPr>
              <a:t>a per-pod cap, set in config: no pod crowds out another</a:t>
            </a:r>
          </a:p>
        </p:txBody>
      </p:sp>
      <p:sp>
        <p:nvSpPr>
          <p:cNvPr id="39" name="Shape 36"/>
          <p:cNvSpPr/>
          <p:nvPr/>
        </p:nvSpPr>
        <p:spPr>
          <a:xfrm>
            <a:off x="2816352" y="3639311"/>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hape 37"/>
          <p:cNvSpPr/>
          <p:nvPr/>
        </p:nvSpPr>
        <p:spPr>
          <a:xfrm>
            <a:off x="2816352" y="3639311"/>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38"/>
          <p:cNvSpPr txBox="1"/>
          <p:nvPr/>
        </p:nvSpPr>
        <p:spPr>
          <a:xfrm>
            <a:off x="2926080" y="3675887"/>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Scales with demand</a:t>
            </a:r>
          </a:p>
          <a:p>
            <a:pPr>
              <a:spcAft>
                <a:spcPts val="200"/>
              </a:spcAft>
            </a:pPr>
            <a:r>
              <a:rPr sz="700" b="0" i="0">
                <a:solidFill>
                  <a:srgbClr val="4D4D4D"/>
                </a:solidFill>
                <a:latin typeface="Trenda IG Text"/>
              </a:rPr>
              <a:t>runs added as load grows, within model and API quotas; sized in Phase 0</a:t>
            </a:r>
          </a:p>
        </p:txBody>
      </p:sp>
      <p:sp>
        <p:nvSpPr>
          <p:cNvPr id="42" name="Shape 39"/>
          <p:cNvSpPr/>
          <p:nvPr/>
        </p:nvSpPr>
        <p:spPr>
          <a:xfrm>
            <a:off x="2816352" y="439369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hape 40"/>
          <p:cNvSpPr/>
          <p:nvPr/>
        </p:nvSpPr>
        <p:spPr>
          <a:xfrm>
            <a:off x="2816352" y="439369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 41"/>
          <p:cNvSpPr txBox="1"/>
          <p:nvPr/>
        </p:nvSpPr>
        <p:spPr>
          <a:xfrm>
            <a:off x="2926080" y="443026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Queued, never dropped</a:t>
            </a:r>
          </a:p>
          <a:p>
            <a:pPr>
              <a:spcAft>
                <a:spcPts val="200"/>
              </a:spcAft>
            </a:pPr>
            <a:r>
              <a:rPr sz="700" b="0" i="0">
                <a:solidFill>
                  <a:srgbClr val="4D4D4D"/>
                </a:solidFill>
                <a:latin typeface="Trenda IG Text"/>
              </a:rPr>
              <a:t>waits its turn, resumes from checkpoints; the wait time is measured</a:t>
            </a:r>
          </a:p>
        </p:txBody>
      </p:sp>
      <p:sp>
        <p:nvSpPr>
          <p:cNvPr id="45" name="Shape 42"/>
          <p:cNvSpPr/>
          <p:nvPr/>
        </p:nvSpPr>
        <p:spPr>
          <a:xfrm>
            <a:off x="5001768" y="1783080"/>
            <a:ext cx="2185415" cy="331012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hape 43"/>
          <p:cNvSpPr/>
          <p:nvPr/>
        </p:nvSpPr>
        <p:spPr>
          <a:xfrm>
            <a:off x="5001768" y="1783080"/>
            <a:ext cx="2185415"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4"/>
          <p:cNvSpPr txBox="1"/>
          <p:nvPr/>
        </p:nvSpPr>
        <p:spPr>
          <a:xfrm>
            <a:off x="5111496" y="1783080"/>
            <a:ext cx="1965959" cy="256032"/>
          </a:xfrm>
          <a:prstGeom prst="rect">
            <a:avLst/>
          </a:prstGeom>
          <a:noFill/>
        </p:spPr>
        <p:txBody>
          <a:bodyPr wrap="square" lIns="0" rIns="0" tIns="0" bIns="0" anchor="ctr">
            <a:spAutoFit/>
          </a:bodyPr>
          <a:lstStyle/>
          <a:p>
            <a:r>
              <a:rPr sz="700" b="1" i="0" spc="120">
                <a:solidFill>
                  <a:srgbClr val="1A1A1A"/>
                </a:solidFill>
                <a:latin typeface="Trenda IG Text"/>
              </a:rPr>
              <a:t>HOW IT STAYS ACCURATE</a:t>
            </a:r>
            <a:r>
              <a:rPr sz="700" b="0" i="0">
                <a:solidFill>
                  <a:srgbClr val="4D4D4D"/>
                </a:solidFill>
                <a:latin typeface="Trenda IG Text"/>
              </a:rPr>
              <a:t>   accuracy</a:t>
            </a:r>
          </a:p>
        </p:txBody>
      </p:sp>
      <p:sp>
        <p:nvSpPr>
          <p:cNvPr id="48" name="Shape 45"/>
          <p:cNvSpPr/>
          <p:nvPr/>
        </p:nvSpPr>
        <p:spPr>
          <a:xfrm>
            <a:off x="5111496" y="213055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hape 46"/>
          <p:cNvSpPr/>
          <p:nvPr/>
        </p:nvSpPr>
        <p:spPr>
          <a:xfrm>
            <a:off x="5111496" y="213055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 47"/>
          <p:cNvSpPr txBox="1"/>
          <p:nvPr/>
        </p:nvSpPr>
        <p:spPr>
          <a:xfrm>
            <a:off x="5221224" y="216712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Cited facts only</a:t>
            </a:r>
          </a:p>
          <a:p>
            <a:pPr>
              <a:spcAft>
                <a:spcPts val="200"/>
              </a:spcAft>
            </a:pPr>
            <a:r>
              <a:rPr sz="700" b="0" i="0">
                <a:solidFill>
                  <a:srgbClr val="4D4D4D"/>
                </a:solidFill>
                <a:latin typeface="Trenda IG Text"/>
              </a:rPr>
              <a:t>every fact from the graph carries its source; agents never guess</a:t>
            </a:r>
          </a:p>
        </p:txBody>
      </p:sp>
      <p:sp>
        <p:nvSpPr>
          <p:cNvPr id="51" name="Shape 48"/>
          <p:cNvSpPr/>
          <p:nvPr/>
        </p:nvSpPr>
        <p:spPr>
          <a:xfrm>
            <a:off x="5111496" y="288493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Shape 49"/>
          <p:cNvSpPr/>
          <p:nvPr/>
        </p:nvSpPr>
        <p:spPr>
          <a:xfrm>
            <a:off x="5111496" y="288493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 50"/>
          <p:cNvSpPr txBox="1"/>
          <p:nvPr/>
        </p:nvSpPr>
        <p:spPr>
          <a:xfrm>
            <a:off x="5221224" y="292150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Same bar for every pod</a:t>
            </a:r>
          </a:p>
          <a:p>
            <a:pPr>
              <a:spcAft>
                <a:spcPts val="200"/>
              </a:spcAft>
            </a:pPr>
            <a:r>
              <a:rPr sz="700" b="0" i="0">
                <a:solidFill>
                  <a:srgbClr val="4D4D4D"/>
                </a:solidFill>
                <a:latin typeface="Trenda IG Text"/>
              </a:rPr>
              <a:t>every run scored before it moves; max 5 retries, then an owner</a:t>
            </a:r>
          </a:p>
        </p:txBody>
      </p:sp>
      <p:sp>
        <p:nvSpPr>
          <p:cNvPr id="54" name="Shape 51"/>
          <p:cNvSpPr/>
          <p:nvPr/>
        </p:nvSpPr>
        <p:spPr>
          <a:xfrm>
            <a:off x="5111496" y="3639311"/>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hape 52"/>
          <p:cNvSpPr/>
          <p:nvPr/>
        </p:nvSpPr>
        <p:spPr>
          <a:xfrm>
            <a:off x="5111496" y="3639311"/>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 53"/>
          <p:cNvSpPr txBox="1"/>
          <p:nvPr/>
        </p:nvSpPr>
        <p:spPr>
          <a:xfrm>
            <a:off x="5221224" y="3675887"/>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Load changes the wait, not the answer</a:t>
            </a:r>
          </a:p>
          <a:p>
            <a:pPr>
              <a:spcAft>
                <a:spcPts val="200"/>
              </a:spcAft>
            </a:pPr>
            <a:r>
              <a:rPr sz="700" b="0" i="0">
                <a:solidFill>
                  <a:srgbClr val="4D4D4D"/>
                </a:solidFill>
                <a:latin typeface="Trenda IG Text"/>
              </a:rPr>
              <a:t>runs share no memory; two pods on one object are sequenced</a:t>
            </a:r>
          </a:p>
        </p:txBody>
      </p:sp>
      <p:sp>
        <p:nvSpPr>
          <p:cNvPr id="57" name="Shape 54"/>
          <p:cNvSpPr/>
          <p:nvPr/>
        </p:nvSpPr>
        <p:spPr>
          <a:xfrm>
            <a:off x="5111496" y="439369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Shape 55"/>
          <p:cNvSpPr/>
          <p:nvPr/>
        </p:nvSpPr>
        <p:spPr>
          <a:xfrm>
            <a:off x="5111496" y="439369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6"/>
          <p:cNvSpPr txBox="1"/>
          <p:nvPr/>
        </p:nvSpPr>
        <p:spPr>
          <a:xfrm>
            <a:off x="5221224" y="443026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Measured every run</a:t>
            </a:r>
          </a:p>
          <a:p>
            <a:pPr>
              <a:spcAft>
                <a:spcPts val="200"/>
              </a:spcAft>
            </a:pPr>
            <a:r>
              <a:rPr sz="700" b="0" i="0">
                <a:solidFill>
                  <a:srgbClr val="4D4D4D"/>
                </a:solidFill>
                <a:latin typeface="Trenda IG Text"/>
              </a:rPr>
              <a:t>eval score per agent and pod, first-pass approval, defects after release</a:t>
            </a:r>
          </a:p>
        </p:txBody>
      </p:sp>
      <p:sp>
        <p:nvSpPr>
          <p:cNvPr id="60" name="Shape 57"/>
          <p:cNvSpPr/>
          <p:nvPr/>
        </p:nvSpPr>
        <p:spPr>
          <a:xfrm>
            <a:off x="7296912" y="1783080"/>
            <a:ext cx="2185415" cy="331012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hape 58"/>
          <p:cNvSpPr/>
          <p:nvPr/>
        </p:nvSpPr>
        <p:spPr>
          <a:xfrm>
            <a:off x="7296912" y="1783080"/>
            <a:ext cx="2185415"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 59"/>
          <p:cNvSpPr txBox="1"/>
          <p:nvPr/>
        </p:nvSpPr>
        <p:spPr>
          <a:xfrm>
            <a:off x="7406640" y="1783080"/>
            <a:ext cx="1965959" cy="256032"/>
          </a:xfrm>
          <a:prstGeom prst="rect">
            <a:avLst/>
          </a:prstGeom>
          <a:noFill/>
        </p:spPr>
        <p:txBody>
          <a:bodyPr wrap="square" lIns="0" rIns="0" tIns="0" bIns="0" anchor="ctr">
            <a:spAutoFit/>
          </a:bodyPr>
          <a:lstStyle/>
          <a:p>
            <a:r>
              <a:rPr sz="700" b="1" i="0" spc="120">
                <a:solidFill>
                  <a:srgbClr val="1A1A1A"/>
                </a:solidFill>
                <a:latin typeface="Trenda IG Text"/>
              </a:rPr>
              <a:t>HOW WE PROTECT DATA</a:t>
            </a:r>
            <a:r>
              <a:rPr sz="700" b="0" i="0">
                <a:solidFill>
                  <a:srgbClr val="4D4D4D"/>
                </a:solidFill>
                <a:latin typeface="Trenda IG Text"/>
              </a:rPr>
              <a:t>   measured</a:t>
            </a:r>
          </a:p>
        </p:txBody>
      </p:sp>
      <p:sp>
        <p:nvSpPr>
          <p:cNvPr id="63" name="Shape 60"/>
          <p:cNvSpPr/>
          <p:nvPr/>
        </p:nvSpPr>
        <p:spPr>
          <a:xfrm>
            <a:off x="7406640" y="213055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Shape 61"/>
          <p:cNvSpPr/>
          <p:nvPr/>
        </p:nvSpPr>
        <p:spPr>
          <a:xfrm>
            <a:off x="7406640" y="213055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 62"/>
          <p:cNvSpPr txBox="1"/>
          <p:nvPr/>
        </p:nvSpPr>
        <p:spPr>
          <a:xfrm>
            <a:off x="7516367" y="216712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Classified and approved</a:t>
            </a:r>
          </a:p>
          <a:p>
            <a:pPr>
              <a:spcAft>
                <a:spcPts val="200"/>
              </a:spcAft>
            </a:pPr>
            <a:r>
              <a:rPr sz="700" b="0" i="0">
                <a:solidFill>
                  <a:srgbClr val="4D4D4D"/>
                </a:solidFill>
                <a:latin typeface="Trenda IG Text"/>
              </a:rPr>
              <a:t>share of in-scope sensitive fields classified by DLP and approved by a Collibra steward; target 100% before use</a:t>
            </a:r>
          </a:p>
        </p:txBody>
      </p:sp>
      <p:sp>
        <p:nvSpPr>
          <p:cNvPr id="66" name="Shape 63"/>
          <p:cNvSpPr/>
          <p:nvPr/>
        </p:nvSpPr>
        <p:spPr>
          <a:xfrm>
            <a:off x="7406640" y="288493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hape 64"/>
          <p:cNvSpPr/>
          <p:nvPr/>
        </p:nvSpPr>
        <p:spPr>
          <a:xfrm>
            <a:off x="7406640" y="288493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 65"/>
          <p:cNvSpPr txBox="1"/>
          <p:nvPr/>
        </p:nvSpPr>
        <p:spPr>
          <a:xfrm>
            <a:off x="7516367" y="292150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Masked and verified</a:t>
            </a:r>
          </a:p>
          <a:p>
            <a:pPr>
              <a:spcAft>
                <a:spcPts val="200"/>
              </a:spcAft>
            </a:pPr>
            <a:r>
              <a:rPr sz="700" b="0" i="0">
                <a:solidFill>
                  <a:srgbClr val="4D4D4D"/>
                </a:solidFill>
                <a:latin typeface="Trenda IG Text"/>
              </a:rPr>
              <a:t>policy tags applied and checked against the schema every run; drift flagged</a:t>
            </a:r>
          </a:p>
        </p:txBody>
      </p:sp>
      <p:sp>
        <p:nvSpPr>
          <p:cNvPr id="69" name="Shape 66"/>
          <p:cNvSpPr/>
          <p:nvPr/>
        </p:nvSpPr>
        <p:spPr>
          <a:xfrm>
            <a:off x="7406640" y="3639311"/>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Shape 67"/>
          <p:cNvSpPr/>
          <p:nvPr/>
        </p:nvSpPr>
        <p:spPr>
          <a:xfrm>
            <a:off x="7406640" y="3639311"/>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8"/>
          <p:cNvSpPr txBox="1"/>
          <p:nvPr/>
        </p:nvSpPr>
        <p:spPr>
          <a:xfrm>
            <a:off x="7516367" y="3675887"/>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Zero unauthorized access</a:t>
            </a:r>
          </a:p>
          <a:p>
            <a:pPr>
              <a:spcAft>
                <a:spcPts val="200"/>
              </a:spcAft>
            </a:pPr>
            <a:r>
              <a:rPr sz="700" b="0" i="0">
                <a:solidFill>
                  <a:srgbClr val="4D4D4D"/>
                </a:solidFill>
                <a:latin typeface="Trenda IG Text"/>
              </a:rPr>
              <a:t>negative-access tests each release: agent identities cannot read raw PHI</a:t>
            </a:r>
          </a:p>
        </p:txBody>
      </p:sp>
      <p:sp>
        <p:nvSpPr>
          <p:cNvPr id="72" name="Shape 69"/>
          <p:cNvSpPr/>
          <p:nvPr/>
        </p:nvSpPr>
        <p:spPr>
          <a:xfrm>
            <a:off x="7406640" y="439369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hape 70"/>
          <p:cNvSpPr/>
          <p:nvPr/>
        </p:nvSpPr>
        <p:spPr>
          <a:xfrm>
            <a:off x="7406640" y="439369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71"/>
          <p:cNvSpPr txBox="1"/>
          <p:nvPr/>
        </p:nvSpPr>
        <p:spPr>
          <a:xfrm>
            <a:off x="7516367" y="443026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Every access audited</a:t>
            </a:r>
          </a:p>
          <a:p>
            <a:pPr>
              <a:spcAft>
                <a:spcPts val="200"/>
              </a:spcAft>
            </a:pPr>
            <a:r>
              <a:rPr sz="700" b="0" i="0">
                <a:solidFill>
                  <a:srgbClr val="4D4D4D"/>
                </a:solidFill>
                <a:latin typeface="Trenda IG Text"/>
              </a:rPr>
              <a:t>PHI access logged, release reconciled, access reviewed each quarter</a:t>
            </a:r>
          </a:p>
        </p:txBody>
      </p:sp>
      <p:sp>
        <p:nvSpPr>
          <p:cNvPr id="75" name="Shape 72"/>
          <p:cNvSpPr/>
          <p:nvPr/>
        </p:nvSpPr>
        <p:spPr>
          <a:xfrm>
            <a:off x="9592055" y="1783080"/>
            <a:ext cx="2185415" cy="3310128"/>
          </a:xfrm>
          <a:prstGeom prst="roundRect">
            <a:avLst>
              <a:gd name="adj" fmla="val 2000"/>
            </a:avLst>
          </a:prstGeom>
          <a:solidFill>
            <a:srgbClr val="EE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Shape 73"/>
          <p:cNvSpPr/>
          <p:nvPr/>
        </p:nvSpPr>
        <p:spPr>
          <a:xfrm>
            <a:off x="9592055" y="1783080"/>
            <a:ext cx="2185415"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 74"/>
          <p:cNvSpPr txBox="1"/>
          <p:nvPr/>
        </p:nvSpPr>
        <p:spPr>
          <a:xfrm>
            <a:off x="9701783" y="1783080"/>
            <a:ext cx="1965959" cy="256032"/>
          </a:xfrm>
          <a:prstGeom prst="rect">
            <a:avLst/>
          </a:prstGeom>
          <a:noFill/>
        </p:spPr>
        <p:txBody>
          <a:bodyPr wrap="square" lIns="0" rIns="0" tIns="0" bIns="0" anchor="ctr">
            <a:spAutoFit/>
          </a:bodyPr>
          <a:lstStyle/>
          <a:p>
            <a:r>
              <a:rPr sz="700" b="1" i="0" spc="120">
                <a:solidFill>
                  <a:srgbClr val="1A1A1A"/>
                </a:solidFill>
                <a:latin typeface="Trenda IG Text"/>
              </a:rPr>
              <a:t>HOW WE CONTROL</a:t>
            </a:r>
          </a:p>
        </p:txBody>
      </p:sp>
      <p:sp>
        <p:nvSpPr>
          <p:cNvPr id="78" name="Shape 75"/>
          <p:cNvSpPr/>
          <p:nvPr/>
        </p:nvSpPr>
        <p:spPr>
          <a:xfrm>
            <a:off x="9701783" y="213055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Shape 76"/>
          <p:cNvSpPr/>
          <p:nvPr/>
        </p:nvSpPr>
        <p:spPr>
          <a:xfrm>
            <a:off x="9701783" y="213055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Text 77"/>
          <p:cNvSpPr txBox="1"/>
          <p:nvPr/>
        </p:nvSpPr>
        <p:spPr>
          <a:xfrm>
            <a:off x="9811511" y="216712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No production access</a:t>
            </a:r>
          </a:p>
          <a:p>
            <a:pPr>
              <a:spcAft>
                <a:spcPts val="200"/>
              </a:spcAft>
            </a:pPr>
            <a:r>
              <a:rPr sz="700" b="0" i="0">
                <a:solidFill>
                  <a:srgbClr val="4D4D4D"/>
                </a:solidFill>
                <a:latin typeface="Trenda IG Text"/>
              </a:rPr>
              <a:t>three identities, tool allowlist</a:t>
            </a:r>
          </a:p>
        </p:txBody>
      </p:sp>
      <p:sp>
        <p:nvSpPr>
          <p:cNvPr id="81" name="Shape 78"/>
          <p:cNvSpPr/>
          <p:nvPr/>
        </p:nvSpPr>
        <p:spPr>
          <a:xfrm>
            <a:off x="9701783" y="288493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Shape 79"/>
          <p:cNvSpPr/>
          <p:nvPr/>
        </p:nvSpPr>
        <p:spPr>
          <a:xfrm>
            <a:off x="9701783" y="288493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0"/>
          <p:cNvSpPr txBox="1"/>
          <p:nvPr/>
        </p:nvSpPr>
        <p:spPr>
          <a:xfrm>
            <a:off x="9811511" y="292150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Guardrails</a:t>
            </a:r>
          </a:p>
          <a:p>
            <a:pPr>
              <a:spcAft>
                <a:spcPts val="200"/>
              </a:spcAft>
            </a:pPr>
            <a:r>
              <a:rPr sz="700" b="0" i="0">
                <a:solidFill>
                  <a:srgbClr val="4D4D4D"/>
                </a:solidFill>
                <a:latin typeface="Trenda IG Text"/>
              </a:rPr>
              <a:t>Model Armor in and out; no raw PHI for agents</a:t>
            </a:r>
          </a:p>
        </p:txBody>
      </p:sp>
      <p:sp>
        <p:nvSpPr>
          <p:cNvPr id="84" name="Shape 81"/>
          <p:cNvSpPr/>
          <p:nvPr/>
        </p:nvSpPr>
        <p:spPr>
          <a:xfrm>
            <a:off x="9701783" y="3639311"/>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hape 82"/>
          <p:cNvSpPr/>
          <p:nvPr/>
        </p:nvSpPr>
        <p:spPr>
          <a:xfrm>
            <a:off x="9701783" y="3639311"/>
            <a:ext cx="36576" cy="681227"/>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Text 83"/>
          <p:cNvSpPr txBox="1"/>
          <p:nvPr/>
        </p:nvSpPr>
        <p:spPr>
          <a:xfrm>
            <a:off x="9811511" y="3675887"/>
            <a:ext cx="1819655" cy="608075"/>
          </a:xfrm>
          <a:prstGeom prst="rect">
            <a:avLst/>
          </a:prstGeom>
          <a:noFill/>
        </p:spPr>
        <p:txBody>
          <a:bodyPr wrap="square" lIns="0" rIns="0" tIns="0" bIns="0" anchor="ctr">
            <a:spAutoFit/>
          </a:bodyPr>
          <a:lstStyle/>
          <a:p>
            <a:pPr>
              <a:spcAft>
                <a:spcPts val="200"/>
              </a:spcAft>
            </a:pPr>
            <a:r>
              <a:rPr sz="720" b="1" i="0">
                <a:solidFill>
                  <a:srgbClr val="8A6D00"/>
                </a:solidFill>
                <a:latin typeface="Trenda IG Text"/>
              </a:rPr>
              <a:t>People decide</a:t>
            </a:r>
          </a:p>
          <a:p>
            <a:pPr>
              <a:spcAft>
                <a:spcPts val="200"/>
              </a:spcAft>
            </a:pPr>
            <a:r>
              <a:rPr sz="700" b="0" i="0">
                <a:solidFill>
                  <a:srgbClr val="4D4D4D"/>
                </a:solidFill>
                <a:latin typeface="Trenda IG Text"/>
              </a:rPr>
              <a:t>human gates H1-H4, CAB, G1-G3; change passport</a:t>
            </a:r>
          </a:p>
        </p:txBody>
      </p:sp>
      <p:sp>
        <p:nvSpPr>
          <p:cNvPr id="87" name="Shape 84"/>
          <p:cNvSpPr/>
          <p:nvPr/>
        </p:nvSpPr>
        <p:spPr>
          <a:xfrm>
            <a:off x="9701783" y="4393692"/>
            <a:ext cx="1965959" cy="681227"/>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hape 85"/>
          <p:cNvSpPr/>
          <p:nvPr/>
        </p:nvSpPr>
        <p:spPr>
          <a:xfrm>
            <a:off x="9701783" y="4393692"/>
            <a:ext cx="36576" cy="681227"/>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6"/>
          <p:cNvSpPr txBox="1"/>
          <p:nvPr/>
        </p:nvSpPr>
        <p:spPr>
          <a:xfrm>
            <a:off x="9811511" y="4430268"/>
            <a:ext cx="1819655" cy="608075"/>
          </a:xfrm>
          <a:prstGeom prst="rect">
            <a:avLst/>
          </a:prstGeom>
          <a:noFill/>
        </p:spPr>
        <p:txBody>
          <a:bodyPr wrap="square" lIns="0" rIns="0" tIns="0" bIns="0" anchor="ctr">
            <a:spAutoFit/>
          </a:bodyPr>
          <a:lstStyle/>
          <a:p>
            <a:pPr>
              <a:spcAft>
                <a:spcPts val="200"/>
              </a:spcAft>
            </a:pPr>
            <a:r>
              <a:rPr sz="720" b="1" i="0">
                <a:solidFill>
                  <a:srgbClr val="1A1A1A"/>
                </a:solidFill>
                <a:latin typeface="Trenda IG Text"/>
              </a:rPr>
              <a:t>Quotas + kill switch</a:t>
            </a:r>
          </a:p>
          <a:p>
            <a:pPr>
              <a:spcAft>
                <a:spcPts val="200"/>
              </a:spcAft>
            </a:pPr>
            <a:r>
              <a:rPr sz="700" b="0" i="0">
                <a:solidFill>
                  <a:srgbClr val="4D4D4D"/>
                </a:solidFill>
                <a:latin typeface="Trenda IG Text"/>
              </a:rPr>
              <a:t>per pod and per agent</a:t>
            </a:r>
          </a:p>
        </p:txBody>
      </p:sp>
      <p:sp>
        <p:nvSpPr>
          <p:cNvPr id="90" name="Text 87"/>
          <p:cNvSpPr txBox="1"/>
          <p:nvPr/>
        </p:nvSpPr>
        <p:spPr>
          <a:xfrm>
            <a:off x="411480" y="5230368"/>
            <a:ext cx="1188720" cy="1005840"/>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CORE BENEFITS</a:t>
            </a:r>
          </a:p>
          <a:p>
            <a:pPr>
              <a:spcAft>
                <a:spcPts val="100"/>
              </a:spcAft>
            </a:pPr>
            <a:r>
              <a:rPr sz="700" b="0" i="0">
                <a:solidFill>
                  <a:srgbClr val="6B6B6B"/>
                </a:solidFill>
                <a:latin typeface="Trenda IG Text"/>
              </a:rPr>
              <a:t>beyond cost</a:t>
            </a:r>
          </a:p>
        </p:txBody>
      </p:sp>
      <p:sp>
        <p:nvSpPr>
          <p:cNvPr id="91" name="Shape 88"/>
          <p:cNvSpPr/>
          <p:nvPr/>
        </p:nvSpPr>
        <p:spPr>
          <a:xfrm>
            <a:off x="1645920"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89"/>
          <p:cNvSpPr/>
          <p:nvPr/>
        </p:nvSpPr>
        <p:spPr>
          <a:xfrm>
            <a:off x="164592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 90"/>
          <p:cNvSpPr txBox="1"/>
          <p:nvPr/>
        </p:nvSpPr>
        <p:spPr>
          <a:xfrm>
            <a:off x="1792224"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Consistency</a:t>
            </a:r>
          </a:p>
          <a:p>
            <a:pPr>
              <a:spcAft>
                <a:spcPts val="200"/>
              </a:spcAft>
            </a:pPr>
            <a:r>
              <a:rPr sz="700" b="0" i="0">
                <a:solidFill>
                  <a:srgbClr val="4D4D4D"/>
                </a:solidFill>
                <a:latin typeface="Trenda IG Text"/>
              </a:rPr>
              <a:t>Same standards and checks in every pod, every time.</a:t>
            </a:r>
          </a:p>
        </p:txBody>
      </p:sp>
      <p:sp>
        <p:nvSpPr>
          <p:cNvPr id="94" name="Shape 91"/>
          <p:cNvSpPr/>
          <p:nvPr/>
        </p:nvSpPr>
        <p:spPr>
          <a:xfrm>
            <a:off x="3349752"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hape 92"/>
          <p:cNvSpPr/>
          <p:nvPr/>
        </p:nvSpPr>
        <p:spPr>
          <a:xfrm>
            <a:off x="3349752"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 93"/>
          <p:cNvSpPr txBox="1"/>
          <p:nvPr/>
        </p:nvSpPr>
        <p:spPr>
          <a:xfrm>
            <a:off x="3496056"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Reuse</a:t>
            </a:r>
          </a:p>
          <a:p>
            <a:pPr>
              <a:spcAft>
                <a:spcPts val="200"/>
              </a:spcAft>
            </a:pPr>
            <a:r>
              <a:rPr sz="700" b="0" i="0">
                <a:solidFill>
                  <a:srgbClr val="4D4D4D"/>
                </a:solidFill>
                <a:latin typeface="Trenda IG Text"/>
              </a:rPr>
              <a:t>Build once; a new pod adds skills, and new agents plug in when needed.</a:t>
            </a:r>
          </a:p>
        </p:txBody>
      </p:sp>
      <p:sp>
        <p:nvSpPr>
          <p:cNvPr id="97" name="Shape 94"/>
          <p:cNvSpPr/>
          <p:nvPr/>
        </p:nvSpPr>
        <p:spPr>
          <a:xfrm>
            <a:off x="5053584"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Shape 95"/>
          <p:cNvSpPr/>
          <p:nvPr/>
        </p:nvSpPr>
        <p:spPr>
          <a:xfrm>
            <a:off x="5053584"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 96"/>
          <p:cNvSpPr txBox="1"/>
          <p:nvPr/>
        </p:nvSpPr>
        <p:spPr>
          <a:xfrm>
            <a:off x="5199888"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Knowledge kept</a:t>
            </a:r>
          </a:p>
          <a:p>
            <a:pPr>
              <a:spcAft>
                <a:spcPts val="200"/>
              </a:spcAft>
            </a:pPr>
            <a:r>
              <a:rPr sz="700" b="0" i="0">
                <a:solidFill>
                  <a:srgbClr val="4D4D4D"/>
                </a:solidFill>
                <a:latin typeface="Trenda IG Text"/>
              </a:rPr>
              <a:t>The graph keeps what people know when they move on.</a:t>
            </a:r>
          </a:p>
        </p:txBody>
      </p:sp>
      <p:sp>
        <p:nvSpPr>
          <p:cNvPr id="100" name="Shape 97"/>
          <p:cNvSpPr/>
          <p:nvPr/>
        </p:nvSpPr>
        <p:spPr>
          <a:xfrm>
            <a:off x="6757416"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Shape 98"/>
          <p:cNvSpPr/>
          <p:nvPr/>
        </p:nvSpPr>
        <p:spPr>
          <a:xfrm>
            <a:off x="6757416"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Text 99"/>
          <p:cNvSpPr txBox="1"/>
          <p:nvPr/>
        </p:nvSpPr>
        <p:spPr>
          <a:xfrm>
            <a:off x="6903720"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Quality</a:t>
            </a:r>
          </a:p>
          <a:p>
            <a:pPr>
              <a:spcAft>
                <a:spcPts val="200"/>
              </a:spcAft>
            </a:pPr>
            <a:r>
              <a:rPr sz="700" b="0" i="0">
                <a:solidFill>
                  <a:srgbClr val="4D4D4D"/>
                </a:solidFill>
                <a:latin typeface="Trenda IG Text"/>
              </a:rPr>
              <a:t>Every step scored before it moves.</a:t>
            </a:r>
          </a:p>
        </p:txBody>
      </p:sp>
      <p:sp>
        <p:nvSpPr>
          <p:cNvPr id="103" name="Shape 100"/>
          <p:cNvSpPr/>
          <p:nvPr/>
        </p:nvSpPr>
        <p:spPr>
          <a:xfrm>
            <a:off x="8461248"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Shape 101"/>
          <p:cNvSpPr/>
          <p:nvPr/>
        </p:nvSpPr>
        <p:spPr>
          <a:xfrm>
            <a:off x="8461248"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ext 102"/>
          <p:cNvSpPr txBox="1"/>
          <p:nvPr/>
        </p:nvSpPr>
        <p:spPr>
          <a:xfrm>
            <a:off x="8607552"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Auditability</a:t>
            </a:r>
          </a:p>
          <a:p>
            <a:pPr>
              <a:spcAft>
                <a:spcPts val="200"/>
              </a:spcAft>
            </a:pPr>
            <a:r>
              <a:rPr sz="700" b="0" i="0">
                <a:solidFill>
                  <a:srgbClr val="4D4D4D"/>
                </a:solidFill>
                <a:latin typeface="Trenda IG Text"/>
              </a:rPr>
              <a:t>Every step, approval and test recorded.</a:t>
            </a:r>
          </a:p>
        </p:txBody>
      </p:sp>
      <p:sp>
        <p:nvSpPr>
          <p:cNvPr id="106" name="Shape 103"/>
          <p:cNvSpPr/>
          <p:nvPr/>
        </p:nvSpPr>
        <p:spPr>
          <a:xfrm>
            <a:off x="10165080" y="5230368"/>
            <a:ext cx="1612392" cy="10058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Shape 104"/>
          <p:cNvSpPr/>
          <p:nvPr/>
        </p:nvSpPr>
        <p:spPr>
          <a:xfrm>
            <a:off x="10165080" y="5230368"/>
            <a:ext cx="45720" cy="1005840"/>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Text 105"/>
          <p:cNvSpPr txBox="1"/>
          <p:nvPr/>
        </p:nvSpPr>
        <p:spPr>
          <a:xfrm>
            <a:off x="10311384" y="5266944"/>
            <a:ext cx="1392936" cy="932688"/>
          </a:xfrm>
          <a:prstGeom prst="rect">
            <a:avLst/>
          </a:prstGeom>
          <a:noFill/>
        </p:spPr>
        <p:txBody>
          <a:bodyPr wrap="square" lIns="0" rIns="0" tIns="0" bIns="0" anchor="ctr">
            <a:spAutoFit/>
          </a:bodyPr>
          <a:lstStyle/>
          <a:p>
            <a:pPr>
              <a:spcAft>
                <a:spcPts val="200"/>
              </a:spcAft>
            </a:pPr>
            <a:r>
              <a:rPr sz="800" b="1" i="0">
                <a:solidFill>
                  <a:srgbClr val="1A1A1A"/>
                </a:solidFill>
                <a:latin typeface="Trenda IG Text"/>
              </a:rPr>
              <a:t>Safe by design</a:t>
            </a:r>
          </a:p>
          <a:p>
            <a:pPr>
              <a:spcAft>
                <a:spcPts val="200"/>
              </a:spcAft>
            </a:pPr>
            <a:r>
              <a:rPr sz="700" b="0" i="0">
                <a:solidFill>
                  <a:srgbClr val="4D4D4D"/>
                </a:solidFill>
                <a:latin typeface="Trenda IG Text"/>
              </a:rPr>
              <a:t>No production credentials, no raw PHI for agents.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AGENTIC FACTORY · LEAN SQUADS</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Lean squads on one platform</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A squad of 5-7 becomes a PM / tech lead and a dev / QA directing the harness agent, with a PM / TL shared across squads. People still approve and own every change.</a:t>
            </a:r>
          </a:p>
        </p:txBody>
      </p:sp>
      <p:sp>
        <p:nvSpPr>
          <p:cNvPr id="5" name="Shape 4"/>
          <p:cNvSpPr/>
          <p:nvPr/>
        </p:nvSpPr>
        <p:spPr>
          <a:xfrm>
            <a:off x="411480" y="1170432"/>
            <a:ext cx="4206240" cy="1828800"/>
          </a:xfrm>
          <a:prstGeom prst="roundRect">
            <a:avLst>
              <a:gd name="adj" fmla="val 3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Shape 5"/>
          <p:cNvSpPr/>
          <p:nvPr/>
        </p:nvSpPr>
        <p:spPr>
          <a:xfrm>
            <a:off x="411480" y="1170432"/>
            <a:ext cx="4206240"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 6"/>
          <p:cNvSpPr txBox="1"/>
          <p:nvPr/>
        </p:nvSpPr>
        <p:spPr>
          <a:xfrm>
            <a:off x="521208" y="1170432"/>
            <a:ext cx="3986783" cy="256032"/>
          </a:xfrm>
          <a:prstGeom prst="rect">
            <a:avLst/>
          </a:prstGeom>
          <a:noFill/>
        </p:spPr>
        <p:txBody>
          <a:bodyPr wrap="square" lIns="0" rIns="0" tIns="0" bIns="0" anchor="ctr">
            <a:spAutoFit/>
          </a:bodyPr>
          <a:lstStyle/>
          <a:p>
            <a:r>
              <a:rPr sz="700" b="1" i="0" spc="120">
                <a:solidFill>
                  <a:srgbClr val="1A1A1A"/>
                </a:solidFill>
                <a:latin typeface="Trenda IG Text"/>
              </a:rPr>
              <a:t>THE SQUAD  ·  TODAY → WITH THE FACTORY</a:t>
            </a:r>
          </a:p>
        </p:txBody>
      </p:sp>
      <p:sp>
        <p:nvSpPr>
          <p:cNvPr id="8" name="Text 7"/>
          <p:cNvSpPr txBox="1"/>
          <p:nvPr/>
        </p:nvSpPr>
        <p:spPr>
          <a:xfrm>
            <a:off x="521208" y="1481328"/>
            <a:ext cx="1828800" cy="164592"/>
          </a:xfrm>
          <a:prstGeom prst="rect">
            <a:avLst/>
          </a:prstGeom>
          <a:noFill/>
        </p:spPr>
        <p:txBody>
          <a:bodyPr wrap="square" lIns="0" rIns="0" tIns="0" bIns="0" anchor="ctr">
            <a:spAutoFit/>
          </a:bodyPr>
          <a:lstStyle/>
          <a:p>
            <a:r>
              <a:rPr sz="700" b="1" i="0" spc="80">
                <a:solidFill>
                  <a:srgbClr val="6B6B6B"/>
                </a:solidFill>
                <a:latin typeface="Trenda IG Text"/>
              </a:rPr>
              <a:t>TODAY · 5-7 PEOPLE</a:t>
            </a:r>
          </a:p>
        </p:txBody>
      </p:sp>
      <p:sp>
        <p:nvSpPr>
          <p:cNvPr id="9" name="Shape 8"/>
          <p:cNvSpPr/>
          <p:nvPr/>
        </p:nvSpPr>
        <p:spPr>
          <a:xfrm>
            <a:off x="521208" y="1664208"/>
            <a:ext cx="749808" cy="292608"/>
          </a:xfrm>
          <a:prstGeom prst="roundRect">
            <a:avLst>
              <a:gd name="adj" fmla="val 2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21208" y="1664208"/>
            <a:ext cx="749808" cy="292608"/>
          </a:xfrm>
          <a:prstGeom prst="rect">
            <a:avLst/>
          </a:prstGeom>
          <a:noFill/>
        </p:spPr>
        <p:txBody>
          <a:bodyPr wrap="square" lIns="0" rIns="0" tIns="0" bIns="0" anchor="ctr">
            <a:spAutoFit/>
          </a:bodyPr>
          <a:lstStyle/>
          <a:p>
            <a:pPr algn="ctr"/>
            <a:r>
              <a:rPr sz="700" b="1" i="0">
                <a:solidFill>
                  <a:srgbClr val="1A1A1A"/>
                </a:solidFill>
                <a:latin typeface="Trenda IG Text"/>
              </a:rPr>
              <a:t>PM / owner</a:t>
            </a:r>
          </a:p>
        </p:txBody>
      </p:sp>
      <p:sp>
        <p:nvSpPr>
          <p:cNvPr id="11" name="Shape 10"/>
          <p:cNvSpPr/>
          <p:nvPr/>
        </p:nvSpPr>
        <p:spPr>
          <a:xfrm>
            <a:off x="1325880" y="1664208"/>
            <a:ext cx="914400" cy="292608"/>
          </a:xfrm>
          <a:prstGeom prst="roundRect">
            <a:avLst>
              <a:gd name="adj" fmla="val 2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1325880" y="1664208"/>
            <a:ext cx="914400" cy="292608"/>
          </a:xfrm>
          <a:prstGeom prst="rect">
            <a:avLst/>
          </a:prstGeom>
          <a:noFill/>
        </p:spPr>
        <p:txBody>
          <a:bodyPr wrap="square" lIns="0" rIns="0" tIns="0" bIns="0" anchor="ctr">
            <a:spAutoFit/>
          </a:bodyPr>
          <a:lstStyle/>
          <a:p>
            <a:pPr algn="ctr"/>
            <a:r>
              <a:rPr sz="700" b="1" i="0">
                <a:solidFill>
                  <a:srgbClr val="1A1A1A"/>
                </a:solidFill>
                <a:latin typeface="Trenda IG Text"/>
              </a:rPr>
              <a:t>Tech lead / SEM</a:t>
            </a:r>
          </a:p>
        </p:txBody>
      </p:sp>
      <p:sp>
        <p:nvSpPr>
          <p:cNvPr id="13" name="Shape 12"/>
          <p:cNvSpPr/>
          <p:nvPr/>
        </p:nvSpPr>
        <p:spPr>
          <a:xfrm>
            <a:off x="2295144" y="1664208"/>
            <a:ext cx="749808" cy="292608"/>
          </a:xfrm>
          <a:prstGeom prst="roundRect">
            <a:avLst>
              <a:gd name="adj" fmla="val 2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 13"/>
          <p:cNvSpPr txBox="1"/>
          <p:nvPr/>
        </p:nvSpPr>
        <p:spPr>
          <a:xfrm>
            <a:off x="2295144" y="1664208"/>
            <a:ext cx="749808" cy="292608"/>
          </a:xfrm>
          <a:prstGeom prst="rect">
            <a:avLst/>
          </a:prstGeom>
          <a:noFill/>
        </p:spPr>
        <p:txBody>
          <a:bodyPr wrap="square" lIns="0" rIns="0" tIns="0" bIns="0" anchor="ctr">
            <a:spAutoFit/>
          </a:bodyPr>
          <a:lstStyle/>
          <a:p>
            <a:pPr algn="ctr"/>
            <a:r>
              <a:rPr sz="700" b="1" i="0">
                <a:solidFill>
                  <a:srgbClr val="1A1A1A"/>
                </a:solidFill>
                <a:latin typeface="Trenda IG Text"/>
              </a:rPr>
              <a:t>Dev ×2-3</a:t>
            </a:r>
          </a:p>
        </p:txBody>
      </p:sp>
      <p:sp>
        <p:nvSpPr>
          <p:cNvPr id="15" name="Shape 14"/>
          <p:cNvSpPr/>
          <p:nvPr/>
        </p:nvSpPr>
        <p:spPr>
          <a:xfrm>
            <a:off x="3099815" y="1664208"/>
            <a:ext cx="676656" cy="292608"/>
          </a:xfrm>
          <a:prstGeom prst="roundRect">
            <a:avLst>
              <a:gd name="adj" fmla="val 25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3099815" y="1664208"/>
            <a:ext cx="676656" cy="292608"/>
          </a:xfrm>
          <a:prstGeom prst="rect">
            <a:avLst/>
          </a:prstGeom>
          <a:noFill/>
        </p:spPr>
        <p:txBody>
          <a:bodyPr wrap="square" lIns="0" rIns="0" tIns="0" bIns="0" anchor="ctr">
            <a:spAutoFit/>
          </a:bodyPr>
          <a:lstStyle/>
          <a:p>
            <a:pPr algn="ctr"/>
            <a:r>
              <a:rPr sz="700" b="1" i="0">
                <a:solidFill>
                  <a:srgbClr val="1A1A1A"/>
                </a:solidFill>
                <a:latin typeface="Trenda IG Text"/>
              </a:rPr>
              <a:t>QA ×1-2</a:t>
            </a:r>
          </a:p>
        </p:txBody>
      </p:sp>
      <p:sp>
        <p:nvSpPr>
          <p:cNvPr id="17" name="Text 16"/>
          <p:cNvSpPr txBox="1"/>
          <p:nvPr/>
        </p:nvSpPr>
        <p:spPr>
          <a:xfrm>
            <a:off x="521208" y="2066543"/>
            <a:ext cx="2743200" cy="164592"/>
          </a:xfrm>
          <a:prstGeom prst="rect">
            <a:avLst/>
          </a:prstGeom>
          <a:noFill/>
        </p:spPr>
        <p:txBody>
          <a:bodyPr wrap="square" lIns="0" rIns="0" tIns="0" bIns="0" anchor="ctr">
            <a:spAutoFit/>
          </a:bodyPr>
          <a:lstStyle/>
          <a:p>
            <a:r>
              <a:rPr sz="700" b="1" i="0" spc="80">
                <a:solidFill>
                  <a:srgbClr val="0089A0"/>
                </a:solidFill>
                <a:latin typeface="Trenda IG Text"/>
              </a:rPr>
              <a:t>WITH THE FACTORY · ~2.4 PEOPLE</a:t>
            </a:r>
          </a:p>
        </p:txBody>
      </p:sp>
      <p:sp>
        <p:nvSpPr>
          <p:cNvPr id="18" name="Shape 17"/>
          <p:cNvSpPr/>
          <p:nvPr/>
        </p:nvSpPr>
        <p:spPr>
          <a:xfrm>
            <a:off x="521208" y="2249424"/>
            <a:ext cx="896112" cy="292608"/>
          </a:xfrm>
          <a:prstGeom prst="roundRect">
            <a:avLst>
              <a:gd name="adj" fmla="val 25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521208" y="2249424"/>
            <a:ext cx="896112" cy="292608"/>
          </a:xfrm>
          <a:prstGeom prst="rect">
            <a:avLst/>
          </a:prstGeom>
          <a:noFill/>
        </p:spPr>
        <p:txBody>
          <a:bodyPr wrap="square" lIns="0" rIns="0" tIns="0" bIns="0" anchor="ctr">
            <a:spAutoFit/>
          </a:bodyPr>
          <a:lstStyle/>
          <a:p>
            <a:pPr algn="ctr"/>
            <a:r>
              <a:rPr sz="700" b="1" i="0">
                <a:solidFill>
                  <a:srgbClr val="1A1A1A"/>
                </a:solidFill>
                <a:latin typeface="Trenda IG Text"/>
              </a:rPr>
              <a:t>PM / Tech Lead</a:t>
            </a:r>
          </a:p>
        </p:txBody>
      </p:sp>
      <p:sp>
        <p:nvSpPr>
          <p:cNvPr id="20" name="Shape 19"/>
          <p:cNvSpPr/>
          <p:nvPr/>
        </p:nvSpPr>
        <p:spPr>
          <a:xfrm>
            <a:off x="1472184" y="2249424"/>
            <a:ext cx="896112" cy="292608"/>
          </a:xfrm>
          <a:prstGeom prst="roundRect">
            <a:avLst>
              <a:gd name="adj" fmla="val 25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0"/>
          <p:cNvSpPr txBox="1"/>
          <p:nvPr/>
        </p:nvSpPr>
        <p:spPr>
          <a:xfrm>
            <a:off x="1472184" y="2249424"/>
            <a:ext cx="896112" cy="292608"/>
          </a:xfrm>
          <a:prstGeom prst="rect">
            <a:avLst/>
          </a:prstGeom>
          <a:noFill/>
        </p:spPr>
        <p:txBody>
          <a:bodyPr wrap="square" lIns="0" rIns="0" tIns="0" bIns="0" anchor="ctr">
            <a:spAutoFit/>
          </a:bodyPr>
          <a:lstStyle/>
          <a:p>
            <a:pPr algn="ctr"/>
            <a:r>
              <a:rPr sz="700" b="1" i="0">
                <a:solidFill>
                  <a:srgbClr val="1A1A1A"/>
                </a:solidFill>
                <a:latin typeface="Trenda IG Text"/>
              </a:rPr>
              <a:t>Dev / QA</a:t>
            </a:r>
          </a:p>
        </p:txBody>
      </p:sp>
      <p:sp>
        <p:nvSpPr>
          <p:cNvPr id="22" name="Shape 21"/>
          <p:cNvSpPr/>
          <p:nvPr/>
        </p:nvSpPr>
        <p:spPr>
          <a:xfrm>
            <a:off x="2423160" y="2249424"/>
            <a:ext cx="987552" cy="292608"/>
          </a:xfrm>
          <a:prstGeom prst="roundRect">
            <a:avLst>
              <a:gd name="adj" fmla="val 25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harness.png"/>
          <p:cNvPicPr>
            <a:picLocks noChangeAspect="1"/>
          </p:cNvPicPr>
          <p:nvPr/>
        </p:nvPicPr>
        <p:blipFill>
          <a:blip r:embed="rId2"/>
          <a:stretch>
            <a:fillRect/>
          </a:stretch>
        </p:blipFill>
        <p:spPr>
          <a:xfrm>
            <a:off x="2478024" y="2322576"/>
            <a:ext cx="146304" cy="146304"/>
          </a:xfrm>
          <a:prstGeom prst="rect">
            <a:avLst/>
          </a:prstGeom>
        </p:spPr>
      </p:pic>
      <p:sp>
        <p:nvSpPr>
          <p:cNvPr id="24" name="Text 22"/>
          <p:cNvSpPr txBox="1"/>
          <p:nvPr/>
        </p:nvSpPr>
        <p:spPr>
          <a:xfrm>
            <a:off x="2606040" y="2249424"/>
            <a:ext cx="786384" cy="292608"/>
          </a:xfrm>
          <a:prstGeom prst="rect">
            <a:avLst/>
          </a:prstGeom>
          <a:noFill/>
        </p:spPr>
        <p:txBody>
          <a:bodyPr wrap="square" lIns="0" rIns="0" tIns="0" bIns="0" anchor="ctr">
            <a:spAutoFit/>
          </a:bodyPr>
          <a:lstStyle/>
          <a:p>
            <a:pPr algn="ctr"/>
            <a:r>
              <a:rPr sz="700" b="1" i="0">
                <a:solidFill>
                  <a:srgbClr val="0089A0"/>
                </a:solidFill>
                <a:latin typeface="Trenda IG Text"/>
              </a:rPr>
              <a:t>Harness agent</a:t>
            </a:r>
          </a:p>
        </p:txBody>
      </p:sp>
      <p:sp>
        <p:nvSpPr>
          <p:cNvPr id="25" name="Shape 23"/>
          <p:cNvSpPr/>
          <p:nvPr/>
        </p:nvSpPr>
        <p:spPr>
          <a:xfrm>
            <a:off x="3465576" y="2249424"/>
            <a:ext cx="969264" cy="292608"/>
          </a:xfrm>
          <a:prstGeom prst="roundRect">
            <a:avLst>
              <a:gd name="adj" fmla="val 25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4"/>
          <p:cNvSpPr txBox="1"/>
          <p:nvPr/>
        </p:nvSpPr>
        <p:spPr>
          <a:xfrm>
            <a:off x="3465576" y="2249424"/>
            <a:ext cx="969264" cy="292608"/>
          </a:xfrm>
          <a:prstGeom prst="rect">
            <a:avLst/>
          </a:prstGeom>
          <a:noFill/>
        </p:spPr>
        <p:txBody>
          <a:bodyPr wrap="square" lIns="0" rIns="0" tIns="0" bIns="0" anchor="ctr">
            <a:spAutoFit/>
          </a:bodyPr>
          <a:lstStyle/>
          <a:p>
            <a:pPr algn="ctr"/>
            <a:r>
              <a:rPr sz="700" b="1" i="0">
                <a:solidFill>
                  <a:srgbClr val="1A1A1A"/>
                </a:solidFill>
                <a:latin typeface="Trenda IG Text"/>
              </a:rPr>
              <a:t>PM / TL · shared</a:t>
            </a:r>
          </a:p>
        </p:txBody>
      </p:sp>
      <p:sp>
        <p:nvSpPr>
          <p:cNvPr id="27" name="Text 25"/>
          <p:cNvSpPr txBox="1"/>
          <p:nvPr/>
        </p:nvSpPr>
        <p:spPr>
          <a:xfrm>
            <a:off x="521208" y="2596896"/>
            <a:ext cx="3986783" cy="365760"/>
          </a:xfrm>
          <a:prstGeom prst="rect">
            <a:avLst/>
          </a:prstGeom>
          <a:noFill/>
        </p:spPr>
        <p:txBody>
          <a:bodyPr wrap="square" lIns="0" rIns="0" tIns="0" bIns="0" anchor="t">
            <a:spAutoFit/>
          </a:bodyPr>
          <a:lstStyle/>
          <a:p>
            <a:r>
              <a:rPr sz="700" b="1" i="0">
                <a:solidFill>
                  <a:srgbClr val="0089A0"/>
                </a:solidFill>
                <a:latin typeface="Trenda IG Text"/>
              </a:rPr>
              <a:t>Agent </a:t>
            </a:r>
            <a:r>
              <a:rPr sz="700" b="0" i="0">
                <a:solidFill>
                  <a:srgbClr val="1A1A1A"/>
                </a:solidFill>
                <a:latin typeface="Trenda IG Text"/>
              </a:rPr>
              <a:t>drafts code, tests and the Copado package. </a:t>
            </a:r>
            <a:r>
              <a:rPr sz="700" b="1" i="0">
                <a:solidFill>
                  <a:srgbClr val="1A1A1A"/>
                </a:solidFill>
                <a:latin typeface="Trenda IG Text"/>
              </a:rPr>
              <a:t>Dev / QA </a:t>
            </a:r>
            <a:r>
              <a:rPr sz="700" b="0" i="0">
                <a:solidFill>
                  <a:srgbClr val="1A1A1A"/>
                </a:solidFill>
                <a:latin typeface="Trenda IG Text"/>
              </a:rPr>
              <a:t>directs it and verifies. </a:t>
            </a:r>
            <a:r>
              <a:rPr sz="700" b="1" i="0">
                <a:solidFill>
                  <a:srgbClr val="1A1A1A"/>
                </a:solidFill>
                <a:latin typeface="Trenda IG Text"/>
              </a:rPr>
              <a:t>PM / TL </a:t>
            </a:r>
            <a:r>
              <a:rPr sz="700" b="0" i="0">
                <a:solidFill>
                  <a:srgbClr val="1A1A1A"/>
                </a:solidFill>
                <a:latin typeface="Trenda IG Text"/>
              </a:rPr>
              <a:t>owns it and approves at H3; one more is shared by 2-3 squads.</a:t>
            </a:r>
          </a:p>
        </p:txBody>
      </p:sp>
      <p:sp>
        <p:nvSpPr>
          <p:cNvPr id="28" name="Shape 26"/>
          <p:cNvSpPr/>
          <p:nvPr/>
        </p:nvSpPr>
        <p:spPr>
          <a:xfrm>
            <a:off x="4727448" y="1170432"/>
            <a:ext cx="4206240" cy="1828800"/>
          </a:xfrm>
          <a:prstGeom prst="roundRect">
            <a:avLst>
              <a:gd name="adj" fmla="val 3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ape 27"/>
          <p:cNvSpPr/>
          <p:nvPr/>
        </p:nvSpPr>
        <p:spPr>
          <a:xfrm>
            <a:off x="4727448" y="1170432"/>
            <a:ext cx="4206240" cy="256032"/>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8"/>
          <p:cNvSpPr txBox="1"/>
          <p:nvPr/>
        </p:nvSpPr>
        <p:spPr>
          <a:xfrm>
            <a:off x="4837176" y="1170432"/>
            <a:ext cx="3986783" cy="256032"/>
          </a:xfrm>
          <a:prstGeom prst="rect">
            <a:avLst/>
          </a:prstGeom>
          <a:noFill/>
        </p:spPr>
        <p:txBody>
          <a:bodyPr wrap="square" lIns="0" rIns="0" tIns="0" bIns="0" anchor="ctr">
            <a:spAutoFit/>
          </a:bodyPr>
          <a:lstStyle/>
          <a:p>
            <a:r>
              <a:rPr sz="700" b="1" i="0" spc="120">
                <a:solidFill>
                  <a:srgbClr val="1A1A1A"/>
                </a:solidFill>
                <a:latin typeface="Trenda IG Text"/>
              </a:rPr>
              <a:t>WHAT CHANGES FOR EVERY POD</a:t>
            </a:r>
          </a:p>
        </p:txBody>
      </p:sp>
      <p:sp>
        <p:nvSpPr>
          <p:cNvPr id="31" name="Shape 29"/>
          <p:cNvSpPr/>
          <p:nvPr/>
        </p:nvSpPr>
        <p:spPr>
          <a:xfrm>
            <a:off x="4837176" y="1517904"/>
            <a:ext cx="3986783" cy="4297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hape 30"/>
          <p:cNvSpPr/>
          <p:nvPr/>
        </p:nvSpPr>
        <p:spPr>
          <a:xfrm>
            <a:off x="4837176" y="1517904"/>
            <a:ext cx="45720" cy="429768"/>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salesforce.png"/>
          <p:cNvPicPr>
            <a:picLocks noChangeAspect="1"/>
          </p:cNvPicPr>
          <p:nvPr/>
        </p:nvPicPr>
        <p:blipFill>
          <a:blip r:embed="rId3"/>
          <a:stretch>
            <a:fillRect/>
          </a:stretch>
        </p:blipFill>
        <p:spPr>
          <a:xfrm>
            <a:off x="4965192" y="1572768"/>
            <a:ext cx="164592" cy="164592"/>
          </a:xfrm>
          <a:prstGeom prst="rect">
            <a:avLst/>
          </a:prstGeom>
        </p:spPr>
      </p:pic>
      <p:sp>
        <p:nvSpPr>
          <p:cNvPr id="34" name="Text 31"/>
          <p:cNvSpPr txBox="1"/>
          <p:nvPr/>
        </p:nvSpPr>
        <p:spPr>
          <a:xfrm>
            <a:off x="5184648" y="1545336"/>
            <a:ext cx="3602735" cy="182880"/>
          </a:xfrm>
          <a:prstGeom prst="rect">
            <a:avLst/>
          </a:prstGeom>
          <a:noFill/>
        </p:spPr>
        <p:txBody>
          <a:bodyPr wrap="square" lIns="0" rIns="0" tIns="0" bIns="0" anchor="ctr">
            <a:spAutoFit/>
          </a:bodyPr>
          <a:lstStyle/>
          <a:p>
            <a:r>
              <a:rPr sz="740" b="1" i="0">
                <a:solidFill>
                  <a:srgbClr val="1A1A1A"/>
                </a:solidFill>
                <a:latin typeface="Trenda IG Text"/>
              </a:rPr>
              <a:t>Health Cloud pods</a:t>
            </a:r>
          </a:p>
        </p:txBody>
      </p:sp>
      <p:sp>
        <p:nvSpPr>
          <p:cNvPr id="35" name="Text 32"/>
          <p:cNvSpPr txBox="1"/>
          <p:nvPr/>
        </p:nvSpPr>
        <p:spPr>
          <a:xfrm>
            <a:off x="4965192" y="1728216"/>
            <a:ext cx="3803903" cy="219456"/>
          </a:xfrm>
          <a:prstGeom prst="rect">
            <a:avLst/>
          </a:prstGeom>
          <a:noFill/>
        </p:spPr>
        <p:txBody>
          <a:bodyPr wrap="square" lIns="0" rIns="0" tIns="0" bIns="0" anchor="ctr">
            <a:spAutoFit/>
          </a:bodyPr>
          <a:lstStyle/>
          <a:p>
            <a:r>
              <a:rPr sz="700" b="0" i="0">
                <a:solidFill>
                  <a:srgbClr val="1A1A1A"/>
                </a:solidFill>
                <a:latin typeface="Trenda IG Text"/>
              </a:rPr>
              <a:t>Jira story to UAT in about 2 days, not about 2 weeks</a:t>
            </a:r>
          </a:p>
        </p:txBody>
      </p:sp>
      <p:sp>
        <p:nvSpPr>
          <p:cNvPr id="36" name="Shape 33"/>
          <p:cNvSpPr/>
          <p:nvPr/>
        </p:nvSpPr>
        <p:spPr>
          <a:xfrm>
            <a:off x="4837176" y="2002536"/>
            <a:ext cx="3986783" cy="4297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hape 34"/>
          <p:cNvSpPr/>
          <p:nvPr/>
        </p:nvSpPr>
        <p:spPr>
          <a:xfrm>
            <a:off x="4837176" y="2002536"/>
            <a:ext cx="45720" cy="429768"/>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salesforce.png"/>
          <p:cNvPicPr>
            <a:picLocks noChangeAspect="1"/>
          </p:cNvPicPr>
          <p:nvPr/>
        </p:nvPicPr>
        <p:blipFill>
          <a:blip r:embed="rId3"/>
          <a:stretch>
            <a:fillRect/>
          </a:stretch>
        </p:blipFill>
        <p:spPr>
          <a:xfrm>
            <a:off x="4965192" y="2057400"/>
            <a:ext cx="164592" cy="164592"/>
          </a:xfrm>
          <a:prstGeom prst="rect">
            <a:avLst/>
          </a:prstGeom>
        </p:spPr>
      </p:pic>
      <p:sp>
        <p:nvSpPr>
          <p:cNvPr id="39" name="Text 35"/>
          <p:cNvSpPr txBox="1"/>
          <p:nvPr/>
        </p:nvSpPr>
        <p:spPr>
          <a:xfrm>
            <a:off x="5184648" y="2029968"/>
            <a:ext cx="3602735" cy="182880"/>
          </a:xfrm>
          <a:prstGeom prst="rect">
            <a:avLst/>
          </a:prstGeom>
          <a:noFill/>
        </p:spPr>
        <p:txBody>
          <a:bodyPr wrap="square" lIns="0" rIns="0" tIns="0" bIns="0" anchor="ctr">
            <a:spAutoFit/>
          </a:bodyPr>
          <a:lstStyle/>
          <a:p>
            <a:r>
              <a:rPr sz="740" b="1" i="0">
                <a:solidFill>
                  <a:srgbClr val="1A1A1A"/>
                </a:solidFill>
                <a:latin typeface="Trenda IG Text"/>
              </a:rPr>
              <a:t>Marketing Cloud pods</a:t>
            </a:r>
          </a:p>
        </p:txBody>
      </p:sp>
      <p:sp>
        <p:nvSpPr>
          <p:cNvPr id="40" name="Text 36"/>
          <p:cNvSpPr txBox="1"/>
          <p:nvPr/>
        </p:nvSpPr>
        <p:spPr>
          <a:xfrm>
            <a:off x="4965192" y="2212848"/>
            <a:ext cx="3803903" cy="219456"/>
          </a:xfrm>
          <a:prstGeom prst="rect">
            <a:avLst/>
          </a:prstGeom>
          <a:noFill/>
        </p:spPr>
        <p:txBody>
          <a:bodyPr wrap="square" lIns="0" rIns="0" tIns="0" bIns="0" anchor="ctr">
            <a:spAutoFit/>
          </a:bodyPr>
          <a:lstStyle/>
          <a:p>
            <a:r>
              <a:rPr sz="700" b="0" i="0">
                <a:solidFill>
                  <a:srgbClr val="1A1A1A"/>
                </a:solidFill>
                <a:latin typeface="Trenda IG Text"/>
              </a:rPr>
              <a:t>campaigns build on governed data that is already ready; no data preparation per campaign</a:t>
            </a:r>
          </a:p>
        </p:txBody>
      </p:sp>
      <p:sp>
        <p:nvSpPr>
          <p:cNvPr id="41" name="Shape 37"/>
          <p:cNvSpPr/>
          <p:nvPr/>
        </p:nvSpPr>
        <p:spPr>
          <a:xfrm>
            <a:off x="4837176" y="2487168"/>
            <a:ext cx="3986783" cy="429768"/>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38"/>
          <p:cNvSpPr/>
          <p:nvPr/>
        </p:nvSpPr>
        <p:spPr>
          <a:xfrm>
            <a:off x="4837176" y="2487168"/>
            <a:ext cx="45720" cy="429768"/>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39"/>
          <p:cNvSpPr txBox="1"/>
          <p:nvPr/>
        </p:nvSpPr>
        <p:spPr>
          <a:xfrm>
            <a:off x="4965192" y="2514600"/>
            <a:ext cx="3822191" cy="182880"/>
          </a:xfrm>
          <a:prstGeom prst="rect">
            <a:avLst/>
          </a:prstGeom>
          <a:noFill/>
        </p:spPr>
        <p:txBody>
          <a:bodyPr wrap="square" lIns="0" rIns="0" tIns="0" bIns="0" anchor="ctr">
            <a:spAutoFit/>
          </a:bodyPr>
          <a:lstStyle/>
          <a:p>
            <a:r>
              <a:rPr sz="740" b="1" i="0">
                <a:solidFill>
                  <a:srgbClr val="1A1A1A"/>
                </a:solidFill>
                <a:latin typeface="Trenda IG Text"/>
              </a:rPr>
              <a:t>Sierra pod</a:t>
            </a:r>
          </a:p>
        </p:txBody>
      </p:sp>
      <p:sp>
        <p:nvSpPr>
          <p:cNvPr id="44" name="Text 40"/>
          <p:cNvSpPr txBox="1"/>
          <p:nvPr/>
        </p:nvSpPr>
        <p:spPr>
          <a:xfrm>
            <a:off x="4965192" y="2697480"/>
            <a:ext cx="3803903" cy="219456"/>
          </a:xfrm>
          <a:prstGeom prst="rect">
            <a:avLst/>
          </a:prstGeom>
          <a:noFill/>
        </p:spPr>
        <p:txBody>
          <a:bodyPr wrap="square" lIns="0" rIns="0" tIns="0" bIns="0" anchor="ctr">
            <a:spAutoFit/>
          </a:bodyPr>
          <a:lstStyle/>
          <a:p>
            <a:r>
              <a:rPr sz="700" b="0" i="0">
                <a:solidFill>
                  <a:srgbClr val="1A1A1A"/>
                </a:solidFill>
                <a:latin typeface="Trenda IG Text"/>
              </a:rPr>
              <a:t>answers from governed articles; bookings through scoped APIs, caller verified first</a:t>
            </a:r>
          </a:p>
        </p:txBody>
      </p:sp>
      <p:sp>
        <p:nvSpPr>
          <p:cNvPr id="45" name="Shape 41"/>
          <p:cNvSpPr/>
          <p:nvPr/>
        </p:nvSpPr>
        <p:spPr>
          <a:xfrm>
            <a:off x="9043415" y="1170432"/>
            <a:ext cx="2734056" cy="1828800"/>
          </a:xfrm>
          <a:prstGeom prst="roundRect">
            <a:avLst>
              <a:gd name="adj" fmla="val 3000"/>
            </a:avLst>
          </a:prstGeom>
          <a:solidFill>
            <a:srgbClr val="F5F5F5"/>
          </a:solidFill>
          <a:ln w="635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Shape 42"/>
          <p:cNvSpPr/>
          <p:nvPr/>
        </p:nvSpPr>
        <p:spPr>
          <a:xfrm>
            <a:off x="9043415" y="1170432"/>
            <a:ext cx="2734056"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ext 43"/>
          <p:cNvSpPr txBox="1"/>
          <p:nvPr/>
        </p:nvSpPr>
        <p:spPr>
          <a:xfrm>
            <a:off x="9153143" y="1170432"/>
            <a:ext cx="2514600" cy="256032"/>
          </a:xfrm>
          <a:prstGeom prst="rect">
            <a:avLst/>
          </a:prstGeom>
          <a:noFill/>
        </p:spPr>
        <p:txBody>
          <a:bodyPr wrap="square" lIns="0" rIns="0" tIns="0" bIns="0" anchor="ctr">
            <a:spAutoFit/>
          </a:bodyPr>
          <a:lstStyle/>
          <a:p>
            <a:r>
              <a:rPr sz="700" b="1" i="0" spc="120">
                <a:solidFill>
                  <a:srgbClr val="1A1A1A"/>
                </a:solidFill>
                <a:latin typeface="Trenda IG Text"/>
              </a:rPr>
              <a:t>BUILD AND RUN</a:t>
            </a:r>
          </a:p>
        </p:txBody>
      </p:sp>
      <p:sp>
        <p:nvSpPr>
          <p:cNvPr id="48" name="Shape 44"/>
          <p:cNvSpPr/>
          <p:nvPr/>
        </p:nvSpPr>
        <p:spPr>
          <a:xfrm>
            <a:off x="9153143" y="1517904"/>
            <a:ext cx="789432" cy="914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5"/>
          <p:cNvSpPr txBox="1"/>
          <p:nvPr/>
        </p:nvSpPr>
        <p:spPr>
          <a:xfrm>
            <a:off x="9226295" y="1554480"/>
            <a:ext cx="679704" cy="384048"/>
          </a:xfrm>
          <a:prstGeom prst="rect">
            <a:avLst/>
          </a:prstGeom>
          <a:noFill/>
        </p:spPr>
        <p:txBody>
          <a:bodyPr wrap="square" lIns="0" rIns="0" tIns="0" bIns="0" anchor="ctr">
            <a:spAutoFit/>
          </a:bodyPr>
          <a:lstStyle/>
          <a:p>
            <a:r>
              <a:rPr sz="1800" b="0" i="0">
                <a:solidFill>
                  <a:srgbClr val="0089A0"/>
                </a:solidFill>
                <a:latin typeface="Trenda IG Text"/>
              </a:rPr>
              <a:t>17</a:t>
            </a:r>
          </a:p>
        </p:txBody>
      </p:sp>
      <p:sp>
        <p:nvSpPr>
          <p:cNvPr id="50" name="Text 46"/>
          <p:cNvSpPr txBox="1"/>
          <p:nvPr/>
        </p:nvSpPr>
        <p:spPr>
          <a:xfrm>
            <a:off x="9226295" y="1956816"/>
            <a:ext cx="679704" cy="438912"/>
          </a:xfrm>
          <a:prstGeom prst="rect">
            <a:avLst/>
          </a:prstGeom>
          <a:noFill/>
        </p:spPr>
        <p:txBody>
          <a:bodyPr wrap="square" lIns="0" rIns="0" tIns="0" bIns="0" anchor="t">
            <a:spAutoFit/>
          </a:bodyPr>
          <a:lstStyle/>
          <a:p>
            <a:r>
              <a:rPr sz="700" b="0" i="0">
                <a:solidFill>
                  <a:srgbClr val="1A1A1A"/>
                </a:solidFill>
                <a:latin typeface="Trenda IG Text"/>
              </a:rPr>
              <a:t>people at peak, 10 roles</a:t>
            </a:r>
          </a:p>
        </p:txBody>
      </p:sp>
      <p:sp>
        <p:nvSpPr>
          <p:cNvPr id="51" name="Shape 47"/>
          <p:cNvSpPr/>
          <p:nvPr/>
        </p:nvSpPr>
        <p:spPr>
          <a:xfrm>
            <a:off x="10015727" y="1517904"/>
            <a:ext cx="789432" cy="914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8"/>
          <p:cNvSpPr txBox="1"/>
          <p:nvPr/>
        </p:nvSpPr>
        <p:spPr>
          <a:xfrm>
            <a:off x="10088879" y="1554480"/>
            <a:ext cx="679704" cy="384048"/>
          </a:xfrm>
          <a:prstGeom prst="rect">
            <a:avLst/>
          </a:prstGeom>
          <a:noFill/>
        </p:spPr>
        <p:txBody>
          <a:bodyPr wrap="square" lIns="0" rIns="0" tIns="0" bIns="0" anchor="ctr">
            <a:spAutoFit/>
          </a:bodyPr>
          <a:lstStyle/>
          <a:p>
            <a:r>
              <a:rPr sz="1800" b="0" i="0">
                <a:solidFill>
                  <a:srgbClr val="0089A0"/>
                </a:solidFill>
                <a:latin typeface="Trenda IG Text"/>
              </a:rPr>
              <a:t>18</a:t>
            </a:r>
          </a:p>
        </p:txBody>
      </p:sp>
      <p:sp>
        <p:nvSpPr>
          <p:cNvPr id="53" name="Text 49"/>
          <p:cNvSpPr txBox="1"/>
          <p:nvPr/>
        </p:nvSpPr>
        <p:spPr>
          <a:xfrm>
            <a:off x="10088879" y="1956816"/>
            <a:ext cx="679704" cy="438912"/>
          </a:xfrm>
          <a:prstGeom prst="rect">
            <a:avLst/>
          </a:prstGeom>
          <a:noFill/>
        </p:spPr>
        <p:txBody>
          <a:bodyPr wrap="square" lIns="0" rIns="0" tIns="0" bIns="0" anchor="t">
            <a:spAutoFit/>
          </a:bodyPr>
          <a:lstStyle/>
          <a:p>
            <a:r>
              <a:rPr sz="700" b="0" i="0">
                <a:solidFill>
                  <a:srgbClr val="1A1A1A"/>
                </a:solidFill>
                <a:latin typeface="Trenda IG Text"/>
              </a:rPr>
              <a:t>months to every pod live</a:t>
            </a:r>
          </a:p>
        </p:txBody>
      </p:sp>
      <p:sp>
        <p:nvSpPr>
          <p:cNvPr id="54" name="Shape 50"/>
          <p:cNvSpPr/>
          <p:nvPr/>
        </p:nvSpPr>
        <p:spPr>
          <a:xfrm>
            <a:off x="10878311" y="1517904"/>
            <a:ext cx="789432" cy="9144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1"/>
          <p:cNvSpPr txBox="1"/>
          <p:nvPr/>
        </p:nvSpPr>
        <p:spPr>
          <a:xfrm>
            <a:off x="10951463" y="1554480"/>
            <a:ext cx="679704" cy="384048"/>
          </a:xfrm>
          <a:prstGeom prst="rect">
            <a:avLst/>
          </a:prstGeom>
          <a:noFill/>
        </p:spPr>
        <p:txBody>
          <a:bodyPr wrap="square" lIns="0" rIns="0" tIns="0" bIns="0" anchor="ctr">
            <a:spAutoFit/>
          </a:bodyPr>
          <a:lstStyle/>
          <a:p>
            <a:r>
              <a:rPr sz="1800" b="0" i="0">
                <a:solidFill>
                  <a:srgbClr val="0089A0"/>
                </a:solidFill>
                <a:latin typeface="Trenda IG Text"/>
              </a:rPr>
              <a:t>4</a:t>
            </a:r>
          </a:p>
        </p:txBody>
      </p:sp>
      <p:sp>
        <p:nvSpPr>
          <p:cNvPr id="56" name="Text 52"/>
          <p:cNvSpPr txBox="1"/>
          <p:nvPr/>
        </p:nvSpPr>
        <p:spPr>
          <a:xfrm>
            <a:off x="10951463" y="1956816"/>
            <a:ext cx="679704" cy="438912"/>
          </a:xfrm>
          <a:prstGeom prst="rect">
            <a:avLst/>
          </a:prstGeom>
          <a:noFill/>
        </p:spPr>
        <p:txBody>
          <a:bodyPr wrap="square" lIns="0" rIns="0" tIns="0" bIns="0" anchor="t">
            <a:spAutoFit/>
          </a:bodyPr>
          <a:lstStyle/>
          <a:p>
            <a:r>
              <a:rPr sz="700" b="0" i="0">
                <a:solidFill>
                  <a:srgbClr val="1A1A1A"/>
                </a:solidFill>
                <a:latin typeface="Trenda IG Text"/>
              </a:rPr>
              <a:t>run team from month 19</a:t>
            </a:r>
          </a:p>
        </p:txBody>
      </p:sp>
      <p:sp>
        <p:nvSpPr>
          <p:cNvPr id="57" name="Text 53"/>
          <p:cNvSpPr txBox="1"/>
          <p:nvPr/>
        </p:nvSpPr>
        <p:spPr>
          <a:xfrm>
            <a:off x="9153143" y="2505456"/>
            <a:ext cx="2514600" cy="457200"/>
          </a:xfrm>
          <a:prstGeom prst="rect">
            <a:avLst/>
          </a:prstGeom>
          <a:noFill/>
        </p:spPr>
        <p:txBody>
          <a:bodyPr wrap="square" lIns="0" rIns="0" tIns="0" bIns="0" anchor="ctr">
            <a:spAutoFit/>
          </a:bodyPr>
          <a:lstStyle/>
          <a:p>
            <a:r>
              <a:rPr sz="700" b="0" i="0">
                <a:solidFill>
                  <a:srgbClr val="1A1A1A"/>
                </a:solidFill>
                <a:latin typeface="Trenda IG Text"/>
              </a:rPr>
              <a:t>The run team keeps the graph, agents, rules and evals current once every pod is live.</a:t>
            </a:r>
          </a:p>
        </p:txBody>
      </p:sp>
      <p:sp>
        <p:nvSpPr>
          <p:cNvPr id="58" name="Shape 54"/>
          <p:cNvSpPr/>
          <p:nvPr/>
        </p:nvSpPr>
        <p:spPr>
          <a:xfrm>
            <a:off x="411480" y="3145536"/>
            <a:ext cx="3691127" cy="1755648"/>
          </a:xfrm>
          <a:prstGeom prst="roundRect">
            <a:avLst>
              <a:gd name="adj" fmla="val 3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 55"/>
          <p:cNvSpPr txBox="1"/>
          <p:nvPr/>
        </p:nvSpPr>
        <p:spPr>
          <a:xfrm>
            <a:off x="557784" y="3218688"/>
            <a:ext cx="1828800" cy="256032"/>
          </a:xfrm>
          <a:prstGeom prst="rect">
            <a:avLst/>
          </a:prstGeom>
          <a:noFill/>
        </p:spPr>
        <p:txBody>
          <a:bodyPr wrap="square" lIns="0" rIns="0" tIns="0" bIns="0" anchor="ctr">
            <a:spAutoFit/>
          </a:bodyPr>
          <a:lstStyle/>
          <a:p>
            <a:r>
              <a:rPr sz="1100" b="1" i="0">
                <a:solidFill>
                  <a:srgbClr val="1A1A1A"/>
                </a:solidFill>
                <a:latin typeface="Trenda IG Text"/>
              </a:rPr>
              <a:t>Year 1</a:t>
            </a:r>
          </a:p>
        </p:txBody>
      </p:sp>
      <p:sp>
        <p:nvSpPr>
          <p:cNvPr id="60" name="Text 56"/>
          <p:cNvSpPr txBox="1"/>
          <p:nvPr/>
        </p:nvSpPr>
        <p:spPr>
          <a:xfrm>
            <a:off x="557784" y="3511296"/>
            <a:ext cx="1280160" cy="146304"/>
          </a:xfrm>
          <a:prstGeom prst="rect">
            <a:avLst/>
          </a:prstGeom>
          <a:noFill/>
        </p:spPr>
        <p:txBody>
          <a:bodyPr wrap="square" lIns="0" rIns="0" tIns="0" bIns="0" anchor="ctr">
            <a:spAutoFit/>
          </a:bodyPr>
          <a:lstStyle/>
          <a:p>
            <a:r>
              <a:rPr sz="700" b="1" i="0" spc="100">
                <a:solidFill>
                  <a:srgbClr val="6B6B6B"/>
                </a:solidFill>
                <a:latin typeface="Trenda IG Text"/>
              </a:rPr>
              <a:t>TODAY</a:t>
            </a:r>
          </a:p>
        </p:txBody>
      </p:sp>
      <p:sp>
        <p:nvSpPr>
          <p:cNvPr id="61" name="Text 57"/>
          <p:cNvSpPr txBox="1"/>
          <p:nvPr/>
        </p:nvSpPr>
        <p:spPr>
          <a:xfrm>
            <a:off x="2011680" y="3511296"/>
            <a:ext cx="1828800" cy="146304"/>
          </a:xfrm>
          <a:prstGeom prst="rect">
            <a:avLst/>
          </a:prstGeom>
          <a:noFill/>
        </p:spPr>
        <p:txBody>
          <a:bodyPr wrap="square" lIns="0" rIns="0" tIns="0" bIns="0" anchor="ctr">
            <a:spAutoFit/>
          </a:bodyPr>
          <a:lstStyle/>
          <a:p>
            <a:r>
              <a:rPr sz="700" b="1" i="0" spc="100">
                <a:solidFill>
                  <a:srgbClr val="0089A0"/>
                </a:solidFill>
                <a:latin typeface="Trenda IG Text"/>
              </a:rPr>
              <a:t>WITH THE FACTORY</a:t>
            </a:r>
          </a:p>
        </p:txBody>
      </p:sp>
      <p:sp>
        <p:nvSpPr>
          <p:cNvPr id="62" name="Text 58"/>
          <p:cNvSpPr txBox="1"/>
          <p:nvPr/>
        </p:nvSpPr>
        <p:spPr>
          <a:xfrm>
            <a:off x="557784" y="3657600"/>
            <a:ext cx="1280160" cy="329184"/>
          </a:xfrm>
          <a:prstGeom prst="rect">
            <a:avLst/>
          </a:prstGeom>
          <a:noFill/>
        </p:spPr>
        <p:txBody>
          <a:bodyPr wrap="square" lIns="0" rIns="0" tIns="0" bIns="0" anchor="ctr">
            <a:spAutoFit/>
          </a:bodyPr>
          <a:lstStyle/>
          <a:p>
            <a:r>
              <a:rPr sz="1800" b="0" i="0">
                <a:solidFill>
                  <a:srgbClr val="6B6B6B"/>
                </a:solidFill>
                <a:latin typeface="Trenda IG Text"/>
              </a:rPr>
              <a:t>$16.0M</a:t>
            </a:r>
          </a:p>
        </p:txBody>
      </p:sp>
      <p:cxnSp>
        <p:nvCxnSpPr>
          <p:cNvPr id="63" name="Arrow 59"/>
          <p:cNvCxnSpPr/>
          <p:nvPr/>
        </p:nvCxnSpPr>
        <p:spPr>
          <a:xfrm>
            <a:off x="1508760" y="3822192"/>
            <a:ext cx="36576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 60"/>
          <p:cNvSpPr txBox="1"/>
          <p:nvPr/>
        </p:nvSpPr>
        <p:spPr>
          <a:xfrm>
            <a:off x="2011680" y="3657600"/>
            <a:ext cx="1828800" cy="329184"/>
          </a:xfrm>
          <a:prstGeom prst="rect">
            <a:avLst/>
          </a:prstGeom>
          <a:noFill/>
        </p:spPr>
        <p:txBody>
          <a:bodyPr wrap="square" lIns="0" rIns="0" tIns="0" bIns="0" anchor="ctr">
            <a:spAutoFit/>
          </a:bodyPr>
          <a:lstStyle/>
          <a:p>
            <a:r>
              <a:rPr sz="1800" b="0" i="0">
                <a:solidFill>
                  <a:srgbClr val="1A1A1A"/>
                </a:solidFill>
                <a:latin typeface="Trenda IG Text"/>
              </a:rPr>
              <a:t>$11.2M</a:t>
            </a:r>
          </a:p>
        </p:txBody>
      </p:sp>
      <p:sp>
        <p:nvSpPr>
          <p:cNvPr id="65" name="Differentiator Border 62"/>
          <p:cNvSpPr/>
          <p:nvPr/>
        </p:nvSpPr>
        <p:spPr>
          <a:xfrm>
            <a:off x="557784"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hape 63"/>
          <p:cNvSpPr/>
          <p:nvPr/>
        </p:nvSpPr>
        <p:spPr>
          <a:xfrm>
            <a:off x="585216" y="4087368"/>
            <a:ext cx="3343655"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4"/>
          <p:cNvSpPr txBox="1"/>
          <p:nvPr/>
        </p:nvSpPr>
        <p:spPr>
          <a:xfrm>
            <a:off x="694944" y="4087368"/>
            <a:ext cx="1828800" cy="457200"/>
          </a:xfrm>
          <a:prstGeom prst="rect">
            <a:avLst/>
          </a:prstGeom>
          <a:noFill/>
        </p:spPr>
        <p:txBody>
          <a:bodyPr wrap="square" lIns="0" rIns="0" tIns="0" bIns="0" anchor="ctr">
            <a:spAutoFit/>
          </a:bodyPr>
          <a:lstStyle/>
          <a:p>
            <a:r>
              <a:rPr sz="700" b="1" i="0" spc="120">
                <a:solidFill>
                  <a:srgbClr val="0089A0"/>
                </a:solidFill>
                <a:latin typeface="Trenda IG Text"/>
              </a:rPr>
              <a:t>SAVES</a:t>
            </a:r>
          </a:p>
          <a:p>
            <a:r>
              <a:rPr sz="700" b="0" i="0">
                <a:solidFill>
                  <a:srgbClr val="1A1A1A"/>
                </a:solidFill>
                <a:latin typeface="Trenda IG Text"/>
              </a:rPr>
              <a:t>30% of the year's spend</a:t>
            </a:r>
          </a:p>
        </p:txBody>
      </p:sp>
      <p:sp>
        <p:nvSpPr>
          <p:cNvPr id="68" name="Text 65"/>
          <p:cNvSpPr txBox="1"/>
          <p:nvPr/>
        </p:nvSpPr>
        <p:spPr>
          <a:xfrm>
            <a:off x="2557271" y="4087368"/>
            <a:ext cx="1280160" cy="457200"/>
          </a:xfrm>
          <a:prstGeom prst="rect">
            <a:avLst/>
          </a:prstGeom>
          <a:noFill/>
        </p:spPr>
        <p:txBody>
          <a:bodyPr wrap="square" lIns="0" rIns="0" tIns="0" bIns="0" anchor="ctr">
            <a:spAutoFit/>
          </a:bodyPr>
          <a:lstStyle/>
          <a:p>
            <a:pPr algn="r"/>
            <a:r>
              <a:rPr sz="2200" b="0" i="0">
                <a:solidFill>
                  <a:srgbClr val="1A1A1A"/>
                </a:solidFill>
                <a:latin typeface="Trenda IG Text"/>
              </a:rPr>
              <a:t>$4.8M</a:t>
            </a:r>
          </a:p>
        </p:txBody>
      </p:sp>
      <p:sp>
        <p:nvSpPr>
          <p:cNvPr id="69" name="Text 66"/>
          <p:cNvSpPr txBox="1"/>
          <p:nvPr/>
        </p:nvSpPr>
        <p:spPr>
          <a:xfrm>
            <a:off x="557784" y="4608576"/>
            <a:ext cx="3398519" cy="256032"/>
          </a:xfrm>
          <a:prstGeom prst="rect">
            <a:avLst/>
          </a:prstGeom>
          <a:noFill/>
        </p:spPr>
        <p:txBody>
          <a:bodyPr wrap="square" lIns="0" rIns="0" tIns="0" bIns="0" anchor="ctr">
            <a:spAutoFit/>
          </a:bodyPr>
          <a:lstStyle/>
          <a:p>
            <a:r>
              <a:rPr sz="700" b="0" i="0">
                <a:solidFill>
                  <a:srgbClr val="1A1A1A"/>
                </a:solidFill>
                <a:latin typeface="Trenda IG Text"/>
              </a:rPr>
              <a:t>Pods go live through the year.</a:t>
            </a:r>
          </a:p>
        </p:txBody>
      </p:sp>
      <p:sp>
        <p:nvSpPr>
          <p:cNvPr id="70" name="Shape 67"/>
          <p:cNvSpPr/>
          <p:nvPr/>
        </p:nvSpPr>
        <p:spPr>
          <a:xfrm>
            <a:off x="4248912" y="3145536"/>
            <a:ext cx="3691127" cy="1755648"/>
          </a:xfrm>
          <a:prstGeom prst="roundRect">
            <a:avLst>
              <a:gd name="adj" fmla="val 3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8"/>
          <p:cNvSpPr txBox="1"/>
          <p:nvPr/>
        </p:nvSpPr>
        <p:spPr>
          <a:xfrm>
            <a:off x="4395216" y="3218688"/>
            <a:ext cx="1828800" cy="256032"/>
          </a:xfrm>
          <a:prstGeom prst="rect">
            <a:avLst/>
          </a:prstGeom>
          <a:noFill/>
        </p:spPr>
        <p:txBody>
          <a:bodyPr wrap="square" lIns="0" rIns="0" tIns="0" bIns="0" anchor="ctr">
            <a:spAutoFit/>
          </a:bodyPr>
          <a:lstStyle/>
          <a:p>
            <a:r>
              <a:rPr sz="1100" b="1" i="0">
                <a:solidFill>
                  <a:srgbClr val="1A1A1A"/>
                </a:solidFill>
                <a:latin typeface="Trenda IG Text"/>
              </a:rPr>
              <a:t>Year 2</a:t>
            </a:r>
          </a:p>
        </p:txBody>
      </p:sp>
      <p:sp>
        <p:nvSpPr>
          <p:cNvPr id="72" name="Text 69"/>
          <p:cNvSpPr txBox="1"/>
          <p:nvPr/>
        </p:nvSpPr>
        <p:spPr>
          <a:xfrm>
            <a:off x="4395216" y="3511296"/>
            <a:ext cx="1280160" cy="146304"/>
          </a:xfrm>
          <a:prstGeom prst="rect">
            <a:avLst/>
          </a:prstGeom>
          <a:noFill/>
        </p:spPr>
        <p:txBody>
          <a:bodyPr wrap="square" lIns="0" rIns="0" tIns="0" bIns="0" anchor="ctr">
            <a:spAutoFit/>
          </a:bodyPr>
          <a:lstStyle/>
          <a:p>
            <a:r>
              <a:rPr sz="700" b="1" i="0" spc="100">
                <a:solidFill>
                  <a:srgbClr val="6B6B6B"/>
                </a:solidFill>
                <a:latin typeface="Trenda IG Text"/>
              </a:rPr>
              <a:t>TODAY</a:t>
            </a:r>
          </a:p>
        </p:txBody>
      </p:sp>
      <p:sp>
        <p:nvSpPr>
          <p:cNvPr id="73" name="Text 70"/>
          <p:cNvSpPr txBox="1"/>
          <p:nvPr/>
        </p:nvSpPr>
        <p:spPr>
          <a:xfrm>
            <a:off x="5849112" y="3511296"/>
            <a:ext cx="1828800" cy="146304"/>
          </a:xfrm>
          <a:prstGeom prst="rect">
            <a:avLst/>
          </a:prstGeom>
          <a:noFill/>
        </p:spPr>
        <p:txBody>
          <a:bodyPr wrap="square" lIns="0" rIns="0" tIns="0" bIns="0" anchor="ctr">
            <a:spAutoFit/>
          </a:bodyPr>
          <a:lstStyle/>
          <a:p>
            <a:r>
              <a:rPr sz="700" b="1" i="0" spc="100">
                <a:solidFill>
                  <a:srgbClr val="0089A0"/>
                </a:solidFill>
                <a:latin typeface="Trenda IG Text"/>
              </a:rPr>
              <a:t>WITH THE FACTORY</a:t>
            </a:r>
          </a:p>
        </p:txBody>
      </p:sp>
      <p:sp>
        <p:nvSpPr>
          <p:cNvPr id="74" name="Text 71"/>
          <p:cNvSpPr txBox="1"/>
          <p:nvPr/>
        </p:nvSpPr>
        <p:spPr>
          <a:xfrm>
            <a:off x="4395216" y="3657600"/>
            <a:ext cx="1280160" cy="329184"/>
          </a:xfrm>
          <a:prstGeom prst="rect">
            <a:avLst/>
          </a:prstGeom>
          <a:noFill/>
        </p:spPr>
        <p:txBody>
          <a:bodyPr wrap="square" lIns="0" rIns="0" tIns="0" bIns="0" anchor="ctr">
            <a:spAutoFit/>
          </a:bodyPr>
          <a:lstStyle/>
          <a:p>
            <a:r>
              <a:rPr sz="1800" b="0" i="0">
                <a:solidFill>
                  <a:srgbClr val="6B6B6B"/>
                </a:solidFill>
                <a:latin typeface="Trenda IG Text"/>
              </a:rPr>
              <a:t>$16.0M</a:t>
            </a:r>
          </a:p>
        </p:txBody>
      </p:sp>
      <p:cxnSp>
        <p:nvCxnSpPr>
          <p:cNvPr id="75" name="Arrow 72"/>
          <p:cNvCxnSpPr/>
          <p:nvPr/>
        </p:nvCxnSpPr>
        <p:spPr>
          <a:xfrm>
            <a:off x="5346192" y="3822192"/>
            <a:ext cx="365759"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6" name="Text 73"/>
          <p:cNvSpPr txBox="1"/>
          <p:nvPr/>
        </p:nvSpPr>
        <p:spPr>
          <a:xfrm>
            <a:off x="5849112" y="3657600"/>
            <a:ext cx="1828800" cy="329184"/>
          </a:xfrm>
          <a:prstGeom prst="rect">
            <a:avLst/>
          </a:prstGeom>
          <a:noFill/>
        </p:spPr>
        <p:txBody>
          <a:bodyPr wrap="square" lIns="0" rIns="0" tIns="0" bIns="0" anchor="ctr">
            <a:spAutoFit/>
          </a:bodyPr>
          <a:lstStyle/>
          <a:p>
            <a:r>
              <a:rPr sz="1800" b="0" i="0">
                <a:solidFill>
                  <a:srgbClr val="1A1A1A"/>
                </a:solidFill>
                <a:latin typeface="Trenda IG Text"/>
              </a:rPr>
              <a:t>$8.8M</a:t>
            </a:r>
          </a:p>
        </p:txBody>
      </p:sp>
      <p:sp>
        <p:nvSpPr>
          <p:cNvPr id="77" name="Differentiator Border 75"/>
          <p:cNvSpPr/>
          <p:nvPr/>
        </p:nvSpPr>
        <p:spPr>
          <a:xfrm>
            <a:off x="4395216"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6"/>
          <p:cNvSpPr/>
          <p:nvPr/>
        </p:nvSpPr>
        <p:spPr>
          <a:xfrm>
            <a:off x="4422648" y="4087368"/>
            <a:ext cx="3343655"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7"/>
          <p:cNvSpPr txBox="1"/>
          <p:nvPr/>
        </p:nvSpPr>
        <p:spPr>
          <a:xfrm>
            <a:off x="4532376" y="4087368"/>
            <a:ext cx="1828800" cy="457200"/>
          </a:xfrm>
          <a:prstGeom prst="rect">
            <a:avLst/>
          </a:prstGeom>
          <a:noFill/>
        </p:spPr>
        <p:txBody>
          <a:bodyPr wrap="square" lIns="0" rIns="0" tIns="0" bIns="0" anchor="ctr">
            <a:spAutoFit/>
          </a:bodyPr>
          <a:lstStyle/>
          <a:p>
            <a:r>
              <a:rPr sz="700" b="1" i="0" spc="120">
                <a:solidFill>
                  <a:srgbClr val="0089A0"/>
                </a:solidFill>
                <a:latin typeface="Trenda IG Text"/>
              </a:rPr>
              <a:t>SAVES</a:t>
            </a:r>
          </a:p>
          <a:p>
            <a:r>
              <a:rPr sz="700" b="0" i="0">
                <a:solidFill>
                  <a:srgbClr val="1A1A1A"/>
                </a:solidFill>
                <a:latin typeface="Trenda IG Text"/>
              </a:rPr>
              <a:t>45% of the year's spend</a:t>
            </a:r>
          </a:p>
        </p:txBody>
      </p:sp>
      <p:sp>
        <p:nvSpPr>
          <p:cNvPr id="80" name="Text 78"/>
          <p:cNvSpPr txBox="1"/>
          <p:nvPr/>
        </p:nvSpPr>
        <p:spPr>
          <a:xfrm>
            <a:off x="6394703" y="4087368"/>
            <a:ext cx="1280160" cy="457200"/>
          </a:xfrm>
          <a:prstGeom prst="rect">
            <a:avLst/>
          </a:prstGeom>
          <a:noFill/>
        </p:spPr>
        <p:txBody>
          <a:bodyPr wrap="square" lIns="0" rIns="0" tIns="0" bIns="0" anchor="ctr">
            <a:spAutoFit/>
          </a:bodyPr>
          <a:lstStyle/>
          <a:p>
            <a:pPr algn="r"/>
            <a:r>
              <a:rPr sz="2200" b="0" i="0">
                <a:solidFill>
                  <a:srgbClr val="1A1A1A"/>
                </a:solidFill>
                <a:latin typeface="Trenda IG Text"/>
              </a:rPr>
              <a:t>$7.2M</a:t>
            </a:r>
          </a:p>
        </p:txBody>
      </p:sp>
      <p:sp>
        <p:nvSpPr>
          <p:cNvPr id="81" name="Text 79"/>
          <p:cNvSpPr txBox="1"/>
          <p:nvPr/>
        </p:nvSpPr>
        <p:spPr>
          <a:xfrm>
            <a:off x="4395216" y="4608576"/>
            <a:ext cx="3398519" cy="256032"/>
          </a:xfrm>
          <a:prstGeom prst="rect">
            <a:avLst/>
          </a:prstGeom>
          <a:noFill/>
        </p:spPr>
        <p:txBody>
          <a:bodyPr wrap="square" lIns="0" rIns="0" tIns="0" bIns="0" anchor="ctr">
            <a:spAutoFit/>
          </a:bodyPr>
          <a:lstStyle/>
          <a:p>
            <a:r>
              <a:rPr sz="700" b="0" i="0">
                <a:solidFill>
                  <a:srgbClr val="1A1A1A"/>
                </a:solidFill>
                <a:latin typeface="Trenda IG Text"/>
              </a:rPr>
              <a:t>Every pod on the factory for the full year.</a:t>
            </a:r>
          </a:p>
        </p:txBody>
      </p:sp>
      <p:sp>
        <p:nvSpPr>
          <p:cNvPr id="82" name="Shape 80"/>
          <p:cNvSpPr/>
          <p:nvPr/>
        </p:nvSpPr>
        <p:spPr>
          <a:xfrm>
            <a:off x="8086343" y="3145536"/>
            <a:ext cx="3691127" cy="1755648"/>
          </a:xfrm>
          <a:prstGeom prst="roundRect">
            <a:avLst>
              <a:gd name="adj" fmla="val 3000"/>
            </a:avLst>
          </a:prstGeom>
          <a:solidFill>
            <a:srgbClr val="F5F5F5"/>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 81"/>
          <p:cNvSpPr txBox="1"/>
          <p:nvPr/>
        </p:nvSpPr>
        <p:spPr>
          <a:xfrm>
            <a:off x="8232647" y="3218688"/>
            <a:ext cx="1828800" cy="256032"/>
          </a:xfrm>
          <a:prstGeom prst="rect">
            <a:avLst/>
          </a:prstGeom>
          <a:noFill/>
        </p:spPr>
        <p:txBody>
          <a:bodyPr wrap="square" lIns="0" rIns="0" tIns="0" bIns="0" anchor="ctr">
            <a:spAutoFit/>
          </a:bodyPr>
          <a:lstStyle/>
          <a:p>
            <a:r>
              <a:rPr sz="1100" b="1" i="0">
                <a:solidFill>
                  <a:srgbClr val="1A1A1A"/>
                </a:solidFill>
                <a:latin typeface="Trenda IG Text"/>
              </a:rPr>
              <a:t>Year 3</a:t>
            </a:r>
          </a:p>
        </p:txBody>
      </p:sp>
      <p:sp>
        <p:nvSpPr>
          <p:cNvPr id="84" name="Text 82"/>
          <p:cNvSpPr txBox="1"/>
          <p:nvPr/>
        </p:nvSpPr>
        <p:spPr>
          <a:xfrm>
            <a:off x="8232647" y="3511296"/>
            <a:ext cx="1280160" cy="146304"/>
          </a:xfrm>
          <a:prstGeom prst="rect">
            <a:avLst/>
          </a:prstGeom>
          <a:noFill/>
        </p:spPr>
        <p:txBody>
          <a:bodyPr wrap="square" lIns="0" rIns="0" tIns="0" bIns="0" anchor="ctr">
            <a:spAutoFit/>
          </a:bodyPr>
          <a:lstStyle/>
          <a:p>
            <a:r>
              <a:rPr sz="700" b="1" i="0" spc="100">
                <a:solidFill>
                  <a:srgbClr val="6B6B6B"/>
                </a:solidFill>
                <a:latin typeface="Trenda IG Text"/>
              </a:rPr>
              <a:t>TODAY</a:t>
            </a:r>
          </a:p>
        </p:txBody>
      </p:sp>
      <p:sp>
        <p:nvSpPr>
          <p:cNvPr id="85" name="Text 83"/>
          <p:cNvSpPr txBox="1"/>
          <p:nvPr/>
        </p:nvSpPr>
        <p:spPr>
          <a:xfrm>
            <a:off x="9686543" y="3511296"/>
            <a:ext cx="1828800" cy="146304"/>
          </a:xfrm>
          <a:prstGeom prst="rect">
            <a:avLst/>
          </a:prstGeom>
          <a:noFill/>
        </p:spPr>
        <p:txBody>
          <a:bodyPr wrap="square" lIns="0" rIns="0" tIns="0" bIns="0" anchor="ctr">
            <a:spAutoFit/>
          </a:bodyPr>
          <a:lstStyle/>
          <a:p>
            <a:r>
              <a:rPr sz="700" b="1" i="0" spc="100">
                <a:solidFill>
                  <a:srgbClr val="0089A0"/>
                </a:solidFill>
                <a:latin typeface="Trenda IG Text"/>
              </a:rPr>
              <a:t>WITH THE FACTORY</a:t>
            </a:r>
          </a:p>
        </p:txBody>
      </p:sp>
      <p:sp>
        <p:nvSpPr>
          <p:cNvPr id="86" name="Text 84"/>
          <p:cNvSpPr txBox="1"/>
          <p:nvPr/>
        </p:nvSpPr>
        <p:spPr>
          <a:xfrm>
            <a:off x="8232647" y="3657600"/>
            <a:ext cx="1280160" cy="329184"/>
          </a:xfrm>
          <a:prstGeom prst="rect">
            <a:avLst/>
          </a:prstGeom>
          <a:noFill/>
        </p:spPr>
        <p:txBody>
          <a:bodyPr wrap="square" lIns="0" rIns="0" tIns="0" bIns="0" anchor="ctr">
            <a:spAutoFit/>
          </a:bodyPr>
          <a:lstStyle/>
          <a:p>
            <a:r>
              <a:rPr sz="1800" b="0" i="0">
                <a:solidFill>
                  <a:srgbClr val="6B6B6B"/>
                </a:solidFill>
                <a:latin typeface="Trenda IG Text"/>
              </a:rPr>
              <a:t>$16.0M</a:t>
            </a:r>
          </a:p>
        </p:txBody>
      </p:sp>
      <p:cxnSp>
        <p:nvCxnSpPr>
          <p:cNvPr id="87" name="Arrow 85"/>
          <p:cNvCxnSpPr/>
          <p:nvPr/>
        </p:nvCxnSpPr>
        <p:spPr>
          <a:xfrm>
            <a:off x="9183623" y="3822192"/>
            <a:ext cx="365760"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Text 86"/>
          <p:cNvSpPr txBox="1"/>
          <p:nvPr/>
        </p:nvSpPr>
        <p:spPr>
          <a:xfrm>
            <a:off x="9686543" y="3657600"/>
            <a:ext cx="1828800" cy="329184"/>
          </a:xfrm>
          <a:prstGeom prst="rect">
            <a:avLst/>
          </a:prstGeom>
          <a:noFill/>
        </p:spPr>
        <p:txBody>
          <a:bodyPr wrap="square" lIns="0" rIns="0" tIns="0" bIns="0" anchor="ctr">
            <a:spAutoFit/>
          </a:bodyPr>
          <a:lstStyle/>
          <a:p>
            <a:r>
              <a:rPr sz="1800" b="0" i="0">
                <a:solidFill>
                  <a:srgbClr val="1A1A1A"/>
                </a:solidFill>
                <a:latin typeface="Trenda IG Text"/>
              </a:rPr>
              <a:t>$8.0M</a:t>
            </a:r>
          </a:p>
        </p:txBody>
      </p:sp>
      <p:sp>
        <p:nvSpPr>
          <p:cNvPr id="89" name="Differentiator Border 88"/>
          <p:cNvSpPr/>
          <p:nvPr/>
        </p:nvSpPr>
        <p:spPr>
          <a:xfrm>
            <a:off x="8232647" y="4059936"/>
            <a:ext cx="3398519" cy="512064"/>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Shape 89"/>
          <p:cNvSpPr/>
          <p:nvPr/>
        </p:nvSpPr>
        <p:spPr>
          <a:xfrm>
            <a:off x="8260079" y="4087368"/>
            <a:ext cx="3343655"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8369807" y="4087368"/>
            <a:ext cx="1828800" cy="457200"/>
          </a:xfrm>
          <a:prstGeom prst="rect">
            <a:avLst/>
          </a:prstGeom>
          <a:noFill/>
        </p:spPr>
        <p:txBody>
          <a:bodyPr wrap="square" lIns="0" rIns="0" tIns="0" bIns="0" anchor="ctr">
            <a:spAutoFit/>
          </a:bodyPr>
          <a:lstStyle/>
          <a:p>
            <a:r>
              <a:rPr sz="700" b="1" i="0" spc="120">
                <a:solidFill>
                  <a:srgbClr val="0089A0"/>
                </a:solidFill>
                <a:latin typeface="Trenda IG Text"/>
              </a:rPr>
              <a:t>SAVES</a:t>
            </a:r>
          </a:p>
          <a:p>
            <a:r>
              <a:rPr sz="700" b="0" i="0">
                <a:solidFill>
                  <a:srgbClr val="1A1A1A"/>
                </a:solidFill>
                <a:latin typeface="Trenda IG Text"/>
              </a:rPr>
              <a:t>50% of the year's spend</a:t>
            </a:r>
          </a:p>
        </p:txBody>
      </p:sp>
      <p:sp>
        <p:nvSpPr>
          <p:cNvPr id="92" name="Text 91"/>
          <p:cNvSpPr txBox="1"/>
          <p:nvPr/>
        </p:nvSpPr>
        <p:spPr>
          <a:xfrm>
            <a:off x="10232135" y="4087368"/>
            <a:ext cx="1280160" cy="457200"/>
          </a:xfrm>
          <a:prstGeom prst="rect">
            <a:avLst/>
          </a:prstGeom>
          <a:noFill/>
        </p:spPr>
        <p:txBody>
          <a:bodyPr wrap="square" lIns="0" rIns="0" tIns="0" bIns="0" anchor="ctr">
            <a:spAutoFit/>
          </a:bodyPr>
          <a:lstStyle/>
          <a:p>
            <a:pPr algn="r"/>
            <a:r>
              <a:rPr sz="2200" b="0" i="0">
                <a:solidFill>
                  <a:srgbClr val="1A1A1A"/>
                </a:solidFill>
                <a:latin typeface="Trenda IG Text"/>
              </a:rPr>
              <a:t>$8.0M</a:t>
            </a:r>
          </a:p>
        </p:txBody>
      </p:sp>
      <p:sp>
        <p:nvSpPr>
          <p:cNvPr id="93" name="Text 92"/>
          <p:cNvSpPr txBox="1"/>
          <p:nvPr/>
        </p:nvSpPr>
        <p:spPr>
          <a:xfrm>
            <a:off x="8232647" y="4608576"/>
            <a:ext cx="3398519" cy="256032"/>
          </a:xfrm>
          <a:prstGeom prst="rect">
            <a:avLst/>
          </a:prstGeom>
          <a:noFill/>
        </p:spPr>
        <p:txBody>
          <a:bodyPr wrap="square" lIns="0" rIns="0" tIns="0" bIns="0" anchor="ctr">
            <a:spAutoFit/>
          </a:bodyPr>
          <a:lstStyle/>
          <a:p>
            <a:r>
              <a:rPr sz="700" b="0" i="0">
                <a:solidFill>
                  <a:srgbClr val="1A1A1A"/>
                </a:solidFill>
                <a:latin typeface="Trenda IG Text"/>
              </a:rPr>
              <a:t>Full run rate: agents carry the delivery, people steer.</a:t>
            </a:r>
          </a:p>
        </p:txBody>
      </p:sp>
      <p:sp>
        <p:nvSpPr>
          <p:cNvPr id="94" name="Shape 93"/>
          <p:cNvSpPr/>
          <p:nvPr/>
        </p:nvSpPr>
        <p:spPr>
          <a:xfrm>
            <a:off x="411480" y="5029200"/>
            <a:ext cx="11365992" cy="786384"/>
          </a:xfrm>
          <a:prstGeom prst="roundRect">
            <a:avLst>
              <a:gd name="adj" fmla="val 3000"/>
            </a:avLst>
          </a:prstGeom>
          <a:solidFill>
            <a:srgbClr val="F2F2F2"/>
          </a:solidFill>
          <a:ln w="635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4"/>
          <p:cNvSpPr txBox="1"/>
          <p:nvPr/>
        </p:nvSpPr>
        <p:spPr>
          <a:xfrm>
            <a:off x="548640" y="5065776"/>
            <a:ext cx="3657600" cy="182880"/>
          </a:xfrm>
          <a:prstGeom prst="rect">
            <a:avLst/>
          </a:prstGeom>
          <a:noFill/>
        </p:spPr>
        <p:txBody>
          <a:bodyPr wrap="square" lIns="0" rIns="0" tIns="0" bIns="0" anchor="ctr">
            <a:spAutoFit/>
          </a:bodyPr>
          <a:lstStyle/>
          <a:p>
            <a:r>
              <a:rPr sz="700" b="1" i="0" spc="120">
                <a:solidFill>
                  <a:srgbClr val="0089A0"/>
                </a:solidFill>
                <a:latin typeface="Trenda IG Text"/>
              </a:rPr>
              <a:t>THREE YEARS, ALL PODS</a:t>
            </a:r>
          </a:p>
        </p:txBody>
      </p:sp>
      <p:sp>
        <p:nvSpPr>
          <p:cNvPr id="96" name="Text 95"/>
          <p:cNvSpPr txBox="1"/>
          <p:nvPr/>
        </p:nvSpPr>
        <p:spPr>
          <a:xfrm>
            <a:off x="548640" y="5248656"/>
            <a:ext cx="2681478" cy="146304"/>
          </a:xfrm>
          <a:prstGeom prst="rect">
            <a:avLst/>
          </a:prstGeom>
          <a:noFill/>
        </p:spPr>
        <p:txBody>
          <a:bodyPr wrap="square" lIns="0" rIns="0" tIns="0" bIns="0" anchor="ctr">
            <a:spAutoFit/>
          </a:bodyPr>
          <a:lstStyle/>
          <a:p>
            <a:r>
              <a:rPr sz="700" b="0" i="0">
                <a:solidFill>
                  <a:srgbClr val="1A1A1A"/>
                </a:solidFill>
                <a:latin typeface="Trenda IG Text"/>
              </a:rPr>
              <a:t>Spend today</a:t>
            </a:r>
          </a:p>
        </p:txBody>
      </p:sp>
      <p:sp>
        <p:nvSpPr>
          <p:cNvPr id="97" name="Text 96"/>
          <p:cNvSpPr txBox="1"/>
          <p:nvPr/>
        </p:nvSpPr>
        <p:spPr>
          <a:xfrm>
            <a:off x="548640" y="5394960"/>
            <a:ext cx="2681478" cy="274320"/>
          </a:xfrm>
          <a:prstGeom prst="rect">
            <a:avLst/>
          </a:prstGeom>
          <a:noFill/>
        </p:spPr>
        <p:txBody>
          <a:bodyPr wrap="square" lIns="0" rIns="0" tIns="0" bIns="0" anchor="ctr">
            <a:spAutoFit/>
          </a:bodyPr>
          <a:lstStyle/>
          <a:p>
            <a:r>
              <a:rPr sz="1500" b="0" i="0">
                <a:solidFill>
                  <a:srgbClr val="1A1A1A"/>
                </a:solidFill>
                <a:latin typeface="Trenda IG Text"/>
              </a:rPr>
              <a:t>$48.0M</a:t>
            </a:r>
          </a:p>
        </p:txBody>
      </p:sp>
      <p:sp>
        <p:nvSpPr>
          <p:cNvPr id="98" name="Text 97"/>
          <p:cNvSpPr txBox="1"/>
          <p:nvPr/>
        </p:nvSpPr>
        <p:spPr>
          <a:xfrm>
            <a:off x="548640" y="5650992"/>
            <a:ext cx="2681478" cy="146304"/>
          </a:xfrm>
          <a:prstGeom prst="rect">
            <a:avLst/>
          </a:prstGeom>
          <a:noFill/>
        </p:spPr>
        <p:txBody>
          <a:bodyPr wrap="square" lIns="0" rIns="0" tIns="0" bIns="0" anchor="ctr">
            <a:spAutoFit/>
          </a:bodyPr>
          <a:lstStyle/>
          <a:p>
            <a:r>
              <a:rPr sz="700" b="0" i="0">
                <a:solidFill>
                  <a:srgbClr val="6B6B6B"/>
                </a:solidFill>
                <a:latin typeface="Trenda IG Text"/>
              </a:rPr>
              <a:t>$16M a year × 3</a:t>
            </a:r>
          </a:p>
        </p:txBody>
      </p:sp>
      <p:sp>
        <p:nvSpPr>
          <p:cNvPr id="99" name="Text 98"/>
          <p:cNvSpPr txBox="1"/>
          <p:nvPr/>
        </p:nvSpPr>
        <p:spPr>
          <a:xfrm>
            <a:off x="3321558" y="5248656"/>
            <a:ext cx="2681478" cy="146304"/>
          </a:xfrm>
          <a:prstGeom prst="rect">
            <a:avLst/>
          </a:prstGeom>
          <a:noFill/>
        </p:spPr>
        <p:txBody>
          <a:bodyPr wrap="square" lIns="0" rIns="0" tIns="0" bIns="0" anchor="ctr">
            <a:spAutoFit/>
          </a:bodyPr>
          <a:lstStyle/>
          <a:p>
            <a:r>
              <a:rPr sz="700" b="0" i="0">
                <a:solidFill>
                  <a:srgbClr val="1A1A1A"/>
                </a:solidFill>
                <a:latin typeface="Trenda IG Text"/>
              </a:rPr>
              <a:t>With the factory</a:t>
            </a:r>
          </a:p>
        </p:txBody>
      </p:sp>
      <p:sp>
        <p:nvSpPr>
          <p:cNvPr id="100" name="Text 99"/>
          <p:cNvSpPr txBox="1"/>
          <p:nvPr/>
        </p:nvSpPr>
        <p:spPr>
          <a:xfrm>
            <a:off x="3321558" y="5394960"/>
            <a:ext cx="2681478" cy="274320"/>
          </a:xfrm>
          <a:prstGeom prst="rect">
            <a:avLst/>
          </a:prstGeom>
          <a:noFill/>
        </p:spPr>
        <p:txBody>
          <a:bodyPr wrap="square" lIns="0" rIns="0" tIns="0" bIns="0" anchor="ctr">
            <a:spAutoFit/>
          </a:bodyPr>
          <a:lstStyle/>
          <a:p>
            <a:r>
              <a:rPr sz="1500" b="0" i="0">
                <a:solidFill>
                  <a:srgbClr val="1A1A1A"/>
                </a:solidFill>
                <a:latin typeface="Trenda IG Text"/>
              </a:rPr>
              <a:t>$28.1M</a:t>
            </a:r>
          </a:p>
        </p:txBody>
      </p:sp>
      <p:sp>
        <p:nvSpPr>
          <p:cNvPr id="101" name="Text 100"/>
          <p:cNvSpPr txBox="1"/>
          <p:nvPr/>
        </p:nvSpPr>
        <p:spPr>
          <a:xfrm>
            <a:off x="3321558" y="5650992"/>
            <a:ext cx="2681478" cy="146304"/>
          </a:xfrm>
          <a:prstGeom prst="rect">
            <a:avLst/>
          </a:prstGeom>
          <a:noFill/>
        </p:spPr>
        <p:txBody>
          <a:bodyPr wrap="square" lIns="0" rIns="0" tIns="0" bIns="0" anchor="ctr">
            <a:spAutoFit/>
          </a:bodyPr>
          <a:lstStyle/>
          <a:p>
            <a:r>
              <a:rPr sz="700" b="0" i="0">
                <a:solidFill>
                  <a:srgbClr val="6B6B6B"/>
                </a:solidFill>
                <a:latin typeface="Trenda IG Text"/>
              </a:rPr>
              <a:t>people, run team and model usage included</a:t>
            </a:r>
          </a:p>
        </p:txBody>
      </p:sp>
      <p:sp>
        <p:nvSpPr>
          <p:cNvPr id="102" name="Text 101"/>
          <p:cNvSpPr txBox="1"/>
          <p:nvPr/>
        </p:nvSpPr>
        <p:spPr>
          <a:xfrm>
            <a:off x="6094476" y="5248656"/>
            <a:ext cx="2681478" cy="146304"/>
          </a:xfrm>
          <a:prstGeom prst="rect">
            <a:avLst/>
          </a:prstGeom>
          <a:noFill/>
        </p:spPr>
        <p:txBody>
          <a:bodyPr wrap="square" lIns="0" rIns="0" tIns="0" bIns="0" anchor="ctr">
            <a:spAutoFit/>
          </a:bodyPr>
          <a:lstStyle/>
          <a:p>
            <a:r>
              <a:rPr sz="700" b="0" i="0">
                <a:solidFill>
                  <a:srgbClr val="1A1A1A"/>
                </a:solidFill>
                <a:latin typeface="Trenda IG Text"/>
              </a:rPr>
              <a:t>Saved over 3 years</a:t>
            </a:r>
          </a:p>
        </p:txBody>
      </p:sp>
      <p:sp>
        <p:nvSpPr>
          <p:cNvPr id="103" name="Text 102"/>
          <p:cNvSpPr txBox="1"/>
          <p:nvPr/>
        </p:nvSpPr>
        <p:spPr>
          <a:xfrm>
            <a:off x="6094476" y="5394960"/>
            <a:ext cx="2681478" cy="274320"/>
          </a:xfrm>
          <a:prstGeom prst="rect">
            <a:avLst/>
          </a:prstGeom>
          <a:noFill/>
        </p:spPr>
        <p:txBody>
          <a:bodyPr wrap="square" lIns="0" rIns="0" tIns="0" bIns="0" anchor="ctr">
            <a:spAutoFit/>
          </a:bodyPr>
          <a:lstStyle/>
          <a:p>
            <a:r>
              <a:rPr sz="1500" b="0" i="0">
                <a:solidFill>
                  <a:srgbClr val="0089A0"/>
                </a:solidFill>
                <a:latin typeface="Trenda IG Text"/>
              </a:rPr>
              <a:t>$19.9M</a:t>
            </a:r>
          </a:p>
        </p:txBody>
      </p:sp>
      <p:sp>
        <p:nvSpPr>
          <p:cNvPr id="104" name="Text 103"/>
          <p:cNvSpPr txBox="1"/>
          <p:nvPr/>
        </p:nvSpPr>
        <p:spPr>
          <a:xfrm>
            <a:off x="6094476" y="5650992"/>
            <a:ext cx="2681478" cy="146304"/>
          </a:xfrm>
          <a:prstGeom prst="rect">
            <a:avLst/>
          </a:prstGeom>
          <a:noFill/>
        </p:spPr>
        <p:txBody>
          <a:bodyPr wrap="square" lIns="0" rIns="0" tIns="0" bIns="0" anchor="ctr">
            <a:spAutoFit/>
          </a:bodyPr>
          <a:lstStyle/>
          <a:p>
            <a:r>
              <a:rPr sz="700" b="0" i="0">
                <a:solidFill>
                  <a:srgbClr val="6B6B6B"/>
                </a:solidFill>
                <a:latin typeface="Trenda IG Text"/>
              </a:rPr>
              <a:t>41% of three years' spend</a:t>
            </a:r>
          </a:p>
        </p:txBody>
      </p:sp>
      <p:sp>
        <p:nvSpPr>
          <p:cNvPr id="105" name="Text 104"/>
          <p:cNvSpPr txBox="1"/>
          <p:nvPr/>
        </p:nvSpPr>
        <p:spPr>
          <a:xfrm>
            <a:off x="8867394" y="5248656"/>
            <a:ext cx="2681478" cy="146304"/>
          </a:xfrm>
          <a:prstGeom prst="rect">
            <a:avLst/>
          </a:prstGeom>
          <a:noFill/>
        </p:spPr>
        <p:txBody>
          <a:bodyPr wrap="square" lIns="0" rIns="0" tIns="0" bIns="0" anchor="ctr">
            <a:spAutoFit/>
          </a:bodyPr>
          <a:lstStyle/>
          <a:p>
            <a:r>
              <a:rPr sz="700" b="0" i="0">
                <a:solidFill>
                  <a:srgbClr val="1A1A1A"/>
                </a:solidFill>
                <a:latin typeface="Trenda IG Text"/>
              </a:rPr>
              <a:t>At full run rate</a:t>
            </a:r>
          </a:p>
        </p:txBody>
      </p:sp>
      <p:sp>
        <p:nvSpPr>
          <p:cNvPr id="106" name="Text 105"/>
          <p:cNvSpPr txBox="1"/>
          <p:nvPr/>
        </p:nvSpPr>
        <p:spPr>
          <a:xfrm>
            <a:off x="8867394" y="5394960"/>
            <a:ext cx="2681478" cy="274320"/>
          </a:xfrm>
          <a:prstGeom prst="rect">
            <a:avLst/>
          </a:prstGeom>
          <a:noFill/>
        </p:spPr>
        <p:txBody>
          <a:bodyPr wrap="square" lIns="0" rIns="0" tIns="0" bIns="0" anchor="ctr">
            <a:spAutoFit/>
          </a:bodyPr>
          <a:lstStyle/>
          <a:p>
            <a:r>
              <a:rPr sz="1500" b="0" i="0">
                <a:solidFill>
                  <a:srgbClr val="0089A0"/>
                </a:solidFill>
                <a:latin typeface="Trenda IG Text"/>
              </a:rPr>
              <a:t>50% lower</a:t>
            </a:r>
          </a:p>
        </p:txBody>
      </p:sp>
      <p:sp>
        <p:nvSpPr>
          <p:cNvPr id="107" name="Text 106"/>
          <p:cNvSpPr txBox="1"/>
          <p:nvPr/>
        </p:nvSpPr>
        <p:spPr>
          <a:xfrm>
            <a:off x="8867394" y="5650992"/>
            <a:ext cx="2681478" cy="146304"/>
          </a:xfrm>
          <a:prstGeom prst="rect">
            <a:avLst/>
          </a:prstGeom>
          <a:noFill/>
        </p:spPr>
        <p:txBody>
          <a:bodyPr wrap="square" lIns="0" rIns="0" tIns="0" bIns="0" anchor="ctr">
            <a:spAutoFit/>
          </a:bodyPr>
          <a:lstStyle/>
          <a:p>
            <a:r>
              <a:rPr sz="700" b="0" i="0">
                <a:solidFill>
                  <a:srgbClr val="6B6B6B"/>
                </a:solidFill>
                <a:latin typeface="Trenda IG Text"/>
              </a:rPr>
              <a:t>about $8.0M saved every year</a:t>
            </a:r>
          </a:p>
        </p:txBody>
      </p:sp>
      <p:sp>
        <p:nvSpPr>
          <p:cNvPr id="108" name="Text 107"/>
          <p:cNvSpPr txBox="1"/>
          <p:nvPr/>
        </p:nvSpPr>
        <p:spPr>
          <a:xfrm>
            <a:off x="411480" y="5852160"/>
            <a:ext cx="11365992" cy="182880"/>
          </a:xfrm>
          <a:prstGeom prst="rect">
            <a:avLst/>
          </a:prstGeom>
          <a:noFill/>
        </p:spPr>
        <p:txBody>
          <a:bodyPr wrap="square" lIns="0" rIns="0" tIns="0" bIns="0" anchor="ctr">
            <a:spAutoFit/>
          </a:bodyPr>
          <a:lstStyle/>
          <a:p>
            <a:r>
              <a:rPr sz="700" b="0" i="0">
                <a:solidFill>
                  <a:srgbClr val="6B6B6B"/>
                </a:solidFill>
                <a:latin typeface="Trenda IG Text"/>
              </a:rPr>
              <a:t>Planning estimates: people cost falls to 40% (2.4 of 6 per squad); run team and platform $1.24M a year; model and token allowance $0.4M a year, to confirm against Codex limits; ramp 60% / 90% / 100%. Confirmed against each pod's Phase 0 baseline.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SINGLE USER EXPERIENCE</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Codex is the single interface for discovery, approvals and continuous activation</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Data refreshes every day. Approved, versioned cohort rules push newly eligible patients to Marketing Cloud daily, without a daily human approval.</a:t>
            </a:r>
          </a:p>
        </p:txBody>
      </p:sp>
      <p:sp>
        <p:nvSpPr>
          <p:cNvPr id="5" name="Shape 4"/>
          <p:cNvSpPr/>
          <p:nvPr/>
        </p:nvSpPr>
        <p:spPr>
          <a:xfrm>
            <a:off x="411480" y="1170432"/>
            <a:ext cx="219456" cy="219456"/>
          </a:xfrm>
          <a:prstGeom prst="roundRect">
            <a:avLst>
              <a:gd name="adj" fmla="val 5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411480"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1</a:t>
            </a:r>
          </a:p>
        </p:txBody>
      </p:sp>
      <p:sp>
        <p:nvSpPr>
          <p:cNvPr id="7" name="Text 6"/>
          <p:cNvSpPr txBox="1"/>
          <p:nvPr/>
        </p:nvSpPr>
        <p:spPr>
          <a:xfrm>
            <a:off x="704088" y="1170432"/>
            <a:ext cx="4114800" cy="219456"/>
          </a:xfrm>
          <a:prstGeom prst="rect">
            <a:avLst/>
          </a:prstGeom>
          <a:noFill/>
        </p:spPr>
        <p:txBody>
          <a:bodyPr wrap="square" lIns="0" rIns="0" tIns="0" bIns="0" anchor="ctr">
            <a:spAutoFit/>
          </a:bodyPr>
          <a:lstStyle/>
          <a:p>
            <a:r>
              <a:rPr sz="800" b="1" i="0" spc="60">
                <a:solidFill>
                  <a:srgbClr val="0089A0"/>
                </a:solidFill>
                <a:latin typeface="Trenda IG Text"/>
              </a:rPr>
              <a:t>GOVERNED INTELLIGENCE</a:t>
            </a:r>
          </a:p>
        </p:txBody>
      </p:sp>
      <p:sp>
        <p:nvSpPr>
          <p:cNvPr id="8" name="Shape 7"/>
          <p:cNvSpPr/>
          <p:nvPr/>
        </p:nvSpPr>
        <p:spPr>
          <a:xfrm>
            <a:off x="411480" y="1463040"/>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Shape 8"/>
          <p:cNvSpPr/>
          <p:nvPr/>
        </p:nvSpPr>
        <p:spPr>
          <a:xfrm>
            <a:off x="411480" y="1463040"/>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 9"/>
          <p:cNvSpPr txBox="1"/>
          <p:nvPr/>
        </p:nvSpPr>
        <p:spPr>
          <a:xfrm>
            <a:off x="548640" y="1490472"/>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Authoritative sources</a:t>
            </a:r>
          </a:p>
          <a:p>
            <a:pPr>
              <a:lnSpc>
                <a:spcPct val="92000"/>
              </a:lnSpc>
              <a:spcAft>
                <a:spcPts val="100"/>
              </a:spcAft>
            </a:pPr>
            <a:r>
              <a:rPr sz="700" b="0" i="0">
                <a:solidFill>
                  <a:srgbClr val="4D4D4D"/>
                </a:solidFill>
                <a:latin typeface="Trenda IG Text"/>
              </a:rPr>
              <a:t>Epic · athenahealth · ADSI · Salesforce · SFMC; daily or streaming</a:t>
            </a:r>
          </a:p>
        </p:txBody>
      </p:sp>
      <p:sp>
        <p:nvSpPr>
          <p:cNvPr id="11" name="Shape 10"/>
          <p:cNvSpPr/>
          <p:nvPr/>
        </p:nvSpPr>
        <p:spPr>
          <a:xfrm>
            <a:off x="411480" y="2083003"/>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hape 11"/>
          <p:cNvSpPr/>
          <p:nvPr/>
        </p:nvSpPr>
        <p:spPr>
          <a:xfrm>
            <a:off x="411480" y="2083003"/>
            <a:ext cx="45720" cy="51206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 12"/>
          <p:cNvSpPr txBox="1"/>
          <p:nvPr/>
        </p:nvSpPr>
        <p:spPr>
          <a:xfrm>
            <a:off x="548640" y="2110435"/>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SDP + Collibra</a:t>
            </a:r>
          </a:p>
          <a:p>
            <a:pPr>
              <a:lnSpc>
                <a:spcPct val="92000"/>
              </a:lnSpc>
              <a:spcAft>
                <a:spcPts val="100"/>
              </a:spcAft>
            </a:pPr>
            <a:r>
              <a:rPr sz="700" b="0" i="0">
                <a:solidFill>
                  <a:srgbClr val="4D4D4D"/>
                </a:solidFill>
                <a:latin typeface="Trenda IG Text"/>
              </a:rPr>
              <a:t>approve datasets, classify PHI, set policy tags before ingest</a:t>
            </a:r>
          </a:p>
        </p:txBody>
      </p:sp>
      <p:sp>
        <p:nvSpPr>
          <p:cNvPr id="14" name="Shape 13"/>
          <p:cNvSpPr/>
          <p:nvPr/>
        </p:nvSpPr>
        <p:spPr>
          <a:xfrm>
            <a:off x="411480" y="2702966"/>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hape 14"/>
          <p:cNvSpPr/>
          <p:nvPr/>
        </p:nvSpPr>
        <p:spPr>
          <a:xfrm>
            <a:off x="411480" y="2702966"/>
            <a:ext cx="45720" cy="512064"/>
          </a:xfrm>
          <a:prstGeom prst="rect">
            <a:avLst/>
          </a:prstGeom>
          <a:solidFill>
            <a:srgbClr val="E6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 15"/>
          <p:cNvSpPr txBox="1"/>
          <p:nvPr/>
        </p:nvSpPr>
        <p:spPr>
          <a:xfrm>
            <a:off x="548640" y="2730398"/>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Bronze → Silver</a:t>
            </a:r>
          </a:p>
          <a:p>
            <a:pPr>
              <a:lnSpc>
                <a:spcPct val="92000"/>
              </a:lnSpc>
              <a:spcAft>
                <a:spcPts val="100"/>
              </a:spcAft>
            </a:pPr>
            <a:r>
              <a:rPr sz="700" b="0" i="0">
                <a:solidFill>
                  <a:srgbClr val="4D4D4D"/>
                </a:solidFill>
                <a:latin typeface="Trenda IG Text"/>
              </a:rPr>
              <a:t>raw extracts, then identity resolution (EUID) + consent of record</a:t>
            </a:r>
          </a:p>
        </p:txBody>
      </p:sp>
      <p:sp>
        <p:nvSpPr>
          <p:cNvPr id="17" name="Shape 16"/>
          <p:cNvSpPr/>
          <p:nvPr/>
        </p:nvSpPr>
        <p:spPr>
          <a:xfrm>
            <a:off x="411480" y="3322929"/>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hape 17"/>
          <p:cNvSpPr/>
          <p:nvPr/>
        </p:nvSpPr>
        <p:spPr>
          <a:xfrm>
            <a:off x="411480" y="3322929"/>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 18"/>
          <p:cNvSpPr txBox="1"/>
          <p:nvPr/>
        </p:nvSpPr>
        <p:spPr>
          <a:xfrm>
            <a:off x="548640" y="3350361"/>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Gold A · insight  |  restricted patient layer</a:t>
            </a:r>
          </a:p>
          <a:p>
            <a:pPr>
              <a:lnSpc>
                <a:spcPct val="92000"/>
              </a:lnSpc>
              <a:spcAft>
                <a:spcPts val="100"/>
              </a:spcAft>
            </a:pPr>
            <a:r>
              <a:rPr sz="700" b="0" i="0">
                <a:solidFill>
                  <a:srgbClr val="4D4D4D"/>
                </a:solidFill>
                <a:latin typeface="Trenda IG Text"/>
              </a:rPr>
              <a:t>aggregates for agents  |  patients for the engines only</a:t>
            </a:r>
          </a:p>
        </p:txBody>
      </p:sp>
      <p:sp>
        <p:nvSpPr>
          <p:cNvPr id="20" name="Shape 19"/>
          <p:cNvSpPr/>
          <p:nvPr/>
        </p:nvSpPr>
        <p:spPr>
          <a:xfrm>
            <a:off x="411480" y="3942892"/>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hape 20"/>
          <p:cNvSpPr/>
          <p:nvPr/>
        </p:nvSpPr>
        <p:spPr>
          <a:xfrm>
            <a:off x="411480" y="3942892"/>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 21"/>
          <p:cNvSpPr txBox="1"/>
          <p:nvPr/>
        </p:nvSpPr>
        <p:spPr>
          <a:xfrm>
            <a:off x="548640" y="3970324"/>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Kyvos semantic layer</a:t>
            </a:r>
          </a:p>
          <a:p>
            <a:pPr>
              <a:lnSpc>
                <a:spcPct val="92000"/>
              </a:lnSpc>
              <a:spcAft>
                <a:spcPts val="100"/>
              </a:spcAft>
            </a:pPr>
            <a:r>
              <a:rPr sz="700" b="0" i="0">
                <a:solidFill>
                  <a:srgbClr val="4D4D4D"/>
                </a:solidFill>
                <a:latin typeface="Trenda IG Text"/>
              </a:rPr>
              <a:t>governed measures and cohort concepts (or built in-house)</a:t>
            </a:r>
          </a:p>
        </p:txBody>
      </p:sp>
      <p:sp>
        <p:nvSpPr>
          <p:cNvPr id="23" name="Shape 22"/>
          <p:cNvSpPr/>
          <p:nvPr/>
        </p:nvSpPr>
        <p:spPr>
          <a:xfrm>
            <a:off x="411480" y="4562856"/>
            <a:ext cx="2743200" cy="512064"/>
          </a:xfrm>
          <a:prstGeom prst="roundRect">
            <a:avLst>
              <a:gd name="adj" fmla="val 6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hape 23"/>
          <p:cNvSpPr/>
          <p:nvPr/>
        </p:nvSpPr>
        <p:spPr>
          <a:xfrm>
            <a:off x="411480" y="4562856"/>
            <a:ext cx="45720" cy="512064"/>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 24"/>
          <p:cNvSpPr txBox="1"/>
          <p:nvPr/>
        </p:nvSpPr>
        <p:spPr>
          <a:xfrm>
            <a:off x="548640" y="4590288"/>
            <a:ext cx="2542032" cy="457200"/>
          </a:xfrm>
          <a:prstGeom prst="rect">
            <a:avLst/>
          </a:prstGeom>
          <a:noFill/>
        </p:spPr>
        <p:txBody>
          <a:bodyPr wrap="square" lIns="0" rIns="0" tIns="0" bIns="0" anchor="ctr">
            <a:spAutoFit/>
          </a:bodyPr>
          <a:lstStyle/>
          <a:p>
            <a:pPr>
              <a:lnSpc>
                <a:spcPct val="92000"/>
              </a:lnSpc>
              <a:spcAft>
                <a:spcPts val="100"/>
              </a:spcAft>
            </a:pPr>
            <a:r>
              <a:rPr sz="800" b="1" i="0">
                <a:solidFill>
                  <a:srgbClr val="1A1A1A"/>
                </a:solidFill>
                <a:latin typeface="Trenda IG Text"/>
              </a:rPr>
              <a:t>Spanner knowledge graph</a:t>
            </a:r>
          </a:p>
          <a:p>
            <a:pPr>
              <a:lnSpc>
                <a:spcPct val="92000"/>
              </a:lnSpc>
              <a:spcAft>
                <a:spcPts val="100"/>
              </a:spcAft>
            </a:pPr>
            <a:r>
              <a:rPr sz="700" b="0" i="0">
                <a:solidFill>
                  <a:srgbClr val="4D4D4D"/>
                </a:solidFill>
                <a:latin typeface="Trenda IG Text"/>
              </a:rPr>
              <a:t>concepts, cohort rules, campaigns, lineage; no patient nodes</a:t>
            </a:r>
          </a:p>
        </p:txBody>
      </p:sp>
      <p:cxnSp>
        <p:nvCxnSpPr>
          <p:cNvPr id="26" name="Arrow 25"/>
          <p:cNvCxnSpPr/>
          <p:nvPr/>
        </p:nvCxnSpPr>
        <p:spPr>
          <a:xfrm>
            <a:off x="777240" y="1975104"/>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Arrow 26"/>
          <p:cNvCxnSpPr/>
          <p:nvPr/>
        </p:nvCxnSpPr>
        <p:spPr>
          <a:xfrm>
            <a:off x="777240" y="2595067"/>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Arrow 27"/>
          <p:cNvCxnSpPr/>
          <p:nvPr/>
        </p:nvCxnSpPr>
        <p:spPr>
          <a:xfrm>
            <a:off x="777240" y="3215030"/>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Arrow 28"/>
          <p:cNvCxnSpPr/>
          <p:nvPr/>
        </p:nvCxnSpPr>
        <p:spPr>
          <a:xfrm>
            <a:off x="777240" y="3834993"/>
            <a:ext cx="0" cy="107899"/>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Arrow 29"/>
          <p:cNvCxnSpPr/>
          <p:nvPr/>
        </p:nvCxnSpPr>
        <p:spPr>
          <a:xfrm>
            <a:off x="777240" y="4454956"/>
            <a:ext cx="0" cy="10790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Arrow 30"/>
          <p:cNvCxnSpPr/>
          <p:nvPr/>
        </p:nvCxnSpPr>
        <p:spPr>
          <a:xfrm>
            <a:off x="3154680" y="4198924"/>
            <a:ext cx="182880"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Arrow 31"/>
          <p:cNvCxnSpPr/>
          <p:nvPr/>
        </p:nvCxnSpPr>
        <p:spPr>
          <a:xfrm>
            <a:off x="3154680" y="4818888"/>
            <a:ext cx="182880"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Shape 32"/>
          <p:cNvSpPr/>
          <p:nvPr/>
        </p:nvSpPr>
        <p:spPr>
          <a:xfrm>
            <a:off x="3337560" y="1170432"/>
            <a:ext cx="219456" cy="219456"/>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 33"/>
          <p:cNvSpPr txBox="1"/>
          <p:nvPr/>
        </p:nvSpPr>
        <p:spPr>
          <a:xfrm>
            <a:off x="3337560"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2</a:t>
            </a:r>
          </a:p>
        </p:txBody>
      </p:sp>
      <p:sp>
        <p:nvSpPr>
          <p:cNvPr id="35" name="Text 34"/>
          <p:cNvSpPr txBox="1"/>
          <p:nvPr/>
        </p:nvSpPr>
        <p:spPr>
          <a:xfrm>
            <a:off x="3630168" y="1170432"/>
            <a:ext cx="4114800" cy="219456"/>
          </a:xfrm>
          <a:prstGeom prst="rect">
            <a:avLst/>
          </a:prstGeom>
          <a:noFill/>
        </p:spPr>
        <p:txBody>
          <a:bodyPr wrap="square" lIns="0" rIns="0" tIns="0" bIns="0" anchor="ctr">
            <a:spAutoFit/>
          </a:bodyPr>
          <a:lstStyle/>
          <a:p>
            <a:r>
              <a:rPr sz="800" b="1" i="0" spc="60">
                <a:solidFill>
                  <a:srgbClr val="8A6D00"/>
                </a:solidFill>
                <a:latin typeface="Trenda IG Text"/>
              </a:rPr>
              <a:t>CODEX · SINGLE USER INTERFACE</a:t>
            </a:r>
          </a:p>
        </p:txBody>
      </p:sp>
      <p:sp>
        <p:nvSpPr>
          <p:cNvPr id="36" name="Shape 35"/>
          <p:cNvSpPr/>
          <p:nvPr/>
        </p:nvSpPr>
        <p:spPr>
          <a:xfrm>
            <a:off x="3337560" y="1463040"/>
            <a:ext cx="3749039" cy="3611879"/>
          </a:xfrm>
          <a:prstGeom prst="roundRect">
            <a:avLst>
              <a:gd name="adj" fmla="val 8000"/>
            </a:avLst>
          </a:prstGeom>
          <a:solidFill>
            <a:srgbClr val="FFFFFF"/>
          </a:solidFill>
          <a:ln w="1905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 36"/>
          <p:cNvSpPr txBox="1"/>
          <p:nvPr/>
        </p:nvSpPr>
        <p:spPr>
          <a:xfrm>
            <a:off x="3337560" y="1536192"/>
            <a:ext cx="3749039" cy="237744"/>
          </a:xfrm>
          <a:prstGeom prst="rect">
            <a:avLst/>
          </a:prstGeom>
          <a:noFill/>
        </p:spPr>
        <p:txBody>
          <a:bodyPr wrap="square" lIns="0" rIns="0" tIns="0" bIns="0" anchor="ctr">
            <a:spAutoFit/>
          </a:bodyPr>
          <a:lstStyle/>
          <a:p>
            <a:pPr algn="ctr"/>
            <a:r>
              <a:rPr sz="1000" b="1" i="0">
                <a:solidFill>
                  <a:srgbClr val="1A1A1A"/>
                </a:solidFill>
                <a:latin typeface="Trenda IG Text"/>
              </a:rPr>
              <a:t>ONE CONVERSATION · NAMED APPROVALS</a:t>
            </a:r>
          </a:p>
        </p:txBody>
      </p:sp>
      <p:sp>
        <p:nvSpPr>
          <p:cNvPr id="38" name="Text 37"/>
          <p:cNvSpPr txBox="1"/>
          <p:nvPr/>
        </p:nvSpPr>
        <p:spPr>
          <a:xfrm>
            <a:off x="3337560" y="1773936"/>
            <a:ext cx="3749039" cy="164592"/>
          </a:xfrm>
          <a:prstGeom prst="rect">
            <a:avLst/>
          </a:prstGeom>
          <a:noFill/>
        </p:spPr>
        <p:txBody>
          <a:bodyPr wrap="square" lIns="0" rIns="0" tIns="0" bIns="0" anchor="ctr">
            <a:spAutoFit/>
          </a:bodyPr>
          <a:lstStyle/>
          <a:p>
            <a:pPr algn="ctr"/>
            <a:r>
              <a:rPr sz="700" b="0" i="0">
                <a:solidFill>
                  <a:srgbClr val="8A6D00"/>
                </a:solidFill>
                <a:latin typeface="Trenda IG Text"/>
              </a:rPr>
              <a:t>approvals signed by the approval service, never by Codex</a:t>
            </a:r>
          </a:p>
        </p:txBody>
      </p:sp>
      <p:sp>
        <p:nvSpPr>
          <p:cNvPr id="39" name="Shape 38"/>
          <p:cNvSpPr/>
          <p:nvPr/>
        </p:nvSpPr>
        <p:spPr>
          <a:xfrm>
            <a:off x="3483864" y="2029968"/>
            <a:ext cx="3456432" cy="51206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Shape 39"/>
          <p:cNvSpPr/>
          <p:nvPr/>
        </p:nvSpPr>
        <p:spPr>
          <a:xfrm>
            <a:off x="3483864" y="2029968"/>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 40"/>
          <p:cNvSpPr txBox="1"/>
          <p:nvPr/>
        </p:nvSpPr>
        <p:spPr>
          <a:xfrm>
            <a:off x="3621024" y="2057400"/>
            <a:ext cx="2724911" cy="237744"/>
          </a:xfrm>
          <a:prstGeom prst="rect">
            <a:avLst/>
          </a:prstGeom>
          <a:noFill/>
        </p:spPr>
        <p:txBody>
          <a:bodyPr wrap="square" lIns="0" rIns="0" tIns="0" bIns="0" anchor="ctr">
            <a:spAutoFit/>
          </a:bodyPr>
          <a:lstStyle/>
          <a:p>
            <a:r>
              <a:rPr sz="800" b="1" i="0">
                <a:solidFill>
                  <a:srgbClr val="0089A0"/>
                </a:solidFill>
                <a:latin typeface="Trenda IG Text"/>
              </a:rPr>
              <a:t>A  </a:t>
            </a:r>
            <a:r>
              <a:rPr sz="800" b="1" i="0">
                <a:solidFill>
                  <a:srgbClr val="1A1A1A"/>
                </a:solidFill>
                <a:latin typeface="Trenda IG Text"/>
              </a:rPr>
              <a:t>Campaign goal</a:t>
            </a:r>
          </a:p>
        </p:txBody>
      </p:sp>
      <p:sp>
        <p:nvSpPr>
          <p:cNvPr id="42" name="Text 41"/>
          <p:cNvSpPr txBox="1"/>
          <p:nvPr/>
        </p:nvSpPr>
        <p:spPr>
          <a:xfrm>
            <a:off x="3621024" y="2295144"/>
            <a:ext cx="3227832" cy="237744"/>
          </a:xfrm>
          <a:prstGeom prst="rect">
            <a:avLst/>
          </a:prstGeom>
          <a:noFill/>
        </p:spPr>
        <p:txBody>
          <a:bodyPr wrap="square" lIns="0" rIns="0" tIns="0" bIns="0" anchor="t">
            <a:spAutoFit/>
          </a:bodyPr>
          <a:lstStyle/>
          <a:p>
            <a:r>
              <a:rPr sz="700" b="0" i="0">
                <a:solidFill>
                  <a:srgbClr val="4D4D4D"/>
                </a:solidFill>
                <a:latin typeface="Trenda IG Text"/>
              </a:rPr>
              <a:t>campaign, channel, cadence and target population</a:t>
            </a:r>
          </a:p>
        </p:txBody>
      </p:sp>
      <p:sp>
        <p:nvSpPr>
          <p:cNvPr id="43" name="Shape 42"/>
          <p:cNvSpPr/>
          <p:nvPr/>
        </p:nvSpPr>
        <p:spPr>
          <a:xfrm>
            <a:off x="3483864" y="2640330"/>
            <a:ext cx="3456432" cy="51206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Shape 43"/>
          <p:cNvSpPr/>
          <p:nvPr/>
        </p:nvSpPr>
        <p:spPr>
          <a:xfrm>
            <a:off x="3483864" y="2640330"/>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4"/>
          <p:cNvSpPr txBox="1"/>
          <p:nvPr/>
        </p:nvSpPr>
        <p:spPr>
          <a:xfrm>
            <a:off x="3621024" y="2667762"/>
            <a:ext cx="2724911" cy="237744"/>
          </a:xfrm>
          <a:prstGeom prst="rect">
            <a:avLst/>
          </a:prstGeom>
          <a:noFill/>
        </p:spPr>
        <p:txBody>
          <a:bodyPr wrap="square" lIns="0" rIns="0" tIns="0" bIns="0" anchor="ctr">
            <a:spAutoFit/>
          </a:bodyPr>
          <a:lstStyle/>
          <a:p>
            <a:r>
              <a:rPr sz="800" b="1" i="0">
                <a:solidFill>
                  <a:srgbClr val="8A6D00"/>
                </a:solidFill>
                <a:latin typeface="Trenda IG Text"/>
              </a:rPr>
              <a:t>B  </a:t>
            </a:r>
            <a:r>
              <a:rPr sz="800" b="1" i="0">
                <a:solidFill>
                  <a:srgbClr val="1A1A1A"/>
                </a:solidFill>
                <a:latin typeface="Trenda IG Text"/>
              </a:rPr>
              <a:t>Cohort JSON + refresh policy</a:t>
            </a:r>
          </a:p>
        </p:txBody>
      </p:sp>
      <p:sp>
        <p:nvSpPr>
          <p:cNvPr id="46" name="Text 45"/>
          <p:cNvSpPr txBox="1"/>
          <p:nvPr/>
        </p:nvSpPr>
        <p:spPr>
          <a:xfrm>
            <a:off x="3621024" y="2905506"/>
            <a:ext cx="3227832" cy="237744"/>
          </a:xfrm>
          <a:prstGeom prst="rect">
            <a:avLst/>
          </a:prstGeom>
          <a:noFill/>
        </p:spPr>
        <p:txBody>
          <a:bodyPr wrap="square" lIns="0" rIns="0" tIns="0" bIns="0" anchor="t">
            <a:spAutoFit/>
          </a:bodyPr>
          <a:lstStyle/>
          <a:p>
            <a:r>
              <a:rPr sz="700" b="0" i="0">
                <a:solidFill>
                  <a:srgbClr val="4D4D4D"/>
                </a:solidFill>
                <a:latin typeface="Trenda IG Text"/>
              </a:rPr>
              <a:t>versioned criteria and the daily refresh rule</a:t>
            </a:r>
          </a:p>
        </p:txBody>
      </p:sp>
      <p:sp>
        <p:nvSpPr>
          <p:cNvPr id="47" name="Shape 46"/>
          <p:cNvSpPr/>
          <p:nvPr/>
        </p:nvSpPr>
        <p:spPr>
          <a:xfrm>
            <a:off x="6437376" y="2704338"/>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7"/>
          <p:cNvSpPr txBox="1"/>
          <p:nvPr/>
        </p:nvSpPr>
        <p:spPr>
          <a:xfrm>
            <a:off x="6437376" y="2704338"/>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G1</a:t>
            </a:r>
          </a:p>
        </p:txBody>
      </p:sp>
      <p:sp>
        <p:nvSpPr>
          <p:cNvPr id="49" name="Shape 48"/>
          <p:cNvSpPr/>
          <p:nvPr/>
        </p:nvSpPr>
        <p:spPr>
          <a:xfrm>
            <a:off x="3483864" y="3250692"/>
            <a:ext cx="3456432" cy="51206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Shape 49"/>
          <p:cNvSpPr/>
          <p:nvPr/>
        </p:nvSpPr>
        <p:spPr>
          <a:xfrm>
            <a:off x="3483864" y="3250692"/>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50"/>
          <p:cNvSpPr txBox="1"/>
          <p:nvPr/>
        </p:nvSpPr>
        <p:spPr>
          <a:xfrm>
            <a:off x="3621024" y="3278124"/>
            <a:ext cx="2724911" cy="237744"/>
          </a:xfrm>
          <a:prstGeom prst="rect">
            <a:avLst/>
          </a:prstGeom>
          <a:noFill/>
        </p:spPr>
        <p:txBody>
          <a:bodyPr wrap="square" lIns="0" rIns="0" tIns="0" bIns="0" anchor="ctr">
            <a:spAutoFit/>
          </a:bodyPr>
          <a:lstStyle/>
          <a:p>
            <a:r>
              <a:rPr sz="800" b="1" i="0">
                <a:solidFill>
                  <a:srgbClr val="8A6D00"/>
                </a:solidFill>
                <a:latin typeface="Trenda IG Text"/>
              </a:rPr>
              <a:t>C  </a:t>
            </a:r>
            <a:r>
              <a:rPr sz="800" b="1" i="0">
                <a:solidFill>
                  <a:srgbClr val="1A1A1A"/>
                </a:solidFill>
                <a:latin typeface="Trenda IG Text"/>
              </a:rPr>
              <a:t>Build + test the journey</a:t>
            </a:r>
          </a:p>
        </p:txBody>
      </p:sp>
      <p:sp>
        <p:nvSpPr>
          <p:cNvPr id="52" name="Text 51"/>
          <p:cNvSpPr txBox="1"/>
          <p:nvPr/>
        </p:nvSpPr>
        <p:spPr>
          <a:xfrm>
            <a:off x="3621024" y="3515868"/>
            <a:ext cx="3227832" cy="237744"/>
          </a:xfrm>
          <a:prstGeom prst="rect">
            <a:avLst/>
          </a:prstGeom>
          <a:noFill/>
        </p:spPr>
        <p:txBody>
          <a:bodyPr wrap="square" lIns="0" rIns="0" tIns="0" bIns="0" anchor="t">
            <a:spAutoFit/>
          </a:bodyPr>
          <a:lstStyle/>
          <a:p>
            <a:r>
              <a:rPr sz="700" b="0" i="0">
                <a:solidFill>
                  <a:srgbClr val="4D4D4D"/>
                </a:solidFill>
                <a:latin typeface="Trenda IG Text"/>
              </a:rPr>
              <a:t>test contacts only; clinical + compliance</a:t>
            </a:r>
          </a:p>
        </p:txBody>
      </p:sp>
      <p:sp>
        <p:nvSpPr>
          <p:cNvPr id="53" name="Shape 52"/>
          <p:cNvSpPr/>
          <p:nvPr/>
        </p:nvSpPr>
        <p:spPr>
          <a:xfrm>
            <a:off x="6437376" y="3314700"/>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3"/>
          <p:cNvSpPr txBox="1"/>
          <p:nvPr/>
        </p:nvSpPr>
        <p:spPr>
          <a:xfrm>
            <a:off x="6437376" y="3314700"/>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G3</a:t>
            </a:r>
          </a:p>
        </p:txBody>
      </p:sp>
      <p:sp>
        <p:nvSpPr>
          <p:cNvPr id="55" name="Shape 54"/>
          <p:cNvSpPr/>
          <p:nvPr/>
        </p:nvSpPr>
        <p:spPr>
          <a:xfrm>
            <a:off x="3483864" y="3861054"/>
            <a:ext cx="3456432" cy="51206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Shape 55"/>
          <p:cNvSpPr/>
          <p:nvPr/>
        </p:nvSpPr>
        <p:spPr>
          <a:xfrm>
            <a:off x="3483864" y="3861054"/>
            <a:ext cx="45720" cy="512064"/>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6"/>
          <p:cNvSpPr txBox="1"/>
          <p:nvPr/>
        </p:nvSpPr>
        <p:spPr>
          <a:xfrm>
            <a:off x="3621024" y="3888486"/>
            <a:ext cx="2724911" cy="237744"/>
          </a:xfrm>
          <a:prstGeom prst="rect">
            <a:avLst/>
          </a:prstGeom>
          <a:noFill/>
        </p:spPr>
        <p:txBody>
          <a:bodyPr wrap="square" lIns="0" rIns="0" tIns="0" bIns="0" anchor="ctr">
            <a:spAutoFit/>
          </a:bodyPr>
          <a:lstStyle/>
          <a:p>
            <a:r>
              <a:rPr sz="800" b="1" i="0">
                <a:solidFill>
                  <a:srgbClr val="8A6D00"/>
                </a:solidFill>
                <a:latin typeface="Trenda IG Text"/>
              </a:rPr>
              <a:t>D  </a:t>
            </a:r>
            <a:r>
              <a:rPr sz="800" b="1" i="0">
                <a:solidFill>
                  <a:srgbClr val="1A1A1A"/>
                </a:solidFill>
                <a:latin typeface="Trenda IG Text"/>
              </a:rPr>
              <a:t>First run</a:t>
            </a:r>
          </a:p>
        </p:txBody>
      </p:sp>
      <p:sp>
        <p:nvSpPr>
          <p:cNvPr id="58" name="Text 57"/>
          <p:cNvSpPr txBox="1"/>
          <p:nvPr/>
        </p:nvSpPr>
        <p:spPr>
          <a:xfrm>
            <a:off x="3621024" y="4126230"/>
            <a:ext cx="3227832" cy="237744"/>
          </a:xfrm>
          <a:prstGeom prst="rect">
            <a:avLst/>
          </a:prstGeom>
          <a:noFill/>
        </p:spPr>
        <p:txBody>
          <a:bodyPr wrap="square" lIns="0" rIns="0" tIns="0" bIns="0" anchor="t">
            <a:spAutoFit/>
          </a:bodyPr>
          <a:lstStyle/>
          <a:p>
            <a:r>
              <a:rPr sz="700" b="0" i="0">
                <a:solidFill>
                  <a:srgbClr val="4D4D4D"/>
                </a:solidFill>
                <a:latin typeface="Trenda IG Text"/>
              </a:rPr>
              <a:t>counts, exclusions, fields and destination; no PHI</a:t>
            </a:r>
          </a:p>
        </p:txBody>
      </p:sp>
      <p:sp>
        <p:nvSpPr>
          <p:cNvPr id="59" name="Shape 58"/>
          <p:cNvSpPr/>
          <p:nvPr/>
        </p:nvSpPr>
        <p:spPr>
          <a:xfrm>
            <a:off x="6437376" y="3925062"/>
            <a:ext cx="41148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9"/>
          <p:cNvSpPr txBox="1"/>
          <p:nvPr/>
        </p:nvSpPr>
        <p:spPr>
          <a:xfrm>
            <a:off x="6437376" y="3925062"/>
            <a:ext cx="411480" cy="182880"/>
          </a:xfrm>
          <a:prstGeom prst="rect">
            <a:avLst/>
          </a:prstGeom>
          <a:noFill/>
        </p:spPr>
        <p:txBody>
          <a:bodyPr wrap="square" lIns="0" rIns="0" tIns="0" bIns="0" anchor="ctr">
            <a:spAutoFit/>
          </a:bodyPr>
          <a:lstStyle/>
          <a:p>
            <a:pPr algn="ctr"/>
            <a:r>
              <a:rPr sz="700" b="1" i="0">
                <a:solidFill>
                  <a:srgbClr val="000000"/>
                </a:solidFill>
                <a:latin typeface="Trenda IG Text"/>
              </a:rPr>
              <a:t>G2</a:t>
            </a:r>
          </a:p>
        </p:txBody>
      </p:sp>
      <p:sp>
        <p:nvSpPr>
          <p:cNvPr id="61" name="Shape 60"/>
          <p:cNvSpPr/>
          <p:nvPr/>
        </p:nvSpPr>
        <p:spPr>
          <a:xfrm>
            <a:off x="3483864" y="4471416"/>
            <a:ext cx="3456432" cy="512064"/>
          </a:xfrm>
          <a:prstGeom prst="roundRect">
            <a:avLst>
              <a:gd name="adj" fmla="val 8000"/>
            </a:avLst>
          </a:prstGeom>
          <a:solidFill>
            <a:srgbClr val="F5F5F5"/>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Shape 61"/>
          <p:cNvSpPr/>
          <p:nvPr/>
        </p:nvSpPr>
        <p:spPr>
          <a:xfrm>
            <a:off x="3483864" y="4471416"/>
            <a:ext cx="45720" cy="512064"/>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2"/>
          <p:cNvSpPr txBox="1"/>
          <p:nvPr/>
        </p:nvSpPr>
        <p:spPr>
          <a:xfrm>
            <a:off x="3621024" y="4498848"/>
            <a:ext cx="2724911" cy="237744"/>
          </a:xfrm>
          <a:prstGeom prst="rect">
            <a:avLst/>
          </a:prstGeom>
          <a:noFill/>
        </p:spPr>
        <p:txBody>
          <a:bodyPr wrap="square" lIns="0" rIns="0" tIns="0" bIns="0" anchor="ctr">
            <a:spAutoFit/>
          </a:bodyPr>
          <a:lstStyle/>
          <a:p>
            <a:r>
              <a:rPr sz="800" b="1" i="0">
                <a:solidFill>
                  <a:srgbClr val="0089A0"/>
                </a:solidFill>
                <a:latin typeface="Trenda IG Text"/>
              </a:rPr>
              <a:t>E  </a:t>
            </a:r>
            <a:r>
              <a:rPr sz="800" b="1" i="0">
                <a:solidFill>
                  <a:srgbClr val="1A1A1A"/>
                </a:solidFill>
                <a:latin typeface="Trenda IG Text"/>
              </a:rPr>
              <a:t>Ongoing status in Codex</a:t>
            </a:r>
          </a:p>
        </p:txBody>
      </p:sp>
      <p:sp>
        <p:nvSpPr>
          <p:cNvPr id="64" name="Text 63"/>
          <p:cNvSpPr txBox="1"/>
          <p:nvPr/>
        </p:nvSpPr>
        <p:spPr>
          <a:xfrm>
            <a:off x="3621024" y="4736592"/>
            <a:ext cx="3227832" cy="237744"/>
          </a:xfrm>
          <a:prstGeom prst="rect">
            <a:avLst/>
          </a:prstGeom>
          <a:noFill/>
        </p:spPr>
        <p:txBody>
          <a:bodyPr wrap="square" lIns="0" rIns="0" tIns="0" bIns="0" anchor="t">
            <a:spAutoFit/>
          </a:bodyPr>
          <a:lstStyle/>
          <a:p>
            <a:r>
              <a:rPr sz="700" b="0" i="0">
                <a:solidFill>
                  <a:srgbClr val="4D4D4D"/>
                </a:solidFill>
                <a:latin typeface="Trenda IG Text"/>
              </a:rPr>
              <a:t>daily refresh results, failures, pauses, rule alerts</a:t>
            </a:r>
          </a:p>
        </p:txBody>
      </p:sp>
      <p:sp>
        <p:nvSpPr>
          <p:cNvPr id="65" name="Shape 64"/>
          <p:cNvSpPr/>
          <p:nvPr/>
        </p:nvSpPr>
        <p:spPr>
          <a:xfrm>
            <a:off x="7287768" y="1170432"/>
            <a:ext cx="219456" cy="219456"/>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5"/>
          <p:cNvSpPr txBox="1"/>
          <p:nvPr/>
        </p:nvSpPr>
        <p:spPr>
          <a:xfrm>
            <a:off x="7287768" y="1170432"/>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3</a:t>
            </a:r>
          </a:p>
        </p:txBody>
      </p:sp>
      <p:sp>
        <p:nvSpPr>
          <p:cNvPr id="67" name="Text 66"/>
          <p:cNvSpPr txBox="1"/>
          <p:nvPr/>
        </p:nvSpPr>
        <p:spPr>
          <a:xfrm>
            <a:off x="7580375" y="1170432"/>
            <a:ext cx="4114800" cy="219456"/>
          </a:xfrm>
          <a:prstGeom prst="rect">
            <a:avLst/>
          </a:prstGeom>
          <a:noFill/>
        </p:spPr>
        <p:txBody>
          <a:bodyPr wrap="square" lIns="0" rIns="0" tIns="0" bIns="0" anchor="ctr">
            <a:spAutoFit/>
          </a:bodyPr>
          <a:lstStyle/>
          <a:p>
            <a:r>
              <a:rPr sz="800" b="1" i="0" spc="60">
                <a:solidFill>
                  <a:srgbClr val="FF0069"/>
                </a:solidFill>
                <a:latin typeface="Trenda IG Text"/>
              </a:rPr>
              <a:t>COHORT RESOLUTION + ACTIVATION · PROTECTED BOUNDARY</a:t>
            </a:r>
          </a:p>
        </p:txBody>
      </p:sp>
      <p:sp>
        <p:nvSpPr>
          <p:cNvPr id="68" name="Shape 67"/>
          <p:cNvSpPr/>
          <p:nvPr/>
        </p:nvSpPr>
        <p:spPr>
          <a:xfrm>
            <a:off x="7251192" y="1417320"/>
            <a:ext cx="4562856" cy="3703320"/>
          </a:xfrm>
          <a:prstGeom prst="roundRect">
            <a:avLst>
              <a:gd name="adj" fmla="val 3000"/>
            </a:avLst>
          </a:prstGeom>
          <a:noFill/>
          <a:ln w="12700">
            <a:solidFill>
              <a:srgbClr val="FF006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8"/>
          <p:cNvSpPr/>
          <p:nvPr/>
        </p:nvSpPr>
        <p:spPr>
          <a:xfrm>
            <a:off x="7360919" y="1536192"/>
            <a:ext cx="1362456" cy="566928"/>
          </a:xfrm>
          <a:prstGeom prst="roundRect">
            <a:avLst>
              <a:gd name="adj" fmla="val 8000"/>
            </a:avLst>
          </a:prstGeom>
          <a:solidFill>
            <a:srgbClr val="E0FAFE"/>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7434071"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3.1  Cohort Resolution Engine</a:t>
            </a:r>
          </a:p>
          <a:p>
            <a:pPr>
              <a:lnSpc>
                <a:spcPct val="92000"/>
              </a:lnSpc>
              <a:spcAft>
                <a:spcPts val="100"/>
              </a:spcAft>
            </a:pPr>
            <a:r>
              <a:rPr sz="700" b="0" i="0">
                <a:solidFill>
                  <a:srgbClr val="4D4D4D"/>
                </a:solidFill>
                <a:latin typeface="Trenda IG Text"/>
              </a:rPr>
              <a:t>checks JSON + token; controlled query</a:t>
            </a:r>
          </a:p>
        </p:txBody>
      </p:sp>
      <p:cxnSp>
        <p:nvCxnSpPr>
          <p:cNvPr id="71" name="Arrow 70"/>
          <p:cNvCxnSpPr/>
          <p:nvPr/>
        </p:nvCxnSpPr>
        <p:spPr>
          <a:xfrm>
            <a:off x="8723376" y="1819656"/>
            <a:ext cx="128016"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2" name="Shape 71"/>
          <p:cNvSpPr/>
          <p:nvPr/>
        </p:nvSpPr>
        <p:spPr>
          <a:xfrm>
            <a:off x="8851392" y="1536192"/>
            <a:ext cx="1362456" cy="566928"/>
          </a:xfrm>
          <a:prstGeom prst="roundRect">
            <a:avLst>
              <a:gd name="adj" fmla="val 8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8924544"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3.2  Patient query</a:t>
            </a:r>
          </a:p>
          <a:p>
            <a:pPr>
              <a:lnSpc>
                <a:spcPct val="92000"/>
              </a:lnSpc>
              <a:spcAft>
                <a:spcPts val="100"/>
              </a:spcAft>
            </a:pPr>
            <a:r>
              <a:rPr sz="700" b="0" i="0">
                <a:solidFill>
                  <a:srgbClr val="4D4D4D"/>
                </a:solidFill>
                <a:latin typeface="Trenda IG Text"/>
              </a:rPr>
              <a:t>matching patients, inside the boundary</a:t>
            </a:r>
          </a:p>
        </p:txBody>
      </p:sp>
      <p:cxnSp>
        <p:nvCxnSpPr>
          <p:cNvPr id="74" name="Arrow 73"/>
          <p:cNvCxnSpPr/>
          <p:nvPr/>
        </p:nvCxnSpPr>
        <p:spPr>
          <a:xfrm>
            <a:off x="10213848" y="1819656"/>
            <a:ext cx="128015"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75" name="Shape 74"/>
          <p:cNvSpPr/>
          <p:nvPr/>
        </p:nvSpPr>
        <p:spPr>
          <a:xfrm>
            <a:off x="10341863" y="1536192"/>
            <a:ext cx="1362456" cy="566928"/>
          </a:xfrm>
          <a:prstGeom prst="roundRect">
            <a:avLst>
              <a:gd name="adj" fmla="val 8000"/>
            </a:avLst>
          </a:prstGeom>
          <a:solidFill>
            <a:srgbClr val="E0FAFE"/>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10415015" y="1572768"/>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3.3  Eligibility checks</a:t>
            </a:r>
          </a:p>
          <a:p>
            <a:pPr>
              <a:lnSpc>
                <a:spcPct val="92000"/>
              </a:lnSpc>
              <a:spcAft>
                <a:spcPts val="100"/>
              </a:spcAft>
            </a:pPr>
            <a:r>
              <a:rPr sz="700" b="0" i="0">
                <a:solidFill>
                  <a:srgbClr val="4D4D4D"/>
                </a:solidFill>
                <a:latin typeface="Trenda IG Text"/>
              </a:rPr>
              <a:t>consent · STOP · suppression · deceased · duplicates</a:t>
            </a:r>
          </a:p>
        </p:txBody>
      </p:sp>
      <p:sp>
        <p:nvSpPr>
          <p:cNvPr id="77" name="Shape 76"/>
          <p:cNvSpPr/>
          <p:nvPr/>
        </p:nvSpPr>
        <p:spPr>
          <a:xfrm>
            <a:off x="7360919" y="2194560"/>
            <a:ext cx="1362456" cy="566928"/>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7"/>
          <p:cNvSpPr txBox="1"/>
          <p:nvPr/>
        </p:nvSpPr>
        <p:spPr>
          <a:xfrm>
            <a:off x="7434071"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3.4  Summary → Codex</a:t>
            </a:r>
          </a:p>
          <a:p>
            <a:pPr>
              <a:lnSpc>
                <a:spcPct val="92000"/>
              </a:lnSpc>
              <a:spcAft>
                <a:spcPts val="100"/>
              </a:spcAft>
            </a:pPr>
            <a:r>
              <a:rPr sz="700" b="0" i="0">
                <a:solidFill>
                  <a:srgbClr val="4D4D4D"/>
                </a:solidFill>
                <a:latin typeface="Trenda IG Text"/>
              </a:rPr>
              <a:t>counts, exclusions, fields; no PHI</a:t>
            </a:r>
          </a:p>
        </p:txBody>
      </p:sp>
      <p:cxnSp>
        <p:nvCxnSpPr>
          <p:cNvPr id="79" name="Arrow 78"/>
          <p:cNvCxnSpPr/>
          <p:nvPr/>
        </p:nvCxnSpPr>
        <p:spPr>
          <a:xfrm>
            <a:off x="8723376" y="2478024"/>
            <a:ext cx="128016"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9"/>
          <p:cNvSpPr/>
          <p:nvPr/>
        </p:nvSpPr>
        <p:spPr>
          <a:xfrm>
            <a:off x="8851392" y="2194560"/>
            <a:ext cx="1362456" cy="566928"/>
          </a:xfrm>
          <a:prstGeom prst="roundRect">
            <a:avLst>
              <a:gd name="adj" fmla="val 8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80"/>
          <p:cNvSpPr txBox="1"/>
          <p:nvPr/>
        </p:nvSpPr>
        <p:spPr>
          <a:xfrm>
            <a:off x="8924544"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3.5  Activation Engine</a:t>
            </a:r>
          </a:p>
          <a:p>
            <a:pPr>
              <a:lnSpc>
                <a:spcPct val="92000"/>
              </a:lnSpc>
              <a:spcAft>
                <a:spcPts val="100"/>
              </a:spcAft>
            </a:pPr>
            <a:r>
              <a:rPr sz="700" b="0" i="0">
                <a:solidFill>
                  <a:srgbClr val="4D4D4D"/>
                </a:solidFill>
                <a:latin typeface="Trenda IG Text"/>
              </a:rPr>
              <a:t>checks G2, purpose, rule version, fields, unmask the data</a:t>
            </a:r>
          </a:p>
        </p:txBody>
      </p:sp>
      <p:cxnSp>
        <p:nvCxnSpPr>
          <p:cNvPr id="82" name="Arrow 81"/>
          <p:cNvCxnSpPr/>
          <p:nvPr/>
        </p:nvCxnSpPr>
        <p:spPr>
          <a:xfrm>
            <a:off x="10213848" y="2478024"/>
            <a:ext cx="128015"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82"/>
          <p:cNvSpPr/>
          <p:nvPr/>
        </p:nvSpPr>
        <p:spPr>
          <a:xfrm>
            <a:off x="10341863" y="2194560"/>
            <a:ext cx="1362456" cy="566928"/>
          </a:xfrm>
          <a:prstGeom prst="roundRect">
            <a:avLst>
              <a:gd name="adj" fmla="val 8000"/>
            </a:avLst>
          </a:prstGeom>
          <a:solidFill>
            <a:srgbClr val="F5F5F5"/>
          </a:solid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3"/>
          <p:cNvSpPr txBox="1"/>
          <p:nvPr/>
        </p:nvSpPr>
        <p:spPr>
          <a:xfrm>
            <a:off x="10415015" y="2231136"/>
            <a:ext cx="1234440" cy="49377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3.6  MC data extension</a:t>
            </a:r>
          </a:p>
          <a:p>
            <a:pPr>
              <a:lnSpc>
                <a:spcPct val="92000"/>
              </a:lnSpc>
              <a:spcAft>
                <a:spcPts val="100"/>
              </a:spcAft>
            </a:pPr>
            <a:r>
              <a:rPr sz="700" b="0" i="0">
                <a:solidFill>
                  <a:srgbClr val="4D4D4D"/>
                </a:solidFill>
                <a:latin typeface="Trenda IG Text"/>
              </a:rPr>
              <a:t>approved records; neutral name</a:t>
            </a:r>
          </a:p>
        </p:txBody>
      </p:sp>
      <p:cxnSp>
        <p:nvCxnSpPr>
          <p:cNvPr id="85" name="Arrow 84"/>
          <p:cNvCxnSpPr/>
          <p:nvPr/>
        </p:nvCxnSpPr>
        <p:spPr>
          <a:xfrm>
            <a:off x="11023091" y="2103120"/>
            <a:ext cx="0" cy="73152"/>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86" name="Arrow 85"/>
          <p:cNvCxnSpPr/>
          <p:nvPr/>
        </p:nvCxnSpPr>
        <p:spPr>
          <a:xfrm flipH="1">
            <a:off x="8042147" y="2176272"/>
            <a:ext cx="2980944" cy="0"/>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87" name="Arrow 86"/>
          <p:cNvCxnSpPr/>
          <p:nvPr/>
        </p:nvCxnSpPr>
        <p:spPr>
          <a:xfrm>
            <a:off x="8042147" y="2176272"/>
            <a:ext cx="0" cy="18288"/>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8" name="Shape 87"/>
          <p:cNvSpPr/>
          <p:nvPr/>
        </p:nvSpPr>
        <p:spPr>
          <a:xfrm>
            <a:off x="7360919" y="2889504"/>
            <a:ext cx="219456" cy="219456"/>
          </a:xfrm>
          <a:prstGeom prst="roundRect">
            <a:avLst>
              <a:gd name="adj" fmla="val 50000"/>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8"/>
          <p:cNvSpPr txBox="1"/>
          <p:nvPr/>
        </p:nvSpPr>
        <p:spPr>
          <a:xfrm>
            <a:off x="7360919" y="2889504"/>
            <a:ext cx="219456" cy="219456"/>
          </a:xfrm>
          <a:prstGeom prst="rect">
            <a:avLst/>
          </a:prstGeom>
          <a:noFill/>
        </p:spPr>
        <p:txBody>
          <a:bodyPr wrap="square" lIns="0" rIns="0" tIns="0" bIns="0" anchor="ctr">
            <a:spAutoFit/>
          </a:bodyPr>
          <a:lstStyle/>
          <a:p>
            <a:pPr algn="ctr"/>
            <a:r>
              <a:rPr sz="700" b="1" i="0">
                <a:solidFill>
                  <a:srgbClr val="000000"/>
                </a:solidFill>
                <a:latin typeface="Trenda IG Text"/>
              </a:rPr>
              <a:t>4</a:t>
            </a:r>
          </a:p>
        </p:txBody>
      </p:sp>
      <p:sp>
        <p:nvSpPr>
          <p:cNvPr id="90" name="Text 89"/>
          <p:cNvSpPr txBox="1"/>
          <p:nvPr/>
        </p:nvSpPr>
        <p:spPr>
          <a:xfrm>
            <a:off x="7653527" y="2889504"/>
            <a:ext cx="4114800" cy="219456"/>
          </a:xfrm>
          <a:prstGeom prst="rect">
            <a:avLst/>
          </a:prstGeom>
          <a:noFill/>
        </p:spPr>
        <p:txBody>
          <a:bodyPr wrap="square" lIns="0" rIns="0" tIns="0" bIns="0" anchor="ctr">
            <a:spAutoFit/>
          </a:bodyPr>
          <a:lstStyle/>
          <a:p>
            <a:r>
              <a:rPr sz="800" b="1" i="0" spc="60">
                <a:solidFill>
                  <a:srgbClr val="0089A0"/>
                </a:solidFill>
                <a:latin typeface="Trenda IG Text"/>
              </a:rPr>
              <a:t>CONTINUOUS COHORT REFRESH · EVERY DAY</a:t>
            </a:r>
          </a:p>
        </p:txBody>
      </p:sp>
      <p:sp>
        <p:nvSpPr>
          <p:cNvPr id="91" name="Shape 90"/>
          <p:cNvSpPr/>
          <p:nvPr/>
        </p:nvSpPr>
        <p:spPr>
          <a:xfrm>
            <a:off x="7360919" y="3163824"/>
            <a:ext cx="4343400" cy="1874519"/>
          </a:xfrm>
          <a:prstGeom prst="roundRect">
            <a:avLst>
              <a:gd name="adj" fmla="val 4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hape 91"/>
          <p:cNvSpPr/>
          <p:nvPr/>
        </p:nvSpPr>
        <p:spPr>
          <a:xfrm>
            <a:off x="7434071" y="3236976"/>
            <a:ext cx="4197096"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2"/>
          <p:cNvSpPr/>
          <p:nvPr/>
        </p:nvSpPr>
        <p:spPr>
          <a:xfrm>
            <a:off x="7434071" y="3236976"/>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7562088" y="3236976"/>
            <a:ext cx="4014215" cy="274320"/>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4.1  </a:t>
            </a:r>
            <a:r>
              <a:rPr sz="700" b="1" i="0">
                <a:solidFill>
                  <a:srgbClr val="1A1A1A"/>
                </a:solidFill>
                <a:latin typeface="Trenda IG Text"/>
              </a:rPr>
              <a:t>Daily data refresh</a:t>
            </a:r>
            <a:r>
              <a:rPr sz="700" b="0" i="0">
                <a:solidFill>
                  <a:srgbClr val="4D4D4D"/>
                </a:solidFill>
                <a:latin typeface="Trenda IG Text"/>
              </a:rPr>
              <a:t>  sources → Bronze → Silver → Gold; freshness checked</a:t>
            </a:r>
          </a:p>
        </p:txBody>
      </p:sp>
      <p:sp>
        <p:nvSpPr>
          <p:cNvPr id="95" name="Shape 94"/>
          <p:cNvSpPr/>
          <p:nvPr/>
        </p:nvSpPr>
        <p:spPr>
          <a:xfrm>
            <a:off x="7434071" y="3547872"/>
            <a:ext cx="4197096"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5"/>
          <p:cNvSpPr/>
          <p:nvPr/>
        </p:nvSpPr>
        <p:spPr>
          <a:xfrm>
            <a:off x="7434071" y="3547872"/>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7562088" y="3547872"/>
            <a:ext cx="4014215" cy="274320"/>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4.2  </a:t>
            </a:r>
            <a:r>
              <a:rPr sz="700" b="1" i="0">
                <a:solidFill>
                  <a:srgbClr val="1A1A1A"/>
                </a:solidFill>
                <a:latin typeface="Trenda IG Text"/>
              </a:rPr>
              <a:t>Refresh trigger</a:t>
            </a:r>
            <a:r>
              <a:rPr sz="700" b="0" i="0">
                <a:solidFill>
                  <a:srgbClr val="4D4D4D"/>
                </a:solidFill>
                <a:latin typeface="Trenda IG Text"/>
              </a:rPr>
              <a:t>  runs after each refresh; skips the run if data is stale</a:t>
            </a:r>
          </a:p>
        </p:txBody>
      </p:sp>
      <p:sp>
        <p:nvSpPr>
          <p:cNvPr id="98" name="Shape 97"/>
          <p:cNvSpPr/>
          <p:nvPr/>
        </p:nvSpPr>
        <p:spPr>
          <a:xfrm>
            <a:off x="7434071" y="3858768"/>
            <a:ext cx="4197096"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8"/>
          <p:cNvSpPr/>
          <p:nvPr/>
        </p:nvSpPr>
        <p:spPr>
          <a:xfrm>
            <a:off x="7434071" y="3858768"/>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7562088" y="3858768"/>
            <a:ext cx="4014215" cy="274320"/>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4.3  </a:t>
            </a:r>
            <a:r>
              <a:rPr sz="700" b="1" i="0">
                <a:solidFill>
                  <a:srgbClr val="1A1A1A"/>
                </a:solidFill>
                <a:latin typeface="Trenda IG Text"/>
              </a:rPr>
              <a:t>Incremental resolver</a:t>
            </a:r>
            <a:r>
              <a:rPr sz="700" b="0" i="0">
                <a:solidFill>
                  <a:srgbClr val="4D4D4D"/>
                </a:solidFill>
                <a:latin typeface="Trenda IG Text"/>
              </a:rPr>
              <a:t>  approved rule on new + changed patients; consent re-checked</a:t>
            </a:r>
          </a:p>
        </p:txBody>
      </p:sp>
      <p:sp>
        <p:nvSpPr>
          <p:cNvPr id="101" name="Shape 100"/>
          <p:cNvSpPr/>
          <p:nvPr/>
        </p:nvSpPr>
        <p:spPr>
          <a:xfrm>
            <a:off x="7434071" y="4169664"/>
            <a:ext cx="4197096" cy="27432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101"/>
          <p:cNvSpPr/>
          <p:nvPr/>
        </p:nvSpPr>
        <p:spPr>
          <a:xfrm>
            <a:off x="7434071" y="4169664"/>
            <a:ext cx="45720" cy="27432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7562088" y="4169664"/>
            <a:ext cx="4014215" cy="274320"/>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4.4  </a:t>
            </a:r>
            <a:r>
              <a:rPr sz="700" b="1" i="0">
                <a:solidFill>
                  <a:srgbClr val="1A1A1A"/>
                </a:solidFill>
                <a:latin typeface="Trenda IG Text"/>
              </a:rPr>
              <a:t>Delta activation + exit sync</a:t>
            </a:r>
            <a:r>
              <a:rPr sz="700" b="0" i="0">
                <a:solidFill>
                  <a:srgbClr val="4D4D4D"/>
                </a:solidFill>
                <a:latin typeface="Trenda IG Text"/>
              </a:rPr>
              <a:t>  adds the newly eligible; removes those who no longer qualify</a:t>
            </a:r>
          </a:p>
        </p:txBody>
      </p:sp>
      <p:sp>
        <p:nvSpPr>
          <p:cNvPr id="104" name="Text 103"/>
          <p:cNvSpPr txBox="1"/>
          <p:nvPr/>
        </p:nvSpPr>
        <p:spPr>
          <a:xfrm>
            <a:off x="7452359" y="4480560"/>
            <a:ext cx="4160520" cy="557783"/>
          </a:xfrm>
          <a:prstGeom prst="rect">
            <a:avLst/>
          </a:prstGeom>
          <a:noFill/>
        </p:spPr>
        <p:txBody>
          <a:bodyPr wrap="square" lIns="0" rIns="0" tIns="0" bIns="0" anchor="ctr">
            <a:spAutoFit/>
          </a:bodyPr>
          <a:lstStyle/>
          <a:p>
            <a:r>
              <a:rPr sz="700" b="1" i="0">
                <a:solidFill>
                  <a:srgbClr val="8A6D00"/>
                </a:solidFill>
                <a:latin typeface="Trenda IG Text"/>
              </a:rPr>
              <a:t>No daily approval </a:t>
            </a:r>
            <a:r>
              <a:rPr sz="700" b="0" i="0">
                <a:solidFill>
                  <a:srgbClr val="1A1A1A"/>
                </a:solidFill>
                <a:latin typeface="Trenda IG Text"/>
              </a:rPr>
              <a:t>while the campaign, rule version, purpose, fields and destination stay unchanged.</a:t>
            </a:r>
          </a:p>
        </p:txBody>
      </p:sp>
      <p:cxnSp>
        <p:nvCxnSpPr>
          <p:cNvPr id="105" name="Arrow 104"/>
          <p:cNvCxnSpPr/>
          <p:nvPr/>
        </p:nvCxnSpPr>
        <p:spPr>
          <a:xfrm>
            <a:off x="7086600" y="1819656"/>
            <a:ext cx="274319"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6" name="Arrow 105"/>
          <p:cNvCxnSpPr/>
          <p:nvPr/>
        </p:nvCxnSpPr>
        <p:spPr>
          <a:xfrm flipH="1">
            <a:off x="7086600" y="2478024"/>
            <a:ext cx="274319" cy="0"/>
          </a:xfrm>
          <a:prstGeom prst="line">
            <a:avLst/>
          </a:prstGeom>
          <a:ln w="158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107" name="Arrow 106"/>
          <p:cNvCxnSpPr/>
          <p:nvPr/>
        </p:nvCxnSpPr>
        <p:spPr>
          <a:xfrm flipH="1">
            <a:off x="7086600" y="4727448"/>
            <a:ext cx="274319" cy="0"/>
          </a:xfrm>
          <a:prstGeom prst="line">
            <a:avLst/>
          </a:prstGeom>
          <a:ln w="15875">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08" name="Shape 107"/>
          <p:cNvSpPr/>
          <p:nvPr/>
        </p:nvSpPr>
        <p:spPr>
          <a:xfrm>
            <a:off x="411480" y="5193792"/>
            <a:ext cx="11365992" cy="694944"/>
          </a:xfrm>
          <a:prstGeom prst="roundRect">
            <a:avLst>
              <a:gd name="adj" fmla="val 6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ext 108"/>
          <p:cNvSpPr txBox="1"/>
          <p:nvPr/>
        </p:nvSpPr>
        <p:spPr>
          <a:xfrm>
            <a:off x="548640" y="5193792"/>
            <a:ext cx="1188720" cy="694944"/>
          </a:xfrm>
          <a:prstGeom prst="rect">
            <a:avLst/>
          </a:prstGeom>
          <a:noFill/>
        </p:spPr>
        <p:txBody>
          <a:bodyPr wrap="square" lIns="0" rIns="0" tIns="0" bIns="0" anchor="ctr">
            <a:spAutoFit/>
          </a:bodyPr>
          <a:lstStyle/>
          <a:p>
            <a:pPr>
              <a:spcAft>
                <a:spcPts val="100"/>
              </a:spcAft>
            </a:pPr>
            <a:r>
              <a:rPr sz="700" b="1" i="0" spc="80">
                <a:solidFill>
                  <a:srgbClr val="0089A0"/>
                </a:solidFill>
                <a:latin typeface="Trenda IG Text"/>
              </a:rPr>
              <a:t>MARKETING CLOUD</a:t>
            </a:r>
          </a:p>
          <a:p>
            <a:pPr>
              <a:spcAft>
                <a:spcPts val="100"/>
              </a:spcAft>
            </a:pPr>
            <a:r>
              <a:rPr sz="700" b="1" i="0" spc="80">
                <a:solidFill>
                  <a:srgbClr val="0089A0"/>
                </a:solidFill>
                <a:latin typeface="Trenda IG Text"/>
              </a:rPr>
              <a:t>EXECUTION</a:t>
            </a:r>
          </a:p>
        </p:txBody>
      </p:sp>
      <p:sp>
        <p:nvSpPr>
          <p:cNvPr id="110" name="Shape 109"/>
          <p:cNvSpPr/>
          <p:nvPr/>
        </p:nvSpPr>
        <p:spPr>
          <a:xfrm>
            <a:off x="178308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Shape 110"/>
          <p:cNvSpPr/>
          <p:nvPr/>
        </p:nvSpPr>
        <p:spPr>
          <a:xfrm>
            <a:off x="178308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 111"/>
          <p:cNvSpPr txBox="1"/>
          <p:nvPr/>
        </p:nvSpPr>
        <p:spPr>
          <a:xfrm>
            <a:off x="1874519"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Data ready</a:t>
            </a:r>
          </a:p>
          <a:p>
            <a:pPr>
              <a:lnSpc>
                <a:spcPct val="92000"/>
              </a:lnSpc>
              <a:spcAft>
                <a:spcPts val="100"/>
              </a:spcAft>
            </a:pPr>
            <a:r>
              <a:rPr sz="700" b="0" i="0">
                <a:solidFill>
                  <a:srgbClr val="4D4D4D"/>
                </a:solidFill>
                <a:latin typeface="Trenda IG Text"/>
              </a:rPr>
              <a:t>approved patients only; pseudonymous contact key</a:t>
            </a:r>
          </a:p>
        </p:txBody>
      </p:sp>
      <p:cxnSp>
        <p:nvCxnSpPr>
          <p:cNvPr id="113" name="Arrow 112"/>
          <p:cNvCxnSpPr/>
          <p:nvPr/>
        </p:nvCxnSpPr>
        <p:spPr>
          <a:xfrm>
            <a:off x="3293364" y="5541264"/>
            <a:ext cx="146304"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4" name="Shape 113"/>
          <p:cNvSpPr/>
          <p:nvPr/>
        </p:nvSpPr>
        <p:spPr>
          <a:xfrm>
            <a:off x="346710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Shape 114"/>
          <p:cNvSpPr/>
          <p:nvPr/>
        </p:nvSpPr>
        <p:spPr>
          <a:xfrm>
            <a:off x="346710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355854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Load</a:t>
            </a:r>
          </a:p>
          <a:p>
            <a:pPr>
              <a:lnSpc>
                <a:spcPct val="92000"/>
              </a:lnSpc>
              <a:spcAft>
                <a:spcPts val="100"/>
              </a:spcAft>
            </a:pPr>
            <a:r>
              <a:rPr sz="700" b="0" i="0">
                <a:solidFill>
                  <a:srgbClr val="4D4D4D"/>
                </a:solidFill>
                <a:latin typeface="Trenda IG Text"/>
              </a:rPr>
              <a:t>REST API or SFTP into a data extension or Data Cloud</a:t>
            </a:r>
          </a:p>
        </p:txBody>
      </p:sp>
      <p:cxnSp>
        <p:nvCxnSpPr>
          <p:cNvPr id="117" name="Arrow 116"/>
          <p:cNvCxnSpPr/>
          <p:nvPr/>
        </p:nvCxnSpPr>
        <p:spPr>
          <a:xfrm>
            <a:off x="4977384" y="5541264"/>
            <a:ext cx="146304"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8" name="Shape 117"/>
          <p:cNvSpPr/>
          <p:nvPr/>
        </p:nvSpPr>
        <p:spPr>
          <a:xfrm>
            <a:off x="515112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Shape 118"/>
          <p:cNvSpPr/>
          <p:nvPr/>
        </p:nvSpPr>
        <p:spPr>
          <a:xfrm>
            <a:off x="515112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Text 119"/>
          <p:cNvSpPr txBox="1"/>
          <p:nvPr/>
        </p:nvSpPr>
        <p:spPr>
          <a:xfrm>
            <a:off x="524256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Journey</a:t>
            </a:r>
          </a:p>
          <a:p>
            <a:pPr>
              <a:lnSpc>
                <a:spcPct val="92000"/>
              </a:lnSpc>
              <a:spcAft>
                <a:spcPts val="100"/>
              </a:spcAft>
            </a:pPr>
            <a:r>
              <a:rPr sz="700" b="0" i="0">
                <a:solidFill>
                  <a:srgbClr val="4D4D4D"/>
                </a:solidFill>
                <a:latin typeface="Trenda IG Text"/>
              </a:rPr>
              <a:t>built in Journey Builder: entry, exit and goal rules</a:t>
            </a:r>
          </a:p>
        </p:txBody>
      </p:sp>
      <p:cxnSp>
        <p:nvCxnSpPr>
          <p:cNvPr id="121" name="Arrow 120"/>
          <p:cNvCxnSpPr/>
          <p:nvPr/>
        </p:nvCxnSpPr>
        <p:spPr>
          <a:xfrm>
            <a:off x="6661404" y="5541264"/>
            <a:ext cx="146304"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2" name="Shape 121"/>
          <p:cNvSpPr/>
          <p:nvPr/>
        </p:nvSpPr>
        <p:spPr>
          <a:xfrm>
            <a:off x="683514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Shape 122"/>
          <p:cNvSpPr/>
          <p:nvPr/>
        </p:nvSpPr>
        <p:spPr>
          <a:xfrm>
            <a:off x="683514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4" name="Text 123"/>
          <p:cNvSpPr txBox="1"/>
          <p:nvPr/>
        </p:nvSpPr>
        <p:spPr>
          <a:xfrm>
            <a:off x="692658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Approved content</a:t>
            </a:r>
          </a:p>
          <a:p>
            <a:pPr>
              <a:lnSpc>
                <a:spcPct val="92000"/>
              </a:lnSpc>
              <a:spcAft>
                <a:spcPts val="100"/>
              </a:spcAft>
            </a:pPr>
            <a:r>
              <a:rPr sz="700" b="0" i="0">
                <a:solidFill>
                  <a:srgbClr val="4D4D4D"/>
                </a:solidFill>
                <a:latin typeface="Trenda IG Text"/>
              </a:rPr>
              <a:t>approved templates; no PHI in text or links</a:t>
            </a:r>
          </a:p>
        </p:txBody>
      </p:sp>
      <p:cxnSp>
        <p:nvCxnSpPr>
          <p:cNvPr id="125" name="Arrow 124"/>
          <p:cNvCxnSpPr/>
          <p:nvPr/>
        </p:nvCxnSpPr>
        <p:spPr>
          <a:xfrm>
            <a:off x="8345424" y="5541264"/>
            <a:ext cx="146304"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6" name="Shape 125"/>
          <p:cNvSpPr/>
          <p:nvPr/>
        </p:nvSpPr>
        <p:spPr>
          <a:xfrm>
            <a:off x="851916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Shape 126"/>
          <p:cNvSpPr/>
          <p:nvPr/>
        </p:nvSpPr>
        <p:spPr>
          <a:xfrm>
            <a:off x="851916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8" name="Text 127"/>
          <p:cNvSpPr txBox="1"/>
          <p:nvPr/>
        </p:nvSpPr>
        <p:spPr>
          <a:xfrm>
            <a:off x="861060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Send</a:t>
            </a:r>
          </a:p>
          <a:p>
            <a:pPr>
              <a:lnSpc>
                <a:spcPct val="92000"/>
              </a:lnSpc>
              <a:spcAft>
                <a:spcPts val="100"/>
              </a:spcAft>
            </a:pPr>
            <a:r>
              <a:rPr sz="700" b="0" i="0">
                <a:solidFill>
                  <a:srgbClr val="4D4D4D"/>
                </a:solidFill>
                <a:latin typeface="Trenda IG Text"/>
              </a:rPr>
              <a:t>the journey triggers; opt-outs stop at once</a:t>
            </a:r>
          </a:p>
        </p:txBody>
      </p:sp>
      <p:cxnSp>
        <p:nvCxnSpPr>
          <p:cNvPr id="129" name="Arrow 128"/>
          <p:cNvCxnSpPr/>
          <p:nvPr/>
        </p:nvCxnSpPr>
        <p:spPr>
          <a:xfrm>
            <a:off x="10029444" y="5541264"/>
            <a:ext cx="146304" cy="0"/>
          </a:xfrm>
          <a:prstGeom prst="line">
            <a:avLst/>
          </a:prstGeom>
          <a:ln w="15875">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0" name="Shape 129"/>
          <p:cNvSpPr/>
          <p:nvPr/>
        </p:nvSpPr>
        <p:spPr>
          <a:xfrm>
            <a:off x="10203180" y="5266944"/>
            <a:ext cx="1482852" cy="54864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Shape 130"/>
          <p:cNvSpPr/>
          <p:nvPr/>
        </p:nvSpPr>
        <p:spPr>
          <a:xfrm>
            <a:off x="10203180" y="5266944"/>
            <a:ext cx="36576" cy="548640"/>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 131"/>
          <p:cNvSpPr txBox="1"/>
          <p:nvPr/>
        </p:nvSpPr>
        <p:spPr>
          <a:xfrm>
            <a:off x="10294620" y="5285231"/>
            <a:ext cx="1354836" cy="512064"/>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Results back</a:t>
            </a:r>
          </a:p>
          <a:p>
            <a:pPr>
              <a:lnSpc>
                <a:spcPct val="92000"/>
              </a:lnSpc>
              <a:spcAft>
                <a:spcPts val="100"/>
              </a:spcAft>
            </a:pPr>
            <a:r>
              <a:rPr sz="700" b="0" i="0">
                <a:solidFill>
                  <a:srgbClr val="4D4D4D"/>
                </a:solidFill>
                <a:latin typeface="Trenda IG Text"/>
              </a:rPr>
              <a:t>outcomes return to Google Cloud for measurement</a:t>
            </a:r>
          </a:p>
        </p:txBody>
      </p:sp>
      <p:sp>
        <p:nvSpPr>
          <p:cNvPr id="133" name="Shape 132"/>
          <p:cNvSpPr/>
          <p:nvPr/>
        </p:nvSpPr>
        <p:spPr>
          <a:xfrm>
            <a:off x="411480" y="5952744"/>
            <a:ext cx="11365992" cy="365760"/>
          </a:xfrm>
          <a:prstGeom prst="roundRect">
            <a:avLst>
              <a:gd name="adj" fmla="val 8000"/>
            </a:avLst>
          </a:prstGeom>
          <a:solidFill>
            <a:srgbClr val="FFF7CC"/>
          </a:solidFill>
          <a:ln w="1270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4" name="Text 133"/>
          <p:cNvSpPr txBox="1"/>
          <p:nvPr/>
        </p:nvSpPr>
        <p:spPr>
          <a:xfrm>
            <a:off x="548640" y="5952744"/>
            <a:ext cx="11091672" cy="365760"/>
          </a:xfrm>
          <a:prstGeom prst="rect">
            <a:avLst/>
          </a:prstGeom>
          <a:noFill/>
        </p:spPr>
        <p:txBody>
          <a:bodyPr wrap="square" lIns="0" rIns="0" tIns="0" bIns="0" anchor="ctr">
            <a:spAutoFit/>
          </a:bodyPr>
          <a:lstStyle/>
          <a:p>
            <a:pPr algn="ctr"/>
            <a:r>
              <a:rPr sz="750" b="1" i="0">
                <a:solidFill>
                  <a:srgbClr val="8A6D00"/>
                </a:solidFill>
                <a:latin typeface="Trenda IG Text"/>
              </a:rPr>
              <a:t>RE-APPROVAL REQUIRED </a:t>
            </a:r>
            <a:r>
              <a:rPr sz="750" b="0" i="0">
                <a:solidFill>
                  <a:srgbClr val="1A1A1A"/>
                </a:solidFill>
                <a:latin typeface="Trenda IG Text"/>
              </a:rPr>
              <a:t>only when cohort logic, purpose, permitted fields, destination, consent policy, a semantic definition or campaign status changes, or the approval expires. Opt-outs apply at once; spike alerts pause a run; every run is reconciled.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GOLD B</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Gold B: patients we cannot contact yet</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Patients without consent or with missing information stay in Gold B, restricted. Those we may ask are invited to opt in or complete their details; when they opt in, they move to Gold A.</a:t>
            </a:r>
          </a:p>
        </p:txBody>
      </p:sp>
      <p:sp>
        <p:nvSpPr>
          <p:cNvPr id="5" name="Shape 4"/>
          <p:cNvSpPr/>
          <p:nvPr/>
        </p:nvSpPr>
        <p:spPr>
          <a:xfrm>
            <a:off x="411480" y="1152144"/>
            <a:ext cx="1292732" cy="658368"/>
          </a:xfrm>
          <a:prstGeom prst="roundRect">
            <a:avLst>
              <a:gd name="adj" fmla="val 8000"/>
            </a:avLst>
          </a:prstGeom>
          <a:solidFill>
            <a:srgbClr val="F5F5F5"/>
          </a:solid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 5"/>
          <p:cNvSpPr txBox="1"/>
          <p:nvPr/>
        </p:nvSpPr>
        <p:spPr>
          <a:xfrm>
            <a:off x="484632"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Silver</a:t>
            </a:r>
          </a:p>
          <a:p>
            <a:pPr>
              <a:lnSpc>
                <a:spcPct val="92000"/>
              </a:lnSpc>
              <a:spcAft>
                <a:spcPts val="100"/>
              </a:spcAft>
            </a:pPr>
            <a:r>
              <a:rPr sz="700" b="0" i="0">
                <a:solidFill>
                  <a:srgbClr val="4D4D4D"/>
                </a:solidFill>
                <a:latin typeface="Trenda IG Text"/>
              </a:rPr>
              <a:t>identity + consent</a:t>
            </a:r>
          </a:p>
        </p:txBody>
      </p:sp>
      <p:cxnSp>
        <p:nvCxnSpPr>
          <p:cNvPr id="7" name="Arrow 6"/>
          <p:cNvCxnSpPr/>
          <p:nvPr/>
        </p:nvCxnSpPr>
        <p:spPr>
          <a:xfrm>
            <a:off x="1704212"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Shape 7"/>
          <p:cNvSpPr/>
          <p:nvPr/>
        </p:nvSpPr>
        <p:spPr>
          <a:xfrm>
            <a:off x="1850516" y="1152144"/>
            <a:ext cx="1292732" cy="658368"/>
          </a:xfrm>
          <a:prstGeom prst="roundRect">
            <a:avLst>
              <a:gd name="adj" fmla="val 8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 8"/>
          <p:cNvSpPr txBox="1"/>
          <p:nvPr/>
        </p:nvSpPr>
        <p:spPr>
          <a:xfrm>
            <a:off x="1923668"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Gold B · restricted</a:t>
            </a:r>
          </a:p>
          <a:p>
            <a:pPr>
              <a:lnSpc>
                <a:spcPct val="92000"/>
              </a:lnSpc>
              <a:spcAft>
                <a:spcPts val="100"/>
              </a:spcAft>
            </a:pPr>
            <a:r>
              <a:rPr sz="700" b="0" i="0">
                <a:solidFill>
                  <a:srgbClr val="4D4D4D"/>
                </a:solidFill>
                <a:latin typeface="Trenda IG Text"/>
              </a:rPr>
              <a:t>opted out or missing information</a:t>
            </a:r>
          </a:p>
        </p:txBody>
      </p:sp>
      <p:cxnSp>
        <p:nvCxnSpPr>
          <p:cNvPr id="10" name="Arrow 9"/>
          <p:cNvCxnSpPr/>
          <p:nvPr/>
        </p:nvCxnSpPr>
        <p:spPr>
          <a:xfrm>
            <a:off x="3143249"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Shape 10"/>
          <p:cNvSpPr/>
          <p:nvPr/>
        </p:nvSpPr>
        <p:spPr>
          <a:xfrm>
            <a:off x="3289553" y="1152144"/>
            <a:ext cx="1292732" cy="658368"/>
          </a:xfrm>
          <a:prstGeom prst="roundRect">
            <a:avLst>
              <a:gd name="adj" fmla="val 8000"/>
            </a:avLst>
          </a:prstGeom>
          <a:solidFill>
            <a:srgbClr val="E0FAFE"/>
          </a:solidFill>
          <a:ln w="1143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 11"/>
          <p:cNvSpPr txBox="1"/>
          <p:nvPr/>
        </p:nvSpPr>
        <p:spPr>
          <a:xfrm>
            <a:off x="3362706"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Cohort Resolution</a:t>
            </a:r>
          </a:p>
          <a:p>
            <a:pPr>
              <a:lnSpc>
                <a:spcPct val="92000"/>
              </a:lnSpc>
              <a:spcAft>
                <a:spcPts val="100"/>
              </a:spcAft>
            </a:pPr>
            <a:r>
              <a:rPr sz="700" b="0" i="0">
                <a:solidFill>
                  <a:srgbClr val="4D4D4D"/>
                </a:solidFill>
                <a:latin typeface="Trenda IG Text"/>
              </a:rPr>
              <a:t>engine: checks opt-outs + filled-in information</a:t>
            </a:r>
          </a:p>
        </p:txBody>
      </p:sp>
      <p:cxnSp>
        <p:nvCxnSpPr>
          <p:cNvPr id="13" name="Arrow 12"/>
          <p:cNvCxnSpPr/>
          <p:nvPr/>
        </p:nvCxnSpPr>
        <p:spPr>
          <a:xfrm>
            <a:off x="4582287"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Shape 13"/>
          <p:cNvSpPr/>
          <p:nvPr/>
        </p:nvSpPr>
        <p:spPr>
          <a:xfrm>
            <a:off x="4728591" y="1152144"/>
            <a:ext cx="1292732" cy="658368"/>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 14"/>
          <p:cNvSpPr txBox="1"/>
          <p:nvPr/>
        </p:nvSpPr>
        <p:spPr>
          <a:xfrm>
            <a:off x="4801743"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G2</a:t>
            </a:r>
          </a:p>
          <a:p>
            <a:pPr>
              <a:lnSpc>
                <a:spcPct val="92000"/>
              </a:lnSpc>
              <a:spcAft>
                <a:spcPts val="100"/>
              </a:spcAft>
            </a:pPr>
            <a:r>
              <a:rPr sz="700" b="0" i="0">
                <a:solidFill>
                  <a:srgbClr val="4D4D4D"/>
                </a:solidFill>
                <a:latin typeface="Trenda IG Text"/>
              </a:rPr>
              <a:t>masked summary</a:t>
            </a:r>
          </a:p>
        </p:txBody>
      </p:sp>
      <p:cxnSp>
        <p:nvCxnSpPr>
          <p:cNvPr id="16" name="Arrow 15"/>
          <p:cNvCxnSpPr/>
          <p:nvPr/>
        </p:nvCxnSpPr>
        <p:spPr>
          <a:xfrm>
            <a:off x="6021323"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Shape 16"/>
          <p:cNvSpPr/>
          <p:nvPr/>
        </p:nvSpPr>
        <p:spPr>
          <a:xfrm>
            <a:off x="6167627" y="1152144"/>
            <a:ext cx="1292732" cy="658368"/>
          </a:xfrm>
          <a:prstGeom prst="roundRect">
            <a:avLst>
              <a:gd name="adj" fmla="val 8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 17"/>
          <p:cNvSpPr txBox="1"/>
          <p:nvPr/>
        </p:nvSpPr>
        <p:spPr>
          <a:xfrm>
            <a:off x="6240779"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Activation</a:t>
            </a:r>
          </a:p>
          <a:p>
            <a:pPr>
              <a:lnSpc>
                <a:spcPct val="92000"/>
              </a:lnSpc>
              <a:spcAft>
                <a:spcPts val="100"/>
              </a:spcAft>
            </a:pPr>
            <a:r>
              <a:rPr sz="700" b="0" i="0">
                <a:solidFill>
                  <a:srgbClr val="4D4D4D"/>
                </a:solidFill>
                <a:latin typeface="Trenda IG Text"/>
              </a:rPr>
              <a:t>engine: unmasks the minimum fields</a:t>
            </a:r>
          </a:p>
        </p:txBody>
      </p:sp>
      <p:cxnSp>
        <p:nvCxnSpPr>
          <p:cNvPr id="19" name="Arrow 18"/>
          <p:cNvCxnSpPr/>
          <p:nvPr/>
        </p:nvCxnSpPr>
        <p:spPr>
          <a:xfrm>
            <a:off x="7460361"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Shape 19"/>
          <p:cNvSpPr/>
          <p:nvPr/>
        </p:nvSpPr>
        <p:spPr>
          <a:xfrm>
            <a:off x="7606664" y="1152144"/>
            <a:ext cx="1292732" cy="658368"/>
          </a:xfrm>
          <a:prstGeom prst="roundRect">
            <a:avLst>
              <a:gd name="adj" fmla="val 8000"/>
            </a:avLst>
          </a:prstGeom>
          <a:solidFill>
            <a:srgbClr val="F5F5F5"/>
          </a:solid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20"/>
          <p:cNvSpPr txBox="1"/>
          <p:nvPr/>
        </p:nvSpPr>
        <p:spPr>
          <a:xfrm>
            <a:off x="7679816"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Marketing Cloud</a:t>
            </a:r>
          </a:p>
          <a:p>
            <a:pPr>
              <a:lnSpc>
                <a:spcPct val="92000"/>
              </a:lnSpc>
              <a:spcAft>
                <a:spcPts val="100"/>
              </a:spcAft>
            </a:pPr>
            <a:r>
              <a:rPr sz="700" b="0" i="0">
                <a:solidFill>
                  <a:srgbClr val="4D4D4D"/>
                </a:solidFill>
                <a:latin typeface="Trenda IG Text"/>
              </a:rPr>
              <a:t>update request: consent + details</a:t>
            </a:r>
          </a:p>
        </p:txBody>
      </p:sp>
      <p:cxnSp>
        <p:nvCxnSpPr>
          <p:cNvPr id="22" name="Arrow 21"/>
          <p:cNvCxnSpPr/>
          <p:nvPr/>
        </p:nvCxnSpPr>
        <p:spPr>
          <a:xfrm>
            <a:off x="8899397" y="1481328"/>
            <a:ext cx="146304" cy="0"/>
          </a:xfrm>
          <a:prstGeom prst="line">
            <a:avLst/>
          </a:prstGeom>
          <a:ln w="12700">
            <a:solidFill>
              <a:srgbClr val="8C8C8C"/>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Shape 22"/>
          <p:cNvSpPr/>
          <p:nvPr/>
        </p:nvSpPr>
        <p:spPr>
          <a:xfrm>
            <a:off x="9045701" y="1152144"/>
            <a:ext cx="1292732" cy="658368"/>
          </a:xfrm>
          <a:prstGeom prst="roundRect">
            <a:avLst>
              <a:gd name="adj" fmla="val 8000"/>
            </a:avLst>
          </a:prstGeom>
          <a:solidFill>
            <a:srgbClr val="F5F5F5"/>
          </a:solidFill>
          <a:ln w="11430">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 23"/>
          <p:cNvSpPr txBox="1"/>
          <p:nvPr/>
        </p:nvSpPr>
        <p:spPr>
          <a:xfrm>
            <a:off x="9118853" y="1188720"/>
            <a:ext cx="1164716" cy="585216"/>
          </a:xfrm>
          <a:prstGeom prst="rect">
            <a:avLst/>
          </a:prstGeom>
          <a:noFill/>
        </p:spPr>
        <p:txBody>
          <a:bodyPr wrap="square" lIns="0" rIns="0" tIns="0" bIns="0" anchor="ctr">
            <a:spAutoFit/>
          </a:bodyPr>
          <a:lstStyle/>
          <a:p>
            <a:pPr>
              <a:lnSpc>
                <a:spcPct val="92000"/>
              </a:lnSpc>
              <a:spcAft>
                <a:spcPts val="100"/>
              </a:spcAft>
            </a:pPr>
            <a:r>
              <a:rPr sz="750" b="1" i="0">
                <a:solidFill>
                  <a:srgbClr val="1A1A1A"/>
                </a:solidFill>
                <a:latin typeface="Trenda IG Text"/>
              </a:rPr>
              <a:t>Engagement</a:t>
            </a:r>
          </a:p>
          <a:p>
            <a:pPr>
              <a:lnSpc>
                <a:spcPct val="92000"/>
              </a:lnSpc>
              <a:spcAft>
                <a:spcPts val="100"/>
              </a:spcAft>
            </a:pPr>
            <a:r>
              <a:rPr sz="700" b="0" i="0">
                <a:solidFill>
                  <a:srgbClr val="4D4D4D"/>
                </a:solidFill>
                <a:latin typeface="Trenda IG Text"/>
              </a:rPr>
              <a:t>replies + updates</a:t>
            </a:r>
          </a:p>
        </p:txBody>
      </p:sp>
      <p:sp>
        <p:nvSpPr>
          <p:cNvPr id="25" name="Shape 24"/>
          <p:cNvSpPr/>
          <p:nvPr/>
        </p:nvSpPr>
        <p:spPr>
          <a:xfrm>
            <a:off x="10484738" y="1152144"/>
            <a:ext cx="1292732" cy="301751"/>
          </a:xfrm>
          <a:prstGeom prst="roundRect">
            <a:avLst>
              <a:gd name="adj" fmla="val 8000"/>
            </a:avLst>
          </a:prstGeom>
          <a:solidFill>
            <a:srgbClr val="FFF7CC"/>
          </a:solidFill>
          <a:ln w="1143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5"/>
          <p:cNvSpPr txBox="1"/>
          <p:nvPr/>
        </p:nvSpPr>
        <p:spPr>
          <a:xfrm>
            <a:off x="10557890" y="1188720"/>
            <a:ext cx="1164716" cy="228599"/>
          </a:xfrm>
          <a:prstGeom prst="rect">
            <a:avLst/>
          </a:prstGeom>
          <a:noFill/>
        </p:spPr>
        <p:txBody>
          <a:bodyPr wrap="square" lIns="0" rIns="0" tIns="0" bIns="0" anchor="ctr">
            <a:spAutoFit/>
          </a:bodyPr>
          <a:lstStyle/>
          <a:p>
            <a:pPr>
              <a:lnSpc>
                <a:spcPct val="92000"/>
              </a:lnSpc>
              <a:spcAft>
                <a:spcPts val="100"/>
              </a:spcAft>
            </a:pPr>
            <a:r>
              <a:rPr sz="700" b="1" i="0">
                <a:solidFill>
                  <a:srgbClr val="1A1A1A"/>
                </a:solidFill>
                <a:latin typeface="Trenda IG Text"/>
              </a:rPr>
              <a:t>Gold A · opted in</a:t>
            </a:r>
          </a:p>
          <a:p>
            <a:pPr>
              <a:lnSpc>
                <a:spcPct val="92000"/>
              </a:lnSpc>
              <a:spcAft>
                <a:spcPts val="100"/>
              </a:spcAft>
            </a:pPr>
            <a:r>
              <a:rPr sz="700" b="0" i="0">
                <a:solidFill>
                  <a:srgbClr val="4D4D4D"/>
                </a:solidFill>
                <a:latin typeface="Trenda IG Text"/>
              </a:rPr>
              <a:t>consented; aggregates only</a:t>
            </a:r>
          </a:p>
        </p:txBody>
      </p:sp>
      <p:cxnSp>
        <p:nvCxnSpPr>
          <p:cNvPr id="27" name="Arrow 26"/>
          <p:cNvCxnSpPr/>
          <p:nvPr/>
        </p:nvCxnSpPr>
        <p:spPr>
          <a:xfrm>
            <a:off x="10338434" y="1481328"/>
            <a:ext cx="54865" cy="0"/>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28" name="Arrow 27"/>
          <p:cNvCxnSpPr/>
          <p:nvPr/>
        </p:nvCxnSpPr>
        <p:spPr>
          <a:xfrm flipV="1">
            <a:off x="10393299" y="1303020"/>
            <a:ext cx="0" cy="178308"/>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29" name="Arrow 28"/>
          <p:cNvCxnSpPr/>
          <p:nvPr/>
        </p:nvCxnSpPr>
        <p:spPr>
          <a:xfrm>
            <a:off x="10393299" y="1303020"/>
            <a:ext cx="91439" cy="0"/>
          </a:xfrm>
          <a:prstGeom prst="line">
            <a:avLst/>
          </a:prstGeom>
          <a:ln w="12700">
            <a:solidFill>
              <a:srgbClr val="C9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Shape 29"/>
          <p:cNvSpPr/>
          <p:nvPr/>
        </p:nvSpPr>
        <p:spPr>
          <a:xfrm>
            <a:off x="10484738" y="1508760"/>
            <a:ext cx="1292732" cy="301751"/>
          </a:xfrm>
          <a:prstGeom prst="roundRect">
            <a:avLst>
              <a:gd name="adj" fmla="val 8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 30"/>
          <p:cNvSpPr txBox="1"/>
          <p:nvPr/>
        </p:nvSpPr>
        <p:spPr>
          <a:xfrm>
            <a:off x="10557890" y="1545336"/>
            <a:ext cx="1164716" cy="228599"/>
          </a:xfrm>
          <a:prstGeom prst="rect">
            <a:avLst/>
          </a:prstGeom>
          <a:noFill/>
        </p:spPr>
        <p:txBody>
          <a:bodyPr wrap="square" lIns="0" rIns="0" tIns="0" bIns="0" anchor="ctr">
            <a:spAutoFit/>
          </a:bodyPr>
          <a:lstStyle/>
          <a:p>
            <a:pPr>
              <a:lnSpc>
                <a:spcPct val="92000"/>
              </a:lnSpc>
              <a:spcAft>
                <a:spcPts val="100"/>
              </a:spcAft>
            </a:pPr>
            <a:r>
              <a:rPr sz="700" b="1" i="0">
                <a:solidFill>
                  <a:srgbClr val="1A1A1A"/>
                </a:solidFill>
                <a:latin typeface="Trenda IG Text"/>
              </a:rPr>
              <a:t>Gold B · not opted in</a:t>
            </a:r>
          </a:p>
          <a:p>
            <a:pPr>
              <a:lnSpc>
                <a:spcPct val="92000"/>
              </a:lnSpc>
              <a:spcAft>
                <a:spcPts val="100"/>
              </a:spcAft>
            </a:pPr>
            <a:r>
              <a:rPr sz="700" b="0" i="0">
                <a:solidFill>
                  <a:srgbClr val="4D4D4D"/>
                </a:solidFill>
                <a:latin typeface="Trenda IG Text"/>
              </a:rPr>
              <a:t>or still missing; per patient</a:t>
            </a:r>
          </a:p>
        </p:txBody>
      </p:sp>
      <p:cxnSp>
        <p:nvCxnSpPr>
          <p:cNvPr id="32" name="Arrow 31"/>
          <p:cNvCxnSpPr/>
          <p:nvPr/>
        </p:nvCxnSpPr>
        <p:spPr>
          <a:xfrm>
            <a:off x="10338434" y="1481328"/>
            <a:ext cx="54865" cy="0"/>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33" name="Arrow 32"/>
          <p:cNvCxnSpPr/>
          <p:nvPr/>
        </p:nvCxnSpPr>
        <p:spPr>
          <a:xfrm>
            <a:off x="10393299" y="1481328"/>
            <a:ext cx="0" cy="178308"/>
          </a:xfrm>
          <a:prstGeom prst="line">
            <a:avLst/>
          </a:prstGeom>
          <a:ln w="12700">
            <a:solidFill>
              <a:srgbClr val="8C8C8C"/>
            </a:solidFill>
          </a:ln>
        </p:spPr>
        <p:style>
          <a:lnRef idx="2">
            <a:schemeClr val="accent1"/>
          </a:lnRef>
          <a:fillRef idx="0">
            <a:schemeClr val="accent1"/>
          </a:fillRef>
          <a:effectRef idx="1">
            <a:schemeClr val="accent1"/>
          </a:effectRef>
          <a:fontRef idx="minor">
            <a:schemeClr val="tx1"/>
          </a:fontRef>
        </p:style>
      </p:cxnSp>
      <p:cxnSp>
        <p:nvCxnSpPr>
          <p:cNvPr id="34" name="Arrow 33"/>
          <p:cNvCxnSpPr/>
          <p:nvPr/>
        </p:nvCxnSpPr>
        <p:spPr>
          <a:xfrm>
            <a:off x="10393299" y="1659636"/>
            <a:ext cx="91439" cy="0"/>
          </a:xfrm>
          <a:prstGeom prst="line">
            <a:avLst/>
          </a:prstGeom>
          <a:ln w="1270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Shape 34"/>
          <p:cNvSpPr/>
          <p:nvPr/>
        </p:nvSpPr>
        <p:spPr>
          <a:xfrm>
            <a:off x="411480" y="1975104"/>
            <a:ext cx="3657600" cy="256032"/>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 35"/>
          <p:cNvSpPr txBox="1"/>
          <p:nvPr/>
        </p:nvSpPr>
        <p:spPr>
          <a:xfrm>
            <a:off x="521208" y="1975104"/>
            <a:ext cx="3438144" cy="256032"/>
          </a:xfrm>
          <a:prstGeom prst="rect">
            <a:avLst/>
          </a:prstGeom>
          <a:noFill/>
        </p:spPr>
        <p:txBody>
          <a:bodyPr wrap="square" lIns="0" rIns="0" tIns="0" bIns="0" anchor="ctr">
            <a:spAutoFit/>
          </a:bodyPr>
          <a:lstStyle/>
          <a:p>
            <a:r>
              <a:rPr sz="700" b="1" i="0" spc="120">
                <a:solidFill>
                  <a:srgbClr val="FFFFFE"/>
                </a:solidFill>
                <a:latin typeface="Trenda IG Text"/>
              </a:rPr>
              <a:t>WHAT IS IN GOLD B</a:t>
            </a:r>
          </a:p>
        </p:txBody>
      </p:sp>
      <p:sp>
        <p:nvSpPr>
          <p:cNvPr id="37" name="Shape 36"/>
          <p:cNvSpPr/>
          <p:nvPr/>
        </p:nvSpPr>
        <p:spPr>
          <a:xfrm>
            <a:off x="4197096" y="1975104"/>
            <a:ext cx="3566160" cy="256032"/>
          </a:xfrm>
          <a:prstGeom prst="rect">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 37"/>
          <p:cNvSpPr txBox="1"/>
          <p:nvPr/>
        </p:nvSpPr>
        <p:spPr>
          <a:xfrm>
            <a:off x="4306824" y="1975104"/>
            <a:ext cx="3346704" cy="256032"/>
          </a:xfrm>
          <a:prstGeom prst="rect">
            <a:avLst/>
          </a:prstGeom>
          <a:noFill/>
        </p:spPr>
        <p:txBody>
          <a:bodyPr wrap="square" lIns="0" rIns="0" tIns="0" bIns="0" anchor="ctr">
            <a:spAutoFit/>
          </a:bodyPr>
          <a:lstStyle/>
          <a:p>
            <a:r>
              <a:rPr sz="700" b="1" i="0" spc="120">
                <a:solidFill>
                  <a:srgbClr val="000000"/>
                </a:solidFill>
                <a:latin typeface="Trenda IG Text"/>
              </a:rPr>
              <a:t>WHO CAN READ IT</a:t>
            </a:r>
          </a:p>
        </p:txBody>
      </p:sp>
      <p:sp>
        <p:nvSpPr>
          <p:cNvPr id="39" name="Shape 38"/>
          <p:cNvSpPr/>
          <p:nvPr/>
        </p:nvSpPr>
        <p:spPr>
          <a:xfrm>
            <a:off x="7891271" y="1975104"/>
            <a:ext cx="3886200" cy="256032"/>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 39"/>
          <p:cNvSpPr txBox="1"/>
          <p:nvPr/>
        </p:nvSpPr>
        <p:spPr>
          <a:xfrm>
            <a:off x="8000999" y="1975104"/>
            <a:ext cx="3666744" cy="256032"/>
          </a:xfrm>
          <a:prstGeom prst="rect">
            <a:avLst/>
          </a:prstGeom>
          <a:noFill/>
        </p:spPr>
        <p:txBody>
          <a:bodyPr wrap="square" lIns="0" rIns="0" tIns="0" bIns="0" anchor="ctr">
            <a:spAutoFit/>
          </a:bodyPr>
          <a:lstStyle/>
          <a:p>
            <a:r>
              <a:rPr sz="700" b="1" i="0" spc="120">
                <a:solidFill>
                  <a:srgbClr val="000000"/>
                </a:solidFill>
                <a:latin typeface="Trenda IG Text"/>
              </a:rPr>
              <a:t>WHAT WE CAN DO WITH IT</a:t>
            </a:r>
          </a:p>
        </p:txBody>
      </p:sp>
      <p:sp>
        <p:nvSpPr>
          <p:cNvPr id="41" name="Shape 40"/>
          <p:cNvSpPr/>
          <p:nvPr/>
        </p:nvSpPr>
        <p:spPr>
          <a:xfrm>
            <a:off x="411480" y="23225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hape 41"/>
          <p:cNvSpPr/>
          <p:nvPr/>
        </p:nvSpPr>
        <p:spPr>
          <a:xfrm>
            <a:off x="411480" y="23225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42"/>
          <p:cNvSpPr txBox="1"/>
          <p:nvPr/>
        </p:nvSpPr>
        <p:spPr>
          <a:xfrm>
            <a:off x="539496" y="23225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Patient key</a:t>
            </a:r>
            <a:r>
              <a:rPr sz="700" b="0" i="0">
                <a:solidFill>
                  <a:srgbClr val="4D4D4D"/>
                </a:solidFill>
                <a:latin typeface="Trenda IG Text"/>
              </a:rPr>
              <a:t>  EUID, from Silver identity resolution</a:t>
            </a:r>
          </a:p>
        </p:txBody>
      </p:sp>
      <p:sp>
        <p:nvSpPr>
          <p:cNvPr id="44" name="Shape 43"/>
          <p:cNvSpPr/>
          <p:nvPr/>
        </p:nvSpPr>
        <p:spPr>
          <a:xfrm>
            <a:off x="411480" y="27797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hape 44"/>
          <p:cNvSpPr/>
          <p:nvPr/>
        </p:nvSpPr>
        <p:spPr>
          <a:xfrm>
            <a:off x="411480" y="27797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5"/>
          <p:cNvSpPr txBox="1"/>
          <p:nvPr/>
        </p:nvSpPr>
        <p:spPr>
          <a:xfrm>
            <a:off x="539496" y="27797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Consent status</a:t>
            </a:r>
            <a:r>
              <a:rPr sz="700" b="0" i="0">
                <a:solidFill>
                  <a:srgbClr val="4D4D4D"/>
                </a:solidFill>
                <a:latin typeface="Trenda IG Text"/>
              </a:rPr>
              <a:t>  opted out, or unknown / expired, per channel and purpose</a:t>
            </a:r>
          </a:p>
        </p:txBody>
      </p:sp>
      <p:sp>
        <p:nvSpPr>
          <p:cNvPr id="47" name="Shape 46"/>
          <p:cNvSpPr/>
          <p:nvPr/>
        </p:nvSpPr>
        <p:spPr>
          <a:xfrm>
            <a:off x="411480" y="32369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Shape 47"/>
          <p:cNvSpPr/>
          <p:nvPr/>
        </p:nvSpPr>
        <p:spPr>
          <a:xfrm>
            <a:off x="411480" y="32369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8"/>
          <p:cNvSpPr txBox="1"/>
          <p:nvPr/>
        </p:nvSpPr>
        <p:spPr>
          <a:xfrm>
            <a:off x="539496" y="32369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Missing information</a:t>
            </a:r>
            <a:r>
              <a:rPr sz="700" b="0" i="0">
                <a:solidFill>
                  <a:srgbClr val="4D4D4D"/>
                </a:solidFill>
                <a:latin typeface="Trenda IG Text"/>
              </a:rPr>
              <a:t>  no email, no mobile number, or unverified contact</a:t>
            </a:r>
          </a:p>
        </p:txBody>
      </p:sp>
      <p:sp>
        <p:nvSpPr>
          <p:cNvPr id="50" name="Shape 49"/>
          <p:cNvSpPr/>
          <p:nvPr/>
        </p:nvSpPr>
        <p:spPr>
          <a:xfrm>
            <a:off x="411480" y="36941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hape 50"/>
          <p:cNvSpPr/>
          <p:nvPr/>
        </p:nvSpPr>
        <p:spPr>
          <a:xfrm>
            <a:off x="411480" y="36941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51"/>
          <p:cNvSpPr txBox="1"/>
          <p:nvPr/>
        </p:nvSpPr>
        <p:spPr>
          <a:xfrm>
            <a:off x="539496" y="36941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Contact points we have</a:t>
            </a:r>
            <a:r>
              <a:rPr sz="700" b="0" i="0">
                <a:solidFill>
                  <a:srgbClr val="4D4D4D"/>
                </a:solidFill>
                <a:latin typeface="Trenda IG Text"/>
              </a:rPr>
              <a:t>  verified email or phone, where they exist</a:t>
            </a:r>
          </a:p>
        </p:txBody>
      </p:sp>
      <p:sp>
        <p:nvSpPr>
          <p:cNvPr id="53" name="Shape 52"/>
          <p:cNvSpPr/>
          <p:nvPr/>
        </p:nvSpPr>
        <p:spPr>
          <a:xfrm>
            <a:off x="411480" y="41513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Shape 53"/>
          <p:cNvSpPr/>
          <p:nvPr/>
        </p:nvSpPr>
        <p:spPr>
          <a:xfrm>
            <a:off x="411480" y="41513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54"/>
          <p:cNvSpPr txBox="1"/>
          <p:nvPr/>
        </p:nvSpPr>
        <p:spPr>
          <a:xfrm>
            <a:off x="539496" y="41513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Never-contact</a:t>
            </a:r>
            <a:r>
              <a:rPr sz="700" b="0" i="0">
                <a:solidFill>
                  <a:srgbClr val="4D4D4D"/>
                </a:solidFill>
                <a:latin typeface="Trenda IG Text"/>
              </a:rPr>
              <a:t>  explicit opt-out, STOP, deceased, do-not-contact</a:t>
            </a:r>
          </a:p>
        </p:txBody>
      </p:sp>
      <p:sp>
        <p:nvSpPr>
          <p:cNvPr id="56" name="Shape 55"/>
          <p:cNvSpPr/>
          <p:nvPr/>
        </p:nvSpPr>
        <p:spPr>
          <a:xfrm>
            <a:off x="411480" y="46085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hape 56"/>
          <p:cNvSpPr/>
          <p:nvPr/>
        </p:nvSpPr>
        <p:spPr>
          <a:xfrm>
            <a:off x="411480" y="46085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7"/>
          <p:cNvSpPr txBox="1"/>
          <p:nvPr/>
        </p:nvSpPr>
        <p:spPr>
          <a:xfrm>
            <a:off x="539496" y="46085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Preferences</a:t>
            </a:r>
            <a:r>
              <a:rPr sz="700" b="0" i="0">
                <a:solidFill>
                  <a:srgbClr val="4D4D4D"/>
                </a:solidFill>
                <a:latin typeface="Trenda IG Text"/>
              </a:rPr>
              <a:t>  language, quiet hours</a:t>
            </a:r>
          </a:p>
        </p:txBody>
      </p:sp>
      <p:sp>
        <p:nvSpPr>
          <p:cNvPr id="59" name="Shape 58"/>
          <p:cNvSpPr/>
          <p:nvPr/>
        </p:nvSpPr>
        <p:spPr>
          <a:xfrm>
            <a:off x="411480" y="5065776"/>
            <a:ext cx="36576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Shape 59"/>
          <p:cNvSpPr/>
          <p:nvPr/>
        </p:nvSpPr>
        <p:spPr>
          <a:xfrm>
            <a:off x="411480" y="50657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60"/>
          <p:cNvSpPr txBox="1"/>
          <p:nvPr/>
        </p:nvSpPr>
        <p:spPr>
          <a:xfrm>
            <a:off x="539496" y="5065776"/>
            <a:ext cx="3474720"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r>
            <a:r>
              <a:rPr sz="700" b="1" i="0">
                <a:solidFill>
                  <a:srgbClr val="1A1A1A"/>
                </a:solidFill>
                <a:latin typeface="Trenda IG Text"/>
              </a:rPr>
              <a:t>Request history</a:t>
            </a:r>
            <a:r>
              <a:rPr sz="700" b="0" i="0">
                <a:solidFill>
                  <a:srgbClr val="4D4D4D"/>
                </a:solidFill>
                <a:latin typeface="Trenda IG Text"/>
              </a:rPr>
              <a:t>  update requests sent, replies, consents given</a:t>
            </a:r>
          </a:p>
        </p:txBody>
      </p:sp>
      <p:sp>
        <p:nvSpPr>
          <p:cNvPr id="62" name="Shape 61"/>
          <p:cNvSpPr/>
          <p:nvPr/>
        </p:nvSpPr>
        <p:spPr>
          <a:xfrm>
            <a:off x="4197096" y="23225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hape 62"/>
          <p:cNvSpPr/>
          <p:nvPr/>
        </p:nvSpPr>
        <p:spPr>
          <a:xfrm>
            <a:off x="4197096" y="2322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 63"/>
          <p:cNvSpPr txBox="1"/>
          <p:nvPr/>
        </p:nvSpPr>
        <p:spPr>
          <a:xfrm>
            <a:off x="4325112" y="2322576"/>
            <a:ext cx="3383279"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  </a:t>
            </a:r>
            <a:r>
              <a:rPr sz="700" b="1" i="0">
                <a:solidFill>
                  <a:srgbClr val="1A1A1A"/>
                </a:solidFill>
                <a:latin typeface="Trenda IG Text"/>
              </a:rPr>
              <a:t>Cohort Resolution Engine</a:t>
            </a:r>
            <a:r>
              <a:rPr sz="700" b="0" i="0">
                <a:solidFill>
                  <a:srgbClr val="4D4D4D"/>
                </a:solidFill>
                <a:latin typeface="Trenda IG Text"/>
              </a:rPr>
              <a:t>  for an approved cohort JSON only</a:t>
            </a:r>
          </a:p>
        </p:txBody>
      </p:sp>
      <p:sp>
        <p:nvSpPr>
          <p:cNvPr id="65" name="Shape 64"/>
          <p:cNvSpPr/>
          <p:nvPr/>
        </p:nvSpPr>
        <p:spPr>
          <a:xfrm>
            <a:off x="4197096" y="27797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Shape 65"/>
          <p:cNvSpPr/>
          <p:nvPr/>
        </p:nvSpPr>
        <p:spPr>
          <a:xfrm>
            <a:off x="4197096" y="2779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 66"/>
          <p:cNvSpPr txBox="1"/>
          <p:nvPr/>
        </p:nvSpPr>
        <p:spPr>
          <a:xfrm>
            <a:off x="4325112" y="2779776"/>
            <a:ext cx="3383279"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  </a:t>
            </a:r>
            <a:r>
              <a:rPr sz="700" b="1" i="0">
                <a:solidFill>
                  <a:srgbClr val="1A1A1A"/>
                </a:solidFill>
                <a:latin typeface="Trenda IG Text"/>
              </a:rPr>
              <a:t>Activation Engine</a:t>
            </a:r>
            <a:r>
              <a:rPr sz="700" b="0" i="0">
                <a:solidFill>
                  <a:srgbClr val="4D4D4D"/>
                </a:solidFill>
                <a:latin typeface="Trenda IG Text"/>
              </a:rPr>
              <a:t>  unmasks the minimum fields, for the approved run</a:t>
            </a:r>
          </a:p>
        </p:txBody>
      </p:sp>
      <p:sp>
        <p:nvSpPr>
          <p:cNvPr id="68" name="Shape 67"/>
          <p:cNvSpPr/>
          <p:nvPr/>
        </p:nvSpPr>
        <p:spPr>
          <a:xfrm>
            <a:off x="4197096" y="32369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hape 68"/>
          <p:cNvSpPr/>
          <p:nvPr/>
        </p:nvSpPr>
        <p:spPr>
          <a:xfrm>
            <a:off x="4197096" y="32369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 69"/>
          <p:cNvSpPr txBox="1"/>
          <p:nvPr/>
        </p:nvSpPr>
        <p:spPr>
          <a:xfrm>
            <a:off x="4325112" y="3236976"/>
            <a:ext cx="3383279"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t>
            </a:r>
            <a:r>
              <a:rPr sz="700" b="1" i="0">
                <a:solidFill>
                  <a:srgbClr val="1A1A1A"/>
                </a:solidFill>
                <a:latin typeface="Trenda IG Text"/>
              </a:rPr>
              <a:t>Agents and Codex</a:t>
            </a:r>
            <a:r>
              <a:rPr sz="700" b="0" i="0">
                <a:solidFill>
                  <a:srgbClr val="4D4D4D"/>
                </a:solidFill>
                <a:latin typeface="Trenda IG Text"/>
              </a:rPr>
              <a:t>  never: counts only, through the summary</a:t>
            </a:r>
          </a:p>
        </p:txBody>
      </p:sp>
      <p:sp>
        <p:nvSpPr>
          <p:cNvPr id="71" name="Shape 70"/>
          <p:cNvSpPr/>
          <p:nvPr/>
        </p:nvSpPr>
        <p:spPr>
          <a:xfrm>
            <a:off x="4197096" y="36941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hape 71"/>
          <p:cNvSpPr/>
          <p:nvPr/>
        </p:nvSpPr>
        <p:spPr>
          <a:xfrm>
            <a:off x="4197096" y="3694176"/>
            <a:ext cx="45720" cy="402336"/>
          </a:xfrm>
          <a:prstGeom prst="rect">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 72"/>
          <p:cNvSpPr txBox="1"/>
          <p:nvPr/>
        </p:nvSpPr>
        <p:spPr>
          <a:xfrm>
            <a:off x="4325112" y="3694176"/>
            <a:ext cx="3383279" cy="402336"/>
          </a:xfrm>
          <a:prstGeom prst="rect">
            <a:avLst/>
          </a:prstGeom>
          <a:noFill/>
        </p:spPr>
        <p:txBody>
          <a:bodyPr wrap="square" lIns="0" rIns="0" tIns="0" bIns="0" anchor="ctr">
            <a:spAutoFit/>
          </a:bodyPr>
          <a:lstStyle/>
          <a:p>
            <a:pPr>
              <a:lnSpc>
                <a:spcPct val="92000"/>
              </a:lnSpc>
            </a:pPr>
            <a:r>
              <a:rPr sz="700" b="1" i="0">
                <a:solidFill>
                  <a:srgbClr val="FF0069"/>
                </a:solidFill>
                <a:latin typeface="Trenda IG Text"/>
              </a:rPr>
              <a:t>✕  </a:t>
            </a:r>
            <a:r>
              <a:rPr sz="700" b="1" i="0">
                <a:solidFill>
                  <a:srgbClr val="1A1A1A"/>
                </a:solidFill>
                <a:latin typeface="Trenda IG Text"/>
              </a:rPr>
              <a:t>Semantic layer + graph</a:t>
            </a:r>
            <a:r>
              <a:rPr sz="700" b="0" i="0">
                <a:solidFill>
                  <a:srgbClr val="4D4D4D"/>
                </a:solidFill>
                <a:latin typeface="Trenda IG Text"/>
              </a:rPr>
              <a:t>  never: they read Gold A</a:t>
            </a:r>
          </a:p>
        </p:txBody>
      </p:sp>
      <p:sp>
        <p:nvSpPr>
          <p:cNvPr id="74" name="Shape 73"/>
          <p:cNvSpPr/>
          <p:nvPr/>
        </p:nvSpPr>
        <p:spPr>
          <a:xfrm>
            <a:off x="4197096" y="41513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hape 74"/>
          <p:cNvSpPr/>
          <p:nvPr/>
        </p:nvSpPr>
        <p:spPr>
          <a:xfrm>
            <a:off x="4197096" y="41513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5"/>
          <p:cNvSpPr txBox="1"/>
          <p:nvPr/>
        </p:nvSpPr>
        <p:spPr>
          <a:xfrm>
            <a:off x="4325112" y="4151376"/>
            <a:ext cx="3383279"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  </a:t>
            </a:r>
            <a:r>
              <a:rPr sz="700" b="1" i="0">
                <a:solidFill>
                  <a:srgbClr val="1A1A1A"/>
                </a:solidFill>
                <a:latin typeface="Trenda IG Text"/>
              </a:rPr>
              <a:t>People</a:t>
            </a:r>
            <a:r>
              <a:rPr sz="700" b="0" i="0">
                <a:solidFill>
                  <a:srgbClr val="4D4D4D"/>
                </a:solidFill>
                <a:latin typeface="Trenda IG Text"/>
              </a:rPr>
              <a:t>  the masked G2 summary; break-glass logged</a:t>
            </a:r>
          </a:p>
        </p:txBody>
      </p:sp>
      <p:sp>
        <p:nvSpPr>
          <p:cNvPr id="77" name="Shape 76"/>
          <p:cNvSpPr/>
          <p:nvPr/>
        </p:nvSpPr>
        <p:spPr>
          <a:xfrm>
            <a:off x="4197096" y="46085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Shape 77"/>
          <p:cNvSpPr/>
          <p:nvPr/>
        </p:nvSpPr>
        <p:spPr>
          <a:xfrm>
            <a:off x="4197096" y="4608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8"/>
          <p:cNvSpPr txBox="1"/>
          <p:nvPr/>
        </p:nvSpPr>
        <p:spPr>
          <a:xfrm>
            <a:off x="4325112" y="4608576"/>
            <a:ext cx="3383279"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  </a:t>
            </a:r>
            <a:r>
              <a:rPr sz="700" b="1" i="0">
                <a:solidFill>
                  <a:srgbClr val="1A1A1A"/>
                </a:solidFill>
                <a:latin typeface="Trenda IG Text"/>
              </a:rPr>
              <a:t>Marketing Cloud</a:t>
            </a:r>
            <a:r>
              <a:rPr sz="700" b="0" i="0">
                <a:solidFill>
                  <a:srgbClr val="4D4D4D"/>
                </a:solidFill>
                <a:latin typeface="Trenda IG Text"/>
              </a:rPr>
              <a:t>  only the released fields, this run</a:t>
            </a:r>
          </a:p>
        </p:txBody>
      </p:sp>
      <p:sp>
        <p:nvSpPr>
          <p:cNvPr id="80" name="Shape 79"/>
          <p:cNvSpPr/>
          <p:nvPr/>
        </p:nvSpPr>
        <p:spPr>
          <a:xfrm>
            <a:off x="4197096" y="5065776"/>
            <a:ext cx="356616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hape 80"/>
          <p:cNvSpPr/>
          <p:nvPr/>
        </p:nvSpPr>
        <p:spPr>
          <a:xfrm>
            <a:off x="4197096" y="5065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Text 81"/>
          <p:cNvSpPr txBox="1"/>
          <p:nvPr/>
        </p:nvSpPr>
        <p:spPr>
          <a:xfrm>
            <a:off x="4325112" y="5065776"/>
            <a:ext cx="3383279"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  </a:t>
            </a:r>
            <a:r>
              <a:rPr sz="700" b="1" i="0">
                <a:solidFill>
                  <a:srgbClr val="1A1A1A"/>
                </a:solidFill>
                <a:latin typeface="Trenda IG Text"/>
              </a:rPr>
              <a:t>Sierra voice agent</a:t>
            </a:r>
            <a:r>
              <a:rPr sz="700" b="0" i="0">
                <a:solidFill>
                  <a:srgbClr val="4D4D4D"/>
                </a:solidFill>
                <a:latin typeface="Trenda IG Text"/>
              </a:rPr>
              <a:t>  patient-context API: this verified caller only</a:t>
            </a:r>
          </a:p>
        </p:txBody>
      </p:sp>
      <p:sp>
        <p:nvSpPr>
          <p:cNvPr id="83" name="Shape 82"/>
          <p:cNvSpPr/>
          <p:nvPr/>
        </p:nvSpPr>
        <p:spPr>
          <a:xfrm>
            <a:off x="7891271" y="23225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Shape 83"/>
          <p:cNvSpPr/>
          <p:nvPr/>
        </p:nvSpPr>
        <p:spPr>
          <a:xfrm>
            <a:off x="7891271" y="2322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 84"/>
          <p:cNvSpPr txBox="1"/>
          <p:nvPr/>
        </p:nvSpPr>
        <p:spPr>
          <a:xfrm>
            <a:off x="8019288" y="23225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1  </a:t>
            </a:r>
            <a:r>
              <a:rPr sz="700" b="1" i="0">
                <a:solidFill>
                  <a:srgbClr val="1A1A1A"/>
                </a:solidFill>
                <a:latin typeface="Trenda IG Text"/>
              </a:rPr>
              <a:t>Find who may be asked: consent unknown or information missing</a:t>
            </a:r>
            <a:r>
              <a:rPr sz="700" b="0" i="0">
                <a:solidFill>
                  <a:srgbClr val="4D4D4D"/>
                </a:solidFill>
                <a:latin typeface="Trenda IG Text"/>
              </a:rPr>
              <a:t>  </a:t>
            </a:r>
          </a:p>
        </p:txBody>
      </p:sp>
      <p:sp>
        <p:nvSpPr>
          <p:cNvPr id="86" name="Shape 85"/>
          <p:cNvSpPr/>
          <p:nvPr/>
        </p:nvSpPr>
        <p:spPr>
          <a:xfrm>
            <a:off x="7891271" y="27797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hape 86"/>
          <p:cNvSpPr/>
          <p:nvPr/>
        </p:nvSpPr>
        <p:spPr>
          <a:xfrm>
            <a:off x="7891271" y="2779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Text 87"/>
          <p:cNvSpPr txBox="1"/>
          <p:nvPr/>
        </p:nvSpPr>
        <p:spPr>
          <a:xfrm>
            <a:off x="8019288" y="27797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2  </a:t>
            </a:r>
            <a:r>
              <a:rPr sz="700" b="1" i="0">
                <a:solidFill>
                  <a:srgbClr val="1A1A1A"/>
                </a:solidFill>
                <a:latin typeface="Trenda IG Text"/>
              </a:rPr>
              <a:t>Never re-ask explicit opt-outs, STOP, deceased or do-not-contact</a:t>
            </a:r>
            <a:r>
              <a:rPr sz="700" b="0" i="0">
                <a:solidFill>
                  <a:srgbClr val="4D4D4D"/>
                </a:solidFill>
                <a:latin typeface="Trenda IG Text"/>
              </a:rPr>
              <a:t>  </a:t>
            </a:r>
          </a:p>
        </p:txBody>
      </p:sp>
      <p:sp>
        <p:nvSpPr>
          <p:cNvPr id="89" name="Shape 88"/>
          <p:cNvSpPr/>
          <p:nvPr/>
        </p:nvSpPr>
        <p:spPr>
          <a:xfrm>
            <a:off x="7891271" y="32369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Shape 89"/>
          <p:cNvSpPr/>
          <p:nvPr/>
        </p:nvSpPr>
        <p:spPr>
          <a:xfrm>
            <a:off x="7891271" y="32369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 90"/>
          <p:cNvSpPr txBox="1"/>
          <p:nvPr/>
        </p:nvSpPr>
        <p:spPr>
          <a:xfrm>
            <a:off x="8019288" y="32369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3  </a:t>
            </a:r>
            <a:r>
              <a:rPr sz="700" b="1" i="0">
                <a:solidFill>
                  <a:srgbClr val="1A1A1A"/>
                </a:solidFill>
                <a:latin typeface="Trenda IG Text"/>
              </a:rPr>
              <a:t>Produce the masked G2 summary: counts by reason</a:t>
            </a:r>
            <a:r>
              <a:rPr sz="700" b="0" i="0">
                <a:solidFill>
                  <a:srgbClr val="4D4D4D"/>
                </a:solidFill>
                <a:latin typeface="Trenda IG Text"/>
              </a:rPr>
              <a:t>  </a:t>
            </a:r>
          </a:p>
        </p:txBody>
      </p:sp>
      <p:sp>
        <p:nvSpPr>
          <p:cNvPr id="92" name="Shape 91"/>
          <p:cNvSpPr/>
          <p:nvPr/>
        </p:nvSpPr>
        <p:spPr>
          <a:xfrm>
            <a:off x="7891271" y="36941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Shape 92"/>
          <p:cNvSpPr/>
          <p:nvPr/>
        </p:nvSpPr>
        <p:spPr>
          <a:xfrm>
            <a:off x="7891271" y="36941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93"/>
          <p:cNvSpPr txBox="1"/>
          <p:nvPr/>
        </p:nvSpPr>
        <p:spPr>
          <a:xfrm>
            <a:off x="8019288" y="36941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4  </a:t>
            </a:r>
            <a:r>
              <a:rPr sz="700" b="1" i="0">
                <a:solidFill>
                  <a:srgbClr val="1A1A1A"/>
                </a:solidFill>
                <a:latin typeface="Trenda IG Text"/>
              </a:rPr>
              <a:t>Send an update request by email where an address exists; else portal</a:t>
            </a:r>
            <a:r>
              <a:rPr sz="700" b="0" i="0">
                <a:solidFill>
                  <a:srgbClr val="4D4D4D"/>
                </a:solidFill>
                <a:latin typeface="Trenda IG Text"/>
              </a:rPr>
              <a:t>  </a:t>
            </a:r>
          </a:p>
        </p:txBody>
      </p:sp>
      <p:sp>
        <p:nvSpPr>
          <p:cNvPr id="95" name="Shape 94"/>
          <p:cNvSpPr/>
          <p:nvPr/>
        </p:nvSpPr>
        <p:spPr>
          <a:xfrm>
            <a:off x="7891271" y="41513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Shape 95"/>
          <p:cNvSpPr/>
          <p:nvPr/>
        </p:nvSpPr>
        <p:spPr>
          <a:xfrm>
            <a:off x="7891271" y="41513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6"/>
          <p:cNvSpPr txBox="1"/>
          <p:nvPr/>
        </p:nvSpPr>
        <p:spPr>
          <a:xfrm>
            <a:off x="8019288" y="41513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5  </a:t>
            </a:r>
            <a:r>
              <a:rPr sz="700" b="1" i="0">
                <a:solidFill>
                  <a:srgbClr val="1A1A1A"/>
                </a:solidFill>
                <a:latin typeface="Trenda IG Text"/>
              </a:rPr>
              <a:t>Write answers back to Epic and the consent system, not to Gold B</a:t>
            </a:r>
            <a:r>
              <a:rPr sz="700" b="0" i="0">
                <a:solidFill>
                  <a:srgbClr val="4D4D4D"/>
                </a:solidFill>
                <a:latin typeface="Trenda IG Text"/>
              </a:rPr>
              <a:t>  </a:t>
            </a:r>
          </a:p>
        </p:txBody>
      </p:sp>
      <p:sp>
        <p:nvSpPr>
          <p:cNvPr id="98" name="Shape 97"/>
          <p:cNvSpPr/>
          <p:nvPr/>
        </p:nvSpPr>
        <p:spPr>
          <a:xfrm>
            <a:off x="7891271" y="46085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Shape 98"/>
          <p:cNvSpPr/>
          <p:nvPr/>
        </p:nvSpPr>
        <p:spPr>
          <a:xfrm>
            <a:off x="7891271" y="46085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Text 99"/>
          <p:cNvSpPr txBox="1"/>
          <p:nvPr/>
        </p:nvSpPr>
        <p:spPr>
          <a:xfrm>
            <a:off x="8019288" y="46085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6  </a:t>
            </a:r>
            <a:r>
              <a:rPr sz="700" b="1" i="0">
                <a:solidFill>
                  <a:srgbClr val="1A1A1A"/>
                </a:solidFill>
                <a:latin typeface="Trenda IG Text"/>
              </a:rPr>
              <a:t>Opted in: the patient moves to Gold A at the next daily refresh</a:t>
            </a:r>
            <a:r>
              <a:rPr sz="700" b="0" i="0">
                <a:solidFill>
                  <a:srgbClr val="4D4D4D"/>
                </a:solidFill>
                <a:latin typeface="Trenda IG Text"/>
              </a:rPr>
              <a:t>  </a:t>
            </a:r>
          </a:p>
        </p:txBody>
      </p:sp>
      <p:sp>
        <p:nvSpPr>
          <p:cNvPr id="101" name="Shape 100"/>
          <p:cNvSpPr/>
          <p:nvPr/>
        </p:nvSpPr>
        <p:spPr>
          <a:xfrm>
            <a:off x="7891271" y="5065776"/>
            <a:ext cx="3886200" cy="40233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Shape 101"/>
          <p:cNvSpPr/>
          <p:nvPr/>
        </p:nvSpPr>
        <p:spPr>
          <a:xfrm>
            <a:off x="7891271" y="5065776"/>
            <a:ext cx="45720" cy="402336"/>
          </a:xfrm>
          <a:prstGeom prst="rect">
            <a:avLst/>
          </a:prstGeom>
          <a:solidFill>
            <a:srgbClr val="00D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 102"/>
          <p:cNvSpPr txBox="1"/>
          <p:nvPr/>
        </p:nvSpPr>
        <p:spPr>
          <a:xfrm>
            <a:off x="8019288" y="5065776"/>
            <a:ext cx="3703320" cy="402336"/>
          </a:xfrm>
          <a:prstGeom prst="rect">
            <a:avLst/>
          </a:prstGeom>
          <a:noFill/>
        </p:spPr>
        <p:txBody>
          <a:bodyPr wrap="square" lIns="0" rIns="0" tIns="0" bIns="0" anchor="ctr">
            <a:spAutoFit/>
          </a:bodyPr>
          <a:lstStyle/>
          <a:p>
            <a:pPr>
              <a:lnSpc>
                <a:spcPct val="92000"/>
              </a:lnSpc>
            </a:pPr>
            <a:r>
              <a:rPr sz="700" b="1" i="0">
                <a:solidFill>
                  <a:srgbClr val="0089A0"/>
                </a:solidFill>
                <a:latin typeface="Trenda IG Text"/>
              </a:rPr>
              <a:t>7  </a:t>
            </a:r>
            <a:r>
              <a:rPr sz="700" b="1" i="0">
                <a:solidFill>
                  <a:srgbClr val="1A1A1A"/>
                </a:solidFill>
                <a:latin typeface="Trenda IG Text"/>
              </a:rPr>
              <a:t>Not opted in or still missing: stays in Gold B, restricted</a:t>
            </a:r>
            <a:r>
              <a:rPr sz="700" b="0" i="0">
                <a:solidFill>
                  <a:srgbClr val="4D4D4D"/>
                </a:solidFill>
                <a:latin typeface="Trenda IG Text"/>
              </a:rPr>
              <a:t>  </a:t>
            </a:r>
          </a:p>
        </p:txBody>
      </p:sp>
      <p:sp>
        <p:nvSpPr>
          <p:cNvPr id="104" name="Text 103"/>
          <p:cNvSpPr txBox="1"/>
          <p:nvPr/>
        </p:nvSpPr>
        <p:spPr>
          <a:xfrm>
            <a:off x="411480" y="5559552"/>
            <a:ext cx="1188720" cy="676656"/>
          </a:xfrm>
          <a:prstGeom prst="rect">
            <a:avLst/>
          </a:prstGeom>
          <a:noFill/>
        </p:spPr>
        <p:txBody>
          <a:bodyPr wrap="square" lIns="0" rIns="0" tIns="0" bIns="0" anchor="ctr">
            <a:spAutoFit/>
          </a:bodyPr>
          <a:lstStyle/>
          <a:p>
            <a:pPr>
              <a:spcAft>
                <a:spcPts val="100"/>
              </a:spcAft>
            </a:pPr>
            <a:r>
              <a:rPr sz="700" b="1" i="0" spc="120">
                <a:solidFill>
                  <a:srgbClr val="1A1A1A"/>
                </a:solidFill>
                <a:latin typeface="Trenda IG Text"/>
              </a:rPr>
              <a:t>CONTROLS</a:t>
            </a:r>
          </a:p>
          <a:p>
            <a:pPr>
              <a:spcAft>
                <a:spcPts val="100"/>
              </a:spcAft>
            </a:pPr>
            <a:r>
              <a:rPr sz="700" b="0" i="0">
                <a:solidFill>
                  <a:srgbClr val="6B6B6B"/>
                </a:solidFill>
                <a:latin typeface="Trenda IG Text"/>
              </a:rPr>
              <a:t>on Gold B</a:t>
            </a:r>
          </a:p>
        </p:txBody>
      </p:sp>
      <p:sp>
        <p:nvSpPr>
          <p:cNvPr id="105" name="Shape 104"/>
          <p:cNvSpPr/>
          <p:nvPr/>
        </p:nvSpPr>
        <p:spPr>
          <a:xfrm>
            <a:off x="1645920"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Shape 105"/>
          <p:cNvSpPr/>
          <p:nvPr/>
        </p:nvSpPr>
        <p:spPr>
          <a:xfrm>
            <a:off x="1645920"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ext 106"/>
          <p:cNvSpPr txBox="1"/>
          <p:nvPr/>
        </p:nvSpPr>
        <p:spPr>
          <a:xfrm>
            <a:off x="1792224"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Service identities only</a:t>
            </a:r>
          </a:p>
          <a:p>
            <a:pPr>
              <a:spcAft>
                <a:spcPts val="100"/>
              </a:spcAft>
            </a:pPr>
            <a:r>
              <a:rPr sz="700" b="0" i="0">
                <a:solidFill>
                  <a:srgbClr val="4D4D4D"/>
                </a:solidFill>
                <a:latin typeface="Trenda IG Text"/>
              </a:rPr>
              <a:t>no agent, no dashboard</a:t>
            </a:r>
          </a:p>
        </p:txBody>
      </p:sp>
      <p:sp>
        <p:nvSpPr>
          <p:cNvPr id="108" name="Shape 107"/>
          <p:cNvSpPr/>
          <p:nvPr/>
        </p:nvSpPr>
        <p:spPr>
          <a:xfrm>
            <a:off x="3349752"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Shape 108"/>
          <p:cNvSpPr/>
          <p:nvPr/>
        </p:nvSpPr>
        <p:spPr>
          <a:xfrm>
            <a:off x="3349752"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Text 109"/>
          <p:cNvSpPr txBox="1"/>
          <p:nvPr/>
        </p:nvSpPr>
        <p:spPr>
          <a:xfrm>
            <a:off x="3496056"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Row + column policies</a:t>
            </a:r>
          </a:p>
          <a:p>
            <a:pPr>
              <a:spcAft>
                <a:spcPts val="100"/>
              </a:spcAft>
            </a:pPr>
            <a:r>
              <a:rPr sz="700" b="0" i="0">
                <a:solidFill>
                  <a:srgbClr val="4D4D4D"/>
                </a:solidFill>
                <a:latin typeface="Trenda IG Text"/>
              </a:rPr>
              <a:t>CMEK encryption</a:t>
            </a:r>
          </a:p>
        </p:txBody>
      </p:sp>
      <p:sp>
        <p:nvSpPr>
          <p:cNvPr id="111" name="Shape 110"/>
          <p:cNvSpPr/>
          <p:nvPr/>
        </p:nvSpPr>
        <p:spPr>
          <a:xfrm>
            <a:off x="5053584"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Shape 111"/>
          <p:cNvSpPr/>
          <p:nvPr/>
        </p:nvSpPr>
        <p:spPr>
          <a:xfrm>
            <a:off x="5053584"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 112"/>
          <p:cNvSpPr txBox="1"/>
          <p:nvPr/>
        </p:nvSpPr>
        <p:spPr>
          <a:xfrm>
            <a:off x="5199888"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Every read logged</a:t>
            </a:r>
          </a:p>
          <a:p>
            <a:pPr>
              <a:spcAft>
                <a:spcPts val="100"/>
              </a:spcAft>
            </a:pPr>
            <a:r>
              <a:rPr sz="700" b="0" i="0">
                <a:solidFill>
                  <a:srgbClr val="4D4D4D"/>
                </a:solidFill>
                <a:latin typeface="Trenda IG Text"/>
              </a:rPr>
              <a:t>who, why, which rule version</a:t>
            </a:r>
          </a:p>
        </p:txBody>
      </p:sp>
      <p:sp>
        <p:nvSpPr>
          <p:cNvPr id="114" name="Shape 113"/>
          <p:cNvSpPr/>
          <p:nvPr/>
        </p:nvSpPr>
        <p:spPr>
          <a:xfrm>
            <a:off x="6757416"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Shape 114"/>
          <p:cNvSpPr/>
          <p:nvPr/>
        </p:nvSpPr>
        <p:spPr>
          <a:xfrm>
            <a:off x="6757416"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Text 115"/>
          <p:cNvSpPr txBox="1"/>
          <p:nvPr/>
        </p:nvSpPr>
        <p:spPr>
          <a:xfrm>
            <a:off x="6903720"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Retention limits</a:t>
            </a:r>
          </a:p>
          <a:p>
            <a:pPr>
              <a:spcAft>
                <a:spcPts val="100"/>
              </a:spcAft>
            </a:pPr>
            <a:r>
              <a:rPr sz="700" b="0" i="0">
                <a:solidFill>
                  <a:srgbClr val="4D4D4D"/>
                </a:solidFill>
                <a:latin typeface="Trenda IG Text"/>
              </a:rPr>
              <a:t>purged on schedule</a:t>
            </a:r>
          </a:p>
        </p:txBody>
      </p:sp>
      <p:sp>
        <p:nvSpPr>
          <p:cNvPr id="117" name="Shape 116"/>
          <p:cNvSpPr/>
          <p:nvPr/>
        </p:nvSpPr>
        <p:spPr>
          <a:xfrm>
            <a:off x="8461248"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Shape 117"/>
          <p:cNvSpPr/>
          <p:nvPr/>
        </p:nvSpPr>
        <p:spPr>
          <a:xfrm>
            <a:off x="8461248"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 118"/>
          <p:cNvSpPr txBox="1"/>
          <p:nvPr/>
        </p:nvSpPr>
        <p:spPr>
          <a:xfrm>
            <a:off x="8607552"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Opt-outs never re-asked</a:t>
            </a:r>
          </a:p>
          <a:p>
            <a:pPr>
              <a:spcAft>
                <a:spcPts val="100"/>
              </a:spcAft>
            </a:pPr>
            <a:r>
              <a:rPr sz="700" b="0" i="0">
                <a:solidFill>
                  <a:srgbClr val="4D4D4D"/>
                </a:solidFill>
                <a:latin typeface="Trenda IG Text"/>
              </a:rPr>
              <a:t>STOP and deceased excluded</a:t>
            </a:r>
          </a:p>
        </p:txBody>
      </p:sp>
      <p:sp>
        <p:nvSpPr>
          <p:cNvPr id="120" name="Shape 119"/>
          <p:cNvSpPr/>
          <p:nvPr/>
        </p:nvSpPr>
        <p:spPr>
          <a:xfrm>
            <a:off x="10165080" y="5559552"/>
            <a:ext cx="1612392" cy="676656"/>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Shape 120"/>
          <p:cNvSpPr/>
          <p:nvPr/>
        </p:nvSpPr>
        <p:spPr>
          <a:xfrm>
            <a:off x="10165080" y="5559552"/>
            <a:ext cx="45720" cy="676656"/>
          </a:xfrm>
          <a:prstGeom prst="rect">
            <a:avLst/>
          </a:prstGeom>
          <a:gradFill rotWithShape="1">
            <a:gsLst>
              <a:gs pos="0">
                <a:srgbClr val="FFD700"/>
              </a:gs>
              <a:gs pos="50000">
                <a:srgbClr val="FF0069"/>
              </a:gs>
              <a:gs pos="100000">
                <a:srgbClr val="00D6F2"/>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 121"/>
          <p:cNvSpPr txBox="1"/>
          <p:nvPr/>
        </p:nvSpPr>
        <p:spPr>
          <a:xfrm>
            <a:off x="10311384" y="5559552"/>
            <a:ext cx="1411224" cy="676656"/>
          </a:xfrm>
          <a:prstGeom prst="rect">
            <a:avLst/>
          </a:prstGeom>
          <a:noFill/>
        </p:spPr>
        <p:txBody>
          <a:bodyPr wrap="square" lIns="0" rIns="0" tIns="0" bIns="0" anchor="ctr">
            <a:spAutoFit/>
          </a:bodyPr>
          <a:lstStyle/>
          <a:p>
            <a:pPr>
              <a:spcAft>
                <a:spcPts val="100"/>
              </a:spcAft>
            </a:pPr>
            <a:r>
              <a:rPr sz="750" b="1" i="0">
                <a:solidFill>
                  <a:srgbClr val="1A1A1A"/>
                </a:solidFill>
                <a:latin typeface="Trenda IG Text"/>
              </a:rPr>
              <a:t>Reconciled every run</a:t>
            </a:r>
          </a:p>
          <a:p>
            <a:pPr>
              <a:spcAft>
                <a:spcPts val="100"/>
              </a:spcAft>
            </a:pPr>
            <a:r>
              <a:rPr sz="700" b="0" i="0">
                <a:solidFill>
                  <a:srgbClr val="4D4D4D"/>
                </a:solidFill>
                <a:latin typeface="Trenda IG Text"/>
              </a:rPr>
              <a:t>counts match end to end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AGENTIC HEALTHCARE CAMPAIGN PLATFORM · FUNCTIONAL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Create a campaign in Codex: what happens behind the scenes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Agents work only with definitions and counts. Patient-level data moves only through deterministic services, and only after people approve.</a:t>
            </a:r>
          </a:p>
        </p:txBody>
      </p:sp>
      <p:cxnSp>
        <p:nvCxnSpPr>
          <p:cNvPr id="5" name="Arrow 4"/>
          <p:cNvCxnSpPr/>
          <p:nvPr/>
        </p:nvCxnSpPr>
        <p:spPr>
          <a:xfrm>
            <a:off x="6906332" y="1133856"/>
            <a:ext cx="0" cy="4791456"/>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6" name="Shape 5"/>
          <p:cNvSpPr/>
          <p:nvPr/>
        </p:nvSpPr>
        <p:spPr>
          <a:xfrm>
            <a:off x="457200" y="1170432"/>
            <a:ext cx="1532273" cy="566928"/>
          </a:xfrm>
          <a:prstGeom prst="roundRect">
            <a:avLst>
              <a:gd name="adj" fmla="val 8000"/>
            </a:avLst>
          </a:prstGeom>
          <a:solidFill>
            <a:srgbClr val="FFF7CC"/>
          </a:solidFill>
          <a:ln w="1270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people.png"/>
          <p:cNvPicPr>
            <a:picLocks noChangeAspect="1"/>
          </p:cNvPicPr>
          <p:nvPr/>
        </p:nvPicPr>
        <p:blipFill>
          <a:blip r:embed="rId2"/>
          <a:stretch>
            <a:fillRect/>
          </a:stretch>
        </p:blipFill>
        <p:spPr>
          <a:xfrm>
            <a:off x="530352" y="1243584"/>
            <a:ext cx="182880" cy="182880"/>
          </a:xfrm>
          <a:prstGeom prst="rect">
            <a:avLst/>
          </a:prstGeom>
        </p:spPr>
      </p:pic>
      <p:sp>
        <p:nvSpPr>
          <p:cNvPr id="8" name="Text 6"/>
          <p:cNvSpPr txBox="1"/>
          <p:nvPr/>
        </p:nvSpPr>
        <p:spPr>
          <a:xfrm>
            <a:off x="768096" y="1216152"/>
            <a:ext cx="1184801" cy="219456"/>
          </a:xfrm>
          <a:prstGeom prst="rect">
            <a:avLst/>
          </a:prstGeom>
          <a:noFill/>
        </p:spPr>
        <p:txBody>
          <a:bodyPr wrap="square" lIns="0" rIns="0" tIns="0" bIns="0" anchor="ctr">
            <a:spAutoFit/>
          </a:bodyPr>
          <a:lstStyle/>
          <a:p>
            <a:r>
              <a:rPr sz="800" b="1" i="0">
                <a:solidFill>
                  <a:srgbClr val="8A6D00"/>
                </a:solidFill>
                <a:latin typeface="Trenda IG Text"/>
              </a:rPr>
              <a:t>People</a:t>
            </a:r>
          </a:p>
        </p:txBody>
      </p:sp>
      <p:sp>
        <p:nvSpPr>
          <p:cNvPr id="9" name="Text 7"/>
          <p:cNvSpPr txBox="1"/>
          <p:nvPr/>
        </p:nvSpPr>
        <p:spPr>
          <a:xfrm>
            <a:off x="530352"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Codex · approval page</a:t>
            </a:r>
          </a:p>
        </p:txBody>
      </p:sp>
      <p:cxnSp>
        <p:nvCxnSpPr>
          <p:cNvPr id="10" name="Arrow 8"/>
          <p:cNvCxnSpPr/>
          <p:nvPr/>
        </p:nvCxnSpPr>
        <p:spPr>
          <a:xfrm>
            <a:off x="1223336"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11" name="Shape 9"/>
          <p:cNvSpPr/>
          <p:nvPr/>
        </p:nvSpPr>
        <p:spPr>
          <a:xfrm>
            <a:off x="2080913" y="1170432"/>
            <a:ext cx="1532273" cy="566928"/>
          </a:xfrm>
          <a:prstGeom prst="roundRect">
            <a:avLst>
              <a:gd name="adj" fmla="val 8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harness.png"/>
          <p:cNvPicPr>
            <a:picLocks noChangeAspect="1"/>
          </p:cNvPicPr>
          <p:nvPr/>
        </p:nvPicPr>
        <p:blipFill>
          <a:blip r:embed="rId3"/>
          <a:stretch>
            <a:fillRect/>
          </a:stretch>
        </p:blipFill>
        <p:spPr>
          <a:xfrm>
            <a:off x="2154065" y="1243584"/>
            <a:ext cx="182880" cy="182880"/>
          </a:xfrm>
          <a:prstGeom prst="rect">
            <a:avLst/>
          </a:prstGeom>
        </p:spPr>
      </p:pic>
      <p:sp>
        <p:nvSpPr>
          <p:cNvPr id="13" name="Text 10"/>
          <p:cNvSpPr txBox="1"/>
          <p:nvPr/>
        </p:nvSpPr>
        <p:spPr>
          <a:xfrm>
            <a:off x="2391809" y="1216152"/>
            <a:ext cx="1184801" cy="219456"/>
          </a:xfrm>
          <a:prstGeom prst="rect">
            <a:avLst/>
          </a:prstGeom>
          <a:noFill/>
        </p:spPr>
        <p:txBody>
          <a:bodyPr wrap="square" lIns="0" rIns="0" tIns="0" bIns="0" anchor="ctr">
            <a:spAutoFit/>
          </a:bodyPr>
          <a:lstStyle/>
          <a:p>
            <a:r>
              <a:rPr sz="800" b="1" i="0">
                <a:solidFill>
                  <a:srgbClr val="0089A0"/>
                </a:solidFill>
                <a:latin typeface="Trenda IG Text"/>
              </a:rPr>
              <a:t>Agents</a:t>
            </a:r>
          </a:p>
        </p:txBody>
      </p:sp>
      <p:sp>
        <p:nvSpPr>
          <p:cNvPr id="14" name="Text 11"/>
          <p:cNvSpPr txBox="1"/>
          <p:nvPr/>
        </p:nvSpPr>
        <p:spPr>
          <a:xfrm>
            <a:off x="2154065"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Orchestrator, Strategist, Analytics, Design, Readiness</a:t>
            </a:r>
          </a:p>
        </p:txBody>
      </p:sp>
      <p:cxnSp>
        <p:nvCxnSpPr>
          <p:cNvPr id="15" name="Arrow 12"/>
          <p:cNvCxnSpPr/>
          <p:nvPr/>
        </p:nvCxnSpPr>
        <p:spPr>
          <a:xfrm>
            <a:off x="2847049"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3704626" y="1170432"/>
            <a:ext cx="1532273" cy="566928"/>
          </a:xfrm>
          <a:prstGeom prst="roundRect">
            <a:avLst>
              <a:gd name="adj" fmla="val 8000"/>
            </a:avLst>
          </a:prstGeom>
          <a:solidFill>
            <a:srgbClr val="FFF7CC"/>
          </a:solidFill>
          <a:ln w="1270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googlebigquery.png"/>
          <p:cNvPicPr>
            <a:picLocks noChangeAspect="1"/>
          </p:cNvPicPr>
          <p:nvPr/>
        </p:nvPicPr>
        <p:blipFill>
          <a:blip r:embed="rId4"/>
          <a:stretch>
            <a:fillRect/>
          </a:stretch>
        </p:blipFill>
        <p:spPr>
          <a:xfrm>
            <a:off x="3777778" y="1243584"/>
            <a:ext cx="182880" cy="182880"/>
          </a:xfrm>
          <a:prstGeom prst="rect">
            <a:avLst/>
          </a:prstGeom>
        </p:spPr>
      </p:pic>
      <p:sp>
        <p:nvSpPr>
          <p:cNvPr id="18" name="Text 14"/>
          <p:cNvSpPr txBox="1"/>
          <p:nvPr/>
        </p:nvSpPr>
        <p:spPr>
          <a:xfrm>
            <a:off x="4015522" y="1216152"/>
            <a:ext cx="1184801" cy="219456"/>
          </a:xfrm>
          <a:prstGeom prst="rect">
            <a:avLst/>
          </a:prstGeom>
          <a:noFill/>
        </p:spPr>
        <p:txBody>
          <a:bodyPr wrap="square" lIns="0" rIns="0" tIns="0" bIns="0" anchor="ctr">
            <a:spAutoFit/>
          </a:bodyPr>
          <a:lstStyle/>
          <a:p>
            <a:r>
              <a:rPr sz="800" b="1" i="0">
                <a:solidFill>
                  <a:srgbClr val="8A6D00"/>
                </a:solidFill>
                <a:latin typeface="Trenda IG Text"/>
              </a:rPr>
              <a:t>Gold A · opted in</a:t>
            </a:r>
          </a:p>
        </p:txBody>
      </p:sp>
      <p:sp>
        <p:nvSpPr>
          <p:cNvPr id="19" name="Text 15"/>
          <p:cNvSpPr txBox="1"/>
          <p:nvPr/>
        </p:nvSpPr>
        <p:spPr>
          <a:xfrm>
            <a:off x="3777778"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consented patients, masked for agents; policy tags</a:t>
            </a:r>
          </a:p>
        </p:txBody>
      </p:sp>
      <p:cxnSp>
        <p:nvCxnSpPr>
          <p:cNvPr id="20" name="Arrow 16"/>
          <p:cNvCxnSpPr/>
          <p:nvPr/>
        </p:nvCxnSpPr>
        <p:spPr>
          <a:xfrm>
            <a:off x="4470762"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21" name="Shape 17"/>
          <p:cNvSpPr/>
          <p:nvPr/>
        </p:nvSpPr>
        <p:spPr>
          <a:xfrm>
            <a:off x="5328339" y="1170432"/>
            <a:ext cx="1532273" cy="566928"/>
          </a:xfrm>
          <a:prstGeom prst="roundRect">
            <a:avLst>
              <a:gd name="adj" fmla="val 8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ooglecloudspanner.png"/>
          <p:cNvPicPr>
            <a:picLocks noChangeAspect="1"/>
          </p:cNvPicPr>
          <p:nvPr/>
        </p:nvPicPr>
        <p:blipFill>
          <a:blip r:embed="rId5"/>
          <a:stretch>
            <a:fillRect/>
          </a:stretch>
        </p:blipFill>
        <p:spPr>
          <a:xfrm>
            <a:off x="5401491" y="1243584"/>
            <a:ext cx="182880" cy="182880"/>
          </a:xfrm>
          <a:prstGeom prst="rect">
            <a:avLst/>
          </a:prstGeom>
        </p:spPr>
      </p:pic>
      <p:sp>
        <p:nvSpPr>
          <p:cNvPr id="23" name="Text 18"/>
          <p:cNvSpPr txBox="1"/>
          <p:nvPr/>
        </p:nvSpPr>
        <p:spPr>
          <a:xfrm>
            <a:off x="5639235" y="1216152"/>
            <a:ext cx="1184801" cy="219456"/>
          </a:xfrm>
          <a:prstGeom prst="rect">
            <a:avLst/>
          </a:prstGeom>
          <a:noFill/>
        </p:spPr>
        <p:txBody>
          <a:bodyPr wrap="square" lIns="0" rIns="0" tIns="0" bIns="0" anchor="ctr">
            <a:spAutoFit/>
          </a:bodyPr>
          <a:lstStyle/>
          <a:p>
            <a:r>
              <a:rPr sz="800" b="1" i="0">
                <a:solidFill>
                  <a:srgbClr val="0089A0"/>
                </a:solidFill>
                <a:latin typeface="Trenda IG Text"/>
              </a:rPr>
              <a:t>Knowledge graph</a:t>
            </a:r>
          </a:p>
        </p:txBody>
      </p:sp>
      <p:sp>
        <p:nvSpPr>
          <p:cNvPr id="24" name="Text 19"/>
          <p:cNvSpPr txBox="1"/>
          <p:nvPr/>
        </p:nvSpPr>
        <p:spPr>
          <a:xfrm>
            <a:off x="5401491"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semantic layer: definitions, counts, rules · Spanner Graph</a:t>
            </a:r>
          </a:p>
        </p:txBody>
      </p:sp>
      <p:cxnSp>
        <p:nvCxnSpPr>
          <p:cNvPr id="25" name="Arrow 20"/>
          <p:cNvCxnSpPr/>
          <p:nvPr/>
        </p:nvCxnSpPr>
        <p:spPr>
          <a:xfrm>
            <a:off x="6094476"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26" name="Shape 21"/>
          <p:cNvSpPr/>
          <p:nvPr/>
        </p:nvSpPr>
        <p:spPr>
          <a:xfrm>
            <a:off x="6952052" y="1170432"/>
            <a:ext cx="1532273" cy="566928"/>
          </a:xfrm>
          <a:prstGeom prst="roundRect">
            <a:avLst>
              <a:gd name="adj" fmla="val 8000"/>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googlecloud.png"/>
          <p:cNvPicPr>
            <a:picLocks noChangeAspect="1"/>
          </p:cNvPicPr>
          <p:nvPr/>
        </p:nvPicPr>
        <p:blipFill>
          <a:blip r:embed="rId6"/>
          <a:stretch>
            <a:fillRect/>
          </a:stretch>
        </p:blipFill>
        <p:spPr>
          <a:xfrm>
            <a:off x="7025204" y="1243584"/>
            <a:ext cx="182880" cy="182880"/>
          </a:xfrm>
          <a:prstGeom prst="rect">
            <a:avLst/>
          </a:prstGeom>
        </p:spPr>
      </p:pic>
      <p:sp>
        <p:nvSpPr>
          <p:cNvPr id="28" name="Text 22"/>
          <p:cNvSpPr txBox="1"/>
          <p:nvPr/>
        </p:nvSpPr>
        <p:spPr>
          <a:xfrm>
            <a:off x="7262948" y="1216152"/>
            <a:ext cx="1184801" cy="219456"/>
          </a:xfrm>
          <a:prstGeom prst="rect">
            <a:avLst/>
          </a:prstGeom>
          <a:noFill/>
        </p:spPr>
        <p:txBody>
          <a:bodyPr wrap="square" lIns="0" rIns="0" tIns="0" bIns="0" anchor="ctr">
            <a:spAutoFit/>
          </a:bodyPr>
          <a:lstStyle/>
          <a:p>
            <a:r>
              <a:rPr sz="800" b="1" i="0">
                <a:solidFill>
                  <a:srgbClr val="FF0069"/>
                </a:solidFill>
                <a:latin typeface="Trenda IG Text"/>
              </a:rPr>
              <a:t>Eligibility service</a:t>
            </a:r>
          </a:p>
        </p:txBody>
      </p:sp>
      <p:sp>
        <p:nvSpPr>
          <p:cNvPr id="29" name="Text 23"/>
          <p:cNvSpPr txBox="1"/>
          <p:nvPr/>
        </p:nvSpPr>
        <p:spPr>
          <a:xfrm>
            <a:off x="7025204"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deterministic; runs on Gold A records</a:t>
            </a:r>
          </a:p>
        </p:txBody>
      </p:sp>
      <p:cxnSp>
        <p:nvCxnSpPr>
          <p:cNvPr id="30" name="Arrow 24"/>
          <p:cNvCxnSpPr/>
          <p:nvPr/>
        </p:nvCxnSpPr>
        <p:spPr>
          <a:xfrm>
            <a:off x="7718189"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31" name="Differentiator Border 26"/>
          <p:cNvSpPr/>
          <p:nvPr/>
        </p:nvSpPr>
        <p:spPr>
          <a:xfrm>
            <a:off x="8575765" y="1170432"/>
            <a:ext cx="1532273" cy="5669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Shape 27"/>
          <p:cNvSpPr/>
          <p:nvPr/>
        </p:nvSpPr>
        <p:spPr>
          <a:xfrm>
            <a:off x="8603197" y="1197864"/>
            <a:ext cx="147740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 28"/>
          <p:cNvSpPr txBox="1"/>
          <p:nvPr/>
        </p:nvSpPr>
        <p:spPr>
          <a:xfrm>
            <a:off x="8648917" y="1216152"/>
            <a:ext cx="1422545" cy="219456"/>
          </a:xfrm>
          <a:prstGeom prst="rect">
            <a:avLst/>
          </a:prstGeom>
          <a:noFill/>
        </p:spPr>
        <p:txBody>
          <a:bodyPr wrap="square" lIns="0" rIns="0" tIns="0" bIns="0" anchor="ctr">
            <a:spAutoFit/>
          </a:bodyPr>
          <a:lstStyle/>
          <a:p>
            <a:r>
              <a:rPr sz="800" b="1" i="0">
                <a:solidFill>
                  <a:srgbClr val="FF0069"/>
                </a:solidFill>
                <a:latin typeface="Trenda IG Text"/>
              </a:rPr>
              <a:t>Activation engine</a:t>
            </a:r>
          </a:p>
        </p:txBody>
      </p:sp>
      <p:sp>
        <p:nvSpPr>
          <p:cNvPr id="34" name="Text 29"/>
          <p:cNvSpPr txBox="1"/>
          <p:nvPr/>
        </p:nvSpPr>
        <p:spPr>
          <a:xfrm>
            <a:off x="8648917"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policy checks; unmasks minimum fields</a:t>
            </a:r>
          </a:p>
        </p:txBody>
      </p:sp>
      <p:cxnSp>
        <p:nvCxnSpPr>
          <p:cNvPr id="35" name="Arrow 30"/>
          <p:cNvCxnSpPr/>
          <p:nvPr/>
        </p:nvCxnSpPr>
        <p:spPr>
          <a:xfrm>
            <a:off x="9341902"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36" name="Shape 31"/>
          <p:cNvSpPr/>
          <p:nvPr/>
        </p:nvSpPr>
        <p:spPr>
          <a:xfrm>
            <a:off x="10199478" y="1170432"/>
            <a:ext cx="1532273" cy="566928"/>
          </a:xfrm>
          <a:prstGeom prst="roundRect">
            <a:avLst>
              <a:gd name="adj" fmla="val 8000"/>
            </a:avLst>
          </a:prstGeom>
          <a:solidFill>
            <a:srgbClr val="F2F2F2"/>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salesforce.png"/>
          <p:cNvPicPr>
            <a:picLocks noChangeAspect="1"/>
          </p:cNvPicPr>
          <p:nvPr/>
        </p:nvPicPr>
        <p:blipFill>
          <a:blip r:embed="rId7"/>
          <a:stretch>
            <a:fillRect/>
          </a:stretch>
        </p:blipFill>
        <p:spPr>
          <a:xfrm>
            <a:off x="10272630" y="1243584"/>
            <a:ext cx="182880" cy="182880"/>
          </a:xfrm>
          <a:prstGeom prst="rect">
            <a:avLst/>
          </a:prstGeom>
        </p:spPr>
      </p:pic>
      <p:sp>
        <p:nvSpPr>
          <p:cNvPr id="38" name="Text 32"/>
          <p:cNvSpPr txBox="1"/>
          <p:nvPr/>
        </p:nvSpPr>
        <p:spPr>
          <a:xfrm>
            <a:off x="10510374" y="1216152"/>
            <a:ext cx="1184801" cy="219456"/>
          </a:xfrm>
          <a:prstGeom prst="rect">
            <a:avLst/>
          </a:prstGeom>
          <a:noFill/>
        </p:spPr>
        <p:txBody>
          <a:bodyPr wrap="square" lIns="0" rIns="0" tIns="0" bIns="0" anchor="ctr">
            <a:spAutoFit/>
          </a:bodyPr>
          <a:lstStyle/>
          <a:p>
            <a:r>
              <a:rPr sz="800" b="1" i="0">
                <a:solidFill>
                  <a:srgbClr val="1A1A1A"/>
                </a:solidFill>
                <a:latin typeface="Trenda IG Text"/>
              </a:rPr>
              <a:t>Marketing Cloud</a:t>
            </a:r>
          </a:p>
        </p:txBody>
      </p:sp>
      <p:sp>
        <p:nvSpPr>
          <p:cNvPr id="39" name="Text 33"/>
          <p:cNvSpPr txBox="1"/>
          <p:nvPr/>
        </p:nvSpPr>
        <p:spPr>
          <a:xfrm>
            <a:off x="10272630"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journey + data extension</a:t>
            </a:r>
          </a:p>
        </p:txBody>
      </p:sp>
      <p:cxnSp>
        <p:nvCxnSpPr>
          <p:cNvPr id="40" name="Arrow 34"/>
          <p:cNvCxnSpPr/>
          <p:nvPr/>
        </p:nvCxnSpPr>
        <p:spPr>
          <a:xfrm>
            <a:off x="10965615"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cxnSp>
        <p:nvCxnSpPr>
          <p:cNvPr id="41" name="Arrow 35"/>
          <p:cNvCxnSpPr/>
          <p:nvPr/>
        </p:nvCxnSpPr>
        <p:spPr>
          <a:xfrm>
            <a:off x="4470762" y="1984248"/>
            <a:ext cx="1623714" cy="0"/>
          </a:xfrm>
          <a:prstGeom prst="line">
            <a:avLst/>
          </a:prstGeom>
          <a:ln w="19050">
            <a:solidFill>
              <a:srgbClr val="C9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Shape 36"/>
          <p:cNvSpPr/>
          <p:nvPr/>
        </p:nvSpPr>
        <p:spPr>
          <a:xfrm>
            <a:off x="3442389" y="1833372"/>
            <a:ext cx="3680459"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 37"/>
          <p:cNvSpPr txBox="1"/>
          <p:nvPr/>
        </p:nvSpPr>
        <p:spPr>
          <a:xfrm>
            <a:off x="3442389" y="1833372"/>
            <a:ext cx="3680459" cy="128016"/>
          </a:xfrm>
          <a:prstGeom prst="rect">
            <a:avLst/>
          </a:prstGeom>
          <a:noFill/>
        </p:spPr>
        <p:txBody>
          <a:bodyPr wrap="square" lIns="0" rIns="0" tIns="0" bIns="0" anchor="ctr">
            <a:spAutoFit/>
          </a:bodyPr>
          <a:lstStyle/>
          <a:p>
            <a:pPr algn="ctr"/>
            <a:r>
              <a:rPr sz="700" b="0" i="0">
                <a:solidFill>
                  <a:srgbClr val="1A1A1A"/>
                </a:solidFill>
                <a:latin typeface="Trenda IG Text"/>
              </a:rPr>
              <a:t>0  Kept current: aggregates and definitions only, never patient records</a:t>
            </a:r>
          </a:p>
        </p:txBody>
      </p:sp>
      <p:cxnSp>
        <p:nvCxnSpPr>
          <p:cNvPr id="44" name="Arrow 38"/>
          <p:cNvCxnSpPr/>
          <p:nvPr/>
        </p:nvCxnSpPr>
        <p:spPr>
          <a:xfrm>
            <a:off x="1223336" y="2195068"/>
            <a:ext cx="1623713"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Shape 39"/>
          <p:cNvSpPr/>
          <p:nvPr/>
        </p:nvSpPr>
        <p:spPr>
          <a:xfrm>
            <a:off x="411480" y="2044192"/>
            <a:ext cx="3278124"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 40"/>
          <p:cNvSpPr txBox="1"/>
          <p:nvPr/>
        </p:nvSpPr>
        <p:spPr>
          <a:xfrm>
            <a:off x="411480" y="2044192"/>
            <a:ext cx="3278124" cy="128016"/>
          </a:xfrm>
          <a:prstGeom prst="rect">
            <a:avLst/>
          </a:prstGeom>
          <a:noFill/>
        </p:spPr>
        <p:txBody>
          <a:bodyPr wrap="square" lIns="0" rIns="0" tIns="0" bIns="0" anchor="ctr">
            <a:spAutoFit/>
          </a:bodyPr>
          <a:lstStyle/>
          <a:p>
            <a:pPr algn="ctr"/>
            <a:r>
              <a:rPr sz="700" b="0" i="0">
                <a:solidFill>
                  <a:srgbClr val="1A1A1A"/>
                </a:solidFill>
                <a:latin typeface="Trenda IG Text"/>
              </a:rPr>
              <a:t>1  “Build a post-discharge campaign for heart-failure patients”</a:t>
            </a:r>
          </a:p>
        </p:txBody>
      </p:sp>
      <p:cxnSp>
        <p:nvCxnSpPr>
          <p:cNvPr id="47" name="Arrow 41"/>
          <p:cNvCxnSpPr/>
          <p:nvPr/>
        </p:nvCxnSpPr>
        <p:spPr>
          <a:xfrm>
            <a:off x="2847049" y="2405888"/>
            <a:ext cx="3247427"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Shape 42"/>
          <p:cNvSpPr/>
          <p:nvPr/>
        </p:nvSpPr>
        <p:spPr>
          <a:xfrm>
            <a:off x="2892769" y="2255012"/>
            <a:ext cx="3155986"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 43"/>
          <p:cNvSpPr txBox="1"/>
          <p:nvPr/>
        </p:nvSpPr>
        <p:spPr>
          <a:xfrm>
            <a:off x="2892769" y="2255012"/>
            <a:ext cx="3155986" cy="128016"/>
          </a:xfrm>
          <a:prstGeom prst="rect">
            <a:avLst/>
          </a:prstGeom>
          <a:noFill/>
        </p:spPr>
        <p:txBody>
          <a:bodyPr wrap="square" lIns="0" rIns="0" tIns="0" bIns="0" anchor="ctr">
            <a:spAutoFit/>
          </a:bodyPr>
          <a:lstStyle/>
          <a:p>
            <a:pPr algn="ctr"/>
            <a:r>
              <a:rPr sz="700" b="0" i="0">
                <a:solidFill>
                  <a:srgbClr val="1A1A1A"/>
                </a:solidFill>
                <a:latin typeface="Trenda IG Text"/>
              </a:rPr>
              <a:t>2  What is a heart-failure patient? Which data, which rules?</a:t>
            </a:r>
          </a:p>
        </p:txBody>
      </p:sp>
      <p:cxnSp>
        <p:nvCxnSpPr>
          <p:cNvPr id="50" name="Arrow 44"/>
          <p:cNvCxnSpPr/>
          <p:nvPr/>
        </p:nvCxnSpPr>
        <p:spPr>
          <a:xfrm flipH="1">
            <a:off x="2847049" y="2616708"/>
            <a:ext cx="3247427"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1" name="Shape 45"/>
          <p:cNvSpPr/>
          <p:nvPr/>
        </p:nvSpPr>
        <p:spPr>
          <a:xfrm>
            <a:off x="2756262" y="2465832"/>
            <a:ext cx="3429000"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 46"/>
          <p:cNvSpPr txBox="1"/>
          <p:nvPr/>
        </p:nvSpPr>
        <p:spPr>
          <a:xfrm>
            <a:off x="2756262" y="2465832"/>
            <a:ext cx="3429000" cy="128016"/>
          </a:xfrm>
          <a:prstGeom prst="rect">
            <a:avLst/>
          </a:prstGeom>
          <a:noFill/>
        </p:spPr>
        <p:txBody>
          <a:bodyPr wrap="square" lIns="0" rIns="0" tIns="0" bIns="0" anchor="ctr">
            <a:spAutoFit/>
          </a:bodyPr>
          <a:lstStyle/>
          <a:p>
            <a:pPr algn="ctr"/>
            <a:r>
              <a:rPr sz="700" b="0" i="0">
                <a:solidFill>
                  <a:srgbClr val="4D4D4D"/>
                </a:solidFill>
                <a:latin typeface="Trenda IG Text"/>
              </a:rPr>
              <a:t>3  Definition, Gold A table and consent rule, each with its source</a:t>
            </a:r>
          </a:p>
        </p:txBody>
      </p:sp>
      <p:cxnSp>
        <p:nvCxnSpPr>
          <p:cNvPr id="53" name="Arrow 47"/>
          <p:cNvCxnSpPr/>
          <p:nvPr/>
        </p:nvCxnSpPr>
        <p:spPr>
          <a:xfrm>
            <a:off x="2847049" y="2827528"/>
            <a:ext cx="1623713"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Shape 48"/>
          <p:cNvSpPr/>
          <p:nvPr/>
        </p:nvSpPr>
        <p:spPr>
          <a:xfrm>
            <a:off x="2573056" y="2676652"/>
            <a:ext cx="2171700"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 49"/>
          <p:cNvSpPr txBox="1"/>
          <p:nvPr/>
        </p:nvSpPr>
        <p:spPr>
          <a:xfrm>
            <a:off x="2573056" y="2676652"/>
            <a:ext cx="2171700" cy="128016"/>
          </a:xfrm>
          <a:prstGeom prst="rect">
            <a:avLst/>
          </a:prstGeom>
          <a:noFill/>
        </p:spPr>
        <p:txBody>
          <a:bodyPr wrap="square" lIns="0" rIns="0" tIns="0" bIns="0" anchor="ctr">
            <a:spAutoFit/>
          </a:bodyPr>
          <a:lstStyle/>
          <a:p>
            <a:pPr algn="ctr"/>
            <a:r>
              <a:rPr sz="700" b="0" i="0">
                <a:solidFill>
                  <a:srgbClr val="1A1A1A"/>
                </a:solidFill>
                <a:latin typeface="Trenda IG Text"/>
              </a:rPr>
              <a:t>4  Count the cohort by channel and region</a:t>
            </a:r>
          </a:p>
        </p:txBody>
      </p:sp>
      <p:cxnSp>
        <p:nvCxnSpPr>
          <p:cNvPr id="56" name="Arrow 50"/>
          <p:cNvCxnSpPr/>
          <p:nvPr/>
        </p:nvCxnSpPr>
        <p:spPr>
          <a:xfrm flipH="1">
            <a:off x="2847049" y="3038348"/>
            <a:ext cx="162371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7" name="Shape 51"/>
          <p:cNvSpPr/>
          <p:nvPr/>
        </p:nvSpPr>
        <p:spPr>
          <a:xfrm>
            <a:off x="1969552" y="2887472"/>
            <a:ext cx="3378708"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 52"/>
          <p:cNvSpPr txBox="1"/>
          <p:nvPr/>
        </p:nvSpPr>
        <p:spPr>
          <a:xfrm>
            <a:off x="1969552" y="2887472"/>
            <a:ext cx="3378708" cy="128016"/>
          </a:xfrm>
          <a:prstGeom prst="rect">
            <a:avLst/>
          </a:prstGeom>
          <a:noFill/>
        </p:spPr>
        <p:txBody>
          <a:bodyPr wrap="square" lIns="0" rIns="0" tIns="0" bIns="0" anchor="ctr">
            <a:spAutoFit/>
          </a:bodyPr>
          <a:lstStyle/>
          <a:p>
            <a:pPr algn="ctr"/>
            <a:r>
              <a:rPr sz="700" b="0" i="0">
                <a:solidFill>
                  <a:srgbClr val="4D4D4D"/>
                </a:solidFill>
                <a:latin typeface="Trenda IG Text"/>
              </a:rPr>
              <a:t>5  Counts only, never names; patient rows stay masked in BigQuery</a:t>
            </a:r>
          </a:p>
        </p:txBody>
      </p:sp>
      <p:cxnSp>
        <p:nvCxnSpPr>
          <p:cNvPr id="59" name="Arrow 53"/>
          <p:cNvCxnSpPr/>
          <p:nvPr/>
        </p:nvCxnSpPr>
        <p:spPr>
          <a:xfrm flipH="1">
            <a:off x="1223336" y="3249168"/>
            <a:ext cx="162371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0" name="Shape 54"/>
          <p:cNvSpPr/>
          <p:nvPr/>
        </p:nvSpPr>
        <p:spPr>
          <a:xfrm>
            <a:off x="798467" y="3098292"/>
            <a:ext cx="2473452"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 55"/>
          <p:cNvSpPr txBox="1"/>
          <p:nvPr/>
        </p:nvSpPr>
        <p:spPr>
          <a:xfrm>
            <a:off x="798467" y="3098292"/>
            <a:ext cx="2473452" cy="128016"/>
          </a:xfrm>
          <a:prstGeom prst="rect">
            <a:avLst/>
          </a:prstGeom>
          <a:noFill/>
        </p:spPr>
        <p:txBody>
          <a:bodyPr wrap="square" lIns="0" rIns="0" tIns="0" bIns="0" anchor="ctr">
            <a:spAutoFit/>
          </a:bodyPr>
          <a:lstStyle/>
          <a:p>
            <a:pPr algn="ctr"/>
            <a:r>
              <a:rPr sz="700" b="0" i="0">
                <a:solidFill>
                  <a:srgbClr val="4D4D4D"/>
                </a:solidFill>
                <a:latin typeface="Trenda IG Text"/>
              </a:rPr>
              <a:t>6  Opportunity Brief + masked Tableau dashboard</a:t>
            </a:r>
          </a:p>
        </p:txBody>
      </p:sp>
      <p:sp>
        <p:nvSpPr>
          <p:cNvPr id="62" name="Shape 56"/>
          <p:cNvSpPr/>
          <p:nvPr/>
        </p:nvSpPr>
        <p:spPr>
          <a:xfrm>
            <a:off x="537536" y="3368548"/>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57"/>
          <p:cNvSpPr txBox="1"/>
          <p:nvPr/>
        </p:nvSpPr>
        <p:spPr>
          <a:xfrm>
            <a:off x="537536" y="3368548"/>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G1 · marketer + clinical approve the brief</a:t>
            </a:r>
          </a:p>
        </p:txBody>
      </p:sp>
      <p:cxnSp>
        <p:nvCxnSpPr>
          <p:cNvPr id="64" name="Arrow 58"/>
          <p:cNvCxnSpPr/>
          <p:nvPr/>
        </p:nvCxnSpPr>
        <p:spPr>
          <a:xfrm>
            <a:off x="2847049" y="3670808"/>
            <a:ext cx="8118566"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59"/>
          <p:cNvSpPr/>
          <p:nvPr/>
        </p:nvSpPr>
        <p:spPr>
          <a:xfrm>
            <a:off x="2892769" y="3519932"/>
            <a:ext cx="8027125"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0"/>
          <p:cNvSpPr txBox="1"/>
          <p:nvPr/>
        </p:nvSpPr>
        <p:spPr>
          <a:xfrm>
            <a:off x="2892769" y="3519932"/>
            <a:ext cx="8027125" cy="128016"/>
          </a:xfrm>
          <a:prstGeom prst="rect">
            <a:avLst/>
          </a:prstGeom>
          <a:noFill/>
        </p:spPr>
        <p:txBody>
          <a:bodyPr wrap="square" lIns="0" rIns="0" tIns="0" bIns="0" anchor="ctr">
            <a:spAutoFit/>
          </a:bodyPr>
          <a:lstStyle/>
          <a:p>
            <a:pPr algn="ctr"/>
            <a:r>
              <a:rPr sz="700" b="0" i="0">
                <a:solidFill>
                  <a:srgbClr val="1A1A1A"/>
                </a:solidFill>
                <a:latin typeface="Trenda IG Text"/>
              </a:rPr>
              <a:t>7  Build the journey and data extension, paused: no patients yet</a:t>
            </a:r>
          </a:p>
        </p:txBody>
      </p:sp>
      <p:cxnSp>
        <p:nvCxnSpPr>
          <p:cNvPr id="67" name="Arrow 61"/>
          <p:cNvCxnSpPr/>
          <p:nvPr/>
        </p:nvCxnSpPr>
        <p:spPr>
          <a:xfrm>
            <a:off x="2847049" y="3881628"/>
            <a:ext cx="8118566"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Shape 62"/>
          <p:cNvSpPr/>
          <p:nvPr/>
        </p:nvSpPr>
        <p:spPr>
          <a:xfrm>
            <a:off x="2892769" y="3730752"/>
            <a:ext cx="8027125"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3"/>
          <p:cNvSpPr txBox="1"/>
          <p:nvPr/>
        </p:nvSpPr>
        <p:spPr>
          <a:xfrm>
            <a:off x="2892769" y="3730752"/>
            <a:ext cx="8027125" cy="128016"/>
          </a:xfrm>
          <a:prstGeom prst="rect">
            <a:avLst/>
          </a:prstGeom>
          <a:noFill/>
        </p:spPr>
        <p:txBody>
          <a:bodyPr wrap="square" lIns="0" rIns="0" tIns="0" bIns="0" anchor="ctr">
            <a:spAutoFit/>
          </a:bodyPr>
          <a:lstStyle/>
          <a:p>
            <a:pPr algn="ctr"/>
            <a:r>
              <a:rPr sz="700" b="0" i="0">
                <a:solidFill>
                  <a:srgbClr val="1A1A1A"/>
                </a:solidFill>
                <a:latin typeface="Trenda IG Text"/>
              </a:rPr>
              <a:t>8  Test on test contacts only; a failure goes back to its cause</a:t>
            </a:r>
          </a:p>
        </p:txBody>
      </p:sp>
      <p:sp>
        <p:nvSpPr>
          <p:cNvPr id="70" name="Shape 64"/>
          <p:cNvSpPr/>
          <p:nvPr/>
        </p:nvSpPr>
        <p:spPr>
          <a:xfrm>
            <a:off x="537536" y="4001008"/>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 65"/>
          <p:cNvSpPr txBox="1"/>
          <p:nvPr/>
        </p:nvSpPr>
        <p:spPr>
          <a:xfrm>
            <a:off x="537536" y="4001008"/>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G3 · clinical + compliance approve the journey</a:t>
            </a:r>
          </a:p>
        </p:txBody>
      </p:sp>
      <p:cxnSp>
        <p:nvCxnSpPr>
          <p:cNvPr id="72" name="Arrow 66"/>
          <p:cNvCxnSpPr/>
          <p:nvPr/>
        </p:nvCxnSpPr>
        <p:spPr>
          <a:xfrm>
            <a:off x="2847049" y="4303267"/>
            <a:ext cx="4871140"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Shape 67"/>
          <p:cNvSpPr/>
          <p:nvPr/>
        </p:nvSpPr>
        <p:spPr>
          <a:xfrm>
            <a:off x="2892769" y="4152391"/>
            <a:ext cx="4779699"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 68"/>
          <p:cNvSpPr txBox="1"/>
          <p:nvPr/>
        </p:nvSpPr>
        <p:spPr>
          <a:xfrm>
            <a:off x="2892769" y="4152391"/>
            <a:ext cx="4779699" cy="128016"/>
          </a:xfrm>
          <a:prstGeom prst="rect">
            <a:avLst/>
          </a:prstGeom>
          <a:noFill/>
        </p:spPr>
        <p:txBody>
          <a:bodyPr wrap="square" lIns="0" rIns="0" tIns="0" bIns="0" anchor="ctr">
            <a:spAutoFit/>
          </a:bodyPr>
          <a:lstStyle/>
          <a:p>
            <a:pPr algn="ctr"/>
            <a:r>
              <a:rPr sz="700" b="0" i="0">
                <a:solidFill>
                  <a:srgbClr val="1A1A1A"/>
                </a:solidFill>
                <a:latin typeface="Trenda IG Text"/>
              </a:rPr>
              <a:t>9  Run eligibility on Gold A for the approved rule (no patient data comes back)</a:t>
            </a:r>
          </a:p>
        </p:txBody>
      </p:sp>
      <p:sp>
        <p:nvSpPr>
          <p:cNvPr id="75" name="Shape 69"/>
          <p:cNvSpPr/>
          <p:nvPr/>
        </p:nvSpPr>
        <p:spPr>
          <a:xfrm>
            <a:off x="6961196" y="4422647"/>
            <a:ext cx="4206240" cy="182880"/>
          </a:xfrm>
          <a:prstGeom prst="roundRect">
            <a:avLst>
              <a:gd name="adj" fmla="val 50000"/>
            </a:avLst>
          </a:prstGeom>
          <a:solidFill>
            <a:srgbClr val="FFE6F0"/>
          </a:solidFill>
          <a:ln w="1143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 70"/>
          <p:cNvSpPr txBox="1"/>
          <p:nvPr/>
        </p:nvSpPr>
        <p:spPr>
          <a:xfrm>
            <a:off x="6961196" y="4422647"/>
            <a:ext cx="4206240" cy="182880"/>
          </a:xfrm>
          <a:prstGeom prst="rect">
            <a:avLst/>
          </a:prstGeom>
          <a:noFill/>
        </p:spPr>
        <p:txBody>
          <a:bodyPr wrap="square" lIns="0" rIns="0" tIns="0" bIns="0" anchor="ctr">
            <a:spAutoFit/>
          </a:bodyPr>
          <a:lstStyle/>
          <a:p>
            <a:pPr algn="ctr"/>
            <a:r>
              <a:rPr sz="700" b="0" i="0">
                <a:solidFill>
                  <a:srgbClr val="1A1A1A"/>
                </a:solidFill>
                <a:latin typeface="Trenda IG Text"/>
              </a:rPr>
              <a:t>10  Consent, contact, STOP, deceased, duplicates; no consent or missing → Gold B</a:t>
            </a:r>
          </a:p>
        </p:txBody>
      </p:sp>
      <p:cxnSp>
        <p:nvCxnSpPr>
          <p:cNvPr id="77" name="Arrow 71"/>
          <p:cNvCxnSpPr/>
          <p:nvPr/>
        </p:nvCxnSpPr>
        <p:spPr>
          <a:xfrm flipH="1">
            <a:off x="1223336" y="4724907"/>
            <a:ext cx="649485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8" name="Shape 72"/>
          <p:cNvSpPr/>
          <p:nvPr/>
        </p:nvSpPr>
        <p:spPr>
          <a:xfrm>
            <a:off x="1269056" y="4574031"/>
            <a:ext cx="6403412"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 73"/>
          <p:cNvSpPr txBox="1"/>
          <p:nvPr/>
        </p:nvSpPr>
        <p:spPr>
          <a:xfrm>
            <a:off x="1269056" y="4574031"/>
            <a:ext cx="6403412" cy="128016"/>
          </a:xfrm>
          <a:prstGeom prst="rect">
            <a:avLst/>
          </a:prstGeom>
          <a:noFill/>
        </p:spPr>
        <p:txBody>
          <a:bodyPr wrap="square" lIns="0" rIns="0" tIns="0" bIns="0" anchor="ctr">
            <a:spAutoFit/>
          </a:bodyPr>
          <a:lstStyle/>
          <a:p>
            <a:pPr algn="ctr"/>
            <a:r>
              <a:rPr sz="700" b="0" i="0">
                <a:solidFill>
                  <a:srgbClr val="4D4D4D"/>
                </a:solidFill>
                <a:latin typeface="Trenda IG Text"/>
              </a:rPr>
              <a:t>11  Masked pre-send report: counts and exclusions</a:t>
            </a:r>
          </a:p>
        </p:txBody>
      </p:sp>
      <p:sp>
        <p:nvSpPr>
          <p:cNvPr id="80" name="Shape 74"/>
          <p:cNvSpPr/>
          <p:nvPr/>
        </p:nvSpPr>
        <p:spPr>
          <a:xfrm>
            <a:off x="537536" y="4844287"/>
            <a:ext cx="2514600" cy="182880"/>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5"/>
          <p:cNvSpPr txBox="1"/>
          <p:nvPr/>
        </p:nvSpPr>
        <p:spPr>
          <a:xfrm>
            <a:off x="537536" y="4844287"/>
            <a:ext cx="2514600" cy="182880"/>
          </a:xfrm>
          <a:prstGeom prst="rect">
            <a:avLst/>
          </a:prstGeom>
          <a:noFill/>
        </p:spPr>
        <p:txBody>
          <a:bodyPr wrap="square" lIns="0" rIns="0" tIns="0" bIns="0" anchor="ctr">
            <a:spAutoFit/>
          </a:bodyPr>
          <a:lstStyle/>
          <a:p>
            <a:pPr algn="ctr"/>
            <a:r>
              <a:rPr sz="700" b="1" i="0">
                <a:solidFill>
                  <a:srgbClr val="000000"/>
                </a:solidFill>
                <a:latin typeface="Trenda IG Text"/>
              </a:rPr>
              <a:t>G2 · SME + tech lead approve before send</a:t>
            </a:r>
          </a:p>
        </p:txBody>
      </p:sp>
      <p:cxnSp>
        <p:nvCxnSpPr>
          <p:cNvPr id="82" name="Arrow 76"/>
          <p:cNvCxnSpPr/>
          <p:nvPr/>
        </p:nvCxnSpPr>
        <p:spPr>
          <a:xfrm>
            <a:off x="7718189" y="5146547"/>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77"/>
          <p:cNvSpPr/>
          <p:nvPr/>
        </p:nvSpPr>
        <p:spPr>
          <a:xfrm>
            <a:off x="7620217" y="4995671"/>
            <a:ext cx="1819656"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78"/>
          <p:cNvSpPr txBox="1"/>
          <p:nvPr/>
        </p:nvSpPr>
        <p:spPr>
          <a:xfrm>
            <a:off x="7620217" y="4995671"/>
            <a:ext cx="1819656" cy="128016"/>
          </a:xfrm>
          <a:prstGeom prst="rect">
            <a:avLst/>
          </a:prstGeom>
          <a:noFill/>
        </p:spPr>
        <p:txBody>
          <a:bodyPr wrap="square" lIns="0" rIns="0" tIns="0" bIns="0" anchor="ctr">
            <a:spAutoFit/>
          </a:bodyPr>
          <a:lstStyle/>
          <a:p>
            <a:pPr algn="ctr"/>
            <a:r>
              <a:rPr sz="700" b="0" i="0">
                <a:solidFill>
                  <a:srgbClr val="1A1A1A"/>
                </a:solidFill>
                <a:latin typeface="Trenda IG Text"/>
              </a:rPr>
              <a:t>12  Eligible patients, masked keys</a:t>
            </a:r>
          </a:p>
        </p:txBody>
      </p:sp>
      <p:cxnSp>
        <p:nvCxnSpPr>
          <p:cNvPr id="85" name="Arrow 79"/>
          <p:cNvCxnSpPr/>
          <p:nvPr/>
        </p:nvCxnSpPr>
        <p:spPr>
          <a:xfrm>
            <a:off x="9341902" y="5357367"/>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0"/>
          <p:cNvSpPr/>
          <p:nvPr/>
        </p:nvSpPr>
        <p:spPr>
          <a:xfrm>
            <a:off x="8348471" y="5206491"/>
            <a:ext cx="3429000"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1"/>
          <p:cNvSpPr txBox="1"/>
          <p:nvPr/>
        </p:nvSpPr>
        <p:spPr>
          <a:xfrm>
            <a:off x="8348471" y="5206491"/>
            <a:ext cx="3429000" cy="128016"/>
          </a:xfrm>
          <a:prstGeom prst="rect">
            <a:avLst/>
          </a:prstGeom>
          <a:noFill/>
        </p:spPr>
        <p:txBody>
          <a:bodyPr wrap="square" lIns="0" rIns="0" tIns="0" bIns="0" anchor="ctr">
            <a:spAutoFit/>
          </a:bodyPr>
          <a:lstStyle/>
          <a:p>
            <a:pPr algn="ctr"/>
            <a:r>
              <a:rPr sz="700" b="0" i="0">
                <a:solidFill>
                  <a:srgbClr val="1A1A1A"/>
                </a:solidFill>
                <a:latin typeface="Trenda IG Text"/>
              </a:rPr>
              <a:t>13  Unmask the minimum fields; release after G2 + G3, time-limited</a:t>
            </a:r>
          </a:p>
        </p:txBody>
      </p:sp>
      <p:sp>
        <p:nvSpPr>
          <p:cNvPr id="88" name="Shape 82"/>
          <p:cNvSpPr/>
          <p:nvPr/>
        </p:nvSpPr>
        <p:spPr>
          <a:xfrm>
            <a:off x="9331451" y="5476747"/>
            <a:ext cx="2446020" cy="182880"/>
          </a:xfrm>
          <a:prstGeom prst="roundRect">
            <a:avLst>
              <a:gd name="adj" fmla="val 50000"/>
            </a:avLst>
          </a:prstGeom>
          <a:solidFill>
            <a:srgbClr val="F2F2F2"/>
          </a:solidFill>
          <a:ln w="1143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ext 83"/>
          <p:cNvSpPr txBox="1"/>
          <p:nvPr/>
        </p:nvSpPr>
        <p:spPr>
          <a:xfrm>
            <a:off x="9331451" y="5476747"/>
            <a:ext cx="2446020" cy="182880"/>
          </a:xfrm>
          <a:prstGeom prst="rect">
            <a:avLst/>
          </a:prstGeom>
          <a:noFill/>
        </p:spPr>
        <p:txBody>
          <a:bodyPr wrap="square" lIns="0" rIns="0" tIns="0" bIns="0" anchor="ctr">
            <a:spAutoFit/>
          </a:bodyPr>
          <a:lstStyle/>
          <a:p>
            <a:pPr algn="ctr"/>
            <a:r>
              <a:rPr sz="700" b="0" i="0">
                <a:solidFill>
                  <a:srgbClr val="1A1A1A"/>
                </a:solidFill>
                <a:latin typeface="Trenda IG Text"/>
              </a:rPr>
              <a:t>14  Journey sends; consent re-checked at send</a:t>
            </a:r>
          </a:p>
        </p:txBody>
      </p:sp>
      <p:cxnSp>
        <p:nvCxnSpPr>
          <p:cNvPr id="90" name="Arrow 84"/>
          <p:cNvCxnSpPr/>
          <p:nvPr/>
        </p:nvCxnSpPr>
        <p:spPr>
          <a:xfrm flipH="1">
            <a:off x="4470762" y="5779007"/>
            <a:ext cx="649485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91" name="Shape 85"/>
          <p:cNvSpPr/>
          <p:nvPr/>
        </p:nvSpPr>
        <p:spPr>
          <a:xfrm>
            <a:off x="4516482" y="5628131"/>
            <a:ext cx="6403412" cy="1280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6"/>
          <p:cNvSpPr txBox="1"/>
          <p:nvPr/>
        </p:nvSpPr>
        <p:spPr>
          <a:xfrm>
            <a:off x="4516482" y="5628131"/>
            <a:ext cx="6403412" cy="128016"/>
          </a:xfrm>
          <a:prstGeom prst="rect">
            <a:avLst/>
          </a:prstGeom>
          <a:noFill/>
        </p:spPr>
        <p:txBody>
          <a:bodyPr wrap="square" lIns="0" rIns="0" tIns="0" bIns="0" anchor="ctr">
            <a:spAutoFit/>
          </a:bodyPr>
          <a:lstStyle/>
          <a:p>
            <a:pPr algn="ctr"/>
            <a:r>
              <a:rPr sz="700" b="0" i="0">
                <a:solidFill>
                  <a:srgbClr val="4D4D4D"/>
                </a:solidFill>
                <a:latin typeface="Trenda IG Text"/>
              </a:rPr>
              <a:t>15  Results back as aggregates, for measurement</a:t>
            </a:r>
          </a:p>
        </p:txBody>
      </p:sp>
      <p:sp>
        <p:nvSpPr>
          <p:cNvPr id="93" name="Shape 87"/>
          <p:cNvSpPr/>
          <p:nvPr/>
        </p:nvSpPr>
        <p:spPr>
          <a:xfrm>
            <a:off x="4528892" y="5961888"/>
            <a:ext cx="475488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Text 88"/>
          <p:cNvSpPr txBox="1"/>
          <p:nvPr/>
        </p:nvSpPr>
        <p:spPr>
          <a:xfrm>
            <a:off x="4528892" y="5961888"/>
            <a:ext cx="4754880" cy="182880"/>
          </a:xfrm>
          <a:prstGeom prst="rect">
            <a:avLst/>
          </a:prstGeom>
          <a:noFill/>
        </p:spPr>
        <p:txBody>
          <a:bodyPr wrap="square" lIns="0" rIns="0" tIns="0" bIns="0" anchor="ctr">
            <a:spAutoFit/>
          </a:bodyPr>
          <a:lstStyle/>
          <a:p>
            <a:pPr algn="ctr"/>
            <a:r>
              <a:rPr sz="700" b="1" i="0" spc="60">
                <a:solidFill>
                  <a:srgbClr val="FFFFFE"/>
                </a:solidFill>
                <a:latin typeface="Trenda IG Text"/>
              </a:rPr>
              <a:t>←  AGENTS: DEFINITIONS AND COUNTS ONLY   ·   PATIENT-LEVEL DATA: SERVICES ONLY  →</a:t>
            </a:r>
          </a:p>
        </p:txBody>
      </p:sp>
      <p:sp>
        <p:nvSpPr>
          <p:cNvPr id="95" name="Text 89"/>
          <p:cNvSpPr txBox="1"/>
          <p:nvPr/>
        </p:nvSpPr>
        <p:spPr>
          <a:xfrm>
            <a:off x="411480" y="6199632"/>
            <a:ext cx="11365992" cy="182880"/>
          </a:xfrm>
          <a:prstGeom prst="rect">
            <a:avLst/>
          </a:prstGeom>
          <a:noFill/>
        </p:spPr>
        <p:txBody>
          <a:bodyPr wrap="square" lIns="0" rIns="0" tIns="0" bIns="0" anchor="ctr">
            <a:spAutoFit/>
          </a:bodyPr>
          <a:lstStyle/>
          <a:p>
            <a:r>
              <a:rPr sz="700" b="1" i="0">
                <a:solidFill>
                  <a:srgbClr val="1A1A1A"/>
                </a:solidFill>
                <a:latin typeface="Trenda IG Text"/>
              </a:rPr>
              <a:t>Before any request: </a:t>
            </a:r>
            <a:r>
              <a:rPr sz="700" b="0" i="0">
                <a:solidFill>
                  <a:srgbClr val="6B6B6B"/>
                </a:solidFill>
                <a:latin typeface="Trenda IG Text"/>
              </a:rPr>
              <a:t>the data harness keeps Sources → Bronze → Silver current in Google Cloud; consented patients → Gold A, no consent or missing information → Gold B; DLP classifies and a Collibra steward approves the masking.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 1"/>
          <p:cNvSpPr txBox="1"/>
          <p:nvPr/>
        </p:nvSpPr>
        <p:spPr>
          <a:xfrm>
            <a:off x="411480" y="201168"/>
            <a:ext cx="8229600" cy="182880"/>
          </a:xfrm>
          <a:prstGeom prst="rect">
            <a:avLst/>
          </a:prstGeom>
          <a:noFill/>
        </p:spPr>
        <p:txBody>
          <a:bodyPr wrap="square" lIns="0" rIns="0" tIns="0" bIns="0" anchor="ctr">
            <a:spAutoFit/>
          </a:bodyPr>
          <a:lstStyle/>
          <a:p>
            <a:r>
              <a:rPr sz="800" b="1" i="0" spc="300">
                <a:solidFill>
                  <a:srgbClr val="0089A0"/>
                </a:solidFill>
                <a:latin typeface="Trenda IG Text"/>
              </a:rPr>
              <a:t>ASCENSION · SIERRA VOICE AGENT · CALL FLOW</a:t>
            </a:r>
          </a:p>
        </p:txBody>
      </p:sp>
      <p:sp>
        <p:nvSpPr>
          <p:cNvPr id="3" name="Text 2"/>
          <p:cNvSpPr txBox="1"/>
          <p:nvPr/>
        </p:nvSpPr>
        <p:spPr>
          <a:xfrm>
            <a:off x="411480" y="384048"/>
            <a:ext cx="11365992" cy="411480"/>
          </a:xfrm>
          <a:prstGeom prst="rect">
            <a:avLst/>
          </a:prstGeom>
          <a:noFill/>
        </p:spPr>
        <p:txBody>
          <a:bodyPr wrap="square" lIns="0" rIns="0" tIns="0" bIns="0" anchor="ctr">
            <a:spAutoFit/>
          </a:bodyPr>
          <a:lstStyle/>
          <a:p>
            <a:r>
              <a:rPr sz="2200" b="1" i="0">
                <a:solidFill>
                  <a:srgbClr val="1A1A1A"/>
                </a:solidFill>
                <a:latin typeface="Trenda IG Text"/>
              </a:rPr>
              <a:t>A patient calls about their appointment: what happens behind the scenes</a:t>
            </a:r>
          </a:p>
        </p:txBody>
      </p:sp>
      <p:sp>
        <p:nvSpPr>
          <p:cNvPr id="4" name="Text 3"/>
          <p:cNvSpPr txBox="1"/>
          <p:nvPr/>
        </p:nvSpPr>
        <p:spPr>
          <a:xfrm>
            <a:off x="411480" y="804672"/>
            <a:ext cx="11365992" cy="237744"/>
          </a:xfrm>
          <a:prstGeom prst="rect">
            <a:avLst/>
          </a:prstGeom>
          <a:noFill/>
        </p:spPr>
        <p:txBody>
          <a:bodyPr wrap="square" lIns="0" rIns="0" tIns="0" bIns="0" anchor="ctr">
            <a:spAutoFit/>
          </a:bodyPr>
          <a:lstStyle/>
          <a:p>
            <a:r>
              <a:rPr sz="1050" b="0" i="0">
                <a:solidFill>
                  <a:srgbClr val="4D4D4D"/>
                </a:solidFill>
                <a:latin typeface="Trenda IG Text"/>
              </a:rPr>
              <a:t>Knowledge is shared; patient transactions are not. Sierra acts for a patient only through the Verified Patient Action Engine, after a check that takes seconds.</a:t>
            </a:r>
          </a:p>
        </p:txBody>
      </p:sp>
      <p:cxnSp>
        <p:nvCxnSpPr>
          <p:cNvPr id="5" name="Arrow 4"/>
          <p:cNvCxnSpPr/>
          <p:nvPr/>
        </p:nvCxnSpPr>
        <p:spPr>
          <a:xfrm>
            <a:off x="2035193" y="1133856"/>
            <a:ext cx="0" cy="4791456"/>
          </a:xfrm>
          <a:prstGeom prst="line">
            <a:avLst/>
          </a:prstGeom>
          <a:ln w="15875">
            <a:solidFill>
              <a:srgbClr val="FF0069"/>
            </a:solidFill>
            <a:prstDash val="dash"/>
          </a:ln>
        </p:spPr>
        <p:style>
          <a:lnRef idx="2">
            <a:schemeClr val="accent1"/>
          </a:lnRef>
          <a:fillRef idx="0">
            <a:schemeClr val="accent1"/>
          </a:fillRef>
          <a:effectRef idx="1">
            <a:schemeClr val="accent1"/>
          </a:effectRef>
          <a:fontRef idx="minor">
            <a:schemeClr val="tx1"/>
          </a:fontRef>
        </p:style>
      </p:cxnSp>
      <p:sp>
        <p:nvSpPr>
          <p:cNvPr id="6" name="Shape 5"/>
          <p:cNvSpPr/>
          <p:nvPr/>
        </p:nvSpPr>
        <p:spPr>
          <a:xfrm>
            <a:off x="457200" y="1170432"/>
            <a:ext cx="1532273" cy="566928"/>
          </a:xfrm>
          <a:prstGeom prst="roundRect">
            <a:avLst>
              <a:gd name="adj" fmla="val 8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ooglecloud.png"/>
          <p:cNvPicPr>
            <a:picLocks noChangeAspect="1"/>
          </p:cNvPicPr>
          <p:nvPr/>
        </p:nvPicPr>
        <p:blipFill>
          <a:blip r:embed="rId2"/>
          <a:stretch>
            <a:fillRect/>
          </a:stretch>
        </p:blipFill>
        <p:spPr>
          <a:xfrm>
            <a:off x="530352" y="1243584"/>
            <a:ext cx="182880" cy="182880"/>
          </a:xfrm>
          <a:prstGeom prst="rect">
            <a:avLst/>
          </a:prstGeom>
        </p:spPr>
      </p:pic>
      <p:sp>
        <p:nvSpPr>
          <p:cNvPr id="8" name="Text 6"/>
          <p:cNvSpPr txBox="1"/>
          <p:nvPr/>
        </p:nvSpPr>
        <p:spPr>
          <a:xfrm>
            <a:off x="768096" y="1216152"/>
            <a:ext cx="1184801" cy="219456"/>
          </a:xfrm>
          <a:prstGeom prst="rect">
            <a:avLst/>
          </a:prstGeom>
          <a:noFill/>
        </p:spPr>
        <p:txBody>
          <a:bodyPr wrap="square" lIns="0" rIns="0" tIns="0" bIns="0" anchor="ctr">
            <a:spAutoFit/>
          </a:bodyPr>
          <a:lstStyle/>
          <a:p>
            <a:r>
              <a:rPr sz="800" b="1" i="0">
                <a:solidFill>
                  <a:srgbClr val="0089A0"/>
                </a:solidFill>
                <a:latin typeface="Trenda IG Text"/>
              </a:rPr>
              <a:t>Shared knowledge</a:t>
            </a:r>
          </a:p>
        </p:txBody>
      </p:sp>
      <p:sp>
        <p:nvSpPr>
          <p:cNvPr id="9" name="Text 7"/>
          <p:cNvSpPr txBox="1"/>
          <p:nvPr/>
        </p:nvSpPr>
        <p:spPr>
          <a:xfrm>
            <a:off x="530352"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approved articles · semantic layer + graph</a:t>
            </a:r>
          </a:p>
        </p:txBody>
      </p:sp>
      <p:cxnSp>
        <p:nvCxnSpPr>
          <p:cNvPr id="10" name="Arrow 8"/>
          <p:cNvCxnSpPr/>
          <p:nvPr/>
        </p:nvCxnSpPr>
        <p:spPr>
          <a:xfrm>
            <a:off x="1223336"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11" name="Shape 9"/>
          <p:cNvSpPr/>
          <p:nvPr/>
        </p:nvSpPr>
        <p:spPr>
          <a:xfrm>
            <a:off x="2080913" y="1170432"/>
            <a:ext cx="1532273" cy="566928"/>
          </a:xfrm>
          <a:prstGeom prst="roundRect">
            <a:avLst>
              <a:gd name="adj" fmla="val 8000"/>
            </a:avLst>
          </a:prstGeom>
          <a:solidFill>
            <a:srgbClr val="FFF7CC"/>
          </a:solidFill>
          <a:ln w="1270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people.png"/>
          <p:cNvPicPr>
            <a:picLocks noChangeAspect="1"/>
          </p:cNvPicPr>
          <p:nvPr/>
        </p:nvPicPr>
        <p:blipFill>
          <a:blip r:embed="rId3"/>
          <a:stretch>
            <a:fillRect/>
          </a:stretch>
        </p:blipFill>
        <p:spPr>
          <a:xfrm>
            <a:off x="2154065" y="1243584"/>
            <a:ext cx="182880" cy="182880"/>
          </a:xfrm>
          <a:prstGeom prst="rect">
            <a:avLst/>
          </a:prstGeom>
        </p:spPr>
      </p:pic>
      <p:sp>
        <p:nvSpPr>
          <p:cNvPr id="13" name="Text 10"/>
          <p:cNvSpPr txBox="1"/>
          <p:nvPr/>
        </p:nvSpPr>
        <p:spPr>
          <a:xfrm>
            <a:off x="2391809" y="1216152"/>
            <a:ext cx="1184801" cy="219456"/>
          </a:xfrm>
          <a:prstGeom prst="rect">
            <a:avLst/>
          </a:prstGeom>
          <a:noFill/>
        </p:spPr>
        <p:txBody>
          <a:bodyPr wrap="square" lIns="0" rIns="0" tIns="0" bIns="0" anchor="ctr">
            <a:spAutoFit/>
          </a:bodyPr>
          <a:lstStyle/>
          <a:p>
            <a:r>
              <a:rPr sz="800" b="1" i="0">
                <a:solidFill>
                  <a:srgbClr val="8A6D00"/>
                </a:solidFill>
                <a:latin typeface="Trenda IG Text"/>
              </a:rPr>
              <a:t>Patient</a:t>
            </a:r>
          </a:p>
        </p:txBody>
      </p:sp>
      <p:sp>
        <p:nvSpPr>
          <p:cNvPr id="14" name="Text 11"/>
          <p:cNvSpPr txBox="1"/>
          <p:nvPr/>
        </p:nvSpPr>
        <p:spPr>
          <a:xfrm>
            <a:off x="2154065"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calls the Ascension number</a:t>
            </a:r>
          </a:p>
        </p:txBody>
      </p:sp>
      <p:cxnSp>
        <p:nvCxnSpPr>
          <p:cNvPr id="15" name="Arrow 12"/>
          <p:cNvCxnSpPr/>
          <p:nvPr/>
        </p:nvCxnSpPr>
        <p:spPr>
          <a:xfrm>
            <a:off x="2847049"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16" name="Shape 13"/>
          <p:cNvSpPr/>
          <p:nvPr/>
        </p:nvSpPr>
        <p:spPr>
          <a:xfrm>
            <a:off x="3704626" y="1170432"/>
            <a:ext cx="1532273" cy="566928"/>
          </a:xfrm>
          <a:prstGeom prst="roundRect">
            <a:avLst>
              <a:gd name="adj" fmla="val 8000"/>
            </a:avLst>
          </a:prstGeom>
          <a:solidFill>
            <a:srgbClr val="E0FAFE"/>
          </a:solidFill>
          <a:ln w="12700">
            <a:solidFill>
              <a:srgbClr val="00B8D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 14"/>
          <p:cNvSpPr txBox="1"/>
          <p:nvPr/>
        </p:nvSpPr>
        <p:spPr>
          <a:xfrm>
            <a:off x="3777778" y="1216152"/>
            <a:ext cx="1422545" cy="219456"/>
          </a:xfrm>
          <a:prstGeom prst="rect">
            <a:avLst/>
          </a:prstGeom>
          <a:noFill/>
        </p:spPr>
        <p:txBody>
          <a:bodyPr wrap="square" lIns="0" rIns="0" tIns="0" bIns="0" anchor="ctr">
            <a:spAutoFit/>
          </a:bodyPr>
          <a:lstStyle/>
          <a:p>
            <a:r>
              <a:rPr sz="800" b="1" i="0">
                <a:solidFill>
                  <a:srgbClr val="0089A0"/>
                </a:solidFill>
                <a:latin typeface="Trenda IG Text"/>
              </a:rPr>
              <a:t>Sierra voice agent</a:t>
            </a:r>
          </a:p>
        </p:txBody>
      </p:sp>
      <p:sp>
        <p:nvSpPr>
          <p:cNvPr id="18" name="Text 15"/>
          <p:cNvSpPr txBox="1"/>
          <p:nvPr/>
        </p:nvSpPr>
        <p:spPr>
          <a:xfrm>
            <a:off x="3777778"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answers, verifies, acts · BAA</a:t>
            </a:r>
          </a:p>
        </p:txBody>
      </p:sp>
      <p:cxnSp>
        <p:nvCxnSpPr>
          <p:cNvPr id="19" name="Arrow 16"/>
          <p:cNvCxnSpPr/>
          <p:nvPr/>
        </p:nvCxnSpPr>
        <p:spPr>
          <a:xfrm>
            <a:off x="4470762"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20" name="Shape 17"/>
          <p:cNvSpPr/>
          <p:nvPr/>
        </p:nvSpPr>
        <p:spPr>
          <a:xfrm>
            <a:off x="5328339" y="1170432"/>
            <a:ext cx="1532273" cy="566928"/>
          </a:xfrm>
          <a:prstGeom prst="roundRect">
            <a:avLst>
              <a:gd name="adj" fmla="val 8000"/>
            </a:avLst>
          </a:prstGeom>
          <a:solidFill>
            <a:srgbClr val="FFF7CC"/>
          </a:solidFill>
          <a:ln w="12700">
            <a:solidFill>
              <a:srgbClr val="C9A1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 18"/>
          <p:cNvSpPr txBox="1"/>
          <p:nvPr/>
        </p:nvSpPr>
        <p:spPr>
          <a:xfrm>
            <a:off x="5401491" y="1216152"/>
            <a:ext cx="1422545" cy="219456"/>
          </a:xfrm>
          <a:prstGeom prst="rect">
            <a:avLst/>
          </a:prstGeom>
          <a:noFill/>
        </p:spPr>
        <p:txBody>
          <a:bodyPr wrap="square" lIns="0" rIns="0" tIns="0" bIns="0" anchor="ctr">
            <a:spAutoFit/>
          </a:bodyPr>
          <a:lstStyle/>
          <a:p>
            <a:r>
              <a:rPr sz="800" b="1" i="0">
                <a:solidFill>
                  <a:srgbClr val="8A6D00"/>
                </a:solidFill>
                <a:latin typeface="Trenda IG Text"/>
              </a:rPr>
              <a:t>Identity + verification</a:t>
            </a:r>
          </a:p>
        </p:txBody>
      </p:sp>
      <p:sp>
        <p:nvSpPr>
          <p:cNvPr id="22" name="Text 19"/>
          <p:cNvSpPr txBox="1"/>
          <p:nvPr/>
        </p:nvSpPr>
        <p:spPr>
          <a:xfrm>
            <a:off x="5401491"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caller ID + date of birth · patient token</a:t>
            </a:r>
          </a:p>
        </p:txBody>
      </p:sp>
      <p:cxnSp>
        <p:nvCxnSpPr>
          <p:cNvPr id="23" name="Arrow 20"/>
          <p:cNvCxnSpPr/>
          <p:nvPr/>
        </p:nvCxnSpPr>
        <p:spPr>
          <a:xfrm>
            <a:off x="6094476"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24" name="Differentiator Border 22"/>
          <p:cNvSpPr/>
          <p:nvPr/>
        </p:nvSpPr>
        <p:spPr>
          <a:xfrm>
            <a:off x="6952052" y="1170432"/>
            <a:ext cx="1532273" cy="566928"/>
          </a:xfrm>
          <a:prstGeom prst="rect">
            <a:avLst/>
          </a:prstGeom>
          <a:gradFill rotWithShape="1">
            <a:gsLst>
              <a:gs pos="0">
                <a:srgbClr val="FFD700"/>
              </a:gs>
              <a:gs pos="50000">
                <a:srgbClr val="FF0069"/>
              </a:gs>
              <a:gs pos="100000">
                <a:srgbClr val="00D6F2"/>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hape 23"/>
          <p:cNvSpPr/>
          <p:nvPr/>
        </p:nvSpPr>
        <p:spPr>
          <a:xfrm>
            <a:off x="6979484" y="1197864"/>
            <a:ext cx="1477409"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 24"/>
          <p:cNvSpPr txBox="1"/>
          <p:nvPr/>
        </p:nvSpPr>
        <p:spPr>
          <a:xfrm>
            <a:off x="7025204" y="1216152"/>
            <a:ext cx="1422545" cy="219456"/>
          </a:xfrm>
          <a:prstGeom prst="rect">
            <a:avLst/>
          </a:prstGeom>
          <a:noFill/>
        </p:spPr>
        <p:txBody>
          <a:bodyPr wrap="square" lIns="0" rIns="0" tIns="0" bIns="0" anchor="ctr">
            <a:spAutoFit/>
          </a:bodyPr>
          <a:lstStyle/>
          <a:p>
            <a:r>
              <a:rPr sz="800" b="1" i="0">
                <a:solidFill>
                  <a:srgbClr val="FF0069"/>
                </a:solidFill>
                <a:latin typeface="Trenda IG Text"/>
              </a:rPr>
              <a:t>Verified Patient Action Engine</a:t>
            </a:r>
          </a:p>
        </p:txBody>
      </p:sp>
      <p:sp>
        <p:nvSpPr>
          <p:cNvPr id="27" name="Text 25"/>
          <p:cNvSpPr txBox="1"/>
          <p:nvPr/>
        </p:nvSpPr>
        <p:spPr>
          <a:xfrm>
            <a:off x="7025204"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narrow functions · this patient only</a:t>
            </a:r>
          </a:p>
        </p:txBody>
      </p:sp>
      <p:cxnSp>
        <p:nvCxnSpPr>
          <p:cNvPr id="28" name="Arrow 26"/>
          <p:cNvCxnSpPr/>
          <p:nvPr/>
        </p:nvCxnSpPr>
        <p:spPr>
          <a:xfrm>
            <a:off x="7718189"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29" name="Shape 27"/>
          <p:cNvSpPr/>
          <p:nvPr/>
        </p:nvSpPr>
        <p:spPr>
          <a:xfrm>
            <a:off x="8575765" y="1170432"/>
            <a:ext cx="1532273" cy="566928"/>
          </a:xfrm>
          <a:prstGeom prst="roundRect">
            <a:avLst>
              <a:gd name="adj" fmla="val 8000"/>
            </a:avLst>
          </a:prstGeom>
          <a:solidFill>
            <a:srgbClr val="F2F2F2"/>
          </a:solidFill>
          <a:ln w="127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 28"/>
          <p:cNvSpPr txBox="1"/>
          <p:nvPr/>
        </p:nvSpPr>
        <p:spPr>
          <a:xfrm>
            <a:off x="8648917" y="1216152"/>
            <a:ext cx="1422545" cy="219456"/>
          </a:xfrm>
          <a:prstGeom prst="rect">
            <a:avLst/>
          </a:prstGeom>
          <a:noFill/>
        </p:spPr>
        <p:txBody>
          <a:bodyPr wrap="square" lIns="0" rIns="0" tIns="0" bIns="0" anchor="ctr">
            <a:spAutoFit/>
          </a:bodyPr>
          <a:lstStyle/>
          <a:p>
            <a:r>
              <a:rPr sz="800" b="1" i="0">
                <a:solidFill>
                  <a:srgbClr val="1A1A1A"/>
                </a:solidFill>
                <a:latin typeface="Trenda IG Text"/>
              </a:rPr>
              <a:t>Epic scheduling</a:t>
            </a:r>
          </a:p>
        </p:txBody>
      </p:sp>
      <p:sp>
        <p:nvSpPr>
          <p:cNvPr id="31" name="Text 29"/>
          <p:cNvSpPr txBox="1"/>
          <p:nvPr/>
        </p:nvSpPr>
        <p:spPr>
          <a:xfrm>
            <a:off x="8648917"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system of record</a:t>
            </a:r>
          </a:p>
        </p:txBody>
      </p:sp>
      <p:cxnSp>
        <p:nvCxnSpPr>
          <p:cNvPr id="32" name="Arrow 30"/>
          <p:cNvCxnSpPr/>
          <p:nvPr/>
        </p:nvCxnSpPr>
        <p:spPr>
          <a:xfrm>
            <a:off x="9341902"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33" name="Shape 31"/>
          <p:cNvSpPr/>
          <p:nvPr/>
        </p:nvSpPr>
        <p:spPr>
          <a:xfrm>
            <a:off x="10199478" y="1170432"/>
            <a:ext cx="1532273" cy="566928"/>
          </a:xfrm>
          <a:prstGeom prst="roundRect">
            <a:avLst>
              <a:gd name="adj" fmla="val 8000"/>
            </a:avLst>
          </a:prstGeom>
          <a:solidFill>
            <a:srgbClr val="FFE6F0"/>
          </a:solidFill>
          <a:ln w="12700">
            <a:solidFill>
              <a:srgbClr val="FF006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googlebigquery.png"/>
          <p:cNvPicPr>
            <a:picLocks noChangeAspect="1"/>
          </p:cNvPicPr>
          <p:nvPr/>
        </p:nvPicPr>
        <p:blipFill>
          <a:blip r:embed="rId4"/>
          <a:stretch>
            <a:fillRect/>
          </a:stretch>
        </p:blipFill>
        <p:spPr>
          <a:xfrm>
            <a:off x="10272630" y="1243584"/>
            <a:ext cx="182880" cy="182880"/>
          </a:xfrm>
          <a:prstGeom prst="rect">
            <a:avLst/>
          </a:prstGeom>
        </p:spPr>
      </p:pic>
      <p:sp>
        <p:nvSpPr>
          <p:cNvPr id="35" name="Text 32"/>
          <p:cNvSpPr txBox="1"/>
          <p:nvPr/>
        </p:nvSpPr>
        <p:spPr>
          <a:xfrm>
            <a:off x="10510374" y="1216152"/>
            <a:ext cx="1184801" cy="219456"/>
          </a:xfrm>
          <a:prstGeom prst="rect">
            <a:avLst/>
          </a:prstGeom>
          <a:noFill/>
        </p:spPr>
        <p:txBody>
          <a:bodyPr wrap="square" lIns="0" rIns="0" tIns="0" bIns="0" anchor="ctr">
            <a:spAutoFit/>
          </a:bodyPr>
          <a:lstStyle/>
          <a:p>
            <a:r>
              <a:rPr sz="800" b="1" i="0">
                <a:solidFill>
                  <a:srgbClr val="FF0069"/>
                </a:solidFill>
                <a:latin typeface="Trenda IG Text"/>
              </a:rPr>
              <a:t>Gold B</a:t>
            </a:r>
          </a:p>
        </p:txBody>
      </p:sp>
      <p:sp>
        <p:nvSpPr>
          <p:cNvPr id="36" name="Text 33"/>
          <p:cNvSpPr txBox="1"/>
          <p:nvPr/>
        </p:nvSpPr>
        <p:spPr>
          <a:xfrm>
            <a:off x="10272630" y="1444752"/>
            <a:ext cx="1404257" cy="274320"/>
          </a:xfrm>
          <a:prstGeom prst="rect">
            <a:avLst/>
          </a:prstGeom>
          <a:noFill/>
        </p:spPr>
        <p:txBody>
          <a:bodyPr wrap="square" lIns="0" rIns="0" tIns="0" bIns="0" anchor="t">
            <a:spAutoFit/>
          </a:bodyPr>
          <a:lstStyle/>
          <a:p>
            <a:pPr>
              <a:lnSpc>
                <a:spcPct val="90000"/>
              </a:lnSpc>
            </a:pPr>
            <a:r>
              <a:rPr sz="700" b="0" i="0">
                <a:solidFill>
                  <a:srgbClr val="4D4D4D"/>
                </a:solidFill>
                <a:latin typeface="Trenda IG Text"/>
              </a:rPr>
              <a:t>patient context · read-only</a:t>
            </a:r>
          </a:p>
        </p:txBody>
      </p:sp>
      <p:cxnSp>
        <p:nvCxnSpPr>
          <p:cNvPr id="37" name="Arrow 34"/>
          <p:cNvCxnSpPr/>
          <p:nvPr/>
        </p:nvCxnSpPr>
        <p:spPr>
          <a:xfrm>
            <a:off x="10965615" y="1737360"/>
            <a:ext cx="0" cy="4133088"/>
          </a:xfrm>
          <a:prstGeom prst="line">
            <a:avLst/>
          </a:prstGeom>
          <a:ln w="12700">
            <a:solidFill>
              <a:srgbClr val="D0D0D0"/>
            </a:solidFill>
            <a:prstDash val="sysDot"/>
          </a:ln>
        </p:spPr>
        <p:style>
          <a:lnRef idx="2">
            <a:schemeClr val="accent1"/>
          </a:lnRef>
          <a:fillRef idx="0">
            <a:schemeClr val="accent1"/>
          </a:fillRef>
          <a:effectRef idx="1">
            <a:schemeClr val="accent1"/>
          </a:effectRef>
          <a:fontRef idx="minor">
            <a:schemeClr val="tx1"/>
          </a:fontRef>
        </p:style>
      </p:cxnSp>
      <p:sp>
        <p:nvSpPr>
          <p:cNvPr id="38" name="Shape 35"/>
          <p:cNvSpPr/>
          <p:nvPr/>
        </p:nvSpPr>
        <p:spPr>
          <a:xfrm>
            <a:off x="2161249" y="1847088"/>
            <a:ext cx="3744468" cy="146304"/>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 36"/>
          <p:cNvSpPr txBox="1"/>
          <p:nvPr/>
        </p:nvSpPr>
        <p:spPr>
          <a:xfrm>
            <a:off x="2161249" y="1847088"/>
            <a:ext cx="3744468" cy="146304"/>
          </a:xfrm>
          <a:prstGeom prst="rect">
            <a:avLst/>
          </a:prstGeom>
          <a:noFill/>
        </p:spPr>
        <p:txBody>
          <a:bodyPr wrap="square" lIns="0" rIns="0" tIns="0" bIns="0" anchor="ctr">
            <a:spAutoFit/>
          </a:bodyPr>
          <a:lstStyle/>
          <a:p>
            <a:pPr algn="ctr"/>
            <a:r>
              <a:rPr sz="700" b="1" i="0">
                <a:solidFill>
                  <a:srgbClr val="FFFFFE"/>
                </a:solidFill>
                <a:latin typeface="Trenda IG Text"/>
              </a:rPr>
              <a:t>Emergency words? Straight to 911 or the nurse line: no check, no wait</a:t>
            </a:r>
          </a:p>
        </p:txBody>
      </p:sp>
      <p:cxnSp>
        <p:nvCxnSpPr>
          <p:cNvPr id="40" name="Arrow 37"/>
          <p:cNvCxnSpPr/>
          <p:nvPr/>
        </p:nvCxnSpPr>
        <p:spPr>
          <a:xfrm>
            <a:off x="2847049" y="2167609"/>
            <a:ext cx="1623713" cy="0"/>
          </a:xfrm>
          <a:prstGeom prst="line">
            <a:avLst/>
          </a:prstGeom>
          <a:ln w="19050">
            <a:solidFill>
              <a:srgbClr val="C9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Shape 38"/>
          <p:cNvSpPr/>
          <p:nvPr/>
        </p:nvSpPr>
        <p:spPr>
          <a:xfrm>
            <a:off x="2497618" y="2021305"/>
            <a:ext cx="232257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 39"/>
          <p:cNvSpPr txBox="1"/>
          <p:nvPr/>
        </p:nvSpPr>
        <p:spPr>
          <a:xfrm>
            <a:off x="2497618" y="2021305"/>
            <a:ext cx="2322576" cy="123444"/>
          </a:xfrm>
          <a:prstGeom prst="rect">
            <a:avLst/>
          </a:prstGeom>
          <a:noFill/>
        </p:spPr>
        <p:txBody>
          <a:bodyPr wrap="square" lIns="0" rIns="0" tIns="0" bIns="0" anchor="ctr">
            <a:spAutoFit/>
          </a:bodyPr>
          <a:lstStyle/>
          <a:p>
            <a:pPr algn="ctr"/>
            <a:r>
              <a:rPr sz="700" b="0" i="0">
                <a:solidFill>
                  <a:srgbClr val="1A1A1A"/>
                </a:solidFill>
                <a:latin typeface="Trenda IG Text"/>
              </a:rPr>
              <a:t>1  “When is my next cardiology appointment?”</a:t>
            </a:r>
          </a:p>
        </p:txBody>
      </p:sp>
      <p:cxnSp>
        <p:nvCxnSpPr>
          <p:cNvPr id="43" name="Arrow 40"/>
          <p:cNvCxnSpPr/>
          <p:nvPr/>
        </p:nvCxnSpPr>
        <p:spPr>
          <a:xfrm>
            <a:off x="4470762" y="2369258"/>
            <a:ext cx="1623714"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Shape 41"/>
          <p:cNvSpPr/>
          <p:nvPr/>
        </p:nvSpPr>
        <p:spPr>
          <a:xfrm>
            <a:off x="3165783" y="2222954"/>
            <a:ext cx="4233672"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 42"/>
          <p:cNvSpPr txBox="1"/>
          <p:nvPr/>
        </p:nvSpPr>
        <p:spPr>
          <a:xfrm>
            <a:off x="3165783" y="2222954"/>
            <a:ext cx="4233672" cy="123444"/>
          </a:xfrm>
          <a:prstGeom prst="rect">
            <a:avLst/>
          </a:prstGeom>
          <a:noFill/>
        </p:spPr>
        <p:txBody>
          <a:bodyPr wrap="square" lIns="0" rIns="0" tIns="0" bIns="0" anchor="ctr">
            <a:spAutoFit/>
          </a:bodyPr>
          <a:lstStyle/>
          <a:p>
            <a:pPr algn="ctr"/>
            <a:r>
              <a:rPr sz="700" b="0" i="0">
                <a:solidFill>
                  <a:srgbClr val="1A1A1A"/>
                </a:solidFill>
                <a:latin typeface="Trenda IG Text"/>
              </a:rPr>
              <a:t>2  Caller ID matches the number on file + date of birth; carrier + SIM-swap checks</a:t>
            </a:r>
          </a:p>
        </p:txBody>
      </p:sp>
      <p:cxnSp>
        <p:nvCxnSpPr>
          <p:cNvPr id="46" name="Arrow 43"/>
          <p:cNvCxnSpPr/>
          <p:nvPr/>
        </p:nvCxnSpPr>
        <p:spPr>
          <a:xfrm flipH="1">
            <a:off x="4470762" y="2570907"/>
            <a:ext cx="1623714"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7" name="Shape 44"/>
          <p:cNvSpPr/>
          <p:nvPr/>
        </p:nvSpPr>
        <p:spPr>
          <a:xfrm>
            <a:off x="3366951" y="2424603"/>
            <a:ext cx="383133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 45"/>
          <p:cNvSpPr txBox="1"/>
          <p:nvPr/>
        </p:nvSpPr>
        <p:spPr>
          <a:xfrm>
            <a:off x="3366951" y="2424603"/>
            <a:ext cx="3831336" cy="123444"/>
          </a:xfrm>
          <a:prstGeom prst="rect">
            <a:avLst/>
          </a:prstGeom>
          <a:noFill/>
        </p:spPr>
        <p:txBody>
          <a:bodyPr wrap="square" lIns="0" rIns="0" tIns="0" bIns="0" anchor="ctr">
            <a:spAutoFit/>
          </a:bodyPr>
          <a:lstStyle/>
          <a:p>
            <a:pPr algn="ctr"/>
            <a:r>
              <a:rPr sz="700" b="0" i="0">
                <a:solidFill>
                  <a:srgbClr val="4D4D4D"/>
                </a:solidFill>
                <a:latin typeface="Trenda IG Text"/>
              </a:rPr>
              <a:t>3  Verified in seconds: a short-lived Verified Patient Token (no SMS wait)</a:t>
            </a:r>
          </a:p>
        </p:txBody>
      </p:sp>
      <p:cxnSp>
        <p:nvCxnSpPr>
          <p:cNvPr id="49" name="Arrow 46"/>
          <p:cNvCxnSpPr/>
          <p:nvPr/>
        </p:nvCxnSpPr>
        <p:spPr>
          <a:xfrm>
            <a:off x="4470762" y="2772557"/>
            <a:ext cx="3247427"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Shape 47"/>
          <p:cNvSpPr/>
          <p:nvPr/>
        </p:nvSpPr>
        <p:spPr>
          <a:xfrm>
            <a:off x="4516482" y="2626253"/>
            <a:ext cx="315598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 48"/>
          <p:cNvSpPr txBox="1"/>
          <p:nvPr/>
        </p:nvSpPr>
        <p:spPr>
          <a:xfrm>
            <a:off x="4516482" y="2626253"/>
            <a:ext cx="3155986" cy="123444"/>
          </a:xfrm>
          <a:prstGeom prst="rect">
            <a:avLst/>
          </a:prstGeom>
          <a:noFill/>
        </p:spPr>
        <p:txBody>
          <a:bodyPr wrap="square" lIns="0" rIns="0" tIns="0" bIns="0" anchor="ctr">
            <a:spAutoFit/>
          </a:bodyPr>
          <a:lstStyle/>
          <a:p>
            <a:pPr algn="ctr"/>
            <a:r>
              <a:rPr sz="700" b="0" i="0">
                <a:solidFill>
                  <a:srgbClr val="1A1A1A"/>
                </a:solidFill>
                <a:latin typeface="Trenda IG Text"/>
              </a:rPr>
              <a:t>4  GetNextAppointment(token)</a:t>
            </a:r>
          </a:p>
        </p:txBody>
      </p:sp>
      <p:cxnSp>
        <p:nvCxnSpPr>
          <p:cNvPr id="52" name="Arrow 49"/>
          <p:cNvCxnSpPr/>
          <p:nvPr/>
        </p:nvCxnSpPr>
        <p:spPr>
          <a:xfrm>
            <a:off x="7718189" y="2974206"/>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3" name="Shape 50"/>
          <p:cNvSpPr/>
          <p:nvPr/>
        </p:nvSpPr>
        <p:spPr>
          <a:xfrm>
            <a:off x="7763909" y="2827902"/>
            <a:ext cx="1532273"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 51"/>
          <p:cNvSpPr txBox="1"/>
          <p:nvPr/>
        </p:nvSpPr>
        <p:spPr>
          <a:xfrm>
            <a:off x="7763909" y="2827902"/>
            <a:ext cx="1532273" cy="123444"/>
          </a:xfrm>
          <a:prstGeom prst="rect">
            <a:avLst/>
          </a:prstGeom>
          <a:noFill/>
        </p:spPr>
        <p:txBody>
          <a:bodyPr wrap="square" lIns="0" rIns="0" tIns="0" bIns="0" anchor="ctr">
            <a:spAutoFit/>
          </a:bodyPr>
          <a:lstStyle/>
          <a:p>
            <a:pPr algn="ctr"/>
            <a:r>
              <a:rPr sz="700" b="0" i="0">
                <a:solidFill>
                  <a:srgbClr val="1A1A1A"/>
                </a:solidFill>
                <a:latin typeface="Trenda IG Text"/>
              </a:rPr>
              <a:t>5  Read: this patient only</a:t>
            </a:r>
          </a:p>
        </p:txBody>
      </p:sp>
      <p:cxnSp>
        <p:nvCxnSpPr>
          <p:cNvPr id="55" name="Arrow 52"/>
          <p:cNvCxnSpPr/>
          <p:nvPr/>
        </p:nvCxnSpPr>
        <p:spPr>
          <a:xfrm flipH="1">
            <a:off x="7718189" y="3175855"/>
            <a:ext cx="162371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6" name="Shape 53"/>
          <p:cNvSpPr/>
          <p:nvPr/>
        </p:nvSpPr>
        <p:spPr>
          <a:xfrm>
            <a:off x="7763909" y="3029551"/>
            <a:ext cx="1532273"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ext 54"/>
          <p:cNvSpPr txBox="1"/>
          <p:nvPr/>
        </p:nvSpPr>
        <p:spPr>
          <a:xfrm>
            <a:off x="7763909" y="3029551"/>
            <a:ext cx="1532273" cy="123444"/>
          </a:xfrm>
          <a:prstGeom prst="rect">
            <a:avLst/>
          </a:prstGeom>
          <a:noFill/>
        </p:spPr>
        <p:txBody>
          <a:bodyPr wrap="square" lIns="0" rIns="0" tIns="0" bIns="0" anchor="ctr">
            <a:spAutoFit/>
          </a:bodyPr>
          <a:lstStyle/>
          <a:p>
            <a:pPr algn="ctr"/>
            <a:r>
              <a:rPr sz="700" b="0" i="0">
                <a:solidFill>
                  <a:srgbClr val="4D4D4D"/>
                </a:solidFill>
                <a:latin typeface="Trenda IG Text"/>
              </a:rPr>
              <a:t>6  Appointment record</a:t>
            </a:r>
          </a:p>
        </p:txBody>
      </p:sp>
      <p:cxnSp>
        <p:nvCxnSpPr>
          <p:cNvPr id="58" name="Arrow 55"/>
          <p:cNvCxnSpPr/>
          <p:nvPr/>
        </p:nvCxnSpPr>
        <p:spPr>
          <a:xfrm flipH="1">
            <a:off x="4470762" y="3377504"/>
            <a:ext cx="3247427"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9" name="Shape 56"/>
          <p:cNvSpPr/>
          <p:nvPr/>
        </p:nvSpPr>
        <p:spPr>
          <a:xfrm>
            <a:off x="4516482" y="3231200"/>
            <a:ext cx="315598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 57"/>
          <p:cNvSpPr txBox="1"/>
          <p:nvPr/>
        </p:nvSpPr>
        <p:spPr>
          <a:xfrm>
            <a:off x="4516482" y="3231200"/>
            <a:ext cx="3155986" cy="123444"/>
          </a:xfrm>
          <a:prstGeom prst="rect">
            <a:avLst/>
          </a:prstGeom>
          <a:noFill/>
        </p:spPr>
        <p:txBody>
          <a:bodyPr wrap="square" lIns="0" rIns="0" tIns="0" bIns="0" anchor="ctr">
            <a:spAutoFit/>
          </a:bodyPr>
          <a:lstStyle/>
          <a:p>
            <a:pPr algn="ctr"/>
            <a:r>
              <a:rPr sz="700" b="0" i="0">
                <a:solidFill>
                  <a:srgbClr val="4D4D4D"/>
                </a:solidFill>
                <a:latin typeface="Trenda IG Text"/>
              </a:rPr>
              <a:t>7  Minimum fields: Monday 10:30, cardiology, location</a:t>
            </a:r>
          </a:p>
        </p:txBody>
      </p:sp>
      <p:cxnSp>
        <p:nvCxnSpPr>
          <p:cNvPr id="61" name="Arrow 58"/>
          <p:cNvCxnSpPr/>
          <p:nvPr/>
        </p:nvCxnSpPr>
        <p:spPr>
          <a:xfrm flipH="1">
            <a:off x="2847049" y="3579154"/>
            <a:ext cx="162371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2" name="Shape 59"/>
          <p:cNvSpPr/>
          <p:nvPr/>
        </p:nvSpPr>
        <p:spPr>
          <a:xfrm>
            <a:off x="2221012" y="3432850"/>
            <a:ext cx="2875788"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 60"/>
          <p:cNvSpPr txBox="1"/>
          <p:nvPr/>
        </p:nvSpPr>
        <p:spPr>
          <a:xfrm>
            <a:off x="2221012" y="3432850"/>
            <a:ext cx="2875788" cy="123444"/>
          </a:xfrm>
          <a:prstGeom prst="rect">
            <a:avLst/>
          </a:prstGeom>
          <a:noFill/>
        </p:spPr>
        <p:txBody>
          <a:bodyPr wrap="square" lIns="0" rIns="0" tIns="0" bIns="0" anchor="ctr">
            <a:spAutoFit/>
          </a:bodyPr>
          <a:lstStyle/>
          <a:p>
            <a:pPr algn="ctr"/>
            <a:r>
              <a:rPr sz="700" b="0" i="0">
                <a:solidFill>
                  <a:srgbClr val="4D4D4D"/>
                </a:solidFill>
                <a:latin typeface="Trenda IG Text"/>
              </a:rPr>
              <a:t>8  “Your cardiology appointment is Monday at 10:30 AM.”</a:t>
            </a:r>
          </a:p>
        </p:txBody>
      </p:sp>
      <p:cxnSp>
        <p:nvCxnSpPr>
          <p:cNvPr id="64" name="Arrow 61"/>
          <p:cNvCxnSpPr/>
          <p:nvPr/>
        </p:nvCxnSpPr>
        <p:spPr>
          <a:xfrm>
            <a:off x="2847049" y="3780803"/>
            <a:ext cx="1623713" cy="0"/>
          </a:xfrm>
          <a:prstGeom prst="line">
            <a:avLst/>
          </a:prstGeom>
          <a:ln w="19050">
            <a:solidFill>
              <a:srgbClr val="C9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65" name="Shape 62"/>
          <p:cNvSpPr/>
          <p:nvPr/>
        </p:nvSpPr>
        <p:spPr>
          <a:xfrm>
            <a:off x="2824516" y="3634499"/>
            <a:ext cx="1668780"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 63"/>
          <p:cNvSpPr txBox="1"/>
          <p:nvPr/>
        </p:nvSpPr>
        <p:spPr>
          <a:xfrm>
            <a:off x="2824516" y="3634499"/>
            <a:ext cx="1668780" cy="123444"/>
          </a:xfrm>
          <a:prstGeom prst="rect">
            <a:avLst/>
          </a:prstGeom>
          <a:noFill/>
        </p:spPr>
        <p:txBody>
          <a:bodyPr wrap="square" lIns="0" rIns="0" tIns="0" bIns="0" anchor="ctr">
            <a:spAutoFit/>
          </a:bodyPr>
          <a:lstStyle/>
          <a:p>
            <a:pPr algn="ctr"/>
            <a:r>
              <a:rPr sz="700" b="0" i="0">
                <a:solidFill>
                  <a:srgbClr val="1A1A1A"/>
                </a:solidFill>
                <a:latin typeface="Trenda IG Text"/>
              </a:rPr>
              <a:t>9  “Can you move it to Friday?”</a:t>
            </a:r>
          </a:p>
        </p:txBody>
      </p:sp>
      <p:cxnSp>
        <p:nvCxnSpPr>
          <p:cNvPr id="67" name="Arrow 64"/>
          <p:cNvCxnSpPr/>
          <p:nvPr/>
        </p:nvCxnSpPr>
        <p:spPr>
          <a:xfrm>
            <a:off x="4470762" y="3982452"/>
            <a:ext cx="3247427"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68" name="Shape 65"/>
          <p:cNvSpPr/>
          <p:nvPr/>
        </p:nvSpPr>
        <p:spPr>
          <a:xfrm>
            <a:off x="4516482" y="3836148"/>
            <a:ext cx="315598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 66"/>
          <p:cNvSpPr txBox="1"/>
          <p:nvPr/>
        </p:nvSpPr>
        <p:spPr>
          <a:xfrm>
            <a:off x="4516482" y="3836148"/>
            <a:ext cx="3155986" cy="123444"/>
          </a:xfrm>
          <a:prstGeom prst="rect">
            <a:avLst/>
          </a:prstGeom>
          <a:noFill/>
        </p:spPr>
        <p:txBody>
          <a:bodyPr wrap="square" lIns="0" rIns="0" tIns="0" bIns="0" anchor="ctr">
            <a:spAutoFit/>
          </a:bodyPr>
          <a:lstStyle/>
          <a:p>
            <a:pPr algn="ctr"/>
            <a:r>
              <a:rPr sz="700" b="0" i="0">
                <a:solidFill>
                  <a:srgbClr val="1A1A1A"/>
                </a:solidFill>
                <a:latin typeface="Trenda IG Text"/>
              </a:rPr>
              <a:t>10  SearchAvailableSlots(token, Friday): rules applied</a:t>
            </a:r>
          </a:p>
        </p:txBody>
      </p:sp>
      <p:cxnSp>
        <p:nvCxnSpPr>
          <p:cNvPr id="70" name="Arrow 67"/>
          <p:cNvCxnSpPr/>
          <p:nvPr/>
        </p:nvCxnSpPr>
        <p:spPr>
          <a:xfrm>
            <a:off x="7718189" y="4184101"/>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71" name="Shape 68"/>
          <p:cNvSpPr/>
          <p:nvPr/>
        </p:nvSpPr>
        <p:spPr>
          <a:xfrm>
            <a:off x="7763909" y="4037797"/>
            <a:ext cx="1532273"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 69"/>
          <p:cNvSpPr txBox="1"/>
          <p:nvPr/>
        </p:nvSpPr>
        <p:spPr>
          <a:xfrm>
            <a:off x="7763909" y="4037797"/>
            <a:ext cx="1532273" cy="123444"/>
          </a:xfrm>
          <a:prstGeom prst="rect">
            <a:avLst/>
          </a:prstGeom>
          <a:noFill/>
        </p:spPr>
        <p:txBody>
          <a:bodyPr wrap="square" lIns="0" rIns="0" tIns="0" bIns="0" anchor="ctr">
            <a:spAutoFit/>
          </a:bodyPr>
          <a:lstStyle/>
          <a:p>
            <a:pPr algn="ctr"/>
            <a:r>
              <a:rPr sz="700" b="0" i="0">
                <a:solidFill>
                  <a:srgbClr val="1A1A1A"/>
                </a:solidFill>
                <a:latin typeface="Trenda IG Text"/>
              </a:rPr>
              <a:t>11  Live availability</a:t>
            </a:r>
          </a:p>
        </p:txBody>
      </p:sp>
      <p:cxnSp>
        <p:nvCxnSpPr>
          <p:cNvPr id="73" name="Arrow 70"/>
          <p:cNvCxnSpPr/>
          <p:nvPr/>
        </p:nvCxnSpPr>
        <p:spPr>
          <a:xfrm flipH="1">
            <a:off x="2847049" y="4385751"/>
            <a:ext cx="1623713"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74" name="Shape 71"/>
          <p:cNvSpPr/>
          <p:nvPr/>
        </p:nvSpPr>
        <p:spPr>
          <a:xfrm>
            <a:off x="2397034" y="4239447"/>
            <a:ext cx="2523744"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 72"/>
          <p:cNvSpPr txBox="1"/>
          <p:nvPr/>
        </p:nvSpPr>
        <p:spPr>
          <a:xfrm>
            <a:off x="2397034" y="4239447"/>
            <a:ext cx="2523744" cy="123444"/>
          </a:xfrm>
          <a:prstGeom prst="rect">
            <a:avLst/>
          </a:prstGeom>
          <a:noFill/>
        </p:spPr>
        <p:txBody>
          <a:bodyPr wrap="square" lIns="0" rIns="0" tIns="0" bIns="0" anchor="ctr">
            <a:spAutoFit/>
          </a:bodyPr>
          <a:lstStyle/>
          <a:p>
            <a:pPr algn="ctr"/>
            <a:r>
              <a:rPr sz="700" b="0" i="0">
                <a:solidFill>
                  <a:srgbClr val="4D4D4D"/>
                </a:solidFill>
                <a:latin typeface="Trenda IG Text"/>
              </a:rPr>
              <a:t>12  “Friday has 10:00 AM and 2:30 PM available.”</a:t>
            </a:r>
          </a:p>
        </p:txBody>
      </p:sp>
      <p:cxnSp>
        <p:nvCxnSpPr>
          <p:cNvPr id="76" name="Arrow 73"/>
          <p:cNvCxnSpPr/>
          <p:nvPr/>
        </p:nvCxnSpPr>
        <p:spPr>
          <a:xfrm>
            <a:off x="2847049" y="4587400"/>
            <a:ext cx="1623713" cy="0"/>
          </a:xfrm>
          <a:prstGeom prst="line">
            <a:avLst/>
          </a:prstGeom>
          <a:ln w="19050">
            <a:solidFill>
              <a:srgbClr val="C9A1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7" name="Shape 74"/>
          <p:cNvSpPr/>
          <p:nvPr/>
        </p:nvSpPr>
        <p:spPr>
          <a:xfrm>
            <a:off x="2892769" y="4441096"/>
            <a:ext cx="1532273"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 75"/>
          <p:cNvSpPr txBox="1"/>
          <p:nvPr/>
        </p:nvSpPr>
        <p:spPr>
          <a:xfrm>
            <a:off x="2892769" y="4441096"/>
            <a:ext cx="1532273" cy="123444"/>
          </a:xfrm>
          <a:prstGeom prst="rect">
            <a:avLst/>
          </a:prstGeom>
          <a:noFill/>
        </p:spPr>
        <p:txBody>
          <a:bodyPr wrap="square" lIns="0" rIns="0" tIns="0" bIns="0" anchor="ctr">
            <a:spAutoFit/>
          </a:bodyPr>
          <a:lstStyle/>
          <a:p>
            <a:pPr algn="ctr"/>
            <a:r>
              <a:rPr sz="700" b="0" i="0">
                <a:solidFill>
                  <a:srgbClr val="1A1A1A"/>
                </a:solidFill>
                <a:latin typeface="Trenda IG Text"/>
              </a:rPr>
              <a:t>13  “2:30.”</a:t>
            </a:r>
          </a:p>
        </p:txBody>
      </p:sp>
      <p:cxnSp>
        <p:nvCxnSpPr>
          <p:cNvPr id="79" name="Arrow 76"/>
          <p:cNvCxnSpPr/>
          <p:nvPr/>
        </p:nvCxnSpPr>
        <p:spPr>
          <a:xfrm>
            <a:off x="4470762" y="4789049"/>
            <a:ext cx="3247427"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0" name="Shape 77"/>
          <p:cNvSpPr/>
          <p:nvPr/>
        </p:nvSpPr>
        <p:spPr>
          <a:xfrm>
            <a:off x="4516482" y="4642745"/>
            <a:ext cx="3155986"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 78"/>
          <p:cNvSpPr txBox="1"/>
          <p:nvPr/>
        </p:nvSpPr>
        <p:spPr>
          <a:xfrm>
            <a:off x="4516482" y="4642745"/>
            <a:ext cx="3155986" cy="123444"/>
          </a:xfrm>
          <a:prstGeom prst="rect">
            <a:avLst/>
          </a:prstGeom>
          <a:noFill/>
        </p:spPr>
        <p:txBody>
          <a:bodyPr wrap="square" lIns="0" rIns="0" tIns="0" bIns="0" anchor="ctr">
            <a:spAutoFit/>
          </a:bodyPr>
          <a:lstStyle/>
          <a:p>
            <a:pPr algn="ctr"/>
            <a:r>
              <a:rPr sz="700" b="0" i="0">
                <a:solidFill>
                  <a:srgbClr val="1A1A1A"/>
                </a:solidFill>
                <a:latin typeface="Trenda IG Text"/>
              </a:rPr>
              <a:t>14  RescheduleAppointment(token, Friday 2:30)</a:t>
            </a:r>
          </a:p>
        </p:txBody>
      </p:sp>
      <p:cxnSp>
        <p:nvCxnSpPr>
          <p:cNvPr id="82" name="Arrow 79"/>
          <p:cNvCxnSpPr/>
          <p:nvPr/>
        </p:nvCxnSpPr>
        <p:spPr>
          <a:xfrm>
            <a:off x="7718189" y="4990698"/>
            <a:ext cx="1623713" cy="0"/>
          </a:xfrm>
          <a:prstGeom prst="line">
            <a:avLst/>
          </a:prstGeom>
          <a:ln w="19050">
            <a:solidFill>
              <a:srgbClr val="FF006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3" name="Shape 80"/>
          <p:cNvSpPr/>
          <p:nvPr/>
        </p:nvSpPr>
        <p:spPr>
          <a:xfrm>
            <a:off x="7763909" y="4844394"/>
            <a:ext cx="1532273"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 81"/>
          <p:cNvSpPr txBox="1"/>
          <p:nvPr/>
        </p:nvSpPr>
        <p:spPr>
          <a:xfrm>
            <a:off x="7763909" y="4844394"/>
            <a:ext cx="1532273" cy="123444"/>
          </a:xfrm>
          <a:prstGeom prst="rect">
            <a:avLst/>
          </a:prstGeom>
          <a:noFill/>
        </p:spPr>
        <p:txBody>
          <a:bodyPr wrap="square" lIns="0" rIns="0" tIns="0" bIns="0" anchor="ctr">
            <a:spAutoFit/>
          </a:bodyPr>
          <a:lstStyle/>
          <a:p>
            <a:pPr algn="ctr"/>
            <a:r>
              <a:rPr sz="700" b="0" i="0">
                <a:solidFill>
                  <a:srgbClr val="1A1A1A"/>
                </a:solidFill>
                <a:latin typeface="Trenda IG Text"/>
              </a:rPr>
              <a:t>15  Written to Epic</a:t>
            </a:r>
          </a:p>
        </p:txBody>
      </p:sp>
      <p:cxnSp>
        <p:nvCxnSpPr>
          <p:cNvPr id="85" name="Arrow 82"/>
          <p:cNvCxnSpPr/>
          <p:nvPr/>
        </p:nvCxnSpPr>
        <p:spPr>
          <a:xfrm flipH="1">
            <a:off x="2847049" y="5192348"/>
            <a:ext cx="4871140" cy="0"/>
          </a:xfrm>
          <a:prstGeom prst="line">
            <a:avLst/>
          </a:prstGeom>
          <a:ln w="12700">
            <a:solidFill>
              <a:srgbClr val="8C8C8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6" name="Shape 83"/>
          <p:cNvSpPr/>
          <p:nvPr/>
        </p:nvSpPr>
        <p:spPr>
          <a:xfrm>
            <a:off x="2892769" y="5046044"/>
            <a:ext cx="4779699"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 84"/>
          <p:cNvSpPr txBox="1"/>
          <p:nvPr/>
        </p:nvSpPr>
        <p:spPr>
          <a:xfrm>
            <a:off x="2892769" y="5046044"/>
            <a:ext cx="4779699" cy="123444"/>
          </a:xfrm>
          <a:prstGeom prst="rect">
            <a:avLst/>
          </a:prstGeom>
          <a:noFill/>
        </p:spPr>
        <p:txBody>
          <a:bodyPr wrap="square" lIns="0" rIns="0" tIns="0" bIns="0" anchor="ctr">
            <a:spAutoFit/>
          </a:bodyPr>
          <a:lstStyle/>
          <a:p>
            <a:pPr algn="ctr"/>
            <a:r>
              <a:rPr sz="700" b="0" i="0">
                <a:solidFill>
                  <a:srgbClr val="4D4D4D"/>
                </a:solidFill>
                <a:latin typeface="Trenda IG Text"/>
              </a:rPr>
              <a:t>16  Confirmed: Sierra tells the caller; confirmation text sent</a:t>
            </a:r>
          </a:p>
        </p:txBody>
      </p:sp>
      <p:cxnSp>
        <p:nvCxnSpPr>
          <p:cNvPr id="88" name="Arrow 85"/>
          <p:cNvCxnSpPr/>
          <p:nvPr/>
        </p:nvCxnSpPr>
        <p:spPr>
          <a:xfrm flipH="1">
            <a:off x="1223336" y="5393997"/>
            <a:ext cx="3247426"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89" name="Shape 86"/>
          <p:cNvSpPr/>
          <p:nvPr/>
        </p:nvSpPr>
        <p:spPr>
          <a:xfrm>
            <a:off x="1258279" y="5247693"/>
            <a:ext cx="3177540"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 87"/>
          <p:cNvSpPr txBox="1"/>
          <p:nvPr/>
        </p:nvSpPr>
        <p:spPr>
          <a:xfrm>
            <a:off x="1258279" y="5247693"/>
            <a:ext cx="3177540" cy="123444"/>
          </a:xfrm>
          <a:prstGeom prst="rect">
            <a:avLst/>
          </a:prstGeom>
          <a:noFill/>
        </p:spPr>
        <p:txBody>
          <a:bodyPr wrap="square" lIns="0" rIns="0" tIns="0" bIns="0" anchor="ctr">
            <a:spAutoFit/>
          </a:bodyPr>
          <a:lstStyle/>
          <a:p>
            <a:pPr algn="ctr"/>
            <a:r>
              <a:rPr sz="700" b="0" i="0">
                <a:solidFill>
                  <a:srgbClr val="1A1A1A"/>
                </a:solidFill>
                <a:latin typeface="Trenda IG Text"/>
              </a:rPr>
              <a:t>17  Prep for a cardiology follow-up? Approved article, no PHI</a:t>
            </a:r>
          </a:p>
        </p:txBody>
      </p:sp>
      <p:sp>
        <p:nvSpPr>
          <p:cNvPr id="91" name="Shape 88"/>
          <p:cNvSpPr/>
          <p:nvPr/>
        </p:nvSpPr>
        <p:spPr>
          <a:xfrm>
            <a:off x="2161249" y="5476774"/>
            <a:ext cx="4498848" cy="146304"/>
          </a:xfrm>
          <a:prstGeom prst="roundRect">
            <a:avLst>
              <a:gd name="adj" fmla="val 50000"/>
            </a:avLst>
          </a:prstGeom>
          <a:solidFill>
            <a:srgbClr val="FFD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Text 89"/>
          <p:cNvSpPr txBox="1"/>
          <p:nvPr/>
        </p:nvSpPr>
        <p:spPr>
          <a:xfrm>
            <a:off x="2161249" y="5476774"/>
            <a:ext cx="4498848" cy="146304"/>
          </a:xfrm>
          <a:prstGeom prst="rect">
            <a:avLst/>
          </a:prstGeom>
          <a:noFill/>
        </p:spPr>
        <p:txBody>
          <a:bodyPr wrap="square" lIns="0" rIns="0" tIns="0" bIns="0" anchor="ctr">
            <a:spAutoFit/>
          </a:bodyPr>
          <a:lstStyle/>
          <a:p>
            <a:pPr algn="ctr"/>
            <a:r>
              <a:rPr sz="700" b="1" i="0">
                <a:solidFill>
                  <a:srgbClr val="000000"/>
                </a:solidFill>
                <a:latin typeface="Trenda IG Text"/>
              </a:rPr>
              <a:t>Step-up or hand-off: no caller-ID match, a higher-risk change or a clinical question</a:t>
            </a:r>
          </a:p>
        </p:txBody>
      </p:sp>
      <p:cxnSp>
        <p:nvCxnSpPr>
          <p:cNvPr id="93" name="Arrow 90"/>
          <p:cNvCxnSpPr/>
          <p:nvPr/>
        </p:nvCxnSpPr>
        <p:spPr>
          <a:xfrm>
            <a:off x="7718189" y="5797295"/>
            <a:ext cx="3247426" cy="0"/>
          </a:xfrm>
          <a:prstGeom prst="line">
            <a:avLst/>
          </a:prstGeom>
          <a:ln w="19050">
            <a:solidFill>
              <a:srgbClr val="00B8D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4" name="Shape 91"/>
          <p:cNvSpPr/>
          <p:nvPr/>
        </p:nvSpPr>
        <p:spPr>
          <a:xfrm>
            <a:off x="7225066" y="5650991"/>
            <a:ext cx="4233672" cy="1234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 92"/>
          <p:cNvSpPr txBox="1"/>
          <p:nvPr/>
        </p:nvSpPr>
        <p:spPr>
          <a:xfrm>
            <a:off x="7225066" y="5650991"/>
            <a:ext cx="4233672" cy="123444"/>
          </a:xfrm>
          <a:prstGeom prst="rect">
            <a:avLst/>
          </a:prstGeom>
          <a:noFill/>
        </p:spPr>
        <p:txBody>
          <a:bodyPr wrap="square" lIns="0" rIns="0" tIns="0" bIns="0" anchor="ctr">
            <a:spAutoFit/>
          </a:bodyPr>
          <a:lstStyle/>
          <a:p>
            <a:pPr algn="ctr"/>
            <a:r>
              <a:rPr sz="700" b="0" i="0">
                <a:solidFill>
                  <a:srgbClr val="1A1A1A"/>
                </a:solidFill>
                <a:latin typeface="Trenda IG Text"/>
              </a:rPr>
              <a:t>18  After the call: outcome into Gold B, aggregates into Gold A; transcript masked</a:t>
            </a:r>
          </a:p>
        </p:txBody>
      </p:sp>
      <p:sp>
        <p:nvSpPr>
          <p:cNvPr id="96" name="Shape 93"/>
          <p:cNvSpPr/>
          <p:nvPr/>
        </p:nvSpPr>
        <p:spPr>
          <a:xfrm>
            <a:off x="411480" y="5961888"/>
            <a:ext cx="5669280" cy="182880"/>
          </a:xfrm>
          <a:prstGeom prst="roundRect">
            <a:avLst>
              <a:gd name="adj" fmla="val 50000"/>
            </a:avLst>
          </a:prstGeom>
          <a:solidFill>
            <a:srgbClr val="FF00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 94"/>
          <p:cNvSpPr txBox="1"/>
          <p:nvPr/>
        </p:nvSpPr>
        <p:spPr>
          <a:xfrm>
            <a:off x="411480" y="5961888"/>
            <a:ext cx="5669280" cy="182880"/>
          </a:xfrm>
          <a:prstGeom prst="rect">
            <a:avLst/>
          </a:prstGeom>
          <a:noFill/>
        </p:spPr>
        <p:txBody>
          <a:bodyPr wrap="square" lIns="0" rIns="0" tIns="0" bIns="0" anchor="ctr">
            <a:spAutoFit/>
          </a:bodyPr>
          <a:lstStyle/>
          <a:p>
            <a:pPr algn="ctr"/>
            <a:r>
              <a:rPr sz="700" b="1" i="0" spc="60">
                <a:solidFill>
                  <a:srgbClr val="FFFFFE"/>
                </a:solidFill>
                <a:latin typeface="Trenda IG Text"/>
              </a:rPr>
              <a:t>←  SHARED KNOWLEDGE: NO PHI   ·   PATIENT TRANSACTIONS: THE VERIFIED CALLER ONLY  →</a:t>
            </a:r>
          </a:p>
        </p:txBody>
      </p:sp>
      <p:sp>
        <p:nvSpPr>
          <p:cNvPr id="98" name="Text 95"/>
          <p:cNvSpPr txBox="1"/>
          <p:nvPr/>
        </p:nvSpPr>
        <p:spPr>
          <a:xfrm>
            <a:off x="411480" y="6199632"/>
            <a:ext cx="11365992" cy="182880"/>
          </a:xfrm>
          <a:prstGeom prst="rect">
            <a:avLst/>
          </a:prstGeom>
          <a:noFill/>
        </p:spPr>
        <p:txBody>
          <a:bodyPr wrap="square" lIns="0" rIns="0" tIns="0" bIns="0" anchor="ctr">
            <a:spAutoFit/>
          </a:bodyPr>
          <a:lstStyle/>
          <a:p>
            <a:r>
              <a:rPr sz="700" b="1" i="0">
                <a:solidFill>
                  <a:srgbClr val="1A1A1A"/>
                </a:solidFill>
                <a:latin typeface="Trenda IG Text"/>
              </a:rPr>
              <a:t>Never: </a:t>
            </a:r>
            <a:r>
              <a:rPr sz="700" b="0" i="0">
                <a:solidFill>
                  <a:srgbClr val="6B6B6B"/>
                </a:solidFill>
                <a:latin typeface="Trenda IG Text"/>
              </a:rPr>
              <a:t>lists of patients, anyone else's data, or a Google Cloud copy of a booking. Transcripts hold PHI: access-controlled, retention-limited, masked before analytics.</a:t>
            </a:r>
          </a:p>
        </p:txBody>
      </p:sp>
    </p:spTree>
  </p:cSld>
  <p:clrMapOvr>
    <a:masterClrMapping/>
  </p:clrMapOvr>
</p:sld>
</file>

<file path=ppt/theme/theme1.xml><?xml version="1.0" encoding="utf-8"?>
<a:theme xmlns:a="http://schemas.openxmlformats.org/drawingml/2006/main" name="Office Theme">
  <a:themeElements>
    <a:clrScheme name="Insight Global">
      <a:dk1>
        <a:srgbClr val="000000"/>
      </a:dk1>
      <a:lt1>
        <a:srgbClr val="FFFFFF"/>
      </a:lt1>
      <a:dk2>
        <a:srgbClr val="00273B"/>
      </a:dk2>
      <a:lt2>
        <a:srgbClr val="F2F2F2"/>
      </a:lt2>
      <a:accent1>
        <a:srgbClr val="00D6F2"/>
      </a:accent1>
      <a:accent2>
        <a:srgbClr val="FFD700"/>
      </a:accent2>
      <a:accent3>
        <a:srgbClr val="FF0069"/>
      </a:accent3>
      <a:accent4>
        <a:srgbClr val="FA8B35"/>
      </a:accent4>
      <a:accent5>
        <a:srgbClr val="4527A0"/>
      </a:accent5>
      <a:accent6>
        <a:srgbClr val="56E13B"/>
      </a:accent6>
      <a:hlink>
        <a:srgbClr val="FF0069"/>
      </a:hlink>
      <a:folHlink>
        <a:srgbClr val="D214AA"/>
      </a:folHlink>
    </a:clrScheme>
    <a:fontScheme name="Insight Global">
      <a:majorFont>
        <a:latin typeface="Trenda IG Tex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nda IG Display"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renda IG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renda IG Text"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21450</Words>
  <Application>Microsoft Office PowerPoint</Application>
  <PresentationFormat>Widescreen</PresentationFormat>
  <Paragraphs>2663</Paragraphs>
  <Slides>36</Slides>
  <Notes>29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36</vt:i4>
      </vt:variant>
    </vt:vector>
  </HeadingPairs>
  <TitlesOfParts>
    <vt:vector size="44" baseType="lpstr">
      <vt:lpstr>Arial</vt:lpstr>
      <vt:lpstr>Calibri</vt:lpstr>
      <vt:lpstr>Courier New</vt:lpstr>
      <vt:lpstr>Trenda IG Text</vt:lpstr>
      <vt:lpstr>Trenda IG Text Light</vt:lpstr>
      <vt:lpstr>Trenda IG Text Semibold</vt:lpstr>
      <vt:lpstr>Office Theme</vt:lpstr>
      <vt:lpstr>1_Office Theme</vt:lpstr>
      <vt:lpstr>Ascension AGENTIC HARNESS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Ascension Network Services - Engineering Context Knowledge Graph Architecture</dc:title>
  <dc:subject>PptxGenJS Presentation</dc:subject>
  <dc:creator>InsightGlobal</dc:creator>
  <cp:lastModifiedBy>Surya Chinta</cp:lastModifiedBy>
  <cp:revision>1</cp:revision>
  <dcterms:created xsi:type="dcterms:W3CDTF">2026-09-09T12:37:24Z</dcterms:created>
  <dcterms:modified xsi:type="dcterms:W3CDTF">2026-10-14T07:17:18Z</dcterms:modified>
</cp:coreProperties>
</file>