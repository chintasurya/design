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9" r:id="rId23"/>
    <p:sldId id="270" r:id="rId24"/>
    <p:sldId id="271" r:id="rId25"/>
    <p:sldId id="265" r:id="rId19"/>
    <p:sldId id="264" r:id="rId18"/>
    <p:sldId id="262" r:id="rId16"/>
    <p:sldId id="266" r:id="rId20"/>
    <p:sldId id="272" r:id="rId26"/>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the restricted patient layer behind every campaign   (about 2 minutes)</a:t>
            </a:r>
          </a:p>
          <a:p/>
          <a:p>
            <a:r>
              <a:t>KEY MESSAGE</a:t>
            </a:r>
          </a:p>
          <a:p>
            <a:r>
              <a:t>Gold B holds what it takes to decide exactly who may be contacted, now, for an approved campaign. Only the two engines read it; agents, the semantic layer and the knowledge graph never do.</a:t>
            </a:r>
          </a:p>
          <a:p/>
          <a:p>
            <a:r>
              <a:t>WALK IT</a:t>
            </a:r>
          </a:p>
          <a:p>
            <a:r>
              <a:t>- Top: Silver resolves identity and consent; Gold B serves the Cohort Resolution Engine, the masked G2 summary and the Activation Engine; engagement comes back into Gold B and is aggregated into Gold A.</a:t>
            </a:r>
          </a:p>
          <a:p>
            <a:r>
              <a:t>- Left, what is in it: the patient key, the cohort facts the rules need, consent per channel and purpose, verified contact points, exclusions, preferences, and engagement and outcomes per patient.</a:t>
            </a:r>
          </a:p>
          <a:p>
            <a:r>
              <a:t>- Middle, who can read it: the two engines, for an approved run only; the Sierra voice agent through the patient-context API, for one verified caller. Agents, Codex, the semantic layer and the knowledge graph never; people see the masked G2 summary; any break-glass access is logged.</a:t>
            </a:r>
          </a:p>
          <a:p>
            <a:r>
              <a:t>- Right, what we can do with it: resolve the exact audience, apply consent and suppression at run time, produce the G2 summary, release minimum fields, hold out a control group, track outcomes such as readmissions, and feed safe aggregates back to Gold A.</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on Gold B (consent, contact, STOP, deceased, duplicates) and sends a masked pre-send report; the SME and tech lead approve (G2).</a:t>
            </a:r>
          </a:p>
          <a:p>
            <a:r>
              <a:t>12-13 Only then do eligible patients, minimum fields only, pass through the policy engine and activation gateway to Marketing Cloud. 14 The journey sends, with consent re-checked at send. 15 Results come back as aggregates.</a:t>
            </a:r>
          </a:p>
          <a:p/>
          <a:p>
            <a:r>
              <a:t>BEFORE ANY REQUEST</a:t>
            </a:r>
          </a:p>
          <a:p>
            <a:r>
              <a:t>The data harness keeps Sources, Bronze, Silver, Gold A and Gold B current in Google Cloud;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Factory</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factory,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0089A0"/>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8A6D00"/>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88" name="Shape 81"/>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88" name="Shape 81"/>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94" name="Shape 87"/>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4" name="Shape 87"/>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00" name="Shape 93"/>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1A1A1A"/>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6" name="Shape 140"/>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60" name="Shape 144"/>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4" name="Shape 148"/>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4" name="Shape 148"/>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UAT + production · H4 · CAB</a:t>
            </a:r>
          </a:p>
          <a:p>
            <a:r>
              <a:rPr sz="700" b="0" i="0">
                <a:solidFill>
                  <a:srgbClr val="4D4D4D"/>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79" name="Shape 79"/>
          <p:cNvSpPr/>
          <p:nvPr/>
        </p:nvSpPr>
        <p:spPr>
          <a:xfrm>
            <a:off x="10707975" y="2011679"/>
            <a:ext cx="9144" cy="247802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Day 2 assumes a CAB slot; otherwise the next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consent, STOP, links, hours. </a:t>
            </a:r>
            <a:r>
              <a:rPr sz="700" b="1" i="0">
                <a:solidFill>
                  <a:srgbClr val="1A1A1A"/>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8" name="Shape 117"/>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8"/>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30" name="Shape 119"/>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20"/>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9"/>
          <a:stretch>
            <a:fillRect/>
          </a:stretch>
        </p:blipFill>
        <p:spPr>
          <a:xfrm>
            <a:off x="484632" y="4553712"/>
            <a:ext cx="182880" cy="182880"/>
          </a:xfrm>
          <a:prstGeom prst="rect">
            <a:avLst/>
          </a:prstGeom>
        </p:spPr>
      </p:pic>
      <p:sp>
        <p:nvSpPr>
          <p:cNvPr id="133" name="Text 121"/>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4" name="Shape 122"/>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3"/>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7" name="Text 125"/>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8" name="Text 126"/>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9" name="Shape 127"/>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28"/>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29"/>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42" name="Picture 141" descr="people.png"/>
          <p:cNvPicPr>
            <a:picLocks noChangeAspect="1"/>
          </p:cNvPicPr>
          <p:nvPr/>
        </p:nvPicPr>
        <p:blipFill>
          <a:blip r:embed="rId6"/>
          <a:stretch>
            <a:fillRect/>
          </a:stretch>
        </p:blipFill>
        <p:spPr>
          <a:xfrm>
            <a:off x="2551176" y="4882896"/>
            <a:ext cx="164592" cy="164592"/>
          </a:xfrm>
          <a:prstGeom prst="rect">
            <a:avLst/>
          </a:prstGeom>
        </p:spPr>
      </p:pic>
      <p:sp>
        <p:nvSpPr>
          <p:cNvPr id="143" name="Text 130"/>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4" name="Shape 131"/>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2"/>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6" name="Text 133"/>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7" name="Differentiator Border 135"/>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Shape 136"/>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8"/>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51" name="Text 139"/>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52" name="Text 140"/>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3" name="Shape 141"/>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Shape 142"/>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 143"/>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6" name="Picture 155"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7" name="Text 144"/>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8" name="Shape 145"/>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60" name="Shape 147"/>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8"/>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9"/>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3" name="Picture 162"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4" name="Text 150"/>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5" name="Text 151"/>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6" name="Shape 152"/>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Shape 153"/>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4"/>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9" name="Text 155"/>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70" name="Text 156"/>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71" name="Shape 157"/>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Shape 158"/>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 159"/>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4" name="Text 160"/>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5" name="Shape 161"/>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Shape 162"/>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3"/>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8" name="Text 164"/>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9" name="Arrow 165"/>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2"/>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3"/>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8" name="Text 184"/>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9" name="Shape 185"/>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202" name="Shape 188"/>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5" name="Shape 191"/>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8" name="Shape 194"/>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11" name="Shape 197"/>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4" name="Shape 200"/>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7" name="Shape 203"/>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Shape 204"/>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 205"/>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3 · 4 · 5 · 6</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9" name="Shape 58"/>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3" name="Shape 72"/>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5" name="Shape 104"/>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1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at once</a:t>
            </a:r>
          </a:p>
          <a:p>
            <a:pPr>
              <a:spcAft>
                <a:spcPts val="100"/>
              </a:spcAft>
            </a:pPr>
            <a:r>
              <a:rPr sz="700" b="0" i="0">
                <a:solidFill>
                  <a:srgbClr val="4D4D4D"/>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8A6D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4D4D4D"/>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scheduling</a:t>
            </a:r>
          </a:p>
          <a:p>
            <a:pPr>
              <a:spcAft>
                <a:spcPts val="100"/>
              </a:spcAft>
            </a:pPr>
            <a:r>
              <a:rPr sz="700" b="0" i="0">
                <a:solidFill>
                  <a:srgbClr val="4D4D4D"/>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Scheduling system of record</a:t>
            </a:r>
          </a:p>
          <a:p>
            <a:pPr>
              <a:spcAft>
                <a:spcPts val="100"/>
              </a:spcAft>
            </a:pPr>
            <a:r>
              <a:rPr sz="700" b="0" i="0">
                <a:solidFill>
                  <a:srgbClr val="4D4D4D"/>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patient context</a:t>
            </a:r>
          </a:p>
          <a:p>
            <a:pPr>
              <a:spcAft>
                <a:spcPts val="100"/>
              </a:spcAft>
            </a:pPr>
            <a:r>
              <a:rPr sz="700" b="0" i="0">
                <a:solidFill>
                  <a:srgbClr val="4D4D4D"/>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1A1A1A"/>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Restricted patient layer</a:t>
            </a:r>
          </a:p>
          <a:p>
            <a:pPr>
              <a:spcAft>
                <a:spcPts val="100"/>
              </a:spcAft>
            </a:pPr>
            <a:r>
              <a:rPr sz="700" b="0" i="0">
                <a:solidFill>
                  <a:srgbClr val="4D4D4D"/>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1A1A1A"/>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22" name="Shape 116"/>
          <p:cNvSpPr/>
          <p:nvPr/>
        </p:nvSpPr>
        <p:spPr>
          <a:xfrm>
            <a:off x="310634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Verified in seconds</a:t>
            </a:r>
          </a:p>
          <a:p>
            <a:pPr>
              <a:spcAft>
                <a:spcPts val="100"/>
              </a:spcAft>
            </a:pPr>
            <a:r>
              <a:rPr sz="700" b="0" i="0">
                <a:solidFill>
                  <a:srgbClr val="4D4D4D"/>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28" name="Shape 122"/>
          <p:cNvSpPr/>
          <p:nvPr/>
        </p:nvSpPr>
        <p:spPr>
          <a:xfrm>
            <a:off x="6027202"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engine</a:t>
            </a:r>
          </a:p>
          <a:p>
            <a:pPr>
              <a:spcAft>
                <a:spcPts val="100"/>
              </a:spcAft>
            </a:pPr>
            <a:r>
              <a:rPr sz="700" b="0" i="0">
                <a:solidFill>
                  <a:srgbClr val="4D4D4D"/>
                </a:solidFill>
                <a:latin typeface="Trenda IG Text"/>
              </a:rPr>
              <a:t>not only in an article</a:t>
            </a:r>
          </a:p>
        </p:txBody>
      </p:sp>
      <p:sp>
        <p:nvSpPr>
          <p:cNvPr id="131" name="Shape 125"/>
          <p:cNvSpPr/>
          <p:nvPr/>
        </p:nvSpPr>
        <p:spPr>
          <a:xfrm>
            <a:off x="7487629"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37" name="Shape 131"/>
          <p:cNvSpPr/>
          <p:nvPr/>
        </p:nvSpPr>
        <p:spPr>
          <a:xfrm>
            <a:off x="1040848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Emergencies never wait</a:t>
            </a:r>
          </a:p>
          <a:p>
            <a:pPr>
              <a:spcAft>
                <a:spcPts val="100"/>
              </a:spcAft>
            </a:pPr>
            <a:r>
              <a:rPr sz="700" b="0" i="0">
                <a:solidFill>
                  <a:srgbClr val="4D4D4D"/>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FACTORY</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1A1A1A"/>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Dev / QA </a:t>
            </a:r>
            <a:r>
              <a:rPr sz="700" b="0" i="0">
                <a:solidFill>
                  <a:srgbClr val="1A1A1A"/>
                </a:solidFill>
                <a:latin typeface="Trenda IG Text"/>
              </a:rPr>
              <a:t>directs it and verifies. </a:t>
            </a:r>
            <a:r>
              <a:rPr sz="700" b="1" i="0">
                <a:solidFill>
                  <a:srgbClr val="1A1A1A"/>
                </a:solidFill>
                <a:latin typeface="Trenda IG Text"/>
              </a:rPr>
              <a:t>PM / TL </a:t>
            </a:r>
            <a:r>
              <a:rPr sz="700" b="0" i="0">
                <a:solidFill>
                  <a:srgbClr val="1A1A1A"/>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89A0"/>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Authoritative sources</a:t>
            </a:r>
          </a:p>
          <a:p>
            <a:pPr>
              <a:lnSpc>
                <a:spcPct val="92000"/>
              </a:lnSpc>
              <a:spcAft>
                <a:spcPts val="100"/>
              </a:spcAft>
            </a:pPr>
            <a:r>
              <a:rPr sz="700" b="0" i="0">
                <a:solidFill>
                  <a:srgbClr val="4D4D4D"/>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DLP + Collibra</a:t>
            </a:r>
          </a:p>
          <a:p>
            <a:pPr>
              <a:lnSpc>
                <a:spcPct val="92000"/>
              </a:lnSpc>
              <a:spcAft>
                <a:spcPts val="100"/>
              </a:spcAft>
            </a:pPr>
            <a:r>
              <a:rPr sz="700" b="0" i="0">
                <a:solidFill>
                  <a:srgbClr val="4D4D4D"/>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Bronze → Silver</a:t>
            </a:r>
          </a:p>
          <a:p>
            <a:pPr>
              <a:lnSpc>
                <a:spcPct val="92000"/>
              </a:lnSpc>
              <a:spcAft>
                <a:spcPts val="100"/>
              </a:spcAft>
            </a:pPr>
            <a:r>
              <a:rPr sz="700" b="0" i="0">
                <a:solidFill>
                  <a:srgbClr val="4D4D4D"/>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Gold A · insight  |  restricted patient layer</a:t>
            </a:r>
          </a:p>
          <a:p>
            <a:pPr>
              <a:lnSpc>
                <a:spcPct val="92000"/>
              </a:lnSpc>
              <a:spcAft>
                <a:spcPts val="100"/>
              </a:spcAft>
            </a:pPr>
            <a:r>
              <a:rPr sz="700" b="0" i="0">
                <a:solidFill>
                  <a:srgbClr val="4D4D4D"/>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Kyvos semantic layer</a:t>
            </a:r>
          </a:p>
          <a:p>
            <a:pPr>
              <a:lnSpc>
                <a:spcPct val="92000"/>
              </a:lnSpc>
              <a:spcAft>
                <a:spcPts val="100"/>
              </a:spcAft>
            </a:pPr>
            <a:r>
              <a:rPr sz="700" b="0" i="0">
                <a:solidFill>
                  <a:srgbClr val="4D4D4D"/>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Spanner knowledge graph</a:t>
            </a:r>
          </a:p>
          <a:p>
            <a:pPr>
              <a:lnSpc>
                <a:spcPct val="92000"/>
              </a:lnSpc>
              <a:spcAft>
                <a:spcPts val="100"/>
              </a:spcAft>
            </a:pPr>
            <a:r>
              <a:rPr sz="700" b="0" i="0">
                <a:solidFill>
                  <a:srgbClr val="4D4D4D"/>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8A6D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FFFFFF"/>
          </a:solidFill>
          <a:ln w="190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1A1A1A"/>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8A6D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89A0"/>
                </a:solidFill>
                <a:latin typeface="Trenda IG Text"/>
              </a:rPr>
              <a:t>A  </a:t>
            </a:r>
            <a:r>
              <a:rPr sz="800" b="1" i="0">
                <a:solidFill>
                  <a:srgbClr val="1A1A1A"/>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4D4D4D"/>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8A6D00"/>
                </a:solidFill>
                <a:latin typeface="Trenda IG Text"/>
              </a:rPr>
              <a:t>B  </a:t>
            </a:r>
            <a:r>
              <a:rPr sz="800" b="1" i="0">
                <a:solidFill>
                  <a:srgbClr val="1A1A1A"/>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4D4D4D"/>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8A6D00"/>
                </a:solidFill>
                <a:latin typeface="Trenda IG Text"/>
              </a:rPr>
              <a:t>C  </a:t>
            </a:r>
            <a:r>
              <a:rPr sz="800" b="1" i="0">
                <a:solidFill>
                  <a:srgbClr val="1A1A1A"/>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4D4D4D"/>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8A6D00"/>
                </a:solidFill>
                <a:latin typeface="Trenda IG Text"/>
              </a:rPr>
              <a:t>D  </a:t>
            </a:r>
            <a:r>
              <a:rPr sz="800" b="1" i="0">
                <a:solidFill>
                  <a:srgbClr val="1A1A1A"/>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4D4D4D"/>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89A0"/>
                </a:solidFill>
                <a:latin typeface="Trenda IG Text"/>
              </a:rPr>
              <a:t>E  </a:t>
            </a:r>
            <a:r>
              <a:rPr sz="800" b="1" i="0">
                <a:solidFill>
                  <a:srgbClr val="1A1A1A"/>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4D4D4D"/>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5  Cohort Resolution Engine</a:t>
            </a:r>
          </a:p>
          <a:p>
            <a:pPr>
              <a:lnSpc>
                <a:spcPct val="92000"/>
              </a:lnSpc>
              <a:spcAft>
                <a:spcPts val="100"/>
              </a:spcAft>
            </a:pPr>
            <a:r>
              <a:rPr sz="700" b="0" i="0">
                <a:solidFill>
                  <a:srgbClr val="4D4D4D"/>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6  Patient query</a:t>
            </a:r>
          </a:p>
          <a:p>
            <a:pPr>
              <a:lnSpc>
                <a:spcPct val="92000"/>
              </a:lnSpc>
              <a:spcAft>
                <a:spcPts val="100"/>
              </a:spcAft>
            </a:pPr>
            <a:r>
              <a:rPr sz="700" b="0" i="0">
                <a:solidFill>
                  <a:srgbClr val="4D4D4D"/>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7  Eligibility checks</a:t>
            </a:r>
          </a:p>
          <a:p>
            <a:pPr>
              <a:lnSpc>
                <a:spcPct val="92000"/>
              </a:lnSpc>
              <a:spcAft>
                <a:spcPts val="100"/>
              </a:spcAft>
            </a:pPr>
            <a:r>
              <a:rPr sz="700" b="0" i="0">
                <a:solidFill>
                  <a:srgbClr val="4D4D4D"/>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8  Summary → Codex</a:t>
            </a:r>
          </a:p>
          <a:p>
            <a:pPr>
              <a:lnSpc>
                <a:spcPct val="92000"/>
              </a:lnSpc>
              <a:spcAft>
                <a:spcPts val="100"/>
              </a:spcAft>
            </a:pPr>
            <a:r>
              <a:rPr sz="700" b="0" i="0">
                <a:solidFill>
                  <a:srgbClr val="4D4D4D"/>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9  Activation Engine</a:t>
            </a:r>
          </a:p>
          <a:p>
            <a:pPr>
              <a:lnSpc>
                <a:spcPct val="92000"/>
              </a:lnSpc>
              <a:spcAft>
                <a:spcPts val="100"/>
              </a:spcAft>
            </a:pPr>
            <a:r>
              <a:rPr sz="700" b="0" i="0">
                <a:solidFill>
                  <a:srgbClr val="4D4D4D"/>
                </a:solidFill>
                <a:latin typeface="Trenda IG Text"/>
              </a:rPr>
              <a:t>checks G2, purpose, rule version, fields</a:t>
            </a:r>
          </a:p>
        </p:txBody>
      </p:sp>
      <p:cxnSp>
        <p:nvCxnSpPr>
          <p:cNvPr id="82" name="Arrow 81"/>
          <p:cNvCxnSpPr/>
          <p:nvPr/>
        </p:nvCxnSpPr>
        <p:spPr>
          <a:xfrm>
            <a:off x="10213848" y="2478024"/>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10  MC data extension</a:t>
            </a:r>
          </a:p>
          <a:p>
            <a:pPr>
              <a:lnSpc>
                <a:spcPct val="92000"/>
              </a:lnSpc>
              <a:spcAft>
                <a:spcPts val="100"/>
              </a:spcAft>
            </a:pPr>
            <a:r>
              <a:rPr sz="700" b="0" i="0">
                <a:solidFill>
                  <a:srgbClr val="4D4D4D"/>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89A0"/>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11  </a:t>
            </a:r>
            <a:r>
              <a:rPr sz="700" b="1" i="0">
                <a:solidFill>
                  <a:srgbClr val="1A1A1A"/>
                </a:solidFill>
                <a:latin typeface="Trenda IG Text"/>
              </a:rPr>
              <a:t>Daily data refresh</a:t>
            </a:r>
            <a:r>
              <a:rPr sz="700" b="0" i="0">
                <a:solidFill>
                  <a:srgbClr val="4D4D4D"/>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12  </a:t>
            </a:r>
            <a:r>
              <a:rPr sz="700" b="1" i="0">
                <a:solidFill>
                  <a:srgbClr val="1A1A1A"/>
                </a:solidFill>
                <a:latin typeface="Trenda IG Text"/>
              </a:rPr>
              <a:t>Refresh trigger</a:t>
            </a:r>
            <a:r>
              <a:rPr sz="700" b="0" i="0">
                <a:solidFill>
                  <a:srgbClr val="4D4D4D"/>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13  </a:t>
            </a:r>
            <a:r>
              <a:rPr sz="700" b="1" i="0">
                <a:solidFill>
                  <a:srgbClr val="1A1A1A"/>
                </a:solidFill>
                <a:latin typeface="Trenda IG Text"/>
              </a:rPr>
              <a:t>Incremental resolver</a:t>
            </a:r>
            <a:r>
              <a:rPr sz="700" b="0" i="0">
                <a:solidFill>
                  <a:srgbClr val="4D4D4D"/>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14  </a:t>
            </a:r>
            <a:r>
              <a:rPr sz="700" b="1" i="0">
                <a:solidFill>
                  <a:srgbClr val="1A1A1A"/>
                </a:solidFill>
                <a:latin typeface="Trenda IG Text"/>
              </a:rPr>
              <a:t>Delta activation + exit sync</a:t>
            </a:r>
            <a:r>
              <a:rPr sz="700" b="0" i="0">
                <a:solidFill>
                  <a:srgbClr val="4D4D4D"/>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8A6D00"/>
                </a:solidFill>
                <a:latin typeface="Trenda IG Text"/>
              </a:rPr>
              <a:t>No daily approval </a:t>
            </a:r>
            <a:r>
              <a:rPr sz="700" b="0" i="0">
                <a:solidFill>
                  <a:srgbClr val="1A1A1A"/>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89A0"/>
                </a:solidFill>
                <a:latin typeface="Trenda IG Text"/>
              </a:rPr>
              <a:t>MARKETING CLOUD</a:t>
            </a:r>
          </a:p>
          <a:p>
            <a:pPr>
              <a:spcAft>
                <a:spcPts val="100"/>
              </a:spcAft>
            </a:pPr>
            <a:r>
              <a:rPr sz="700" b="1" i="0" spc="80">
                <a:solidFill>
                  <a:srgbClr val="0089A0"/>
                </a:solidFill>
                <a:latin typeface="Trenda IG Text"/>
              </a:rPr>
              <a:t>EXECUTION</a:t>
            </a:r>
          </a:p>
          <a:p>
            <a:pPr>
              <a:spcAft>
                <a:spcPts val="100"/>
              </a:spcAft>
            </a:pPr>
            <a:r>
              <a:rPr sz="700" b="0" i="0">
                <a:solidFill>
                  <a:srgbClr val="4D4D4D"/>
                </a:solidFill>
                <a:latin typeface="Trenda IG Text"/>
              </a:rPr>
              <a:t>inside SFMC</a:t>
            </a:r>
          </a:p>
        </p:txBody>
      </p:sp>
      <p:sp>
        <p:nvSpPr>
          <p:cNvPr id="110" name="Shape 109"/>
          <p:cNvSpPr/>
          <p:nvPr/>
        </p:nvSpPr>
        <p:spPr>
          <a:xfrm>
            <a:off x="1783080"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Contact key</a:t>
            </a:r>
          </a:p>
          <a:p>
            <a:pPr>
              <a:lnSpc>
                <a:spcPct val="92000"/>
              </a:lnSpc>
              <a:spcAft>
                <a:spcPts val="100"/>
              </a:spcAft>
            </a:pPr>
            <a:r>
              <a:rPr sz="700" b="0" i="0">
                <a:solidFill>
                  <a:srgbClr val="4D4D4D"/>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Load method</a:t>
            </a:r>
          </a:p>
          <a:p>
            <a:pPr>
              <a:lnSpc>
                <a:spcPct val="92000"/>
              </a:lnSpc>
              <a:spcAft>
                <a:spcPts val="100"/>
              </a:spcAft>
            </a:pPr>
            <a:r>
              <a:rPr sz="700" b="0" i="0">
                <a:solidFill>
                  <a:srgbClr val="4D4D4D"/>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Journey</a:t>
            </a:r>
          </a:p>
          <a:p>
            <a:pPr>
              <a:lnSpc>
                <a:spcPct val="92000"/>
              </a:lnSpc>
              <a:spcAft>
                <a:spcPts val="100"/>
              </a:spcAft>
            </a:pPr>
            <a:r>
              <a:rPr sz="700" b="0" i="0">
                <a:solidFill>
                  <a:srgbClr val="4D4D4D"/>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Consent sync</a:t>
            </a:r>
          </a:p>
          <a:p>
            <a:pPr>
              <a:lnSpc>
                <a:spcPct val="92000"/>
              </a:lnSpc>
              <a:spcAft>
                <a:spcPts val="100"/>
              </a:spcAft>
            </a:pPr>
            <a:r>
              <a:rPr sz="700" b="0" i="0">
                <a:solidFill>
                  <a:srgbClr val="4D4D4D"/>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Channel rules</a:t>
            </a:r>
          </a:p>
          <a:p>
            <a:pPr>
              <a:lnSpc>
                <a:spcPct val="92000"/>
              </a:lnSpc>
              <a:spcAft>
                <a:spcPts val="100"/>
              </a:spcAft>
            </a:pPr>
            <a:r>
              <a:rPr sz="700" b="0" i="0">
                <a:solidFill>
                  <a:srgbClr val="4D4D4D"/>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Content</a:t>
            </a:r>
          </a:p>
          <a:p>
            <a:pPr>
              <a:lnSpc>
                <a:spcPct val="92000"/>
              </a:lnSpc>
              <a:spcAft>
                <a:spcPts val="100"/>
              </a:spcAft>
            </a:pPr>
            <a:r>
              <a:rPr sz="700" b="0" i="0">
                <a:solidFill>
                  <a:srgbClr val="4D4D4D"/>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Tracking back</a:t>
            </a:r>
          </a:p>
          <a:p>
            <a:pPr>
              <a:lnSpc>
                <a:spcPct val="92000"/>
              </a:lnSpc>
              <a:spcAft>
                <a:spcPts val="100"/>
              </a:spcAft>
            </a:pPr>
            <a:r>
              <a:rPr sz="700" b="0" i="0">
                <a:solidFill>
                  <a:srgbClr val="4D4D4D"/>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Security</a:t>
            </a:r>
          </a:p>
          <a:p>
            <a:pPr>
              <a:lnSpc>
                <a:spcPct val="92000"/>
              </a:lnSpc>
              <a:spcAft>
                <a:spcPts val="100"/>
              </a:spcAft>
            </a:pPr>
            <a:r>
              <a:rPr sz="700" b="0" i="0">
                <a:solidFill>
                  <a:srgbClr val="4D4D4D"/>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8A6D00"/>
                </a:solidFill>
                <a:latin typeface="Trenda IG Text"/>
              </a:rPr>
              <a:t>RE-APPROVAL REQUIRED </a:t>
            </a:r>
            <a:r>
              <a:rPr sz="750" b="0" i="0">
                <a:solidFill>
                  <a:srgbClr val="1A1A1A"/>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Gold B: the restricted patient layer behind every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Only deterministic engines read Gold B; agents never do. It answers one question: exactly who may be contacted, now, for this approved campaign.</a:t>
            </a:r>
          </a:p>
        </p:txBody>
      </p:sp>
      <p:sp>
        <p:nvSpPr>
          <p:cNvPr id="5" name="Shape 4"/>
          <p:cNvSpPr/>
          <p:nvPr/>
        </p:nvSpPr>
        <p:spPr>
          <a:xfrm>
            <a:off x="411480"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Silver</a:t>
            </a:r>
          </a:p>
          <a:p>
            <a:pPr>
              <a:lnSpc>
                <a:spcPct val="92000"/>
              </a:lnSpc>
              <a:spcAft>
                <a:spcPts val="100"/>
              </a:spcAft>
            </a:pPr>
            <a:r>
              <a:rPr sz="700" b="0" i="0">
                <a:solidFill>
                  <a:srgbClr val="4D4D4D"/>
                </a:solidFill>
                <a:latin typeface="Trenda IG Text"/>
              </a:rPr>
              <a:t>identity + consent</a:t>
            </a:r>
          </a:p>
        </p:txBody>
      </p:sp>
      <p:cxnSp>
        <p:nvCxnSpPr>
          <p:cNvPr id="7" name="Arrow 6"/>
          <p:cNvCxnSpPr/>
          <p:nvPr/>
        </p:nvCxnSpPr>
        <p:spPr>
          <a:xfrm>
            <a:off x="1544320"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690624"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763776"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a:t>
            </a:r>
          </a:p>
          <a:p>
            <a:pPr>
              <a:lnSpc>
                <a:spcPct val="92000"/>
              </a:lnSpc>
              <a:spcAft>
                <a:spcPts val="100"/>
              </a:spcAft>
            </a:pPr>
            <a:r>
              <a:rPr sz="700" b="0" i="0">
                <a:solidFill>
                  <a:srgbClr val="4D4D4D"/>
                </a:solidFill>
                <a:latin typeface="Trenda IG Text"/>
              </a:rPr>
              <a:t>restricted</a:t>
            </a:r>
          </a:p>
        </p:txBody>
      </p:sp>
      <p:cxnSp>
        <p:nvCxnSpPr>
          <p:cNvPr id="10" name="Arrow 9"/>
          <p:cNvCxnSpPr/>
          <p:nvPr/>
        </p:nvCxnSpPr>
        <p:spPr>
          <a:xfrm>
            <a:off x="2823464"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2969768" y="1188720"/>
            <a:ext cx="1132840"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042920"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Cohort Resolution</a:t>
            </a:r>
          </a:p>
          <a:p>
            <a:pPr>
              <a:lnSpc>
                <a:spcPct val="92000"/>
              </a:lnSpc>
              <a:spcAft>
                <a:spcPts val="100"/>
              </a:spcAft>
            </a:pPr>
            <a:r>
              <a:rPr sz="700" b="0" i="0">
                <a:solidFill>
                  <a:srgbClr val="4D4D4D"/>
                </a:solidFill>
                <a:latin typeface="Trenda IG Text"/>
              </a:rPr>
              <a:t>engine</a:t>
            </a:r>
          </a:p>
        </p:txBody>
      </p:sp>
      <p:cxnSp>
        <p:nvCxnSpPr>
          <p:cNvPr id="13" name="Arrow 12"/>
          <p:cNvCxnSpPr/>
          <p:nvPr/>
        </p:nvCxnSpPr>
        <p:spPr>
          <a:xfrm>
            <a:off x="4102607" y="1472184"/>
            <a:ext cx="14630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248912" y="1188720"/>
            <a:ext cx="1132840"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32206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G2</a:t>
            </a:r>
          </a:p>
          <a:p>
            <a:pPr>
              <a:lnSpc>
                <a:spcPct val="92000"/>
              </a:lnSpc>
              <a:spcAft>
                <a:spcPts val="100"/>
              </a:spcAft>
            </a:pPr>
            <a:r>
              <a:rPr sz="700" b="0" i="0">
                <a:solidFill>
                  <a:srgbClr val="4D4D4D"/>
                </a:solidFill>
                <a:latin typeface="Trenda IG Text"/>
              </a:rPr>
              <a:t>masked summary</a:t>
            </a:r>
          </a:p>
        </p:txBody>
      </p:sp>
      <p:cxnSp>
        <p:nvCxnSpPr>
          <p:cNvPr id="16" name="Arrow 15"/>
          <p:cNvCxnSpPr/>
          <p:nvPr/>
        </p:nvCxnSpPr>
        <p:spPr>
          <a:xfrm>
            <a:off x="5381752"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5528056"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601208"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Activation</a:t>
            </a:r>
          </a:p>
          <a:p>
            <a:pPr>
              <a:lnSpc>
                <a:spcPct val="92000"/>
              </a:lnSpc>
              <a:spcAft>
                <a:spcPts val="100"/>
              </a:spcAft>
            </a:pPr>
            <a:r>
              <a:rPr sz="700" b="0" i="0">
                <a:solidFill>
                  <a:srgbClr val="4D4D4D"/>
                </a:solidFill>
                <a:latin typeface="Trenda IG Text"/>
              </a:rPr>
              <a:t>engine</a:t>
            </a:r>
          </a:p>
        </p:txBody>
      </p:sp>
      <p:cxnSp>
        <p:nvCxnSpPr>
          <p:cNvPr id="19" name="Arrow 18"/>
          <p:cNvCxnSpPr/>
          <p:nvPr/>
        </p:nvCxnSpPr>
        <p:spPr>
          <a:xfrm>
            <a:off x="6660896"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6807200"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688035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Marketing Cloud</a:t>
            </a:r>
          </a:p>
          <a:p>
            <a:pPr>
              <a:lnSpc>
                <a:spcPct val="92000"/>
              </a:lnSpc>
              <a:spcAft>
                <a:spcPts val="100"/>
              </a:spcAft>
            </a:pPr>
            <a:r>
              <a:rPr sz="700" b="0" i="0">
                <a:solidFill>
                  <a:srgbClr val="4D4D4D"/>
                </a:solidFill>
                <a:latin typeface="Trenda IG Text"/>
              </a:rPr>
              <a:t>data extension</a:t>
            </a:r>
          </a:p>
        </p:txBody>
      </p:sp>
      <p:cxnSp>
        <p:nvCxnSpPr>
          <p:cNvPr id="22" name="Arrow 21"/>
          <p:cNvCxnSpPr/>
          <p:nvPr/>
        </p:nvCxnSpPr>
        <p:spPr>
          <a:xfrm>
            <a:off x="7940040"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8086343"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159495"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Engagement</a:t>
            </a:r>
          </a:p>
          <a:p>
            <a:pPr>
              <a:lnSpc>
                <a:spcPct val="92000"/>
              </a:lnSpc>
              <a:spcAft>
                <a:spcPts val="100"/>
              </a:spcAft>
            </a:pPr>
            <a:r>
              <a:rPr sz="700" b="0" i="0">
                <a:solidFill>
                  <a:srgbClr val="4D4D4D"/>
                </a:solidFill>
                <a:latin typeface="Trenda IG Text"/>
              </a:rPr>
              <a:t>+ outcomes</a:t>
            </a:r>
          </a:p>
        </p:txBody>
      </p:sp>
      <p:cxnSp>
        <p:nvCxnSpPr>
          <p:cNvPr id="25" name="Arrow 24"/>
          <p:cNvCxnSpPr/>
          <p:nvPr/>
        </p:nvCxnSpPr>
        <p:spPr>
          <a:xfrm>
            <a:off x="9219183"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9365487"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9438639"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a:t>
            </a:r>
          </a:p>
          <a:p>
            <a:pPr>
              <a:lnSpc>
                <a:spcPct val="92000"/>
              </a:lnSpc>
              <a:spcAft>
                <a:spcPts val="100"/>
              </a:spcAft>
            </a:pPr>
            <a:r>
              <a:rPr sz="700" b="0" i="0">
                <a:solidFill>
                  <a:srgbClr val="4D4D4D"/>
                </a:solidFill>
                <a:latin typeface="Trenda IG Text"/>
              </a:rPr>
              <a:t>per patient</a:t>
            </a:r>
          </a:p>
        </p:txBody>
      </p:sp>
      <p:cxnSp>
        <p:nvCxnSpPr>
          <p:cNvPr id="28" name="Arrow 27"/>
          <p:cNvCxnSpPr/>
          <p:nvPr/>
        </p:nvCxnSpPr>
        <p:spPr>
          <a:xfrm>
            <a:off x="10498327"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10644631" y="1188720"/>
            <a:ext cx="1132840"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1071778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A</a:t>
            </a:r>
          </a:p>
          <a:p>
            <a:pPr>
              <a:lnSpc>
                <a:spcPct val="92000"/>
              </a:lnSpc>
              <a:spcAft>
                <a:spcPts val="100"/>
              </a:spcAft>
            </a:pPr>
            <a:r>
              <a:rPr sz="700" b="0" i="0">
                <a:solidFill>
                  <a:srgbClr val="4D4D4D"/>
                </a:solidFill>
                <a:latin typeface="Trenda IG Text"/>
              </a:rPr>
              <a:t>aggregates only</a:t>
            </a:r>
          </a:p>
        </p:txBody>
      </p:sp>
      <p:sp>
        <p:nvSpPr>
          <p:cNvPr id="31" name="Shape 30"/>
          <p:cNvSpPr/>
          <p:nvPr/>
        </p:nvSpPr>
        <p:spPr>
          <a:xfrm>
            <a:off x="411480" y="1938528"/>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521208" y="1938528"/>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3" name="Shape 32"/>
          <p:cNvSpPr/>
          <p:nvPr/>
        </p:nvSpPr>
        <p:spPr>
          <a:xfrm>
            <a:off x="4197096" y="1938528"/>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306824" y="1938528"/>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5" name="Shape 34"/>
          <p:cNvSpPr/>
          <p:nvPr/>
        </p:nvSpPr>
        <p:spPr>
          <a:xfrm>
            <a:off x="7891271" y="1938528"/>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8000999" y="1938528"/>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37" name="Shape 36"/>
          <p:cNvSpPr/>
          <p:nvPr/>
        </p:nvSpPr>
        <p:spPr>
          <a:xfrm>
            <a:off x="411480" y="22860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11480" y="2286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539496" y="2286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Patient key</a:t>
            </a:r>
            <a:r>
              <a:rPr sz="700" b="0" i="0">
                <a:solidFill>
                  <a:srgbClr val="4D4D4D"/>
                </a:solidFill>
                <a:latin typeface="Trenda IG Text"/>
              </a:rPr>
              <a:t>  EUID, from Silver identity resolution</a:t>
            </a:r>
          </a:p>
        </p:txBody>
      </p:sp>
      <p:sp>
        <p:nvSpPr>
          <p:cNvPr id="40" name="Shape 39"/>
          <p:cNvSpPr/>
          <p:nvPr/>
        </p:nvSpPr>
        <p:spPr>
          <a:xfrm>
            <a:off x="411480" y="27432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411480" y="2743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39496" y="2743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Cohort facts</a:t>
            </a:r>
            <a:r>
              <a:rPr sz="700" b="0" i="0">
                <a:solidFill>
                  <a:srgbClr val="4D4D4D"/>
                </a:solidFill>
                <a:latin typeface="Trenda IG Text"/>
              </a:rPr>
              <a:t>  diagnosis, discharge date, facility, age band</a:t>
            </a:r>
          </a:p>
        </p:txBody>
      </p:sp>
      <p:sp>
        <p:nvSpPr>
          <p:cNvPr id="43" name="Shape 42"/>
          <p:cNvSpPr/>
          <p:nvPr/>
        </p:nvSpPr>
        <p:spPr>
          <a:xfrm>
            <a:off x="411480" y="32004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11480" y="32004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39496" y="32004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Consent</a:t>
            </a:r>
            <a:r>
              <a:rPr sz="700" b="0" i="0">
                <a:solidFill>
                  <a:srgbClr val="4D4D4D"/>
                </a:solidFill>
                <a:latin typeface="Trenda IG Text"/>
              </a:rPr>
              <a:t>  per channel and purpose: SMS, email, voice</a:t>
            </a:r>
          </a:p>
        </p:txBody>
      </p:sp>
      <p:sp>
        <p:nvSpPr>
          <p:cNvPr id="46" name="Shape 45"/>
          <p:cNvSpPr/>
          <p:nvPr/>
        </p:nvSpPr>
        <p:spPr>
          <a:xfrm>
            <a:off x="411480" y="36576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6"/>
          <p:cNvSpPr/>
          <p:nvPr/>
        </p:nvSpPr>
        <p:spPr>
          <a:xfrm>
            <a:off x="411480" y="36576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539496" y="36576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Contact points</a:t>
            </a:r>
            <a:r>
              <a:rPr sz="700" b="0" i="0">
                <a:solidFill>
                  <a:srgbClr val="4D4D4D"/>
                </a:solidFill>
                <a:latin typeface="Trenda IG Text"/>
              </a:rPr>
              <a:t>  verified phone and email</a:t>
            </a:r>
          </a:p>
        </p:txBody>
      </p:sp>
      <p:sp>
        <p:nvSpPr>
          <p:cNvPr id="49" name="Shape 48"/>
          <p:cNvSpPr/>
          <p:nvPr/>
        </p:nvSpPr>
        <p:spPr>
          <a:xfrm>
            <a:off x="411480" y="41148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411480" y="41148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9496" y="41148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Exclusions</a:t>
            </a:r>
            <a:r>
              <a:rPr sz="700" b="0" i="0">
                <a:solidFill>
                  <a:srgbClr val="4D4D4D"/>
                </a:solidFill>
                <a:latin typeface="Trenda IG Text"/>
              </a:rPr>
              <a:t>  STOP / opt-out, deceased, do-not-contact, frequency caps</a:t>
            </a:r>
          </a:p>
        </p:txBody>
      </p:sp>
      <p:sp>
        <p:nvSpPr>
          <p:cNvPr id="52" name="Shape 51"/>
          <p:cNvSpPr/>
          <p:nvPr/>
        </p:nvSpPr>
        <p:spPr>
          <a:xfrm>
            <a:off x="411480" y="45720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11480" y="4572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39496" y="4572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Preferences</a:t>
            </a:r>
            <a:r>
              <a:rPr sz="700" b="0" i="0">
                <a:solidFill>
                  <a:srgbClr val="4D4D4D"/>
                </a:solidFill>
                <a:latin typeface="Trenda IG Text"/>
              </a:rPr>
              <a:t>  language, quiet hours</a:t>
            </a:r>
          </a:p>
        </p:txBody>
      </p:sp>
      <p:sp>
        <p:nvSpPr>
          <p:cNvPr id="55" name="Shape 54"/>
          <p:cNvSpPr/>
          <p:nvPr/>
        </p:nvSpPr>
        <p:spPr>
          <a:xfrm>
            <a:off x="411480" y="50292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411480" y="5029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9496" y="5029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Engagement</a:t>
            </a:r>
            <a:r>
              <a:rPr sz="700" b="0" i="0">
                <a:solidFill>
                  <a:srgbClr val="4D4D4D"/>
                </a:solidFill>
                <a:latin typeface="Trenda IG Text"/>
              </a:rPr>
              <a:t>  sends, replies, opt-outs and outcomes per patient</a:t>
            </a:r>
          </a:p>
        </p:txBody>
      </p:sp>
      <p:sp>
        <p:nvSpPr>
          <p:cNvPr id="58" name="Shape 57"/>
          <p:cNvSpPr/>
          <p:nvPr/>
        </p:nvSpPr>
        <p:spPr>
          <a:xfrm>
            <a:off x="4197096" y="2286000"/>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4197096" y="228600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4325112" y="2286000"/>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Cohort Resolution Engine</a:t>
            </a:r>
            <a:r>
              <a:rPr sz="700" b="0" i="0">
                <a:solidFill>
                  <a:srgbClr val="4D4D4D"/>
                </a:solidFill>
                <a:latin typeface="Trenda IG Text"/>
              </a:rPr>
              <a:t>  for an approved cohort JSON only</a:t>
            </a:r>
          </a:p>
        </p:txBody>
      </p:sp>
      <p:sp>
        <p:nvSpPr>
          <p:cNvPr id="61" name="Shape 60"/>
          <p:cNvSpPr/>
          <p:nvPr/>
        </p:nvSpPr>
        <p:spPr>
          <a:xfrm>
            <a:off x="4197096" y="2751037"/>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4197096" y="2751037"/>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325112" y="2751037"/>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Activation Engine</a:t>
            </a:r>
            <a:r>
              <a:rPr sz="700" b="0" i="0">
                <a:solidFill>
                  <a:srgbClr val="4D4D4D"/>
                </a:solidFill>
                <a:latin typeface="Trenda IG Text"/>
              </a:rPr>
              <a:t>  minimum fields, for the approved run</a:t>
            </a:r>
          </a:p>
        </p:txBody>
      </p:sp>
      <p:sp>
        <p:nvSpPr>
          <p:cNvPr id="64" name="Shape 63"/>
          <p:cNvSpPr/>
          <p:nvPr/>
        </p:nvSpPr>
        <p:spPr>
          <a:xfrm>
            <a:off x="4197096" y="3216075"/>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4197096" y="3216075"/>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4325112" y="3216075"/>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Agents and Codex</a:t>
            </a:r>
            <a:r>
              <a:rPr sz="700" b="0" i="0">
                <a:solidFill>
                  <a:srgbClr val="4D4D4D"/>
                </a:solidFill>
                <a:latin typeface="Trenda IG Text"/>
              </a:rPr>
              <a:t>  never: counts only, through the summary</a:t>
            </a:r>
          </a:p>
        </p:txBody>
      </p:sp>
      <p:sp>
        <p:nvSpPr>
          <p:cNvPr id="67" name="Shape 66"/>
          <p:cNvSpPr/>
          <p:nvPr/>
        </p:nvSpPr>
        <p:spPr>
          <a:xfrm>
            <a:off x="4197096" y="3681113"/>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7"/>
          <p:cNvSpPr/>
          <p:nvPr/>
        </p:nvSpPr>
        <p:spPr>
          <a:xfrm>
            <a:off x="4197096" y="3681113"/>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4325112" y="3681113"/>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Semantic layer + graph</a:t>
            </a:r>
            <a:r>
              <a:rPr sz="700" b="0" i="0">
                <a:solidFill>
                  <a:srgbClr val="4D4D4D"/>
                </a:solidFill>
                <a:latin typeface="Trenda IG Text"/>
              </a:rPr>
              <a:t>  never: they read Gold A</a:t>
            </a:r>
          </a:p>
        </p:txBody>
      </p:sp>
      <p:sp>
        <p:nvSpPr>
          <p:cNvPr id="70" name="Shape 69"/>
          <p:cNvSpPr/>
          <p:nvPr/>
        </p:nvSpPr>
        <p:spPr>
          <a:xfrm>
            <a:off x="4197096" y="4146150"/>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197096" y="414615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325112" y="4146150"/>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People</a:t>
            </a:r>
            <a:r>
              <a:rPr sz="700" b="0" i="0">
                <a:solidFill>
                  <a:srgbClr val="4D4D4D"/>
                </a:solidFill>
                <a:latin typeface="Trenda IG Text"/>
              </a:rPr>
              <a:t>  the masked G2 summary; break-glass logged</a:t>
            </a:r>
          </a:p>
        </p:txBody>
      </p:sp>
      <p:sp>
        <p:nvSpPr>
          <p:cNvPr id="73" name="Shape 72"/>
          <p:cNvSpPr/>
          <p:nvPr/>
        </p:nvSpPr>
        <p:spPr>
          <a:xfrm>
            <a:off x="4197096" y="4611188"/>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Shape 73"/>
          <p:cNvSpPr/>
          <p:nvPr/>
        </p:nvSpPr>
        <p:spPr>
          <a:xfrm>
            <a:off x="4197096" y="4611188"/>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325112" y="4611188"/>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Marketing Cloud</a:t>
            </a:r>
            <a:r>
              <a:rPr sz="700" b="0" i="0">
                <a:solidFill>
                  <a:srgbClr val="4D4D4D"/>
                </a:solidFill>
                <a:latin typeface="Trenda IG Text"/>
              </a:rPr>
              <a:t>  only the released fields, this run</a:t>
            </a:r>
          </a:p>
        </p:txBody>
      </p:sp>
      <p:sp>
        <p:nvSpPr>
          <p:cNvPr id="76" name="Shape 75"/>
          <p:cNvSpPr/>
          <p:nvPr/>
        </p:nvSpPr>
        <p:spPr>
          <a:xfrm>
            <a:off x="4197096" y="5076226"/>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197096" y="5076226"/>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4325112" y="5076226"/>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Sierra voice agent</a:t>
            </a:r>
            <a:r>
              <a:rPr sz="700" b="0" i="0">
                <a:solidFill>
                  <a:srgbClr val="4D4D4D"/>
                </a:solidFill>
                <a:latin typeface="Trenda IG Text"/>
              </a:rPr>
              <a:t>  patient-context API: this verified caller only</a:t>
            </a:r>
          </a:p>
        </p:txBody>
      </p:sp>
      <p:sp>
        <p:nvSpPr>
          <p:cNvPr id="79" name="Shape 78"/>
          <p:cNvSpPr/>
          <p:nvPr/>
        </p:nvSpPr>
        <p:spPr>
          <a:xfrm>
            <a:off x="7891271" y="22860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7891271" y="2286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019288" y="22860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  </a:t>
            </a:r>
            <a:r>
              <a:rPr sz="700" b="1" i="0">
                <a:solidFill>
                  <a:srgbClr val="1A1A1A"/>
                </a:solidFill>
                <a:latin typeface="Trenda IG Text"/>
              </a:rPr>
              <a:t>Resolve the exact eligible audience for an approved campaign</a:t>
            </a:r>
            <a:r>
              <a:rPr sz="700" b="0" i="0">
                <a:solidFill>
                  <a:srgbClr val="4D4D4D"/>
                </a:solidFill>
                <a:latin typeface="Trenda IG Text"/>
              </a:rPr>
              <a:t>  </a:t>
            </a:r>
          </a:p>
        </p:txBody>
      </p:sp>
      <p:sp>
        <p:nvSpPr>
          <p:cNvPr id="82" name="Shape 81"/>
          <p:cNvSpPr/>
          <p:nvPr/>
        </p:nvSpPr>
        <p:spPr>
          <a:xfrm>
            <a:off x="7891271" y="27432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82"/>
          <p:cNvSpPr/>
          <p:nvPr/>
        </p:nvSpPr>
        <p:spPr>
          <a:xfrm>
            <a:off x="7891271" y="2743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019288" y="27432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2  </a:t>
            </a:r>
            <a:r>
              <a:rPr sz="700" b="1" i="0">
                <a:solidFill>
                  <a:srgbClr val="1A1A1A"/>
                </a:solidFill>
                <a:latin typeface="Trenda IG Text"/>
              </a:rPr>
              <a:t>Apply consent, STOP, suppression and contactability at run time</a:t>
            </a:r>
            <a:r>
              <a:rPr sz="700" b="0" i="0">
                <a:solidFill>
                  <a:srgbClr val="4D4D4D"/>
                </a:solidFill>
                <a:latin typeface="Trenda IG Text"/>
              </a:rPr>
              <a:t>  </a:t>
            </a:r>
          </a:p>
        </p:txBody>
      </p:sp>
      <p:sp>
        <p:nvSpPr>
          <p:cNvPr id="85" name="Shape 84"/>
          <p:cNvSpPr/>
          <p:nvPr/>
        </p:nvSpPr>
        <p:spPr>
          <a:xfrm>
            <a:off x="7891271" y="32004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Shape 85"/>
          <p:cNvSpPr/>
          <p:nvPr/>
        </p:nvSpPr>
        <p:spPr>
          <a:xfrm>
            <a:off x="7891271" y="32004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8019288" y="32004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3  </a:t>
            </a:r>
            <a:r>
              <a:rPr sz="700" b="1" i="0">
                <a:solidFill>
                  <a:srgbClr val="1A1A1A"/>
                </a:solidFill>
                <a:latin typeface="Trenda IG Text"/>
              </a:rPr>
              <a:t>Produce the masked G2 summary: counts and exclusions by rule</a:t>
            </a:r>
            <a:r>
              <a:rPr sz="700" b="0" i="0">
                <a:solidFill>
                  <a:srgbClr val="4D4D4D"/>
                </a:solidFill>
                <a:latin typeface="Trenda IG Text"/>
              </a:rPr>
              <a:t>  </a:t>
            </a:r>
          </a:p>
        </p:txBody>
      </p:sp>
      <p:sp>
        <p:nvSpPr>
          <p:cNvPr id="88" name="Shape 87"/>
          <p:cNvSpPr/>
          <p:nvPr/>
        </p:nvSpPr>
        <p:spPr>
          <a:xfrm>
            <a:off x="7891271" y="36576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8"/>
          <p:cNvSpPr/>
          <p:nvPr/>
        </p:nvSpPr>
        <p:spPr>
          <a:xfrm>
            <a:off x="7891271" y="36576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019288" y="36576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4  </a:t>
            </a:r>
            <a:r>
              <a:rPr sz="700" b="1" i="0">
                <a:solidFill>
                  <a:srgbClr val="1A1A1A"/>
                </a:solidFill>
                <a:latin typeface="Trenda IG Text"/>
              </a:rPr>
              <a:t>Release minimum fields to Marketing Cloud, time-limited</a:t>
            </a:r>
            <a:r>
              <a:rPr sz="700" b="0" i="0">
                <a:solidFill>
                  <a:srgbClr val="4D4D4D"/>
                </a:solidFill>
                <a:latin typeface="Trenda IG Text"/>
              </a:rPr>
              <a:t>  </a:t>
            </a:r>
          </a:p>
        </p:txBody>
      </p:sp>
      <p:sp>
        <p:nvSpPr>
          <p:cNvPr id="91" name="Shape 90"/>
          <p:cNvSpPr/>
          <p:nvPr/>
        </p:nvSpPr>
        <p:spPr>
          <a:xfrm>
            <a:off x="7891271" y="41148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891271" y="41148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019288" y="41148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5  </a:t>
            </a:r>
            <a:r>
              <a:rPr sz="700" b="1" i="0">
                <a:solidFill>
                  <a:srgbClr val="1A1A1A"/>
                </a:solidFill>
                <a:latin typeface="Trenda IG Text"/>
              </a:rPr>
              <a:t>Hold out a control group to measure true impact</a:t>
            </a:r>
            <a:r>
              <a:rPr sz="700" b="0" i="0">
                <a:solidFill>
                  <a:srgbClr val="4D4D4D"/>
                </a:solidFill>
                <a:latin typeface="Trenda IG Text"/>
              </a:rPr>
              <a:t>  </a:t>
            </a:r>
          </a:p>
        </p:txBody>
      </p:sp>
      <p:sp>
        <p:nvSpPr>
          <p:cNvPr id="94" name="Shape 93"/>
          <p:cNvSpPr/>
          <p:nvPr/>
        </p:nvSpPr>
        <p:spPr>
          <a:xfrm>
            <a:off x="7891271" y="45720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7891271" y="4572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019288" y="45720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6  </a:t>
            </a:r>
            <a:r>
              <a:rPr sz="700" b="1" i="0">
                <a:solidFill>
                  <a:srgbClr val="1A1A1A"/>
                </a:solidFill>
                <a:latin typeface="Trenda IG Text"/>
              </a:rPr>
              <a:t>Track engagement and outcomes per patient, such as readmissions</a:t>
            </a:r>
            <a:r>
              <a:rPr sz="700" b="0" i="0">
                <a:solidFill>
                  <a:srgbClr val="4D4D4D"/>
                </a:solidFill>
                <a:latin typeface="Trenda IG Text"/>
              </a:rPr>
              <a:t>  </a:t>
            </a:r>
          </a:p>
        </p:txBody>
      </p:sp>
      <p:sp>
        <p:nvSpPr>
          <p:cNvPr id="97" name="Shape 96"/>
          <p:cNvSpPr/>
          <p:nvPr/>
        </p:nvSpPr>
        <p:spPr>
          <a:xfrm>
            <a:off x="7891271" y="50292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7"/>
          <p:cNvSpPr/>
          <p:nvPr/>
        </p:nvSpPr>
        <p:spPr>
          <a:xfrm>
            <a:off x="7891271" y="5029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019288" y="50292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7  </a:t>
            </a:r>
            <a:r>
              <a:rPr sz="700" b="1" i="0">
                <a:solidFill>
                  <a:srgbClr val="1A1A1A"/>
                </a:solidFill>
                <a:latin typeface="Trenda IG Text"/>
              </a:rPr>
              <a:t>Feed aggregates to Gold A, with small groups suppressed</a:t>
            </a:r>
            <a:r>
              <a:rPr sz="700" b="0" i="0">
                <a:solidFill>
                  <a:srgbClr val="4D4D4D"/>
                </a:solidFill>
                <a:latin typeface="Trenda IG Text"/>
              </a:rPr>
              <a:t>  </a:t>
            </a:r>
          </a:p>
        </p:txBody>
      </p:sp>
      <p:sp>
        <p:nvSpPr>
          <p:cNvPr id="100" name="Text 99"/>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CONTROLS</a:t>
            </a:r>
          </a:p>
          <a:p>
            <a:pPr>
              <a:spcAft>
                <a:spcPts val="100"/>
              </a:spcAft>
            </a:pPr>
            <a:r>
              <a:rPr sz="700" b="0" i="0">
                <a:solidFill>
                  <a:srgbClr val="6B6B6B"/>
                </a:solidFill>
                <a:latin typeface="Trenda IG Text"/>
              </a:rPr>
              <a:t>on Gold B</a:t>
            </a:r>
          </a:p>
        </p:txBody>
      </p:sp>
      <p:sp>
        <p:nvSpPr>
          <p:cNvPr id="101" name="Shape 100"/>
          <p:cNvSpPr/>
          <p:nvPr/>
        </p:nvSpPr>
        <p:spPr>
          <a:xfrm>
            <a:off x="164592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Service identities only</a:t>
            </a:r>
          </a:p>
          <a:p>
            <a:pPr>
              <a:spcAft>
                <a:spcPts val="100"/>
              </a:spcAft>
            </a:pPr>
            <a:r>
              <a:rPr sz="700" b="0" i="0">
                <a:solidFill>
                  <a:srgbClr val="4D4D4D"/>
                </a:solidFill>
                <a:latin typeface="Trenda IG Text"/>
              </a:rPr>
              <a:t>no agent, no dashboard</a:t>
            </a:r>
          </a:p>
        </p:txBody>
      </p:sp>
      <p:sp>
        <p:nvSpPr>
          <p:cNvPr id="104" name="Shape 103"/>
          <p:cNvSpPr/>
          <p:nvPr/>
        </p:nvSpPr>
        <p:spPr>
          <a:xfrm>
            <a:off x="3349752"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4"/>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Row + column policies</a:t>
            </a:r>
          </a:p>
          <a:p>
            <a:pPr>
              <a:spcAft>
                <a:spcPts val="100"/>
              </a:spcAft>
            </a:pPr>
            <a:r>
              <a:rPr sz="700" b="0" i="0">
                <a:solidFill>
                  <a:srgbClr val="4D4D4D"/>
                </a:solidFill>
                <a:latin typeface="Trenda IG Text"/>
              </a:rPr>
              <a:t>CMEK encryption</a:t>
            </a:r>
          </a:p>
        </p:txBody>
      </p:sp>
      <p:sp>
        <p:nvSpPr>
          <p:cNvPr id="107" name="Shape 106"/>
          <p:cNvSpPr/>
          <p:nvPr/>
        </p:nvSpPr>
        <p:spPr>
          <a:xfrm>
            <a:off x="5053584"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Shape 107"/>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Every read logged</a:t>
            </a:r>
          </a:p>
          <a:p>
            <a:pPr>
              <a:spcAft>
                <a:spcPts val="100"/>
              </a:spcAft>
            </a:pPr>
            <a:r>
              <a:rPr sz="700" b="0" i="0">
                <a:solidFill>
                  <a:srgbClr val="4D4D4D"/>
                </a:solidFill>
                <a:latin typeface="Trenda IG Text"/>
              </a:rPr>
              <a:t>who, why, which rule version</a:t>
            </a:r>
          </a:p>
        </p:txBody>
      </p:sp>
      <p:sp>
        <p:nvSpPr>
          <p:cNvPr id="110" name="Shape 109"/>
          <p:cNvSpPr/>
          <p:nvPr/>
        </p:nvSpPr>
        <p:spPr>
          <a:xfrm>
            <a:off x="6757416"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Retention limits</a:t>
            </a:r>
          </a:p>
          <a:p>
            <a:pPr>
              <a:spcAft>
                <a:spcPts val="100"/>
              </a:spcAft>
            </a:pPr>
            <a:r>
              <a:rPr sz="700" b="0" i="0">
                <a:solidFill>
                  <a:srgbClr val="4D4D4D"/>
                </a:solidFill>
                <a:latin typeface="Trenda IG Text"/>
              </a:rPr>
              <a:t>purged on schedule</a:t>
            </a:r>
          </a:p>
        </p:txBody>
      </p:sp>
      <p:sp>
        <p:nvSpPr>
          <p:cNvPr id="113" name="Shape 112"/>
          <p:cNvSpPr/>
          <p:nvPr/>
        </p:nvSpPr>
        <p:spPr>
          <a:xfrm>
            <a:off x="8461248"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No copies outside</a:t>
            </a:r>
          </a:p>
          <a:p>
            <a:pPr>
              <a:spcAft>
                <a:spcPts val="100"/>
              </a:spcAft>
            </a:pPr>
            <a:r>
              <a:rPr sz="700" b="0" i="0">
                <a:solidFill>
                  <a:srgbClr val="4D4D4D"/>
                </a:solidFill>
                <a:latin typeface="Trenda IG Text"/>
              </a:rPr>
              <a:t>only the released fields leave</a:t>
            </a:r>
          </a:p>
        </p:txBody>
      </p:sp>
      <p:sp>
        <p:nvSpPr>
          <p:cNvPr id="116" name="Shape 115"/>
          <p:cNvSpPr/>
          <p:nvPr/>
        </p:nvSpPr>
        <p:spPr>
          <a:xfrm>
            <a:off x="1016508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Reconciled every run</a:t>
            </a:r>
          </a:p>
          <a:p>
            <a:pPr>
              <a:spcAft>
                <a:spcPts val="100"/>
              </a:spcAft>
            </a:pPr>
            <a:r>
              <a:rPr sz="700" b="0" i="0">
                <a:solidFill>
                  <a:srgbClr val="4D4D4D"/>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Gold A · BigQuery</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aggregates + masked views; Collibra policy tags</a:t>
            </a:r>
          </a:p>
        </p:txBody>
      </p:sp>
      <p:cxnSp>
        <p:nvCxnSpPr>
          <p:cNvPr id="20"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 · eligibility</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restricted; a deterministic service</a:t>
            </a:r>
          </a:p>
        </p:txBody>
      </p:sp>
      <p:cxnSp>
        <p:nvCxnSpPr>
          <p:cNvPr id="30" name="Arrow 24"/>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Policy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 activation gateway</a:t>
            </a:r>
          </a:p>
        </p:txBody>
      </p:sp>
      <p:cxnSp>
        <p:nvCxnSpPr>
          <p:cNvPr id="35"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1A1A1A"/>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1A1A1A"/>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1A1A1A"/>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1A1A1A"/>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4D4D4D"/>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1A1A1A"/>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2170720" y="2887472"/>
            <a:ext cx="297637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2170720" y="2887472"/>
            <a:ext cx="2976372" cy="128016"/>
          </a:xfrm>
          <a:prstGeom prst="rect">
            <a:avLst/>
          </a:prstGeom>
          <a:noFill/>
        </p:spPr>
        <p:txBody>
          <a:bodyPr wrap="square" lIns="0" rIns="0" tIns="0" bIns="0" anchor="ctr">
            <a:spAutoFit/>
          </a:bodyPr>
          <a:lstStyle/>
          <a:p>
            <a:pPr algn="ctr"/>
            <a:r>
              <a:rPr sz="700" b="0" i="0">
                <a:solidFill>
                  <a:srgbClr val="4D4D4D"/>
                </a:solidFill>
                <a:latin typeface="Trenda IG Text"/>
              </a:rPr>
              <a:t>5  Counts only, never names; masked rows stay in BigQuery</a:t>
            </a:r>
          </a:p>
        </p:txBody>
      </p:sp>
      <p:cxnSp>
        <p:nvCxnSpPr>
          <p:cNvPr id="59" name="Arrow 53"/>
          <p:cNvCxnSpPr/>
          <p:nvPr/>
        </p:nvCxnSpPr>
        <p:spPr>
          <a:xfrm flipH="1">
            <a:off x="1223336" y="324916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4D4D4D"/>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1A1A1A"/>
                </a:solidFill>
                <a:latin typeface="Trenda IG Text"/>
              </a:rPr>
              <a:t>9  Run eligibility for the approved rule (no patient data comes back)</a:t>
            </a:r>
          </a:p>
        </p:txBody>
      </p:sp>
      <p:sp>
        <p:nvSpPr>
          <p:cNvPr id="75" name="Shape 69"/>
          <p:cNvSpPr/>
          <p:nvPr/>
        </p:nvSpPr>
        <p:spPr>
          <a:xfrm>
            <a:off x="6961196" y="4422647"/>
            <a:ext cx="2798064" cy="182880"/>
          </a:xfrm>
          <a:prstGeom prst="roundRect">
            <a:avLst>
              <a:gd name="adj" fmla="val 50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2798064" cy="182880"/>
          </a:xfrm>
          <a:prstGeom prst="rect">
            <a:avLst/>
          </a:prstGeom>
          <a:noFill/>
        </p:spPr>
        <p:txBody>
          <a:bodyPr wrap="square" lIns="0" rIns="0" tIns="0" bIns="0" anchor="ctr">
            <a:spAutoFit/>
          </a:bodyPr>
          <a:lstStyle/>
          <a:p>
            <a:pPr algn="ctr"/>
            <a:r>
              <a:rPr sz="700" b="0" i="0">
                <a:solidFill>
                  <a:srgbClr val="1A1A1A"/>
                </a:solidFill>
                <a:latin typeface="Trenda IG Text"/>
              </a:rPr>
              <a:t>10  Consent, contact, STOP, deceased, duplicates out</a:t>
            </a:r>
          </a:p>
        </p:txBody>
      </p:sp>
      <p:cxnSp>
        <p:nvCxnSpPr>
          <p:cNvPr id="77" name="Arrow 71"/>
          <p:cNvCxnSpPr/>
          <p:nvPr/>
        </p:nvCxnSpPr>
        <p:spPr>
          <a:xfrm flipH="1">
            <a:off x="1223336" y="47249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544779" y="4995671"/>
            <a:ext cx="197053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544779" y="4995671"/>
            <a:ext cx="1970532" cy="128016"/>
          </a:xfrm>
          <a:prstGeom prst="rect">
            <a:avLst/>
          </a:prstGeom>
          <a:noFill/>
        </p:spPr>
        <p:txBody>
          <a:bodyPr wrap="square" lIns="0" rIns="0" tIns="0" bIns="0" anchor="ctr">
            <a:spAutoFit/>
          </a:bodyPr>
          <a:lstStyle/>
          <a:p>
            <a:pPr algn="ctr"/>
            <a:r>
              <a:rPr sz="700" b="0" i="0">
                <a:solidFill>
                  <a:srgbClr val="1A1A1A"/>
                </a:solidFill>
                <a:latin typeface="Trenda IG Text"/>
              </a:rPr>
              <a:t>12  Eligible patients, minimum fields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590134" y="5206491"/>
            <a:ext cx="3127248"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590134" y="5206491"/>
            <a:ext cx="3127248" cy="128016"/>
          </a:xfrm>
          <a:prstGeom prst="rect">
            <a:avLst/>
          </a:prstGeom>
          <a:noFill/>
        </p:spPr>
        <p:txBody>
          <a:bodyPr wrap="square" lIns="0" rIns="0" tIns="0" bIns="0" anchor="ctr">
            <a:spAutoFit/>
          </a:bodyPr>
          <a:lstStyle/>
          <a:p>
            <a:pPr algn="ctr"/>
            <a:r>
              <a:rPr sz="700" b="0" i="0">
                <a:solidFill>
                  <a:srgbClr val="1A1A1A"/>
                </a:solidFill>
                <a:latin typeface="Trenda IG Text"/>
              </a:rPr>
              <a:t>13  Release after G2 + G3: time-limited, Compliance Passport</a:t>
            </a:r>
          </a:p>
        </p:txBody>
      </p:sp>
      <p:sp>
        <p:nvSpPr>
          <p:cNvPr id="88" name="Shape 82"/>
          <p:cNvSpPr/>
          <p:nvPr/>
        </p:nvSpPr>
        <p:spPr>
          <a:xfrm>
            <a:off x="9331451" y="5476747"/>
            <a:ext cx="2446020" cy="182880"/>
          </a:xfrm>
          <a:prstGeom prst="roundRect">
            <a:avLst>
              <a:gd name="adj" fmla="val 50000"/>
            </a:avLst>
          </a:prstGeom>
          <a:solidFill>
            <a:srgbClr val="F2F2F2"/>
          </a:solidFill>
          <a:ln w="1143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1A1A1A"/>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Before any request: </a:t>
            </a:r>
            <a:r>
              <a:rPr sz="700" b="0" i="0">
                <a:solidFill>
                  <a:srgbClr val="6B6B6B"/>
                </a:solidFill>
                <a:latin typeface="Trenda IG Text"/>
              </a:rPr>
              <a:t>the data harness keeps Sources → Bronze → Silver → Gold A / Gold B current in Google Cloud;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89A0"/>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8A6D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1A1A1A"/>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1A1A1A"/>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4D4D4D"/>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4D4D4D"/>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4D4D4D"/>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4D4D4D"/>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1A1A1A"/>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4D4D4D"/>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4D4D4D"/>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1A1A1A"/>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Never: </a:t>
            </a:r>
            <a:r>
              <a:rPr sz="700" b="0" i="0">
                <a:solidFill>
                  <a:srgbClr val="6B6B6B"/>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