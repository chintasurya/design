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256" r:id="rId10"/>
    <p:sldId id="257" r:id="rId11"/>
    <p:sldId id="258" r:id="rId12"/>
    <p:sldId id="259" r:id="rId13"/>
    <p:sldId id="260" r:id="rId14"/>
    <p:sldId id="261" r:id="rId15"/>
    <p:sldId id="263" r:id="rId17"/>
    <p:sldId id="265" r:id="rId19"/>
    <p:sldId id="264" r:id="rId18"/>
    <p:sldId id="262" r:id="rId16"/>
    <p:sldId id="266" r:id="rId20"/>
    <p:sldId id="267" r:id="rId21"/>
    <p:sldId id="268"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Factory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and the harness runs the agents; the Agentic Factory is all of it, harness, data harness, governance and people.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step that caused it: a code defect to the Developer Agent, a design gap to the Architect Agent, a requirement gap to the Requirements Agent. At most five times, then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a:p>
            <a:r>
              <a:t>BOTTOM ROW: the Change Guardian reviews every pod's metadata for the change and flags anything that would block deployment (a dependency, a conflict with another pod's work, a missing component) before release; people approve at H1-H4 and CAB, as today; the change passport records every step, approval and test.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Health Cloud change: ~2 weeks manual vs ~2 days on the Agentic Factory   (about 2 minutes)</a:t>
            </a:r>
          </a:p>
          <a:p/>
          <a:p>
            <a:r>
              <a:t>KEY MESSAGE</a:t>
            </a:r>
          </a:p>
          <a:p>
            <a:r>
              <a:t>A typical Health Cloud task on the Network Services pod takes about two weeks today, from Jira story to UAT sign-off. On the Agentic Factory the same task goes from story to production in about two days. People still approve at every gate.</a:t>
            </a:r>
          </a:p>
          <a:p/>
          <a:p>
            <a:r>
              <a:t>LEFT · TODAY</a:t>
            </a:r>
          </a:p>
          <a:p>
            <a:r>
              <a:t>Nine steps, one hand-off at a time, inside office hours: about 10 working days. About four and a half of them (magenta) go on understanding the story, finding the impact by hand and writing tests by hand: that is what the harness takes out.</a:t>
            </a:r>
          </a:p>
          <a:p/>
          <a:p>
            <a:r>
              <a:t>RIGHT · WITH THE AGENTIC FACTORY</a:t>
            </a:r>
          </a:p>
          <a:p>
            <a:r>
              <a:t>The same seven delivery agents as every pod, with Health Cloud skills; about 26 working hours over two days.</a:t>
            </a:r>
          </a:p>
          <a:p>
            <a:r>
              <a:t>Day 1: the Requirements Agent turns the story into a brief in about 3 hours and the product owner approves (H1); the Architect Agent reads impact and reuse from the knowledge graph in about 5 hours, the Change Guardian names affected pods, and the architect and pod owners approve (H2). The Developer Agent builds in DEV in about 4 hours; the Review and Test Agents check code, security and sharing and run the tests in about 4 hours, and the tech lead approves (H3); the Release Agent promotes through Copado to SIT and UAT in about 2 hours.</a:t>
            </a:r>
          </a:p>
          <a:p>
            <a:r>
              <a:t>Day 2: about 8 hours of business UAT (H4), CAB approval and the owning team's deployment to production.</a:t>
            </a:r>
          </a:p>
          <a:p/>
          <a:p>
            <a:r>
              <a:t>THE NUMBERS</a:t>
            </a:r>
          </a:p>
          <a:p>
            <a:r>
              <a:t>About 80% faster: 10 working days to about 2 days. Already measured with agent-assisted delivery: 1-2 weeks down to 2-4 days. The graph, the agent build and the automated tests take it to about 2 days, story to production: the target, confirmed against the Phase 0 baseline.</a:t>
            </a:r>
          </a:p>
          <a:p/>
          <a:p>
            <a:r>
              <a:t>BE READY FOR</a:t>
            </a:r>
          </a:p>
          <a:p>
            <a:r>
              <a:t>- "Does every task take 2 days?" Small changes take less; large or cross-pod changes take longer because more owners approve.</a:t>
            </a:r>
          </a:p>
          <a:p>
            <a:r>
              <a:t>- "Does CAB meet every day?" Day 2 assumes a CAB slot; otherwise production waits for the next CAB window. The agents never deploy to production.</a:t>
            </a:r>
          </a:p>
          <a:p>
            <a:r>
              <a:t>- "Why only 4 hours to build?" A typical Health Cloud task is a validation rule, a Flow or a small Apex change; the agent builds it with the design already approved and the context from the graph.</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Launching a campaign: ~90 days manual vs ~10-12 days on the data harness   (about 2 minutes)</a:t>
            </a:r>
          </a:p>
          <a:p/>
          <a:p>
            <a:r>
              <a:t>KEY MESSAGE</a:t>
            </a:r>
          </a:p>
          <a:p>
            <a:r>
              <a:t>About 40 of today's 90 days go on discovery, data readiness, Data Cloud ingestion and segmentation, repeated for every campaign. The data harness does that work once and keeps it fresh, so a campaign starts from ready, governed data. The campaign agents build and test; people approve; legal review sets the pace.</a:t>
            </a:r>
          </a:p>
          <a:p/>
          <a:p>
            <a:r>
              <a:t>LEFT · TODAY</a:t>
            </a:r>
          </a:p>
          <a:p>
            <a:r>
              <a:t>Nine steps, one after another: discovery and PRD 10 days, ADSI data readiness 10, Data Cloud ingestion 12, segmentation 8, SFMC data prep 8, content and legal 14, journey build 8, testing and UAT 12, deploy 8. The first four (magenta) are what the data harness takes off every campaign.</a:t>
            </a:r>
          </a:p>
          <a:p/>
          <a:p>
            <a:r>
              <a:t>RIGHT · WITH THE DATA HARNESS</a:t>
            </a:r>
          </a:p>
          <a:p>
            <a:r>
              <a:t>Day 0-1 the marketer prompts in Codex; the Orchestrator, Strategist and Analytics agents produce the Campaign Opportunity Brief and people approve it (G1). The data is already ready. Day 1-2 the eligibility service applies the campaign rule. Day 2-4 the Campaign Design Agent builds the journey and data extension while legal reviews the content (days 2-8, the longest step). Day 8-10 the Activation Readiness Agent tests on test contacts and clinical and compliance approve (G3). Day 10-11 the SME and tech lead review the masked pre-send report (G2) and the gateway releases. Day 11-12 the journey goes live, with consent re-checked at send.</a:t>
            </a:r>
          </a:p>
          <a:p/>
          <a:p>
            <a:r>
              <a:t>BE HONEST</a:t>
            </a:r>
          </a:p>
          <a:p>
            <a:r>
              <a:t>Content and legal approval does not shrink much; it becomes the critical path. The ~10-12 days is a pilot target, measured on the CHF campaign against today's baseline.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factory serves every pod and three jobs: delivery, campaigns and the Sierra voice agent. Each agent is built once, scales across pods without losing accuracy, and stays under the same controls.</a:t>
            </a:r>
          </a:p>
          <a:p/>
          <a:p>
            <a:r>
              <a:t>WALK IT</a:t>
            </a:r>
          </a:p>
          <a:p>
            <a:r>
              <a:t>- Top: one factory,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squads and what they save   (about 3 minutes)</a:t>
            </a:r>
          </a:p>
          <a:p/>
          <a:p>
            <a:r>
              <a:t>KEY MESSAGE</a:t>
            </a:r>
          </a:p>
          <a:p>
            <a:r>
              <a:t>Today a squad is 5-7 people. With the factory it is a PM / tech lead, a dev / QA who directs the harness agent and verifies its work, and a PM / TL shared across two or three squads. Across all pods, $16M a year today falls to about $8M at full run rate: about $20M saved over three years.</a:t>
            </a:r>
          </a:p>
          <a:p/>
          <a:p>
            <a:r>
              <a:t>TOP</a:t>
            </a:r>
          </a:p>
          <a:p>
            <a:r>
              <a:t>- Today's squad: PM / outcome owner, tech lead / SEM, 2-3 developers, 1-2 QA.</a:t>
            </a:r>
          </a:p>
          <a:p>
            <a:r>
              <a:t>- With the factory: the PM / tech lead owns the change and approves the code at H3; one dev / QA directs the agent and verifies; one more PM / TL is shared across 2-3 squads. The agent drafts code, tests and the Copado package.</a:t>
            </a:r>
          </a:p>
          <a:p>
            <a:r>
              <a:t>- Why a human still checks quality: the agent writes requirements, code and tests from the same understanding, so a person must confirm we built the right thing, sign UAT, and own it at CAB.</a:t>
            </a:r>
          </a:p>
          <a:p>
            <a:r>
              <a:t>- What changes per pod: Health Cloud pods take a story to UAT in about 2 days instead of about 2 weeks; Marketing Cloud pods build campaigns on governed data that is already ready; the Sierra pod answers from governed articles and books through scoped APIs.</a:t>
            </a:r>
          </a:p>
          <a:p>
            <a:r>
              <a:t>- Build and run: 17 people at peak over 18 months, then a run team of 4.</a:t>
            </a:r>
          </a:p>
          <a:p/>
          <a:p>
            <a:r>
              <a:t>YEARS</a:t>
            </a:r>
          </a:p>
          <a:p>
            <a:r>
              <a:t>Year 1 saves about $4.8M (pods go live through the year), year 2 about $7.2M, year 3 about $8.0M at full run rate.</a:t>
            </a:r>
          </a:p>
          <a:p/>
          <a:p>
            <a:r>
              <a:t>HOW THE NUMBERS ARE BUILT</a:t>
            </a:r>
          </a:p>
          <a:p>
            <a:r>
              <a:t>People cost falls to 40% of today (2.4 of 6 people per squad). Run cost: run team and platform $1.24M a year, plus a model and token allowance of about $0.4M a year, to confirm against Ascension's Codex limits. Ramp 60%, 90%, 100%. All are planning estimates, confirmed against each pod's Phase 0 baseline.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8.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9.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AGENTS FOR DELIVERY AND DATA</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Ascension Agentic Factory</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One factory, two jobs: Health Cloud delivery from Codex, and Marketing Cloud campaigns on governed, masked Google Cloud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ASCENSION AGENTIC FACTORY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1A1A1A"/>
                </a:solidFill>
                <a:latin typeface="Trenda IG Text"/>
              </a:rPr>
              <a:t>AGENT SOURCES</a:t>
            </a:r>
            <a:r>
              <a:rPr sz="700" b="0" i="0">
                <a:solidFill>
                  <a:srgbClr val="1A1A1A"/>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1A1A1A"/>
                </a:solidFill>
                <a:latin typeface="Trenda IG Text"/>
              </a:rPr>
              <a:t>Jira</a:t>
            </a:r>
          </a:p>
          <a:p>
            <a:r>
              <a:rPr sz="700" b="0" i="0">
                <a:solidFill>
                  <a:srgbClr val="6B6B6B"/>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1A1A1A"/>
                </a:solidFill>
                <a:latin typeface="Trenda IG Text"/>
              </a:rPr>
              <a:t>Confluence</a:t>
            </a:r>
          </a:p>
          <a:p>
            <a:r>
              <a:rPr sz="700" b="0" i="0">
                <a:solidFill>
                  <a:srgbClr val="6B6B6B"/>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1A1A1A"/>
                </a:solidFill>
                <a:latin typeface="Trenda IG Text"/>
              </a:rPr>
              <a:t>Salesforce</a:t>
            </a:r>
          </a:p>
          <a:p>
            <a:r>
              <a:rPr sz="700" b="0" i="0">
                <a:solidFill>
                  <a:srgbClr val="6B6B6B"/>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1A1A1A"/>
                </a:solidFill>
                <a:latin typeface="Trenda IG Text"/>
              </a:rPr>
              <a:t>Git</a:t>
            </a:r>
          </a:p>
          <a:p>
            <a:r>
              <a:rPr sz="700" b="0" i="0">
                <a:solidFill>
                  <a:srgbClr val="6B6B6B"/>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1A1A1A"/>
                </a:solidFill>
                <a:latin typeface="Trenda IG Text"/>
              </a:rPr>
              <a:t>Copado</a:t>
            </a:r>
          </a:p>
          <a:p>
            <a:r>
              <a:rPr sz="700" b="0" i="0">
                <a:solidFill>
                  <a:srgbClr val="6B6B6B"/>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1A1A1A"/>
                </a:solidFill>
                <a:latin typeface="Trenda IG Text"/>
              </a:rPr>
              <a:t>Google Drive</a:t>
            </a:r>
          </a:p>
          <a:p>
            <a:r>
              <a:rPr sz="700" b="0" i="0">
                <a:solidFill>
                  <a:srgbClr val="6B6B6B"/>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0089A0"/>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F5F5F5"/>
          </a:solidFill>
          <a:ln w="1587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1A1A1A"/>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4D4D4D"/>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6B6B6B"/>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1A1A1A"/>
                </a:solidFill>
                <a:latin typeface="Trenda IG Text"/>
              </a:rPr>
              <a:t>DELIVERY AGENTS</a:t>
            </a:r>
            <a:r>
              <a:rPr sz="700" b="0" i="0">
                <a:solidFill>
                  <a:srgbClr val="1A1A1A"/>
                </a:solidFill>
                <a:latin typeface="Trenda IG Text"/>
              </a:rPr>
              <a:t>   the same on every pod</a:t>
            </a:r>
          </a:p>
        </p:txBody>
      </p:sp>
      <p:sp>
        <p:nvSpPr>
          <p:cNvPr id="29" name="Shape 22"/>
          <p:cNvSpPr/>
          <p:nvPr/>
        </p:nvSpPr>
        <p:spPr>
          <a:xfrm>
            <a:off x="3063240" y="1499616"/>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4D4D4D"/>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36" name="Shape 29"/>
          <p:cNvSpPr/>
          <p:nvPr/>
        </p:nvSpPr>
        <p:spPr>
          <a:xfrm>
            <a:off x="3063240" y="1751990"/>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1A1A1A"/>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4D4D4D"/>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43" name="Shape 36"/>
          <p:cNvSpPr/>
          <p:nvPr/>
        </p:nvSpPr>
        <p:spPr>
          <a:xfrm>
            <a:off x="3063240" y="200436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1A1A1A"/>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4D4D4D"/>
                </a:solidFill>
                <a:latin typeface="Trenda IG Text"/>
              </a:rPr>
              <a:t>Impact and reuse from the graph; </a:t>
            </a:r>
            <a:r>
              <a:rPr sz="700" b="1" i="0">
                <a:solidFill>
                  <a:srgbClr val="1A1A1A"/>
                </a:solidFill>
                <a:latin typeface="Trenda IG Text"/>
              </a:rPr>
              <a:t>Change Guardian</a:t>
            </a:r>
            <a:r>
              <a:rPr sz="700" b="0" i="0">
                <a:solidFill>
                  <a:srgbClr val="4D4D4D"/>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50" name="Shape 43"/>
          <p:cNvSpPr/>
          <p:nvPr/>
        </p:nvSpPr>
        <p:spPr>
          <a:xfrm>
            <a:off x="3063240" y="225673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1A1A1A"/>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4D4D4D"/>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57" name="Shape 50"/>
          <p:cNvSpPr/>
          <p:nvPr/>
        </p:nvSpPr>
        <p:spPr>
          <a:xfrm>
            <a:off x="3063240" y="250911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1A1A1A"/>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4D4D4D"/>
                </a:solidFill>
                <a:latin typeface="Trenda IG Text"/>
              </a:rPr>
              <a:t>Quality, security, standards; failures go back to their cause</a:t>
            </a:r>
          </a:p>
        </p:txBody>
      </p:sp>
      <p:sp>
        <p:nvSpPr>
          <p:cNvPr id="62" name="Shape 55"/>
          <p:cNvSpPr/>
          <p:nvPr/>
        </p:nvSpPr>
        <p:spPr>
          <a:xfrm>
            <a:off x="7955279" y="2543860"/>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64" name="Shape 57"/>
          <p:cNvSpPr/>
          <p:nvPr/>
        </p:nvSpPr>
        <p:spPr>
          <a:xfrm>
            <a:off x="3063240" y="276148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1A1A1A"/>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4D4D4D"/>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71" name="Shape 64"/>
          <p:cNvSpPr/>
          <p:nvPr/>
        </p:nvSpPr>
        <p:spPr>
          <a:xfrm>
            <a:off x="3063240" y="301386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1A1A1A"/>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4D4D4D"/>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78" name="Shape 71"/>
          <p:cNvSpPr/>
          <p:nvPr/>
        </p:nvSpPr>
        <p:spPr>
          <a:xfrm>
            <a:off x="3063240" y="3321100"/>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1A1A1A"/>
                </a:solidFill>
                <a:latin typeface="Trenda IG Text"/>
              </a:rPr>
              <a:t>CAMPAIGN AGENTS</a:t>
            </a:r>
            <a:r>
              <a:rPr sz="700" b="0" i="0">
                <a:solidFill>
                  <a:srgbClr val="1A1A1A"/>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4D4D4D"/>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87" name="Shape 80"/>
          <p:cNvSpPr/>
          <p:nvPr/>
        </p:nvSpPr>
        <p:spPr>
          <a:xfrm>
            <a:off x="3063240" y="390265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4D4D4D"/>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94" name="Shape 87"/>
          <p:cNvSpPr/>
          <p:nvPr/>
        </p:nvSpPr>
        <p:spPr>
          <a:xfrm>
            <a:off x="3063240" y="415503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1A1A1A"/>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01" name="Shape 94"/>
          <p:cNvSpPr/>
          <p:nvPr/>
        </p:nvSpPr>
        <p:spPr>
          <a:xfrm>
            <a:off x="3063240" y="440740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4D4D4D"/>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08" name="Shape 101"/>
          <p:cNvSpPr/>
          <p:nvPr/>
        </p:nvSpPr>
        <p:spPr>
          <a:xfrm>
            <a:off x="3063240" y="465978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4D4D4D"/>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115" name="Shape 108"/>
          <p:cNvSpPr/>
          <p:nvPr/>
        </p:nvSpPr>
        <p:spPr>
          <a:xfrm>
            <a:off x="3063240" y="4912156"/>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1A1A1A"/>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4D4D4D"/>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22" name="Shape 115"/>
          <p:cNvSpPr/>
          <p:nvPr/>
        </p:nvSpPr>
        <p:spPr>
          <a:xfrm>
            <a:off x="3063240" y="5164531"/>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29" name="Shape 122"/>
          <p:cNvSpPr/>
          <p:nvPr/>
        </p:nvSpPr>
        <p:spPr>
          <a:xfrm>
            <a:off x="9006840" y="1170432"/>
            <a:ext cx="277063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1A1A1A"/>
                </a:solidFill>
                <a:latin typeface="Trenda IG Text"/>
              </a:rPr>
              <a:t>POD SKILLS</a:t>
            </a:r>
            <a:r>
              <a:rPr sz="700" b="0" i="0">
                <a:solidFill>
                  <a:srgbClr val="1A1A1A"/>
                </a:solidFill>
                <a:latin typeface="Trenda IG Text"/>
              </a:rPr>
              <a:t>   what changes per pod</a:t>
            </a:r>
          </a:p>
        </p:txBody>
      </p:sp>
      <p:sp>
        <p:nvSpPr>
          <p:cNvPr id="131" name="Shape 124"/>
          <p:cNvSpPr/>
          <p:nvPr/>
        </p:nvSpPr>
        <p:spPr>
          <a:xfrm>
            <a:off x="9006840" y="1444752"/>
            <a:ext cx="2770632"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1A1A1A"/>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6B6B6B"/>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1A1A1A"/>
                </a:solidFill>
                <a:latin typeface="Trenda IG Text"/>
              </a:rPr>
              <a:t>Apex, Flows, LWC, sharing, Health Cloud objects</a:t>
            </a:r>
          </a:p>
        </p:txBody>
      </p:sp>
      <p:sp>
        <p:nvSpPr>
          <p:cNvPr id="136" name="Shape 128"/>
          <p:cNvSpPr/>
          <p:nvPr/>
        </p:nvSpPr>
        <p:spPr>
          <a:xfrm>
            <a:off x="9116567" y="2267712"/>
            <a:ext cx="978408" cy="164592"/>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78408" cy="164592"/>
          </a:xfrm>
          <a:prstGeom prst="rect">
            <a:avLst/>
          </a:prstGeom>
          <a:noFill/>
        </p:spPr>
        <p:txBody>
          <a:bodyPr wrap="square" lIns="0" rIns="0" tIns="0" bIns="0" anchor="ctr">
            <a:spAutoFit/>
          </a:bodyPr>
          <a:lstStyle/>
          <a:p>
            <a:pPr algn="ctr"/>
            <a:r>
              <a:rPr sz="700" b="1" i="0">
                <a:solidFill>
                  <a:srgbClr val="1A1A1A"/>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89A0"/>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6B6B6B"/>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1A1A1A"/>
                </a:solidFill>
                <a:latin typeface="Trenda IG Text"/>
              </a:rPr>
              <a:t>Data Cloud, SFMC SQL, AMPscript, journeys</a:t>
            </a:r>
          </a:p>
        </p:txBody>
      </p:sp>
      <p:sp>
        <p:nvSpPr>
          <p:cNvPr id="142" name="Shape 133"/>
          <p:cNvSpPr/>
          <p:nvPr/>
        </p:nvSpPr>
        <p:spPr>
          <a:xfrm>
            <a:off x="9116567" y="3291840"/>
            <a:ext cx="1561795"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561795" cy="164592"/>
          </a:xfrm>
          <a:prstGeom prst="rect">
            <a:avLst/>
          </a:prstGeom>
          <a:noFill/>
        </p:spPr>
        <p:txBody>
          <a:bodyPr wrap="square" lIns="0" rIns="0" tIns="0" bIns="0" anchor="ctr">
            <a:spAutoFit/>
          </a:bodyPr>
          <a:lstStyle/>
          <a:p>
            <a:pPr algn="ctr"/>
            <a:r>
              <a:rPr sz="700" b="1" i="0">
                <a:solidFill>
                  <a:srgbClr val="0089A0"/>
                </a:solidFill>
                <a:latin typeface="Trenda IG Text"/>
              </a:rPr>
              <a:t>DELIVERY + CAMPAIGN AGENTS</a:t>
            </a:r>
          </a:p>
        </p:txBody>
      </p:sp>
      <p:sp>
        <p:nvSpPr>
          <p:cNvPr id="144" name="Shape 135"/>
          <p:cNvSpPr/>
          <p:nvPr/>
        </p:nvSpPr>
        <p:spPr>
          <a:xfrm>
            <a:off x="10733227" y="3291840"/>
            <a:ext cx="607161"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733227" y="3291840"/>
            <a:ext cx="607161" cy="164592"/>
          </a:xfrm>
          <a:prstGeom prst="rect">
            <a:avLst/>
          </a:prstGeom>
          <a:noFill/>
        </p:spPr>
        <p:txBody>
          <a:bodyPr wrap="square" lIns="0" rIns="0" tIns="0" bIns="0" anchor="ctr">
            <a:spAutoFit/>
          </a:bodyPr>
          <a:lstStyle/>
          <a:p>
            <a:pPr algn="ctr"/>
            <a:r>
              <a:rPr sz="700" b="1" i="0">
                <a:solidFill>
                  <a:srgbClr val="0089A0"/>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1A1A1A"/>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6B6B6B"/>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1A1A1A"/>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1A1A1A"/>
                </a:solidFill>
                <a:latin typeface="Trenda IG Text"/>
              </a:rPr>
              <a:t>A new pod adds its sources and skills; new agents plug into the same framework when new work needs them.</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1A1A1A"/>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AI build</a:t>
            </a:r>
          </a:p>
          <a:p>
            <a:pPr algn="ctr">
              <a:lnSpc>
                <a:spcPct val="90000"/>
              </a:lnSpc>
            </a:pPr>
            <a:r>
              <a:rPr sz="700" b="0" i="0">
                <a:solidFill>
                  <a:srgbClr val="4D4D4D"/>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Copado</a:t>
            </a:r>
          </a:p>
          <a:p>
            <a:pPr algn="ctr">
              <a:lnSpc>
                <a:spcPct val="90000"/>
              </a:lnSpc>
            </a:pPr>
            <a:r>
              <a:rPr sz="700" b="0" i="0">
                <a:solidFill>
                  <a:srgbClr val="4D4D4D"/>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Quality gates</a:t>
            </a:r>
          </a:p>
          <a:p>
            <a:pPr algn="ctr">
              <a:lnSpc>
                <a:spcPct val="90000"/>
              </a:lnSpc>
            </a:pPr>
            <a:r>
              <a:rPr sz="700" b="0" i="0">
                <a:solidFill>
                  <a:srgbClr val="4D4D4D"/>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DEV</a:t>
            </a:r>
          </a:p>
          <a:p>
            <a:pPr algn="ctr">
              <a:lnSpc>
                <a:spcPct val="90000"/>
              </a:lnSpc>
            </a:pPr>
            <a:r>
              <a:rPr sz="700" b="0" i="0">
                <a:solidFill>
                  <a:srgbClr val="4D4D4D"/>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SIT</a:t>
            </a:r>
          </a:p>
          <a:p>
            <a:pPr algn="ctr">
              <a:lnSpc>
                <a:spcPct val="90000"/>
              </a:lnSpc>
            </a:pPr>
            <a:r>
              <a:rPr sz="700" b="0" i="0">
                <a:solidFill>
                  <a:srgbClr val="4D4D4D"/>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UAT</a:t>
            </a:r>
          </a:p>
          <a:p>
            <a:pPr algn="ctr">
              <a:lnSpc>
                <a:spcPct val="90000"/>
              </a:lnSpc>
            </a:pPr>
            <a:r>
              <a:rPr sz="700" b="0" i="0">
                <a:solidFill>
                  <a:srgbClr val="0089A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CAB</a:t>
            </a:r>
          </a:p>
          <a:p>
            <a:pPr algn="ctr">
              <a:lnSpc>
                <a:spcPct val="90000"/>
              </a:lnSpc>
            </a:pPr>
            <a:r>
              <a:rPr sz="700" b="0" i="0">
                <a:solidFill>
                  <a:srgbClr val="0089A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PROD</a:t>
            </a:r>
          </a:p>
          <a:p>
            <a:pPr algn="ctr">
              <a:lnSpc>
                <a:spcPct val="90000"/>
              </a:lnSpc>
            </a:pPr>
            <a:r>
              <a:rPr sz="700" b="0" i="0">
                <a:solidFill>
                  <a:srgbClr val="4D4D4D"/>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0089A0"/>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Prompt in Codex</a:t>
            </a:r>
          </a:p>
          <a:p>
            <a:pPr algn="ctr">
              <a:lnSpc>
                <a:spcPct val="90000"/>
              </a:lnSpc>
            </a:pPr>
            <a:r>
              <a:rPr sz="700" b="0" i="0">
                <a:solidFill>
                  <a:srgbClr val="4D4D4D"/>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Gold A insights</a:t>
            </a:r>
          </a:p>
          <a:p>
            <a:pPr algn="ctr">
              <a:lnSpc>
                <a:spcPct val="90000"/>
              </a:lnSpc>
            </a:pPr>
            <a:r>
              <a:rPr sz="700" b="0" i="0">
                <a:solidFill>
                  <a:srgbClr val="4D4D4D"/>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Build + test</a:t>
            </a:r>
          </a:p>
          <a:p>
            <a:pPr algn="ctr">
              <a:lnSpc>
                <a:spcPct val="90000"/>
              </a:lnSpc>
            </a:pPr>
            <a:r>
              <a:rPr sz="700" b="0" i="0">
                <a:solidFill>
                  <a:srgbClr val="4D4D4D"/>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Pre-send review</a:t>
            </a:r>
          </a:p>
          <a:p>
            <a:pPr algn="ctr">
              <a:lnSpc>
                <a:spcPct val="90000"/>
              </a:lnSpc>
            </a:pPr>
            <a:r>
              <a:rPr sz="700" b="0" i="0">
                <a:solidFill>
                  <a:srgbClr val="0089A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Gateway release</a:t>
            </a:r>
          </a:p>
          <a:p>
            <a:pPr algn="ctr">
              <a:lnSpc>
                <a:spcPct val="90000"/>
              </a:lnSpc>
            </a:pPr>
            <a:r>
              <a:rPr sz="700" b="0" i="0">
                <a:solidFill>
                  <a:srgbClr val="4D4D4D"/>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Journey runs</a:t>
            </a:r>
          </a:p>
          <a:p>
            <a:pPr algn="ctr">
              <a:lnSpc>
                <a:spcPct val="90000"/>
              </a:lnSpc>
            </a:pPr>
            <a:r>
              <a:rPr sz="700" b="0" i="0">
                <a:solidFill>
                  <a:srgbClr val="4D4D4D"/>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8A6D00"/>
                </a:solidFill>
                <a:latin typeface="Trenda IG Text"/>
              </a:rPr>
              <a:t>ASCENSION AGENTIC FACTORY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Agentic Factory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Codex is the engine; the harness runs the agents; the factory is all of it. New: a masked data context, Collibra masking, a Compliance Guardian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1A1A1A"/>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C9A1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1A1A1A"/>
                </a:solidFill>
                <a:latin typeface="Trenda IG Text"/>
              </a:rPr>
              <a:t>Harness</a:t>
            </a:r>
          </a:p>
          <a:p>
            <a:pPr>
              <a:lnSpc>
                <a:spcPct val="90000"/>
              </a:lnSpc>
            </a:pPr>
            <a:r>
              <a:rPr sz="1000" b="0" i="0">
                <a:solidFill>
                  <a:srgbClr val="1A1A1A"/>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1A1A1A"/>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4D4D4D"/>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1A1A1A"/>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4D4D4D"/>
                </a:solidFill>
                <a:latin typeface="Trenda IG Text"/>
              </a:rPr>
              <a:t>the Agentic Factory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1A1A1A"/>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4D4D4D"/>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1A1A1A"/>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4D4D4D"/>
                </a:solidFill>
                <a:latin typeface="Trenda IG Text"/>
              </a:rPr>
              <a:t>masked dashboards, pre-send report</a:t>
            </a:r>
          </a:p>
        </p:txBody>
      </p:sp>
      <p:pic>
        <p:nvPicPr>
          <p:cNvPr id="31" name="Picture 30" descr="jira.png"/>
          <p:cNvPicPr>
            <a:picLocks noChangeAspect="1"/>
          </p:cNvPicPr>
          <p:nvPr/>
        </p:nvPicPr>
        <p:blipFill>
          <a:blip r:embed="rId7"/>
          <a:stretch>
            <a:fillRect/>
          </a:stretch>
        </p:blipFill>
        <p:spPr>
          <a:xfrm>
            <a:off x="658368" y="4517136"/>
            <a:ext cx="182880" cy="182880"/>
          </a:xfrm>
          <a:prstGeom prst="rect">
            <a:avLst/>
          </a:prstGeom>
        </p:spPr>
      </p:pic>
      <p:sp>
        <p:nvSpPr>
          <p:cNvPr id="32" name="Text 25"/>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1A1A1A"/>
                </a:solidFill>
                <a:latin typeface="Trenda IG Text"/>
              </a:rPr>
              <a:t>Jira</a:t>
            </a:r>
          </a:p>
        </p:txBody>
      </p:sp>
      <p:sp>
        <p:nvSpPr>
          <p:cNvPr id="33" name="Text 26"/>
          <p:cNvSpPr txBox="1"/>
          <p:nvPr/>
        </p:nvSpPr>
        <p:spPr>
          <a:xfrm>
            <a:off x="914400" y="4690872"/>
            <a:ext cx="1252728" cy="274320"/>
          </a:xfrm>
          <a:prstGeom prst="rect">
            <a:avLst/>
          </a:prstGeom>
          <a:noFill/>
        </p:spPr>
        <p:txBody>
          <a:bodyPr wrap="square" lIns="0" rIns="0" tIns="0" bIns="0" anchor="t">
            <a:spAutoFit/>
          </a:bodyPr>
          <a:lstStyle/>
          <a:p>
            <a:r>
              <a:rPr sz="700" b="0" i="0">
                <a:solidFill>
                  <a:srgbClr val="4D4D4D"/>
                </a:solidFill>
                <a:latin typeface="Trenda IG Text"/>
              </a:rPr>
              <a:t>status of every step</a:t>
            </a:r>
          </a:p>
        </p:txBody>
      </p:sp>
      <p:sp>
        <p:nvSpPr>
          <p:cNvPr id="34" name="Shape 27"/>
          <p:cNvSpPr/>
          <p:nvPr/>
        </p:nvSpPr>
        <p:spPr>
          <a:xfrm>
            <a:off x="2377440" y="1755648"/>
            <a:ext cx="3886200" cy="82296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1A1A1A"/>
                </a:solidFill>
                <a:latin typeface="Trenda IG Text"/>
              </a:rPr>
              <a:t>Runtime</a:t>
            </a:r>
          </a:p>
        </p:txBody>
      </p:sp>
      <p:sp>
        <p:nvSpPr>
          <p:cNvPr id="36" name="Text 29"/>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6B6B6B"/>
                </a:solidFill>
                <a:latin typeface="Trenda IG Text"/>
              </a:rPr>
              <a:t>Runs every story or campaign as a durable workflow.</a:t>
            </a:r>
          </a:p>
        </p:txBody>
      </p:sp>
      <p:sp>
        <p:nvSpPr>
          <p:cNvPr id="37" name="Text 30"/>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Orchestration</a:t>
            </a:r>
          </a:p>
        </p:txBody>
      </p:sp>
      <p:sp>
        <p:nvSpPr>
          <p:cNvPr id="38" name="Text 31"/>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Cloud Workflows</a:t>
            </a:r>
          </a:p>
        </p:txBody>
      </p:sp>
      <p:sp>
        <p:nvSpPr>
          <p:cNvPr id="39" name="Text 32"/>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Dispatcher</a:t>
            </a:r>
          </a:p>
        </p:txBody>
      </p:sp>
      <p:sp>
        <p:nvSpPr>
          <p:cNvPr id="40" name="Text 33"/>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one agent task per step</a:t>
            </a:r>
          </a:p>
        </p:txBody>
      </p:sp>
      <p:sp>
        <p:nvSpPr>
          <p:cNvPr id="41" name="Text 34"/>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State + memory</a:t>
            </a:r>
          </a:p>
        </p:txBody>
      </p:sp>
      <p:sp>
        <p:nvSpPr>
          <p:cNvPr id="42" name="Text 35"/>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Firestore checkpoints</a:t>
            </a:r>
          </a:p>
        </p:txBody>
      </p:sp>
      <p:sp>
        <p:nvSpPr>
          <p:cNvPr id="43" name="Shape 36"/>
          <p:cNvSpPr/>
          <p:nvPr/>
        </p:nvSpPr>
        <p:spPr>
          <a:xfrm>
            <a:off x="2377440" y="2651760"/>
            <a:ext cx="3886200" cy="8686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7"/>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1A1A1A"/>
                </a:solidFill>
                <a:latin typeface="Trenda IG Text"/>
              </a:rPr>
              <a:t>Registry</a:t>
            </a:r>
          </a:p>
        </p:txBody>
      </p:sp>
      <p:sp>
        <p:nvSpPr>
          <p:cNvPr id="45" name="Text 38"/>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may use.</a:t>
            </a:r>
          </a:p>
        </p:txBody>
      </p:sp>
      <p:sp>
        <p:nvSpPr>
          <p:cNvPr id="46" name="Text 39"/>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Tools</a:t>
            </a:r>
          </a:p>
        </p:txBody>
      </p:sp>
      <p:sp>
        <p:nvSpPr>
          <p:cNvPr id="47" name="Text 40"/>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MCP gateway tools</a:t>
            </a:r>
          </a:p>
        </p:txBody>
      </p:sp>
      <p:sp>
        <p:nvSpPr>
          <p:cNvPr id="48" name="Text 41"/>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Skills</a:t>
            </a:r>
          </a:p>
        </p:txBody>
      </p:sp>
      <p:sp>
        <p:nvSpPr>
          <p:cNvPr id="49" name="Text 42"/>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Health, Marketing, QA, campaign</a:t>
            </a:r>
          </a:p>
        </p:txBody>
      </p:sp>
      <p:sp>
        <p:nvSpPr>
          <p:cNvPr id="50" name="Text 43"/>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Templates</a:t>
            </a:r>
          </a:p>
        </p:txBody>
      </p:sp>
      <p:sp>
        <p:nvSpPr>
          <p:cNvPr id="51" name="Text 44"/>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briefs, designs, journeys</a:t>
            </a:r>
          </a:p>
        </p:txBody>
      </p:sp>
      <p:sp>
        <p:nvSpPr>
          <p:cNvPr id="52" name="Shape 45"/>
          <p:cNvSpPr/>
          <p:nvPr/>
        </p:nvSpPr>
        <p:spPr>
          <a:xfrm>
            <a:off x="2377440" y="3593591"/>
            <a:ext cx="3886200" cy="1545336"/>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1A1A1A"/>
                </a:solidFill>
                <a:latin typeface="Trenda IG Text"/>
              </a:rPr>
              <a:t>Context</a:t>
            </a:r>
          </a:p>
        </p:txBody>
      </p:sp>
      <p:sp>
        <p:nvSpPr>
          <p:cNvPr id="54" name="Text 47"/>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know, always cited.</a:t>
            </a:r>
          </a:p>
        </p:txBody>
      </p:sp>
      <p:sp>
        <p:nvSpPr>
          <p:cNvPr id="55" name="Text 48"/>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Knowledge graph</a:t>
            </a:r>
          </a:p>
        </p:txBody>
      </p:sp>
      <p:sp>
        <p:nvSpPr>
          <p:cNvPr id="56" name="Text 49"/>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Spanner Graph, GQL</a:t>
            </a:r>
          </a:p>
        </p:txBody>
      </p:sp>
      <p:sp>
        <p:nvSpPr>
          <p:cNvPr id="57" name="Text 50"/>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Cited retrieval</a:t>
            </a:r>
          </a:p>
        </p:txBody>
      </p:sp>
      <p:sp>
        <p:nvSpPr>
          <p:cNvPr id="58" name="Text 51"/>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Graph API over MCP</a:t>
            </a:r>
          </a:p>
        </p:txBody>
      </p:sp>
      <p:sp>
        <p:nvSpPr>
          <p:cNvPr id="59" name="Text 52"/>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Data context</a:t>
            </a:r>
          </a:p>
        </p:txBody>
      </p:sp>
      <p:sp>
        <p:nvSpPr>
          <p:cNvPr id="60" name="Text 53"/>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masked BigQuery aggregates</a:t>
            </a:r>
          </a:p>
        </p:txBody>
      </p:sp>
      <p:sp>
        <p:nvSpPr>
          <p:cNvPr id="61" name="Text 54"/>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8A6D00"/>
                </a:solidFill>
                <a:latin typeface="Trenda IG Text"/>
              </a:rPr>
              <a:t>SOURCES</a:t>
            </a:r>
          </a:p>
        </p:txBody>
      </p:sp>
      <p:sp>
        <p:nvSpPr>
          <p:cNvPr id="62" name="Shape 55"/>
          <p:cNvSpPr/>
          <p:nvPr/>
        </p:nvSpPr>
        <p:spPr>
          <a:xfrm>
            <a:off x="2487168" y="4581144"/>
            <a:ext cx="358444"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1A1A1A"/>
                </a:solidFill>
                <a:latin typeface="Trenda IG Text"/>
              </a:rPr>
              <a:t>Jira</a:t>
            </a:r>
          </a:p>
        </p:txBody>
      </p:sp>
      <p:sp>
        <p:nvSpPr>
          <p:cNvPr id="64" name="Shape 57"/>
          <p:cNvSpPr/>
          <p:nvPr/>
        </p:nvSpPr>
        <p:spPr>
          <a:xfrm>
            <a:off x="290047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58"/>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Confluence</a:t>
            </a:r>
          </a:p>
        </p:txBody>
      </p:sp>
      <p:sp>
        <p:nvSpPr>
          <p:cNvPr id="66" name="Shape 59"/>
          <p:cNvSpPr/>
          <p:nvPr/>
        </p:nvSpPr>
        <p:spPr>
          <a:xfrm>
            <a:off x="363199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0"/>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Salesforce</a:t>
            </a:r>
          </a:p>
        </p:txBody>
      </p:sp>
      <p:sp>
        <p:nvSpPr>
          <p:cNvPr id="68" name="Shape 61"/>
          <p:cNvSpPr/>
          <p:nvPr/>
        </p:nvSpPr>
        <p:spPr>
          <a:xfrm>
            <a:off x="4363516" y="4581144"/>
            <a:ext cx="30540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2"/>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1A1A1A"/>
                </a:solidFill>
                <a:latin typeface="Trenda IG Text"/>
              </a:rPr>
              <a:t>Git</a:t>
            </a:r>
          </a:p>
        </p:txBody>
      </p:sp>
      <p:sp>
        <p:nvSpPr>
          <p:cNvPr id="70" name="Shape 63"/>
          <p:cNvSpPr/>
          <p:nvPr/>
        </p:nvSpPr>
        <p:spPr>
          <a:xfrm>
            <a:off x="4723790" y="4581144"/>
            <a:ext cx="464515"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1A1A1A"/>
                </a:solidFill>
                <a:latin typeface="Trenda IG Text"/>
              </a:rPr>
              <a:t>Copado</a:t>
            </a:r>
          </a:p>
        </p:txBody>
      </p:sp>
      <p:sp>
        <p:nvSpPr>
          <p:cNvPr id="72" name="Shape 65"/>
          <p:cNvSpPr/>
          <p:nvPr/>
        </p:nvSpPr>
        <p:spPr>
          <a:xfrm>
            <a:off x="5243169" y="4581144"/>
            <a:ext cx="78272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1A1A1A"/>
                </a:solidFill>
                <a:latin typeface="Trenda IG Text"/>
              </a:rPr>
              <a:t>Google Drive</a:t>
            </a:r>
          </a:p>
        </p:txBody>
      </p:sp>
      <p:sp>
        <p:nvSpPr>
          <p:cNvPr id="74" name="Shape 67"/>
          <p:cNvSpPr/>
          <p:nvPr/>
        </p:nvSpPr>
        <p:spPr>
          <a:xfrm>
            <a:off x="2487168" y="4818888"/>
            <a:ext cx="1366113" cy="182880"/>
          </a:xfrm>
          <a:prstGeom prst="roundRect">
            <a:avLst>
              <a:gd name="adj" fmla="val 4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1A1A1A"/>
                </a:solidFill>
                <a:latin typeface="Trenda IG Text"/>
              </a:rPr>
              <a:t>GCP · BigQuery (masked)</a:t>
            </a:r>
          </a:p>
        </p:txBody>
      </p:sp>
      <p:sp>
        <p:nvSpPr>
          <p:cNvPr id="76" name="Shape 69"/>
          <p:cNvSpPr/>
          <p:nvPr/>
        </p:nvSpPr>
        <p:spPr>
          <a:xfrm>
            <a:off x="6400800" y="1755648"/>
            <a:ext cx="2240280" cy="3383280"/>
          </a:xfrm>
          <a:prstGeom prst="roundRect">
            <a:avLst>
              <a:gd name="adj" fmla="val 5000"/>
            </a:avLst>
          </a:prstGeom>
          <a:no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1A1A1A"/>
                </a:solidFill>
                <a:latin typeface="Trenda IG Text"/>
              </a:rPr>
              <a:t>Harness Govern</a:t>
            </a:r>
          </a:p>
        </p:txBody>
      </p:sp>
      <p:sp>
        <p:nvSpPr>
          <p:cNvPr id="78" name="Text 71"/>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6B6B6B"/>
                </a:solidFill>
                <a:latin typeface="Trenda IG Text"/>
              </a:rPr>
              <a:t>Safe, controlled and measurable.</a:t>
            </a:r>
          </a:p>
        </p:txBody>
      </p:sp>
      <p:sp>
        <p:nvSpPr>
          <p:cNvPr id="79" name="Text 72"/>
          <p:cNvSpPr txBox="1"/>
          <p:nvPr/>
        </p:nvSpPr>
        <p:spPr>
          <a:xfrm>
            <a:off x="6528816" y="2340864"/>
            <a:ext cx="2057400" cy="310896"/>
          </a:xfrm>
          <a:prstGeom prst="rect">
            <a:avLst/>
          </a:prstGeom>
          <a:noFill/>
        </p:spPr>
        <p:txBody>
          <a:bodyPr wrap="square" lIns="0" rIns="0" tIns="0" bIns="0" anchor="ctr">
            <a:spAutoFit/>
          </a:bodyPr>
          <a:lstStyle/>
          <a:p>
            <a:r>
              <a:rPr sz="740" b="1" i="0">
                <a:solidFill>
                  <a:srgbClr val="8A6D00"/>
                </a:solidFill>
                <a:latin typeface="Trenda IG Text"/>
              </a:rPr>
              <a:t>Change Guardian</a:t>
            </a:r>
          </a:p>
        </p:txBody>
      </p:sp>
      <p:sp>
        <p:nvSpPr>
          <p:cNvPr id="80" name="Text 73"/>
          <p:cNvSpPr txBox="1"/>
          <p:nvPr/>
        </p:nvSpPr>
        <p:spPr>
          <a:xfrm>
            <a:off x="6528816" y="2688336"/>
            <a:ext cx="2057400" cy="310896"/>
          </a:xfrm>
          <a:prstGeom prst="rect">
            <a:avLst/>
          </a:prstGeom>
          <a:noFill/>
        </p:spPr>
        <p:txBody>
          <a:bodyPr wrap="square" lIns="0" rIns="0" tIns="0" bIns="0" anchor="ctr">
            <a:spAutoFit/>
          </a:bodyPr>
          <a:lstStyle/>
          <a:p>
            <a:r>
              <a:rPr sz="740" b="1" i="0">
                <a:solidFill>
                  <a:srgbClr val="1A1A1A"/>
                </a:solidFill>
                <a:latin typeface="Trenda IG Text"/>
              </a:rPr>
              <a:t>Guardrails in + out · Model Armor</a:t>
            </a:r>
          </a:p>
        </p:txBody>
      </p:sp>
      <p:sp>
        <p:nvSpPr>
          <p:cNvPr id="81" name="Text 74"/>
          <p:cNvSpPr txBox="1"/>
          <p:nvPr/>
        </p:nvSpPr>
        <p:spPr>
          <a:xfrm>
            <a:off x="6528816" y="3035808"/>
            <a:ext cx="2057400" cy="310896"/>
          </a:xfrm>
          <a:prstGeom prst="rect">
            <a:avLst/>
          </a:prstGeom>
          <a:noFill/>
        </p:spPr>
        <p:txBody>
          <a:bodyPr wrap="square" lIns="0" rIns="0" tIns="0" bIns="0" anchor="ctr">
            <a:spAutoFit/>
          </a:bodyPr>
          <a:lstStyle/>
          <a:p>
            <a:r>
              <a:rPr sz="740" b="1" i="0">
                <a:solidFill>
                  <a:srgbClr val="1A1A1A"/>
                </a:solidFill>
                <a:latin typeface="Trenda IG Text"/>
              </a:rPr>
              <a:t>Identity + access</a:t>
            </a:r>
          </a:p>
        </p:txBody>
      </p:sp>
      <p:sp>
        <p:nvSpPr>
          <p:cNvPr id="82" name="Text 75"/>
          <p:cNvSpPr txBox="1"/>
          <p:nvPr/>
        </p:nvSpPr>
        <p:spPr>
          <a:xfrm>
            <a:off x="6528816" y="3383279"/>
            <a:ext cx="2057400" cy="310896"/>
          </a:xfrm>
          <a:prstGeom prst="rect">
            <a:avLst/>
          </a:prstGeom>
          <a:noFill/>
        </p:spPr>
        <p:txBody>
          <a:bodyPr wrap="square" lIns="0" rIns="0" tIns="0" bIns="0" anchor="ctr">
            <a:spAutoFit/>
          </a:bodyPr>
          <a:lstStyle/>
          <a:p>
            <a:r>
              <a:rPr sz="740" b="1" i="0">
                <a:solidFill>
                  <a:srgbClr val="1A1A1A"/>
                </a:solidFill>
                <a:latin typeface="Trenda IG Text"/>
              </a:rPr>
              <a:t>Collibra masking + DLP</a:t>
            </a:r>
          </a:p>
        </p:txBody>
      </p:sp>
      <p:sp>
        <p:nvSpPr>
          <p:cNvPr id="83" name="Text 76"/>
          <p:cNvSpPr txBox="1"/>
          <p:nvPr/>
        </p:nvSpPr>
        <p:spPr>
          <a:xfrm>
            <a:off x="6528816" y="3730752"/>
            <a:ext cx="2057400" cy="310896"/>
          </a:xfrm>
          <a:prstGeom prst="rect">
            <a:avLst/>
          </a:prstGeom>
          <a:noFill/>
        </p:spPr>
        <p:txBody>
          <a:bodyPr wrap="square" lIns="0" rIns="0" tIns="0" bIns="0" anchor="ctr">
            <a:spAutoFit/>
          </a:bodyPr>
          <a:lstStyle/>
          <a:p>
            <a:r>
              <a:rPr sz="740" b="1" i="0">
                <a:solidFill>
                  <a:srgbClr val="1A1A1A"/>
                </a:solidFill>
                <a:latin typeface="Trenda IG Text"/>
              </a:rPr>
              <a:t>Compliance Guardian + policy engine</a:t>
            </a:r>
          </a:p>
        </p:txBody>
      </p:sp>
      <p:sp>
        <p:nvSpPr>
          <p:cNvPr id="84" name="Text 77"/>
          <p:cNvSpPr txBox="1"/>
          <p:nvPr/>
        </p:nvSpPr>
        <p:spPr>
          <a:xfrm>
            <a:off x="6528816" y="4078224"/>
            <a:ext cx="2057400" cy="310896"/>
          </a:xfrm>
          <a:prstGeom prst="rect">
            <a:avLst/>
          </a:prstGeom>
          <a:noFill/>
        </p:spPr>
        <p:txBody>
          <a:bodyPr wrap="square" lIns="0" rIns="0" tIns="0" bIns="0" anchor="ctr">
            <a:spAutoFit/>
          </a:bodyPr>
          <a:lstStyle/>
          <a:p>
            <a:r>
              <a:rPr sz="740" b="1" i="0">
                <a:solidFill>
                  <a:srgbClr val="1A1A1A"/>
                </a:solidFill>
                <a:latin typeface="Trenda IG Text"/>
              </a:rPr>
              <a:t>Human gates H1-H4, CAB, G1-G3</a:t>
            </a:r>
          </a:p>
        </p:txBody>
      </p:sp>
      <p:sp>
        <p:nvSpPr>
          <p:cNvPr id="85" name="Text 78"/>
          <p:cNvSpPr txBox="1"/>
          <p:nvPr/>
        </p:nvSpPr>
        <p:spPr>
          <a:xfrm>
            <a:off x="6528816" y="4425696"/>
            <a:ext cx="2057400" cy="310896"/>
          </a:xfrm>
          <a:prstGeom prst="rect">
            <a:avLst/>
          </a:prstGeom>
          <a:noFill/>
        </p:spPr>
        <p:txBody>
          <a:bodyPr wrap="square" lIns="0" rIns="0" tIns="0" bIns="0" anchor="ctr">
            <a:spAutoFit/>
          </a:bodyPr>
          <a:lstStyle/>
          <a:p>
            <a:r>
              <a:rPr sz="740" b="1" i="0">
                <a:solidFill>
                  <a:srgbClr val="1A1A1A"/>
                </a:solidFill>
                <a:latin typeface="Trenda IG Text"/>
              </a:rPr>
              <a:t>Evaluation set</a:t>
            </a:r>
          </a:p>
        </p:txBody>
      </p:sp>
      <p:sp>
        <p:nvSpPr>
          <p:cNvPr id="86" name="Text 79"/>
          <p:cNvSpPr txBox="1"/>
          <p:nvPr/>
        </p:nvSpPr>
        <p:spPr>
          <a:xfrm>
            <a:off x="6528816" y="4773168"/>
            <a:ext cx="2057400" cy="310896"/>
          </a:xfrm>
          <a:prstGeom prst="rect">
            <a:avLst/>
          </a:prstGeom>
          <a:noFill/>
        </p:spPr>
        <p:txBody>
          <a:bodyPr wrap="square" lIns="0" rIns="0" tIns="0" bIns="0" anchor="ctr">
            <a:spAutoFit/>
          </a:bodyPr>
          <a:lstStyle/>
          <a:p>
            <a:r>
              <a:rPr sz="740" b="1" i="0">
                <a:solidFill>
                  <a:srgbClr val="1A1A1A"/>
                </a:solidFill>
                <a:latin typeface="Trenda IG Text"/>
              </a:rPr>
              <a:t>Observability + change passport</a:t>
            </a:r>
          </a:p>
        </p:txBody>
      </p:sp>
      <p:sp>
        <p:nvSpPr>
          <p:cNvPr id="87" name="Text 80"/>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1A1A1A"/>
                </a:solidFill>
                <a:latin typeface="Trenda IG Text"/>
              </a:rPr>
              <a:t>Differentiators</a:t>
            </a:r>
          </a:p>
        </p:txBody>
      </p:sp>
      <p:sp>
        <p:nvSpPr>
          <p:cNvPr id="88" name="Shape 81"/>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88" name="Shape 81"/>
          <p:cNvSpPr/>
          <p:nvPr/>
        </p:nvSpPr>
        <p:spPr>
          <a:xfrm>
            <a:off x="8915400" y="1938528"/>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Shape 82"/>
          <p:cNvSpPr/>
          <p:nvPr/>
        </p:nvSpPr>
        <p:spPr>
          <a:xfrm>
            <a:off x="9025128" y="2066544"/>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3"/>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91" name="Text 84"/>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1A1A1A"/>
                </a:solidFill>
                <a:latin typeface="Trenda IG Text"/>
              </a:rPr>
              <a:t>Grounded in the org and its data</a:t>
            </a:r>
          </a:p>
        </p:txBody>
      </p:sp>
      <p:sp>
        <p:nvSpPr>
          <p:cNvPr id="92" name="Text 85"/>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4D4D4D"/>
                </a:solidFill>
                <a:latin typeface="Trenda IG Text"/>
              </a:rPr>
              <a:t>Agents read a cited graph of the delivery estate, and masked aggregates for campaigns.</a:t>
            </a:r>
          </a:p>
        </p:txBody>
      </p:sp>
      <p:sp>
        <p:nvSpPr>
          <p:cNvPr id="93" name="Text 86"/>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1A1A1A"/>
                </a:solidFill>
                <a:latin typeface="Trenda IG Text"/>
              </a:rPr>
              <a:t>Ask before build.</a:t>
            </a:r>
          </a:p>
        </p:txBody>
      </p:sp>
      <p:sp>
        <p:nvSpPr>
          <p:cNvPr id="94" name="Shape 87"/>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4" name="Shape 87"/>
          <p:cNvSpPr/>
          <p:nvPr/>
        </p:nvSpPr>
        <p:spPr>
          <a:xfrm>
            <a:off x="8915400" y="3054096"/>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9025128" y="3182112"/>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97" name="Text 90"/>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1A1A1A"/>
                </a:solidFill>
                <a:latin typeface="Trenda IG Text"/>
              </a:rPr>
              <a:t>No pod breaks another</a:t>
            </a:r>
          </a:p>
        </p:txBody>
      </p:sp>
      <p:sp>
        <p:nvSpPr>
          <p:cNvPr id="98" name="Text 91"/>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4D4D4D"/>
                </a:solidFill>
                <a:latin typeface="Trenda IG Text"/>
              </a:rPr>
              <a:t>The </a:t>
            </a:r>
            <a:r>
              <a:rPr sz="700" b="1" i="0">
                <a:solidFill>
                  <a:srgbClr val="8A6D00"/>
                </a:solidFill>
                <a:latin typeface="Trenda IG Text"/>
              </a:rPr>
              <a:t>Change Guardian</a:t>
            </a:r>
            <a:r>
              <a:rPr sz="700" b="0" i="0">
                <a:solidFill>
                  <a:srgbClr val="4D4D4D"/>
                </a:solidFill>
                <a:latin typeface="Trenda IG Text"/>
              </a:rPr>
              <a:t> checks every change against who owns and uses it.</a:t>
            </a:r>
          </a:p>
        </p:txBody>
      </p:sp>
      <p:sp>
        <p:nvSpPr>
          <p:cNvPr id="99" name="Text 92"/>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1A1A1A"/>
                </a:solidFill>
                <a:latin typeface="Trenda IG Text"/>
              </a:rPr>
              <a:t>Governed by design.</a:t>
            </a:r>
          </a:p>
        </p:txBody>
      </p:sp>
      <p:sp>
        <p:nvSpPr>
          <p:cNvPr id="100" name="Shape 93"/>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0" name="Shape 93"/>
          <p:cNvSpPr/>
          <p:nvPr/>
        </p:nvSpPr>
        <p:spPr>
          <a:xfrm>
            <a:off x="8915400" y="4169663"/>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4297679"/>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103" name="Text 96"/>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1A1A1A"/>
                </a:solidFill>
                <a:latin typeface="Trenda IG Text"/>
              </a:rPr>
              <a:t>Minimum-data agent access</a:t>
            </a:r>
          </a:p>
        </p:txBody>
      </p:sp>
      <p:sp>
        <p:nvSpPr>
          <p:cNvPr id="104" name="Text 97"/>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4D4D4D"/>
                </a:solidFill>
                <a:latin typeface="Trenda IG Text"/>
              </a:rPr>
              <a:t>Agents get aggregates and masked views, never raw PHI; patient data leaves only through the gateway.</a:t>
            </a:r>
          </a:p>
        </p:txBody>
      </p:sp>
      <p:sp>
        <p:nvSpPr>
          <p:cNvPr id="105" name="Text 98"/>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1A1A1A"/>
                </a:solidFill>
                <a:latin typeface="Trenda IG Text"/>
              </a:rPr>
              <a:t>Private by design.</a:t>
            </a:r>
          </a:p>
        </p:txBody>
      </p:sp>
      <p:sp>
        <p:nvSpPr>
          <p:cNvPr id="106" name="Shape 99"/>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1A1A1A"/>
                </a:solidFill>
                <a:latin typeface="Trenda IG Text"/>
              </a:rPr>
              <a:t>ASCENSION CORE COMPONENTS</a:t>
            </a:r>
          </a:p>
        </p:txBody>
      </p:sp>
      <p:sp>
        <p:nvSpPr>
          <p:cNvPr id="108" name="Text 101"/>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1A1A1A"/>
                </a:solidFill>
                <a:latin typeface="Trenda IG Text"/>
              </a:rPr>
              <a:t>Infrastructure</a:t>
            </a:r>
          </a:p>
          <a:p>
            <a:r>
              <a:rPr sz="700" b="0" i="0">
                <a:solidFill>
                  <a:srgbClr val="4D4D4D"/>
                </a:solidFill>
                <a:latin typeface="Trenda IG Text"/>
              </a:rPr>
              <a:t>Runs in Ascension's cloud</a:t>
            </a:r>
          </a:p>
        </p:txBody>
      </p:sp>
      <p:pic>
        <p:nvPicPr>
          <p:cNvPr id="109" name="Picture 108" descr="salesforce.png"/>
          <p:cNvPicPr>
            <a:picLocks noChangeAspect="1"/>
          </p:cNvPicPr>
          <p:nvPr/>
        </p:nvPicPr>
        <p:blipFill>
          <a:blip r:embed="rId4"/>
          <a:stretch>
            <a:fillRect/>
          </a:stretch>
        </p:blipFill>
        <p:spPr>
          <a:xfrm>
            <a:off x="2743200" y="5522976"/>
            <a:ext cx="201168" cy="201168"/>
          </a:xfrm>
          <a:prstGeom prst="rect">
            <a:avLst/>
          </a:prstGeom>
        </p:spPr>
      </p:pic>
      <p:sp>
        <p:nvSpPr>
          <p:cNvPr id="110" name="Text 102"/>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Salesforce</a:t>
            </a:r>
          </a:p>
        </p:txBody>
      </p:sp>
      <p:sp>
        <p:nvSpPr>
          <p:cNvPr id="111" name="Text 103"/>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4D4D4D"/>
                </a:solidFill>
                <a:latin typeface="Trenda IG Text"/>
              </a:rPr>
              <a:t>Health, Marketing + Data Cloud</a:t>
            </a:r>
          </a:p>
        </p:txBody>
      </p:sp>
      <p:pic>
        <p:nvPicPr>
          <p:cNvPr id="112" name="Picture 111" descr="git.png"/>
          <p:cNvPicPr>
            <a:picLocks noChangeAspect="1"/>
          </p:cNvPicPr>
          <p:nvPr/>
        </p:nvPicPr>
        <p:blipFill>
          <a:blip r:embed="rId8"/>
          <a:stretch>
            <a:fillRect/>
          </a:stretch>
        </p:blipFill>
        <p:spPr>
          <a:xfrm>
            <a:off x="4513478" y="5522976"/>
            <a:ext cx="201168" cy="201168"/>
          </a:xfrm>
          <a:prstGeom prst="rect">
            <a:avLst/>
          </a:prstGeom>
        </p:spPr>
      </p:pic>
      <p:sp>
        <p:nvSpPr>
          <p:cNvPr id="113" name="Text 104"/>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Delivery</a:t>
            </a:r>
          </a:p>
        </p:txBody>
      </p:sp>
      <p:sp>
        <p:nvSpPr>
          <p:cNvPr id="114" name="Text 105"/>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Copado, Git, Jira, Zephyr</a:t>
            </a:r>
          </a:p>
        </p:txBody>
      </p:sp>
      <p:pic>
        <p:nvPicPr>
          <p:cNvPr id="115" name="Picture 114"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16" name="Text 106"/>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Data</a:t>
            </a:r>
          </a:p>
        </p:txBody>
      </p:sp>
      <p:sp>
        <p:nvSpPr>
          <p:cNvPr id="117" name="Text 107"/>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4D4D4D"/>
                </a:solidFill>
                <a:latin typeface="Trenda IG Text"/>
              </a:rPr>
              <a:t>BigQuery, Collibra, DLP, Tableau, Spanner</a:t>
            </a:r>
          </a:p>
        </p:txBody>
      </p:sp>
      <p:pic>
        <p:nvPicPr>
          <p:cNvPr id="118" name="Picture 117"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19" name="Text 108"/>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Models</a:t>
            </a:r>
          </a:p>
        </p:txBody>
      </p:sp>
      <p:sp>
        <p:nvSpPr>
          <p:cNvPr id="120" name="Text 109"/>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Codex Enterprise; model in config; tools via MCP</a:t>
            </a:r>
          </a:p>
        </p:txBody>
      </p:sp>
      <p:pic>
        <p:nvPicPr>
          <p:cNvPr id="121" name="Picture 120"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22" name="Text 110"/>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Cloud</a:t>
            </a:r>
          </a:p>
        </p:txBody>
      </p:sp>
      <p:sp>
        <p:nvSpPr>
          <p:cNvPr id="123" name="Text 111"/>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4D4D4D"/>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Seven agents, four approval gates, one change passport.</a:t>
            </a:r>
          </a:p>
        </p:txBody>
      </p:sp>
      <p:sp>
        <p:nvSpPr>
          <p:cNvPr id="5" name="Shape 4"/>
          <p:cNvSpPr/>
          <p:nvPr/>
        </p:nvSpPr>
        <p:spPr>
          <a:xfrm>
            <a:off x="411480" y="1188720"/>
            <a:ext cx="2788920" cy="713232"/>
          </a:xfrm>
          <a:prstGeom prst="roundRect">
            <a:avLst>
              <a:gd name="adj" fmla="val 10000"/>
            </a:avLst>
          </a:prstGeom>
          <a:solidFill>
            <a:srgbClr val="FFFFFF"/>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1A1A1A"/>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4D4D4D"/>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DBDB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1A1A1A"/>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4D4D4D"/>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3657600" y="1901952"/>
            <a:ext cx="0" cy="73152"/>
          </a:xfrm>
          <a:prstGeom prst="line">
            <a:avLst/>
          </a:prstGeom>
          <a:ln w="1333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H="1">
            <a:off x="891539" y="1975104"/>
            <a:ext cx="2766061" cy="0"/>
          </a:xfrm>
          <a:prstGeom prst="line">
            <a:avLst/>
          </a:prstGeom>
          <a:ln w="1333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a:off x="891539" y="1975104"/>
            <a:ext cx="0" cy="219456"/>
          </a:xfrm>
          <a:prstGeom prst="line">
            <a:avLst/>
          </a:prstGeom>
          <a:ln w="1333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flipV="1">
            <a:off x="6734555" y="2103120"/>
            <a:ext cx="0" cy="91440"/>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8" name="Arrow 82"/>
          <p:cNvCxnSpPr/>
          <p:nvPr/>
        </p:nvCxnSpPr>
        <p:spPr>
          <a:xfrm flipH="1">
            <a:off x="1577339" y="2103120"/>
            <a:ext cx="5157216" cy="0"/>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9" name="Arrow 83"/>
          <p:cNvCxnSpPr/>
          <p:nvPr/>
        </p:nvCxnSpPr>
        <p:spPr>
          <a:xfrm>
            <a:off x="6003036" y="2103120"/>
            <a:ext cx="0" cy="91440"/>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Arrow 84"/>
          <p:cNvCxnSpPr/>
          <p:nvPr/>
        </p:nvCxnSpPr>
        <p:spPr>
          <a:xfrm>
            <a:off x="3790187" y="2103120"/>
            <a:ext cx="0" cy="91440"/>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5"/>
          <p:cNvCxnSpPr/>
          <p:nvPr/>
        </p:nvCxnSpPr>
        <p:spPr>
          <a:xfrm>
            <a:off x="1577339" y="2103120"/>
            <a:ext cx="0" cy="91440"/>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Shape 86"/>
          <p:cNvSpPr/>
          <p:nvPr/>
        </p:nvSpPr>
        <p:spPr>
          <a:xfrm>
            <a:off x="6844283" y="2020824"/>
            <a:ext cx="4905756"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7"/>
          <p:cNvSpPr txBox="1"/>
          <p:nvPr/>
        </p:nvSpPr>
        <p:spPr>
          <a:xfrm>
            <a:off x="6844283" y="2020824"/>
            <a:ext cx="4905756" cy="164592"/>
          </a:xfrm>
          <a:prstGeom prst="rect">
            <a:avLst/>
          </a:prstGeom>
          <a:noFill/>
        </p:spPr>
        <p:txBody>
          <a:bodyPr wrap="square" lIns="0" rIns="0" tIns="0" bIns="0" anchor="ctr">
            <a:spAutoFit/>
          </a:bodyPr>
          <a:lstStyle/>
          <a:p>
            <a:pPr algn="ctr"/>
            <a:r>
              <a:rPr sz="700" b="1" i="0" spc="80">
                <a:solidFill>
                  <a:srgbClr val="1A1A1A"/>
                </a:solidFill>
                <a:latin typeface="Trenda IG Text"/>
              </a:rPr>
              <a:t>FAIL → ITS CAUSE: CODE 4 · DESIGN 3 · REQUIREMENT 2 · MAX 5, THEN OWNER</a:t>
            </a:r>
          </a:p>
        </p:txBody>
      </p:sp>
      <p:sp>
        <p:nvSpPr>
          <p:cNvPr id="94" name="Shape 88"/>
          <p:cNvSpPr/>
          <p:nvPr/>
        </p:nvSpPr>
        <p:spPr>
          <a:xfrm>
            <a:off x="411480" y="3703320"/>
            <a:ext cx="6903720" cy="1572768"/>
          </a:xfrm>
          <a:prstGeom prst="roundRect">
            <a:avLst>
              <a:gd name="adj" fmla="val 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9"/>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1A1A1A"/>
                </a:solidFill>
                <a:latin typeface="Trenda IG Text"/>
              </a:rPr>
              <a:t>ENGINEERING CONTEXT KNOWLEDGE GRAPH</a:t>
            </a:r>
            <a:r>
              <a:rPr sz="700" b="0" i="0">
                <a:solidFill>
                  <a:srgbClr val="4D4D4D"/>
                </a:solidFill>
                <a:latin typeface="Trenda IG Text"/>
              </a:rPr>
              <a:t>   Spanner Graph · every fact cited</a:t>
            </a:r>
          </a:p>
        </p:txBody>
      </p:sp>
      <p:sp>
        <p:nvSpPr>
          <p:cNvPr id="96" name="Shape 90"/>
          <p:cNvSpPr/>
          <p:nvPr/>
        </p:nvSpPr>
        <p:spPr>
          <a:xfrm>
            <a:off x="53949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jira.png"/>
          <p:cNvPicPr>
            <a:picLocks noChangeAspect="1"/>
          </p:cNvPicPr>
          <p:nvPr/>
        </p:nvPicPr>
        <p:blipFill>
          <a:blip r:embed="rId4"/>
          <a:stretch>
            <a:fillRect/>
          </a:stretch>
        </p:blipFill>
        <p:spPr>
          <a:xfrm>
            <a:off x="612648" y="4114800"/>
            <a:ext cx="182880" cy="182880"/>
          </a:xfrm>
          <a:prstGeom prst="rect">
            <a:avLst/>
          </a:prstGeom>
        </p:spPr>
      </p:pic>
      <p:sp>
        <p:nvSpPr>
          <p:cNvPr id="98" name="Text 91"/>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Jira</a:t>
            </a:r>
          </a:p>
        </p:txBody>
      </p:sp>
      <p:sp>
        <p:nvSpPr>
          <p:cNvPr id="99" name="Text 92"/>
          <p:cNvSpPr txBox="1"/>
          <p:nvPr/>
        </p:nvSpPr>
        <p:spPr>
          <a:xfrm>
            <a:off x="612648" y="4343400"/>
            <a:ext cx="777239" cy="256032"/>
          </a:xfrm>
          <a:prstGeom prst="rect">
            <a:avLst/>
          </a:prstGeom>
          <a:noFill/>
        </p:spPr>
        <p:txBody>
          <a:bodyPr wrap="square" lIns="0" rIns="0" tIns="0" bIns="0" anchor="t">
            <a:spAutoFit/>
          </a:bodyPr>
          <a:lstStyle/>
          <a:p>
            <a:r>
              <a:rPr sz="700" b="0" i="0">
                <a:solidFill>
                  <a:srgbClr val="4D4D4D"/>
                </a:solidFill>
                <a:latin typeface="Trenda IG Text"/>
              </a:rPr>
              <a:t>stories, history</a:t>
            </a:r>
          </a:p>
        </p:txBody>
      </p:sp>
      <p:sp>
        <p:nvSpPr>
          <p:cNvPr id="100" name="Shape 93"/>
          <p:cNvSpPr/>
          <p:nvPr/>
        </p:nvSpPr>
        <p:spPr>
          <a:xfrm>
            <a:off x="149961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confluence.png"/>
          <p:cNvPicPr>
            <a:picLocks noChangeAspect="1"/>
          </p:cNvPicPr>
          <p:nvPr/>
        </p:nvPicPr>
        <p:blipFill>
          <a:blip r:embed="rId5"/>
          <a:stretch>
            <a:fillRect/>
          </a:stretch>
        </p:blipFill>
        <p:spPr>
          <a:xfrm>
            <a:off x="1572768" y="4114800"/>
            <a:ext cx="182880" cy="182880"/>
          </a:xfrm>
          <a:prstGeom prst="rect">
            <a:avLst/>
          </a:prstGeom>
        </p:spPr>
      </p:pic>
      <p:sp>
        <p:nvSpPr>
          <p:cNvPr id="102" name="Text 94"/>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Confluence</a:t>
            </a:r>
          </a:p>
        </p:txBody>
      </p:sp>
      <p:sp>
        <p:nvSpPr>
          <p:cNvPr id="103" name="Text 95"/>
          <p:cNvSpPr txBox="1"/>
          <p:nvPr/>
        </p:nvSpPr>
        <p:spPr>
          <a:xfrm>
            <a:off x="1572768" y="4343400"/>
            <a:ext cx="777239" cy="256032"/>
          </a:xfrm>
          <a:prstGeom prst="rect">
            <a:avLst/>
          </a:prstGeom>
          <a:noFill/>
        </p:spPr>
        <p:txBody>
          <a:bodyPr wrap="square" lIns="0" rIns="0" tIns="0" bIns="0" anchor="t">
            <a:spAutoFit/>
          </a:bodyPr>
          <a:lstStyle/>
          <a:p>
            <a:r>
              <a:rPr sz="700" b="0" i="0">
                <a:solidFill>
                  <a:srgbClr val="4D4D4D"/>
                </a:solidFill>
                <a:latin typeface="Trenda IG Text"/>
              </a:rPr>
              <a:t>designs, rules</a:t>
            </a:r>
          </a:p>
        </p:txBody>
      </p:sp>
      <p:sp>
        <p:nvSpPr>
          <p:cNvPr id="104" name="Shape 96"/>
          <p:cNvSpPr/>
          <p:nvPr/>
        </p:nvSpPr>
        <p:spPr>
          <a:xfrm>
            <a:off x="245973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6" name="Text 97"/>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Salesforce</a:t>
            </a:r>
          </a:p>
        </p:txBody>
      </p:sp>
      <p:sp>
        <p:nvSpPr>
          <p:cNvPr id="107" name="Text 98"/>
          <p:cNvSpPr txBox="1"/>
          <p:nvPr/>
        </p:nvSpPr>
        <p:spPr>
          <a:xfrm>
            <a:off x="2532887" y="4343400"/>
            <a:ext cx="777239" cy="256032"/>
          </a:xfrm>
          <a:prstGeom prst="rect">
            <a:avLst/>
          </a:prstGeom>
          <a:noFill/>
        </p:spPr>
        <p:txBody>
          <a:bodyPr wrap="square" lIns="0" rIns="0" tIns="0" bIns="0" anchor="t">
            <a:spAutoFit/>
          </a:bodyPr>
          <a:lstStyle/>
          <a:p>
            <a:r>
              <a:rPr sz="700" b="0" i="0">
                <a:solidFill>
                  <a:srgbClr val="4D4D4D"/>
                </a:solidFill>
                <a:latin typeface="Trenda IG Text"/>
              </a:rPr>
              <a:t>Health Cloud metadata</a:t>
            </a:r>
          </a:p>
        </p:txBody>
      </p:sp>
      <p:sp>
        <p:nvSpPr>
          <p:cNvPr id="108" name="Shape 99"/>
          <p:cNvSpPr/>
          <p:nvPr/>
        </p:nvSpPr>
        <p:spPr>
          <a:xfrm>
            <a:off x="341985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9" name="Picture 108" descr="git.png"/>
          <p:cNvPicPr>
            <a:picLocks noChangeAspect="1"/>
          </p:cNvPicPr>
          <p:nvPr/>
        </p:nvPicPr>
        <p:blipFill>
          <a:blip r:embed="rId7"/>
          <a:stretch>
            <a:fillRect/>
          </a:stretch>
        </p:blipFill>
        <p:spPr>
          <a:xfrm>
            <a:off x="3493007" y="4114800"/>
            <a:ext cx="182880" cy="182880"/>
          </a:xfrm>
          <a:prstGeom prst="rect">
            <a:avLst/>
          </a:prstGeom>
        </p:spPr>
      </p:pic>
      <p:sp>
        <p:nvSpPr>
          <p:cNvPr id="110" name="Text 100"/>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Git</a:t>
            </a:r>
          </a:p>
        </p:txBody>
      </p:sp>
      <p:sp>
        <p:nvSpPr>
          <p:cNvPr id="111" name="Text 101"/>
          <p:cNvSpPr txBox="1"/>
          <p:nvPr/>
        </p:nvSpPr>
        <p:spPr>
          <a:xfrm>
            <a:off x="3493007" y="4343400"/>
            <a:ext cx="777239" cy="256032"/>
          </a:xfrm>
          <a:prstGeom prst="rect">
            <a:avLst/>
          </a:prstGeom>
          <a:noFill/>
        </p:spPr>
        <p:txBody>
          <a:bodyPr wrap="square" lIns="0" rIns="0" tIns="0" bIns="0" anchor="t">
            <a:spAutoFit/>
          </a:bodyPr>
          <a:lstStyle/>
          <a:p>
            <a:r>
              <a:rPr sz="700" b="0" i="0">
                <a:solidFill>
                  <a:srgbClr val="4D4D4D"/>
                </a:solidFill>
                <a:latin typeface="Trenda IG Text"/>
              </a:rPr>
              <a:t>Apex, LWC, tests</a:t>
            </a:r>
          </a:p>
        </p:txBody>
      </p:sp>
      <p:sp>
        <p:nvSpPr>
          <p:cNvPr id="112" name="Shape 102"/>
          <p:cNvSpPr/>
          <p:nvPr/>
        </p:nvSpPr>
        <p:spPr>
          <a:xfrm>
            <a:off x="437997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3"/>
          <p:cNvSpPr/>
          <p:nvPr/>
        </p:nvSpPr>
        <p:spPr>
          <a:xfrm>
            <a:off x="4453127" y="4123944"/>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15" name="Text 105"/>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Copado</a:t>
            </a:r>
          </a:p>
        </p:txBody>
      </p:sp>
      <p:sp>
        <p:nvSpPr>
          <p:cNvPr id="116" name="Text 106"/>
          <p:cNvSpPr txBox="1"/>
          <p:nvPr/>
        </p:nvSpPr>
        <p:spPr>
          <a:xfrm>
            <a:off x="4453127" y="4343400"/>
            <a:ext cx="777239" cy="256032"/>
          </a:xfrm>
          <a:prstGeom prst="rect">
            <a:avLst/>
          </a:prstGeom>
          <a:noFill/>
        </p:spPr>
        <p:txBody>
          <a:bodyPr wrap="square" lIns="0" rIns="0" tIns="0" bIns="0" anchor="t">
            <a:spAutoFit/>
          </a:bodyPr>
          <a:lstStyle/>
          <a:p>
            <a:r>
              <a:rPr sz="700" b="0" i="0">
                <a:solidFill>
                  <a:srgbClr val="4D4D4D"/>
                </a:solidFill>
                <a:latin typeface="Trenda IG Text"/>
              </a:rPr>
              <a:t>releases, test runs</a:t>
            </a:r>
          </a:p>
        </p:txBody>
      </p:sp>
      <p:sp>
        <p:nvSpPr>
          <p:cNvPr id="117" name="Shape 107"/>
          <p:cNvSpPr/>
          <p:nvPr/>
        </p:nvSpPr>
        <p:spPr>
          <a:xfrm>
            <a:off x="534009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9" name="Text 108"/>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Google Drive</a:t>
            </a:r>
          </a:p>
        </p:txBody>
      </p:sp>
      <p:sp>
        <p:nvSpPr>
          <p:cNvPr id="120" name="Text 109"/>
          <p:cNvSpPr txBox="1"/>
          <p:nvPr/>
        </p:nvSpPr>
        <p:spPr>
          <a:xfrm>
            <a:off x="5413247" y="4343400"/>
            <a:ext cx="777239" cy="256032"/>
          </a:xfrm>
          <a:prstGeom prst="rect">
            <a:avLst/>
          </a:prstGeom>
          <a:noFill/>
        </p:spPr>
        <p:txBody>
          <a:bodyPr wrap="square" lIns="0" rIns="0" tIns="0" bIns="0" anchor="t">
            <a:spAutoFit/>
          </a:bodyPr>
          <a:lstStyle/>
          <a:p>
            <a:r>
              <a:rPr sz="700" b="0" i="0">
                <a:solidFill>
                  <a:srgbClr val="4D4D4D"/>
                </a:solidFill>
                <a:latin typeface="Trenda IG Text"/>
              </a:rPr>
              <a:t>specs</a:t>
            </a:r>
          </a:p>
        </p:txBody>
      </p:sp>
      <p:sp>
        <p:nvSpPr>
          <p:cNvPr id="121" name="Shape 110"/>
          <p:cNvSpPr/>
          <p:nvPr/>
        </p:nvSpPr>
        <p:spPr>
          <a:xfrm>
            <a:off x="6300215" y="4050791"/>
            <a:ext cx="886967" cy="566928"/>
          </a:xfrm>
          <a:prstGeom prst="roundRect">
            <a:avLst>
              <a:gd name="adj" fmla="val 10000"/>
            </a:avLst>
          </a:prstGeom>
          <a:solidFill>
            <a:srgbClr val="F7F7F7"/>
          </a:solidFill>
          <a:ln w="6858">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23" name="Text 111"/>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GCP data</a:t>
            </a:r>
          </a:p>
        </p:txBody>
      </p:sp>
      <p:sp>
        <p:nvSpPr>
          <p:cNvPr id="124" name="Text 112"/>
          <p:cNvSpPr txBox="1"/>
          <p:nvPr/>
        </p:nvSpPr>
        <p:spPr>
          <a:xfrm>
            <a:off x="6373367" y="4306824"/>
            <a:ext cx="777239" cy="292608"/>
          </a:xfrm>
          <a:prstGeom prst="rect">
            <a:avLst/>
          </a:prstGeom>
          <a:noFill/>
        </p:spPr>
        <p:txBody>
          <a:bodyPr wrap="square" lIns="0" rIns="0" tIns="0" bIns="0" anchor="t">
            <a:spAutoFit/>
          </a:bodyPr>
          <a:lstStyle/>
          <a:p>
            <a:r>
              <a:rPr sz="700" b="0" i="0">
                <a:solidFill>
                  <a:srgbClr val="1A1A1A"/>
                </a:solidFill>
                <a:latin typeface="Trenda IG Text"/>
              </a:rPr>
              <a:t>not needed for Health Cloud</a:t>
            </a:r>
          </a:p>
        </p:txBody>
      </p:sp>
      <p:sp>
        <p:nvSpPr>
          <p:cNvPr id="125" name="Text 113"/>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1A1A1A"/>
                </a:solidFill>
                <a:latin typeface="Trenda IG Text"/>
              </a:rPr>
              <a:t>AGENTS ASK</a:t>
            </a:r>
          </a:p>
        </p:txBody>
      </p:sp>
      <p:sp>
        <p:nvSpPr>
          <p:cNvPr id="126" name="Shape 114"/>
          <p:cNvSpPr/>
          <p:nvPr/>
        </p:nvSpPr>
        <p:spPr>
          <a:xfrm>
            <a:off x="1316736"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graph.exists</a:t>
            </a:r>
          </a:p>
        </p:txBody>
      </p:sp>
      <p:sp>
        <p:nvSpPr>
          <p:cNvPr id="128" name="Shape 116"/>
          <p:cNvSpPr/>
          <p:nvPr/>
        </p:nvSpPr>
        <p:spPr>
          <a:xfrm>
            <a:off x="2176272" y="4709160"/>
            <a:ext cx="1024127"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1A1A1A"/>
                </a:solidFill>
                <a:latin typeface="Courier New"/>
              </a:rPr>
              <a:t>graph.find_reuse</a:t>
            </a:r>
          </a:p>
        </p:txBody>
      </p:sp>
      <p:sp>
        <p:nvSpPr>
          <p:cNvPr id="130" name="Shape 118"/>
          <p:cNvSpPr/>
          <p:nvPr/>
        </p:nvSpPr>
        <p:spPr>
          <a:xfrm>
            <a:off x="3255263" y="4709160"/>
            <a:ext cx="11338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1A1A1A"/>
                </a:solidFill>
                <a:latin typeface="Courier New"/>
              </a:rPr>
              <a:t>graph.blast_radius</a:t>
            </a:r>
          </a:p>
        </p:txBody>
      </p:sp>
      <p:sp>
        <p:nvSpPr>
          <p:cNvPr id="132" name="Shape 120"/>
          <p:cNvSpPr/>
          <p:nvPr/>
        </p:nvSpPr>
        <p:spPr>
          <a:xfrm>
            <a:off x="4443983"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graph.owners</a:t>
            </a:r>
          </a:p>
        </p:txBody>
      </p:sp>
      <p:sp>
        <p:nvSpPr>
          <p:cNvPr id="134" name="Shape 122"/>
          <p:cNvSpPr/>
          <p:nvPr/>
        </p:nvSpPr>
        <p:spPr>
          <a:xfrm>
            <a:off x="5303519" y="4709160"/>
            <a:ext cx="118871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23"/>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1A1A1A"/>
                </a:solidFill>
                <a:latin typeface="Courier New"/>
              </a:rPr>
              <a:t>graph.context_slice</a:t>
            </a:r>
          </a:p>
        </p:txBody>
      </p:sp>
      <p:sp>
        <p:nvSpPr>
          <p:cNvPr id="136" name="Text 124"/>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4D4D4D"/>
                </a:solidFill>
                <a:latin typeface="Trenda IG Text"/>
              </a:rPr>
              <a:t>A bounded, cited context slice for each step, never a raw org dump. Agents never write queries.</a:t>
            </a:r>
          </a:p>
        </p:txBody>
      </p:sp>
      <p:cxnSp>
        <p:nvCxnSpPr>
          <p:cNvPr id="137" name="Arrow 125"/>
          <p:cNvCxnSpPr/>
          <p:nvPr/>
        </p:nvCxnSpPr>
        <p:spPr>
          <a:xfrm flipV="1">
            <a:off x="708659"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8" name="Arrow 126"/>
          <p:cNvCxnSpPr/>
          <p:nvPr/>
        </p:nvCxnSpPr>
        <p:spPr>
          <a:xfrm flipV="1">
            <a:off x="2921507"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9" name="Shape 127"/>
          <p:cNvSpPr/>
          <p:nvPr/>
        </p:nvSpPr>
        <p:spPr>
          <a:xfrm>
            <a:off x="7452360" y="3703320"/>
            <a:ext cx="4325112" cy="1572768"/>
          </a:xfrm>
          <a:prstGeom prst="roundRect">
            <a:avLst>
              <a:gd name="adj" fmla="val 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 128"/>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1A1A1A"/>
                </a:solidFill>
                <a:latin typeface="Trenda IG Text"/>
              </a:rPr>
              <a:t>WHERE OUTPUT LANDS</a:t>
            </a:r>
            <a:r>
              <a:rPr sz="700" b="0" i="0">
                <a:solidFill>
                  <a:srgbClr val="4D4D4D"/>
                </a:solidFill>
                <a:latin typeface="Trenda IG Text"/>
              </a:rPr>
              <a:t>   through the tool gateway</a:t>
            </a:r>
          </a:p>
        </p:txBody>
      </p:sp>
      <p:pic>
        <p:nvPicPr>
          <p:cNvPr id="141" name="Picture 140" descr="jira.png"/>
          <p:cNvPicPr>
            <a:picLocks noChangeAspect="1"/>
          </p:cNvPicPr>
          <p:nvPr/>
        </p:nvPicPr>
        <p:blipFill>
          <a:blip r:embed="rId4"/>
          <a:stretch>
            <a:fillRect/>
          </a:stretch>
        </p:blipFill>
        <p:spPr>
          <a:xfrm>
            <a:off x="7580376" y="4078224"/>
            <a:ext cx="182880" cy="182880"/>
          </a:xfrm>
          <a:prstGeom prst="rect">
            <a:avLst/>
          </a:prstGeom>
        </p:spPr>
      </p:pic>
      <p:sp>
        <p:nvSpPr>
          <p:cNvPr id="142" name="Text 129"/>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Jira</a:t>
            </a:r>
            <a:r>
              <a:rPr sz="700" b="0" i="0">
                <a:solidFill>
                  <a:srgbClr val="4D4D4D"/>
                </a:solidFill>
                <a:latin typeface="Trenda IG Text"/>
              </a:rPr>
              <a:t>  brief, status to Done</a:t>
            </a:r>
          </a:p>
        </p:txBody>
      </p:sp>
      <p:pic>
        <p:nvPicPr>
          <p:cNvPr id="143" name="Picture 142"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4" name="Text 130"/>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Confluence</a:t>
            </a:r>
            <a:r>
              <a:rPr sz="700" b="0" i="0">
                <a:solidFill>
                  <a:srgbClr val="4D4D4D"/>
                </a:solidFill>
                <a:latin typeface="Trenda IG Text"/>
              </a:rPr>
              <a:t>  design draft, as-built</a:t>
            </a:r>
          </a:p>
        </p:txBody>
      </p:sp>
      <p:pic>
        <p:nvPicPr>
          <p:cNvPr id="145" name="Picture 144" descr="git.png"/>
          <p:cNvPicPr>
            <a:picLocks noChangeAspect="1"/>
          </p:cNvPicPr>
          <p:nvPr/>
        </p:nvPicPr>
        <p:blipFill>
          <a:blip r:embed="rId7"/>
          <a:stretch>
            <a:fillRect/>
          </a:stretch>
        </p:blipFill>
        <p:spPr>
          <a:xfrm>
            <a:off x="7580376" y="4398264"/>
            <a:ext cx="182880" cy="182880"/>
          </a:xfrm>
          <a:prstGeom prst="rect">
            <a:avLst/>
          </a:prstGeom>
        </p:spPr>
      </p:pic>
      <p:sp>
        <p:nvSpPr>
          <p:cNvPr id="146" name="Text 131"/>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Git</a:t>
            </a:r>
            <a:r>
              <a:rPr sz="700" b="0" i="0">
                <a:solidFill>
                  <a:srgbClr val="4D4D4D"/>
                </a:solidFill>
                <a:latin typeface="Trenda IG Text"/>
              </a:rPr>
              <a:t>  branch, pull request</a:t>
            </a:r>
          </a:p>
        </p:txBody>
      </p:sp>
      <p:pic>
        <p:nvPicPr>
          <p:cNvPr id="147" name="Picture 146"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8" name="Text 132"/>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Salesforce DEV</a:t>
            </a:r>
            <a:r>
              <a:rPr sz="700" b="0" i="0">
                <a:solidFill>
                  <a:srgbClr val="4D4D4D"/>
                </a:solidFill>
                <a:latin typeface="Trenda IG Text"/>
              </a:rPr>
              <a:t>  deploy, Apex tests</a:t>
            </a:r>
          </a:p>
        </p:txBody>
      </p:sp>
      <p:sp>
        <p:nvSpPr>
          <p:cNvPr id="149" name="Shape 133"/>
          <p:cNvSpPr/>
          <p:nvPr/>
        </p:nvSpPr>
        <p:spPr>
          <a:xfrm>
            <a:off x="75803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4"/>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51" name="Text 135"/>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Copado</a:t>
            </a:r>
            <a:r>
              <a:rPr sz="700" b="0" i="0">
                <a:solidFill>
                  <a:srgbClr val="4D4D4D"/>
                </a:solidFill>
                <a:latin typeface="Trenda IG Text"/>
              </a:rPr>
              <a:t>  SIT, then UAT</a:t>
            </a:r>
          </a:p>
        </p:txBody>
      </p:sp>
      <p:sp>
        <p:nvSpPr>
          <p:cNvPr id="152" name="Shape 136"/>
          <p:cNvSpPr/>
          <p:nvPr/>
        </p:nvSpPr>
        <p:spPr>
          <a:xfrm>
            <a:off x="96377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37"/>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ZS</a:t>
            </a:r>
          </a:p>
        </p:txBody>
      </p:sp>
      <p:sp>
        <p:nvSpPr>
          <p:cNvPr id="154" name="Text 138"/>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Zephyr Scale</a:t>
            </a:r>
            <a:r>
              <a:rPr sz="700" b="0" i="0">
                <a:solidFill>
                  <a:srgbClr val="4D4D4D"/>
                </a:solidFill>
                <a:latin typeface="Trenda IG Text"/>
              </a:rPr>
              <a:t>  cases, results</a:t>
            </a:r>
          </a:p>
        </p:txBody>
      </p:sp>
      <p:sp>
        <p:nvSpPr>
          <p:cNvPr id="155" name="Text 139"/>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1A1A1A"/>
                </a:solidFill>
                <a:latin typeface="Trenda IG Text"/>
              </a:rPr>
              <a:t>Production: the owning team's pipeline after CAB. No agent path.</a:t>
            </a:r>
          </a:p>
        </p:txBody>
      </p:sp>
      <p:sp>
        <p:nvSpPr>
          <p:cNvPr id="156" name="Shape 140"/>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11480"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Guardian</a:t>
            </a:r>
          </a:p>
        </p:txBody>
      </p:sp>
      <p:sp>
        <p:nvSpPr>
          <p:cNvPr id="159" name="Text 143"/>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reviews every pod's metadata; flags deployment blockers before release</a:t>
            </a:r>
          </a:p>
        </p:txBody>
      </p:sp>
      <p:sp>
        <p:nvSpPr>
          <p:cNvPr id="160" name="Shape 144"/>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4245864"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People approve</a:t>
            </a:r>
          </a:p>
        </p:txBody>
      </p:sp>
      <p:sp>
        <p:nvSpPr>
          <p:cNvPr id="163" name="Text 147"/>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H1, H2, H3, H4 and CAB, as today</a:t>
            </a:r>
          </a:p>
        </p:txBody>
      </p:sp>
      <p:sp>
        <p:nvSpPr>
          <p:cNvPr id="164" name="Shape 148"/>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4" name="Shape 148"/>
          <p:cNvSpPr/>
          <p:nvPr/>
        </p:nvSpPr>
        <p:spPr>
          <a:xfrm>
            <a:off x="8080247"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Shape 149"/>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 150"/>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passport</a:t>
            </a:r>
          </a:p>
        </p:txBody>
      </p:sp>
      <p:sp>
        <p:nvSpPr>
          <p:cNvPr id="167" name="Text 151"/>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NETWORK SERVICES POD · HEALTH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 Health Cloud change: ~2 weeks manual vs ~2 days on the Agentic Factory</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Any Health Cloud task. The same seven delivery agents with Health Cloud skills: day 1 takes the story to UAT, day 2 is UAT and production. People approve at every gate.</a:t>
            </a:r>
          </a:p>
        </p:txBody>
      </p:sp>
      <p:sp>
        <p:nvSpPr>
          <p:cNvPr id="5" name="Shape 4"/>
          <p:cNvSpPr/>
          <p:nvPr/>
        </p:nvSpPr>
        <p:spPr>
          <a:xfrm>
            <a:off x="411480" y="1170432"/>
            <a:ext cx="5623560" cy="3986784"/>
          </a:xfrm>
          <a:prstGeom prst="roundRect">
            <a:avLst>
              <a:gd name="adj" fmla="val 2000"/>
            </a:avLst>
          </a:prstGeom>
          <a:solidFill>
            <a:srgbClr val="F2F2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4D4D4D"/>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1A1A1A"/>
                </a:solidFill>
                <a:latin typeface="Trenda IG Text"/>
              </a:rPr>
              <a:t>~2 weeks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4D4D4D"/>
                </a:solidFill>
                <a:latin typeface="Trenda IG Text"/>
              </a:rPr>
              <a:t>~10 working days, one hand-off at a time. </a:t>
            </a:r>
            <a:r>
              <a:rPr sz="700" b="1" i="0">
                <a:solidFill>
                  <a:srgbClr val="FF0069"/>
                </a:solidFill>
                <a:latin typeface="Trenda IG Text"/>
              </a:rPr>
              <a:t>~4.5 days</a:t>
            </a:r>
            <a:r>
              <a:rPr sz="700" b="0" i="0">
                <a:solidFill>
                  <a:srgbClr val="4D4D4D"/>
                </a:solidFill>
                <a:latin typeface="Trenda IG Text"/>
              </a:rPr>
              <a:t> understanding the story, finding the impact and writing tests by hand</a:t>
            </a:r>
          </a:p>
        </p:txBody>
      </p:sp>
      <p:sp>
        <p:nvSpPr>
          <p:cNvPr id="9" name="Shape 8"/>
          <p:cNvSpPr/>
          <p:nvPr/>
        </p:nvSpPr>
        <p:spPr>
          <a:xfrm>
            <a:off x="502920" y="206654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1A1A1A"/>
                </a:solidFill>
                <a:latin typeface="Trenda IG Text"/>
              </a:rPr>
              <a:t>Story intake</a:t>
            </a:r>
          </a:p>
          <a:p>
            <a:r>
              <a:rPr sz="700" b="0" i="0">
                <a:solidFill>
                  <a:srgbClr val="4D4D4D"/>
                </a:solidFill>
                <a:latin typeface="Trenda IG Text"/>
              </a:rPr>
              <a:t>Jira story; back and forth with the PO</a:t>
            </a:r>
          </a:p>
        </p:txBody>
      </p:sp>
      <p:sp>
        <p:nvSpPr>
          <p:cNvPr id="11" name="Shape 10"/>
          <p:cNvSpPr/>
          <p:nvPr/>
        </p:nvSpPr>
        <p:spPr>
          <a:xfrm>
            <a:off x="2606039" y="214883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3" name="Shape 12"/>
          <p:cNvSpPr/>
          <p:nvPr/>
        </p:nvSpPr>
        <p:spPr>
          <a:xfrm>
            <a:off x="502920" y="238658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1A1A1A"/>
                </a:solidFill>
                <a:latin typeface="Trenda IG Text"/>
              </a:rPr>
              <a:t>Clarify requirements</a:t>
            </a:r>
          </a:p>
          <a:p>
            <a:r>
              <a:rPr sz="700" b="0" i="0">
                <a:solidFill>
                  <a:srgbClr val="4D4D4D"/>
                </a:solidFill>
                <a:latin typeface="Trenda IG Text"/>
              </a:rPr>
              <a:t>Confluence, meetings; criteria agreed</a:t>
            </a:r>
          </a:p>
        </p:txBody>
      </p:sp>
      <p:sp>
        <p:nvSpPr>
          <p:cNvPr id="15" name="Shape 14"/>
          <p:cNvSpPr/>
          <p:nvPr/>
        </p:nvSpPr>
        <p:spPr>
          <a:xfrm>
            <a:off x="2930651" y="246887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30651" y="246887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7" name="Shape 16"/>
          <p:cNvSpPr/>
          <p:nvPr/>
        </p:nvSpPr>
        <p:spPr>
          <a:xfrm>
            <a:off x="502920" y="270662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1A1A1A"/>
                </a:solidFill>
                <a:latin typeface="Trenda IG Text"/>
              </a:rPr>
              <a:t>Impact analysis</a:t>
            </a:r>
          </a:p>
          <a:p>
            <a:r>
              <a:rPr sz="700" b="0" i="0">
                <a:solidFill>
                  <a:srgbClr val="4D4D4D"/>
                </a:solidFill>
                <a:latin typeface="Trenda IG Text"/>
              </a:rPr>
              <a:t>objects, Flows, sharing and who uses them</a:t>
            </a:r>
          </a:p>
        </p:txBody>
      </p:sp>
      <p:sp>
        <p:nvSpPr>
          <p:cNvPr id="19" name="Shape 18"/>
          <p:cNvSpPr/>
          <p:nvPr/>
        </p:nvSpPr>
        <p:spPr>
          <a:xfrm>
            <a:off x="3255263" y="2788920"/>
            <a:ext cx="486917"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255263" y="2788920"/>
            <a:ext cx="486917" cy="109727"/>
          </a:xfrm>
          <a:prstGeom prst="rect">
            <a:avLst/>
          </a:prstGeom>
          <a:noFill/>
        </p:spPr>
        <p:txBody>
          <a:bodyPr wrap="square" lIns="0" rIns="0" tIns="0" bIns="0" anchor="ctr">
            <a:spAutoFit/>
          </a:bodyPr>
          <a:lstStyle/>
          <a:p>
            <a:pPr algn="ctr"/>
            <a:r>
              <a:rPr sz="700" b="1" i="0">
                <a:solidFill>
                  <a:srgbClr val="FFFFFE"/>
                </a:solidFill>
                <a:latin typeface="Trenda IG Text"/>
              </a:rPr>
              <a:t>1.5d</a:t>
            </a:r>
          </a:p>
        </p:txBody>
      </p:sp>
      <p:sp>
        <p:nvSpPr>
          <p:cNvPr id="21" name="Shape 20"/>
          <p:cNvSpPr/>
          <p:nvPr/>
        </p:nvSpPr>
        <p:spPr>
          <a:xfrm>
            <a:off x="502920" y="302666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1A1A1A"/>
                </a:solidFill>
                <a:latin typeface="Trenda IG Text"/>
              </a:rPr>
              <a:t>Solution design</a:t>
            </a:r>
          </a:p>
          <a:p>
            <a:r>
              <a:rPr sz="700" b="0" i="0">
                <a:solidFill>
                  <a:srgbClr val="4D4D4D"/>
                </a:solidFill>
                <a:latin typeface="Trenda IG Text"/>
              </a:rPr>
              <a:t>data model, sharing, automation; review</a:t>
            </a:r>
          </a:p>
        </p:txBody>
      </p:sp>
      <p:sp>
        <p:nvSpPr>
          <p:cNvPr id="23" name="Shape 22"/>
          <p:cNvSpPr/>
          <p:nvPr/>
        </p:nvSpPr>
        <p:spPr>
          <a:xfrm>
            <a:off x="3742181" y="310895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42181" y="310895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25" name="Shape 24"/>
          <p:cNvSpPr/>
          <p:nvPr/>
        </p:nvSpPr>
        <p:spPr>
          <a:xfrm>
            <a:off x="502920" y="334670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1A1A1A"/>
                </a:solidFill>
                <a:latin typeface="Trenda IG Text"/>
              </a:rPr>
              <a:t>Build</a:t>
            </a:r>
          </a:p>
          <a:p>
            <a:r>
              <a:rPr sz="700" b="0" i="0">
                <a:solidFill>
                  <a:srgbClr val="4D4D4D"/>
                </a:solidFill>
                <a:latin typeface="Trenda IG Text"/>
              </a:rPr>
              <a:t>Apex, LWC, Flows, permission sets in DEV</a:t>
            </a:r>
          </a:p>
        </p:txBody>
      </p:sp>
      <p:sp>
        <p:nvSpPr>
          <p:cNvPr id="27" name="Shape 26"/>
          <p:cNvSpPr/>
          <p:nvPr/>
        </p:nvSpPr>
        <p:spPr>
          <a:xfrm>
            <a:off x="4066794" y="3428999"/>
            <a:ext cx="649224"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66794" y="3428999"/>
            <a:ext cx="649224" cy="109727"/>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29" name="Shape 28"/>
          <p:cNvSpPr/>
          <p:nvPr/>
        </p:nvSpPr>
        <p:spPr>
          <a:xfrm>
            <a:off x="502920" y="366674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1A1A1A"/>
                </a:solidFill>
                <a:latin typeface="Trenda IG Text"/>
              </a:rPr>
              <a:t>Code review and fixes</a:t>
            </a:r>
          </a:p>
          <a:p>
            <a:r>
              <a:rPr sz="700" b="0" i="0">
                <a:solidFill>
                  <a:srgbClr val="4D4D4D"/>
                </a:solidFill>
                <a:latin typeface="Trenda IG Text"/>
              </a:rPr>
              <a:t>peer review, Code Analyzer, rework</a:t>
            </a:r>
          </a:p>
        </p:txBody>
      </p:sp>
      <p:sp>
        <p:nvSpPr>
          <p:cNvPr id="31" name="Shape 30"/>
          <p:cNvSpPr/>
          <p:nvPr/>
        </p:nvSpPr>
        <p:spPr>
          <a:xfrm>
            <a:off x="4716018" y="374903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716018" y="374903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33" name="Shape 32"/>
          <p:cNvSpPr/>
          <p:nvPr/>
        </p:nvSpPr>
        <p:spPr>
          <a:xfrm>
            <a:off x="502920" y="398678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1A1A1A"/>
                </a:solidFill>
                <a:latin typeface="Trenda IG Text"/>
              </a:rPr>
              <a:t>Test preparation</a:t>
            </a:r>
          </a:p>
          <a:p>
            <a:r>
              <a:rPr sz="700" b="0" i="0">
                <a:solidFill>
                  <a:srgbClr val="4D4D4D"/>
                </a:solidFill>
                <a:latin typeface="Trenda IG Text"/>
              </a:rPr>
              <a:t>Zephyr cases and test data by hand</a:t>
            </a:r>
          </a:p>
        </p:txBody>
      </p:sp>
      <p:sp>
        <p:nvSpPr>
          <p:cNvPr id="35" name="Shape 34"/>
          <p:cNvSpPr/>
          <p:nvPr/>
        </p:nvSpPr>
        <p:spPr>
          <a:xfrm>
            <a:off x="5040630" y="4069079"/>
            <a:ext cx="324611"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040630" y="4069079"/>
            <a:ext cx="324611"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7" name="Shape 36"/>
          <p:cNvSpPr/>
          <p:nvPr/>
        </p:nvSpPr>
        <p:spPr>
          <a:xfrm>
            <a:off x="502920" y="430682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1A1A1A"/>
                </a:solidFill>
                <a:latin typeface="Trenda IG Text"/>
              </a:rPr>
              <a:t>QA and regression</a:t>
            </a:r>
          </a:p>
          <a:p>
            <a:r>
              <a:rPr sz="700" b="0" i="0">
                <a:solidFill>
                  <a:srgbClr val="4D4D4D"/>
                </a:solidFill>
                <a:latin typeface="Trenda IG Text"/>
              </a:rPr>
              <a:t>run cases, Copado regression, defects</a:t>
            </a:r>
          </a:p>
        </p:txBody>
      </p:sp>
      <p:sp>
        <p:nvSpPr>
          <p:cNvPr id="39" name="Shape 38"/>
          <p:cNvSpPr/>
          <p:nvPr/>
        </p:nvSpPr>
        <p:spPr>
          <a:xfrm>
            <a:off x="5365242" y="438911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365242" y="438911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41" name="Shape 40"/>
          <p:cNvSpPr/>
          <p:nvPr/>
        </p:nvSpPr>
        <p:spPr>
          <a:xfrm>
            <a:off x="502920" y="462686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1A1A1A"/>
                </a:solidFill>
                <a:latin typeface="Trenda IG Text"/>
              </a:rPr>
              <a:t>Promote and UAT sign-off</a:t>
            </a:r>
          </a:p>
          <a:p>
            <a:r>
              <a:rPr sz="700" b="0" i="0">
                <a:solidFill>
                  <a:srgbClr val="4D4D4D"/>
                </a:solidFill>
                <a:latin typeface="Trenda IG Text"/>
              </a:rPr>
              <a:t>Copado to SIT / UAT; business signs</a:t>
            </a:r>
          </a:p>
        </p:txBody>
      </p:sp>
      <p:sp>
        <p:nvSpPr>
          <p:cNvPr id="43" name="Shape 42"/>
          <p:cNvSpPr/>
          <p:nvPr/>
        </p:nvSpPr>
        <p:spPr>
          <a:xfrm>
            <a:off x="5689854" y="4709159"/>
            <a:ext cx="274320"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689854" y="4709159"/>
            <a:ext cx="274320" cy="109727"/>
          </a:xfrm>
          <a:prstGeom prst="rect">
            <a:avLst/>
          </a:prstGeom>
          <a:noFill/>
        </p:spPr>
        <p:txBody>
          <a:bodyPr wrap="square" lIns="0" rIns="0" tIns="0" bIns="0" anchor="ctr">
            <a:spAutoFit/>
          </a:bodyPr>
          <a:lstStyle/>
          <a:p>
            <a:pPr algn="ctr"/>
            <a:r>
              <a:rPr sz="700" b="1" i="0">
                <a:solidFill>
                  <a:srgbClr val="000000"/>
                </a:solidFill>
                <a:latin typeface="Trenda IG Text"/>
              </a:rPr>
              <a:t>0.5d</a:t>
            </a:r>
          </a:p>
        </p:txBody>
      </p:sp>
      <p:sp>
        <p:nvSpPr>
          <p:cNvPr id="45" name="Text 44"/>
          <p:cNvSpPr txBox="1"/>
          <p:nvPr/>
        </p:nvSpPr>
        <p:spPr>
          <a:xfrm>
            <a:off x="2494026"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a:t>
            </a:r>
          </a:p>
        </p:txBody>
      </p:sp>
      <p:sp>
        <p:nvSpPr>
          <p:cNvPr id="46" name="Text 45"/>
          <p:cNvSpPr txBox="1"/>
          <p:nvPr/>
        </p:nvSpPr>
        <p:spPr>
          <a:xfrm>
            <a:off x="3792474"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5</a:t>
            </a:r>
          </a:p>
        </p:txBody>
      </p:sp>
      <p:sp>
        <p:nvSpPr>
          <p:cNvPr id="47" name="Text 46"/>
          <p:cNvSpPr txBox="1"/>
          <p:nvPr/>
        </p:nvSpPr>
        <p:spPr>
          <a:xfrm>
            <a:off x="5415534"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10</a:t>
            </a:r>
          </a:p>
        </p:txBody>
      </p:sp>
      <p:sp>
        <p:nvSpPr>
          <p:cNvPr id="48" name="Differentiator Border 48"/>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9"/>
          <p:cNvSpPr/>
          <p:nvPr/>
        </p:nvSpPr>
        <p:spPr>
          <a:xfrm>
            <a:off x="6181344" y="1188720"/>
            <a:ext cx="5577840" cy="39502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50"/>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WITH THE AGENTIC FACTORY · 7 DELIVERY AGENTS</a:t>
            </a:r>
          </a:p>
        </p:txBody>
      </p:sp>
      <p:sp>
        <p:nvSpPr>
          <p:cNvPr id="51" name="Text 51"/>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89A0"/>
                </a:solidFill>
                <a:latin typeface="Trenda IG Text"/>
              </a:rPr>
              <a:t>~2 days</a:t>
            </a:r>
          </a:p>
        </p:txBody>
      </p:sp>
      <p:sp>
        <p:nvSpPr>
          <p:cNvPr id="52" name="Text 52"/>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4D4D4D"/>
                </a:solidFill>
                <a:latin typeface="Trenda IG Text"/>
              </a:rPr>
              <a:t>~26 working hours: day 1 story to UAT, day 2 UAT and production</a:t>
            </a:r>
          </a:p>
        </p:txBody>
      </p:sp>
      <p:sp>
        <p:nvSpPr>
          <p:cNvPr id="53" name="Shape 53"/>
          <p:cNvSpPr/>
          <p:nvPr/>
        </p:nvSpPr>
        <p:spPr>
          <a:xfrm>
            <a:off x="6254496" y="206654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4"/>
          <p:cNvSpPr txBox="1"/>
          <p:nvPr/>
        </p:nvSpPr>
        <p:spPr>
          <a:xfrm>
            <a:off x="6345936" y="2066543"/>
            <a:ext cx="2157984" cy="365760"/>
          </a:xfrm>
          <a:prstGeom prst="rect">
            <a:avLst/>
          </a:prstGeom>
          <a:noFill/>
        </p:spPr>
        <p:txBody>
          <a:bodyPr wrap="square" lIns="0" rIns="0" tIns="0" bIns="0" anchor="ctr">
            <a:spAutoFit/>
          </a:bodyPr>
          <a:lstStyle/>
          <a:p>
            <a:r>
              <a:rPr sz="700" b="1" i="0">
                <a:solidFill>
                  <a:srgbClr val="1A1A1A"/>
                </a:solidFill>
                <a:latin typeface="Trenda IG Text"/>
              </a:rPr>
              <a:t>Requirements Agent</a:t>
            </a:r>
          </a:p>
          <a:p>
            <a:r>
              <a:rPr sz="700" b="0" i="0">
                <a:solidFill>
                  <a:srgbClr val="4D4D4D"/>
                </a:solidFill>
                <a:latin typeface="Trenda IG Text"/>
              </a:rPr>
              <a:t>Jira + Confluence into a brief</a:t>
            </a:r>
          </a:p>
        </p:txBody>
      </p:sp>
      <p:sp>
        <p:nvSpPr>
          <p:cNvPr id="55" name="Shape 55"/>
          <p:cNvSpPr/>
          <p:nvPr/>
        </p:nvSpPr>
        <p:spPr>
          <a:xfrm>
            <a:off x="8540496" y="2148839"/>
            <a:ext cx="352395"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8540496" y="2148839"/>
            <a:ext cx="352395" cy="201168"/>
          </a:xfrm>
          <a:prstGeom prst="rect">
            <a:avLst/>
          </a:prstGeom>
          <a:noFill/>
        </p:spPr>
        <p:txBody>
          <a:bodyPr wrap="square" lIns="0" rIns="0" tIns="0" bIns="0" anchor="ctr">
            <a:spAutoFit/>
          </a:bodyPr>
          <a:lstStyle/>
          <a:p>
            <a:pPr algn="ctr"/>
            <a:r>
              <a:rPr sz="700" b="1" i="0">
                <a:solidFill>
                  <a:srgbClr val="000000"/>
                </a:solidFill>
                <a:latin typeface="Trenda IG Text"/>
              </a:rPr>
              <a:t>3h</a:t>
            </a:r>
          </a:p>
        </p:txBody>
      </p:sp>
      <p:sp>
        <p:nvSpPr>
          <p:cNvPr id="57" name="Shape 57"/>
          <p:cNvSpPr/>
          <p:nvPr/>
        </p:nvSpPr>
        <p:spPr>
          <a:xfrm>
            <a:off x="6254496" y="247802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6345936" y="2478024"/>
            <a:ext cx="2157984" cy="365760"/>
          </a:xfrm>
          <a:prstGeom prst="rect">
            <a:avLst/>
          </a:prstGeom>
          <a:noFill/>
        </p:spPr>
        <p:txBody>
          <a:bodyPr wrap="square" lIns="0" rIns="0" tIns="0" bIns="0" anchor="ctr">
            <a:spAutoFit/>
          </a:bodyPr>
          <a:lstStyle/>
          <a:p>
            <a:r>
              <a:rPr sz="700" b="1" i="0">
                <a:solidFill>
                  <a:srgbClr val="1A1A1A"/>
                </a:solidFill>
                <a:latin typeface="Trenda IG Text"/>
              </a:rPr>
              <a:t>Architect Agent</a:t>
            </a:r>
          </a:p>
          <a:p>
            <a:r>
              <a:rPr sz="700" b="0" i="0">
                <a:solidFill>
                  <a:srgbClr val="4D4D4D"/>
                </a:solidFill>
                <a:latin typeface="Trenda IG Text"/>
              </a:rPr>
              <a:t>impact and reuse from the graph; Change Guardian</a:t>
            </a:r>
          </a:p>
        </p:txBody>
      </p:sp>
      <p:sp>
        <p:nvSpPr>
          <p:cNvPr id="59" name="Shape 59"/>
          <p:cNvSpPr/>
          <p:nvPr/>
        </p:nvSpPr>
        <p:spPr>
          <a:xfrm>
            <a:off x="8892891" y="2560320"/>
            <a:ext cx="587326"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8892891" y="2560320"/>
            <a:ext cx="587326" cy="201168"/>
          </a:xfrm>
          <a:prstGeom prst="rect">
            <a:avLst/>
          </a:prstGeom>
          <a:noFill/>
        </p:spPr>
        <p:txBody>
          <a:bodyPr wrap="square" lIns="0" rIns="0" tIns="0" bIns="0" anchor="ctr">
            <a:spAutoFit/>
          </a:bodyPr>
          <a:lstStyle/>
          <a:p>
            <a:pPr algn="ctr"/>
            <a:r>
              <a:rPr sz="700" b="1" i="0">
                <a:solidFill>
                  <a:srgbClr val="000000"/>
                </a:solidFill>
                <a:latin typeface="Trenda IG Text"/>
              </a:rPr>
              <a:t>5h</a:t>
            </a:r>
          </a:p>
        </p:txBody>
      </p:sp>
      <p:sp>
        <p:nvSpPr>
          <p:cNvPr id="61" name="Shape 61"/>
          <p:cNvSpPr/>
          <p:nvPr/>
        </p:nvSpPr>
        <p:spPr>
          <a:xfrm>
            <a:off x="6254496" y="288950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6345936" y="2889503"/>
            <a:ext cx="2157984" cy="365760"/>
          </a:xfrm>
          <a:prstGeom prst="rect">
            <a:avLst/>
          </a:prstGeom>
          <a:noFill/>
        </p:spPr>
        <p:txBody>
          <a:bodyPr wrap="square" lIns="0" rIns="0" tIns="0" bIns="0" anchor="ctr">
            <a:spAutoFit/>
          </a:bodyPr>
          <a:lstStyle/>
          <a:p>
            <a:r>
              <a:rPr sz="700" b="1" i="0">
                <a:solidFill>
                  <a:srgbClr val="1A1A1A"/>
                </a:solidFill>
                <a:latin typeface="Trenda IG Text"/>
              </a:rPr>
              <a:t>Developer Agent</a:t>
            </a:r>
          </a:p>
          <a:p>
            <a:r>
              <a:rPr sz="700" b="0" i="0">
                <a:solidFill>
                  <a:srgbClr val="4D4D4D"/>
                </a:solidFill>
                <a:latin typeface="Trenda IG Text"/>
              </a:rPr>
              <a:t>Apex, LWC, Flows, sharing in DEV</a:t>
            </a:r>
          </a:p>
        </p:txBody>
      </p:sp>
      <p:sp>
        <p:nvSpPr>
          <p:cNvPr id="63" name="Shape 63"/>
          <p:cNvSpPr/>
          <p:nvPr/>
        </p:nvSpPr>
        <p:spPr>
          <a:xfrm>
            <a:off x="9480217" y="297179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9480217" y="297179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5" name="Shape 65"/>
          <p:cNvSpPr/>
          <p:nvPr/>
        </p:nvSpPr>
        <p:spPr>
          <a:xfrm>
            <a:off x="6254496" y="330098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6345936" y="3300984"/>
            <a:ext cx="2157984" cy="365760"/>
          </a:xfrm>
          <a:prstGeom prst="rect">
            <a:avLst/>
          </a:prstGeom>
          <a:noFill/>
        </p:spPr>
        <p:txBody>
          <a:bodyPr wrap="square" lIns="0" rIns="0" tIns="0" bIns="0" anchor="ctr">
            <a:spAutoFit/>
          </a:bodyPr>
          <a:lstStyle/>
          <a:p>
            <a:r>
              <a:rPr sz="700" b="1" i="0">
                <a:solidFill>
                  <a:srgbClr val="1A1A1A"/>
                </a:solidFill>
                <a:latin typeface="Trenda IG Text"/>
              </a:rPr>
              <a:t>Review + Test Agents</a:t>
            </a:r>
          </a:p>
          <a:p>
            <a:r>
              <a:rPr sz="700" b="0" i="0">
                <a:solidFill>
                  <a:srgbClr val="4D4D4D"/>
                </a:solidFill>
                <a:latin typeface="Trenda IG Text"/>
              </a:rPr>
              <a:t>code, security, sharing; Apex tests, Zephyr</a:t>
            </a:r>
          </a:p>
        </p:txBody>
      </p:sp>
      <p:sp>
        <p:nvSpPr>
          <p:cNvPr id="67" name="Shape 67"/>
          <p:cNvSpPr/>
          <p:nvPr/>
        </p:nvSpPr>
        <p:spPr>
          <a:xfrm>
            <a:off x="9950078" y="338327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9950078" y="338327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9" name="Shape 69"/>
          <p:cNvSpPr/>
          <p:nvPr/>
        </p:nvSpPr>
        <p:spPr>
          <a:xfrm>
            <a:off x="6254496" y="371246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6345936" y="3712463"/>
            <a:ext cx="2157984" cy="365760"/>
          </a:xfrm>
          <a:prstGeom prst="rect">
            <a:avLst/>
          </a:prstGeom>
          <a:noFill/>
        </p:spPr>
        <p:txBody>
          <a:bodyPr wrap="square" lIns="0" rIns="0" tIns="0" bIns="0" anchor="ctr">
            <a:spAutoFit/>
          </a:bodyPr>
          <a:lstStyle/>
          <a:p>
            <a:r>
              <a:rPr sz="700" b="1" i="0">
                <a:solidFill>
                  <a:srgbClr val="1A1A1A"/>
                </a:solidFill>
                <a:latin typeface="Trenda IG Text"/>
              </a:rPr>
              <a:t>Release Agent</a:t>
            </a:r>
          </a:p>
          <a:p>
            <a:r>
              <a:rPr sz="700" b="0" i="0">
                <a:solidFill>
                  <a:srgbClr val="4D4D4D"/>
                </a:solidFill>
                <a:latin typeface="Trenda IG Text"/>
              </a:rPr>
              <a:t>Copado to SIT, then UAT; CAB pack</a:t>
            </a:r>
          </a:p>
        </p:txBody>
      </p:sp>
      <p:sp>
        <p:nvSpPr>
          <p:cNvPr id="71" name="Shape 71"/>
          <p:cNvSpPr/>
          <p:nvPr/>
        </p:nvSpPr>
        <p:spPr>
          <a:xfrm>
            <a:off x="10419939" y="3794759"/>
            <a:ext cx="27432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10419939" y="3794759"/>
            <a:ext cx="274320" cy="201168"/>
          </a:xfrm>
          <a:prstGeom prst="rect">
            <a:avLst/>
          </a:prstGeom>
          <a:noFill/>
        </p:spPr>
        <p:txBody>
          <a:bodyPr wrap="square" lIns="0" rIns="0" tIns="0" bIns="0" anchor="ctr">
            <a:spAutoFit/>
          </a:bodyPr>
          <a:lstStyle/>
          <a:p>
            <a:pPr algn="ctr"/>
            <a:r>
              <a:rPr sz="700" b="1" i="0">
                <a:solidFill>
                  <a:srgbClr val="000000"/>
                </a:solidFill>
                <a:latin typeface="Trenda IG Text"/>
              </a:rPr>
              <a:t>2h</a:t>
            </a:r>
          </a:p>
        </p:txBody>
      </p:sp>
      <p:sp>
        <p:nvSpPr>
          <p:cNvPr id="73" name="Shape 73"/>
          <p:cNvSpPr/>
          <p:nvPr/>
        </p:nvSpPr>
        <p:spPr>
          <a:xfrm>
            <a:off x="6254496" y="412394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6345936" y="4123944"/>
            <a:ext cx="2157984" cy="365760"/>
          </a:xfrm>
          <a:prstGeom prst="rect">
            <a:avLst/>
          </a:prstGeom>
          <a:noFill/>
        </p:spPr>
        <p:txBody>
          <a:bodyPr wrap="square" lIns="0" rIns="0" tIns="0" bIns="0" anchor="ctr">
            <a:spAutoFit/>
          </a:bodyPr>
          <a:lstStyle/>
          <a:p>
            <a:r>
              <a:rPr sz="700" b="1" i="0">
                <a:solidFill>
                  <a:srgbClr val="1A1A1A"/>
                </a:solidFill>
                <a:latin typeface="Trenda IG Text"/>
              </a:rPr>
              <a:t>UAT + production · H4 · CAB</a:t>
            </a:r>
          </a:p>
          <a:p>
            <a:r>
              <a:rPr sz="700" b="0" i="0">
                <a:solidFill>
                  <a:srgbClr val="4D4D4D"/>
                </a:solidFill>
                <a:latin typeface="Trenda IG Text"/>
              </a:rPr>
              <a:t>business signs UAT; CAB; the owning team deploys</a:t>
            </a:r>
          </a:p>
        </p:txBody>
      </p:sp>
      <p:sp>
        <p:nvSpPr>
          <p:cNvPr id="75" name="Shape 75"/>
          <p:cNvSpPr/>
          <p:nvPr/>
        </p:nvSpPr>
        <p:spPr>
          <a:xfrm>
            <a:off x="10654870" y="4206240"/>
            <a:ext cx="939721"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10654870" y="4206240"/>
            <a:ext cx="939721" cy="201168"/>
          </a:xfrm>
          <a:prstGeom prst="rect">
            <a:avLst/>
          </a:prstGeom>
          <a:noFill/>
        </p:spPr>
        <p:txBody>
          <a:bodyPr wrap="square" lIns="0" rIns="0" tIns="0" bIns="0" anchor="ctr">
            <a:spAutoFit/>
          </a:bodyPr>
          <a:lstStyle/>
          <a:p>
            <a:pPr algn="ctr"/>
            <a:r>
              <a:rPr sz="700" b="1" i="0">
                <a:solidFill>
                  <a:srgbClr val="000000"/>
                </a:solidFill>
                <a:latin typeface="Trenda IG Text"/>
              </a:rPr>
              <a:t>8h</a:t>
            </a:r>
          </a:p>
        </p:txBody>
      </p:sp>
      <p:sp>
        <p:nvSpPr>
          <p:cNvPr id="77" name="Text 77"/>
          <p:cNvSpPr txBox="1"/>
          <p:nvPr/>
        </p:nvSpPr>
        <p:spPr>
          <a:xfrm>
            <a:off x="9323363"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a:t>
            </a:r>
          </a:p>
        </p:txBody>
      </p:sp>
      <p:sp>
        <p:nvSpPr>
          <p:cNvPr id="78" name="Text 78"/>
          <p:cNvSpPr txBox="1"/>
          <p:nvPr/>
        </p:nvSpPr>
        <p:spPr>
          <a:xfrm>
            <a:off x="10850411"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2</a:t>
            </a:r>
          </a:p>
        </p:txBody>
      </p:sp>
      <p:sp>
        <p:nvSpPr>
          <p:cNvPr id="79" name="Shape 79"/>
          <p:cNvSpPr/>
          <p:nvPr/>
        </p:nvSpPr>
        <p:spPr>
          <a:xfrm>
            <a:off x="10707975" y="2011679"/>
            <a:ext cx="9144" cy="247802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0"/>
          <p:cNvSpPr/>
          <p:nvPr/>
        </p:nvSpPr>
        <p:spPr>
          <a:xfrm>
            <a:off x="8938611" y="214883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938611" y="214883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H1</a:t>
            </a:r>
          </a:p>
        </p:txBody>
      </p:sp>
      <p:sp>
        <p:nvSpPr>
          <p:cNvPr id="82" name="Shape 82"/>
          <p:cNvSpPr/>
          <p:nvPr/>
        </p:nvSpPr>
        <p:spPr>
          <a:xfrm>
            <a:off x="9525937" y="2560320"/>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3"/>
          <p:cNvSpPr txBox="1"/>
          <p:nvPr/>
        </p:nvSpPr>
        <p:spPr>
          <a:xfrm>
            <a:off x="9525937" y="2560320"/>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H2</a:t>
            </a:r>
          </a:p>
        </p:txBody>
      </p:sp>
      <p:sp>
        <p:nvSpPr>
          <p:cNvPr id="84" name="Shape 84"/>
          <p:cNvSpPr/>
          <p:nvPr/>
        </p:nvSpPr>
        <p:spPr>
          <a:xfrm>
            <a:off x="10465659" y="338327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10465659" y="338327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H3</a:t>
            </a:r>
          </a:p>
        </p:txBody>
      </p:sp>
      <p:sp>
        <p:nvSpPr>
          <p:cNvPr id="86" name="Text 86"/>
          <p:cNvSpPr txBox="1"/>
          <p:nvPr/>
        </p:nvSpPr>
        <p:spPr>
          <a:xfrm>
            <a:off x="6309359" y="4590288"/>
            <a:ext cx="5321808" cy="384048"/>
          </a:xfrm>
          <a:prstGeom prst="rect">
            <a:avLst/>
          </a:prstGeom>
          <a:noFill/>
        </p:spPr>
        <p:txBody>
          <a:bodyPr wrap="square" lIns="0" rIns="0" tIns="0" bIns="0" anchor="ctr">
            <a:spAutoFit/>
          </a:bodyPr>
          <a:lstStyle/>
          <a:p>
            <a:r>
              <a:rPr sz="700" b="1" i="0">
                <a:solidFill>
                  <a:srgbClr val="8A6D00"/>
                </a:solidFill>
                <a:latin typeface="Trenda IG Text"/>
              </a:rPr>
              <a:t>Day 2 assumes a CAB slot; otherwise the next CAB window. </a:t>
            </a:r>
            <a:r>
              <a:rPr sz="700" b="0" i="0">
                <a:solidFill>
                  <a:srgbClr val="4D4D4D"/>
                </a:solidFill>
                <a:latin typeface="Trenda IG Text"/>
              </a:rPr>
              <a:t>Cyan: agents. Yellow: people approve (H1-H4).</a:t>
            </a:r>
          </a:p>
        </p:txBody>
      </p:sp>
      <p:sp>
        <p:nvSpPr>
          <p:cNvPr id="87" name="Shape 87"/>
          <p:cNvSpPr/>
          <p:nvPr/>
        </p:nvSpPr>
        <p:spPr>
          <a:xfrm>
            <a:off x="41148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8"/>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9"/>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89A0"/>
                </a:solidFill>
                <a:latin typeface="Trenda IG Text"/>
              </a:rPr>
              <a:t>~80%</a:t>
            </a:r>
          </a:p>
        </p:txBody>
      </p:sp>
      <p:sp>
        <p:nvSpPr>
          <p:cNvPr id="90" name="Text 90"/>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faster per task</a:t>
            </a:r>
          </a:p>
          <a:p>
            <a:r>
              <a:rPr sz="700" b="0" i="0">
                <a:solidFill>
                  <a:srgbClr val="4D4D4D"/>
                </a:solidFill>
                <a:latin typeface="Trenda IG Text"/>
              </a:rPr>
              <a:t>~10 working days to ~2 days, now to production</a:t>
            </a:r>
          </a:p>
        </p:txBody>
      </p:sp>
      <p:sp>
        <p:nvSpPr>
          <p:cNvPr id="91" name="Shape 91"/>
          <p:cNvSpPr/>
          <p:nvPr/>
        </p:nvSpPr>
        <p:spPr>
          <a:xfrm>
            <a:off x="328041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2"/>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3"/>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2-4 days</a:t>
            </a:r>
          </a:p>
        </p:txBody>
      </p:sp>
      <p:sp>
        <p:nvSpPr>
          <p:cNvPr id="94" name="Text 94"/>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measured so far</a:t>
            </a:r>
          </a:p>
          <a:p>
            <a:r>
              <a:rPr sz="700" b="0" i="0">
                <a:solidFill>
                  <a:srgbClr val="4D4D4D"/>
                </a:solidFill>
                <a:latin typeface="Trenda IG Text"/>
              </a:rPr>
              <a:t>agent-assisted today; the factory takes it to ~2</a:t>
            </a:r>
          </a:p>
        </p:txBody>
      </p:sp>
      <p:sp>
        <p:nvSpPr>
          <p:cNvPr id="95" name="Shape 95"/>
          <p:cNvSpPr/>
          <p:nvPr/>
        </p:nvSpPr>
        <p:spPr>
          <a:xfrm>
            <a:off x="614934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6"/>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7"/>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1A1A1A"/>
                </a:solidFill>
                <a:latin typeface="Trenda IG Text"/>
              </a:rPr>
              <a:t>7</a:t>
            </a:r>
          </a:p>
        </p:txBody>
      </p:sp>
      <p:sp>
        <p:nvSpPr>
          <p:cNvPr id="98" name="Text 98"/>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delivery agents</a:t>
            </a:r>
          </a:p>
          <a:p>
            <a:r>
              <a:rPr sz="700" b="0" i="0">
                <a:solidFill>
                  <a:srgbClr val="4D4D4D"/>
                </a:solidFill>
                <a:latin typeface="Trenda IG Text"/>
              </a:rPr>
              <a:t>the same for every pod, with Health Cloud skills</a:t>
            </a:r>
          </a:p>
        </p:txBody>
      </p:sp>
      <p:sp>
        <p:nvSpPr>
          <p:cNvPr id="99" name="Shape 99"/>
          <p:cNvSpPr/>
          <p:nvPr/>
        </p:nvSpPr>
        <p:spPr>
          <a:xfrm>
            <a:off x="901827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100"/>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1"/>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8A6D00"/>
                </a:solidFill>
                <a:latin typeface="Trenda IG Text"/>
              </a:rPr>
              <a:t>4 gates</a:t>
            </a:r>
          </a:p>
        </p:txBody>
      </p:sp>
      <p:sp>
        <p:nvSpPr>
          <p:cNvPr id="102" name="Text 102"/>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people still approve</a:t>
            </a:r>
          </a:p>
          <a:p>
            <a:r>
              <a:rPr sz="700" b="0" i="0">
                <a:solidFill>
                  <a:srgbClr val="4D4D4D"/>
                </a:solidFill>
                <a:latin typeface="Trenda IG Text"/>
              </a:rPr>
              <a:t>H1 brief, H2 design, H3 code, H4 UAT; plus CAB</a:t>
            </a:r>
          </a:p>
        </p:txBody>
      </p:sp>
      <p:sp>
        <p:nvSpPr>
          <p:cNvPr id="103" name="Text 103"/>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6B6B6B"/>
                </a:solidFill>
                <a:latin typeface="Trenda IG Text"/>
              </a:rPr>
              <a:t>Today: a typical Health Cloud task on the Network Services pod, Jira story to UAT sign-off. Measured: agent-assisted delivery at Ascension, 1-2 weeks to 2-4 days. ~2 days to production is the factory target, confirmed against the Phase 0 baseline.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MARKETING CLOUD CAMPAIGNS</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HIPAA-Aligned Agentic Healthcare Campaign Platform</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Governed data in Google Cloud, agents on masked data, approved patients released to Marketing Cloud. Proposed target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1A1A1A"/>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1A1A1A"/>
                </a:solidFill>
                <a:latin typeface="Trenda IG Text"/>
              </a:rPr>
              <a:t>REVIEW</a:t>
            </a:r>
          </a:p>
          <a:p>
            <a:r>
              <a:rPr sz="700" b="0" i="0">
                <a:solidFill>
                  <a:srgbClr val="6B6B6B"/>
                </a:solidFill>
                <a:latin typeface="Courier New"/>
              </a:rPr>
              <a:t>Collibra</a:t>
            </a:r>
          </a:p>
        </p:txBody>
      </p:sp>
      <p:sp>
        <p:nvSpPr>
          <p:cNvPr id="10" name="Shape 8"/>
          <p:cNvSpPr/>
          <p:nvPr/>
        </p:nvSpPr>
        <p:spPr>
          <a:xfrm>
            <a:off x="411480" y="2020824"/>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1A1A1A"/>
                </a:solidFill>
                <a:latin typeface="Trenda IG Text"/>
              </a:rPr>
              <a:t>GOVERNANCE</a:t>
            </a:r>
          </a:p>
          <a:p>
            <a:r>
              <a:rPr sz="700" b="0" i="0">
                <a:solidFill>
                  <a:srgbClr val="6B6B6B"/>
                </a:solidFill>
                <a:latin typeface="Courier New"/>
              </a:rPr>
              <a:t>datarepository</a:t>
            </a:r>
          </a:p>
        </p:txBody>
      </p:sp>
      <p:sp>
        <p:nvSpPr>
          <p:cNvPr id="14" name="Shape 11"/>
          <p:cNvSpPr/>
          <p:nvPr/>
        </p:nvSpPr>
        <p:spPr>
          <a:xfrm>
            <a:off x="411480" y="2578608"/>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1A1A1A"/>
                </a:solidFill>
                <a:latin typeface="Trenda IG Text"/>
              </a:rPr>
              <a:t>COMPUTE</a:t>
            </a:r>
          </a:p>
          <a:p>
            <a:r>
              <a:rPr sz="700" b="0" i="0">
                <a:solidFill>
                  <a:srgbClr val="6B6B6B"/>
                </a:solidFill>
                <a:latin typeface="Courier New"/>
              </a:rPr>
              <a:t>datalake</a:t>
            </a:r>
          </a:p>
        </p:txBody>
      </p:sp>
      <p:sp>
        <p:nvSpPr>
          <p:cNvPr id="18" name="Shape 14"/>
          <p:cNvSpPr/>
          <p:nvPr/>
        </p:nvSpPr>
        <p:spPr>
          <a:xfrm>
            <a:off x="411480" y="3136392"/>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1A1A1A"/>
                </a:solidFill>
                <a:latin typeface="Trenda IG Text"/>
              </a:rPr>
              <a:t>TARGET</a:t>
            </a:r>
          </a:p>
          <a:p>
            <a:r>
              <a:rPr sz="700" b="0" i="0">
                <a:solidFill>
                  <a:srgbClr val="6B6B6B"/>
                </a:solidFill>
                <a:latin typeface="Courier New"/>
              </a:rPr>
              <a:t>dataplace</a:t>
            </a:r>
          </a:p>
        </p:txBody>
      </p:sp>
      <p:cxnSp>
        <p:nvCxnSpPr>
          <p:cNvPr id="22" name="Arrow 17"/>
          <p:cNvCxnSpPr/>
          <p:nvPr/>
        </p:nvCxnSpPr>
        <p:spPr>
          <a:xfrm>
            <a:off x="2386584"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F5F5F5"/>
          </a:solidFill>
          <a:ln w="7620">
            <a:solidFill>
              <a:srgbClr val="C9A1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FFFFFF"/>
          </a:solid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1A1A1A"/>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1A1A1A"/>
                </a:solidFill>
                <a:latin typeface="Trenda IG Text"/>
              </a:rPr>
              <a:t>Fail-closed: </a:t>
            </a:r>
            <a:r>
              <a:rPr sz="700" b="0" i="0">
                <a:solidFill>
                  <a:srgbClr val="4D4D4D"/>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8A6D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6B6B6B"/>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6B6B6B"/>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6B6B6B"/>
                </a:solidFill>
                <a:latin typeface="Trenda IG Text"/>
              </a:rPr>
              <a:t>HIPAA implication</a:t>
            </a:r>
          </a:p>
        </p:txBody>
      </p:sp>
      <p:sp>
        <p:nvSpPr>
          <p:cNvPr id="81" name="Shape 76"/>
          <p:cNvSpPr/>
          <p:nvPr/>
        </p:nvSpPr>
        <p:spPr>
          <a:xfrm>
            <a:off x="7187184" y="1682496"/>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1A1A1A"/>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1A1A1A"/>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4D4D4D"/>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1A1A1A"/>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1A1A1A"/>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4D4D4D"/>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1A1A1A"/>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1A1A1A"/>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4D4D4D"/>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1A1A1A"/>
                </a:solidFill>
                <a:latin typeface="Trenda IG Text"/>
              </a:rPr>
              <a:t>A token, a count, a diagnosis combination or a small cohort can remain sensitive. </a:t>
            </a:r>
            <a:r>
              <a:rPr sz="700" b="1" i="0">
                <a:solidFill>
                  <a:srgbClr val="8A6D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1A1A1A"/>
                </a:solidFill>
                <a:latin typeface="Trenda IG Text"/>
              </a:rPr>
              <a:t>WHAT MASKING ALONE DOES NOT GIVE US, AND WHAT WE ADD</a:t>
            </a:r>
            <a:r>
              <a:rPr sz="700" b="0" i="0">
                <a:solidFill>
                  <a:srgbClr val="4D4D4D"/>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1  </a:t>
            </a:r>
            <a:r>
              <a:rPr sz="720" b="1" i="0">
                <a:solidFill>
                  <a:srgbClr val="1A1A1A"/>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2  </a:t>
            </a:r>
            <a:r>
              <a:rPr sz="720" b="1" i="0">
                <a:solidFill>
                  <a:srgbClr val="1A1A1A"/>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3  </a:t>
            </a:r>
            <a:r>
              <a:rPr sz="720" b="1" i="0">
                <a:solidFill>
                  <a:srgbClr val="1A1A1A"/>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4  </a:t>
            </a:r>
            <a:r>
              <a:rPr sz="720" b="1" i="0">
                <a:solidFill>
                  <a:srgbClr val="1A1A1A"/>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1A1A1A"/>
                </a:solidFill>
                <a:latin typeface="Trenda IG Text"/>
              </a:rPr>
              <a:t>HOW WE PROVE IT  </a:t>
            </a:r>
            <a:r>
              <a:rPr sz="700" b="0" i="0">
                <a:solidFill>
                  <a:srgbClr val="1A1A1A"/>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1A1A1A"/>
                </a:solidFill>
                <a:latin typeface="Trenda IG Text"/>
              </a:rPr>
              <a:t>PROPOSED items are design, not production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1A1A1A"/>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F8ECE0"/>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Bronze</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raw extracts with lineage and timestamps. Restricted access.</a:t>
            </a:r>
          </a:p>
        </p:txBody>
      </p:sp>
      <p:cxnSp>
        <p:nvCxnSpPr>
          <p:cNvPr id="21" name="Arrow 18"/>
          <p:cNvCxnSpPr/>
          <p:nvPr/>
        </p:nvCxnSpPr>
        <p:spPr>
          <a:xfrm>
            <a:off x="4831689"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DLP + Collibra</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classifies, the Collibra steward approves, policy tags mask PHI.</a:t>
            </a:r>
          </a:p>
        </p:txBody>
      </p:sp>
      <p:cxnSp>
        <p:nvCxnSpPr>
          <p:cNvPr id="27" name="Arrow 24"/>
          <p:cNvCxnSpPr/>
          <p:nvPr/>
        </p:nvCxnSpPr>
        <p:spPr>
          <a:xfrm>
            <a:off x="7046366"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F0F1F2"/>
          </a:solidFill>
          <a:ln w="1587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1A1A1A"/>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2  AGENTIC HARNESS · PROMPT IN CODEX, PLAN, BUILD + TEST · MASKED DATA ONLY · RUNS IN GOOGLE CLOUD</a:t>
            </a:r>
          </a:p>
        </p:txBody>
      </p:sp>
      <p:sp>
        <p:nvSpPr>
          <p:cNvPr id="53" name="Shape 48"/>
          <p:cNvSpPr/>
          <p:nvPr/>
        </p:nvSpPr>
        <p:spPr>
          <a:xfrm>
            <a:off x="548640" y="2944368"/>
            <a:ext cx="1699259"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1A1A1A"/>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1A1A1A"/>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4D4D4D"/>
                </a:solidFill>
                <a:latin typeface="Trenda IG Text"/>
              </a:rPr>
              <a:t>People only, no agent: marketer + clinical approve the brief: size, channel, content plan.</a:t>
            </a:r>
          </a:p>
        </p:txBody>
      </p:sp>
      <p:sp>
        <p:nvSpPr>
          <p:cNvPr id="72" name="Shape 65"/>
          <p:cNvSpPr/>
          <p:nvPr/>
        </p:nvSpPr>
        <p:spPr>
          <a:xfrm>
            <a:off x="6085331"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1A1A1A"/>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1A1A1A"/>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4D4D4D"/>
                </a:solidFill>
                <a:latin typeface="Trenda IG Text"/>
              </a:rPr>
              <a:t>Test contacts only: consent, STOP, links, hours. </a:t>
            </a:r>
            <a:r>
              <a:rPr sz="700" b="1" i="0">
                <a:solidFill>
                  <a:srgbClr val="1A1A1A"/>
                </a:solidFill>
                <a:latin typeface="Trenda IG Text"/>
              </a:rPr>
              <a:t>Fail → its cause: journey 10, rule 8 or the data.</a:t>
            </a:r>
          </a:p>
        </p:txBody>
      </p:sp>
      <p:sp>
        <p:nvSpPr>
          <p:cNvPr id="82" name="Shape 75"/>
          <p:cNvSpPr/>
          <p:nvPr/>
        </p:nvSpPr>
        <p:spPr>
          <a:xfrm>
            <a:off x="9776459"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4D4D4D"/>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457200" y="3703320"/>
            <a:ext cx="8323326"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7510271" y="3657600"/>
            <a:ext cx="0" cy="4572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Arrow 90"/>
          <p:cNvCxnSpPr/>
          <p:nvPr/>
        </p:nvCxnSpPr>
        <p:spPr>
          <a:xfrm flipV="1">
            <a:off x="3819144" y="3657600"/>
            <a:ext cx="0" cy="4572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Arrow 91"/>
          <p:cNvCxnSpPr/>
          <p:nvPr/>
        </p:nvCxnSpPr>
        <p:spPr>
          <a:xfrm flipV="1">
            <a:off x="457200" y="2194560"/>
            <a:ext cx="0" cy="150876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00" name="Arrow 92"/>
          <p:cNvCxnSpPr/>
          <p:nvPr/>
        </p:nvCxnSpPr>
        <p:spPr>
          <a:xfrm>
            <a:off x="457200" y="2194560"/>
            <a:ext cx="91440" cy="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Text 93"/>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6B6B6B"/>
                </a:solidFill>
                <a:latin typeface="Trenda IG Text"/>
              </a:rPr>
              <a:t>CONTEXT + OVERSIGHT</a:t>
            </a:r>
          </a:p>
          <a:p>
            <a:pPr>
              <a:spcAft>
                <a:spcPts val="100"/>
              </a:spcAft>
            </a:pPr>
            <a:r>
              <a:rPr sz="700" b="0" i="0">
                <a:solidFill>
                  <a:srgbClr val="6B6B6B"/>
                </a:solidFill>
                <a:latin typeface="Trenda IG Text"/>
              </a:rPr>
              <a:t>masked data only</a:t>
            </a:r>
          </a:p>
        </p:txBody>
      </p:sp>
      <p:sp>
        <p:nvSpPr>
          <p:cNvPr id="102" name="Shape 94"/>
          <p:cNvSpPr/>
          <p:nvPr/>
        </p:nvSpPr>
        <p:spPr>
          <a:xfrm>
            <a:off x="2394204"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3" name="Picture 102"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4" name="Text 95"/>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1A1A1A"/>
                </a:solidFill>
                <a:latin typeface="Trenda IG Text"/>
              </a:rPr>
              <a:t>Knowledge graph</a:t>
            </a:r>
          </a:p>
        </p:txBody>
      </p:sp>
      <p:sp>
        <p:nvSpPr>
          <p:cNvPr id="105" name="Text 96"/>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Metadata, rules, lineage; from 6.</a:t>
            </a:r>
          </a:p>
        </p:txBody>
      </p:sp>
      <p:sp>
        <p:nvSpPr>
          <p:cNvPr id="106" name="Shape 97"/>
          <p:cNvSpPr/>
          <p:nvPr/>
        </p:nvSpPr>
        <p:spPr>
          <a:xfrm>
            <a:off x="4239768"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7" name="Picture 106" descr="tableau.png"/>
          <p:cNvPicPr>
            <a:picLocks noChangeAspect="1"/>
          </p:cNvPicPr>
          <p:nvPr/>
        </p:nvPicPr>
        <p:blipFill>
          <a:blip r:embed="rId8"/>
          <a:stretch>
            <a:fillRect/>
          </a:stretch>
        </p:blipFill>
        <p:spPr>
          <a:xfrm>
            <a:off x="4331208" y="3831336"/>
            <a:ext cx="182880" cy="182880"/>
          </a:xfrm>
          <a:prstGeom prst="rect">
            <a:avLst/>
          </a:prstGeom>
        </p:spPr>
      </p:pic>
      <p:sp>
        <p:nvSpPr>
          <p:cNvPr id="108" name="Text 98"/>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1A1A1A"/>
                </a:solidFill>
                <a:latin typeface="Trenda IG Text"/>
              </a:rPr>
              <a:t>Tableau</a:t>
            </a:r>
          </a:p>
        </p:txBody>
      </p:sp>
      <p:sp>
        <p:nvSpPr>
          <p:cNvPr id="109" name="Text 99"/>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Masked dashboards from 6.</a:t>
            </a:r>
          </a:p>
        </p:txBody>
      </p:sp>
      <p:sp>
        <p:nvSpPr>
          <p:cNvPr id="110" name="Shape 100"/>
          <p:cNvSpPr/>
          <p:nvPr/>
        </p:nvSpPr>
        <p:spPr>
          <a:xfrm>
            <a:off x="6085331"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12" name="Text 102"/>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Explains exclusions for 14.</a:t>
            </a:r>
          </a:p>
        </p:txBody>
      </p:sp>
      <p:sp>
        <p:nvSpPr>
          <p:cNvPr id="113" name="Shape 103"/>
          <p:cNvSpPr/>
          <p:nvPr/>
        </p:nvSpPr>
        <p:spPr>
          <a:xfrm>
            <a:off x="7930895"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15" name="Text 105"/>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Reads results from 20.</a:t>
            </a:r>
          </a:p>
        </p:txBody>
      </p:sp>
      <p:sp>
        <p:nvSpPr>
          <p:cNvPr id="116" name="Shape 106"/>
          <p:cNvSpPr/>
          <p:nvPr/>
        </p:nvSpPr>
        <p:spPr>
          <a:xfrm>
            <a:off x="9776459" y="3767328"/>
            <a:ext cx="1699259" cy="429768"/>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7" name="Picture 116" descr="people.png"/>
          <p:cNvPicPr>
            <a:picLocks noChangeAspect="1"/>
          </p:cNvPicPr>
          <p:nvPr/>
        </p:nvPicPr>
        <p:blipFill>
          <a:blip r:embed="rId6"/>
          <a:stretch>
            <a:fillRect/>
          </a:stretch>
        </p:blipFill>
        <p:spPr>
          <a:xfrm>
            <a:off x="9849611" y="3831336"/>
            <a:ext cx="164592" cy="164592"/>
          </a:xfrm>
          <a:prstGeom prst="rect">
            <a:avLst/>
          </a:prstGeom>
        </p:spPr>
      </p:pic>
      <p:sp>
        <p:nvSpPr>
          <p:cNvPr id="118" name="Text 107"/>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1A1A1A"/>
                </a:solidFill>
                <a:latin typeface="Trenda IG Text"/>
              </a:rPr>
              <a:t>People approve</a:t>
            </a:r>
          </a:p>
        </p:txBody>
      </p:sp>
      <p:sp>
        <p:nvSpPr>
          <p:cNvPr id="119" name="Shape 108"/>
          <p:cNvSpPr/>
          <p:nvPr/>
        </p:nvSpPr>
        <p:spPr>
          <a:xfrm>
            <a:off x="11091671" y="384048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09"/>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G1-3</a:t>
            </a:r>
          </a:p>
        </p:txBody>
      </p:sp>
      <p:sp>
        <p:nvSpPr>
          <p:cNvPr id="121" name="Text 110"/>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4D4D4D"/>
                </a:solidFill>
                <a:latin typeface="Trenda IG Text"/>
              </a:rPr>
              <a:t>Approvals go to the gateway (15).</a:t>
            </a:r>
          </a:p>
        </p:txBody>
      </p:sp>
      <p:cxnSp>
        <p:nvCxnSpPr>
          <p:cNvPr id="122" name="Arrow 111"/>
          <p:cNvCxnSpPr/>
          <p:nvPr/>
        </p:nvCxnSpPr>
        <p:spPr>
          <a:xfrm flipV="1">
            <a:off x="3243834" y="3657600"/>
            <a:ext cx="0" cy="109728"/>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flipV="1">
            <a:off x="5089398" y="3657600"/>
            <a:ext cx="0" cy="109728"/>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10441533" y="2359152"/>
            <a:ext cx="0" cy="9144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5" name="Arrow 114"/>
          <p:cNvCxnSpPr/>
          <p:nvPr/>
        </p:nvCxnSpPr>
        <p:spPr>
          <a:xfrm flipH="1">
            <a:off x="3518153" y="2450592"/>
            <a:ext cx="6923380" cy="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6" name="Arrow 115"/>
          <p:cNvCxnSpPr/>
          <p:nvPr/>
        </p:nvCxnSpPr>
        <p:spPr>
          <a:xfrm>
            <a:off x="3518153" y="2450592"/>
            <a:ext cx="0" cy="493776"/>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7" name="Arrow 116"/>
          <p:cNvCxnSpPr/>
          <p:nvPr/>
        </p:nvCxnSpPr>
        <p:spPr>
          <a:xfrm>
            <a:off x="411480" y="4334256"/>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128" name="Shape 117"/>
          <p:cNvSpPr/>
          <p:nvPr/>
        </p:nvSpPr>
        <p:spPr>
          <a:xfrm>
            <a:off x="4572000" y="4251960"/>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8"/>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RECOMMENDATION ≠ RELEASE</a:t>
            </a:r>
          </a:p>
        </p:txBody>
      </p:sp>
      <p:sp>
        <p:nvSpPr>
          <p:cNvPr id="130" name="Shape 119"/>
          <p:cNvSpPr/>
          <p:nvPr/>
        </p:nvSpPr>
        <p:spPr>
          <a:xfrm>
            <a:off x="411480" y="4526280"/>
            <a:ext cx="11201400" cy="1161288"/>
          </a:xfrm>
          <a:prstGeom prst="roundRect">
            <a:avLst>
              <a:gd name="adj" fmla="val 2000"/>
            </a:avLst>
          </a:prstGeom>
          <a:solidFill>
            <a:srgbClr val="FFFFFF"/>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Shape 120"/>
          <p:cNvSpPr/>
          <p:nvPr/>
        </p:nvSpPr>
        <p:spPr>
          <a:xfrm>
            <a:off x="411480" y="452628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9"/>
          <a:stretch>
            <a:fillRect/>
          </a:stretch>
        </p:blipFill>
        <p:spPr>
          <a:xfrm>
            <a:off x="484632" y="4553712"/>
            <a:ext cx="182880" cy="182880"/>
          </a:xfrm>
          <a:prstGeom prst="rect">
            <a:avLst/>
          </a:prstGeom>
        </p:spPr>
      </p:pic>
      <p:sp>
        <p:nvSpPr>
          <p:cNvPr id="133" name="Text 121"/>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3  RELEASE + SEND · ONLY AFTER G2 + G3</a:t>
            </a:r>
          </a:p>
        </p:txBody>
      </p:sp>
      <p:sp>
        <p:nvSpPr>
          <p:cNvPr id="134" name="Shape 122"/>
          <p:cNvSpPr/>
          <p:nvPr/>
        </p:nvSpPr>
        <p:spPr>
          <a:xfrm>
            <a:off x="548640" y="4818888"/>
            <a:ext cx="15544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23"/>
          <p:cNvSpPr/>
          <p:nvPr/>
        </p:nvSpPr>
        <p:spPr>
          <a:xfrm>
            <a:off x="6217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37" name="Text 125"/>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1A1A1A"/>
                </a:solidFill>
                <a:latin typeface="Trenda IG Text"/>
              </a:rPr>
              <a:t>Eligibility service</a:t>
            </a:r>
          </a:p>
        </p:txBody>
      </p:sp>
      <p:sp>
        <p:nvSpPr>
          <p:cNvPr id="138" name="Text 126"/>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Gold B + approved rules: no consent, no phone or email, STOP, deceased, duplicates out, with reasons.</a:t>
            </a:r>
          </a:p>
        </p:txBody>
      </p:sp>
      <p:sp>
        <p:nvSpPr>
          <p:cNvPr id="139" name="Shape 127"/>
          <p:cNvSpPr/>
          <p:nvPr/>
        </p:nvSpPr>
        <p:spPr>
          <a:xfrm>
            <a:off x="2249424" y="4818888"/>
            <a:ext cx="1463040" cy="80467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Shape 128"/>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29"/>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pic>
        <p:nvPicPr>
          <p:cNvPr id="142" name="Picture 141" descr="people.png"/>
          <p:cNvPicPr>
            <a:picLocks noChangeAspect="1"/>
          </p:cNvPicPr>
          <p:nvPr/>
        </p:nvPicPr>
        <p:blipFill>
          <a:blip r:embed="rId6"/>
          <a:stretch>
            <a:fillRect/>
          </a:stretch>
        </p:blipFill>
        <p:spPr>
          <a:xfrm>
            <a:off x="2551176" y="4882896"/>
            <a:ext cx="164592" cy="164592"/>
          </a:xfrm>
          <a:prstGeom prst="rect">
            <a:avLst/>
          </a:prstGeom>
        </p:spPr>
      </p:pic>
      <p:sp>
        <p:nvSpPr>
          <p:cNvPr id="143" name="Text 130"/>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1A1A1A"/>
                </a:solidFill>
                <a:latin typeface="Trenda IG Text"/>
              </a:rPr>
              <a:t>Pre-send</a:t>
            </a:r>
          </a:p>
        </p:txBody>
      </p:sp>
      <p:sp>
        <p:nvSpPr>
          <p:cNvPr id="144" name="Shape 131"/>
          <p:cNvSpPr/>
          <p:nvPr/>
        </p:nvSpPr>
        <p:spPr>
          <a:xfrm>
            <a:off x="3328416" y="489204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2"/>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G2</a:t>
            </a:r>
          </a:p>
        </p:txBody>
      </p:sp>
      <p:sp>
        <p:nvSpPr>
          <p:cNvPr id="146" name="Text 133"/>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4D4D4D"/>
                </a:solidFill>
                <a:latin typeface="Trenda IG Text"/>
              </a:rPr>
              <a:t>SME + tech lead review a masked report: counts, consent, exclusions. No PHI on screen.</a:t>
            </a:r>
          </a:p>
        </p:txBody>
      </p:sp>
      <p:sp>
        <p:nvSpPr>
          <p:cNvPr id="147" name="Differentiator Border 135"/>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Shape 136"/>
          <p:cNvSpPr/>
          <p:nvPr/>
        </p:nvSpPr>
        <p:spPr>
          <a:xfrm>
            <a:off x="3877055" y="4837176"/>
            <a:ext cx="1792224" cy="768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37"/>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8"/>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15</a:t>
            </a:r>
          </a:p>
        </p:txBody>
      </p:sp>
      <p:sp>
        <p:nvSpPr>
          <p:cNvPr id="151" name="Text 139"/>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1A1A1A"/>
                </a:solidFill>
                <a:latin typeface="Trenda IG Text"/>
              </a:rPr>
              <a:t>Policy engine + activation gateway</a:t>
            </a:r>
          </a:p>
        </p:txBody>
      </p:sp>
      <p:sp>
        <p:nvSpPr>
          <p:cNvPr id="152" name="Text 140"/>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4D4D4D"/>
                </a:solidFill>
                <a:latin typeface="Trenda IG Text"/>
              </a:rPr>
              <a:t>Purpose, consent, suppression, minimum fields, human authorization. Compliance Passport; time-limited.</a:t>
            </a:r>
          </a:p>
        </p:txBody>
      </p:sp>
      <p:sp>
        <p:nvSpPr>
          <p:cNvPr id="153" name="Shape 141"/>
          <p:cNvSpPr/>
          <p:nvPr/>
        </p:nvSpPr>
        <p:spPr>
          <a:xfrm>
            <a:off x="5833872" y="4818888"/>
            <a:ext cx="1325880" cy="374904"/>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Shape 142"/>
          <p:cNvSpPr/>
          <p:nvPr/>
        </p:nvSpPr>
        <p:spPr>
          <a:xfrm>
            <a:off x="5907024"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 143"/>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16</a:t>
            </a:r>
          </a:p>
        </p:txBody>
      </p:sp>
      <p:pic>
        <p:nvPicPr>
          <p:cNvPr id="156" name="Picture 155"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7" name="Text 144"/>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A · via Data Cloud</a:t>
            </a:r>
          </a:p>
        </p:txBody>
      </p:sp>
      <p:sp>
        <p:nvSpPr>
          <p:cNvPr id="158" name="Shape 145"/>
          <p:cNvSpPr/>
          <p:nvPr/>
        </p:nvSpPr>
        <p:spPr>
          <a:xfrm>
            <a:off x="5833872" y="5248656"/>
            <a:ext cx="1325880" cy="374904"/>
          </a:xfrm>
          <a:prstGeom prst="roundRect">
            <a:avLst>
              <a:gd name="adj" fmla="val 7000"/>
            </a:avLst>
          </a:prstGeom>
          <a:solidFill>
            <a:srgbClr val="F5F5F5"/>
          </a:solidFill>
          <a:ln w="7620">
            <a:solidFill>
              <a:srgbClr val="00B8D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1A1A1A"/>
                </a:solidFill>
                <a:latin typeface="Trenda IG Text"/>
              </a:rPr>
              <a:t>B · direct pull</a:t>
            </a:r>
          </a:p>
        </p:txBody>
      </p:sp>
      <p:sp>
        <p:nvSpPr>
          <p:cNvPr id="160" name="Shape 147"/>
          <p:cNvSpPr/>
          <p:nvPr/>
        </p:nvSpPr>
        <p:spPr>
          <a:xfrm>
            <a:off x="7306056"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8"/>
          <p:cNvSpPr/>
          <p:nvPr/>
        </p:nvSpPr>
        <p:spPr>
          <a:xfrm>
            <a:off x="7379208"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9"/>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17</a:t>
            </a:r>
          </a:p>
        </p:txBody>
      </p:sp>
      <p:pic>
        <p:nvPicPr>
          <p:cNvPr id="163" name="Picture 162"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4" name="Text 150"/>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Data extension</a:t>
            </a:r>
          </a:p>
        </p:txBody>
      </p:sp>
      <p:sp>
        <p:nvSpPr>
          <p:cNvPr id="165" name="Text 151"/>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records, this run only.</a:t>
            </a:r>
          </a:p>
        </p:txBody>
      </p:sp>
      <p:sp>
        <p:nvSpPr>
          <p:cNvPr id="166" name="Shape 152"/>
          <p:cNvSpPr/>
          <p:nvPr/>
        </p:nvSpPr>
        <p:spPr>
          <a:xfrm>
            <a:off x="8778240"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Shape 153"/>
          <p:cNvSpPr/>
          <p:nvPr/>
        </p:nvSpPr>
        <p:spPr>
          <a:xfrm>
            <a:off x="88513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4"/>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18</a:t>
            </a:r>
          </a:p>
        </p:txBody>
      </p:sp>
      <p:sp>
        <p:nvSpPr>
          <p:cNvPr id="169" name="Text 155"/>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1A1A1A"/>
                </a:solidFill>
                <a:latin typeface="Trenda IG Text"/>
              </a:rPr>
              <a:t>Journey starts</a:t>
            </a:r>
          </a:p>
        </p:txBody>
      </p:sp>
      <p:sp>
        <p:nvSpPr>
          <p:cNvPr id="170" name="Text 156"/>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Built in 10, tested in 11, approved in 12.</a:t>
            </a:r>
          </a:p>
        </p:txBody>
      </p:sp>
      <p:sp>
        <p:nvSpPr>
          <p:cNvPr id="171" name="Shape 157"/>
          <p:cNvSpPr/>
          <p:nvPr/>
        </p:nvSpPr>
        <p:spPr>
          <a:xfrm>
            <a:off x="10250424" y="4818888"/>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Shape 158"/>
          <p:cNvSpPr/>
          <p:nvPr/>
        </p:nvSpPr>
        <p:spPr>
          <a:xfrm>
            <a:off x="10323576"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 159"/>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19</a:t>
            </a:r>
          </a:p>
        </p:txBody>
      </p:sp>
      <p:sp>
        <p:nvSpPr>
          <p:cNvPr id="174" name="Text 160"/>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1A1A1A"/>
                </a:solidFill>
                <a:latin typeface="Trenda IG Text"/>
              </a:rPr>
              <a:t>Send-time check</a:t>
            </a:r>
          </a:p>
        </p:txBody>
      </p:sp>
      <p:sp>
        <p:nvSpPr>
          <p:cNvPr id="175" name="Shape 161"/>
          <p:cNvSpPr/>
          <p:nvPr/>
        </p:nvSpPr>
        <p:spPr>
          <a:xfrm>
            <a:off x="10250424" y="5248656"/>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Shape 162"/>
          <p:cNvSpPr/>
          <p:nvPr/>
        </p:nvSpPr>
        <p:spPr>
          <a:xfrm>
            <a:off x="10323576" y="5312664"/>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3"/>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20</a:t>
            </a:r>
          </a:p>
        </p:txBody>
      </p:sp>
      <p:sp>
        <p:nvSpPr>
          <p:cNvPr id="178" name="Text 164"/>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1A1A1A"/>
                </a:solidFill>
                <a:latin typeface="Trenda IG Text"/>
              </a:rPr>
              <a:t>Measurement</a:t>
            </a:r>
          </a:p>
        </p:txBody>
      </p:sp>
      <p:cxnSp>
        <p:nvCxnSpPr>
          <p:cNvPr id="179" name="Arrow 165"/>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1475719" y="1687068"/>
            <a:ext cx="246889"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1722608" y="1687068"/>
            <a:ext cx="0" cy="2756916"/>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1005840" y="4443984"/>
            <a:ext cx="10716768"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a:off x="1005840" y="4443984"/>
            <a:ext cx="0" cy="374904"/>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10863072" y="5623560"/>
            <a:ext cx="0" cy="10972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3" name="Arrow 179"/>
          <p:cNvCxnSpPr/>
          <p:nvPr/>
        </p:nvCxnSpPr>
        <p:spPr>
          <a:xfrm flipH="1">
            <a:off x="301752" y="5733288"/>
            <a:ext cx="1056132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4" name="Arrow 180"/>
          <p:cNvCxnSpPr/>
          <p:nvPr/>
        </p:nvCxnSpPr>
        <p:spPr>
          <a:xfrm flipV="1">
            <a:off x="301752" y="1920240"/>
            <a:ext cx="0" cy="381304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5" name="Arrow 181"/>
          <p:cNvCxnSpPr/>
          <p:nvPr/>
        </p:nvCxnSpPr>
        <p:spPr>
          <a:xfrm>
            <a:off x="301752" y="1920240"/>
            <a:ext cx="246888" cy="0"/>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6" name="Shape 182"/>
          <p:cNvSpPr/>
          <p:nvPr/>
        </p:nvSpPr>
        <p:spPr>
          <a:xfrm>
            <a:off x="7863840" y="5669279"/>
            <a:ext cx="2194560" cy="128016"/>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 183"/>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1A1A1A"/>
                </a:solidFill>
                <a:latin typeface="Trenda IG Text"/>
              </a:rPr>
              <a:t>ENGAGEMENT BACK → NEXT RUN</a:t>
            </a:r>
          </a:p>
        </p:txBody>
      </p:sp>
      <p:sp>
        <p:nvSpPr>
          <p:cNvPr id="198" name="Text 184"/>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no wrong or no-consent patient</a:t>
            </a:r>
          </a:p>
        </p:txBody>
      </p:sp>
      <p:sp>
        <p:nvSpPr>
          <p:cNvPr id="199" name="Shape 185"/>
          <p:cNvSpPr/>
          <p:nvPr/>
        </p:nvSpPr>
        <p:spPr>
          <a:xfrm>
            <a:off x="1600200"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Build and test before any data lands</a:t>
            </a:r>
          </a:p>
        </p:txBody>
      </p:sp>
      <p:sp>
        <p:nvSpPr>
          <p:cNvPr id="202" name="Shape 188"/>
          <p:cNvSpPr/>
          <p:nvPr/>
        </p:nvSpPr>
        <p:spPr>
          <a:xfrm>
            <a:off x="3041033"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G2: masked pre-send report</a:t>
            </a:r>
          </a:p>
        </p:txBody>
      </p:sp>
      <p:sp>
        <p:nvSpPr>
          <p:cNvPr id="205" name="Shape 191"/>
          <p:cNvSpPr/>
          <p:nvPr/>
        </p:nvSpPr>
        <p:spPr>
          <a:xfrm>
            <a:off x="4481866"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Minimum fields, only after G2 + G3</a:t>
            </a:r>
          </a:p>
        </p:txBody>
      </p:sp>
      <p:sp>
        <p:nvSpPr>
          <p:cNvPr id="208" name="Shape 194"/>
          <p:cNvSpPr/>
          <p:nvPr/>
        </p:nvSpPr>
        <p:spPr>
          <a:xfrm>
            <a:off x="5922699"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Gateway release; agents hold no raw PHI</a:t>
            </a:r>
          </a:p>
        </p:txBody>
      </p:sp>
      <p:sp>
        <p:nvSpPr>
          <p:cNvPr id="211" name="Shape 197"/>
          <p:cNvSpPr/>
          <p:nvPr/>
        </p:nvSpPr>
        <p:spPr>
          <a:xfrm>
            <a:off x="7363532"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Collibra steward approves masking</a:t>
            </a:r>
          </a:p>
        </p:txBody>
      </p:sp>
      <p:sp>
        <p:nvSpPr>
          <p:cNvPr id="214" name="Shape 200"/>
          <p:cNvSpPr/>
          <p:nvPr/>
        </p:nvSpPr>
        <p:spPr>
          <a:xfrm>
            <a:off x="8804365"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Retry cap: 5, then an owner</a:t>
            </a:r>
          </a:p>
        </p:txBody>
      </p:sp>
      <p:sp>
        <p:nvSpPr>
          <p:cNvPr id="217" name="Shape 203"/>
          <p:cNvSpPr/>
          <p:nvPr/>
        </p:nvSpPr>
        <p:spPr>
          <a:xfrm>
            <a:off x="10245198"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Shape 204"/>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Text 205"/>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Send-time re-checks + feedback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0  </a:t>
            </a:r>
            <a:r>
              <a:rPr sz="700" b="1" i="0">
                <a:solidFill>
                  <a:srgbClr val="1A1A1A"/>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before 1</a:t>
            </a:r>
          </a:p>
        </p:txBody>
      </p:sp>
      <p:sp>
        <p:nvSpPr>
          <p:cNvPr id="11" name="Shape 10"/>
          <p:cNvSpPr/>
          <p:nvPr/>
        </p:nvSpPr>
        <p:spPr>
          <a:xfrm>
            <a:off x="50292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1A1A1A"/>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1A1A1A"/>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1A1A1A"/>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1A1A1A"/>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1  </a:t>
            </a:r>
            <a:r>
              <a:rPr sz="700" b="1" i="0">
                <a:solidFill>
                  <a:srgbClr val="1A1A1A"/>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 · 2 · 4 · 5 · 6</a:t>
            </a:r>
          </a:p>
        </p:txBody>
      </p:sp>
      <p:sp>
        <p:nvSpPr>
          <p:cNvPr id="27" name="Shape 26"/>
          <p:cNvSpPr/>
          <p:nvPr/>
        </p:nvSpPr>
        <p:spPr>
          <a:xfrm>
            <a:off x="213708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1A1A1A"/>
                </a:solidFill>
                <a:latin typeface="Trenda IG Text"/>
              </a:rPr>
              <a:t>Approved sources into Bronze</a:t>
            </a:r>
          </a:p>
        </p:txBody>
      </p:sp>
      <p:sp>
        <p:nvSpPr>
          <p:cNvPr id="29" name="Shape 28"/>
          <p:cNvSpPr/>
          <p:nvPr/>
        </p:nvSpPr>
        <p:spPr>
          <a:xfrm>
            <a:off x="2137083"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1A1A1A"/>
                </a:solidFill>
                <a:latin typeface="Trenda IG Text"/>
              </a:rPr>
              <a:t>Silver: identities, encounters, contacts, consent; keeps everyone</a:t>
            </a:r>
          </a:p>
        </p:txBody>
      </p:sp>
      <p:sp>
        <p:nvSpPr>
          <p:cNvPr id="31" name="Shape 30"/>
          <p:cNvSpPr/>
          <p:nvPr/>
        </p:nvSpPr>
        <p:spPr>
          <a:xfrm>
            <a:off x="2137083"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1A1A1A"/>
                </a:solidFill>
                <a:latin typeface="Trenda IG Text"/>
              </a:rPr>
              <a:t>Gold B (restricted) and Gold A (aggregates)</a:t>
            </a:r>
          </a:p>
        </p:txBody>
      </p:sp>
      <p:sp>
        <p:nvSpPr>
          <p:cNvPr id="33" name="Shape 32"/>
          <p:cNvSpPr/>
          <p:nvPr/>
        </p:nvSpPr>
        <p:spPr>
          <a:xfrm>
            <a:off x="2137083"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1A1A1A"/>
                </a:solidFill>
                <a:latin typeface="Trenda IG Text"/>
              </a:rPr>
              <a:t>Synthetic data first</a:t>
            </a:r>
          </a:p>
        </p:txBody>
      </p:sp>
      <p:sp>
        <p:nvSpPr>
          <p:cNvPr id="35" name="Shape 34"/>
          <p:cNvSpPr/>
          <p:nvPr/>
        </p:nvSpPr>
        <p:spPr>
          <a:xfrm>
            <a:off x="211879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2  </a:t>
            </a:r>
            <a:r>
              <a:rPr sz="700" b="1" i="0">
                <a:solidFill>
                  <a:srgbClr val="1A1A1A"/>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3</a:t>
            </a:r>
          </a:p>
        </p:txBody>
      </p:sp>
      <p:sp>
        <p:nvSpPr>
          <p:cNvPr id="43" name="Shape 42"/>
          <p:cNvSpPr/>
          <p:nvPr/>
        </p:nvSpPr>
        <p:spPr>
          <a:xfrm>
            <a:off x="3771246"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548640"/>
          </a:xfrm>
          <a:prstGeom prst="rect">
            <a:avLst/>
          </a:prstGeom>
          <a:noFill/>
        </p:spPr>
        <p:txBody>
          <a:bodyPr wrap="square" lIns="0" rIns="0" tIns="0" bIns="0" anchor="t">
            <a:spAutoFit/>
          </a:bodyPr>
          <a:lstStyle/>
          <a:p>
            <a:r>
              <a:rPr sz="700" b="0" i="0">
                <a:solidFill>
                  <a:srgbClr val="1A1A1A"/>
                </a:solidFill>
                <a:latin typeface="Trenda IG Text"/>
              </a:rPr>
              <a:t>DLP, Collibra steward approval, policy tags, masking, row access</a:t>
            </a:r>
          </a:p>
        </p:txBody>
      </p:sp>
      <p:sp>
        <p:nvSpPr>
          <p:cNvPr id="45" name="Shape 44"/>
          <p:cNvSpPr/>
          <p:nvPr/>
        </p:nvSpPr>
        <p:spPr>
          <a:xfrm>
            <a:off x="3771246"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724912"/>
            <a:ext cx="1304979" cy="548640"/>
          </a:xfrm>
          <a:prstGeom prst="rect">
            <a:avLst/>
          </a:prstGeom>
          <a:noFill/>
        </p:spPr>
        <p:txBody>
          <a:bodyPr wrap="square" lIns="0" rIns="0" tIns="0" bIns="0" anchor="t">
            <a:spAutoFit/>
          </a:bodyPr>
          <a:lstStyle/>
          <a:p>
            <a:r>
              <a:rPr sz="700" b="0" i="0">
                <a:solidFill>
                  <a:srgbClr val="1A1A1A"/>
                </a:solidFill>
                <a:latin typeface="Trenda IG Text"/>
              </a:rPr>
              <a:t>Separate service identities; fail-closed policy removal</a:t>
            </a:r>
          </a:p>
        </p:txBody>
      </p:sp>
      <p:sp>
        <p:nvSpPr>
          <p:cNvPr id="47" name="Shape 46"/>
          <p:cNvSpPr/>
          <p:nvPr/>
        </p:nvSpPr>
        <p:spPr>
          <a:xfrm>
            <a:off x="3771246"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291839"/>
            <a:ext cx="1304979" cy="548640"/>
          </a:xfrm>
          <a:prstGeom prst="rect">
            <a:avLst/>
          </a:prstGeom>
          <a:noFill/>
        </p:spPr>
        <p:txBody>
          <a:bodyPr wrap="square" lIns="0" rIns="0" tIns="0" bIns="0" anchor="t">
            <a:spAutoFit/>
          </a:bodyPr>
          <a:lstStyle/>
          <a:p>
            <a:r>
              <a:rPr sz="700" b="0" i="0">
                <a:solidFill>
                  <a:srgbClr val="1A1A1A"/>
                </a:solidFill>
                <a:latin typeface="Trenda IG Text"/>
              </a:rPr>
              <a:t>Negative-access tests</a:t>
            </a:r>
          </a:p>
        </p:txBody>
      </p:sp>
      <p:sp>
        <p:nvSpPr>
          <p:cNvPr id="49" name="Shape 48"/>
          <p:cNvSpPr/>
          <p:nvPr/>
        </p:nvSpPr>
        <p:spPr>
          <a:xfrm>
            <a:off x="3752958"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3  </a:t>
            </a:r>
            <a:r>
              <a:rPr sz="700" b="1" i="0">
                <a:solidFill>
                  <a:srgbClr val="1A1A1A"/>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6 → 7 · 8 · 9</a:t>
            </a:r>
          </a:p>
        </p:txBody>
      </p:sp>
      <p:sp>
        <p:nvSpPr>
          <p:cNvPr id="57" name="Shape 56"/>
          <p:cNvSpPr/>
          <p:nvPr/>
        </p:nvSpPr>
        <p:spPr>
          <a:xfrm>
            <a:off x="540541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Knowledge graph and Tableau on Gold A only</a:t>
            </a:r>
          </a:p>
        </p:txBody>
      </p:sp>
      <p:sp>
        <p:nvSpPr>
          <p:cNvPr id="59" name="Shape 58"/>
          <p:cNvSpPr/>
          <p:nvPr/>
        </p:nvSpPr>
        <p:spPr>
          <a:xfrm>
            <a:off x="540541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Codex prompt; Orchestrator, Strategist, Analytics</a:t>
            </a:r>
          </a:p>
        </p:txBody>
      </p:sp>
      <p:sp>
        <p:nvSpPr>
          <p:cNvPr id="61" name="Shape 60"/>
          <p:cNvSpPr/>
          <p:nvPr/>
        </p:nvSpPr>
        <p:spPr>
          <a:xfrm>
            <a:off x="540541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Opportunity Brief and G1</a:t>
            </a:r>
          </a:p>
        </p:txBody>
      </p:sp>
      <p:sp>
        <p:nvSpPr>
          <p:cNvPr id="63" name="Shape 62"/>
          <p:cNvSpPr/>
          <p:nvPr/>
        </p:nvSpPr>
        <p:spPr>
          <a:xfrm>
            <a:off x="538712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4  </a:t>
            </a:r>
            <a:r>
              <a:rPr sz="700" b="1" i="0">
                <a:solidFill>
                  <a:srgbClr val="1A1A1A"/>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10 · 11 · 12</a:t>
            </a:r>
          </a:p>
        </p:txBody>
      </p:sp>
      <p:sp>
        <p:nvSpPr>
          <p:cNvPr id="71" name="Shape 70"/>
          <p:cNvSpPr/>
          <p:nvPr/>
        </p:nvSpPr>
        <p:spPr>
          <a:xfrm>
            <a:off x="703957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1A1A1A"/>
                </a:solidFill>
                <a:latin typeface="Trenda IG Text"/>
              </a:rPr>
              <a:t>Campaign Design Agent: journey + data extension, paused</a:t>
            </a:r>
          </a:p>
        </p:txBody>
      </p:sp>
      <p:sp>
        <p:nvSpPr>
          <p:cNvPr id="73" name="Shape 72"/>
          <p:cNvSpPr/>
          <p:nvPr/>
        </p:nvSpPr>
        <p:spPr>
          <a:xfrm>
            <a:off x="7039573"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1A1A1A"/>
                </a:solidFill>
                <a:latin typeface="Trenda IG Text"/>
              </a:rPr>
              <a:t>Testing loop: test contacts, failure modes, 5-retry cap</a:t>
            </a:r>
          </a:p>
        </p:txBody>
      </p:sp>
      <p:sp>
        <p:nvSpPr>
          <p:cNvPr id="75" name="Shape 74"/>
          <p:cNvSpPr/>
          <p:nvPr/>
        </p:nvSpPr>
        <p:spPr>
          <a:xfrm>
            <a:off x="7039573"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1A1A1A"/>
                </a:solidFill>
                <a:latin typeface="Trenda IG Text"/>
              </a:rPr>
              <a:t>G3 approval flow</a:t>
            </a:r>
          </a:p>
        </p:txBody>
      </p:sp>
      <p:sp>
        <p:nvSpPr>
          <p:cNvPr id="77" name="Shape 76"/>
          <p:cNvSpPr/>
          <p:nvPr/>
        </p:nvSpPr>
        <p:spPr>
          <a:xfrm>
            <a:off x="702128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5  </a:t>
            </a:r>
            <a:r>
              <a:rPr sz="700" b="1" i="0">
                <a:solidFill>
                  <a:srgbClr val="1A1A1A"/>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F5F5F5"/>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13 → 19</a:t>
            </a:r>
          </a:p>
        </p:txBody>
      </p:sp>
      <p:sp>
        <p:nvSpPr>
          <p:cNvPr id="85" name="Shape 84"/>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1A1A1A"/>
                </a:solidFill>
                <a:latin typeface="Trenda IG Text"/>
              </a:rPr>
              <a:t>Eligibility service on Gold B</a:t>
            </a:r>
          </a:p>
        </p:txBody>
      </p:sp>
      <p:sp>
        <p:nvSpPr>
          <p:cNvPr id="87" name="Shape 86"/>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1A1A1A"/>
                </a:solidFill>
                <a:latin typeface="Trenda IG Text"/>
              </a:rPr>
              <a:t>G2 masked pre-send report</a:t>
            </a:r>
          </a:p>
        </p:txBody>
      </p:sp>
      <p:sp>
        <p:nvSpPr>
          <p:cNvPr id="89" name="Shape 88"/>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1A1A1A"/>
                </a:solidFill>
                <a:latin typeface="Trenda IG Text"/>
              </a:rPr>
              <a:t>Gateway + Compliance Passport</a:t>
            </a:r>
          </a:p>
        </p:txBody>
      </p:sp>
      <p:sp>
        <p:nvSpPr>
          <p:cNvPr id="91" name="Shape 90"/>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1A1A1A"/>
                </a:solidFill>
                <a:latin typeface="Trenda IG Text"/>
              </a:rPr>
              <a:t>Path A (Data Cloud) first; Path B after parity</a:t>
            </a:r>
          </a:p>
        </p:txBody>
      </p:sp>
      <p:sp>
        <p:nvSpPr>
          <p:cNvPr id="93" name="Shape 92"/>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1A1A1A"/>
                </a:solidFill>
                <a:latin typeface="Trenda IG Text"/>
              </a:rPr>
              <a:t>Pilot: synthetic, then a small real audience</a:t>
            </a:r>
          </a:p>
        </p:txBody>
      </p:sp>
      <p:sp>
        <p:nvSpPr>
          <p:cNvPr id="95" name="Shape 94"/>
          <p:cNvSpPr/>
          <p:nvPr/>
        </p:nvSpPr>
        <p:spPr>
          <a:xfrm>
            <a:off x="8655449"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8A6D00"/>
                </a:solidFill>
                <a:latin typeface="Trenda IG Text"/>
              </a:rPr>
              <a:t>EXIT  </a:t>
            </a:r>
          </a:p>
          <a:p>
            <a:pPr>
              <a:spcAft>
                <a:spcPts val="100"/>
              </a:spcAft>
            </a:pPr>
            <a:r>
              <a:rPr sz="700" b="1" i="0">
                <a:solidFill>
                  <a:srgbClr val="1A1A1A"/>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6  </a:t>
            </a:r>
            <a:r>
              <a:rPr sz="700" b="1" i="0">
                <a:solidFill>
                  <a:srgbClr val="1A1A1A"/>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20 + feedback</a:t>
            </a:r>
          </a:p>
        </p:txBody>
      </p:sp>
      <p:sp>
        <p:nvSpPr>
          <p:cNvPr id="103" name="Shape 102"/>
          <p:cNvSpPr/>
          <p:nvPr/>
        </p:nvSpPr>
        <p:spPr>
          <a:xfrm>
            <a:off x="1030790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Measurement vs holdout; refresh Gold A</a:t>
            </a:r>
          </a:p>
        </p:txBody>
      </p:sp>
      <p:sp>
        <p:nvSpPr>
          <p:cNvPr id="105" name="Shape 104"/>
          <p:cNvSpPr/>
          <p:nvPr/>
        </p:nvSpPr>
        <p:spPr>
          <a:xfrm>
            <a:off x="1030790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Compare with the Phase 0 baseline: first real speed and ROI</a:t>
            </a:r>
          </a:p>
        </p:txBody>
      </p:sp>
      <p:sp>
        <p:nvSpPr>
          <p:cNvPr id="107" name="Shape 106"/>
          <p:cNvSpPr/>
          <p:nvPr/>
        </p:nvSpPr>
        <p:spPr>
          <a:xfrm>
            <a:off x="1030790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More templates, Path B, monitoring, multi-tenancy</a:t>
            </a:r>
          </a:p>
        </p:txBody>
      </p:sp>
      <p:sp>
        <p:nvSpPr>
          <p:cNvPr id="109" name="Shape 108"/>
          <p:cNvSpPr/>
          <p:nvPr/>
        </p:nvSpPr>
        <p:spPr>
          <a:xfrm>
            <a:off x="1028961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1A1A1A"/>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700" b="1" i="0" spc="80">
                <a:solidFill>
                  <a:srgbClr val="1A1A1A"/>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1A1A1A"/>
                </a:solidFill>
                <a:latin typeface="Trenda IG Text"/>
              </a:rPr>
              <a:t>SYNTHETIC GOLD A FIRST</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1A1A1A"/>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1A1A1A"/>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Governance before agents</a:t>
            </a:r>
          </a:p>
          <a:p>
            <a:pPr>
              <a:spcAft>
                <a:spcPts val="100"/>
              </a:spcAft>
            </a:pPr>
            <a:r>
              <a:rPr sz="700" b="0" i="0">
                <a:solidFill>
                  <a:srgbClr val="4D4D4D"/>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Build and test before release</a:t>
            </a:r>
          </a:p>
          <a:p>
            <a:pPr>
              <a:spcAft>
                <a:spcPts val="100"/>
              </a:spcAft>
            </a:pPr>
            <a:r>
              <a:rPr sz="700" b="0" i="0">
                <a:solidFill>
                  <a:srgbClr val="4D4D4D"/>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Data Cloud before direct</a:t>
            </a:r>
          </a:p>
          <a:p>
            <a:pPr>
              <a:spcAft>
                <a:spcPts val="100"/>
              </a:spcAft>
            </a:pPr>
            <a:r>
              <a:rPr sz="700" b="0" i="0">
                <a:solidFill>
                  <a:srgbClr val="4D4D4D"/>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1A1A1A"/>
                </a:solidFill>
                <a:latin typeface="Trenda IG Text"/>
              </a:rPr>
              <a:t>Nothing in Phase 5 touches real patients until Phases 2 and 4 pass their exits. </a:t>
            </a:r>
            <a:r>
              <a:rPr sz="700" b="0" i="0">
                <a:solidFill>
                  <a:srgbClr val="4D4D4D"/>
                </a:solidFill>
                <a:latin typeface="Trenda IG Text"/>
              </a:rPr>
              <a:t>No speed or ROI number is committed before Phase 6 compares the pilot with today's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NUDGE POD · DATA HARNESS + MARKETING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Launching a campaign: ~90 days manual vs ~10-12 days on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Data readiness, ingestion and segmentation are done once by the data harness, not per campaign. Campaign agents build and test; people approve; legal review sets the pace.</a:t>
            </a:r>
          </a:p>
        </p:txBody>
      </p:sp>
      <p:sp>
        <p:nvSpPr>
          <p:cNvPr id="5" name="Shape 4"/>
          <p:cNvSpPr/>
          <p:nvPr/>
        </p:nvSpPr>
        <p:spPr>
          <a:xfrm>
            <a:off x="411480" y="1170432"/>
            <a:ext cx="5623560" cy="3986784"/>
          </a:xfrm>
          <a:prstGeom prst="roundRect">
            <a:avLst>
              <a:gd name="adj" fmla="val 2000"/>
            </a:avLst>
          </a:prstGeom>
          <a:solidFill>
            <a:srgbClr val="F2F2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4D4D4D"/>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1A1A1A"/>
                </a:solidFill>
                <a:latin typeface="Trenda IG Text"/>
              </a:rPr>
              <a:t>~90 days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4D4D4D"/>
                </a:solidFill>
                <a:latin typeface="Trenda IG Text"/>
              </a:rPr>
              <a:t>9 steps in sequence. </a:t>
            </a:r>
            <a:r>
              <a:rPr sz="700" b="1" i="0">
                <a:solidFill>
                  <a:srgbClr val="FF0069"/>
                </a:solidFill>
                <a:latin typeface="Trenda IG Text"/>
              </a:rPr>
              <a:t>~40 days</a:t>
            </a:r>
            <a:r>
              <a:rPr sz="700" b="0" i="0">
                <a:solidFill>
                  <a:srgbClr val="4D4D4D"/>
                </a:solidFill>
                <a:latin typeface="Trenda IG Text"/>
              </a:rPr>
              <a:t> of data and segmentation work, repeated for every campaign</a:t>
            </a:r>
          </a:p>
        </p:txBody>
      </p:sp>
      <p:sp>
        <p:nvSpPr>
          <p:cNvPr id="9" name="Shape 8"/>
          <p:cNvSpPr/>
          <p:nvPr/>
        </p:nvSpPr>
        <p:spPr>
          <a:xfrm>
            <a:off x="502920" y="206654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1A1A1A"/>
                </a:solidFill>
                <a:latin typeface="Trenda IG Text"/>
              </a:rPr>
              <a:t>Discovery &amp; PRD</a:t>
            </a:r>
          </a:p>
          <a:p>
            <a:r>
              <a:rPr sz="700" b="0" i="0">
                <a:solidFill>
                  <a:srgbClr val="4D4D4D"/>
                </a:solidFill>
                <a:latin typeface="Trenda IG Text"/>
              </a:rPr>
              <a:t>scope, audience, KPIs, holdout design</a:t>
            </a:r>
          </a:p>
        </p:txBody>
      </p:sp>
      <p:sp>
        <p:nvSpPr>
          <p:cNvPr id="11" name="Shape 10"/>
          <p:cNvSpPr/>
          <p:nvPr/>
        </p:nvSpPr>
        <p:spPr>
          <a:xfrm>
            <a:off x="2606039" y="214883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3" name="Shape 12"/>
          <p:cNvSpPr/>
          <p:nvPr/>
        </p:nvSpPr>
        <p:spPr>
          <a:xfrm>
            <a:off x="502920" y="238658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1A1A1A"/>
                </a:solidFill>
                <a:latin typeface="Trenda IG Text"/>
              </a:rPr>
              <a:t>ADSI data readiness</a:t>
            </a:r>
          </a:p>
          <a:p>
            <a:r>
              <a:rPr sz="700" b="0" i="0">
                <a:solidFill>
                  <a:srgbClr val="4D4D4D"/>
                </a:solidFill>
                <a:latin typeface="Trenda IG Text"/>
              </a:rPr>
              <a:t>BigQuery tables, mapping, EUID, consent</a:t>
            </a:r>
          </a:p>
        </p:txBody>
      </p:sp>
      <p:sp>
        <p:nvSpPr>
          <p:cNvPr id="15" name="Shape 14"/>
          <p:cNvSpPr/>
          <p:nvPr/>
        </p:nvSpPr>
        <p:spPr>
          <a:xfrm>
            <a:off x="2966719" y="246887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66719" y="246887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7" name="Shape 16"/>
          <p:cNvSpPr/>
          <p:nvPr/>
        </p:nvSpPr>
        <p:spPr>
          <a:xfrm>
            <a:off x="502920" y="270662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1A1A1A"/>
                </a:solidFill>
                <a:latin typeface="Trenda IG Text"/>
              </a:rPr>
              <a:t>Data Cloud ingestion</a:t>
            </a:r>
          </a:p>
          <a:p>
            <a:r>
              <a:rPr sz="700" b="0" i="0">
                <a:solidFill>
                  <a:srgbClr val="4D4D4D"/>
                </a:solidFill>
                <a:latin typeface="Trenda IG Text"/>
              </a:rPr>
              <a:t>streams, transforms, DMOs, identity links</a:t>
            </a:r>
          </a:p>
        </p:txBody>
      </p:sp>
      <p:sp>
        <p:nvSpPr>
          <p:cNvPr id="19" name="Shape 18"/>
          <p:cNvSpPr/>
          <p:nvPr/>
        </p:nvSpPr>
        <p:spPr>
          <a:xfrm>
            <a:off x="3327399" y="2788920"/>
            <a:ext cx="432816"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327399" y="2788920"/>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21" name="Shape 20"/>
          <p:cNvSpPr/>
          <p:nvPr/>
        </p:nvSpPr>
        <p:spPr>
          <a:xfrm>
            <a:off x="502920" y="302666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1A1A1A"/>
                </a:solidFill>
                <a:latin typeface="Trenda IG Text"/>
              </a:rPr>
              <a:t>Segment &amp; activation</a:t>
            </a:r>
          </a:p>
          <a:p>
            <a:r>
              <a:rPr sz="700" b="0" i="0">
                <a:solidFill>
                  <a:srgbClr val="4D4D4D"/>
                </a:solidFill>
                <a:latin typeface="Trenda IG Text"/>
              </a:rPr>
              <a:t>consent and age filters, activate to SFMC</a:t>
            </a:r>
          </a:p>
        </p:txBody>
      </p:sp>
      <p:sp>
        <p:nvSpPr>
          <p:cNvPr id="23" name="Shape 22"/>
          <p:cNvSpPr/>
          <p:nvPr/>
        </p:nvSpPr>
        <p:spPr>
          <a:xfrm>
            <a:off x="3760216" y="3108959"/>
            <a:ext cx="288543"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60216" y="31089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5" name="Shape 24"/>
          <p:cNvSpPr/>
          <p:nvPr/>
        </p:nvSpPr>
        <p:spPr>
          <a:xfrm>
            <a:off x="502920" y="334670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1A1A1A"/>
                </a:solidFill>
                <a:latin typeface="Trenda IG Text"/>
              </a:rPr>
              <a:t>SFMC data prep</a:t>
            </a:r>
          </a:p>
          <a:p>
            <a:r>
              <a:rPr sz="700" b="0" i="0">
                <a:solidFill>
                  <a:srgbClr val="4D4D4D"/>
                </a:solidFill>
                <a:latin typeface="Trenda IG Text"/>
              </a:rPr>
              <a:t>SQL, messaging DE, suppression</a:t>
            </a:r>
          </a:p>
        </p:txBody>
      </p:sp>
      <p:sp>
        <p:nvSpPr>
          <p:cNvPr id="27" name="Shape 26"/>
          <p:cNvSpPr/>
          <p:nvPr/>
        </p:nvSpPr>
        <p:spPr>
          <a:xfrm>
            <a:off x="4048759" y="3428999"/>
            <a:ext cx="288544"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48759" y="3428999"/>
            <a:ext cx="288544"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29" name="Shape 28"/>
          <p:cNvSpPr/>
          <p:nvPr/>
        </p:nvSpPr>
        <p:spPr>
          <a:xfrm>
            <a:off x="502920" y="366674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1A1A1A"/>
                </a:solidFill>
                <a:latin typeface="Trenda IG Text"/>
              </a:rPr>
              <a:t>Content &amp; legal approval</a:t>
            </a:r>
          </a:p>
          <a:p>
            <a:r>
              <a:rPr sz="700" b="0" i="0">
                <a:solidFill>
                  <a:srgbClr val="4D4D4D"/>
                </a:solidFill>
                <a:latin typeface="Trenda IG Text"/>
              </a:rPr>
              <a:t>copy, AMPscript, STOP keywords, sign-off</a:t>
            </a:r>
          </a:p>
        </p:txBody>
      </p:sp>
      <p:sp>
        <p:nvSpPr>
          <p:cNvPr id="31" name="Shape 30"/>
          <p:cNvSpPr/>
          <p:nvPr/>
        </p:nvSpPr>
        <p:spPr>
          <a:xfrm>
            <a:off x="4337304" y="3749039"/>
            <a:ext cx="50495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337304" y="3749039"/>
            <a:ext cx="504952" cy="109727"/>
          </a:xfrm>
          <a:prstGeom prst="rect">
            <a:avLst/>
          </a:prstGeom>
          <a:noFill/>
        </p:spPr>
        <p:txBody>
          <a:bodyPr wrap="square" lIns="0" rIns="0" tIns="0" bIns="0" anchor="ctr">
            <a:spAutoFit/>
          </a:bodyPr>
          <a:lstStyle/>
          <a:p>
            <a:pPr algn="ctr"/>
            <a:r>
              <a:rPr sz="700" b="1" i="0">
                <a:solidFill>
                  <a:srgbClr val="000000"/>
                </a:solidFill>
                <a:latin typeface="Trenda IG Text"/>
              </a:rPr>
              <a:t>14d</a:t>
            </a:r>
          </a:p>
        </p:txBody>
      </p:sp>
      <p:sp>
        <p:nvSpPr>
          <p:cNvPr id="33" name="Shape 32"/>
          <p:cNvSpPr/>
          <p:nvPr/>
        </p:nvSpPr>
        <p:spPr>
          <a:xfrm>
            <a:off x="502920" y="398678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1A1A1A"/>
                </a:solidFill>
                <a:latin typeface="Trenda IG Text"/>
              </a:rPr>
              <a:t>Journey Builder build</a:t>
            </a:r>
          </a:p>
          <a:p>
            <a:r>
              <a:rPr sz="700" b="0" i="0">
                <a:solidFill>
                  <a:srgbClr val="4D4D4D"/>
                </a:solidFill>
                <a:latin typeface="Trenda IG Text"/>
              </a:rPr>
              <a:t>entry DE, splits, CloudPages, surveys</a:t>
            </a:r>
          </a:p>
        </p:txBody>
      </p:sp>
      <p:sp>
        <p:nvSpPr>
          <p:cNvPr id="35" name="Shape 34"/>
          <p:cNvSpPr/>
          <p:nvPr/>
        </p:nvSpPr>
        <p:spPr>
          <a:xfrm>
            <a:off x="4842256" y="4069079"/>
            <a:ext cx="288543"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4842256" y="4069079"/>
            <a:ext cx="288543"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37" name="Shape 36"/>
          <p:cNvSpPr/>
          <p:nvPr/>
        </p:nvSpPr>
        <p:spPr>
          <a:xfrm>
            <a:off x="502920" y="430682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1A1A1A"/>
                </a:solidFill>
                <a:latin typeface="Trenda IG Text"/>
              </a:rPr>
              <a:t>Testing &amp; UAT</a:t>
            </a:r>
          </a:p>
          <a:p>
            <a:r>
              <a:rPr sz="700" b="0" i="0">
                <a:solidFill>
                  <a:srgbClr val="4D4D4D"/>
                </a:solidFill>
                <a:latin typeface="Trenda IG Text"/>
              </a:rPr>
              <a:t>scenarios, seed sends, UAT sign-off</a:t>
            </a:r>
          </a:p>
        </p:txBody>
      </p:sp>
      <p:sp>
        <p:nvSpPr>
          <p:cNvPr id="39" name="Shape 38"/>
          <p:cNvSpPr/>
          <p:nvPr/>
        </p:nvSpPr>
        <p:spPr>
          <a:xfrm>
            <a:off x="5130800" y="4389119"/>
            <a:ext cx="432816"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130800" y="4389119"/>
            <a:ext cx="432816" cy="109727"/>
          </a:xfrm>
          <a:prstGeom prst="rect">
            <a:avLst/>
          </a:prstGeom>
          <a:noFill/>
        </p:spPr>
        <p:txBody>
          <a:bodyPr wrap="square" lIns="0" rIns="0" tIns="0" bIns="0" anchor="ctr">
            <a:spAutoFit/>
          </a:bodyPr>
          <a:lstStyle/>
          <a:p>
            <a:pPr algn="ctr"/>
            <a:r>
              <a:rPr sz="700" b="1" i="0">
                <a:solidFill>
                  <a:srgbClr val="000000"/>
                </a:solidFill>
                <a:latin typeface="Trenda IG Text"/>
              </a:rPr>
              <a:t>12d</a:t>
            </a:r>
          </a:p>
        </p:txBody>
      </p:sp>
      <p:sp>
        <p:nvSpPr>
          <p:cNvPr id="41" name="Shape 40"/>
          <p:cNvSpPr/>
          <p:nvPr/>
        </p:nvSpPr>
        <p:spPr>
          <a:xfrm>
            <a:off x="502920" y="462686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1A1A1A"/>
                </a:solidFill>
                <a:latin typeface="Trenda IG Text"/>
              </a:rPr>
              <a:t>Deploy &amp; go-live</a:t>
            </a:r>
          </a:p>
          <a:p>
            <a:r>
              <a:rPr sz="700" b="0" i="0">
                <a:solidFill>
                  <a:srgbClr val="4D4D4D"/>
                </a:solidFill>
                <a:latin typeface="Trenda IG Text"/>
              </a:rPr>
              <a:t>Data Kit, Copado, smoke test</a:t>
            </a:r>
          </a:p>
        </p:txBody>
      </p:sp>
      <p:sp>
        <p:nvSpPr>
          <p:cNvPr id="43" name="Shape 42"/>
          <p:cNvSpPr/>
          <p:nvPr/>
        </p:nvSpPr>
        <p:spPr>
          <a:xfrm>
            <a:off x="5563616" y="4709159"/>
            <a:ext cx="288543"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563616" y="4709159"/>
            <a:ext cx="288543"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46" name="Text 45"/>
          <p:cNvSpPr txBox="1"/>
          <p:nvPr/>
        </p:nvSpPr>
        <p:spPr>
          <a:xfrm>
            <a:off x="341376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30</a:t>
            </a:r>
          </a:p>
        </p:txBody>
      </p:sp>
      <p:sp>
        <p:nvSpPr>
          <p:cNvPr id="47" name="Text 46"/>
          <p:cNvSpPr txBox="1"/>
          <p:nvPr/>
        </p:nvSpPr>
        <p:spPr>
          <a:xfrm>
            <a:off x="449580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60</a:t>
            </a:r>
          </a:p>
        </p:txBody>
      </p:sp>
      <p:sp>
        <p:nvSpPr>
          <p:cNvPr id="48" name="Text 47"/>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90</a:t>
            </a:r>
          </a:p>
        </p:txBody>
      </p:sp>
      <p:sp>
        <p:nvSpPr>
          <p:cNvPr id="49" name="Shape 48"/>
          <p:cNvSpPr/>
          <p:nvPr/>
        </p:nvSpPr>
        <p:spPr>
          <a:xfrm>
            <a:off x="438912" y="2066543"/>
            <a:ext cx="36576" cy="1234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Differentiator Border 50"/>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1"/>
          <p:cNvSpPr/>
          <p:nvPr/>
        </p:nvSpPr>
        <p:spPr>
          <a:xfrm>
            <a:off x="6181344" y="1188720"/>
            <a:ext cx="5577840" cy="39502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2"/>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WITH THE DATA HARNESS + CAMPAIGN AGENTS</a:t>
            </a:r>
          </a:p>
        </p:txBody>
      </p:sp>
      <p:sp>
        <p:nvSpPr>
          <p:cNvPr id="53" name="Text 53"/>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89A0"/>
                </a:solidFill>
                <a:latin typeface="Trenda IG Text"/>
              </a:rPr>
              <a:t>~10-12 days</a:t>
            </a:r>
          </a:p>
        </p:txBody>
      </p:sp>
      <p:sp>
        <p:nvSpPr>
          <p:cNvPr id="54" name="Text 54"/>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4D4D4D"/>
                </a:solidFill>
                <a:latin typeface="Trenda IG Text"/>
              </a:rPr>
              <a:t>data already governed and ready; build runs alongside legal review</a:t>
            </a:r>
          </a:p>
        </p:txBody>
      </p:sp>
      <p:sp>
        <p:nvSpPr>
          <p:cNvPr id="55" name="Shape 55"/>
          <p:cNvSpPr/>
          <p:nvPr/>
        </p:nvSpPr>
        <p:spPr>
          <a:xfrm>
            <a:off x="6254496" y="2066543"/>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6345936" y="2066543"/>
            <a:ext cx="2157984" cy="265176"/>
          </a:xfrm>
          <a:prstGeom prst="rect">
            <a:avLst/>
          </a:prstGeom>
          <a:noFill/>
        </p:spPr>
        <p:txBody>
          <a:bodyPr wrap="square" lIns="0" rIns="0" tIns="0" bIns="0" anchor="ctr">
            <a:spAutoFit/>
          </a:bodyPr>
          <a:lstStyle/>
          <a:p>
            <a:r>
              <a:rPr sz="700" b="1" i="0">
                <a:solidFill>
                  <a:srgbClr val="1A1A1A"/>
                </a:solidFill>
                <a:latin typeface="Trenda IG Text"/>
              </a:rPr>
              <a:t>Prompt → Opportunity Brief · G1</a:t>
            </a:r>
          </a:p>
          <a:p>
            <a:r>
              <a:rPr sz="700" b="0" i="0">
                <a:solidFill>
                  <a:srgbClr val="4D4D4D"/>
                </a:solidFill>
                <a:latin typeface="Trenda IG Text"/>
              </a:rPr>
              <a:t>Orchestrator, Strategist, Analytics; people approve</a:t>
            </a:r>
          </a:p>
        </p:txBody>
      </p:sp>
      <p:sp>
        <p:nvSpPr>
          <p:cNvPr id="57" name="Shape 57"/>
          <p:cNvSpPr/>
          <p:nvPr/>
        </p:nvSpPr>
        <p:spPr>
          <a:xfrm>
            <a:off x="8540496" y="2148839"/>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8540496" y="2148839"/>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59" name="Shape 59"/>
          <p:cNvSpPr/>
          <p:nvPr/>
        </p:nvSpPr>
        <p:spPr>
          <a:xfrm>
            <a:off x="6254496" y="2377439"/>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345936" y="2377439"/>
            <a:ext cx="2157984" cy="265176"/>
          </a:xfrm>
          <a:prstGeom prst="rect">
            <a:avLst/>
          </a:prstGeom>
          <a:noFill/>
        </p:spPr>
        <p:txBody>
          <a:bodyPr wrap="square" lIns="0" rIns="0" tIns="0" bIns="0" anchor="ctr">
            <a:spAutoFit/>
          </a:bodyPr>
          <a:lstStyle/>
          <a:p>
            <a:r>
              <a:rPr sz="700" b="1" i="0">
                <a:solidFill>
                  <a:srgbClr val="1A1A1A"/>
                </a:solidFill>
                <a:latin typeface="Trenda IG Text"/>
              </a:rPr>
              <a:t>Data ready</a:t>
            </a:r>
          </a:p>
          <a:p>
            <a:r>
              <a:rPr sz="700" b="0" i="0">
                <a:solidFill>
                  <a:srgbClr val="4D4D4D"/>
                </a:solidFill>
                <a:latin typeface="Trenda IG Text"/>
              </a:rPr>
              <a:t>governed in Gold A / B by the data harness</a:t>
            </a:r>
          </a:p>
        </p:txBody>
      </p:sp>
      <p:sp>
        <p:nvSpPr>
          <p:cNvPr id="61" name="Shape 61"/>
          <p:cNvSpPr/>
          <p:nvPr/>
        </p:nvSpPr>
        <p:spPr>
          <a:xfrm>
            <a:off x="8540496" y="2459735"/>
            <a:ext cx="566928" cy="100584"/>
          </a:xfrm>
          <a:prstGeom prst="roundRect">
            <a:avLst>
              <a:gd name="adj" fmla="val 30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8540496" y="2459735"/>
            <a:ext cx="566928" cy="100584"/>
          </a:xfrm>
          <a:prstGeom prst="rect">
            <a:avLst/>
          </a:prstGeom>
          <a:noFill/>
        </p:spPr>
        <p:txBody>
          <a:bodyPr wrap="square" lIns="0" rIns="0" tIns="0" bIns="0" anchor="ctr">
            <a:spAutoFit/>
          </a:bodyPr>
          <a:lstStyle/>
          <a:p>
            <a:pPr algn="ctr"/>
            <a:r>
              <a:rPr sz="700" b="1" i="0">
                <a:solidFill>
                  <a:srgbClr val="FF0069"/>
                </a:solidFill>
                <a:latin typeface="Trenda IG Text"/>
              </a:rPr>
              <a:t>READY</a:t>
            </a:r>
          </a:p>
        </p:txBody>
      </p:sp>
      <p:sp>
        <p:nvSpPr>
          <p:cNvPr id="63" name="Shape 63"/>
          <p:cNvSpPr/>
          <p:nvPr/>
        </p:nvSpPr>
        <p:spPr>
          <a:xfrm>
            <a:off x="6254496" y="2688336"/>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345936" y="2688336"/>
            <a:ext cx="2157984" cy="265176"/>
          </a:xfrm>
          <a:prstGeom prst="rect">
            <a:avLst/>
          </a:prstGeom>
          <a:noFill/>
        </p:spPr>
        <p:txBody>
          <a:bodyPr wrap="square" lIns="0" rIns="0" tIns="0" bIns="0" anchor="ctr">
            <a:spAutoFit/>
          </a:bodyPr>
          <a:lstStyle/>
          <a:p>
            <a:r>
              <a:rPr sz="700" b="1" i="0">
                <a:solidFill>
                  <a:srgbClr val="1A1A1A"/>
                </a:solidFill>
                <a:latin typeface="Trenda IG Text"/>
              </a:rPr>
              <a:t>Eligibility rule</a:t>
            </a:r>
          </a:p>
          <a:p>
            <a:r>
              <a:rPr sz="700" b="0" i="0">
                <a:solidFill>
                  <a:srgbClr val="4D4D4D"/>
                </a:solidFill>
                <a:latin typeface="Trenda IG Text"/>
              </a:rPr>
              <a:t>eligibility service: consent, contact, exclusions</a:t>
            </a:r>
          </a:p>
        </p:txBody>
      </p:sp>
      <p:sp>
        <p:nvSpPr>
          <p:cNvPr id="65" name="Shape 65"/>
          <p:cNvSpPr/>
          <p:nvPr/>
        </p:nvSpPr>
        <p:spPr>
          <a:xfrm>
            <a:off x="8795004" y="277063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8795004" y="277063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67" name="Shape 67"/>
          <p:cNvSpPr/>
          <p:nvPr/>
        </p:nvSpPr>
        <p:spPr>
          <a:xfrm>
            <a:off x="6254496" y="2999232"/>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6345936" y="2999232"/>
            <a:ext cx="2157984" cy="265176"/>
          </a:xfrm>
          <a:prstGeom prst="rect">
            <a:avLst/>
          </a:prstGeom>
          <a:noFill/>
        </p:spPr>
        <p:txBody>
          <a:bodyPr wrap="square" lIns="0" rIns="0" tIns="0" bIns="0" anchor="ctr">
            <a:spAutoFit/>
          </a:bodyPr>
          <a:lstStyle/>
          <a:p>
            <a:r>
              <a:rPr sz="700" b="1" i="0">
                <a:solidFill>
                  <a:srgbClr val="1A1A1A"/>
                </a:solidFill>
                <a:latin typeface="Trenda IG Text"/>
              </a:rPr>
              <a:t>Journey + data extension build</a:t>
            </a:r>
          </a:p>
          <a:p>
            <a:r>
              <a:rPr sz="700" b="0" i="0">
                <a:solidFill>
                  <a:srgbClr val="4D4D4D"/>
                </a:solidFill>
                <a:latin typeface="Trenda IG Text"/>
              </a:rPr>
              <a:t>Campaign Design Agent, from approved templates</a:t>
            </a:r>
          </a:p>
        </p:txBody>
      </p:sp>
      <p:sp>
        <p:nvSpPr>
          <p:cNvPr id="69" name="Shape 69"/>
          <p:cNvSpPr/>
          <p:nvPr/>
        </p:nvSpPr>
        <p:spPr>
          <a:xfrm>
            <a:off x="9049512" y="3081527"/>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9049512" y="3081527"/>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1" name="Shape 71"/>
          <p:cNvSpPr/>
          <p:nvPr/>
        </p:nvSpPr>
        <p:spPr>
          <a:xfrm>
            <a:off x="6254496" y="3310128"/>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6345936" y="3310128"/>
            <a:ext cx="2157984" cy="265176"/>
          </a:xfrm>
          <a:prstGeom prst="rect">
            <a:avLst/>
          </a:prstGeom>
          <a:noFill/>
        </p:spPr>
        <p:txBody>
          <a:bodyPr wrap="square" lIns="0" rIns="0" tIns="0" bIns="0" anchor="ctr">
            <a:spAutoFit/>
          </a:bodyPr>
          <a:lstStyle/>
          <a:p>
            <a:r>
              <a:rPr sz="700" b="1" i="0">
                <a:solidFill>
                  <a:srgbClr val="1A1A1A"/>
                </a:solidFill>
                <a:latin typeface="Trenda IG Text"/>
              </a:rPr>
              <a:t>Content &amp; legal approval</a:t>
            </a:r>
          </a:p>
          <a:p>
            <a:r>
              <a:rPr sz="700" b="0" i="0">
                <a:solidFill>
                  <a:srgbClr val="4D4D4D"/>
                </a:solidFill>
                <a:latin typeface="Trenda IG Text"/>
              </a:rPr>
              <a:t>Design Agent drafts; legal approves</a:t>
            </a:r>
          </a:p>
        </p:txBody>
      </p:sp>
      <p:sp>
        <p:nvSpPr>
          <p:cNvPr id="73" name="Shape 73"/>
          <p:cNvSpPr/>
          <p:nvPr/>
        </p:nvSpPr>
        <p:spPr>
          <a:xfrm>
            <a:off x="9049512" y="3392424"/>
            <a:ext cx="152704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9049512" y="3392424"/>
            <a:ext cx="1527048" cy="100584"/>
          </a:xfrm>
          <a:prstGeom prst="rect">
            <a:avLst/>
          </a:prstGeom>
          <a:noFill/>
        </p:spPr>
        <p:txBody>
          <a:bodyPr wrap="square" lIns="0" rIns="0" tIns="0" bIns="0" anchor="ctr">
            <a:spAutoFit/>
          </a:bodyPr>
          <a:lstStyle/>
          <a:p>
            <a:pPr algn="ctr"/>
            <a:r>
              <a:rPr sz="700" b="1" i="0">
                <a:solidFill>
                  <a:srgbClr val="000000"/>
                </a:solidFill>
                <a:latin typeface="Trenda IG Text"/>
              </a:rPr>
              <a:t>6d</a:t>
            </a:r>
          </a:p>
        </p:txBody>
      </p:sp>
      <p:sp>
        <p:nvSpPr>
          <p:cNvPr id="75" name="Shape 75"/>
          <p:cNvSpPr/>
          <p:nvPr/>
        </p:nvSpPr>
        <p:spPr>
          <a:xfrm>
            <a:off x="6254496" y="3621024"/>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6345936" y="3621024"/>
            <a:ext cx="2157984" cy="265176"/>
          </a:xfrm>
          <a:prstGeom prst="rect">
            <a:avLst/>
          </a:prstGeom>
          <a:noFill/>
        </p:spPr>
        <p:txBody>
          <a:bodyPr wrap="square" lIns="0" rIns="0" tIns="0" bIns="0" anchor="ctr">
            <a:spAutoFit/>
          </a:bodyPr>
          <a:lstStyle/>
          <a:p>
            <a:r>
              <a:rPr sz="700" b="1" i="0">
                <a:solidFill>
                  <a:srgbClr val="1A1A1A"/>
                </a:solidFill>
                <a:latin typeface="Trenda IG Text"/>
              </a:rPr>
              <a:t>Testing on test contacts · G3</a:t>
            </a:r>
          </a:p>
          <a:p>
            <a:r>
              <a:rPr sz="700" b="0" i="0">
                <a:solidFill>
                  <a:srgbClr val="4D4D4D"/>
                </a:solidFill>
                <a:latin typeface="Trenda IG Text"/>
              </a:rPr>
              <a:t>Activation Readiness; clinical + compliance approve</a:t>
            </a:r>
          </a:p>
        </p:txBody>
      </p:sp>
      <p:sp>
        <p:nvSpPr>
          <p:cNvPr id="77" name="Shape 77"/>
          <p:cNvSpPr/>
          <p:nvPr/>
        </p:nvSpPr>
        <p:spPr>
          <a:xfrm>
            <a:off x="10576560" y="3703320"/>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8"/>
          <p:cNvSpPr txBox="1"/>
          <p:nvPr/>
        </p:nvSpPr>
        <p:spPr>
          <a:xfrm>
            <a:off x="10576560" y="3703320"/>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9" name="Shape 79"/>
          <p:cNvSpPr/>
          <p:nvPr/>
        </p:nvSpPr>
        <p:spPr>
          <a:xfrm>
            <a:off x="6254496" y="3931920"/>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6345936" y="3931920"/>
            <a:ext cx="2157984" cy="265176"/>
          </a:xfrm>
          <a:prstGeom prst="rect">
            <a:avLst/>
          </a:prstGeom>
          <a:noFill/>
        </p:spPr>
        <p:txBody>
          <a:bodyPr wrap="square" lIns="0" rIns="0" tIns="0" bIns="0" anchor="ctr">
            <a:spAutoFit/>
          </a:bodyPr>
          <a:lstStyle/>
          <a:p>
            <a:r>
              <a:rPr sz="700" b="1" i="0">
                <a:solidFill>
                  <a:srgbClr val="1A1A1A"/>
                </a:solidFill>
                <a:latin typeface="Trenda IG Text"/>
              </a:rPr>
              <a:t>Pre-send review G2 + release</a:t>
            </a:r>
          </a:p>
          <a:p>
            <a:r>
              <a:rPr sz="700" b="0" i="0">
                <a:solidFill>
                  <a:srgbClr val="4D4D4D"/>
                </a:solidFill>
                <a:latin typeface="Trenda IG Text"/>
              </a:rPr>
              <a:t>SME + tech lead; activation gateway</a:t>
            </a:r>
          </a:p>
        </p:txBody>
      </p:sp>
      <p:sp>
        <p:nvSpPr>
          <p:cNvPr id="81" name="Shape 81"/>
          <p:cNvSpPr/>
          <p:nvPr/>
        </p:nvSpPr>
        <p:spPr>
          <a:xfrm>
            <a:off x="11085576" y="4014215"/>
            <a:ext cx="274320"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2"/>
          <p:cNvSpPr txBox="1"/>
          <p:nvPr/>
        </p:nvSpPr>
        <p:spPr>
          <a:xfrm>
            <a:off x="11085576" y="4014215"/>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3" name="Shape 83"/>
          <p:cNvSpPr/>
          <p:nvPr/>
        </p:nvSpPr>
        <p:spPr>
          <a:xfrm>
            <a:off x="6254496" y="4242816"/>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6345936" y="4242816"/>
            <a:ext cx="2157984" cy="265176"/>
          </a:xfrm>
          <a:prstGeom prst="rect">
            <a:avLst/>
          </a:prstGeom>
          <a:noFill/>
        </p:spPr>
        <p:txBody>
          <a:bodyPr wrap="square" lIns="0" rIns="0" tIns="0" bIns="0" anchor="ctr">
            <a:spAutoFit/>
          </a:bodyPr>
          <a:lstStyle/>
          <a:p>
            <a:r>
              <a:rPr sz="700" b="1" i="0">
                <a:solidFill>
                  <a:srgbClr val="1A1A1A"/>
                </a:solidFill>
                <a:latin typeface="Trenda IG Text"/>
              </a:rPr>
              <a:t>Go live</a:t>
            </a:r>
          </a:p>
          <a:p>
            <a:r>
              <a:rPr sz="700" b="0" i="0">
                <a:solidFill>
                  <a:srgbClr val="4D4D4D"/>
                </a:solidFill>
                <a:latin typeface="Trenda IG Text"/>
              </a:rPr>
              <a:t>Marketing Cloud; consent re-checked at send</a:t>
            </a:r>
          </a:p>
        </p:txBody>
      </p:sp>
      <p:sp>
        <p:nvSpPr>
          <p:cNvPr id="85" name="Shape 85"/>
          <p:cNvSpPr/>
          <p:nvPr/>
        </p:nvSpPr>
        <p:spPr>
          <a:xfrm>
            <a:off x="11340084" y="432511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6"/>
          <p:cNvSpPr txBox="1"/>
          <p:nvPr/>
        </p:nvSpPr>
        <p:spPr>
          <a:xfrm>
            <a:off x="11340084" y="432511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7" name="Text 8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88" name="Text 88"/>
          <p:cNvSpPr txBox="1"/>
          <p:nvPr/>
        </p:nvSpPr>
        <p:spPr>
          <a:xfrm>
            <a:off x="9284208"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4</a:t>
            </a:r>
          </a:p>
        </p:txBody>
      </p:sp>
      <p:sp>
        <p:nvSpPr>
          <p:cNvPr id="89" name="Text 89"/>
          <p:cNvSpPr txBox="1"/>
          <p:nvPr/>
        </p:nvSpPr>
        <p:spPr>
          <a:xfrm>
            <a:off x="1030224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8</a:t>
            </a:r>
          </a:p>
        </p:txBody>
      </p:sp>
      <p:sp>
        <p:nvSpPr>
          <p:cNvPr id="90" name="Text 90"/>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12</a:t>
            </a:r>
          </a:p>
        </p:txBody>
      </p:sp>
      <p:sp>
        <p:nvSpPr>
          <p:cNvPr id="91" name="Text 91"/>
          <p:cNvSpPr txBox="1"/>
          <p:nvPr/>
        </p:nvSpPr>
        <p:spPr>
          <a:xfrm>
            <a:off x="6309359" y="4608576"/>
            <a:ext cx="5321808" cy="384048"/>
          </a:xfrm>
          <a:prstGeom prst="rect">
            <a:avLst/>
          </a:prstGeom>
          <a:noFill/>
        </p:spPr>
        <p:txBody>
          <a:bodyPr wrap="square" lIns="0" rIns="0" tIns="0" bIns="0" anchor="ctr">
            <a:spAutoFit/>
          </a:bodyPr>
          <a:lstStyle/>
          <a:p>
            <a:r>
              <a:rPr sz="700" b="1" i="0">
                <a:solidFill>
                  <a:srgbClr val="8A6D00"/>
                </a:solidFill>
                <a:latin typeface="Trenda IG Text"/>
              </a:rPr>
              <a:t>Legal review is now the critical path. </a:t>
            </a:r>
            <a:r>
              <a:rPr sz="700" b="0" i="0">
                <a:solidFill>
                  <a:srgbClr val="4D4D4D"/>
                </a:solidFill>
                <a:latin typeface="Trenda IG Text"/>
              </a:rPr>
              <a:t>Yellow: people approve (G1, legal, G2). Cyan: agents and services.</a:t>
            </a:r>
          </a:p>
        </p:txBody>
      </p:sp>
      <p:sp>
        <p:nvSpPr>
          <p:cNvPr id="92" name="Shape 92"/>
          <p:cNvSpPr/>
          <p:nvPr/>
        </p:nvSpPr>
        <p:spPr>
          <a:xfrm>
            <a:off x="41148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3"/>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4"/>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89A0"/>
                </a:solidFill>
                <a:latin typeface="Trenda IG Text"/>
              </a:rPr>
              <a:t>~87%</a:t>
            </a:r>
          </a:p>
        </p:txBody>
      </p:sp>
      <p:sp>
        <p:nvSpPr>
          <p:cNvPr id="95" name="Text 95"/>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faster to launch</a:t>
            </a:r>
          </a:p>
          <a:p>
            <a:r>
              <a:rPr sz="700" b="0" i="0">
                <a:solidFill>
                  <a:srgbClr val="4D4D4D"/>
                </a:solidFill>
                <a:latin typeface="Trenda IG Text"/>
              </a:rPr>
              <a:t>90 to ~10-12 days</a:t>
            </a:r>
          </a:p>
        </p:txBody>
      </p:sp>
      <p:sp>
        <p:nvSpPr>
          <p:cNvPr id="96" name="Shape 96"/>
          <p:cNvSpPr/>
          <p:nvPr/>
        </p:nvSpPr>
        <p:spPr>
          <a:xfrm>
            <a:off x="328041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7"/>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8"/>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0 days</a:t>
            </a:r>
          </a:p>
        </p:txBody>
      </p:sp>
      <p:sp>
        <p:nvSpPr>
          <p:cNvPr id="99" name="Text 99"/>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data preparation per campaign</a:t>
            </a:r>
          </a:p>
          <a:p>
            <a:r>
              <a:rPr sz="700" b="0" i="0">
                <a:solidFill>
                  <a:srgbClr val="4D4D4D"/>
                </a:solidFill>
                <a:latin typeface="Trenda IG Text"/>
              </a:rPr>
              <a:t>the data harness keeps it ready</a:t>
            </a:r>
          </a:p>
        </p:txBody>
      </p:sp>
      <p:sp>
        <p:nvSpPr>
          <p:cNvPr id="100" name="Shape 100"/>
          <p:cNvSpPr/>
          <p:nvPr/>
        </p:nvSpPr>
        <p:spPr>
          <a:xfrm>
            <a:off x="614934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101"/>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2"/>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1A1A1A"/>
                </a:solidFill>
                <a:latin typeface="Trenda IG Text"/>
              </a:rPr>
              <a:t>7</a:t>
            </a:r>
          </a:p>
        </p:txBody>
      </p:sp>
      <p:sp>
        <p:nvSpPr>
          <p:cNvPr id="103" name="Text 103"/>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campaign agents</a:t>
            </a:r>
          </a:p>
          <a:p>
            <a:r>
              <a:rPr sz="700" b="0" i="0">
                <a:solidFill>
                  <a:srgbClr val="4D4D4D"/>
                </a:solidFill>
                <a:latin typeface="Trenda IG Text"/>
              </a:rPr>
              <a:t>the same for every Marketing Cloud pod</a:t>
            </a:r>
          </a:p>
        </p:txBody>
      </p:sp>
      <p:sp>
        <p:nvSpPr>
          <p:cNvPr id="104" name="Shape 104"/>
          <p:cNvSpPr/>
          <p:nvPr/>
        </p:nvSpPr>
        <p:spPr>
          <a:xfrm>
            <a:off x="901827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5"/>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6"/>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8A6D00"/>
                </a:solidFill>
                <a:latin typeface="Trenda IG Text"/>
              </a:rPr>
              <a:t>3 gates</a:t>
            </a:r>
          </a:p>
        </p:txBody>
      </p:sp>
      <p:sp>
        <p:nvSpPr>
          <p:cNvPr id="107" name="Text 107"/>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people still approve</a:t>
            </a:r>
          </a:p>
          <a:p>
            <a:r>
              <a:rPr sz="700" b="0" i="0">
                <a:solidFill>
                  <a:srgbClr val="4D4D4D"/>
                </a:solidFill>
                <a:latin typeface="Trenda IG Text"/>
              </a:rPr>
              <a:t>G1 brief, G3 journey, G2 pre-send</a:t>
            </a:r>
          </a:p>
        </p:txBody>
      </p:sp>
      <p:sp>
        <p:nvSpPr>
          <p:cNvPr id="108" name="Text 108"/>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6B6B6B"/>
                </a:solidFill>
                <a:latin typeface="Trenda IG Text"/>
              </a:rPr>
              <a:t>Today: CHF post-discharge nudge manual steps and SFMC standards. With the data harness: pilot targets, measured on the CHF campaign against today's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1A1A1A"/>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4D4D4D"/>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1A1A1A"/>
                </a:solidFill>
                <a:latin typeface="Trenda IG Text"/>
              </a:rPr>
              <a:t>Sierra</a:t>
            </a:r>
          </a:p>
          <a:p>
            <a:pPr>
              <a:lnSpc>
                <a:spcPct val="90000"/>
              </a:lnSpc>
            </a:pPr>
            <a:r>
              <a:rPr sz="700" b="0" i="0">
                <a:solidFill>
                  <a:srgbClr val="4D4D4D"/>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Answers questions</a:t>
            </a:r>
          </a:p>
          <a:p>
            <a:pPr>
              <a:spcAft>
                <a:spcPts val="100"/>
              </a:spcAft>
            </a:pPr>
            <a:r>
              <a:rPr sz="700" b="0" i="0">
                <a:solidFill>
                  <a:srgbClr val="4D4D4D"/>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Verifies the caller</a:t>
            </a:r>
          </a:p>
          <a:p>
            <a:pPr>
              <a:spcAft>
                <a:spcPts val="100"/>
              </a:spcAft>
            </a:pPr>
            <a:r>
              <a:rPr sz="700" b="0" i="0">
                <a:solidFill>
                  <a:srgbClr val="4D4D4D"/>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Books, cancels, reschedules</a:t>
            </a:r>
          </a:p>
          <a:p>
            <a:pPr>
              <a:spcAft>
                <a:spcPts val="100"/>
              </a:spcAft>
            </a:pPr>
            <a:r>
              <a:rPr sz="700" b="0" i="0">
                <a:solidFill>
                  <a:srgbClr val="4D4D4D"/>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Hands off to a person</a:t>
            </a:r>
          </a:p>
          <a:p>
            <a:pPr>
              <a:spcAft>
                <a:spcPts val="100"/>
              </a:spcAft>
            </a:pPr>
            <a:r>
              <a:rPr sz="700" b="0" i="0">
                <a:solidFill>
                  <a:srgbClr val="4D4D4D"/>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1A1A1A"/>
                </a:solidFill>
                <a:latin typeface="Trenda IG Text"/>
              </a:rPr>
              <a:t>1  KNOWLEDGE PATH</a:t>
            </a:r>
            <a:r>
              <a:rPr sz="700" b="0" i="0">
                <a:solidFill>
                  <a:srgbClr val="4D4D4D"/>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1A1A1A"/>
                </a:solidFill>
                <a:latin typeface="Trenda IG Text"/>
              </a:rPr>
              <a:t>2  PATIENT PATH</a:t>
            </a:r>
            <a:r>
              <a:rPr sz="700" b="0" i="0">
                <a:solidFill>
                  <a:srgbClr val="4D4D4D"/>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1A1A1A"/>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8A6D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4D4D4D"/>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89A0"/>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6B6B6B"/>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1A1A1A"/>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1A1A1A"/>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1A1A1A"/>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BDBDBD"/>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89A0"/>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8A6D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700" b="0" i="0">
                <a:solidFill>
                  <a:srgbClr val="4D4D4D"/>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1A1A1A"/>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700" b="0" i="0">
                <a:solidFill>
                  <a:srgbClr val="4D4D4D"/>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EEEEEE"/>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700" b="1" i="0">
                <a:solidFill>
                  <a:srgbClr val="1A1A1A"/>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1A1A1A"/>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700" b="0" i="0">
                <a:solidFill>
                  <a:srgbClr val="4D4D4D"/>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6B6B6B"/>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1A1A1A"/>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1A1A1A"/>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1A1A1A"/>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1A1A1A"/>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1A1A1A"/>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8A6D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700" b="0" i="0">
                <a:solidFill>
                  <a:srgbClr val="4D4D4D"/>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700" b="1" i="0">
                <a:solidFill>
                  <a:srgbClr val="1A1A1A"/>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700" b="1" i="0">
                <a:solidFill>
                  <a:srgbClr val="1A1A1A"/>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700" b="1" i="0">
                <a:solidFill>
                  <a:srgbClr val="1A1A1A"/>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BAA with Sierra</a:t>
            </a:r>
          </a:p>
          <a:p>
            <a:pPr>
              <a:spcAft>
                <a:spcPts val="100"/>
              </a:spcAft>
            </a:pPr>
            <a:r>
              <a:rPr sz="700" b="0" i="0">
                <a:solidFill>
                  <a:srgbClr val="4D4D4D"/>
                </a:solidFill>
                <a:latin typeface="Trenda IG Text"/>
              </a:rPr>
              <a:t>calls carry PHI</a:t>
            </a:r>
          </a:p>
        </p:txBody>
      </p:sp>
      <p:sp>
        <p:nvSpPr>
          <p:cNvPr id="112" name="Shape 106"/>
          <p:cNvSpPr/>
          <p:nvPr/>
        </p:nvSpPr>
        <p:spPr>
          <a:xfrm>
            <a:off x="3349752"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Verify before any PHI</a:t>
            </a:r>
          </a:p>
          <a:p>
            <a:pPr>
              <a:spcAft>
                <a:spcPts val="100"/>
              </a:spcAft>
            </a:pPr>
            <a:r>
              <a:rPr sz="700" b="0" i="0">
                <a:solidFill>
                  <a:srgbClr val="4D4D4D"/>
                </a:solidFill>
                <a:latin typeface="Trenda IG Text"/>
              </a:rPr>
              <a:t>then this patient only</a:t>
            </a:r>
          </a:p>
        </p:txBody>
      </p:sp>
      <p:sp>
        <p:nvSpPr>
          <p:cNvPr id="115" name="Shape 109"/>
          <p:cNvSpPr/>
          <p:nvPr/>
        </p:nvSpPr>
        <p:spPr>
          <a:xfrm>
            <a:off x="5053584"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System of record</a:t>
            </a:r>
          </a:p>
          <a:p>
            <a:pPr>
              <a:spcAft>
                <a:spcPts val="100"/>
              </a:spcAft>
            </a:pPr>
            <a:r>
              <a:rPr sz="700" b="0" i="0">
                <a:solidFill>
                  <a:srgbClr val="4D4D4D"/>
                </a:solidFill>
                <a:latin typeface="Trenda IG Text"/>
              </a:rPr>
              <a:t>never a GCP copy</a:t>
            </a:r>
          </a:p>
        </p:txBody>
      </p:sp>
      <p:sp>
        <p:nvSpPr>
          <p:cNvPr id="118" name="Shape 112"/>
          <p:cNvSpPr/>
          <p:nvPr/>
        </p:nvSpPr>
        <p:spPr>
          <a:xfrm>
            <a:off x="6757416"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Rules in the API</a:t>
            </a:r>
          </a:p>
          <a:p>
            <a:pPr>
              <a:spcAft>
                <a:spcPts val="100"/>
              </a:spcAft>
            </a:pPr>
            <a:r>
              <a:rPr sz="700" b="0" i="0">
                <a:solidFill>
                  <a:srgbClr val="4D4D4D"/>
                </a:solidFill>
                <a:latin typeface="Trenda IG Text"/>
              </a:rPr>
              <a:t>not only in an article</a:t>
            </a:r>
          </a:p>
        </p:txBody>
      </p:sp>
      <p:sp>
        <p:nvSpPr>
          <p:cNvPr id="121" name="Shape 115"/>
          <p:cNvSpPr/>
          <p:nvPr/>
        </p:nvSpPr>
        <p:spPr>
          <a:xfrm>
            <a:off x="8461248"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Governed articles</a:t>
            </a:r>
          </a:p>
          <a:p>
            <a:pPr>
              <a:spcAft>
                <a:spcPts val="100"/>
              </a:spcAft>
            </a:pPr>
            <a:r>
              <a:rPr sz="700" b="0" i="0">
                <a:solidFill>
                  <a:srgbClr val="4D4D4D"/>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Tested before release</a:t>
            </a:r>
          </a:p>
          <a:p>
            <a:pPr>
              <a:spcAft>
                <a:spcPts val="100"/>
              </a:spcAft>
            </a:pPr>
            <a:r>
              <a:rPr sz="700" b="0" i="0">
                <a:solidFill>
                  <a:srgbClr val="4D4D4D"/>
                </a:solidFill>
                <a:latin typeface="Trenda IG Text"/>
              </a:rPr>
              <a:t>scripted test calls</a:t>
            </a:r>
          </a:p>
        </p:txBody>
      </p:sp>
      <p:sp>
        <p:nvSpPr>
          <p:cNvPr id="127" name="Shape 1"/>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2"/>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Platform fit: one factory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ONE FACTORY</a:t>
            </a:r>
          </a:p>
          <a:p>
            <a:pPr>
              <a:spcAft>
                <a:spcPts val="100"/>
              </a:spcAft>
            </a:pPr>
            <a:r>
              <a:rPr sz="700" b="0" i="0">
                <a:solidFill>
                  <a:srgbClr val="6B6B6B"/>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Delivery</a:t>
            </a:r>
          </a:p>
          <a:p>
            <a:r>
              <a:rPr sz="700" b="0" i="0">
                <a:solidFill>
                  <a:srgbClr val="4D4D4D"/>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Campaigns</a:t>
            </a:r>
          </a:p>
          <a:p>
            <a:r>
              <a:rPr sz="700" b="0" i="0">
                <a:solidFill>
                  <a:srgbClr val="4D4D4D"/>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1A1A1A"/>
                </a:solidFill>
                <a:latin typeface="Trenda IG Text"/>
              </a:rPr>
              <a:t>Sierra voice agent</a:t>
            </a:r>
          </a:p>
          <a:p>
            <a:r>
              <a:rPr sz="700" b="0" i="0">
                <a:solidFill>
                  <a:srgbClr val="4D4D4D"/>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89A0"/>
                </a:solidFill>
                <a:latin typeface="Trenda IG Text"/>
              </a:rPr>
              <a:t>SHARED BY ALL THREE</a:t>
            </a:r>
          </a:p>
          <a:p>
            <a:pPr>
              <a:spcAft>
                <a:spcPts val="100"/>
              </a:spcAft>
            </a:pPr>
            <a:r>
              <a:rPr sz="700" b="0" i="0">
                <a:solidFill>
                  <a:srgbClr val="4D4D4D"/>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BUILD</a:t>
            </a:r>
          </a:p>
        </p:txBody>
      </p:sp>
      <p:sp>
        <p:nvSpPr>
          <p:cNvPr id="18" name="Shape 15"/>
          <p:cNvSpPr/>
          <p:nvPr/>
        </p:nvSpPr>
        <p:spPr>
          <a:xfrm>
            <a:off x="521208"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definition per agent</a:t>
            </a:r>
          </a:p>
          <a:p>
            <a:pPr>
              <a:spcAft>
                <a:spcPts val="200"/>
              </a:spcAft>
            </a:pPr>
            <a:r>
              <a:rPr sz="700" b="0" i="0">
                <a:solidFill>
                  <a:srgbClr val="4D4D4D"/>
                </a:solidFill>
                <a:latin typeface="Trenda IG Text"/>
              </a:rPr>
              <a:t>plus a skill pack per pod; new agents plug into the same framework when new work needs them</a:t>
            </a:r>
          </a:p>
        </p:txBody>
      </p:sp>
      <p:sp>
        <p:nvSpPr>
          <p:cNvPr id="21" name="Shape 18"/>
          <p:cNvSpPr/>
          <p:nvPr/>
        </p:nvSpPr>
        <p:spPr>
          <a:xfrm>
            <a:off x="521208"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Versioned</a:t>
            </a:r>
          </a:p>
          <a:p>
            <a:pPr>
              <a:spcAft>
                <a:spcPts val="200"/>
              </a:spcAft>
            </a:pPr>
            <a:r>
              <a:rPr sz="700" b="0" i="0">
                <a:solidFill>
                  <a:srgbClr val="4D4D4D"/>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Eval gate</a:t>
            </a:r>
          </a:p>
          <a:p>
            <a:pPr>
              <a:spcAft>
                <a:spcPts val="200"/>
              </a:spcAft>
            </a:pPr>
            <a:r>
              <a:rPr sz="700" b="0" i="0">
                <a:solidFill>
                  <a:srgbClr val="4D4D4D"/>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Pod by pod</a:t>
            </a:r>
          </a:p>
          <a:p>
            <a:pPr>
              <a:spcAft>
                <a:spcPts val="200"/>
              </a:spcAft>
            </a:pPr>
            <a:r>
              <a:rPr sz="700" b="0" i="0">
                <a:solidFill>
                  <a:srgbClr val="4D4D4D"/>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SCALES</a:t>
            </a:r>
            <a:r>
              <a:rPr sz="700" b="0" i="0">
                <a:solidFill>
                  <a:srgbClr val="4D4D4D"/>
                </a:solidFill>
                <a:latin typeface="Trenda IG Text"/>
              </a:rPr>
              <a:t>   concurrency</a:t>
            </a:r>
          </a:p>
        </p:txBody>
      </p:sp>
      <p:sp>
        <p:nvSpPr>
          <p:cNvPr id="33" name="Shape 30"/>
          <p:cNvSpPr/>
          <p:nvPr/>
        </p:nvSpPr>
        <p:spPr>
          <a:xfrm>
            <a:off x="2816352"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isolated run per request</a:t>
            </a:r>
          </a:p>
          <a:p>
            <a:pPr>
              <a:spcAft>
                <a:spcPts val="200"/>
              </a:spcAft>
            </a:pPr>
            <a:r>
              <a:rPr sz="700" b="0" i="0">
                <a:solidFill>
                  <a:srgbClr val="4D4D4D"/>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Fair share for every pod</a:t>
            </a:r>
          </a:p>
          <a:p>
            <a:pPr>
              <a:spcAft>
                <a:spcPts val="200"/>
              </a:spcAft>
            </a:pPr>
            <a:r>
              <a:rPr sz="700" b="0" i="0">
                <a:solidFill>
                  <a:srgbClr val="4D4D4D"/>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Scales with demand</a:t>
            </a:r>
          </a:p>
          <a:p>
            <a:pPr>
              <a:spcAft>
                <a:spcPts val="200"/>
              </a:spcAft>
            </a:pPr>
            <a:r>
              <a:rPr sz="700" b="0" i="0">
                <a:solidFill>
                  <a:srgbClr val="4D4D4D"/>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Queued, never dropped</a:t>
            </a:r>
          </a:p>
          <a:p>
            <a:pPr>
              <a:spcAft>
                <a:spcPts val="200"/>
              </a:spcAft>
            </a:pPr>
            <a:r>
              <a:rPr sz="700" b="0" i="0">
                <a:solidFill>
                  <a:srgbClr val="4D4D4D"/>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STAYS ACCURATE</a:t>
            </a:r>
            <a:r>
              <a:rPr sz="700" b="0" i="0">
                <a:solidFill>
                  <a:srgbClr val="4D4D4D"/>
                </a:solidFill>
                <a:latin typeface="Trenda IG Text"/>
              </a:rPr>
              <a:t>   accuracy</a:t>
            </a:r>
          </a:p>
        </p:txBody>
      </p:sp>
      <p:sp>
        <p:nvSpPr>
          <p:cNvPr id="48" name="Shape 45"/>
          <p:cNvSpPr/>
          <p:nvPr/>
        </p:nvSpPr>
        <p:spPr>
          <a:xfrm>
            <a:off x="5111496"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Cited facts only</a:t>
            </a:r>
          </a:p>
          <a:p>
            <a:pPr>
              <a:spcAft>
                <a:spcPts val="200"/>
              </a:spcAft>
            </a:pPr>
            <a:r>
              <a:rPr sz="700" b="0" i="0">
                <a:solidFill>
                  <a:srgbClr val="4D4D4D"/>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Same bar for every pod</a:t>
            </a:r>
          </a:p>
          <a:p>
            <a:pPr>
              <a:spcAft>
                <a:spcPts val="200"/>
              </a:spcAft>
            </a:pPr>
            <a:r>
              <a:rPr sz="700" b="0" i="0">
                <a:solidFill>
                  <a:srgbClr val="4D4D4D"/>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Load changes the wait, not the answer</a:t>
            </a:r>
          </a:p>
          <a:p>
            <a:pPr>
              <a:spcAft>
                <a:spcPts val="200"/>
              </a:spcAft>
            </a:pPr>
            <a:r>
              <a:rPr sz="700" b="0" i="0">
                <a:solidFill>
                  <a:srgbClr val="4D4D4D"/>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Measured every run</a:t>
            </a:r>
          </a:p>
          <a:p>
            <a:pPr>
              <a:spcAft>
                <a:spcPts val="200"/>
              </a:spcAft>
            </a:pPr>
            <a:r>
              <a:rPr sz="700" b="0" i="0">
                <a:solidFill>
                  <a:srgbClr val="4D4D4D"/>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PROTECT DATA</a:t>
            </a:r>
            <a:r>
              <a:rPr sz="700" b="0" i="0">
                <a:solidFill>
                  <a:srgbClr val="4D4D4D"/>
                </a:solidFill>
                <a:latin typeface="Trenda IG Text"/>
              </a:rPr>
              <a:t>   measured</a:t>
            </a:r>
          </a:p>
        </p:txBody>
      </p:sp>
      <p:sp>
        <p:nvSpPr>
          <p:cNvPr id="63" name="Shape 60"/>
          <p:cNvSpPr/>
          <p:nvPr/>
        </p:nvSpPr>
        <p:spPr>
          <a:xfrm>
            <a:off x="7406640"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Classified and approved</a:t>
            </a:r>
          </a:p>
          <a:p>
            <a:pPr>
              <a:spcAft>
                <a:spcPts val="200"/>
              </a:spcAft>
            </a:pPr>
            <a:r>
              <a:rPr sz="700" b="0" i="0">
                <a:solidFill>
                  <a:srgbClr val="4D4D4D"/>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Masked and verified</a:t>
            </a:r>
          </a:p>
          <a:p>
            <a:pPr>
              <a:spcAft>
                <a:spcPts val="200"/>
              </a:spcAft>
            </a:pPr>
            <a:r>
              <a:rPr sz="700" b="0" i="0">
                <a:solidFill>
                  <a:srgbClr val="4D4D4D"/>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Zero unauthorized access</a:t>
            </a:r>
          </a:p>
          <a:p>
            <a:pPr>
              <a:spcAft>
                <a:spcPts val="200"/>
              </a:spcAft>
            </a:pPr>
            <a:r>
              <a:rPr sz="700" b="0" i="0">
                <a:solidFill>
                  <a:srgbClr val="4D4D4D"/>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Every access audited</a:t>
            </a:r>
          </a:p>
          <a:p>
            <a:pPr>
              <a:spcAft>
                <a:spcPts val="200"/>
              </a:spcAft>
            </a:pPr>
            <a:r>
              <a:rPr sz="700" b="0" i="0">
                <a:solidFill>
                  <a:srgbClr val="4D4D4D"/>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CONTROL</a:t>
            </a:r>
          </a:p>
        </p:txBody>
      </p:sp>
      <p:sp>
        <p:nvSpPr>
          <p:cNvPr id="78" name="Shape 75"/>
          <p:cNvSpPr/>
          <p:nvPr/>
        </p:nvSpPr>
        <p:spPr>
          <a:xfrm>
            <a:off x="9701783"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No production access</a:t>
            </a:r>
          </a:p>
          <a:p>
            <a:pPr>
              <a:spcAft>
                <a:spcPts val="200"/>
              </a:spcAft>
            </a:pPr>
            <a:r>
              <a:rPr sz="700" b="0" i="0">
                <a:solidFill>
                  <a:srgbClr val="4D4D4D"/>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Guardrails</a:t>
            </a:r>
          </a:p>
          <a:p>
            <a:pPr>
              <a:spcAft>
                <a:spcPts val="200"/>
              </a:spcAft>
            </a:pPr>
            <a:r>
              <a:rPr sz="700" b="0" i="0">
                <a:solidFill>
                  <a:srgbClr val="4D4D4D"/>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36576"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8A6D00"/>
                </a:solidFill>
                <a:latin typeface="Trenda IG Text"/>
              </a:rPr>
              <a:t>People decide</a:t>
            </a:r>
          </a:p>
          <a:p>
            <a:pPr>
              <a:spcAft>
                <a:spcPts val="200"/>
              </a:spcAft>
            </a:pPr>
            <a:r>
              <a:rPr sz="700" b="0" i="0">
                <a:solidFill>
                  <a:srgbClr val="4D4D4D"/>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Quotas + kill switch</a:t>
            </a:r>
          </a:p>
          <a:p>
            <a:pPr>
              <a:spcAft>
                <a:spcPts val="200"/>
              </a:spcAft>
            </a:pPr>
            <a:r>
              <a:rPr sz="700" b="0" i="0">
                <a:solidFill>
                  <a:srgbClr val="4D4D4D"/>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CORE BENEFITS</a:t>
            </a:r>
          </a:p>
          <a:p>
            <a:pPr>
              <a:spcAft>
                <a:spcPts val="100"/>
              </a:spcAft>
            </a:pPr>
            <a:r>
              <a:rPr sz="700" b="0" i="0">
                <a:solidFill>
                  <a:srgbClr val="6B6B6B"/>
                </a:solidFill>
                <a:latin typeface="Trenda IG Text"/>
              </a:rPr>
              <a:t>beyond cost</a:t>
            </a:r>
          </a:p>
        </p:txBody>
      </p:sp>
      <p:sp>
        <p:nvSpPr>
          <p:cNvPr id="91" name="Shape 88"/>
          <p:cNvSpPr/>
          <p:nvPr/>
        </p:nvSpPr>
        <p:spPr>
          <a:xfrm>
            <a:off x="164592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Consistency</a:t>
            </a:r>
          </a:p>
          <a:p>
            <a:pPr>
              <a:spcAft>
                <a:spcPts val="200"/>
              </a:spcAft>
            </a:pPr>
            <a:r>
              <a:rPr sz="700" b="0" i="0">
                <a:solidFill>
                  <a:srgbClr val="4D4D4D"/>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Reuse</a:t>
            </a:r>
          </a:p>
          <a:p>
            <a:pPr>
              <a:spcAft>
                <a:spcPts val="200"/>
              </a:spcAft>
            </a:pPr>
            <a:r>
              <a:rPr sz="700" b="0" i="0">
                <a:solidFill>
                  <a:srgbClr val="4D4D4D"/>
                </a:solidFill>
                <a:latin typeface="Trenda IG Text"/>
              </a:rPr>
              <a:t>Build once; a new pod adds skills, and new agents plug in when needed.</a:t>
            </a:r>
          </a:p>
        </p:txBody>
      </p:sp>
      <p:sp>
        <p:nvSpPr>
          <p:cNvPr id="97" name="Shape 94"/>
          <p:cNvSpPr/>
          <p:nvPr/>
        </p:nvSpPr>
        <p:spPr>
          <a:xfrm>
            <a:off x="5053584"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Knowledge kept</a:t>
            </a:r>
          </a:p>
          <a:p>
            <a:pPr>
              <a:spcAft>
                <a:spcPts val="200"/>
              </a:spcAft>
            </a:pPr>
            <a:r>
              <a:rPr sz="700" b="0" i="0">
                <a:solidFill>
                  <a:srgbClr val="4D4D4D"/>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Quality</a:t>
            </a:r>
          </a:p>
          <a:p>
            <a:pPr>
              <a:spcAft>
                <a:spcPts val="200"/>
              </a:spcAft>
            </a:pPr>
            <a:r>
              <a:rPr sz="700" b="0" i="0">
                <a:solidFill>
                  <a:srgbClr val="4D4D4D"/>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Auditability</a:t>
            </a:r>
          </a:p>
          <a:p>
            <a:pPr>
              <a:spcAft>
                <a:spcPts val="200"/>
              </a:spcAft>
            </a:pPr>
            <a:r>
              <a:rPr sz="700" b="0" i="0">
                <a:solidFill>
                  <a:srgbClr val="4D4D4D"/>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Safe by design</a:t>
            </a:r>
          </a:p>
          <a:p>
            <a:pPr>
              <a:spcAft>
                <a:spcPts val="200"/>
              </a:spcAft>
            </a:pPr>
            <a:r>
              <a:rPr sz="700" b="0" i="0">
                <a:solidFill>
                  <a:srgbClr val="4D4D4D"/>
                </a:solidFill>
                <a:latin typeface="Trenda IG Text"/>
              </a:rPr>
              <a:t>No production credentials, no raw PHI for agents.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LEAN SQUADS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Lean squads on one platform</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 squad of 5-7 becomes a PM / tech lead and a dev / QA directing the harness agent, with a PM / TL shared across squads. People still approve and own every change.</a:t>
            </a:r>
          </a:p>
        </p:txBody>
      </p:sp>
      <p:sp>
        <p:nvSpPr>
          <p:cNvPr id="5" name="Shape 4"/>
          <p:cNvSpPr/>
          <p:nvPr/>
        </p:nvSpPr>
        <p:spPr>
          <a:xfrm>
            <a:off x="411480" y="1170432"/>
            <a:ext cx="4206240" cy="1828800"/>
          </a:xfrm>
          <a:prstGeom prst="roundRect">
            <a:avLst>
              <a:gd name="adj" fmla="val 3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420624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70432"/>
            <a:ext cx="3986783" cy="256032"/>
          </a:xfrm>
          <a:prstGeom prst="rect">
            <a:avLst/>
          </a:prstGeom>
          <a:noFill/>
        </p:spPr>
        <p:txBody>
          <a:bodyPr wrap="square" lIns="0" rIns="0" tIns="0" bIns="0" anchor="ctr">
            <a:spAutoFit/>
          </a:bodyPr>
          <a:lstStyle/>
          <a:p>
            <a:r>
              <a:rPr sz="700" b="1" i="0" spc="120">
                <a:solidFill>
                  <a:srgbClr val="1A1A1A"/>
                </a:solidFill>
                <a:latin typeface="Trenda IG Text"/>
              </a:rPr>
              <a:t>THE SQUAD  ·  TODAY → WITH THE FACTORY</a:t>
            </a:r>
          </a:p>
        </p:txBody>
      </p:sp>
      <p:sp>
        <p:nvSpPr>
          <p:cNvPr id="8" name="Text 7"/>
          <p:cNvSpPr txBox="1"/>
          <p:nvPr/>
        </p:nvSpPr>
        <p:spPr>
          <a:xfrm>
            <a:off x="521208" y="1481328"/>
            <a:ext cx="1828800" cy="164592"/>
          </a:xfrm>
          <a:prstGeom prst="rect">
            <a:avLst/>
          </a:prstGeom>
          <a:noFill/>
        </p:spPr>
        <p:txBody>
          <a:bodyPr wrap="square" lIns="0" rIns="0" tIns="0" bIns="0" anchor="ctr">
            <a:spAutoFit/>
          </a:bodyPr>
          <a:lstStyle/>
          <a:p>
            <a:r>
              <a:rPr sz="700" b="1" i="0" spc="80">
                <a:solidFill>
                  <a:srgbClr val="6B6B6B"/>
                </a:solidFill>
                <a:latin typeface="Trenda IG Text"/>
              </a:rPr>
              <a:t>TODAY · 5-7 PEOPLE</a:t>
            </a:r>
          </a:p>
        </p:txBody>
      </p:sp>
      <p:sp>
        <p:nvSpPr>
          <p:cNvPr id="9" name="Shape 8"/>
          <p:cNvSpPr/>
          <p:nvPr/>
        </p:nvSpPr>
        <p:spPr>
          <a:xfrm>
            <a:off x="521208" y="1664208"/>
            <a:ext cx="749808"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21208" y="1664208"/>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PM / owner</a:t>
            </a:r>
          </a:p>
        </p:txBody>
      </p:sp>
      <p:sp>
        <p:nvSpPr>
          <p:cNvPr id="11" name="Shape 10"/>
          <p:cNvSpPr/>
          <p:nvPr/>
        </p:nvSpPr>
        <p:spPr>
          <a:xfrm>
            <a:off x="1325880" y="1664208"/>
            <a:ext cx="914400"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325880" y="1664208"/>
            <a:ext cx="914400" cy="292608"/>
          </a:xfrm>
          <a:prstGeom prst="rect">
            <a:avLst/>
          </a:prstGeom>
          <a:noFill/>
        </p:spPr>
        <p:txBody>
          <a:bodyPr wrap="square" lIns="0" rIns="0" tIns="0" bIns="0" anchor="ctr">
            <a:spAutoFit/>
          </a:bodyPr>
          <a:lstStyle/>
          <a:p>
            <a:pPr algn="ctr"/>
            <a:r>
              <a:rPr sz="700" b="1" i="0">
                <a:solidFill>
                  <a:srgbClr val="1A1A1A"/>
                </a:solidFill>
                <a:latin typeface="Trenda IG Text"/>
              </a:rPr>
              <a:t>Tech lead / SEM</a:t>
            </a:r>
          </a:p>
        </p:txBody>
      </p:sp>
      <p:sp>
        <p:nvSpPr>
          <p:cNvPr id="13" name="Shape 12"/>
          <p:cNvSpPr/>
          <p:nvPr/>
        </p:nvSpPr>
        <p:spPr>
          <a:xfrm>
            <a:off x="2295144" y="1664208"/>
            <a:ext cx="749808"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295144" y="1664208"/>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Dev ×2-3</a:t>
            </a:r>
          </a:p>
        </p:txBody>
      </p:sp>
      <p:sp>
        <p:nvSpPr>
          <p:cNvPr id="15" name="Shape 14"/>
          <p:cNvSpPr/>
          <p:nvPr/>
        </p:nvSpPr>
        <p:spPr>
          <a:xfrm>
            <a:off x="3099815" y="1664208"/>
            <a:ext cx="676656"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099815" y="1664208"/>
            <a:ext cx="676656" cy="292608"/>
          </a:xfrm>
          <a:prstGeom prst="rect">
            <a:avLst/>
          </a:prstGeom>
          <a:noFill/>
        </p:spPr>
        <p:txBody>
          <a:bodyPr wrap="square" lIns="0" rIns="0" tIns="0" bIns="0" anchor="ctr">
            <a:spAutoFit/>
          </a:bodyPr>
          <a:lstStyle/>
          <a:p>
            <a:pPr algn="ctr"/>
            <a:r>
              <a:rPr sz="700" b="1" i="0">
                <a:solidFill>
                  <a:srgbClr val="1A1A1A"/>
                </a:solidFill>
                <a:latin typeface="Trenda IG Text"/>
              </a:rPr>
              <a:t>QA ×1-2</a:t>
            </a:r>
          </a:p>
        </p:txBody>
      </p:sp>
      <p:sp>
        <p:nvSpPr>
          <p:cNvPr id="17" name="Text 16"/>
          <p:cNvSpPr txBox="1"/>
          <p:nvPr/>
        </p:nvSpPr>
        <p:spPr>
          <a:xfrm>
            <a:off x="521208" y="2066543"/>
            <a:ext cx="2743200" cy="164592"/>
          </a:xfrm>
          <a:prstGeom prst="rect">
            <a:avLst/>
          </a:prstGeom>
          <a:noFill/>
        </p:spPr>
        <p:txBody>
          <a:bodyPr wrap="square" lIns="0" rIns="0" tIns="0" bIns="0" anchor="ctr">
            <a:spAutoFit/>
          </a:bodyPr>
          <a:lstStyle/>
          <a:p>
            <a:r>
              <a:rPr sz="700" b="1" i="0" spc="80">
                <a:solidFill>
                  <a:srgbClr val="0089A0"/>
                </a:solidFill>
                <a:latin typeface="Trenda IG Text"/>
              </a:rPr>
              <a:t>WITH THE FACTORY · ~2.4 PEOPLE</a:t>
            </a:r>
          </a:p>
        </p:txBody>
      </p:sp>
      <p:sp>
        <p:nvSpPr>
          <p:cNvPr id="18" name="Shape 17"/>
          <p:cNvSpPr/>
          <p:nvPr/>
        </p:nvSpPr>
        <p:spPr>
          <a:xfrm>
            <a:off x="521208" y="2249424"/>
            <a:ext cx="89611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21208" y="2249424"/>
            <a:ext cx="896112" cy="292608"/>
          </a:xfrm>
          <a:prstGeom prst="rect">
            <a:avLst/>
          </a:prstGeom>
          <a:noFill/>
        </p:spPr>
        <p:txBody>
          <a:bodyPr wrap="square" lIns="0" rIns="0" tIns="0" bIns="0" anchor="ctr">
            <a:spAutoFit/>
          </a:bodyPr>
          <a:lstStyle/>
          <a:p>
            <a:pPr algn="ctr"/>
            <a:r>
              <a:rPr sz="700" b="1" i="0">
                <a:solidFill>
                  <a:srgbClr val="1A1A1A"/>
                </a:solidFill>
                <a:latin typeface="Trenda IG Text"/>
              </a:rPr>
              <a:t>PM / Tech Lead</a:t>
            </a:r>
          </a:p>
        </p:txBody>
      </p:sp>
      <p:sp>
        <p:nvSpPr>
          <p:cNvPr id="20" name="Shape 19"/>
          <p:cNvSpPr/>
          <p:nvPr/>
        </p:nvSpPr>
        <p:spPr>
          <a:xfrm>
            <a:off x="1472184" y="2249424"/>
            <a:ext cx="89611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1472184" y="2249424"/>
            <a:ext cx="896112" cy="292608"/>
          </a:xfrm>
          <a:prstGeom prst="rect">
            <a:avLst/>
          </a:prstGeom>
          <a:noFill/>
        </p:spPr>
        <p:txBody>
          <a:bodyPr wrap="square" lIns="0" rIns="0" tIns="0" bIns="0" anchor="ctr">
            <a:spAutoFit/>
          </a:bodyPr>
          <a:lstStyle/>
          <a:p>
            <a:pPr algn="ctr"/>
            <a:r>
              <a:rPr sz="700" b="1" i="0">
                <a:solidFill>
                  <a:srgbClr val="1A1A1A"/>
                </a:solidFill>
                <a:latin typeface="Trenda IG Text"/>
              </a:rPr>
              <a:t>Dev / QA</a:t>
            </a:r>
          </a:p>
        </p:txBody>
      </p:sp>
      <p:sp>
        <p:nvSpPr>
          <p:cNvPr id="22" name="Shape 21"/>
          <p:cNvSpPr/>
          <p:nvPr/>
        </p:nvSpPr>
        <p:spPr>
          <a:xfrm>
            <a:off x="2423160" y="2249424"/>
            <a:ext cx="98755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2478024" y="2322576"/>
            <a:ext cx="146304" cy="146304"/>
          </a:xfrm>
          <a:prstGeom prst="rect">
            <a:avLst/>
          </a:prstGeom>
        </p:spPr>
      </p:pic>
      <p:sp>
        <p:nvSpPr>
          <p:cNvPr id="24" name="Text 22"/>
          <p:cNvSpPr txBox="1"/>
          <p:nvPr/>
        </p:nvSpPr>
        <p:spPr>
          <a:xfrm>
            <a:off x="2606040" y="2249424"/>
            <a:ext cx="786384" cy="292608"/>
          </a:xfrm>
          <a:prstGeom prst="rect">
            <a:avLst/>
          </a:prstGeom>
          <a:noFill/>
        </p:spPr>
        <p:txBody>
          <a:bodyPr wrap="square" lIns="0" rIns="0" tIns="0" bIns="0" anchor="ctr">
            <a:spAutoFit/>
          </a:bodyPr>
          <a:lstStyle/>
          <a:p>
            <a:pPr algn="ctr"/>
            <a:r>
              <a:rPr sz="700" b="1" i="0">
                <a:solidFill>
                  <a:srgbClr val="0089A0"/>
                </a:solidFill>
                <a:latin typeface="Trenda IG Text"/>
              </a:rPr>
              <a:t>Harness agent</a:t>
            </a:r>
          </a:p>
        </p:txBody>
      </p:sp>
      <p:sp>
        <p:nvSpPr>
          <p:cNvPr id="25" name="Shape 23"/>
          <p:cNvSpPr/>
          <p:nvPr/>
        </p:nvSpPr>
        <p:spPr>
          <a:xfrm>
            <a:off x="3465576" y="2249424"/>
            <a:ext cx="969264"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3465576" y="2249424"/>
            <a:ext cx="969264" cy="292608"/>
          </a:xfrm>
          <a:prstGeom prst="rect">
            <a:avLst/>
          </a:prstGeom>
          <a:noFill/>
        </p:spPr>
        <p:txBody>
          <a:bodyPr wrap="square" lIns="0" rIns="0" tIns="0" bIns="0" anchor="ctr">
            <a:spAutoFit/>
          </a:bodyPr>
          <a:lstStyle/>
          <a:p>
            <a:pPr algn="ctr"/>
            <a:r>
              <a:rPr sz="700" b="1" i="0">
                <a:solidFill>
                  <a:srgbClr val="1A1A1A"/>
                </a:solidFill>
                <a:latin typeface="Trenda IG Text"/>
              </a:rPr>
              <a:t>PM / TL · shared</a:t>
            </a:r>
          </a:p>
        </p:txBody>
      </p:sp>
      <p:sp>
        <p:nvSpPr>
          <p:cNvPr id="27" name="Text 25"/>
          <p:cNvSpPr txBox="1"/>
          <p:nvPr/>
        </p:nvSpPr>
        <p:spPr>
          <a:xfrm>
            <a:off x="521208" y="2596896"/>
            <a:ext cx="3986783" cy="365760"/>
          </a:xfrm>
          <a:prstGeom prst="rect">
            <a:avLst/>
          </a:prstGeom>
          <a:noFill/>
        </p:spPr>
        <p:txBody>
          <a:bodyPr wrap="square" lIns="0" rIns="0" tIns="0" bIns="0" anchor="t">
            <a:spAutoFit/>
          </a:bodyPr>
          <a:lstStyle/>
          <a:p>
            <a:r>
              <a:rPr sz="700" b="1" i="0">
                <a:solidFill>
                  <a:srgbClr val="0089A0"/>
                </a:solidFill>
                <a:latin typeface="Trenda IG Text"/>
              </a:rPr>
              <a:t>Agent </a:t>
            </a:r>
            <a:r>
              <a:rPr sz="700" b="0" i="0">
                <a:solidFill>
                  <a:srgbClr val="1A1A1A"/>
                </a:solidFill>
                <a:latin typeface="Trenda IG Text"/>
              </a:rPr>
              <a:t>drafts code, tests and the Copado package. </a:t>
            </a:r>
            <a:r>
              <a:rPr sz="700" b="1" i="0">
                <a:solidFill>
                  <a:srgbClr val="1A1A1A"/>
                </a:solidFill>
                <a:latin typeface="Trenda IG Text"/>
              </a:rPr>
              <a:t>Dev / QA </a:t>
            </a:r>
            <a:r>
              <a:rPr sz="700" b="0" i="0">
                <a:solidFill>
                  <a:srgbClr val="1A1A1A"/>
                </a:solidFill>
                <a:latin typeface="Trenda IG Text"/>
              </a:rPr>
              <a:t>directs it and verifies. </a:t>
            </a:r>
            <a:r>
              <a:rPr sz="700" b="1" i="0">
                <a:solidFill>
                  <a:srgbClr val="1A1A1A"/>
                </a:solidFill>
                <a:latin typeface="Trenda IG Text"/>
              </a:rPr>
              <a:t>PM / TL </a:t>
            </a:r>
            <a:r>
              <a:rPr sz="700" b="0" i="0">
                <a:solidFill>
                  <a:srgbClr val="1A1A1A"/>
                </a:solidFill>
                <a:latin typeface="Trenda IG Text"/>
              </a:rPr>
              <a:t>owns it and approves at H3; one more is shared by 2-3 squads.</a:t>
            </a:r>
          </a:p>
        </p:txBody>
      </p:sp>
      <p:sp>
        <p:nvSpPr>
          <p:cNvPr id="28" name="Shape 26"/>
          <p:cNvSpPr/>
          <p:nvPr/>
        </p:nvSpPr>
        <p:spPr>
          <a:xfrm>
            <a:off x="4727448" y="1170432"/>
            <a:ext cx="4206240" cy="1828800"/>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727448" y="1170432"/>
            <a:ext cx="420624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837176" y="1170432"/>
            <a:ext cx="3986783" cy="256032"/>
          </a:xfrm>
          <a:prstGeom prst="rect">
            <a:avLst/>
          </a:prstGeom>
          <a:noFill/>
        </p:spPr>
        <p:txBody>
          <a:bodyPr wrap="square" lIns="0" rIns="0" tIns="0" bIns="0" anchor="ctr">
            <a:spAutoFit/>
          </a:bodyPr>
          <a:lstStyle/>
          <a:p>
            <a:r>
              <a:rPr sz="700" b="1" i="0" spc="120">
                <a:solidFill>
                  <a:srgbClr val="1A1A1A"/>
                </a:solidFill>
                <a:latin typeface="Trenda IG Text"/>
              </a:rPr>
              <a:t>WHAT CHANGES FOR EVERY POD</a:t>
            </a:r>
          </a:p>
        </p:txBody>
      </p:sp>
      <p:sp>
        <p:nvSpPr>
          <p:cNvPr id="31" name="Shape 29"/>
          <p:cNvSpPr/>
          <p:nvPr/>
        </p:nvSpPr>
        <p:spPr>
          <a:xfrm>
            <a:off x="4837176" y="1517904"/>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30"/>
          <p:cNvSpPr/>
          <p:nvPr/>
        </p:nvSpPr>
        <p:spPr>
          <a:xfrm>
            <a:off x="4837176" y="1517904"/>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salesforce.png"/>
          <p:cNvPicPr>
            <a:picLocks noChangeAspect="1"/>
          </p:cNvPicPr>
          <p:nvPr/>
        </p:nvPicPr>
        <p:blipFill>
          <a:blip r:embed="rId3"/>
          <a:stretch>
            <a:fillRect/>
          </a:stretch>
        </p:blipFill>
        <p:spPr>
          <a:xfrm>
            <a:off x="4965192" y="1572768"/>
            <a:ext cx="164592" cy="164592"/>
          </a:xfrm>
          <a:prstGeom prst="rect">
            <a:avLst/>
          </a:prstGeom>
        </p:spPr>
      </p:pic>
      <p:sp>
        <p:nvSpPr>
          <p:cNvPr id="34" name="Text 31"/>
          <p:cNvSpPr txBox="1"/>
          <p:nvPr/>
        </p:nvSpPr>
        <p:spPr>
          <a:xfrm>
            <a:off x="5184648" y="1545336"/>
            <a:ext cx="3602735" cy="182880"/>
          </a:xfrm>
          <a:prstGeom prst="rect">
            <a:avLst/>
          </a:prstGeom>
          <a:noFill/>
        </p:spPr>
        <p:txBody>
          <a:bodyPr wrap="square" lIns="0" rIns="0" tIns="0" bIns="0" anchor="ctr">
            <a:spAutoFit/>
          </a:bodyPr>
          <a:lstStyle/>
          <a:p>
            <a:r>
              <a:rPr sz="740" b="1" i="0">
                <a:solidFill>
                  <a:srgbClr val="1A1A1A"/>
                </a:solidFill>
                <a:latin typeface="Trenda IG Text"/>
              </a:rPr>
              <a:t>Health Cloud pods</a:t>
            </a:r>
          </a:p>
        </p:txBody>
      </p:sp>
      <p:sp>
        <p:nvSpPr>
          <p:cNvPr id="35" name="Text 32"/>
          <p:cNvSpPr txBox="1"/>
          <p:nvPr/>
        </p:nvSpPr>
        <p:spPr>
          <a:xfrm>
            <a:off x="4965192" y="1728216"/>
            <a:ext cx="3803903" cy="219456"/>
          </a:xfrm>
          <a:prstGeom prst="rect">
            <a:avLst/>
          </a:prstGeom>
          <a:noFill/>
        </p:spPr>
        <p:txBody>
          <a:bodyPr wrap="square" lIns="0" rIns="0" tIns="0" bIns="0" anchor="ctr">
            <a:spAutoFit/>
          </a:bodyPr>
          <a:lstStyle/>
          <a:p>
            <a:r>
              <a:rPr sz="700" b="0" i="0">
                <a:solidFill>
                  <a:srgbClr val="1A1A1A"/>
                </a:solidFill>
                <a:latin typeface="Trenda IG Text"/>
              </a:rPr>
              <a:t>Jira story to UAT in about 2 days, not about 2 weeks</a:t>
            </a:r>
          </a:p>
        </p:txBody>
      </p:sp>
      <p:sp>
        <p:nvSpPr>
          <p:cNvPr id="36" name="Shape 33"/>
          <p:cNvSpPr/>
          <p:nvPr/>
        </p:nvSpPr>
        <p:spPr>
          <a:xfrm>
            <a:off x="4837176" y="2002536"/>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4837176" y="2002536"/>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alesforce.png"/>
          <p:cNvPicPr>
            <a:picLocks noChangeAspect="1"/>
          </p:cNvPicPr>
          <p:nvPr/>
        </p:nvPicPr>
        <p:blipFill>
          <a:blip r:embed="rId3"/>
          <a:stretch>
            <a:fillRect/>
          </a:stretch>
        </p:blipFill>
        <p:spPr>
          <a:xfrm>
            <a:off x="4965192" y="2057400"/>
            <a:ext cx="164592" cy="164592"/>
          </a:xfrm>
          <a:prstGeom prst="rect">
            <a:avLst/>
          </a:prstGeom>
        </p:spPr>
      </p:pic>
      <p:sp>
        <p:nvSpPr>
          <p:cNvPr id="39" name="Text 35"/>
          <p:cNvSpPr txBox="1"/>
          <p:nvPr/>
        </p:nvSpPr>
        <p:spPr>
          <a:xfrm>
            <a:off x="5184648" y="2029968"/>
            <a:ext cx="3602735" cy="182880"/>
          </a:xfrm>
          <a:prstGeom prst="rect">
            <a:avLst/>
          </a:prstGeom>
          <a:noFill/>
        </p:spPr>
        <p:txBody>
          <a:bodyPr wrap="square" lIns="0" rIns="0" tIns="0" bIns="0" anchor="ctr">
            <a:spAutoFit/>
          </a:bodyPr>
          <a:lstStyle/>
          <a:p>
            <a:r>
              <a:rPr sz="740" b="1" i="0">
                <a:solidFill>
                  <a:srgbClr val="1A1A1A"/>
                </a:solidFill>
                <a:latin typeface="Trenda IG Text"/>
              </a:rPr>
              <a:t>Marketing Cloud pods</a:t>
            </a:r>
          </a:p>
        </p:txBody>
      </p:sp>
      <p:sp>
        <p:nvSpPr>
          <p:cNvPr id="40" name="Text 36"/>
          <p:cNvSpPr txBox="1"/>
          <p:nvPr/>
        </p:nvSpPr>
        <p:spPr>
          <a:xfrm>
            <a:off x="4965192" y="2212848"/>
            <a:ext cx="3803903" cy="219456"/>
          </a:xfrm>
          <a:prstGeom prst="rect">
            <a:avLst/>
          </a:prstGeom>
          <a:noFill/>
        </p:spPr>
        <p:txBody>
          <a:bodyPr wrap="square" lIns="0" rIns="0" tIns="0" bIns="0" anchor="ctr">
            <a:spAutoFit/>
          </a:bodyPr>
          <a:lstStyle/>
          <a:p>
            <a:r>
              <a:rPr sz="700" b="0" i="0">
                <a:solidFill>
                  <a:srgbClr val="1A1A1A"/>
                </a:solidFill>
                <a:latin typeface="Trenda IG Text"/>
              </a:rPr>
              <a:t>campaigns build on governed data that is already ready; no data preparation per campaign</a:t>
            </a:r>
          </a:p>
        </p:txBody>
      </p:sp>
      <p:sp>
        <p:nvSpPr>
          <p:cNvPr id="41" name="Shape 37"/>
          <p:cNvSpPr/>
          <p:nvPr/>
        </p:nvSpPr>
        <p:spPr>
          <a:xfrm>
            <a:off x="4837176" y="2487168"/>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38"/>
          <p:cNvSpPr/>
          <p:nvPr/>
        </p:nvSpPr>
        <p:spPr>
          <a:xfrm>
            <a:off x="4837176" y="2487168"/>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9"/>
          <p:cNvSpPr txBox="1"/>
          <p:nvPr/>
        </p:nvSpPr>
        <p:spPr>
          <a:xfrm>
            <a:off x="4965192" y="2514600"/>
            <a:ext cx="3822191" cy="182880"/>
          </a:xfrm>
          <a:prstGeom prst="rect">
            <a:avLst/>
          </a:prstGeom>
          <a:noFill/>
        </p:spPr>
        <p:txBody>
          <a:bodyPr wrap="square" lIns="0" rIns="0" tIns="0" bIns="0" anchor="ctr">
            <a:spAutoFit/>
          </a:bodyPr>
          <a:lstStyle/>
          <a:p>
            <a:r>
              <a:rPr sz="740" b="1" i="0">
                <a:solidFill>
                  <a:srgbClr val="1A1A1A"/>
                </a:solidFill>
                <a:latin typeface="Trenda IG Text"/>
              </a:rPr>
              <a:t>Sierra pod</a:t>
            </a:r>
          </a:p>
        </p:txBody>
      </p:sp>
      <p:sp>
        <p:nvSpPr>
          <p:cNvPr id="44" name="Text 40"/>
          <p:cNvSpPr txBox="1"/>
          <p:nvPr/>
        </p:nvSpPr>
        <p:spPr>
          <a:xfrm>
            <a:off x="4965192" y="2697480"/>
            <a:ext cx="3803903" cy="219456"/>
          </a:xfrm>
          <a:prstGeom prst="rect">
            <a:avLst/>
          </a:prstGeom>
          <a:noFill/>
        </p:spPr>
        <p:txBody>
          <a:bodyPr wrap="square" lIns="0" rIns="0" tIns="0" bIns="0" anchor="ctr">
            <a:spAutoFit/>
          </a:bodyPr>
          <a:lstStyle/>
          <a:p>
            <a:r>
              <a:rPr sz="700" b="0" i="0">
                <a:solidFill>
                  <a:srgbClr val="1A1A1A"/>
                </a:solidFill>
                <a:latin typeface="Trenda IG Text"/>
              </a:rPr>
              <a:t>answers from governed articles; bookings through scoped APIs, caller verified first</a:t>
            </a:r>
          </a:p>
        </p:txBody>
      </p:sp>
      <p:sp>
        <p:nvSpPr>
          <p:cNvPr id="45" name="Shape 41"/>
          <p:cNvSpPr/>
          <p:nvPr/>
        </p:nvSpPr>
        <p:spPr>
          <a:xfrm>
            <a:off x="9043415" y="1170432"/>
            <a:ext cx="2734056" cy="1828800"/>
          </a:xfrm>
          <a:prstGeom prst="roundRect">
            <a:avLst>
              <a:gd name="adj" fmla="val 3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2"/>
          <p:cNvSpPr/>
          <p:nvPr/>
        </p:nvSpPr>
        <p:spPr>
          <a:xfrm>
            <a:off x="9043415" y="1170432"/>
            <a:ext cx="2734056"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3"/>
          <p:cNvSpPr txBox="1"/>
          <p:nvPr/>
        </p:nvSpPr>
        <p:spPr>
          <a:xfrm>
            <a:off x="9153143" y="1170432"/>
            <a:ext cx="2514600" cy="256032"/>
          </a:xfrm>
          <a:prstGeom prst="rect">
            <a:avLst/>
          </a:prstGeom>
          <a:noFill/>
        </p:spPr>
        <p:txBody>
          <a:bodyPr wrap="square" lIns="0" rIns="0" tIns="0" bIns="0" anchor="ctr">
            <a:spAutoFit/>
          </a:bodyPr>
          <a:lstStyle/>
          <a:p>
            <a:r>
              <a:rPr sz="700" b="1" i="0" spc="120">
                <a:solidFill>
                  <a:srgbClr val="1A1A1A"/>
                </a:solidFill>
                <a:latin typeface="Trenda IG Text"/>
              </a:rPr>
              <a:t>BUILD AND RUN</a:t>
            </a:r>
          </a:p>
        </p:txBody>
      </p:sp>
      <p:sp>
        <p:nvSpPr>
          <p:cNvPr id="48" name="Shape 44"/>
          <p:cNvSpPr/>
          <p:nvPr/>
        </p:nvSpPr>
        <p:spPr>
          <a:xfrm>
            <a:off x="9153143"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9226295"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17</a:t>
            </a:r>
          </a:p>
        </p:txBody>
      </p:sp>
      <p:sp>
        <p:nvSpPr>
          <p:cNvPr id="50" name="Text 46"/>
          <p:cNvSpPr txBox="1"/>
          <p:nvPr/>
        </p:nvSpPr>
        <p:spPr>
          <a:xfrm>
            <a:off x="9226295" y="1956816"/>
            <a:ext cx="679704" cy="438912"/>
          </a:xfrm>
          <a:prstGeom prst="rect">
            <a:avLst/>
          </a:prstGeom>
          <a:noFill/>
        </p:spPr>
        <p:txBody>
          <a:bodyPr wrap="square" lIns="0" rIns="0" tIns="0" bIns="0" anchor="t">
            <a:spAutoFit/>
          </a:bodyPr>
          <a:lstStyle/>
          <a:p>
            <a:r>
              <a:rPr sz="700" b="0" i="0">
                <a:solidFill>
                  <a:srgbClr val="1A1A1A"/>
                </a:solidFill>
                <a:latin typeface="Trenda IG Text"/>
              </a:rPr>
              <a:t>people at peak, 10 roles</a:t>
            </a:r>
          </a:p>
        </p:txBody>
      </p:sp>
      <p:sp>
        <p:nvSpPr>
          <p:cNvPr id="51" name="Shape 47"/>
          <p:cNvSpPr/>
          <p:nvPr/>
        </p:nvSpPr>
        <p:spPr>
          <a:xfrm>
            <a:off x="10015727"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10088879"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18</a:t>
            </a:r>
          </a:p>
        </p:txBody>
      </p:sp>
      <p:sp>
        <p:nvSpPr>
          <p:cNvPr id="53" name="Text 49"/>
          <p:cNvSpPr txBox="1"/>
          <p:nvPr/>
        </p:nvSpPr>
        <p:spPr>
          <a:xfrm>
            <a:off x="10088879" y="1956816"/>
            <a:ext cx="679704" cy="438912"/>
          </a:xfrm>
          <a:prstGeom prst="rect">
            <a:avLst/>
          </a:prstGeom>
          <a:noFill/>
        </p:spPr>
        <p:txBody>
          <a:bodyPr wrap="square" lIns="0" rIns="0" tIns="0" bIns="0" anchor="t">
            <a:spAutoFit/>
          </a:bodyPr>
          <a:lstStyle/>
          <a:p>
            <a:r>
              <a:rPr sz="700" b="0" i="0">
                <a:solidFill>
                  <a:srgbClr val="1A1A1A"/>
                </a:solidFill>
                <a:latin typeface="Trenda IG Text"/>
              </a:rPr>
              <a:t>months to every pod live</a:t>
            </a:r>
          </a:p>
        </p:txBody>
      </p:sp>
      <p:sp>
        <p:nvSpPr>
          <p:cNvPr id="54" name="Shape 50"/>
          <p:cNvSpPr/>
          <p:nvPr/>
        </p:nvSpPr>
        <p:spPr>
          <a:xfrm>
            <a:off x="10878311"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1"/>
          <p:cNvSpPr txBox="1"/>
          <p:nvPr/>
        </p:nvSpPr>
        <p:spPr>
          <a:xfrm>
            <a:off x="10951463"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4</a:t>
            </a:r>
          </a:p>
        </p:txBody>
      </p:sp>
      <p:sp>
        <p:nvSpPr>
          <p:cNvPr id="56" name="Text 52"/>
          <p:cNvSpPr txBox="1"/>
          <p:nvPr/>
        </p:nvSpPr>
        <p:spPr>
          <a:xfrm>
            <a:off x="10951463" y="1956816"/>
            <a:ext cx="679704" cy="438912"/>
          </a:xfrm>
          <a:prstGeom prst="rect">
            <a:avLst/>
          </a:prstGeom>
          <a:noFill/>
        </p:spPr>
        <p:txBody>
          <a:bodyPr wrap="square" lIns="0" rIns="0" tIns="0" bIns="0" anchor="t">
            <a:spAutoFit/>
          </a:bodyPr>
          <a:lstStyle/>
          <a:p>
            <a:r>
              <a:rPr sz="700" b="0" i="0">
                <a:solidFill>
                  <a:srgbClr val="1A1A1A"/>
                </a:solidFill>
                <a:latin typeface="Trenda IG Text"/>
              </a:rPr>
              <a:t>run team from month 19</a:t>
            </a:r>
          </a:p>
        </p:txBody>
      </p:sp>
      <p:sp>
        <p:nvSpPr>
          <p:cNvPr id="57" name="Text 53"/>
          <p:cNvSpPr txBox="1"/>
          <p:nvPr/>
        </p:nvSpPr>
        <p:spPr>
          <a:xfrm>
            <a:off x="9153143" y="2505456"/>
            <a:ext cx="2514600" cy="457200"/>
          </a:xfrm>
          <a:prstGeom prst="rect">
            <a:avLst/>
          </a:prstGeom>
          <a:noFill/>
        </p:spPr>
        <p:txBody>
          <a:bodyPr wrap="square" lIns="0" rIns="0" tIns="0" bIns="0" anchor="ctr">
            <a:spAutoFit/>
          </a:bodyPr>
          <a:lstStyle/>
          <a:p>
            <a:r>
              <a:rPr sz="700" b="0" i="0">
                <a:solidFill>
                  <a:srgbClr val="1A1A1A"/>
                </a:solidFill>
                <a:latin typeface="Trenda IG Text"/>
              </a:rPr>
              <a:t>The run team keeps the graph, agents, rules and evals current once every pod is live.</a:t>
            </a:r>
          </a:p>
        </p:txBody>
      </p:sp>
      <p:sp>
        <p:nvSpPr>
          <p:cNvPr id="58" name="Shape 54"/>
          <p:cNvSpPr/>
          <p:nvPr/>
        </p:nvSpPr>
        <p:spPr>
          <a:xfrm>
            <a:off x="411480"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5"/>
          <p:cNvSpPr txBox="1"/>
          <p:nvPr/>
        </p:nvSpPr>
        <p:spPr>
          <a:xfrm>
            <a:off x="557784"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1</a:t>
            </a:r>
          </a:p>
        </p:txBody>
      </p:sp>
      <p:sp>
        <p:nvSpPr>
          <p:cNvPr id="60" name="Text 56"/>
          <p:cNvSpPr txBox="1"/>
          <p:nvPr/>
        </p:nvSpPr>
        <p:spPr>
          <a:xfrm>
            <a:off x="557784"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61" name="Text 57"/>
          <p:cNvSpPr txBox="1"/>
          <p:nvPr/>
        </p:nvSpPr>
        <p:spPr>
          <a:xfrm>
            <a:off x="2011680"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FACTORY</a:t>
            </a:r>
          </a:p>
        </p:txBody>
      </p:sp>
      <p:sp>
        <p:nvSpPr>
          <p:cNvPr id="62" name="Text 58"/>
          <p:cNvSpPr txBox="1"/>
          <p:nvPr/>
        </p:nvSpPr>
        <p:spPr>
          <a:xfrm>
            <a:off x="557784"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63" name="Arrow 59"/>
          <p:cNvCxnSpPr/>
          <p:nvPr/>
        </p:nvCxnSpPr>
        <p:spPr>
          <a:xfrm>
            <a:off x="1508760" y="3822192"/>
            <a:ext cx="36576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 60"/>
          <p:cNvSpPr txBox="1"/>
          <p:nvPr/>
        </p:nvSpPr>
        <p:spPr>
          <a:xfrm>
            <a:off x="2011680"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$11.2M</a:t>
            </a:r>
          </a:p>
        </p:txBody>
      </p:sp>
      <p:sp>
        <p:nvSpPr>
          <p:cNvPr id="65" name="Differentiator Border 62"/>
          <p:cNvSpPr/>
          <p:nvPr/>
        </p:nvSpPr>
        <p:spPr>
          <a:xfrm>
            <a:off x="557784"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3"/>
          <p:cNvSpPr/>
          <p:nvPr/>
        </p:nvSpPr>
        <p:spPr>
          <a:xfrm>
            <a:off x="585216"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4"/>
          <p:cNvSpPr txBox="1"/>
          <p:nvPr/>
        </p:nvSpPr>
        <p:spPr>
          <a:xfrm>
            <a:off x="694944"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30% of the year's spend</a:t>
            </a:r>
          </a:p>
        </p:txBody>
      </p:sp>
      <p:sp>
        <p:nvSpPr>
          <p:cNvPr id="68" name="Text 65"/>
          <p:cNvSpPr txBox="1"/>
          <p:nvPr/>
        </p:nvSpPr>
        <p:spPr>
          <a:xfrm>
            <a:off x="2557271"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$4.8M</a:t>
            </a:r>
          </a:p>
        </p:txBody>
      </p:sp>
      <p:sp>
        <p:nvSpPr>
          <p:cNvPr id="69" name="Text 66"/>
          <p:cNvSpPr txBox="1"/>
          <p:nvPr/>
        </p:nvSpPr>
        <p:spPr>
          <a:xfrm>
            <a:off x="557784"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Pods go live through the year.</a:t>
            </a:r>
          </a:p>
        </p:txBody>
      </p:sp>
      <p:sp>
        <p:nvSpPr>
          <p:cNvPr id="70" name="Shape 67"/>
          <p:cNvSpPr/>
          <p:nvPr/>
        </p:nvSpPr>
        <p:spPr>
          <a:xfrm>
            <a:off x="4248912"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4395216"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2</a:t>
            </a:r>
          </a:p>
        </p:txBody>
      </p:sp>
      <p:sp>
        <p:nvSpPr>
          <p:cNvPr id="72" name="Text 69"/>
          <p:cNvSpPr txBox="1"/>
          <p:nvPr/>
        </p:nvSpPr>
        <p:spPr>
          <a:xfrm>
            <a:off x="4395216"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73" name="Text 70"/>
          <p:cNvSpPr txBox="1"/>
          <p:nvPr/>
        </p:nvSpPr>
        <p:spPr>
          <a:xfrm>
            <a:off x="5849112"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FACTORY</a:t>
            </a:r>
          </a:p>
        </p:txBody>
      </p:sp>
      <p:sp>
        <p:nvSpPr>
          <p:cNvPr id="74" name="Text 71"/>
          <p:cNvSpPr txBox="1"/>
          <p:nvPr/>
        </p:nvSpPr>
        <p:spPr>
          <a:xfrm>
            <a:off x="4395216"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75" name="Arrow 72"/>
          <p:cNvCxnSpPr/>
          <p:nvPr/>
        </p:nvCxnSpPr>
        <p:spPr>
          <a:xfrm>
            <a:off x="5346192" y="3822192"/>
            <a:ext cx="365759"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 73"/>
          <p:cNvSpPr txBox="1"/>
          <p:nvPr/>
        </p:nvSpPr>
        <p:spPr>
          <a:xfrm>
            <a:off x="5849112"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$8.8M</a:t>
            </a:r>
          </a:p>
        </p:txBody>
      </p:sp>
      <p:sp>
        <p:nvSpPr>
          <p:cNvPr id="77" name="Differentiator Border 75"/>
          <p:cNvSpPr/>
          <p:nvPr/>
        </p:nvSpPr>
        <p:spPr>
          <a:xfrm>
            <a:off x="4395216"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6"/>
          <p:cNvSpPr/>
          <p:nvPr/>
        </p:nvSpPr>
        <p:spPr>
          <a:xfrm>
            <a:off x="4422648"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7"/>
          <p:cNvSpPr txBox="1"/>
          <p:nvPr/>
        </p:nvSpPr>
        <p:spPr>
          <a:xfrm>
            <a:off x="4532376"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45% of the year's spend</a:t>
            </a:r>
          </a:p>
        </p:txBody>
      </p:sp>
      <p:sp>
        <p:nvSpPr>
          <p:cNvPr id="80" name="Text 78"/>
          <p:cNvSpPr txBox="1"/>
          <p:nvPr/>
        </p:nvSpPr>
        <p:spPr>
          <a:xfrm>
            <a:off x="6394703"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$7.2M</a:t>
            </a:r>
          </a:p>
        </p:txBody>
      </p:sp>
      <p:sp>
        <p:nvSpPr>
          <p:cNvPr id="81" name="Text 79"/>
          <p:cNvSpPr txBox="1"/>
          <p:nvPr/>
        </p:nvSpPr>
        <p:spPr>
          <a:xfrm>
            <a:off x="4395216"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Every pod on the factory for the full year.</a:t>
            </a:r>
          </a:p>
        </p:txBody>
      </p:sp>
      <p:sp>
        <p:nvSpPr>
          <p:cNvPr id="82" name="Shape 80"/>
          <p:cNvSpPr/>
          <p:nvPr/>
        </p:nvSpPr>
        <p:spPr>
          <a:xfrm>
            <a:off x="8086343"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1"/>
          <p:cNvSpPr txBox="1"/>
          <p:nvPr/>
        </p:nvSpPr>
        <p:spPr>
          <a:xfrm>
            <a:off x="8232647"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3</a:t>
            </a:r>
          </a:p>
        </p:txBody>
      </p:sp>
      <p:sp>
        <p:nvSpPr>
          <p:cNvPr id="84" name="Text 82"/>
          <p:cNvSpPr txBox="1"/>
          <p:nvPr/>
        </p:nvSpPr>
        <p:spPr>
          <a:xfrm>
            <a:off x="8232647"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85" name="Text 83"/>
          <p:cNvSpPr txBox="1"/>
          <p:nvPr/>
        </p:nvSpPr>
        <p:spPr>
          <a:xfrm>
            <a:off x="9686543"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FACTORY</a:t>
            </a:r>
          </a:p>
        </p:txBody>
      </p:sp>
      <p:sp>
        <p:nvSpPr>
          <p:cNvPr id="86" name="Text 84"/>
          <p:cNvSpPr txBox="1"/>
          <p:nvPr/>
        </p:nvSpPr>
        <p:spPr>
          <a:xfrm>
            <a:off x="8232647"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87" name="Arrow 85"/>
          <p:cNvCxnSpPr/>
          <p:nvPr/>
        </p:nvCxnSpPr>
        <p:spPr>
          <a:xfrm>
            <a:off x="9183623" y="3822192"/>
            <a:ext cx="36576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 86"/>
          <p:cNvSpPr txBox="1"/>
          <p:nvPr/>
        </p:nvSpPr>
        <p:spPr>
          <a:xfrm>
            <a:off x="9686543"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$8.0M</a:t>
            </a:r>
          </a:p>
        </p:txBody>
      </p:sp>
      <p:sp>
        <p:nvSpPr>
          <p:cNvPr id="89" name="Differentiator Border 88"/>
          <p:cNvSpPr/>
          <p:nvPr/>
        </p:nvSpPr>
        <p:spPr>
          <a:xfrm>
            <a:off x="8232647"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8260079"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369807"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50% of the year's spend</a:t>
            </a:r>
          </a:p>
        </p:txBody>
      </p:sp>
      <p:sp>
        <p:nvSpPr>
          <p:cNvPr id="92" name="Text 91"/>
          <p:cNvSpPr txBox="1"/>
          <p:nvPr/>
        </p:nvSpPr>
        <p:spPr>
          <a:xfrm>
            <a:off x="10232135"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$8.0M</a:t>
            </a:r>
          </a:p>
        </p:txBody>
      </p:sp>
      <p:sp>
        <p:nvSpPr>
          <p:cNvPr id="93" name="Text 92"/>
          <p:cNvSpPr txBox="1"/>
          <p:nvPr/>
        </p:nvSpPr>
        <p:spPr>
          <a:xfrm>
            <a:off x="8232647"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Full run rate: agents carry the delivery, people steer.</a:t>
            </a:r>
          </a:p>
        </p:txBody>
      </p:sp>
      <p:sp>
        <p:nvSpPr>
          <p:cNvPr id="94" name="Shape 93"/>
          <p:cNvSpPr/>
          <p:nvPr/>
        </p:nvSpPr>
        <p:spPr>
          <a:xfrm>
            <a:off x="411480" y="5029200"/>
            <a:ext cx="11365992" cy="786384"/>
          </a:xfrm>
          <a:prstGeom prst="roundRect">
            <a:avLst>
              <a:gd name="adj" fmla="val 3000"/>
            </a:avLst>
          </a:prstGeom>
          <a:solidFill>
            <a:srgbClr val="F2F2F2"/>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548640" y="506577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THREE YEARS, ALL PODS</a:t>
            </a:r>
          </a:p>
        </p:txBody>
      </p:sp>
      <p:sp>
        <p:nvSpPr>
          <p:cNvPr id="96" name="Text 95"/>
          <p:cNvSpPr txBox="1"/>
          <p:nvPr/>
        </p:nvSpPr>
        <p:spPr>
          <a:xfrm>
            <a:off x="548640"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Spend today</a:t>
            </a:r>
          </a:p>
        </p:txBody>
      </p:sp>
      <p:sp>
        <p:nvSpPr>
          <p:cNvPr id="97" name="Text 96"/>
          <p:cNvSpPr txBox="1"/>
          <p:nvPr/>
        </p:nvSpPr>
        <p:spPr>
          <a:xfrm>
            <a:off x="548640" y="5394960"/>
            <a:ext cx="2681478" cy="274320"/>
          </a:xfrm>
          <a:prstGeom prst="rect">
            <a:avLst/>
          </a:prstGeom>
          <a:noFill/>
        </p:spPr>
        <p:txBody>
          <a:bodyPr wrap="square" lIns="0" rIns="0" tIns="0" bIns="0" anchor="ctr">
            <a:spAutoFit/>
          </a:bodyPr>
          <a:lstStyle/>
          <a:p>
            <a:r>
              <a:rPr sz="1500" b="0" i="0">
                <a:solidFill>
                  <a:srgbClr val="1A1A1A"/>
                </a:solidFill>
                <a:latin typeface="Trenda IG Text"/>
              </a:rPr>
              <a:t>$48.0M</a:t>
            </a:r>
          </a:p>
        </p:txBody>
      </p:sp>
      <p:sp>
        <p:nvSpPr>
          <p:cNvPr id="98" name="Text 97"/>
          <p:cNvSpPr txBox="1"/>
          <p:nvPr/>
        </p:nvSpPr>
        <p:spPr>
          <a:xfrm>
            <a:off x="548640"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$16M a year × 3</a:t>
            </a:r>
          </a:p>
        </p:txBody>
      </p:sp>
      <p:sp>
        <p:nvSpPr>
          <p:cNvPr id="99" name="Text 98"/>
          <p:cNvSpPr txBox="1"/>
          <p:nvPr/>
        </p:nvSpPr>
        <p:spPr>
          <a:xfrm>
            <a:off x="3321558"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With the factory</a:t>
            </a:r>
          </a:p>
        </p:txBody>
      </p:sp>
      <p:sp>
        <p:nvSpPr>
          <p:cNvPr id="100" name="Text 99"/>
          <p:cNvSpPr txBox="1"/>
          <p:nvPr/>
        </p:nvSpPr>
        <p:spPr>
          <a:xfrm>
            <a:off x="3321558" y="5394960"/>
            <a:ext cx="2681478" cy="274320"/>
          </a:xfrm>
          <a:prstGeom prst="rect">
            <a:avLst/>
          </a:prstGeom>
          <a:noFill/>
        </p:spPr>
        <p:txBody>
          <a:bodyPr wrap="square" lIns="0" rIns="0" tIns="0" bIns="0" anchor="ctr">
            <a:spAutoFit/>
          </a:bodyPr>
          <a:lstStyle/>
          <a:p>
            <a:r>
              <a:rPr sz="1500" b="0" i="0">
                <a:solidFill>
                  <a:srgbClr val="1A1A1A"/>
                </a:solidFill>
                <a:latin typeface="Trenda IG Text"/>
              </a:rPr>
              <a:t>$28.1M</a:t>
            </a:r>
          </a:p>
        </p:txBody>
      </p:sp>
      <p:sp>
        <p:nvSpPr>
          <p:cNvPr id="101" name="Text 100"/>
          <p:cNvSpPr txBox="1"/>
          <p:nvPr/>
        </p:nvSpPr>
        <p:spPr>
          <a:xfrm>
            <a:off x="3321558"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people, run team and model usage included</a:t>
            </a:r>
          </a:p>
        </p:txBody>
      </p:sp>
      <p:sp>
        <p:nvSpPr>
          <p:cNvPr id="102" name="Text 101"/>
          <p:cNvSpPr txBox="1"/>
          <p:nvPr/>
        </p:nvSpPr>
        <p:spPr>
          <a:xfrm>
            <a:off x="6094476"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Saved over 3 years</a:t>
            </a:r>
          </a:p>
        </p:txBody>
      </p:sp>
      <p:sp>
        <p:nvSpPr>
          <p:cNvPr id="103" name="Text 102"/>
          <p:cNvSpPr txBox="1"/>
          <p:nvPr/>
        </p:nvSpPr>
        <p:spPr>
          <a:xfrm>
            <a:off x="6094476" y="5394960"/>
            <a:ext cx="2681478" cy="274320"/>
          </a:xfrm>
          <a:prstGeom prst="rect">
            <a:avLst/>
          </a:prstGeom>
          <a:noFill/>
        </p:spPr>
        <p:txBody>
          <a:bodyPr wrap="square" lIns="0" rIns="0" tIns="0" bIns="0" anchor="ctr">
            <a:spAutoFit/>
          </a:bodyPr>
          <a:lstStyle/>
          <a:p>
            <a:r>
              <a:rPr sz="1500" b="0" i="0">
                <a:solidFill>
                  <a:srgbClr val="0089A0"/>
                </a:solidFill>
                <a:latin typeface="Trenda IG Text"/>
              </a:rPr>
              <a:t>$19.9M</a:t>
            </a:r>
          </a:p>
        </p:txBody>
      </p:sp>
      <p:sp>
        <p:nvSpPr>
          <p:cNvPr id="104" name="Text 103"/>
          <p:cNvSpPr txBox="1"/>
          <p:nvPr/>
        </p:nvSpPr>
        <p:spPr>
          <a:xfrm>
            <a:off x="6094476"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41% of three years' spend</a:t>
            </a:r>
          </a:p>
        </p:txBody>
      </p:sp>
      <p:sp>
        <p:nvSpPr>
          <p:cNvPr id="105" name="Text 104"/>
          <p:cNvSpPr txBox="1"/>
          <p:nvPr/>
        </p:nvSpPr>
        <p:spPr>
          <a:xfrm>
            <a:off x="8867394"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At full run rate</a:t>
            </a:r>
          </a:p>
        </p:txBody>
      </p:sp>
      <p:sp>
        <p:nvSpPr>
          <p:cNvPr id="106" name="Text 105"/>
          <p:cNvSpPr txBox="1"/>
          <p:nvPr/>
        </p:nvSpPr>
        <p:spPr>
          <a:xfrm>
            <a:off x="8867394" y="5394960"/>
            <a:ext cx="2681478" cy="274320"/>
          </a:xfrm>
          <a:prstGeom prst="rect">
            <a:avLst/>
          </a:prstGeom>
          <a:noFill/>
        </p:spPr>
        <p:txBody>
          <a:bodyPr wrap="square" lIns="0" rIns="0" tIns="0" bIns="0" anchor="ctr">
            <a:spAutoFit/>
          </a:bodyPr>
          <a:lstStyle/>
          <a:p>
            <a:r>
              <a:rPr sz="1500" b="0" i="0">
                <a:solidFill>
                  <a:srgbClr val="0089A0"/>
                </a:solidFill>
                <a:latin typeface="Trenda IG Text"/>
              </a:rPr>
              <a:t>50% lower</a:t>
            </a:r>
          </a:p>
        </p:txBody>
      </p:sp>
      <p:sp>
        <p:nvSpPr>
          <p:cNvPr id="107" name="Text 106"/>
          <p:cNvSpPr txBox="1"/>
          <p:nvPr/>
        </p:nvSpPr>
        <p:spPr>
          <a:xfrm>
            <a:off x="8867394"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about $8.0M saved every year</a:t>
            </a:r>
          </a:p>
        </p:txBody>
      </p:sp>
      <p:sp>
        <p:nvSpPr>
          <p:cNvPr id="108" name="Text 107"/>
          <p:cNvSpPr txBox="1"/>
          <p:nvPr/>
        </p:nvSpPr>
        <p:spPr>
          <a:xfrm>
            <a:off x="411480" y="5852160"/>
            <a:ext cx="11365992" cy="182880"/>
          </a:xfrm>
          <a:prstGeom prst="rect">
            <a:avLst/>
          </a:prstGeom>
          <a:noFill/>
        </p:spPr>
        <p:txBody>
          <a:bodyPr wrap="square" lIns="0" rIns="0" tIns="0" bIns="0" anchor="ctr">
            <a:spAutoFit/>
          </a:bodyPr>
          <a:lstStyle/>
          <a:p>
            <a:r>
              <a:rPr sz="700" b="0" i="0">
                <a:solidFill>
                  <a:srgbClr val="6B6B6B"/>
                </a:solidFill>
                <a:latin typeface="Trenda IG Text"/>
              </a:rPr>
              <a:t>Planning estimates: people cost falls to 40% (2.4 of 6 per squad); run team and platform $1.24M a year; model and token allowance $0.4M a year, to confirm against Codex limits; ramp 60% / 90% / 100%. Confirmed against each pod's Phase 0 baseline.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