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9" r:id="rId23"/>
    <p:sldId id="270" r:id="rId24"/>
    <p:sldId id="271" r:id="rId25"/>
    <p:sldId id="265" r:id="rId19"/>
    <p:sldId id="264" r:id="rId18"/>
    <p:sldId id="262" r:id="rId16"/>
    <p:sldId id="266" r:id="rId20"/>
    <p:sldId id="272" r:id="rId26"/>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unmasks only the minimum fields for this run,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patients we cannot contact yet   (about 2 minutes)</a:t>
            </a:r>
          </a:p>
          <a:p/>
          <a:p>
            <a:r>
              <a:t>KEY MESSAGE</a:t>
            </a:r>
          </a:p>
          <a:p>
            <a:r>
              <a:t>Gold B holds the patients who have not given consent or whose information is incomplete. They stay restricted; we invite those we are allowed to ask to give consent or complete their details. When they opt in, they move to Gold A. Explicit opt-outs, STOP and deceased patients are never asked again.</a:t>
            </a:r>
          </a:p>
          <a:p/>
          <a:p>
            <a:r>
              <a:t>WALK IT</a:t>
            </a:r>
          </a:p>
          <a:p>
            <a:r>
              <a:t>- Top: Silver resolves identity and consent; patients without consent or with missing information land in Gold B. The Cohort Resolution Engine separates explicit opt-outs (never asked) from patients we may ask (consent unknown, details missing). After the masked G2 summary is approved, the Activation Engine unmasks only the minimum fields needed, for this run, and sends an update request through a permitted channel. Engagement decides the branch: opted in goes to Gold A; not opted in or still missing stays in Gold B.</a:t>
            </a:r>
          </a:p>
          <a:p>
            <a:r>
              <a:t>- Left, what is in it: the patient key, consent status, the missing information, the contact points we do have, the never-contact exclusions, preferences, and the history of requests.</a:t>
            </a:r>
          </a:p>
          <a:p>
            <a:r>
              <a:t>- Middle, who can read it: the two engines, for an approved run only; the Sierra voice agent for one verified caller. Agents, Codex, the semantic layer and the knowledge graph never; people see the masked G2 summary.</a:t>
            </a:r>
          </a:p>
          <a:p>
            <a:r>
              <a:t>- Right, what we can do with it: find who may be asked, never re-ask opt-outs, approve on counts, send the request, write the answers back to Epic and the consent system, and move consented patients to Gold A at the next refresh.</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to the opted-in patient records in Gold A (consent, contact, STOP, deceased, duplicates). Anyone with no consent or missing information goes to Gold B, where an update request can invite them to opt in. A masked pre-send report goes to the SME and tech lead, who approve (G2).</a:t>
            </a:r>
          </a:p>
          <a:p>
            <a:r>
              <a:t>12-13 Only then does the activation engine check the policy, unmask only the minimum fields for the eligible patients, and release them, time-limited, to Marketing Cloud. 14 The journey sends, with consent re-checked at send. 15 Results come back as aggregates.</a:t>
            </a:r>
          </a:p>
          <a:p/>
          <a:p>
            <a:r>
              <a:t>BEFORE ANY REQUEST</a:t>
            </a:r>
          </a:p>
          <a:p>
            <a:r>
              <a:t>The data harness keeps Sources, Bronze and Silver current in Google Cloud; consented patients land in Gold A, and patients with no consent or missing information land in Gold B.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Factory</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factory,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0089A0"/>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8A6D00"/>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88" name="Shape 81"/>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88" name="Shape 81"/>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94" name="Shape 87"/>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4" name="Shape 87"/>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00" name="Shape 93"/>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1A1A1A"/>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6" name="Shape 140"/>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60" name="Shape 144"/>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4" name="Shape 148"/>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4" name="Shape 148"/>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consent, STOP, links, hours. </a:t>
            </a:r>
            <a:r>
              <a:rPr sz="700" b="1" i="0">
                <a:solidFill>
                  <a:srgbClr val="1A1A1A"/>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19"/>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31" name="Shape 120"/>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1"/>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salesforce.png"/>
          <p:cNvPicPr>
            <a:picLocks noChangeAspect="1"/>
          </p:cNvPicPr>
          <p:nvPr/>
        </p:nvPicPr>
        <p:blipFill>
          <a:blip r:embed="rId9"/>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Shape 124"/>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5"/>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8" name="Text 126"/>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9" name="Text 127"/>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129"/>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0"/>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43" name="Picture 142" descr="people.png"/>
          <p:cNvPicPr>
            <a:picLocks noChangeAspect="1"/>
          </p:cNvPicPr>
          <p:nvPr/>
        </p:nvPicPr>
        <p:blipFill>
          <a:blip r:embed="rId6"/>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5" name="Shape 132"/>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3"/>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7" name="Text 134"/>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Shape 138"/>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39"/>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52" name="Text 140"/>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53" name="Text 141"/>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3"/>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4"/>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7" name="Picture 156"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9" name="Shape 146"/>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47"/>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61" name="Shape 148"/>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49"/>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0"/>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4" name="Picture 163"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6" name="Text 152"/>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54"/>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55"/>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70" name="Text 156"/>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71" name="Text 157"/>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5" name="Text 161"/>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6" name="Shape 162"/>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Shape 163"/>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64"/>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9" name="Text 165"/>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80" name="Arrow 166"/>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9" name="Text 185"/>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200" name="Shape 186"/>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Shape 187"/>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88"/>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203" name="Shape 189"/>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Shape 190"/>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1"/>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6" name="Shape 192"/>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Shape 193"/>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 194"/>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9" name="Shape 195"/>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Shape 196"/>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 197"/>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12" name="Shape 198"/>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Shape 199"/>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 200"/>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5" name="Shape 201"/>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Shape 202"/>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 203"/>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8" name="Shape 204"/>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Shape 205"/>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 206"/>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3 · 4 · 5 · 6</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9" name="Shape 58"/>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3" name="Shape 72"/>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5" name="Shape 104"/>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1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at once</a:t>
            </a:r>
          </a:p>
          <a:p>
            <a:pPr>
              <a:spcAft>
                <a:spcPts val="100"/>
              </a:spcAft>
            </a:pPr>
            <a:r>
              <a:rPr sz="700" b="0" i="0">
                <a:solidFill>
                  <a:srgbClr val="4D4D4D"/>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8A6D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4D4D4D"/>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scheduling</a:t>
            </a:r>
          </a:p>
          <a:p>
            <a:pPr>
              <a:spcAft>
                <a:spcPts val="100"/>
              </a:spcAft>
            </a:pPr>
            <a:r>
              <a:rPr sz="700" b="0" i="0">
                <a:solidFill>
                  <a:srgbClr val="4D4D4D"/>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Scheduling system of record</a:t>
            </a:r>
          </a:p>
          <a:p>
            <a:pPr>
              <a:spcAft>
                <a:spcPts val="100"/>
              </a:spcAft>
            </a:pPr>
            <a:r>
              <a:rPr sz="700" b="0" i="0">
                <a:solidFill>
                  <a:srgbClr val="4D4D4D"/>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patient context</a:t>
            </a:r>
          </a:p>
          <a:p>
            <a:pPr>
              <a:spcAft>
                <a:spcPts val="100"/>
              </a:spcAft>
            </a:pPr>
            <a:r>
              <a:rPr sz="700" b="0" i="0">
                <a:solidFill>
                  <a:srgbClr val="4D4D4D"/>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1A1A1A"/>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Restricted patient layer</a:t>
            </a:r>
          </a:p>
          <a:p>
            <a:pPr>
              <a:spcAft>
                <a:spcPts val="100"/>
              </a:spcAft>
            </a:pPr>
            <a:r>
              <a:rPr sz="700" b="0" i="0">
                <a:solidFill>
                  <a:srgbClr val="4D4D4D"/>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1A1A1A"/>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22" name="Shape 116"/>
          <p:cNvSpPr/>
          <p:nvPr/>
        </p:nvSpPr>
        <p:spPr>
          <a:xfrm>
            <a:off x="310634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Verified in seconds</a:t>
            </a:r>
          </a:p>
          <a:p>
            <a:pPr>
              <a:spcAft>
                <a:spcPts val="100"/>
              </a:spcAft>
            </a:pPr>
            <a:r>
              <a:rPr sz="700" b="0" i="0">
                <a:solidFill>
                  <a:srgbClr val="4D4D4D"/>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28" name="Shape 122"/>
          <p:cNvSpPr/>
          <p:nvPr/>
        </p:nvSpPr>
        <p:spPr>
          <a:xfrm>
            <a:off x="6027202"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engine</a:t>
            </a:r>
          </a:p>
          <a:p>
            <a:pPr>
              <a:spcAft>
                <a:spcPts val="100"/>
              </a:spcAft>
            </a:pPr>
            <a:r>
              <a:rPr sz="700" b="0" i="0">
                <a:solidFill>
                  <a:srgbClr val="4D4D4D"/>
                </a:solidFill>
                <a:latin typeface="Trenda IG Text"/>
              </a:rPr>
              <a:t>not only in an article</a:t>
            </a:r>
          </a:p>
        </p:txBody>
      </p:sp>
      <p:sp>
        <p:nvSpPr>
          <p:cNvPr id="131" name="Shape 125"/>
          <p:cNvSpPr/>
          <p:nvPr/>
        </p:nvSpPr>
        <p:spPr>
          <a:xfrm>
            <a:off x="7487629"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37" name="Shape 131"/>
          <p:cNvSpPr/>
          <p:nvPr/>
        </p:nvSpPr>
        <p:spPr>
          <a:xfrm>
            <a:off x="1040848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Emergencies never wait</a:t>
            </a:r>
          </a:p>
          <a:p>
            <a:pPr>
              <a:spcAft>
                <a:spcPts val="100"/>
              </a:spcAft>
            </a:pPr>
            <a:r>
              <a:rPr sz="700" b="0" i="0">
                <a:solidFill>
                  <a:srgbClr val="4D4D4D"/>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FACTORY</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1A1A1A"/>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Dev / QA </a:t>
            </a:r>
            <a:r>
              <a:rPr sz="700" b="0" i="0">
                <a:solidFill>
                  <a:srgbClr val="1A1A1A"/>
                </a:solidFill>
                <a:latin typeface="Trenda IG Text"/>
              </a:rPr>
              <a:t>directs it and verifies. </a:t>
            </a:r>
            <a:r>
              <a:rPr sz="700" b="1" i="0">
                <a:solidFill>
                  <a:srgbClr val="1A1A1A"/>
                </a:solidFill>
                <a:latin typeface="Trenda IG Text"/>
              </a:rPr>
              <a:t>PM / TL </a:t>
            </a:r>
            <a:r>
              <a:rPr sz="700" b="0" i="0">
                <a:solidFill>
                  <a:srgbClr val="1A1A1A"/>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89A0"/>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Authoritative sources</a:t>
            </a:r>
          </a:p>
          <a:p>
            <a:pPr>
              <a:lnSpc>
                <a:spcPct val="92000"/>
              </a:lnSpc>
              <a:spcAft>
                <a:spcPts val="100"/>
              </a:spcAft>
            </a:pPr>
            <a:r>
              <a:rPr sz="700" b="0" i="0">
                <a:solidFill>
                  <a:srgbClr val="4D4D4D"/>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DLP + Collibra</a:t>
            </a:r>
          </a:p>
          <a:p>
            <a:pPr>
              <a:lnSpc>
                <a:spcPct val="92000"/>
              </a:lnSpc>
              <a:spcAft>
                <a:spcPts val="100"/>
              </a:spcAft>
            </a:pPr>
            <a:r>
              <a:rPr sz="700" b="0" i="0">
                <a:solidFill>
                  <a:srgbClr val="4D4D4D"/>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Bronze → Silver</a:t>
            </a:r>
          </a:p>
          <a:p>
            <a:pPr>
              <a:lnSpc>
                <a:spcPct val="92000"/>
              </a:lnSpc>
              <a:spcAft>
                <a:spcPts val="100"/>
              </a:spcAft>
            </a:pPr>
            <a:r>
              <a:rPr sz="700" b="0" i="0">
                <a:solidFill>
                  <a:srgbClr val="4D4D4D"/>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Gold A · insight  |  restricted patient layer</a:t>
            </a:r>
          </a:p>
          <a:p>
            <a:pPr>
              <a:lnSpc>
                <a:spcPct val="92000"/>
              </a:lnSpc>
              <a:spcAft>
                <a:spcPts val="100"/>
              </a:spcAft>
            </a:pPr>
            <a:r>
              <a:rPr sz="700" b="0" i="0">
                <a:solidFill>
                  <a:srgbClr val="4D4D4D"/>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Kyvos semantic layer</a:t>
            </a:r>
          </a:p>
          <a:p>
            <a:pPr>
              <a:lnSpc>
                <a:spcPct val="92000"/>
              </a:lnSpc>
              <a:spcAft>
                <a:spcPts val="100"/>
              </a:spcAft>
            </a:pPr>
            <a:r>
              <a:rPr sz="700" b="0" i="0">
                <a:solidFill>
                  <a:srgbClr val="4D4D4D"/>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Spanner knowledge graph</a:t>
            </a:r>
          </a:p>
          <a:p>
            <a:pPr>
              <a:lnSpc>
                <a:spcPct val="92000"/>
              </a:lnSpc>
              <a:spcAft>
                <a:spcPts val="100"/>
              </a:spcAft>
            </a:pPr>
            <a:r>
              <a:rPr sz="700" b="0" i="0">
                <a:solidFill>
                  <a:srgbClr val="4D4D4D"/>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8A6D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FFFFFF"/>
          </a:solidFill>
          <a:ln w="190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1A1A1A"/>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8A6D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89A0"/>
                </a:solidFill>
                <a:latin typeface="Trenda IG Text"/>
              </a:rPr>
              <a:t>A  </a:t>
            </a:r>
            <a:r>
              <a:rPr sz="800" b="1" i="0">
                <a:solidFill>
                  <a:srgbClr val="1A1A1A"/>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4D4D4D"/>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8A6D00"/>
                </a:solidFill>
                <a:latin typeface="Trenda IG Text"/>
              </a:rPr>
              <a:t>B  </a:t>
            </a:r>
            <a:r>
              <a:rPr sz="800" b="1" i="0">
                <a:solidFill>
                  <a:srgbClr val="1A1A1A"/>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4D4D4D"/>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8A6D00"/>
                </a:solidFill>
                <a:latin typeface="Trenda IG Text"/>
              </a:rPr>
              <a:t>C  </a:t>
            </a:r>
            <a:r>
              <a:rPr sz="800" b="1" i="0">
                <a:solidFill>
                  <a:srgbClr val="1A1A1A"/>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4D4D4D"/>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8A6D00"/>
                </a:solidFill>
                <a:latin typeface="Trenda IG Text"/>
              </a:rPr>
              <a:t>D  </a:t>
            </a:r>
            <a:r>
              <a:rPr sz="800" b="1" i="0">
                <a:solidFill>
                  <a:srgbClr val="1A1A1A"/>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4D4D4D"/>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89A0"/>
                </a:solidFill>
                <a:latin typeface="Trenda IG Text"/>
              </a:rPr>
              <a:t>E  </a:t>
            </a:r>
            <a:r>
              <a:rPr sz="800" b="1" i="0">
                <a:solidFill>
                  <a:srgbClr val="1A1A1A"/>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4D4D4D"/>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5  Cohort Resolution Engine</a:t>
            </a:r>
          </a:p>
          <a:p>
            <a:pPr>
              <a:lnSpc>
                <a:spcPct val="92000"/>
              </a:lnSpc>
              <a:spcAft>
                <a:spcPts val="100"/>
              </a:spcAft>
            </a:pPr>
            <a:r>
              <a:rPr sz="700" b="0" i="0">
                <a:solidFill>
                  <a:srgbClr val="4D4D4D"/>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6  Patient query</a:t>
            </a:r>
          </a:p>
          <a:p>
            <a:pPr>
              <a:lnSpc>
                <a:spcPct val="92000"/>
              </a:lnSpc>
              <a:spcAft>
                <a:spcPts val="100"/>
              </a:spcAft>
            </a:pPr>
            <a:r>
              <a:rPr sz="700" b="0" i="0">
                <a:solidFill>
                  <a:srgbClr val="4D4D4D"/>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7  Eligibility checks</a:t>
            </a:r>
          </a:p>
          <a:p>
            <a:pPr>
              <a:lnSpc>
                <a:spcPct val="92000"/>
              </a:lnSpc>
              <a:spcAft>
                <a:spcPts val="100"/>
              </a:spcAft>
            </a:pPr>
            <a:r>
              <a:rPr sz="700" b="0" i="0">
                <a:solidFill>
                  <a:srgbClr val="4D4D4D"/>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8  Summary → Codex</a:t>
            </a:r>
          </a:p>
          <a:p>
            <a:pPr>
              <a:lnSpc>
                <a:spcPct val="92000"/>
              </a:lnSpc>
              <a:spcAft>
                <a:spcPts val="100"/>
              </a:spcAft>
            </a:pPr>
            <a:r>
              <a:rPr sz="700" b="0" i="0">
                <a:solidFill>
                  <a:srgbClr val="4D4D4D"/>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9  Activation Engine</a:t>
            </a:r>
          </a:p>
          <a:p>
            <a:pPr>
              <a:lnSpc>
                <a:spcPct val="92000"/>
              </a:lnSpc>
              <a:spcAft>
                <a:spcPts val="100"/>
              </a:spcAft>
            </a:pPr>
            <a:r>
              <a:rPr sz="700" b="0" i="0">
                <a:solidFill>
                  <a:srgbClr val="4D4D4D"/>
                </a:solidFill>
                <a:latin typeface="Trenda IG Text"/>
              </a:rPr>
              <a:t>checks G2, purpose, rule, fields; unmasks minimum fields</a:t>
            </a:r>
          </a:p>
        </p:txBody>
      </p:sp>
      <p:cxnSp>
        <p:nvCxnSpPr>
          <p:cNvPr id="82" name="Arrow 81"/>
          <p:cNvCxnSpPr/>
          <p:nvPr/>
        </p:nvCxnSpPr>
        <p:spPr>
          <a:xfrm>
            <a:off x="10213848" y="2478024"/>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10  MC data extension</a:t>
            </a:r>
          </a:p>
          <a:p>
            <a:pPr>
              <a:lnSpc>
                <a:spcPct val="92000"/>
              </a:lnSpc>
              <a:spcAft>
                <a:spcPts val="100"/>
              </a:spcAft>
            </a:pPr>
            <a:r>
              <a:rPr sz="700" b="0" i="0">
                <a:solidFill>
                  <a:srgbClr val="4D4D4D"/>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89A0"/>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11  </a:t>
            </a:r>
            <a:r>
              <a:rPr sz="700" b="1" i="0">
                <a:solidFill>
                  <a:srgbClr val="1A1A1A"/>
                </a:solidFill>
                <a:latin typeface="Trenda IG Text"/>
              </a:rPr>
              <a:t>Daily data refresh</a:t>
            </a:r>
            <a:r>
              <a:rPr sz="700" b="0" i="0">
                <a:solidFill>
                  <a:srgbClr val="4D4D4D"/>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12  </a:t>
            </a:r>
            <a:r>
              <a:rPr sz="700" b="1" i="0">
                <a:solidFill>
                  <a:srgbClr val="1A1A1A"/>
                </a:solidFill>
                <a:latin typeface="Trenda IG Text"/>
              </a:rPr>
              <a:t>Refresh trigger</a:t>
            </a:r>
            <a:r>
              <a:rPr sz="700" b="0" i="0">
                <a:solidFill>
                  <a:srgbClr val="4D4D4D"/>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13  </a:t>
            </a:r>
            <a:r>
              <a:rPr sz="700" b="1" i="0">
                <a:solidFill>
                  <a:srgbClr val="1A1A1A"/>
                </a:solidFill>
                <a:latin typeface="Trenda IG Text"/>
              </a:rPr>
              <a:t>Incremental resolver</a:t>
            </a:r>
            <a:r>
              <a:rPr sz="700" b="0" i="0">
                <a:solidFill>
                  <a:srgbClr val="4D4D4D"/>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14  </a:t>
            </a:r>
            <a:r>
              <a:rPr sz="700" b="1" i="0">
                <a:solidFill>
                  <a:srgbClr val="1A1A1A"/>
                </a:solidFill>
                <a:latin typeface="Trenda IG Text"/>
              </a:rPr>
              <a:t>Delta activation + exit sync</a:t>
            </a:r>
            <a:r>
              <a:rPr sz="700" b="0" i="0">
                <a:solidFill>
                  <a:srgbClr val="4D4D4D"/>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8A6D00"/>
                </a:solidFill>
                <a:latin typeface="Trenda IG Text"/>
              </a:rPr>
              <a:t>No daily approval </a:t>
            </a:r>
            <a:r>
              <a:rPr sz="700" b="0" i="0">
                <a:solidFill>
                  <a:srgbClr val="1A1A1A"/>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89A0"/>
                </a:solidFill>
                <a:latin typeface="Trenda IG Text"/>
              </a:rPr>
              <a:t>MARKETING CLOUD</a:t>
            </a:r>
          </a:p>
          <a:p>
            <a:pPr>
              <a:spcAft>
                <a:spcPts val="100"/>
              </a:spcAft>
            </a:pPr>
            <a:r>
              <a:rPr sz="700" b="1" i="0" spc="80">
                <a:solidFill>
                  <a:srgbClr val="0089A0"/>
                </a:solidFill>
                <a:latin typeface="Trenda IG Text"/>
              </a:rPr>
              <a:t>EXECUTION</a:t>
            </a:r>
          </a:p>
          <a:p>
            <a:pPr>
              <a:spcAft>
                <a:spcPts val="100"/>
              </a:spcAft>
            </a:pPr>
            <a:r>
              <a:rPr sz="700" b="0" i="0">
                <a:solidFill>
                  <a:srgbClr val="4D4D4D"/>
                </a:solidFill>
                <a:latin typeface="Trenda IG Text"/>
              </a:rPr>
              <a:t>inside SFMC</a:t>
            </a:r>
          </a:p>
        </p:txBody>
      </p:sp>
      <p:sp>
        <p:nvSpPr>
          <p:cNvPr id="110" name="Shape 109"/>
          <p:cNvSpPr/>
          <p:nvPr/>
        </p:nvSpPr>
        <p:spPr>
          <a:xfrm>
            <a:off x="1783080"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Contact key</a:t>
            </a:r>
          </a:p>
          <a:p>
            <a:pPr>
              <a:lnSpc>
                <a:spcPct val="92000"/>
              </a:lnSpc>
              <a:spcAft>
                <a:spcPts val="100"/>
              </a:spcAft>
            </a:pPr>
            <a:r>
              <a:rPr sz="700" b="0" i="0">
                <a:solidFill>
                  <a:srgbClr val="4D4D4D"/>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Load method</a:t>
            </a:r>
          </a:p>
          <a:p>
            <a:pPr>
              <a:lnSpc>
                <a:spcPct val="92000"/>
              </a:lnSpc>
              <a:spcAft>
                <a:spcPts val="100"/>
              </a:spcAft>
            </a:pPr>
            <a:r>
              <a:rPr sz="700" b="0" i="0">
                <a:solidFill>
                  <a:srgbClr val="4D4D4D"/>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Journey</a:t>
            </a:r>
          </a:p>
          <a:p>
            <a:pPr>
              <a:lnSpc>
                <a:spcPct val="92000"/>
              </a:lnSpc>
              <a:spcAft>
                <a:spcPts val="100"/>
              </a:spcAft>
            </a:pPr>
            <a:r>
              <a:rPr sz="700" b="0" i="0">
                <a:solidFill>
                  <a:srgbClr val="4D4D4D"/>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Consent sync</a:t>
            </a:r>
          </a:p>
          <a:p>
            <a:pPr>
              <a:lnSpc>
                <a:spcPct val="92000"/>
              </a:lnSpc>
              <a:spcAft>
                <a:spcPts val="100"/>
              </a:spcAft>
            </a:pPr>
            <a:r>
              <a:rPr sz="700" b="0" i="0">
                <a:solidFill>
                  <a:srgbClr val="4D4D4D"/>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Channel rules</a:t>
            </a:r>
          </a:p>
          <a:p>
            <a:pPr>
              <a:lnSpc>
                <a:spcPct val="92000"/>
              </a:lnSpc>
              <a:spcAft>
                <a:spcPts val="100"/>
              </a:spcAft>
            </a:pPr>
            <a:r>
              <a:rPr sz="700" b="0" i="0">
                <a:solidFill>
                  <a:srgbClr val="4D4D4D"/>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Content</a:t>
            </a:r>
          </a:p>
          <a:p>
            <a:pPr>
              <a:lnSpc>
                <a:spcPct val="92000"/>
              </a:lnSpc>
              <a:spcAft>
                <a:spcPts val="100"/>
              </a:spcAft>
            </a:pPr>
            <a:r>
              <a:rPr sz="700" b="0" i="0">
                <a:solidFill>
                  <a:srgbClr val="4D4D4D"/>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Tracking back</a:t>
            </a:r>
          </a:p>
          <a:p>
            <a:pPr>
              <a:lnSpc>
                <a:spcPct val="92000"/>
              </a:lnSpc>
              <a:spcAft>
                <a:spcPts val="100"/>
              </a:spcAft>
            </a:pPr>
            <a:r>
              <a:rPr sz="700" b="0" i="0">
                <a:solidFill>
                  <a:srgbClr val="4D4D4D"/>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Security</a:t>
            </a:r>
          </a:p>
          <a:p>
            <a:pPr>
              <a:lnSpc>
                <a:spcPct val="92000"/>
              </a:lnSpc>
              <a:spcAft>
                <a:spcPts val="100"/>
              </a:spcAft>
            </a:pPr>
            <a:r>
              <a:rPr sz="700" b="0" i="0">
                <a:solidFill>
                  <a:srgbClr val="4D4D4D"/>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8A6D00"/>
                </a:solidFill>
                <a:latin typeface="Trenda IG Text"/>
              </a:rPr>
              <a:t>RE-APPROVAL REQUIRED </a:t>
            </a:r>
            <a:r>
              <a:rPr sz="750" b="0" i="0">
                <a:solidFill>
                  <a:srgbClr val="1A1A1A"/>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Gold B: patients we cannot contact yet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Patients without consent or with missing information stay in Gold B, restricted. Those we may ask are invited to opt in or complete their details; when they opt in, they move to Gold A.</a:t>
            </a:r>
          </a:p>
        </p:txBody>
      </p:sp>
      <p:sp>
        <p:nvSpPr>
          <p:cNvPr id="5" name="Shape 4"/>
          <p:cNvSpPr/>
          <p:nvPr/>
        </p:nvSpPr>
        <p:spPr>
          <a:xfrm>
            <a:off x="411480" y="1152144"/>
            <a:ext cx="1292732" cy="65836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Silver</a:t>
            </a:r>
          </a:p>
          <a:p>
            <a:pPr>
              <a:lnSpc>
                <a:spcPct val="92000"/>
              </a:lnSpc>
              <a:spcAft>
                <a:spcPts val="100"/>
              </a:spcAft>
            </a:pPr>
            <a:r>
              <a:rPr sz="700" b="0" i="0">
                <a:solidFill>
                  <a:srgbClr val="4D4D4D"/>
                </a:solidFill>
                <a:latin typeface="Trenda IG Text"/>
              </a:rPr>
              <a:t>identity + consent</a:t>
            </a:r>
          </a:p>
        </p:txBody>
      </p:sp>
      <p:cxnSp>
        <p:nvCxnSpPr>
          <p:cNvPr id="7" name="Arrow 6"/>
          <p:cNvCxnSpPr/>
          <p:nvPr/>
        </p:nvCxnSpPr>
        <p:spPr>
          <a:xfrm>
            <a:off x="1704212"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850516" y="1152144"/>
            <a:ext cx="1292732" cy="65836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923668"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 · restricted</a:t>
            </a:r>
          </a:p>
          <a:p>
            <a:pPr>
              <a:lnSpc>
                <a:spcPct val="92000"/>
              </a:lnSpc>
              <a:spcAft>
                <a:spcPts val="100"/>
              </a:spcAft>
            </a:pPr>
            <a:r>
              <a:rPr sz="700" b="0" i="0">
                <a:solidFill>
                  <a:srgbClr val="4D4D4D"/>
                </a:solidFill>
                <a:latin typeface="Trenda IG Text"/>
              </a:rPr>
              <a:t>opted out or missing information</a:t>
            </a:r>
          </a:p>
        </p:txBody>
      </p:sp>
      <p:cxnSp>
        <p:nvCxnSpPr>
          <p:cNvPr id="10" name="Arrow 9"/>
          <p:cNvCxnSpPr/>
          <p:nvPr/>
        </p:nvCxnSpPr>
        <p:spPr>
          <a:xfrm>
            <a:off x="3143249"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3289553" y="1152144"/>
            <a:ext cx="1292732" cy="65836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36270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Cohort Resolution</a:t>
            </a:r>
          </a:p>
          <a:p>
            <a:pPr>
              <a:lnSpc>
                <a:spcPct val="92000"/>
              </a:lnSpc>
              <a:spcAft>
                <a:spcPts val="100"/>
              </a:spcAft>
            </a:pPr>
            <a:r>
              <a:rPr sz="700" b="0" i="0">
                <a:solidFill>
                  <a:srgbClr val="4D4D4D"/>
                </a:solidFill>
                <a:latin typeface="Trenda IG Text"/>
              </a:rPr>
              <a:t>engine: checks opt-outs + filled-in information</a:t>
            </a:r>
          </a:p>
        </p:txBody>
      </p:sp>
      <p:cxnSp>
        <p:nvCxnSpPr>
          <p:cNvPr id="13" name="Arrow 12"/>
          <p:cNvCxnSpPr/>
          <p:nvPr/>
        </p:nvCxnSpPr>
        <p:spPr>
          <a:xfrm>
            <a:off x="4582287"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728591" y="1152144"/>
            <a:ext cx="1292732" cy="65836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80174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G2</a:t>
            </a:r>
          </a:p>
          <a:p>
            <a:pPr>
              <a:lnSpc>
                <a:spcPct val="92000"/>
              </a:lnSpc>
              <a:spcAft>
                <a:spcPts val="100"/>
              </a:spcAft>
            </a:pPr>
            <a:r>
              <a:rPr sz="700" b="0" i="0">
                <a:solidFill>
                  <a:srgbClr val="4D4D4D"/>
                </a:solidFill>
                <a:latin typeface="Trenda IG Text"/>
              </a:rPr>
              <a:t>masked summary</a:t>
            </a:r>
          </a:p>
        </p:txBody>
      </p:sp>
      <p:cxnSp>
        <p:nvCxnSpPr>
          <p:cNvPr id="16" name="Arrow 15"/>
          <p:cNvCxnSpPr/>
          <p:nvPr/>
        </p:nvCxnSpPr>
        <p:spPr>
          <a:xfrm>
            <a:off x="6021323"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167627" y="1152144"/>
            <a:ext cx="1292732" cy="65836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240779"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Activation</a:t>
            </a:r>
          </a:p>
          <a:p>
            <a:pPr>
              <a:lnSpc>
                <a:spcPct val="92000"/>
              </a:lnSpc>
              <a:spcAft>
                <a:spcPts val="100"/>
              </a:spcAft>
            </a:pPr>
            <a:r>
              <a:rPr sz="700" b="0" i="0">
                <a:solidFill>
                  <a:srgbClr val="4D4D4D"/>
                </a:solidFill>
                <a:latin typeface="Trenda IG Text"/>
              </a:rPr>
              <a:t>engine: unmasks the minimum fields</a:t>
            </a:r>
          </a:p>
        </p:txBody>
      </p:sp>
      <p:cxnSp>
        <p:nvCxnSpPr>
          <p:cNvPr id="19" name="Arrow 18"/>
          <p:cNvCxnSpPr/>
          <p:nvPr/>
        </p:nvCxnSpPr>
        <p:spPr>
          <a:xfrm>
            <a:off x="7460361"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7606664" y="1152144"/>
            <a:ext cx="1292732" cy="65836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767981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Marketing Cloud</a:t>
            </a:r>
          </a:p>
          <a:p>
            <a:pPr>
              <a:lnSpc>
                <a:spcPct val="92000"/>
              </a:lnSpc>
              <a:spcAft>
                <a:spcPts val="100"/>
              </a:spcAft>
            </a:pPr>
            <a:r>
              <a:rPr sz="700" b="0" i="0">
                <a:solidFill>
                  <a:srgbClr val="4D4D4D"/>
                </a:solidFill>
                <a:latin typeface="Trenda IG Text"/>
              </a:rPr>
              <a:t>update request: consent + details</a:t>
            </a:r>
          </a:p>
        </p:txBody>
      </p:sp>
      <p:cxnSp>
        <p:nvCxnSpPr>
          <p:cNvPr id="22" name="Arrow 21"/>
          <p:cNvCxnSpPr/>
          <p:nvPr/>
        </p:nvCxnSpPr>
        <p:spPr>
          <a:xfrm>
            <a:off x="8899397" y="1481328"/>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9045701" y="1152144"/>
            <a:ext cx="1292732" cy="65836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911885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Engagement</a:t>
            </a:r>
          </a:p>
          <a:p>
            <a:pPr>
              <a:lnSpc>
                <a:spcPct val="92000"/>
              </a:lnSpc>
              <a:spcAft>
                <a:spcPts val="100"/>
              </a:spcAft>
            </a:pPr>
            <a:r>
              <a:rPr sz="700" b="0" i="0">
                <a:solidFill>
                  <a:srgbClr val="4D4D4D"/>
                </a:solidFill>
                <a:latin typeface="Trenda IG Text"/>
              </a:rPr>
              <a:t>replies + updates</a:t>
            </a:r>
          </a:p>
        </p:txBody>
      </p:sp>
      <p:sp>
        <p:nvSpPr>
          <p:cNvPr id="25" name="Shape 24"/>
          <p:cNvSpPr/>
          <p:nvPr/>
        </p:nvSpPr>
        <p:spPr>
          <a:xfrm>
            <a:off x="10484738" y="1152144"/>
            <a:ext cx="1292732" cy="301751"/>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10557890" y="1188720"/>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1A1A1A"/>
                </a:solidFill>
                <a:latin typeface="Trenda IG Text"/>
              </a:rPr>
              <a:t>Gold A · opted in</a:t>
            </a:r>
          </a:p>
          <a:p>
            <a:pPr>
              <a:lnSpc>
                <a:spcPct val="92000"/>
              </a:lnSpc>
              <a:spcAft>
                <a:spcPts val="100"/>
              </a:spcAft>
            </a:pPr>
            <a:r>
              <a:rPr sz="700" b="0" i="0">
                <a:solidFill>
                  <a:srgbClr val="4D4D4D"/>
                </a:solidFill>
                <a:latin typeface="Trenda IG Text"/>
              </a:rPr>
              <a:t>consented; aggregates only</a:t>
            </a:r>
          </a:p>
        </p:txBody>
      </p:sp>
      <p:cxnSp>
        <p:nvCxnSpPr>
          <p:cNvPr id="27" name="Arrow 26"/>
          <p:cNvCxnSpPr/>
          <p:nvPr/>
        </p:nvCxnSpPr>
        <p:spPr>
          <a:xfrm>
            <a:off x="10338434" y="1481328"/>
            <a:ext cx="54865"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flipV="1">
            <a:off x="10393299" y="1303020"/>
            <a:ext cx="0" cy="178308"/>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10393299" y="1303020"/>
            <a:ext cx="91439" cy="0"/>
          </a:xfrm>
          <a:prstGeom prst="line">
            <a:avLst/>
          </a:prstGeom>
          <a:ln w="1270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Shape 29"/>
          <p:cNvSpPr/>
          <p:nvPr/>
        </p:nvSpPr>
        <p:spPr>
          <a:xfrm>
            <a:off x="10484738" y="1508760"/>
            <a:ext cx="1292732" cy="301751"/>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10557890" y="1545336"/>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1A1A1A"/>
                </a:solidFill>
                <a:latin typeface="Trenda IG Text"/>
              </a:rPr>
              <a:t>Gold B · not opted in</a:t>
            </a:r>
          </a:p>
          <a:p>
            <a:pPr>
              <a:lnSpc>
                <a:spcPct val="92000"/>
              </a:lnSpc>
              <a:spcAft>
                <a:spcPts val="100"/>
              </a:spcAft>
            </a:pPr>
            <a:r>
              <a:rPr sz="700" b="0" i="0">
                <a:solidFill>
                  <a:srgbClr val="4D4D4D"/>
                </a:solidFill>
                <a:latin typeface="Trenda IG Text"/>
              </a:rPr>
              <a:t>or still missing; per patient</a:t>
            </a:r>
          </a:p>
        </p:txBody>
      </p:sp>
      <p:cxnSp>
        <p:nvCxnSpPr>
          <p:cNvPr id="32" name="Arrow 31"/>
          <p:cNvCxnSpPr/>
          <p:nvPr/>
        </p:nvCxnSpPr>
        <p:spPr>
          <a:xfrm>
            <a:off x="10338434" y="1481328"/>
            <a:ext cx="54865"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33" name="Arrow 32"/>
          <p:cNvCxnSpPr/>
          <p:nvPr/>
        </p:nvCxnSpPr>
        <p:spPr>
          <a:xfrm>
            <a:off x="10393299" y="1481328"/>
            <a:ext cx="0" cy="178308"/>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34" name="Arrow 33"/>
          <p:cNvCxnSpPr/>
          <p:nvPr/>
        </p:nvCxnSpPr>
        <p:spPr>
          <a:xfrm>
            <a:off x="10393299" y="1659636"/>
            <a:ext cx="91439" cy="0"/>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11480" y="1975104"/>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21208" y="1975104"/>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7" name="Shape 36"/>
          <p:cNvSpPr/>
          <p:nvPr/>
        </p:nvSpPr>
        <p:spPr>
          <a:xfrm>
            <a:off x="4197096" y="1975104"/>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06824" y="1975104"/>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9" name="Shape 38"/>
          <p:cNvSpPr/>
          <p:nvPr/>
        </p:nvSpPr>
        <p:spPr>
          <a:xfrm>
            <a:off x="7891271" y="1975104"/>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8000999" y="1975104"/>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41" name="Shape 40"/>
          <p:cNvSpPr/>
          <p:nvPr/>
        </p:nvSpPr>
        <p:spPr>
          <a:xfrm>
            <a:off x="411480" y="23225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11480" y="2322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539496" y="2322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Patient key</a:t>
            </a:r>
            <a:r>
              <a:rPr sz="700" b="0" i="0">
                <a:solidFill>
                  <a:srgbClr val="4D4D4D"/>
                </a:solidFill>
                <a:latin typeface="Trenda IG Text"/>
              </a:rPr>
              <a:t>  EUID, from Silver identity resolution</a:t>
            </a:r>
          </a:p>
        </p:txBody>
      </p:sp>
      <p:sp>
        <p:nvSpPr>
          <p:cNvPr id="44" name="Shape 43"/>
          <p:cNvSpPr/>
          <p:nvPr/>
        </p:nvSpPr>
        <p:spPr>
          <a:xfrm>
            <a:off x="411480" y="27797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4"/>
          <p:cNvSpPr/>
          <p:nvPr/>
        </p:nvSpPr>
        <p:spPr>
          <a:xfrm>
            <a:off x="411480" y="2779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539496" y="2779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Consent status</a:t>
            </a:r>
            <a:r>
              <a:rPr sz="700" b="0" i="0">
                <a:solidFill>
                  <a:srgbClr val="4D4D4D"/>
                </a:solidFill>
                <a:latin typeface="Trenda IG Text"/>
              </a:rPr>
              <a:t>  opted out, or unknown / expired, per channel and purpose</a:t>
            </a:r>
          </a:p>
        </p:txBody>
      </p:sp>
      <p:sp>
        <p:nvSpPr>
          <p:cNvPr id="47" name="Shape 46"/>
          <p:cNvSpPr/>
          <p:nvPr/>
        </p:nvSpPr>
        <p:spPr>
          <a:xfrm>
            <a:off x="411480" y="32369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7"/>
          <p:cNvSpPr/>
          <p:nvPr/>
        </p:nvSpPr>
        <p:spPr>
          <a:xfrm>
            <a:off x="411480"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39496" y="32369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Missing information</a:t>
            </a:r>
            <a:r>
              <a:rPr sz="700" b="0" i="0">
                <a:solidFill>
                  <a:srgbClr val="4D4D4D"/>
                </a:solidFill>
                <a:latin typeface="Trenda IG Text"/>
              </a:rPr>
              <a:t>  no email, no mobile number, or unverified contact</a:t>
            </a:r>
          </a:p>
        </p:txBody>
      </p:sp>
      <p:sp>
        <p:nvSpPr>
          <p:cNvPr id="50" name="Shape 49"/>
          <p:cNvSpPr/>
          <p:nvPr/>
        </p:nvSpPr>
        <p:spPr>
          <a:xfrm>
            <a:off x="411480" y="36941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11480"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39496" y="36941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Contact points we have</a:t>
            </a:r>
            <a:r>
              <a:rPr sz="700" b="0" i="0">
                <a:solidFill>
                  <a:srgbClr val="4D4D4D"/>
                </a:solidFill>
                <a:latin typeface="Trenda IG Text"/>
              </a:rPr>
              <a:t>  verified email or phone, where they exist</a:t>
            </a:r>
          </a:p>
        </p:txBody>
      </p:sp>
      <p:sp>
        <p:nvSpPr>
          <p:cNvPr id="53" name="Shape 52"/>
          <p:cNvSpPr/>
          <p:nvPr/>
        </p:nvSpPr>
        <p:spPr>
          <a:xfrm>
            <a:off x="411480" y="41513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53"/>
          <p:cNvSpPr/>
          <p:nvPr/>
        </p:nvSpPr>
        <p:spPr>
          <a:xfrm>
            <a:off x="411480" y="41513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539496" y="41513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Never-contact</a:t>
            </a:r>
            <a:r>
              <a:rPr sz="700" b="0" i="0">
                <a:solidFill>
                  <a:srgbClr val="4D4D4D"/>
                </a:solidFill>
                <a:latin typeface="Trenda IG Text"/>
              </a:rPr>
              <a:t>  explicit opt-out, STOP, deceased, do-not-contact</a:t>
            </a:r>
          </a:p>
        </p:txBody>
      </p:sp>
      <p:sp>
        <p:nvSpPr>
          <p:cNvPr id="56" name="Shape 55"/>
          <p:cNvSpPr/>
          <p:nvPr/>
        </p:nvSpPr>
        <p:spPr>
          <a:xfrm>
            <a:off x="411480" y="46085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11480" y="4608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39496" y="4608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Preferences</a:t>
            </a:r>
            <a:r>
              <a:rPr sz="700" b="0" i="0">
                <a:solidFill>
                  <a:srgbClr val="4D4D4D"/>
                </a:solidFill>
                <a:latin typeface="Trenda IG Text"/>
              </a:rPr>
              <a:t>  language, quiet hours</a:t>
            </a:r>
          </a:p>
        </p:txBody>
      </p:sp>
      <p:sp>
        <p:nvSpPr>
          <p:cNvPr id="59" name="Shape 58"/>
          <p:cNvSpPr/>
          <p:nvPr/>
        </p:nvSpPr>
        <p:spPr>
          <a:xfrm>
            <a:off x="411480" y="5065776"/>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9"/>
          <p:cNvSpPr/>
          <p:nvPr/>
        </p:nvSpPr>
        <p:spPr>
          <a:xfrm>
            <a:off x="411480" y="5065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39496" y="5065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Request history</a:t>
            </a:r>
            <a:r>
              <a:rPr sz="700" b="0" i="0">
                <a:solidFill>
                  <a:srgbClr val="4D4D4D"/>
                </a:solidFill>
                <a:latin typeface="Trenda IG Text"/>
              </a:rPr>
              <a:t>  update requests sent, replies, consents given</a:t>
            </a:r>
          </a:p>
        </p:txBody>
      </p:sp>
      <p:sp>
        <p:nvSpPr>
          <p:cNvPr id="62" name="Shape 61"/>
          <p:cNvSpPr/>
          <p:nvPr/>
        </p:nvSpPr>
        <p:spPr>
          <a:xfrm>
            <a:off x="4197096" y="23225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2"/>
          <p:cNvSpPr/>
          <p:nvPr/>
        </p:nvSpPr>
        <p:spPr>
          <a:xfrm>
            <a:off x="4197096"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4325112" y="2322576"/>
            <a:ext cx="3383279"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Cohort Resolution Engine</a:t>
            </a:r>
            <a:r>
              <a:rPr sz="700" b="0" i="0">
                <a:solidFill>
                  <a:srgbClr val="4D4D4D"/>
                </a:solidFill>
                <a:latin typeface="Trenda IG Text"/>
              </a:rPr>
              <a:t>  for an approved cohort JSON only</a:t>
            </a:r>
          </a:p>
        </p:txBody>
      </p:sp>
      <p:sp>
        <p:nvSpPr>
          <p:cNvPr id="65" name="Shape 64"/>
          <p:cNvSpPr/>
          <p:nvPr/>
        </p:nvSpPr>
        <p:spPr>
          <a:xfrm>
            <a:off x="4197096" y="27797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4197096"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4325112" y="2779776"/>
            <a:ext cx="3383279"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Activation Engine</a:t>
            </a:r>
            <a:r>
              <a:rPr sz="700" b="0" i="0">
                <a:solidFill>
                  <a:srgbClr val="4D4D4D"/>
                </a:solidFill>
                <a:latin typeface="Trenda IG Text"/>
              </a:rPr>
              <a:t>  unmasks the minimum fields, for the approved run</a:t>
            </a:r>
          </a:p>
        </p:txBody>
      </p:sp>
      <p:sp>
        <p:nvSpPr>
          <p:cNvPr id="68" name="Shape 67"/>
          <p:cNvSpPr/>
          <p:nvPr/>
        </p:nvSpPr>
        <p:spPr>
          <a:xfrm>
            <a:off x="4197096" y="32369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4197096"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4325112" y="32369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Agents and Codex</a:t>
            </a:r>
            <a:r>
              <a:rPr sz="700" b="0" i="0">
                <a:solidFill>
                  <a:srgbClr val="4D4D4D"/>
                </a:solidFill>
                <a:latin typeface="Trenda IG Text"/>
              </a:rPr>
              <a:t>  never: counts only, through the summary</a:t>
            </a:r>
          </a:p>
        </p:txBody>
      </p:sp>
      <p:sp>
        <p:nvSpPr>
          <p:cNvPr id="71" name="Shape 70"/>
          <p:cNvSpPr/>
          <p:nvPr/>
        </p:nvSpPr>
        <p:spPr>
          <a:xfrm>
            <a:off x="4197096" y="36941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1"/>
          <p:cNvSpPr/>
          <p:nvPr/>
        </p:nvSpPr>
        <p:spPr>
          <a:xfrm>
            <a:off x="4197096"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325112" y="36941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Semantic layer + graph</a:t>
            </a:r>
            <a:r>
              <a:rPr sz="700" b="0" i="0">
                <a:solidFill>
                  <a:srgbClr val="4D4D4D"/>
                </a:solidFill>
                <a:latin typeface="Trenda IG Text"/>
              </a:rPr>
              <a:t>  never: they read Gold A</a:t>
            </a:r>
          </a:p>
        </p:txBody>
      </p:sp>
      <p:sp>
        <p:nvSpPr>
          <p:cNvPr id="74" name="Shape 73"/>
          <p:cNvSpPr/>
          <p:nvPr/>
        </p:nvSpPr>
        <p:spPr>
          <a:xfrm>
            <a:off x="4197096" y="41513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197096"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325112" y="4151376"/>
            <a:ext cx="3383279"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People</a:t>
            </a:r>
            <a:r>
              <a:rPr sz="700" b="0" i="0">
                <a:solidFill>
                  <a:srgbClr val="4D4D4D"/>
                </a:solidFill>
                <a:latin typeface="Trenda IG Text"/>
              </a:rPr>
              <a:t>  the masked G2 summary; break-glass logged</a:t>
            </a:r>
          </a:p>
        </p:txBody>
      </p:sp>
      <p:sp>
        <p:nvSpPr>
          <p:cNvPr id="77" name="Shape 76"/>
          <p:cNvSpPr/>
          <p:nvPr/>
        </p:nvSpPr>
        <p:spPr>
          <a:xfrm>
            <a:off x="4197096" y="46085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4197096"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4325112" y="4608576"/>
            <a:ext cx="3383279"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Marketing Cloud</a:t>
            </a:r>
            <a:r>
              <a:rPr sz="700" b="0" i="0">
                <a:solidFill>
                  <a:srgbClr val="4D4D4D"/>
                </a:solidFill>
                <a:latin typeface="Trenda IG Text"/>
              </a:rPr>
              <a:t>  only the released fields, this run</a:t>
            </a:r>
          </a:p>
        </p:txBody>
      </p:sp>
      <p:sp>
        <p:nvSpPr>
          <p:cNvPr id="80" name="Shape 79"/>
          <p:cNvSpPr/>
          <p:nvPr/>
        </p:nvSpPr>
        <p:spPr>
          <a:xfrm>
            <a:off x="4197096" y="5065776"/>
            <a:ext cx="356616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4197096"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4325112" y="5065776"/>
            <a:ext cx="3383279"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Sierra voice agent</a:t>
            </a:r>
            <a:r>
              <a:rPr sz="700" b="0" i="0">
                <a:solidFill>
                  <a:srgbClr val="4D4D4D"/>
                </a:solidFill>
                <a:latin typeface="Trenda IG Text"/>
              </a:rPr>
              <a:t>  patient-context API: this verified caller only</a:t>
            </a:r>
          </a:p>
        </p:txBody>
      </p:sp>
      <p:sp>
        <p:nvSpPr>
          <p:cNvPr id="83" name="Shape 82"/>
          <p:cNvSpPr/>
          <p:nvPr/>
        </p:nvSpPr>
        <p:spPr>
          <a:xfrm>
            <a:off x="7891271" y="23225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7891271"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019288" y="23225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  </a:t>
            </a:r>
            <a:r>
              <a:rPr sz="700" b="1" i="0">
                <a:solidFill>
                  <a:srgbClr val="1A1A1A"/>
                </a:solidFill>
                <a:latin typeface="Trenda IG Text"/>
              </a:rPr>
              <a:t>Find who may be asked: consent unknown or information missing</a:t>
            </a:r>
            <a:r>
              <a:rPr sz="700" b="0" i="0">
                <a:solidFill>
                  <a:srgbClr val="4D4D4D"/>
                </a:solidFill>
                <a:latin typeface="Trenda IG Text"/>
              </a:rPr>
              <a:t>  </a:t>
            </a:r>
          </a:p>
        </p:txBody>
      </p:sp>
      <p:sp>
        <p:nvSpPr>
          <p:cNvPr id="86" name="Shape 85"/>
          <p:cNvSpPr/>
          <p:nvPr/>
        </p:nvSpPr>
        <p:spPr>
          <a:xfrm>
            <a:off x="7891271" y="27797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7891271"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019288" y="27797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2  </a:t>
            </a:r>
            <a:r>
              <a:rPr sz="700" b="1" i="0">
                <a:solidFill>
                  <a:srgbClr val="1A1A1A"/>
                </a:solidFill>
                <a:latin typeface="Trenda IG Text"/>
              </a:rPr>
              <a:t>Never re-ask explicit opt-outs, STOP, deceased or do-not-contact</a:t>
            </a:r>
            <a:r>
              <a:rPr sz="700" b="0" i="0">
                <a:solidFill>
                  <a:srgbClr val="4D4D4D"/>
                </a:solidFill>
                <a:latin typeface="Trenda IG Text"/>
              </a:rPr>
              <a:t>  </a:t>
            </a:r>
          </a:p>
        </p:txBody>
      </p:sp>
      <p:sp>
        <p:nvSpPr>
          <p:cNvPr id="89" name="Shape 88"/>
          <p:cNvSpPr/>
          <p:nvPr/>
        </p:nvSpPr>
        <p:spPr>
          <a:xfrm>
            <a:off x="7891271" y="32369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7891271" y="32369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019288" y="32369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3  </a:t>
            </a:r>
            <a:r>
              <a:rPr sz="700" b="1" i="0">
                <a:solidFill>
                  <a:srgbClr val="1A1A1A"/>
                </a:solidFill>
                <a:latin typeface="Trenda IG Text"/>
              </a:rPr>
              <a:t>Produce the masked G2 summary: counts by reason</a:t>
            </a:r>
            <a:r>
              <a:rPr sz="700" b="0" i="0">
                <a:solidFill>
                  <a:srgbClr val="4D4D4D"/>
                </a:solidFill>
                <a:latin typeface="Trenda IG Text"/>
              </a:rPr>
              <a:t>  </a:t>
            </a:r>
          </a:p>
        </p:txBody>
      </p:sp>
      <p:sp>
        <p:nvSpPr>
          <p:cNvPr id="92" name="Shape 91"/>
          <p:cNvSpPr/>
          <p:nvPr/>
        </p:nvSpPr>
        <p:spPr>
          <a:xfrm>
            <a:off x="7891271" y="36941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891271" y="36941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019288" y="36941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4  </a:t>
            </a:r>
            <a:r>
              <a:rPr sz="700" b="1" i="0">
                <a:solidFill>
                  <a:srgbClr val="1A1A1A"/>
                </a:solidFill>
                <a:latin typeface="Trenda IG Text"/>
              </a:rPr>
              <a:t>Send an update request by email where an address exists; else portal</a:t>
            </a:r>
            <a:r>
              <a:rPr sz="700" b="0" i="0">
                <a:solidFill>
                  <a:srgbClr val="4D4D4D"/>
                </a:solidFill>
                <a:latin typeface="Trenda IG Text"/>
              </a:rPr>
              <a:t>  </a:t>
            </a:r>
          </a:p>
        </p:txBody>
      </p:sp>
      <p:sp>
        <p:nvSpPr>
          <p:cNvPr id="95" name="Shape 94"/>
          <p:cNvSpPr/>
          <p:nvPr/>
        </p:nvSpPr>
        <p:spPr>
          <a:xfrm>
            <a:off x="7891271" y="41513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891271"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8019288" y="41513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5  </a:t>
            </a:r>
            <a:r>
              <a:rPr sz="700" b="1" i="0">
                <a:solidFill>
                  <a:srgbClr val="1A1A1A"/>
                </a:solidFill>
                <a:latin typeface="Trenda IG Text"/>
              </a:rPr>
              <a:t>Write answers back to Epic and the consent system, not to Gold B</a:t>
            </a:r>
            <a:r>
              <a:rPr sz="700" b="0" i="0">
                <a:solidFill>
                  <a:srgbClr val="4D4D4D"/>
                </a:solidFill>
                <a:latin typeface="Trenda IG Text"/>
              </a:rPr>
              <a:t>  </a:t>
            </a:r>
          </a:p>
        </p:txBody>
      </p:sp>
      <p:sp>
        <p:nvSpPr>
          <p:cNvPr id="98" name="Shape 97"/>
          <p:cNvSpPr/>
          <p:nvPr/>
        </p:nvSpPr>
        <p:spPr>
          <a:xfrm>
            <a:off x="7891271" y="46085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891271"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8019288" y="46085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6  </a:t>
            </a:r>
            <a:r>
              <a:rPr sz="700" b="1" i="0">
                <a:solidFill>
                  <a:srgbClr val="1A1A1A"/>
                </a:solidFill>
                <a:latin typeface="Trenda IG Text"/>
              </a:rPr>
              <a:t>Opted in: the patient moves to Gold A at the next daily refresh</a:t>
            </a:r>
            <a:r>
              <a:rPr sz="700" b="0" i="0">
                <a:solidFill>
                  <a:srgbClr val="4D4D4D"/>
                </a:solidFill>
                <a:latin typeface="Trenda IG Text"/>
              </a:rPr>
              <a:t>  </a:t>
            </a:r>
          </a:p>
        </p:txBody>
      </p:sp>
      <p:sp>
        <p:nvSpPr>
          <p:cNvPr id="101" name="Shape 100"/>
          <p:cNvSpPr/>
          <p:nvPr/>
        </p:nvSpPr>
        <p:spPr>
          <a:xfrm>
            <a:off x="7891271" y="5065776"/>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891271"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8019288" y="5065776"/>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7  </a:t>
            </a:r>
            <a:r>
              <a:rPr sz="700" b="1" i="0">
                <a:solidFill>
                  <a:srgbClr val="1A1A1A"/>
                </a:solidFill>
                <a:latin typeface="Trenda IG Text"/>
              </a:rPr>
              <a:t>Not opted in or still missing: stays in Gold B, restricted</a:t>
            </a:r>
            <a:r>
              <a:rPr sz="700" b="0" i="0">
                <a:solidFill>
                  <a:srgbClr val="4D4D4D"/>
                </a:solidFill>
                <a:latin typeface="Trenda IG Text"/>
              </a:rPr>
              <a:t>  </a:t>
            </a:r>
          </a:p>
        </p:txBody>
      </p:sp>
      <p:sp>
        <p:nvSpPr>
          <p:cNvPr id="104" name="Text 103"/>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CONTROLS</a:t>
            </a:r>
          </a:p>
          <a:p>
            <a:pPr>
              <a:spcAft>
                <a:spcPts val="100"/>
              </a:spcAft>
            </a:pPr>
            <a:r>
              <a:rPr sz="700" b="0" i="0">
                <a:solidFill>
                  <a:srgbClr val="6B6B6B"/>
                </a:solidFill>
                <a:latin typeface="Trenda IG Text"/>
              </a:rPr>
              <a:t>on Gold B</a:t>
            </a:r>
          </a:p>
        </p:txBody>
      </p:sp>
      <p:sp>
        <p:nvSpPr>
          <p:cNvPr id="105" name="Shape 104"/>
          <p:cNvSpPr/>
          <p:nvPr/>
        </p:nvSpPr>
        <p:spPr>
          <a:xfrm>
            <a:off x="164592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Service identities only</a:t>
            </a:r>
          </a:p>
          <a:p>
            <a:pPr>
              <a:spcAft>
                <a:spcPts val="100"/>
              </a:spcAft>
            </a:pPr>
            <a:r>
              <a:rPr sz="700" b="0" i="0">
                <a:solidFill>
                  <a:srgbClr val="4D4D4D"/>
                </a:solidFill>
                <a:latin typeface="Trenda IG Text"/>
              </a:rPr>
              <a:t>no agent, no dashboard</a:t>
            </a:r>
          </a:p>
        </p:txBody>
      </p:sp>
      <p:sp>
        <p:nvSpPr>
          <p:cNvPr id="108" name="Shape 107"/>
          <p:cNvSpPr/>
          <p:nvPr/>
        </p:nvSpPr>
        <p:spPr>
          <a:xfrm>
            <a:off x="3349752"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8"/>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Row + column policies</a:t>
            </a:r>
          </a:p>
          <a:p>
            <a:pPr>
              <a:spcAft>
                <a:spcPts val="100"/>
              </a:spcAft>
            </a:pPr>
            <a:r>
              <a:rPr sz="700" b="0" i="0">
                <a:solidFill>
                  <a:srgbClr val="4D4D4D"/>
                </a:solidFill>
                <a:latin typeface="Trenda IG Text"/>
              </a:rPr>
              <a:t>CMEK encryption</a:t>
            </a:r>
          </a:p>
        </p:txBody>
      </p:sp>
      <p:sp>
        <p:nvSpPr>
          <p:cNvPr id="111" name="Shape 110"/>
          <p:cNvSpPr/>
          <p:nvPr/>
        </p:nvSpPr>
        <p:spPr>
          <a:xfrm>
            <a:off x="5053584"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hape 111"/>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Every read logged</a:t>
            </a:r>
          </a:p>
          <a:p>
            <a:pPr>
              <a:spcAft>
                <a:spcPts val="100"/>
              </a:spcAft>
            </a:pPr>
            <a:r>
              <a:rPr sz="700" b="0" i="0">
                <a:solidFill>
                  <a:srgbClr val="4D4D4D"/>
                </a:solidFill>
                <a:latin typeface="Trenda IG Text"/>
              </a:rPr>
              <a:t>who, why, which rule version</a:t>
            </a:r>
          </a:p>
        </p:txBody>
      </p:sp>
      <p:sp>
        <p:nvSpPr>
          <p:cNvPr id="114" name="Shape 113"/>
          <p:cNvSpPr/>
          <p:nvPr/>
        </p:nvSpPr>
        <p:spPr>
          <a:xfrm>
            <a:off x="6757416"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14"/>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Retention limits</a:t>
            </a:r>
          </a:p>
          <a:p>
            <a:pPr>
              <a:spcAft>
                <a:spcPts val="100"/>
              </a:spcAft>
            </a:pPr>
            <a:r>
              <a:rPr sz="700" b="0" i="0">
                <a:solidFill>
                  <a:srgbClr val="4D4D4D"/>
                </a:solidFill>
                <a:latin typeface="Trenda IG Text"/>
              </a:rPr>
              <a:t>purged on schedule</a:t>
            </a:r>
          </a:p>
        </p:txBody>
      </p:sp>
      <p:sp>
        <p:nvSpPr>
          <p:cNvPr id="117" name="Shape 116"/>
          <p:cNvSpPr/>
          <p:nvPr/>
        </p:nvSpPr>
        <p:spPr>
          <a:xfrm>
            <a:off x="8461248"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Shape 117"/>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Opt-outs never re-asked</a:t>
            </a:r>
          </a:p>
          <a:p>
            <a:pPr>
              <a:spcAft>
                <a:spcPts val="100"/>
              </a:spcAft>
            </a:pPr>
            <a:r>
              <a:rPr sz="700" b="0" i="0">
                <a:solidFill>
                  <a:srgbClr val="4D4D4D"/>
                </a:solidFill>
                <a:latin typeface="Trenda IG Text"/>
              </a:rPr>
              <a:t>STOP and deceased excluded</a:t>
            </a:r>
          </a:p>
        </p:txBody>
      </p:sp>
      <p:sp>
        <p:nvSpPr>
          <p:cNvPr id="120" name="Shape 119"/>
          <p:cNvSpPr/>
          <p:nvPr/>
        </p:nvSpPr>
        <p:spPr>
          <a:xfrm>
            <a:off x="1016508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Reconciled every run</a:t>
            </a:r>
          </a:p>
          <a:p>
            <a:pPr>
              <a:spcAft>
                <a:spcPts val="100"/>
              </a:spcAft>
            </a:pPr>
            <a:r>
              <a:rPr sz="700" b="0" i="0">
                <a:solidFill>
                  <a:srgbClr val="4D4D4D"/>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Gold A · opted in</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consented patients, masked for agents; policy tags</a:t>
            </a:r>
          </a:p>
        </p:txBody>
      </p:sp>
      <p:cxnSp>
        <p:nvCxnSpPr>
          <p:cNvPr id="20"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Eligibility service</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deterministic; runs on Gold A records</a:t>
            </a:r>
          </a:p>
        </p:txBody>
      </p:sp>
      <p:cxnSp>
        <p:nvCxnSpPr>
          <p:cNvPr id="30" name="Arrow 24"/>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Activation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policy checks; unmasks minimum fields</a:t>
            </a:r>
          </a:p>
        </p:txBody>
      </p:sp>
      <p:cxnSp>
        <p:nvCxnSpPr>
          <p:cNvPr id="35"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1A1A1A"/>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1A1A1A"/>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1A1A1A"/>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1A1A1A"/>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4D4D4D"/>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1A1A1A"/>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1969552" y="2887472"/>
            <a:ext cx="3378708"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1969552" y="2887472"/>
            <a:ext cx="3378708" cy="128016"/>
          </a:xfrm>
          <a:prstGeom prst="rect">
            <a:avLst/>
          </a:prstGeom>
          <a:noFill/>
        </p:spPr>
        <p:txBody>
          <a:bodyPr wrap="square" lIns="0" rIns="0" tIns="0" bIns="0" anchor="ctr">
            <a:spAutoFit/>
          </a:bodyPr>
          <a:lstStyle/>
          <a:p>
            <a:pPr algn="ctr"/>
            <a:r>
              <a:rPr sz="700" b="0" i="0">
                <a:solidFill>
                  <a:srgbClr val="4D4D4D"/>
                </a:solidFill>
                <a:latin typeface="Trenda IG Text"/>
              </a:rPr>
              <a:t>5  Counts only, never names; patient rows stay masked in BigQuery</a:t>
            </a:r>
          </a:p>
        </p:txBody>
      </p:sp>
      <p:cxnSp>
        <p:nvCxnSpPr>
          <p:cNvPr id="59" name="Arrow 53"/>
          <p:cNvCxnSpPr/>
          <p:nvPr/>
        </p:nvCxnSpPr>
        <p:spPr>
          <a:xfrm flipH="1">
            <a:off x="1223336" y="324916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4D4D4D"/>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1A1A1A"/>
                </a:solidFill>
                <a:latin typeface="Trenda IG Text"/>
              </a:rPr>
              <a:t>9  Run eligibility on Gold A for the approved rule (no patient data comes back)</a:t>
            </a:r>
          </a:p>
        </p:txBody>
      </p:sp>
      <p:sp>
        <p:nvSpPr>
          <p:cNvPr id="75" name="Shape 69"/>
          <p:cNvSpPr/>
          <p:nvPr/>
        </p:nvSpPr>
        <p:spPr>
          <a:xfrm>
            <a:off x="6961196" y="4422647"/>
            <a:ext cx="4206240" cy="182880"/>
          </a:xfrm>
          <a:prstGeom prst="roundRect">
            <a:avLst>
              <a:gd name="adj" fmla="val 50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4206240" cy="182880"/>
          </a:xfrm>
          <a:prstGeom prst="rect">
            <a:avLst/>
          </a:prstGeom>
          <a:noFill/>
        </p:spPr>
        <p:txBody>
          <a:bodyPr wrap="square" lIns="0" rIns="0" tIns="0" bIns="0" anchor="ctr">
            <a:spAutoFit/>
          </a:bodyPr>
          <a:lstStyle/>
          <a:p>
            <a:pPr algn="ctr"/>
            <a:r>
              <a:rPr sz="700" b="0" i="0">
                <a:solidFill>
                  <a:srgbClr val="1A1A1A"/>
                </a:solidFill>
                <a:latin typeface="Trenda IG Text"/>
              </a:rPr>
              <a:t>10  Consent, contact, STOP, deceased, duplicates; no consent or missing → Gold B</a:t>
            </a:r>
          </a:p>
        </p:txBody>
      </p:sp>
      <p:cxnSp>
        <p:nvCxnSpPr>
          <p:cNvPr id="77" name="Arrow 71"/>
          <p:cNvCxnSpPr/>
          <p:nvPr/>
        </p:nvCxnSpPr>
        <p:spPr>
          <a:xfrm flipH="1">
            <a:off x="1223336" y="47249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620217" y="4995671"/>
            <a:ext cx="1819656"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620217" y="4995671"/>
            <a:ext cx="1819656" cy="128016"/>
          </a:xfrm>
          <a:prstGeom prst="rect">
            <a:avLst/>
          </a:prstGeom>
          <a:noFill/>
        </p:spPr>
        <p:txBody>
          <a:bodyPr wrap="square" lIns="0" rIns="0" tIns="0" bIns="0" anchor="ctr">
            <a:spAutoFit/>
          </a:bodyPr>
          <a:lstStyle/>
          <a:p>
            <a:pPr algn="ctr"/>
            <a:r>
              <a:rPr sz="700" b="0" i="0">
                <a:solidFill>
                  <a:srgbClr val="1A1A1A"/>
                </a:solidFill>
                <a:latin typeface="Trenda IG Text"/>
              </a:rPr>
              <a:t>12  Eligible patients, masked keys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348471" y="5206491"/>
            <a:ext cx="34290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348471" y="5206491"/>
            <a:ext cx="3429000" cy="128016"/>
          </a:xfrm>
          <a:prstGeom prst="rect">
            <a:avLst/>
          </a:prstGeom>
          <a:noFill/>
        </p:spPr>
        <p:txBody>
          <a:bodyPr wrap="square" lIns="0" rIns="0" tIns="0" bIns="0" anchor="ctr">
            <a:spAutoFit/>
          </a:bodyPr>
          <a:lstStyle/>
          <a:p>
            <a:pPr algn="ctr"/>
            <a:r>
              <a:rPr sz="700" b="0" i="0">
                <a:solidFill>
                  <a:srgbClr val="1A1A1A"/>
                </a:solidFill>
                <a:latin typeface="Trenda IG Text"/>
              </a:rPr>
              <a:t>13  Unmask the minimum fields; release after G2 + G3, time-limited</a:t>
            </a:r>
          </a:p>
        </p:txBody>
      </p:sp>
      <p:sp>
        <p:nvSpPr>
          <p:cNvPr id="88" name="Shape 82"/>
          <p:cNvSpPr/>
          <p:nvPr/>
        </p:nvSpPr>
        <p:spPr>
          <a:xfrm>
            <a:off x="9331451" y="5476747"/>
            <a:ext cx="2446020" cy="182880"/>
          </a:xfrm>
          <a:prstGeom prst="roundRect">
            <a:avLst>
              <a:gd name="adj" fmla="val 50000"/>
            </a:avLst>
          </a:prstGeom>
          <a:solidFill>
            <a:srgbClr val="F2F2F2"/>
          </a:solidFill>
          <a:ln w="1143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1A1A1A"/>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Before any request: </a:t>
            </a:r>
            <a:r>
              <a:rPr sz="700" b="0" i="0">
                <a:solidFill>
                  <a:srgbClr val="6B6B6B"/>
                </a:solidFill>
                <a:latin typeface="Trenda IG Text"/>
              </a:rPr>
              <a:t>the data harness keeps Sources → Bronze → Silver current in Google Cloud; consented patients → Gold A, no consent or missing information → Gold B;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89A0"/>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8A6D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1A1A1A"/>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1A1A1A"/>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4D4D4D"/>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4D4D4D"/>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4D4D4D"/>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4D4D4D"/>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1A1A1A"/>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4D4D4D"/>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4D4D4D"/>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1A1A1A"/>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Never: </a:t>
            </a:r>
            <a:r>
              <a:rPr sz="700" b="0" i="0">
                <a:solidFill>
                  <a:srgbClr val="6B6B6B"/>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