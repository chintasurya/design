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318" r:id="rId2"/>
    <p:sldId id="323" r:id="rId3"/>
    <p:sldId id="329" r:id="rId23"/>
    <p:sldId id="330" r:id="rId24"/>
    <p:sldId id="256" r:id="rId4"/>
    <p:sldId id="319" r:id="rId5"/>
    <p:sldId id="324" r:id="rId6"/>
    <p:sldId id="325" r:id="rId7"/>
    <p:sldId id="327" r:id="rId8"/>
    <p:sldId id="328" r:id="rId9"/>
    <p:sldId id="326" r:id="rId10"/>
    <p:sldId id="331" r:id="rId25"/>
    <p:sldId id="332" r:id="rId26"/>
    <p:sldId id="333" r:id="rId27"/>
    <p:sldId id="320" r:id="rId11"/>
    <p:sldId id="321" r:id="rId12"/>
    <p:sldId id="322" r:id="rId13"/>
    <p:sldId id="258" r:id="rId14"/>
    <p:sldId id="25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5.0</c:v>
                </c:pt>
                <c:pt idx="1">
                  <c:v>13.0</c:v>
                </c:pt>
                <c:pt idx="2">
                  <c:v>13.0</c:v>
                </c:pt>
                <c:pt idx="3">
                  <c:v>13.0</c:v>
                </c:pt>
                <c:pt idx="4">
                  <c:v>13.0</c:v>
                </c:pt>
                <c:pt idx="5">
                  <c:v>17.5</c:v>
                </c:pt>
                <c:pt idx="6">
                  <c:v>17.5</c:v>
                </c:pt>
                <c:pt idx="7">
                  <c:v>17.5</c:v>
                </c:pt>
                <c:pt idx="8">
                  <c:v>17.5</c:v>
                </c:pt>
                <c:pt idx="9">
                  <c:v>17</c:v>
                </c:pt>
                <c:pt idx="10">
                  <c:v>17</c:v>
                </c:pt>
                <c:pt idx="11">
                  <c:v>16.5</c:v>
                </c:pt>
                <c:pt idx="12">
                  <c:v>16.5</c:v>
                </c:pt>
                <c:pt idx="13">
                  <c:v>16.5</c:v>
                </c:pt>
                <c:pt idx="14">
                  <c:v>15.5</c:v>
                </c:pt>
                <c:pt idx="15">
                  <c:v>15.5</c:v>
                </c:pt>
                <c:pt idx="16">
                  <c:v>15.5</c:v>
                </c:pt>
                <c:pt idx="17">
                  <c:v>8.0</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MAD,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Eighteen people at peak across thirteen roles, sized from the phase plan, about 30% onshore. The counts change by phase: five people in month 1, about seventeen in months 6-11, eight in the handover month.</a:t>
            </a:r>
          </a:p>
          <a:p/>
          <a:p>
            <a:r>
              <a:t>HOW THE NUMBERS ARE BUILT</a:t>
            </a:r>
          </a:p>
          <a:p>
            <a:r>
              <a:t>Each role has an FTE per phase (in plan_slides.py). Peak is the highest phase; "On team" is first to last month with any allocation. The security engineer is part-time except in Phase 3, when the pen test and production authorisation happen.</a:t>
            </a:r>
          </a:p>
          <a:p/>
          <a:p>
            <a:r>
              <a:t>WHY THESE ROLES</a:t>
            </a:r>
          </a:p>
          <a:p>
            <a:r>
              <a:t>- AI agent lead + 2 engineers: the agents, prompts, skills and the evaluation set are the product.</a:t>
            </a:r>
          </a:p>
          <a:p>
            <a:r>
              <a:t>- 2 knowledge graph engineers: six connectors and the graph, then new pod sources in every wave.</a:t>
            </a:r>
          </a:p>
          <a:p>
            <a:r>
              <a:t>- 2 GCP platform engineers: landing zone, Terraform, Cloud Run, Workflows, security controls.</a:t>
            </a:r>
          </a:p>
          <a:p>
            <a:r>
              <a:t>- 2 Health Cloud + 1 Marketing Cloud developers: pod skills, pilots, and checking what the agents build.</a:t>
            </a:r>
          </a:p>
          <a:p>
            <a:r>
              <a:t>- 1 DevOps / Copado engineer: Guardian as a CI check, Copado API, promotions.</a:t>
            </a:r>
          </a:p>
          <a:p>
            <a:r>
              <a:t>- 2 QA automation engineers: Test Agent integration with Zephyr and Copado Robotic Testing, regression for each wave.</a:t>
            </a:r>
          </a:p>
          <a:p/>
          <a:p>
            <a:r>
              <a:t>NOT IN THE COUNT</a:t>
            </a:r>
          </a:p>
          <a:p>
            <a:r>
              <a:t>Ascension's product owners, approvers, release owner, security reviewers, cloud team and Salesforce/Copado admins.</a:t>
            </a:r>
          </a:p>
          <a:p/>
          <a:p>
            <a:r>
              <a:t>AFTER MONTH 18</a:t>
            </a:r>
          </a:p>
          <a:p>
            <a:r>
              <a:t>A run team of 6: one lead and five engineers (GCP, graph, agents, Salesforce, QA).</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Commercials   (about 3 minutes)</a:t>
            </a:r>
          </a:p>
          <a:p/>
          <a:p>
            <a:r>
              <a:t>INTERNAL FIRST: the rates on this slide are ASSUMED bill rates used to size the work ($150/h onshore, $40/h offshore, 160 h per FTE-month). Replace them with the Insight Global rate card in plan_slides.py and rebuild before this slide goes to Ascension.</a:t>
            </a:r>
          </a:p>
          <a:p/>
          <a:p>
            <a:r>
              <a:t>KEY MESSAGE</a:t>
            </a:r>
          </a:p>
          <a:p>
            <a:r>
              <a:t>About $3.4M as a fixed fee over 18 months, invoiced only when each gate is signed. Platform usage is passed through at cost. After month 18, a managed service.</a:t>
            </a:r>
          </a:p>
          <a:p/>
          <a:p>
            <a:r>
              <a:t>THE OPTIONS</a:t>
            </a:r>
          </a:p>
          <a:p>
            <a:r>
              <a:t>- A, fixed fee by gate (recommended): Ascension pays for a phase only when its gate passes; we carry delivery risk (10% in the price). Easiest to approve, because spend follows proof.</a:t>
            </a:r>
          </a:p>
          <a:p>
            <a:r>
              <a:t>- B, time and materials with a cap per phase: about $3.1M estimated; Ascension carries overrun risk up to the cap.</a:t>
            </a:r>
          </a:p>
          <a:p>
            <a:r>
              <a:t>- C, managed service from month 19: about $56K a month for a run team of 6, plus platform at cost.</a:t>
            </a:r>
          </a:p>
          <a:p/>
          <a:p>
            <a:r>
              <a:t>VALUE CHECK</a:t>
            </a:r>
          </a:p>
          <a:p>
            <a:r>
              <a:t>The business outcomes slide plans 20-25% lower net run cost per pod. Every $10M of pod delivery spend therefore saves $2.0-2.5M a year, which pays the fixed fee back in about 1.4 to 1.7 years. The 14-person pod example (about $2.47M a year, from the Agentic Delivery deck) alone saves $0.49-0.62M a year.</a:t>
            </a:r>
          </a:p>
          <a:p/>
          <a:p>
            <a:r>
              <a:t>NOT INCLUDED</a:t>
            </a:r>
          </a:p>
          <a:p>
            <a:r>
              <a:t>Ascension staff time; existing Salesforce, Copado and Atlassian licences; OpenAI enterprise terms.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10.png"/><Relationship Id="rId16" Type="http://schemas.openxmlformats.org/officeDocument/2006/relationships/image" Target="../media/image9.png"/><Relationship Id="rId17" Type="http://schemas.openxmlformats.org/officeDocument/2006/relationships/image" Target="../media/image13.png"/><Relationship Id="rId18" Type="http://schemas.openxmlformats.org/officeDocument/2006/relationships/image" Target="../media/image14.png"/><Relationship Id="rId19" Type="http://schemas.openxmlformats.org/officeDocument/2006/relationships/image" Target="../media/image22.png"/><Relationship Id="rId2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rIns="86417" tIns="43209"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rIns="86417" tIns="43209"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rIns="86417" tIns="43209"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rIns="86417" tIns="43209"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rIns="86417" tIns="43209"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rIns="86417" tIns="43209"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rIns="86417" tIns="43209"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rIns="86417" tIns="43209"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rIns="86417" tIns="43209"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rIns="86417" tIns="43209"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rIns="86417" tIns="43209"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rIns="86417" tIns="43209"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rIns="88000" tIns="44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rIns="88000" tIns="44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rIns="88000" tIns="44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rIns="88000" tIns="44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rIns="88000" tIns="44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rIns="88000" tIns="44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rIns="88000" tIns="44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rIns="88000" tIns="44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rIns="85302" tIns="42651"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rIns="85302" tIns="42651"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rIns="85302" tIns="42651"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rIns="85302" tIns="42651"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rIns="85302" tIns="42651"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rIns="85302" tIns="42651"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rIns="85302" tIns="42651"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rIns="85302" tIns="42651"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rIns="85302" tIns="42651"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rIns="85302" tIns="42651"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rIns="85302" tIns="42651"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rIns="85302" tIns="42651"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rIns="85302" tIns="42651"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rIns="85302" tIns="42651"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rIns="85302" tIns="42651"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rIns="85302" tIns="42651"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rIns="85302" tIns="42651"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rIns="85302" tIns="42651"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rIns="85454" tIns="42727"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rIns="85454" tIns="42727"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rIns="86661" tIns="4333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rIns="86661" tIns="4333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rIns="86661" tIns="4333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rIns="86661" tIns="4333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rIns="86661" tIns="4333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rIns="86661" tIns="4333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rIns="86661" tIns="4333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rIns="86661" tIns="4333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rIns="86661" tIns="4333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rIns="86661" tIns="4333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rIns="86661" tIns="4333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rIns="86661" tIns="4333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rIns="86661" tIns="4333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rIns="86661" tIns="4333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rIns="86661" tIns="4333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rIns="86661" tIns="4333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rIns="86661" tIns="4333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rIns="86661" tIns="4333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rIns="86661" tIns="4333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rIns="86661" tIns="4333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8"/>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rIns="89549" tIns="44775"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rIns="89549" tIns="44775"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rIns="89549" tIns="44775"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rIns="89549" tIns="44775"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rIns="89549" tIns="44775"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rIns="89549" tIns="44775"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rIns="89549" tIns="44775"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rIns="89549" tIns="44775"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rIns="89549" tIns="44775"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rIns="89555" tIns="44777"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rIns="89555" tIns="44777"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rIns="89555" tIns="44777"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rIns="89555" tIns="44777"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rIns="89555" tIns="44777"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rIns="89555" tIns="44777"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rIns="89555" tIns="44777"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rIns="89555" tIns="44777"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rIns="89555" tIns="44777"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rIns="89555" tIns="44777"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rIns="89555" tIns="44777"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rIns="89555" tIns="44777"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rIns="89555" tIns="44777"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rIns="89555" tIns="44777"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rIns="89555" tIns="44777"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rIns="89555" tIns="44777"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rIns="89555" tIns="44777"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rIns="89555" tIns="44777"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02920" y="1115568"/>
            <a:ext cx="1234440" cy="347472"/>
          </a:xfrm>
          <a:prstGeom prst="rect">
            <a:avLst/>
          </a:prstGeom>
          <a:noFill/>
        </p:spPr>
        <p:txBody>
          <a:bodyPr wrap="square" lIns="0" rIns="0" t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1"/>
          <p:cNvSpPr txBox="1"/>
          <p:nvPr/>
        </p:nvSpPr>
        <p:spPr>
          <a:xfrm>
            <a:off x="1929384" y="1152144"/>
            <a:ext cx="2297430" cy="137160"/>
          </a:xfrm>
          <a:prstGeom prst="rect">
            <a:avLst/>
          </a:prstGeom>
          <a:noFill/>
        </p:spPr>
        <p:txBody>
          <a:bodyPr wrap="square" lIns="0" rIns="0" t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rIns="0" t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4"/>
          <p:cNvSpPr txBox="1"/>
          <p:nvPr/>
        </p:nvSpPr>
        <p:spPr>
          <a:xfrm>
            <a:off x="4427981" y="1152144"/>
            <a:ext cx="2297430" cy="137160"/>
          </a:xfrm>
          <a:prstGeom prst="rect">
            <a:avLst/>
          </a:prstGeom>
          <a:noFill/>
        </p:spPr>
        <p:txBody>
          <a:bodyPr wrap="square" lIns="0" rIns="0" t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6926580" y="1152144"/>
            <a:ext cx="2297430" cy="137160"/>
          </a:xfrm>
          <a:prstGeom prst="rect">
            <a:avLst/>
          </a:prstGeom>
          <a:noFill/>
        </p:spPr>
        <p:txBody>
          <a:bodyPr wrap="square" lIns="0" rIns="0" t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9425178" y="1152144"/>
            <a:ext cx="2297430" cy="137160"/>
          </a:xfrm>
          <a:prstGeom prst="rect">
            <a:avLst/>
          </a:prstGeom>
          <a:noFill/>
        </p:spPr>
        <p:txBody>
          <a:bodyPr wrap="square" lIns="0" rIns="0" t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3"/>
          <p:cNvSpPr txBox="1"/>
          <p:nvPr/>
        </p:nvSpPr>
        <p:spPr>
          <a:xfrm>
            <a:off x="502920" y="1645920"/>
            <a:ext cx="1417320" cy="128016"/>
          </a:xfrm>
          <a:prstGeom prst="rect">
            <a:avLst/>
          </a:prstGeom>
          <a:noFill/>
        </p:spPr>
        <p:txBody>
          <a:bodyPr wrap="square" lIns="0" rIns="0" t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30936" y="1865376"/>
            <a:ext cx="1325880" cy="137160"/>
          </a:xfrm>
          <a:prstGeom prst="rect">
            <a:avLst/>
          </a:prstGeom>
          <a:noFill/>
        </p:spPr>
        <p:txBody>
          <a:bodyPr wrap="square" lIns="0" rIns="0" t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rIns="0" t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8"/>
          <p:cNvSpPr txBox="1"/>
          <p:nvPr/>
        </p:nvSpPr>
        <p:spPr>
          <a:xfrm>
            <a:off x="630936" y="2194560"/>
            <a:ext cx="1325880" cy="137160"/>
          </a:xfrm>
          <a:prstGeom prst="rect">
            <a:avLst/>
          </a:prstGeom>
          <a:noFill/>
        </p:spPr>
        <p:txBody>
          <a:bodyPr wrap="square" lIns="0" rIns="0" t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rIns="0" t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1"/>
          <p:cNvSpPr txBox="1"/>
          <p:nvPr/>
        </p:nvSpPr>
        <p:spPr>
          <a:xfrm>
            <a:off x="630936" y="2523744"/>
            <a:ext cx="1325880" cy="137160"/>
          </a:xfrm>
          <a:prstGeom prst="rect">
            <a:avLst/>
          </a:prstGeom>
          <a:noFill/>
        </p:spPr>
        <p:txBody>
          <a:bodyPr wrap="square" lIns="0" rIns="0" t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rIns="0" t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4"/>
          <p:cNvSpPr txBox="1"/>
          <p:nvPr/>
        </p:nvSpPr>
        <p:spPr>
          <a:xfrm>
            <a:off x="630936" y="2852928"/>
            <a:ext cx="1325880" cy="137160"/>
          </a:xfrm>
          <a:prstGeom prst="rect">
            <a:avLst/>
          </a:prstGeom>
          <a:noFill/>
        </p:spPr>
        <p:txBody>
          <a:bodyPr wrap="square" lIns="0" rIns="0" t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rIns="0" t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630936" y="3182112"/>
            <a:ext cx="1325880" cy="137160"/>
          </a:xfrm>
          <a:prstGeom prst="rect">
            <a:avLst/>
          </a:prstGeom>
          <a:noFill/>
        </p:spPr>
        <p:txBody>
          <a:bodyPr wrap="square" lIns="0" rIns="0" t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rIns="0" t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0"/>
          <p:cNvSpPr txBox="1"/>
          <p:nvPr/>
        </p:nvSpPr>
        <p:spPr>
          <a:xfrm>
            <a:off x="630936" y="3511296"/>
            <a:ext cx="1325880" cy="137160"/>
          </a:xfrm>
          <a:prstGeom prst="rect">
            <a:avLst/>
          </a:prstGeom>
          <a:noFill/>
        </p:spPr>
        <p:txBody>
          <a:bodyPr wrap="square" lIns="0" rIns="0" t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rIns="0" t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3"/>
          <p:cNvSpPr txBox="1"/>
          <p:nvPr/>
        </p:nvSpPr>
        <p:spPr>
          <a:xfrm>
            <a:off x="502920" y="3813048"/>
            <a:ext cx="1417320" cy="182880"/>
          </a:xfrm>
          <a:prstGeom prst="rect">
            <a:avLst/>
          </a:prstGeom>
          <a:noFill/>
        </p:spPr>
        <p:txBody>
          <a:bodyPr wrap="square" lIns="0" rIns="0" t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2555748" y="1613916"/>
            <a:ext cx="1975104" cy="274320"/>
          </a:xfrm>
          <a:prstGeom prst="rect">
            <a:avLst/>
          </a:prstGeom>
          <a:noFill/>
        </p:spPr>
        <p:txBody>
          <a:bodyPr wrap="square" lIns="0" rIns="0" t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4663440" y="1504188"/>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rIns="0" t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5"/>
          <p:cNvSpPr txBox="1"/>
          <p:nvPr/>
        </p:nvSpPr>
        <p:spPr>
          <a:xfrm>
            <a:off x="255574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8"/>
          <p:cNvSpPr txBox="1"/>
          <p:nvPr/>
        </p:nvSpPr>
        <p:spPr>
          <a:xfrm>
            <a:off x="319582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1"/>
          <p:cNvSpPr txBox="1"/>
          <p:nvPr/>
        </p:nvSpPr>
        <p:spPr>
          <a:xfrm>
            <a:off x="383590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447598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6"/>
          <p:cNvSpPr txBox="1"/>
          <p:nvPr/>
        </p:nvSpPr>
        <p:spPr>
          <a:xfrm>
            <a:off x="2555748" y="2455164"/>
            <a:ext cx="2980944" cy="164592"/>
          </a:xfrm>
          <a:prstGeom prst="rect">
            <a:avLst/>
          </a:prstGeom>
          <a:noFill/>
        </p:spPr>
        <p:txBody>
          <a:bodyPr wrap="square" lIns="0" rIns="0" t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8"/>
          <p:cNvSpPr txBox="1"/>
          <p:nvPr/>
        </p:nvSpPr>
        <p:spPr>
          <a:xfrm>
            <a:off x="2683764" y="2711196"/>
            <a:ext cx="2871216" cy="173736"/>
          </a:xfrm>
          <a:prstGeom prst="rect">
            <a:avLst/>
          </a:prstGeom>
          <a:noFill/>
        </p:spPr>
        <p:txBody>
          <a:bodyPr wrap="square" lIns="0" rIns="0" t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70"/>
          <p:cNvSpPr txBox="1"/>
          <p:nvPr/>
        </p:nvSpPr>
        <p:spPr>
          <a:xfrm>
            <a:off x="2683764" y="2903220"/>
            <a:ext cx="2871216" cy="173736"/>
          </a:xfrm>
          <a:prstGeom prst="rect">
            <a:avLst/>
          </a:prstGeom>
          <a:noFill/>
        </p:spPr>
        <p:txBody>
          <a:bodyPr wrap="square" lIns="0" rIns="0" t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2683764" y="3095244"/>
            <a:ext cx="2871216" cy="173736"/>
          </a:xfrm>
          <a:prstGeom prst="rect">
            <a:avLst/>
          </a:prstGeom>
          <a:noFill/>
        </p:spPr>
        <p:txBody>
          <a:bodyPr wrap="square" lIns="0" rIns="0" t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2683764" y="3287268"/>
            <a:ext cx="2871216" cy="173736"/>
          </a:xfrm>
          <a:prstGeom prst="rect">
            <a:avLst/>
          </a:prstGeom>
          <a:noFill/>
        </p:spPr>
        <p:txBody>
          <a:bodyPr wrap="square" lIns="0" rIns="0" t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6"/>
          <p:cNvSpPr txBox="1"/>
          <p:nvPr/>
        </p:nvSpPr>
        <p:spPr>
          <a:xfrm>
            <a:off x="2628900" y="3534156"/>
            <a:ext cx="2834640" cy="146304"/>
          </a:xfrm>
          <a:prstGeom prst="rect">
            <a:avLst/>
          </a:prstGeom>
          <a:noFill/>
        </p:spPr>
        <p:txBody>
          <a:bodyPr wrap="square" lIns="0" rIns="0" t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rIns="0" t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6172200" y="1572768"/>
            <a:ext cx="5513832" cy="274320"/>
          </a:xfrm>
          <a:prstGeom prst="rect">
            <a:avLst/>
          </a:prstGeom>
          <a:noFill/>
        </p:spPr>
        <p:txBody>
          <a:bodyPr wrap="square" lIns="0" rIns="0" t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6245352" y="1975104"/>
            <a:ext cx="1630680" cy="146304"/>
          </a:xfrm>
          <a:prstGeom prst="rect">
            <a:avLst/>
          </a:prstGeom>
          <a:noFill/>
        </p:spPr>
        <p:txBody>
          <a:bodyPr wrap="square" lIns="0" rIns="0" t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rIns="0" t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8"/>
          <p:cNvSpPr txBox="1"/>
          <p:nvPr/>
        </p:nvSpPr>
        <p:spPr>
          <a:xfrm>
            <a:off x="8113776" y="1975104"/>
            <a:ext cx="1630680" cy="146304"/>
          </a:xfrm>
          <a:prstGeom prst="rect">
            <a:avLst/>
          </a:prstGeom>
          <a:noFill/>
        </p:spPr>
        <p:txBody>
          <a:bodyPr wrap="square" lIns="0" rIns="0" t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rIns="0" t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9982200" y="1975104"/>
            <a:ext cx="1630680" cy="146304"/>
          </a:xfrm>
          <a:prstGeom prst="rect">
            <a:avLst/>
          </a:prstGeom>
          <a:noFill/>
        </p:spPr>
        <p:txBody>
          <a:bodyPr wrap="square" lIns="0" rIns="0" t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rIns="0" t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5"/>
          <p:cNvSpPr txBox="1"/>
          <p:nvPr/>
        </p:nvSpPr>
        <p:spPr>
          <a:xfrm>
            <a:off x="6236208" y="2569464"/>
            <a:ext cx="1227582" cy="137160"/>
          </a:xfrm>
          <a:prstGeom prst="rect">
            <a:avLst/>
          </a:prstGeom>
          <a:noFill/>
        </p:spPr>
        <p:txBody>
          <a:bodyPr wrap="square" lIns="0" rIns="0" t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rIns="0" t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8"/>
          <p:cNvSpPr txBox="1"/>
          <p:nvPr/>
        </p:nvSpPr>
        <p:spPr>
          <a:xfrm>
            <a:off x="7628382" y="2569464"/>
            <a:ext cx="1227582" cy="137160"/>
          </a:xfrm>
          <a:prstGeom prst="rect">
            <a:avLst/>
          </a:prstGeom>
          <a:noFill/>
        </p:spPr>
        <p:txBody>
          <a:bodyPr wrap="square" lIns="0" rIns="0" t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rIns="0" t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101"/>
          <p:cNvSpPr txBox="1"/>
          <p:nvPr/>
        </p:nvSpPr>
        <p:spPr>
          <a:xfrm>
            <a:off x="9020556" y="2569464"/>
            <a:ext cx="1227582" cy="137160"/>
          </a:xfrm>
          <a:prstGeom prst="rect">
            <a:avLst/>
          </a:prstGeom>
          <a:noFill/>
        </p:spPr>
        <p:txBody>
          <a:bodyPr wrap="square" lIns="0" rIns="0" t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rIns="0" t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10412730" y="2569464"/>
            <a:ext cx="1227582" cy="137160"/>
          </a:xfrm>
          <a:prstGeom prst="rect">
            <a:avLst/>
          </a:prstGeom>
          <a:noFill/>
        </p:spPr>
        <p:txBody>
          <a:bodyPr wrap="square" lIns="0" rIns="0" t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rIns="0" t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7"/>
          <p:cNvSpPr txBox="1"/>
          <p:nvPr/>
        </p:nvSpPr>
        <p:spPr>
          <a:xfrm>
            <a:off x="6236208"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rIns="0" t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10"/>
          <p:cNvSpPr txBox="1"/>
          <p:nvPr/>
        </p:nvSpPr>
        <p:spPr>
          <a:xfrm>
            <a:off x="7628382" y="2971800"/>
            <a:ext cx="1227582" cy="137160"/>
          </a:xfrm>
          <a:prstGeom prst="rect">
            <a:avLst/>
          </a:prstGeom>
          <a:noFill/>
        </p:spPr>
        <p:txBody>
          <a:bodyPr wrap="square" lIns="0" rIns="0" t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rIns="0" t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3"/>
          <p:cNvSpPr txBox="1"/>
          <p:nvPr/>
        </p:nvSpPr>
        <p:spPr>
          <a:xfrm>
            <a:off x="9020556"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rIns="0" t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6"/>
          <p:cNvSpPr txBox="1"/>
          <p:nvPr/>
        </p:nvSpPr>
        <p:spPr>
          <a:xfrm>
            <a:off x="10412730" y="2971800"/>
            <a:ext cx="1227582" cy="137160"/>
          </a:xfrm>
          <a:prstGeom prst="rect">
            <a:avLst/>
          </a:prstGeom>
          <a:noFill/>
        </p:spPr>
        <p:txBody>
          <a:bodyPr wrap="square" lIns="0" rIns="0" t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rIns="0" t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rIns="0" t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3"/>
          <p:cNvSpPr txBox="1"/>
          <p:nvPr/>
        </p:nvSpPr>
        <p:spPr>
          <a:xfrm>
            <a:off x="8419795" y="345185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rIns="0" t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rIns="0" t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7"/>
          <p:cNvSpPr txBox="1"/>
          <p:nvPr/>
        </p:nvSpPr>
        <p:spPr>
          <a:xfrm>
            <a:off x="9590227" y="3566159"/>
            <a:ext cx="2022652" cy="137160"/>
          </a:xfrm>
          <a:prstGeom prst="rect">
            <a:avLst/>
          </a:prstGeom>
          <a:noFill/>
        </p:spPr>
        <p:txBody>
          <a:bodyPr wrap="square" lIns="0" rIns="0" t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rIns="0" t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rIns="0" t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2"/>
          <p:cNvSpPr txBox="1"/>
          <p:nvPr/>
        </p:nvSpPr>
        <p:spPr>
          <a:xfrm>
            <a:off x="521208" y="4270247"/>
            <a:ext cx="3291840" cy="146304"/>
          </a:xfrm>
          <a:prstGeom prst="rect">
            <a:avLst/>
          </a:prstGeom>
          <a:noFill/>
        </p:spPr>
        <p:txBody>
          <a:bodyPr wrap="square" lIns="0" rIns="0" t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rIns="0" t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5"/>
          <p:cNvSpPr txBox="1"/>
          <p:nvPr/>
        </p:nvSpPr>
        <p:spPr>
          <a:xfrm>
            <a:off x="418795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8"/>
          <p:cNvSpPr txBox="1"/>
          <p:nvPr/>
        </p:nvSpPr>
        <p:spPr>
          <a:xfrm>
            <a:off x="587959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41"/>
          <p:cNvSpPr txBox="1"/>
          <p:nvPr/>
        </p:nvSpPr>
        <p:spPr>
          <a:xfrm>
            <a:off x="7571231"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rIns="0" t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rIns="0" t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 146"/>
          <p:cNvSpPr txBox="1"/>
          <p:nvPr/>
        </p:nvSpPr>
        <p:spPr>
          <a:xfrm>
            <a:off x="502920" y="4901183"/>
            <a:ext cx="2194560" cy="146304"/>
          </a:xfrm>
          <a:prstGeom prst="rect">
            <a:avLst/>
          </a:prstGeom>
          <a:noFill/>
        </p:spPr>
        <p:txBody>
          <a:bodyPr wrap="square" lIns="0" rIns="0" t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rIns="0" t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 150"/>
          <p:cNvSpPr txBox="1"/>
          <p:nvPr/>
        </p:nvSpPr>
        <p:spPr>
          <a:xfrm>
            <a:off x="2990088" y="4901183"/>
            <a:ext cx="2194560" cy="146304"/>
          </a:xfrm>
          <a:prstGeom prst="rect">
            <a:avLst/>
          </a:prstGeom>
          <a:noFill/>
        </p:spPr>
        <p:txBody>
          <a:bodyPr wrap="square" lIns="0" rIns="0" t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rIns="0" t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4"/>
          <p:cNvSpPr txBox="1"/>
          <p:nvPr/>
        </p:nvSpPr>
        <p:spPr>
          <a:xfrm>
            <a:off x="5477256" y="4901183"/>
            <a:ext cx="2194560" cy="146304"/>
          </a:xfrm>
          <a:prstGeom prst="rect">
            <a:avLst/>
          </a:prstGeom>
          <a:noFill/>
        </p:spPr>
        <p:txBody>
          <a:bodyPr wrap="square" lIns="0" rIns="0" t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rIns="0" t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8"/>
          <p:cNvSpPr txBox="1"/>
          <p:nvPr/>
        </p:nvSpPr>
        <p:spPr>
          <a:xfrm>
            <a:off x="8238744" y="4901183"/>
            <a:ext cx="1828800" cy="146304"/>
          </a:xfrm>
          <a:prstGeom prst="rect">
            <a:avLst/>
          </a:prstGeom>
          <a:noFill/>
        </p:spPr>
        <p:txBody>
          <a:bodyPr wrap="square" lIns="0" rIns="0" t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rIns="0" t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61"/>
          <p:cNvSpPr txBox="1"/>
          <p:nvPr/>
        </p:nvSpPr>
        <p:spPr>
          <a:xfrm>
            <a:off x="10532059" y="4901183"/>
            <a:ext cx="1172260" cy="146304"/>
          </a:xfrm>
          <a:prstGeom prst="rect">
            <a:avLst/>
          </a:prstGeom>
          <a:noFill/>
        </p:spPr>
        <p:txBody>
          <a:bodyPr wrap="square" lIns="0" rIns="0" t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66"/>
          <p:cNvSpPr txBox="1"/>
          <p:nvPr/>
        </p:nvSpPr>
        <p:spPr>
          <a:xfrm>
            <a:off x="5029200"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rIns="0" t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rIns="0" t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rIns="0" t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74"/>
          <p:cNvSpPr txBox="1"/>
          <p:nvPr/>
        </p:nvSpPr>
        <p:spPr>
          <a:xfrm>
            <a:off x="10771632"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6652260" y="5509259"/>
            <a:ext cx="3291840" cy="146304"/>
          </a:xfrm>
          <a:prstGeom prst="rect">
            <a:avLst/>
          </a:prstGeom>
          <a:noFill/>
        </p:spPr>
        <p:txBody>
          <a:bodyPr wrap="square" lIns="0" rIns="0" t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rIns="0" t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 179"/>
          <p:cNvSpPr txBox="1"/>
          <p:nvPr/>
        </p:nvSpPr>
        <p:spPr>
          <a:xfrm>
            <a:off x="521208" y="6044183"/>
            <a:ext cx="11146536" cy="274320"/>
          </a:xfrm>
          <a:prstGeom prst="rect">
            <a:avLst/>
          </a:prstGeom>
          <a:noFill/>
        </p:spPr>
        <p:txBody>
          <a:bodyPr wrap="square" lIns="0" rIns="0" t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21208" y="1115568"/>
            <a:ext cx="2194560" cy="274320"/>
          </a:xfrm>
          <a:prstGeom prst="rect">
            <a:avLst/>
          </a:prstGeom>
          <a:noFill/>
        </p:spPr>
        <p:txBody>
          <a:bodyPr wrap="square" lIns="0" rIns="0" t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rIns="0" t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3"/>
          <p:cNvSpPr txBox="1"/>
          <p:nvPr/>
        </p:nvSpPr>
        <p:spPr>
          <a:xfrm>
            <a:off x="493776"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8"/>
          <p:cNvSpPr txBox="1"/>
          <p:nvPr/>
        </p:nvSpPr>
        <p:spPr>
          <a:xfrm>
            <a:off x="557784"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557784"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5"/>
          <p:cNvSpPr txBox="1"/>
          <p:nvPr/>
        </p:nvSpPr>
        <p:spPr>
          <a:xfrm>
            <a:off x="4599432" y="1449324"/>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7"/>
          <p:cNvSpPr txBox="1"/>
          <p:nvPr/>
        </p:nvSpPr>
        <p:spPr>
          <a:xfrm>
            <a:off x="3255264"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2"/>
          <p:cNvSpPr txBox="1"/>
          <p:nvPr/>
        </p:nvSpPr>
        <p:spPr>
          <a:xfrm>
            <a:off x="3319272"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4"/>
          <p:cNvSpPr txBox="1"/>
          <p:nvPr/>
        </p:nvSpPr>
        <p:spPr>
          <a:xfrm>
            <a:off x="3319272"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7"/>
          <p:cNvSpPr txBox="1"/>
          <p:nvPr/>
        </p:nvSpPr>
        <p:spPr>
          <a:xfrm>
            <a:off x="6016752"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rIns="0" t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2"/>
          <p:cNvSpPr txBox="1"/>
          <p:nvPr/>
        </p:nvSpPr>
        <p:spPr>
          <a:xfrm>
            <a:off x="6080760"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080760"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6016752"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6080760"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4"/>
          <p:cNvSpPr txBox="1"/>
          <p:nvPr/>
        </p:nvSpPr>
        <p:spPr>
          <a:xfrm>
            <a:off x="6080760"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7"/>
          <p:cNvSpPr txBox="1"/>
          <p:nvPr/>
        </p:nvSpPr>
        <p:spPr>
          <a:xfrm>
            <a:off x="3255264"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2"/>
          <p:cNvSpPr txBox="1"/>
          <p:nvPr/>
        </p:nvSpPr>
        <p:spPr>
          <a:xfrm>
            <a:off x="3319272"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3319272"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7"/>
          <p:cNvSpPr txBox="1"/>
          <p:nvPr/>
        </p:nvSpPr>
        <p:spPr>
          <a:xfrm>
            <a:off x="493776" y="2935224"/>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rIns="0" t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557784"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557784"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7"/>
          <p:cNvSpPr txBox="1"/>
          <p:nvPr/>
        </p:nvSpPr>
        <p:spPr>
          <a:xfrm>
            <a:off x="493776"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rIns="0" t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557784"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557784"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7"/>
          <p:cNvSpPr txBox="1"/>
          <p:nvPr/>
        </p:nvSpPr>
        <p:spPr>
          <a:xfrm>
            <a:off x="3255264" y="4261103"/>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rIns="0" t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3319272"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4"/>
          <p:cNvSpPr txBox="1"/>
          <p:nvPr/>
        </p:nvSpPr>
        <p:spPr>
          <a:xfrm>
            <a:off x="3319272"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7"/>
          <p:cNvSpPr txBox="1"/>
          <p:nvPr/>
        </p:nvSpPr>
        <p:spPr>
          <a:xfrm>
            <a:off x="6016752"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rIns="0" t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2"/>
          <p:cNvSpPr txBox="1"/>
          <p:nvPr/>
        </p:nvSpPr>
        <p:spPr>
          <a:xfrm>
            <a:off x="6080760"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6080760"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rIns="0" t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rIns="0" t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20"/>
          <p:cNvSpPr txBox="1"/>
          <p:nvPr/>
        </p:nvSpPr>
        <p:spPr>
          <a:xfrm>
            <a:off x="10771632" y="1577340"/>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22"/>
          <p:cNvSpPr txBox="1"/>
          <p:nvPr/>
        </p:nvSpPr>
        <p:spPr>
          <a:xfrm>
            <a:off x="8727948" y="1687068"/>
            <a:ext cx="1911096" cy="201168"/>
          </a:xfrm>
          <a:prstGeom prst="rect">
            <a:avLst/>
          </a:prstGeom>
          <a:noFill/>
        </p:spPr>
        <p:txBody>
          <a:bodyPr wrap="square" lIns="0" rIns="0" t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4"/>
          <p:cNvSpPr txBox="1"/>
          <p:nvPr/>
        </p:nvSpPr>
        <p:spPr>
          <a:xfrm>
            <a:off x="8819388" y="1952243"/>
            <a:ext cx="2843784" cy="164592"/>
          </a:xfrm>
          <a:prstGeom prst="rect">
            <a:avLst/>
          </a:prstGeom>
          <a:noFill/>
        </p:spPr>
        <p:txBody>
          <a:bodyPr wrap="square" lIns="0" rIns="0" t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6"/>
          <p:cNvSpPr txBox="1"/>
          <p:nvPr/>
        </p:nvSpPr>
        <p:spPr>
          <a:xfrm>
            <a:off x="8819388" y="2135124"/>
            <a:ext cx="2843784" cy="164592"/>
          </a:xfrm>
          <a:prstGeom prst="rect">
            <a:avLst/>
          </a:prstGeom>
          <a:noFill/>
        </p:spPr>
        <p:txBody>
          <a:bodyPr wrap="square" lIns="0" rIns="0" t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8"/>
          <p:cNvSpPr txBox="1"/>
          <p:nvPr/>
        </p:nvSpPr>
        <p:spPr>
          <a:xfrm>
            <a:off x="8819388" y="2318003"/>
            <a:ext cx="2843784" cy="164592"/>
          </a:xfrm>
          <a:prstGeom prst="rect">
            <a:avLst/>
          </a:prstGeom>
          <a:noFill/>
        </p:spPr>
        <p:txBody>
          <a:bodyPr wrap="square" lIns="0" rIns="0" t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3"/>
          <p:cNvSpPr txBox="1"/>
          <p:nvPr/>
        </p:nvSpPr>
        <p:spPr>
          <a:xfrm>
            <a:off x="10771632" y="2528315"/>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35"/>
          <p:cNvSpPr txBox="1"/>
          <p:nvPr/>
        </p:nvSpPr>
        <p:spPr>
          <a:xfrm>
            <a:off x="8727948" y="2638044"/>
            <a:ext cx="1911096" cy="201168"/>
          </a:xfrm>
          <a:prstGeom prst="rect">
            <a:avLst/>
          </a:prstGeom>
          <a:noFill/>
        </p:spPr>
        <p:txBody>
          <a:bodyPr wrap="square" lIns="0" rIns="0" t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 137"/>
          <p:cNvSpPr txBox="1"/>
          <p:nvPr/>
        </p:nvSpPr>
        <p:spPr>
          <a:xfrm>
            <a:off x="8819388" y="2903220"/>
            <a:ext cx="2843784" cy="164592"/>
          </a:xfrm>
          <a:prstGeom prst="rect">
            <a:avLst/>
          </a:prstGeom>
          <a:noFill/>
        </p:spPr>
        <p:txBody>
          <a:bodyPr wrap="square" lIns="0" rIns="0" t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9"/>
          <p:cNvSpPr txBox="1"/>
          <p:nvPr/>
        </p:nvSpPr>
        <p:spPr>
          <a:xfrm>
            <a:off x="8819388" y="3086100"/>
            <a:ext cx="2843784" cy="164592"/>
          </a:xfrm>
          <a:prstGeom prst="rect">
            <a:avLst/>
          </a:prstGeom>
          <a:noFill/>
        </p:spPr>
        <p:txBody>
          <a:bodyPr wrap="square" lIns="0" rIns="0" t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41"/>
          <p:cNvSpPr txBox="1"/>
          <p:nvPr/>
        </p:nvSpPr>
        <p:spPr>
          <a:xfrm>
            <a:off x="8819388" y="3268979"/>
            <a:ext cx="2843784" cy="164592"/>
          </a:xfrm>
          <a:prstGeom prst="rect">
            <a:avLst/>
          </a:prstGeom>
          <a:noFill/>
        </p:spPr>
        <p:txBody>
          <a:bodyPr wrap="square" lIns="0" rIns="0" t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44"/>
          <p:cNvSpPr txBox="1"/>
          <p:nvPr/>
        </p:nvSpPr>
        <p:spPr>
          <a:xfrm>
            <a:off x="8686800" y="3547872"/>
            <a:ext cx="1993392" cy="201168"/>
          </a:xfrm>
          <a:prstGeom prst="rect">
            <a:avLst/>
          </a:prstGeom>
          <a:noFill/>
        </p:spPr>
        <p:txBody>
          <a:bodyPr wrap="square" lIns="0" rIns="0" t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46"/>
          <p:cNvSpPr txBox="1"/>
          <p:nvPr/>
        </p:nvSpPr>
        <p:spPr>
          <a:xfrm>
            <a:off x="8778240" y="3813048"/>
            <a:ext cx="2926080" cy="164592"/>
          </a:xfrm>
          <a:prstGeom prst="rect">
            <a:avLst/>
          </a:prstGeom>
          <a:noFill/>
        </p:spPr>
        <p:txBody>
          <a:bodyPr wrap="square" lIns="0" rIns="0" t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8"/>
          <p:cNvSpPr txBox="1"/>
          <p:nvPr/>
        </p:nvSpPr>
        <p:spPr>
          <a:xfrm>
            <a:off x="8778240" y="3995928"/>
            <a:ext cx="2926080" cy="164592"/>
          </a:xfrm>
          <a:prstGeom prst="rect">
            <a:avLst/>
          </a:prstGeom>
          <a:noFill/>
        </p:spPr>
        <p:txBody>
          <a:bodyPr wrap="square" lIns="0" rIns="0" t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50"/>
          <p:cNvSpPr txBox="1"/>
          <p:nvPr/>
        </p:nvSpPr>
        <p:spPr>
          <a:xfrm>
            <a:off x="8778240" y="4178808"/>
            <a:ext cx="2926080" cy="164592"/>
          </a:xfrm>
          <a:prstGeom prst="rect">
            <a:avLst/>
          </a:prstGeom>
          <a:noFill/>
        </p:spPr>
        <p:txBody>
          <a:bodyPr wrap="square" lIns="0" rIns="0" t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53"/>
          <p:cNvSpPr txBox="1"/>
          <p:nvPr/>
        </p:nvSpPr>
        <p:spPr>
          <a:xfrm>
            <a:off x="8686800" y="4498848"/>
            <a:ext cx="1993392" cy="201168"/>
          </a:xfrm>
          <a:prstGeom prst="rect">
            <a:avLst/>
          </a:prstGeom>
          <a:noFill/>
        </p:spPr>
        <p:txBody>
          <a:bodyPr wrap="square" lIns="0" rIns="0" t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5"/>
          <p:cNvSpPr txBox="1"/>
          <p:nvPr/>
        </p:nvSpPr>
        <p:spPr>
          <a:xfrm>
            <a:off x="8778240" y="4764024"/>
            <a:ext cx="2926080" cy="164592"/>
          </a:xfrm>
          <a:prstGeom prst="rect">
            <a:avLst/>
          </a:prstGeom>
          <a:noFill/>
        </p:spPr>
        <p:txBody>
          <a:bodyPr wrap="square" lIns="0" rIns="0" t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57"/>
          <p:cNvSpPr txBox="1"/>
          <p:nvPr/>
        </p:nvSpPr>
        <p:spPr>
          <a:xfrm>
            <a:off x="8778240" y="4946904"/>
            <a:ext cx="2926080" cy="164592"/>
          </a:xfrm>
          <a:prstGeom prst="rect">
            <a:avLst/>
          </a:prstGeom>
          <a:noFill/>
        </p:spPr>
        <p:txBody>
          <a:bodyPr wrap="square" lIns="0" rIns="0" t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9"/>
          <p:cNvSpPr txBox="1"/>
          <p:nvPr/>
        </p:nvSpPr>
        <p:spPr>
          <a:xfrm>
            <a:off x="8778240" y="5129784"/>
            <a:ext cx="2926080" cy="164592"/>
          </a:xfrm>
          <a:prstGeom prst="rect">
            <a:avLst/>
          </a:prstGeom>
          <a:noFill/>
        </p:spPr>
        <p:txBody>
          <a:bodyPr wrap="square" lIns="0" rIns="0" t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64"/>
          <p:cNvSpPr txBox="1"/>
          <p:nvPr/>
        </p:nvSpPr>
        <p:spPr>
          <a:xfrm>
            <a:off x="10771632" y="541781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rIns="0" t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rIns="0" t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 168"/>
          <p:cNvSpPr txBox="1"/>
          <p:nvPr/>
        </p:nvSpPr>
        <p:spPr>
          <a:xfrm>
            <a:off x="2537460" y="5747003"/>
            <a:ext cx="893826" cy="146304"/>
          </a:xfrm>
          <a:prstGeom prst="rect">
            <a:avLst/>
          </a:prstGeom>
          <a:noFill/>
        </p:spPr>
        <p:txBody>
          <a:bodyPr wrap="square" lIns="0" rIns="0" t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72"/>
          <p:cNvSpPr txBox="1"/>
          <p:nvPr/>
        </p:nvSpPr>
        <p:spPr>
          <a:xfrm>
            <a:off x="3705606" y="5747003"/>
            <a:ext cx="893826" cy="146304"/>
          </a:xfrm>
          <a:prstGeom prst="rect">
            <a:avLst/>
          </a:prstGeom>
          <a:noFill/>
        </p:spPr>
        <p:txBody>
          <a:bodyPr wrap="square" lIns="0" rIns="0" t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4873752"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80"/>
          <p:cNvSpPr txBox="1"/>
          <p:nvPr/>
        </p:nvSpPr>
        <p:spPr>
          <a:xfrm>
            <a:off x="6041898" y="5747003"/>
            <a:ext cx="893826" cy="146304"/>
          </a:xfrm>
          <a:prstGeom prst="rect">
            <a:avLst/>
          </a:prstGeom>
          <a:noFill/>
        </p:spPr>
        <p:txBody>
          <a:bodyPr wrap="square" lIns="0" rIns="0" t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rIns="0" t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84"/>
          <p:cNvSpPr txBox="1"/>
          <p:nvPr/>
        </p:nvSpPr>
        <p:spPr>
          <a:xfrm>
            <a:off x="7210044" y="5747003"/>
            <a:ext cx="893826" cy="146304"/>
          </a:xfrm>
          <a:prstGeom prst="rect">
            <a:avLst/>
          </a:prstGeom>
          <a:noFill/>
        </p:spPr>
        <p:txBody>
          <a:bodyPr wrap="square" lIns="0" rIns="0" t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88"/>
          <p:cNvSpPr txBox="1"/>
          <p:nvPr/>
        </p:nvSpPr>
        <p:spPr>
          <a:xfrm>
            <a:off x="8378190" y="5747003"/>
            <a:ext cx="893826" cy="146304"/>
          </a:xfrm>
          <a:prstGeom prst="rect">
            <a:avLst/>
          </a:prstGeom>
          <a:noFill/>
        </p:spPr>
        <p:txBody>
          <a:bodyPr wrap="square" lIns="0" rIns="0" t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 192"/>
          <p:cNvSpPr txBox="1"/>
          <p:nvPr/>
        </p:nvSpPr>
        <p:spPr>
          <a:xfrm>
            <a:off x="9546336"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96"/>
          <p:cNvSpPr txBox="1"/>
          <p:nvPr/>
        </p:nvSpPr>
        <p:spPr>
          <a:xfrm>
            <a:off x="10714482" y="5747003"/>
            <a:ext cx="893826" cy="146304"/>
          </a:xfrm>
          <a:prstGeom prst="rect">
            <a:avLst/>
          </a:prstGeom>
          <a:noFill/>
        </p:spPr>
        <p:txBody>
          <a:bodyPr wrap="square" lIns="0" rIns="0" t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MAD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MAD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rIns="0" t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2056383"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4155440"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625449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7304024"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87831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6"/>
          <p:cNvSpPr txBox="1"/>
          <p:nvPr/>
        </p:nvSpPr>
        <p:spPr>
          <a:xfrm>
            <a:off x="10177272" y="581558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10177272" y="554126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18 people at peak across thirteen roles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17.5 FTE at peak, 265 FTE-months over eighteen months, 30% onshore.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Technology and skills</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3246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6133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324612"/>
          </a:xfrm>
          <a:prstGeom prst="rect">
            <a:avLst/>
          </a:prstGeom>
          <a:noFill/>
        </p:spPr>
        <p:txBody>
          <a:bodyPr wrap="square" lIns="0" rIns="0" tIns="0" bIns="0" anchor="ctr">
            <a:spAutoFit/>
          </a:bodyPr>
          <a:lstStyle/>
          <a:p>
            <a:r>
              <a:rPr sz="750" b="1" i="0">
                <a:solidFill>
                  <a:srgbClr val="000000"/>
                </a:solidFill>
                <a:latin typeface="Trenda IG Text"/>
              </a:rPr>
              <a:t>Engagement / delivery lead</a:t>
            </a:r>
          </a:p>
        </p:txBody>
      </p:sp>
      <p:sp>
        <p:nvSpPr>
          <p:cNvPr id="14" name="Text 13"/>
          <p:cNvSpPr txBox="1"/>
          <p:nvPr/>
        </p:nvSpPr>
        <p:spPr>
          <a:xfrm>
            <a:off x="2606040" y="1444752"/>
            <a:ext cx="3438144" cy="324612"/>
          </a:xfrm>
          <a:prstGeom prst="rect">
            <a:avLst/>
          </a:prstGeom>
          <a:noFill/>
        </p:spPr>
        <p:txBody>
          <a:bodyPr wrap="square" lIns="0" rIns="0" tIns="0" bIns="0" anchor="ctr">
            <a:spAutoFit/>
          </a:bodyPr>
          <a:lstStyle/>
          <a:p>
            <a:r>
              <a:rPr sz="700" b="0" i="0">
                <a:solidFill>
                  <a:srgbClr val="000000"/>
                </a:solidFill>
                <a:latin typeface="Trenda IG Text"/>
              </a:rPr>
              <a:t>Delivery governance, gates, pod onboarding plan</a:t>
            </a:r>
          </a:p>
        </p:txBody>
      </p:sp>
      <p:sp>
        <p:nvSpPr>
          <p:cNvPr id="15" name="Text 14"/>
          <p:cNvSpPr txBox="1"/>
          <p:nvPr/>
        </p:nvSpPr>
        <p:spPr>
          <a:xfrm>
            <a:off x="6126480" y="1444752"/>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324612"/>
          </a:xfrm>
          <a:prstGeom prst="rect">
            <a:avLst/>
          </a:prstGeom>
          <a:noFill/>
        </p:spPr>
        <p:txBody>
          <a:bodyPr wrap="square" lIns="0" rIns="0" tIns="0" bIns="0" anchor="ctr">
            <a:spAutoFit/>
          </a:bodyPr>
          <a:lstStyle/>
          <a:p>
            <a:r>
              <a:rPr sz="750" b="0" i="0">
                <a:solidFill>
                  <a:srgbClr val="000000"/>
                </a:solidFill>
                <a:latin typeface="Trenda IG Text"/>
              </a:rPr>
              <a:t>Onshore</a:t>
            </a:r>
          </a:p>
        </p:txBody>
      </p:sp>
      <p:sp>
        <p:nvSpPr>
          <p:cNvPr id="17" name="Text 16"/>
          <p:cNvSpPr txBox="1"/>
          <p:nvPr/>
        </p:nvSpPr>
        <p:spPr>
          <a:xfrm>
            <a:off x="7315200" y="1444752"/>
            <a:ext cx="694943" cy="32461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188595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769364"/>
            <a:ext cx="1911095" cy="324612"/>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769364"/>
            <a:ext cx="3438144" cy="324612"/>
          </a:xfrm>
          <a:prstGeom prst="rect">
            <a:avLst/>
          </a:prstGeom>
          <a:noFill/>
        </p:spPr>
        <p:txBody>
          <a:bodyPr wrap="square" lIns="0" rIns="0" tIns="0" bIns="0" anchor="ctr">
            <a:spAutoFit/>
          </a:bodyPr>
          <a:lstStyle/>
          <a:p>
            <a:r>
              <a:rPr sz="700" b="0" i="0">
                <a:solidFill>
                  <a:srgbClr val="000000"/>
                </a:solidFill>
                <a:latin typeface="Trenda IG Text"/>
              </a:rPr>
              <a:t>GCP + Salesforce architecture, Spanner Graph model, security design</a:t>
            </a:r>
          </a:p>
        </p:txBody>
      </p:sp>
      <p:sp>
        <p:nvSpPr>
          <p:cNvPr id="21" name="Text 20"/>
          <p:cNvSpPr txBox="1"/>
          <p:nvPr/>
        </p:nvSpPr>
        <p:spPr>
          <a:xfrm>
            <a:off x="6126480" y="1769364"/>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769364"/>
            <a:ext cx="603503" cy="324612"/>
          </a:xfrm>
          <a:prstGeom prst="rect">
            <a:avLst/>
          </a:prstGeom>
          <a:noFill/>
        </p:spPr>
        <p:txBody>
          <a:bodyPr wrap="square" lIns="0" rIns="0" tIns="0" bIns="0" anchor="ctr">
            <a:spAutoFit/>
          </a:bodyPr>
          <a:lstStyle/>
          <a:p>
            <a:r>
              <a:rPr sz="750" b="0" i="0">
                <a:solidFill>
                  <a:srgbClr val="000000"/>
                </a:solidFill>
                <a:latin typeface="Trenda IG Text"/>
              </a:rPr>
              <a:t>Onshore</a:t>
            </a:r>
          </a:p>
        </p:txBody>
      </p:sp>
      <p:sp>
        <p:nvSpPr>
          <p:cNvPr id="23" name="Text 22"/>
          <p:cNvSpPr txBox="1"/>
          <p:nvPr/>
        </p:nvSpPr>
        <p:spPr>
          <a:xfrm>
            <a:off x="7315200" y="1769364"/>
            <a:ext cx="694943" cy="32461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093976"/>
            <a:ext cx="7635240" cy="3246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21056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093976"/>
            <a:ext cx="1911095" cy="324612"/>
          </a:xfrm>
          <a:prstGeom prst="rect">
            <a:avLst/>
          </a:prstGeom>
          <a:noFill/>
        </p:spPr>
        <p:txBody>
          <a:bodyPr wrap="square" lIns="0" rIns="0" tIns="0" bIns="0" anchor="ctr">
            <a:spAutoFit/>
          </a:bodyPr>
          <a:lstStyle/>
          <a:p>
            <a:r>
              <a:rPr sz="750" b="1" i="0">
                <a:solidFill>
                  <a:srgbClr val="000000"/>
                </a:solidFill>
                <a:latin typeface="Trenda IG Text"/>
              </a:rPr>
              <a:t>AI agent lead</a:t>
            </a:r>
          </a:p>
        </p:txBody>
      </p:sp>
      <p:sp>
        <p:nvSpPr>
          <p:cNvPr id="27" name="Text 26"/>
          <p:cNvSpPr txBox="1"/>
          <p:nvPr/>
        </p:nvSpPr>
        <p:spPr>
          <a:xfrm>
            <a:off x="2606040" y="2093976"/>
            <a:ext cx="3438144" cy="324612"/>
          </a:xfrm>
          <a:prstGeom prst="rect">
            <a:avLst/>
          </a:prstGeom>
          <a:noFill/>
        </p:spPr>
        <p:txBody>
          <a:bodyPr wrap="square" lIns="0" rIns="0" tIns="0" bIns="0" anchor="ctr">
            <a:spAutoFit/>
          </a:bodyPr>
          <a:lstStyle/>
          <a:p>
            <a:r>
              <a:rPr sz="700" b="0" i="0">
                <a:solidFill>
                  <a:srgbClr val="000000"/>
                </a:solidFill>
                <a:latin typeface="Trenda IG Text"/>
              </a:rPr>
              <a:t>OpenAI Agents SDK, Codex SDK, MCP, prompts, skills, evaluations</a:t>
            </a:r>
          </a:p>
        </p:txBody>
      </p:sp>
      <p:sp>
        <p:nvSpPr>
          <p:cNvPr id="28" name="Text 27"/>
          <p:cNvSpPr txBox="1"/>
          <p:nvPr/>
        </p:nvSpPr>
        <p:spPr>
          <a:xfrm>
            <a:off x="6126480" y="2093976"/>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093976"/>
            <a:ext cx="603503" cy="324612"/>
          </a:xfrm>
          <a:prstGeom prst="rect">
            <a:avLst/>
          </a:prstGeom>
          <a:noFill/>
        </p:spPr>
        <p:txBody>
          <a:bodyPr wrap="square" lIns="0" rIns="0" tIns="0" bIns="0" anchor="ctr">
            <a:spAutoFit/>
          </a:bodyPr>
          <a:lstStyle/>
          <a:p>
            <a:r>
              <a:rPr sz="750" b="0" i="0">
                <a:solidFill>
                  <a:srgbClr val="000000"/>
                </a:solidFill>
                <a:latin typeface="Trenda IG Text"/>
              </a:rPr>
              <a:t>Onshore</a:t>
            </a:r>
          </a:p>
        </p:txBody>
      </p:sp>
      <p:sp>
        <p:nvSpPr>
          <p:cNvPr id="30" name="Text 29"/>
          <p:cNvSpPr txBox="1"/>
          <p:nvPr/>
        </p:nvSpPr>
        <p:spPr>
          <a:xfrm>
            <a:off x="7315200" y="2093976"/>
            <a:ext cx="694943" cy="32461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535174"/>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418588"/>
            <a:ext cx="1911095" cy="324612"/>
          </a:xfrm>
          <a:prstGeom prst="rect">
            <a:avLst/>
          </a:prstGeom>
          <a:noFill/>
        </p:spPr>
        <p:txBody>
          <a:bodyPr wrap="square" lIns="0" rIns="0" tIns="0" bIns="0" anchor="ctr">
            <a:spAutoFit/>
          </a:bodyPr>
          <a:lstStyle/>
          <a:p>
            <a:r>
              <a:rPr sz="750" b="1" i="0">
                <a:solidFill>
                  <a:srgbClr val="000000"/>
                </a:solidFill>
                <a:latin typeface="Trenda IG Text"/>
              </a:rPr>
              <a:t>AI agent engineers</a:t>
            </a:r>
          </a:p>
        </p:txBody>
      </p:sp>
      <p:sp>
        <p:nvSpPr>
          <p:cNvPr id="33" name="Text 32"/>
          <p:cNvSpPr txBox="1"/>
          <p:nvPr/>
        </p:nvSpPr>
        <p:spPr>
          <a:xfrm>
            <a:off x="2606040" y="2418588"/>
            <a:ext cx="3438144" cy="324612"/>
          </a:xfrm>
          <a:prstGeom prst="rect">
            <a:avLst/>
          </a:prstGeom>
          <a:noFill/>
        </p:spPr>
        <p:txBody>
          <a:bodyPr wrap="square" lIns="0" rIns="0" tIns="0" bIns="0" anchor="ctr">
            <a:spAutoFit/>
          </a:bodyPr>
          <a:lstStyle/>
          <a:p>
            <a:r>
              <a:rPr sz="700" b="0" i="0">
                <a:solidFill>
                  <a:srgbClr val="000000"/>
                </a:solidFill>
                <a:latin typeface="Trenda IG Text"/>
              </a:rPr>
              <a:t>Python, Agents SDK, headless Codex, MCP tools, JSON Schema outputs</a:t>
            </a:r>
          </a:p>
        </p:txBody>
      </p:sp>
      <p:sp>
        <p:nvSpPr>
          <p:cNvPr id="34" name="Text 33"/>
          <p:cNvSpPr txBox="1"/>
          <p:nvPr/>
        </p:nvSpPr>
        <p:spPr>
          <a:xfrm>
            <a:off x="6126480" y="2418588"/>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35" name="Text 34"/>
          <p:cNvSpPr txBox="1"/>
          <p:nvPr/>
        </p:nvSpPr>
        <p:spPr>
          <a:xfrm>
            <a:off x="6629400" y="2418588"/>
            <a:ext cx="603503" cy="32461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418588"/>
            <a:ext cx="694943" cy="324612"/>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37" name="Shape 36"/>
          <p:cNvSpPr/>
          <p:nvPr/>
        </p:nvSpPr>
        <p:spPr>
          <a:xfrm>
            <a:off x="411480" y="2743200"/>
            <a:ext cx="7635240" cy="3246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285978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2743200"/>
            <a:ext cx="1911095" cy="324612"/>
          </a:xfrm>
          <a:prstGeom prst="rect">
            <a:avLst/>
          </a:prstGeom>
          <a:noFill/>
        </p:spPr>
        <p:txBody>
          <a:bodyPr wrap="square" lIns="0" rIns="0" tIns="0" bIns="0" anchor="ctr">
            <a:spAutoFit/>
          </a:bodyPr>
          <a:lstStyle/>
          <a:p>
            <a:r>
              <a:rPr sz="750" b="1" i="0">
                <a:solidFill>
                  <a:srgbClr val="000000"/>
                </a:solidFill>
                <a:latin typeface="Trenda IG Text"/>
              </a:rPr>
              <a:t>GCP platform engineers</a:t>
            </a:r>
          </a:p>
        </p:txBody>
      </p:sp>
      <p:sp>
        <p:nvSpPr>
          <p:cNvPr id="40" name="Text 39"/>
          <p:cNvSpPr txBox="1"/>
          <p:nvPr/>
        </p:nvSpPr>
        <p:spPr>
          <a:xfrm>
            <a:off x="2606040" y="2743200"/>
            <a:ext cx="3438144" cy="324612"/>
          </a:xfrm>
          <a:prstGeom prst="rect">
            <a:avLst/>
          </a:prstGeom>
          <a:noFill/>
        </p:spPr>
        <p:txBody>
          <a:bodyPr wrap="square" lIns="0" rIns="0" tIns="0" bIns="0" anchor="ctr">
            <a:spAutoFit/>
          </a:bodyPr>
          <a:lstStyle/>
          <a:p>
            <a:r>
              <a:rPr sz="700" b="0" i="0">
                <a:solidFill>
                  <a:srgbClr val="000000"/>
                </a:solidFill>
                <a:latin typeface="Trenda IG Text"/>
              </a:rPr>
              <a:t>Terraform, Cloud Run, Workflows, Firestore, IAM, VPC-SC, Cloud Build</a:t>
            </a:r>
          </a:p>
        </p:txBody>
      </p:sp>
      <p:sp>
        <p:nvSpPr>
          <p:cNvPr id="41" name="Text 40"/>
          <p:cNvSpPr txBox="1"/>
          <p:nvPr/>
        </p:nvSpPr>
        <p:spPr>
          <a:xfrm>
            <a:off x="6126480" y="2743200"/>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2743200"/>
            <a:ext cx="603503" cy="32461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2743200"/>
            <a:ext cx="694943" cy="32461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44" name="Shape 43"/>
          <p:cNvSpPr/>
          <p:nvPr/>
        </p:nvSpPr>
        <p:spPr>
          <a:xfrm>
            <a:off x="466344" y="3184398"/>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067812"/>
            <a:ext cx="1911095" cy="324612"/>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6" name="Text 45"/>
          <p:cNvSpPr txBox="1"/>
          <p:nvPr/>
        </p:nvSpPr>
        <p:spPr>
          <a:xfrm>
            <a:off x="2606040" y="3067812"/>
            <a:ext cx="3438144" cy="324612"/>
          </a:xfrm>
          <a:prstGeom prst="rect">
            <a:avLst/>
          </a:prstGeom>
          <a:noFill/>
        </p:spPr>
        <p:txBody>
          <a:bodyPr wrap="square" lIns="0" rIns="0" tIns="0" bIns="0" anchor="ctr">
            <a:spAutoFit/>
          </a:bodyPr>
          <a:lstStyle/>
          <a:p>
            <a:r>
              <a:rPr sz="700" b="0" i="0">
                <a:solidFill>
                  <a:srgbClr val="000000"/>
                </a:solidFill>
                <a:latin typeface="Trenda IG Text"/>
              </a:rPr>
              <a:t>Python connectors, Spanner Graph (GQL), DLP, Jira / Confluence / SF APIs</a:t>
            </a:r>
          </a:p>
        </p:txBody>
      </p:sp>
      <p:sp>
        <p:nvSpPr>
          <p:cNvPr id="47" name="Text 46"/>
          <p:cNvSpPr txBox="1"/>
          <p:nvPr/>
        </p:nvSpPr>
        <p:spPr>
          <a:xfrm>
            <a:off x="6126480" y="3067812"/>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067812"/>
            <a:ext cx="603503" cy="32461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067812"/>
            <a:ext cx="694943" cy="32461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0" name="Shape 49"/>
          <p:cNvSpPr/>
          <p:nvPr/>
        </p:nvSpPr>
        <p:spPr>
          <a:xfrm>
            <a:off x="411480" y="3392424"/>
            <a:ext cx="7635240" cy="3246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3509010"/>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392424"/>
            <a:ext cx="1911095" cy="324612"/>
          </a:xfrm>
          <a:prstGeom prst="rect">
            <a:avLst/>
          </a:prstGeom>
          <a:noFill/>
        </p:spPr>
        <p:txBody>
          <a:bodyPr wrap="square" lIns="0" rIns="0" tIns="0" bIns="0" anchor="ctr">
            <a:spAutoFit/>
          </a:bodyPr>
          <a:lstStyle/>
          <a:p>
            <a:r>
              <a:rPr sz="750" b="1" i="0">
                <a:solidFill>
                  <a:srgbClr val="000000"/>
                </a:solidFill>
                <a:latin typeface="Trenda IG Text"/>
              </a:rPr>
              <a:t>Python backend engineer</a:t>
            </a:r>
          </a:p>
        </p:txBody>
      </p:sp>
      <p:sp>
        <p:nvSpPr>
          <p:cNvPr id="53" name="Text 52"/>
          <p:cNvSpPr txBox="1"/>
          <p:nvPr/>
        </p:nvSpPr>
        <p:spPr>
          <a:xfrm>
            <a:off x="2606040" y="3392424"/>
            <a:ext cx="3438144" cy="324612"/>
          </a:xfrm>
          <a:prstGeom prst="rect">
            <a:avLst/>
          </a:prstGeom>
          <a:noFill/>
        </p:spPr>
        <p:txBody>
          <a:bodyPr wrap="square" lIns="0" rIns="0" tIns="0" bIns="0" anchor="ctr">
            <a:spAutoFit/>
          </a:bodyPr>
          <a:lstStyle/>
          <a:p>
            <a:r>
              <a:rPr sz="700" b="0" i="0">
                <a:solidFill>
                  <a:srgbClr val="000000"/>
                </a:solidFill>
                <a:latin typeface="Trenda IG Text"/>
              </a:rPr>
              <a:t>FastAPI services: gateway, approval, Guardian; OPA (Rego)</a:t>
            </a:r>
          </a:p>
        </p:txBody>
      </p:sp>
      <p:sp>
        <p:nvSpPr>
          <p:cNvPr id="54" name="Text 53"/>
          <p:cNvSpPr txBox="1"/>
          <p:nvPr/>
        </p:nvSpPr>
        <p:spPr>
          <a:xfrm>
            <a:off x="6126480" y="3392424"/>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55" name="Text 54"/>
          <p:cNvSpPr txBox="1"/>
          <p:nvPr/>
        </p:nvSpPr>
        <p:spPr>
          <a:xfrm>
            <a:off x="6629400" y="3392424"/>
            <a:ext cx="603503" cy="32461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392424"/>
            <a:ext cx="694943" cy="324612"/>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57" name="Shape 56"/>
          <p:cNvSpPr/>
          <p:nvPr/>
        </p:nvSpPr>
        <p:spPr>
          <a:xfrm>
            <a:off x="466344" y="383362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3717035"/>
            <a:ext cx="1911095" cy="324612"/>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9" name="Text 58"/>
          <p:cNvSpPr txBox="1"/>
          <p:nvPr/>
        </p:nvSpPr>
        <p:spPr>
          <a:xfrm>
            <a:off x="2606040" y="3717035"/>
            <a:ext cx="3438144" cy="324612"/>
          </a:xfrm>
          <a:prstGeom prst="rect">
            <a:avLst/>
          </a:prstGeom>
          <a:noFill/>
        </p:spPr>
        <p:txBody>
          <a:bodyPr wrap="square" lIns="0" rIns="0" tIns="0" bIns="0" anchor="ctr">
            <a:spAutoFit/>
          </a:bodyPr>
          <a:lstStyle/>
          <a:p>
            <a:r>
              <a:rPr sz="700" b="0" i="0">
                <a:solidFill>
                  <a:srgbClr val="000000"/>
                </a:solidFill>
                <a:latin typeface="Trenda IG Text"/>
              </a:rPr>
              <a:t>Apex, LWC, Flow, Metadata + Tooling API, sf CLI, pod skills</a:t>
            </a:r>
          </a:p>
        </p:txBody>
      </p:sp>
      <p:sp>
        <p:nvSpPr>
          <p:cNvPr id="60" name="Text 59"/>
          <p:cNvSpPr txBox="1"/>
          <p:nvPr/>
        </p:nvSpPr>
        <p:spPr>
          <a:xfrm>
            <a:off x="6126480" y="3717035"/>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61" name="Text 60"/>
          <p:cNvSpPr txBox="1"/>
          <p:nvPr/>
        </p:nvSpPr>
        <p:spPr>
          <a:xfrm>
            <a:off x="6629400" y="3717035"/>
            <a:ext cx="603503" cy="32461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3717035"/>
            <a:ext cx="694943" cy="32461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63" name="Shape 62"/>
          <p:cNvSpPr/>
          <p:nvPr/>
        </p:nvSpPr>
        <p:spPr>
          <a:xfrm>
            <a:off x="411480" y="4041648"/>
            <a:ext cx="7635240" cy="3246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158234"/>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041648"/>
            <a:ext cx="1911095" cy="324612"/>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66" name="Text 65"/>
          <p:cNvSpPr txBox="1"/>
          <p:nvPr/>
        </p:nvSpPr>
        <p:spPr>
          <a:xfrm>
            <a:off x="2606040" y="4041648"/>
            <a:ext cx="3438144" cy="324612"/>
          </a:xfrm>
          <a:prstGeom prst="rect">
            <a:avLst/>
          </a:prstGeom>
          <a:noFill/>
        </p:spPr>
        <p:txBody>
          <a:bodyPr wrap="square" lIns="0" rIns="0" tIns="0" bIns="0" anchor="ctr">
            <a:spAutoFit/>
          </a:bodyPr>
          <a:lstStyle/>
          <a:p>
            <a:r>
              <a:rPr sz="700" b="0" i="0">
                <a:solidFill>
                  <a:srgbClr val="000000"/>
                </a:solidFill>
                <a:latin typeface="Trenda IG Text"/>
              </a:rPr>
              <a:t>SFMC SQL, AMPscript, Journey Builder, Data Cloud, mcdev</a:t>
            </a:r>
          </a:p>
        </p:txBody>
      </p:sp>
      <p:sp>
        <p:nvSpPr>
          <p:cNvPr id="67" name="Text 66"/>
          <p:cNvSpPr txBox="1"/>
          <p:nvPr/>
        </p:nvSpPr>
        <p:spPr>
          <a:xfrm>
            <a:off x="6126480" y="4041648"/>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8" name="Text 67"/>
          <p:cNvSpPr txBox="1"/>
          <p:nvPr/>
        </p:nvSpPr>
        <p:spPr>
          <a:xfrm>
            <a:off x="6629400" y="4041648"/>
            <a:ext cx="603503" cy="32461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041648"/>
            <a:ext cx="694943" cy="324612"/>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70" name="Shape 69"/>
          <p:cNvSpPr/>
          <p:nvPr/>
        </p:nvSpPr>
        <p:spPr>
          <a:xfrm>
            <a:off x="466344" y="448284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4366260"/>
            <a:ext cx="1911095" cy="324612"/>
          </a:xfrm>
          <a:prstGeom prst="rect">
            <a:avLst/>
          </a:prstGeom>
          <a:noFill/>
        </p:spPr>
        <p:txBody>
          <a:bodyPr wrap="square" lIns="0" rIns="0" tIns="0" bIns="0" anchor="ctr">
            <a:spAutoFit/>
          </a:bodyPr>
          <a:lstStyle/>
          <a:p>
            <a:r>
              <a:rPr sz="750" b="1" i="0">
                <a:solidFill>
                  <a:srgbClr val="000000"/>
                </a:solidFill>
                <a:latin typeface="Trenda IG Text"/>
              </a:rPr>
              <a:t>DevOps / Copado engineer</a:t>
            </a:r>
          </a:p>
        </p:txBody>
      </p:sp>
      <p:sp>
        <p:nvSpPr>
          <p:cNvPr id="72" name="Text 71"/>
          <p:cNvSpPr txBox="1"/>
          <p:nvPr/>
        </p:nvSpPr>
        <p:spPr>
          <a:xfrm>
            <a:off x="2606040" y="4366260"/>
            <a:ext cx="3438144" cy="324612"/>
          </a:xfrm>
          <a:prstGeom prst="rect">
            <a:avLst/>
          </a:prstGeom>
          <a:noFill/>
        </p:spPr>
        <p:txBody>
          <a:bodyPr wrap="square" lIns="0" rIns="0" tIns="0" bIns="0" anchor="ctr">
            <a:spAutoFit/>
          </a:bodyPr>
          <a:lstStyle/>
          <a:p>
            <a:r>
              <a:rPr sz="700" b="0" i="0">
                <a:solidFill>
                  <a:srgbClr val="000000"/>
                </a:solidFill>
                <a:latin typeface="Trenda IG Text"/>
              </a:rPr>
              <a:t>Copado pipelines and API, Git, CI checks, Code Analyzer</a:t>
            </a:r>
          </a:p>
        </p:txBody>
      </p:sp>
      <p:sp>
        <p:nvSpPr>
          <p:cNvPr id="73" name="Text 72"/>
          <p:cNvSpPr txBox="1"/>
          <p:nvPr/>
        </p:nvSpPr>
        <p:spPr>
          <a:xfrm>
            <a:off x="6126480" y="4366260"/>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4366260"/>
            <a:ext cx="603503" cy="32461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4366260"/>
            <a:ext cx="694943" cy="32461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6" name="Shape 75"/>
          <p:cNvSpPr/>
          <p:nvPr/>
        </p:nvSpPr>
        <p:spPr>
          <a:xfrm>
            <a:off x="411480" y="4690872"/>
            <a:ext cx="7635240" cy="3246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66344" y="480745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612648" y="4690872"/>
            <a:ext cx="1911095" cy="324612"/>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79" name="Text 78"/>
          <p:cNvSpPr txBox="1"/>
          <p:nvPr/>
        </p:nvSpPr>
        <p:spPr>
          <a:xfrm>
            <a:off x="2606040" y="4690872"/>
            <a:ext cx="3438144" cy="324612"/>
          </a:xfrm>
          <a:prstGeom prst="rect">
            <a:avLst/>
          </a:prstGeom>
          <a:noFill/>
        </p:spPr>
        <p:txBody>
          <a:bodyPr wrap="square" lIns="0" rIns="0" tIns="0" bIns="0" anchor="ctr">
            <a:spAutoFit/>
          </a:bodyPr>
          <a:lstStyle/>
          <a:p>
            <a:r>
              <a:rPr sz="700" b="0" i="0">
                <a:solidFill>
                  <a:srgbClr val="000000"/>
                </a:solidFill>
                <a:latin typeface="Trenda IG Text"/>
              </a:rPr>
              <a:t>Copado Robotic Testing, Zephyr Scale, Apex + Jest, agent evaluations</a:t>
            </a:r>
          </a:p>
        </p:txBody>
      </p:sp>
      <p:sp>
        <p:nvSpPr>
          <p:cNvPr id="80" name="Text 79"/>
          <p:cNvSpPr txBox="1"/>
          <p:nvPr/>
        </p:nvSpPr>
        <p:spPr>
          <a:xfrm>
            <a:off x="6126480" y="4690872"/>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81" name="Text 80"/>
          <p:cNvSpPr txBox="1"/>
          <p:nvPr/>
        </p:nvSpPr>
        <p:spPr>
          <a:xfrm>
            <a:off x="6629400" y="4690872"/>
            <a:ext cx="603503" cy="32461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2" name="Text 81"/>
          <p:cNvSpPr txBox="1"/>
          <p:nvPr/>
        </p:nvSpPr>
        <p:spPr>
          <a:xfrm>
            <a:off x="7315200" y="4690872"/>
            <a:ext cx="694943" cy="32461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3" name="Shape 82"/>
          <p:cNvSpPr/>
          <p:nvPr/>
        </p:nvSpPr>
        <p:spPr>
          <a:xfrm>
            <a:off x="466344" y="5132070"/>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612648" y="5015484"/>
            <a:ext cx="1911095" cy="324612"/>
          </a:xfrm>
          <a:prstGeom prst="rect">
            <a:avLst/>
          </a:prstGeom>
          <a:noFill/>
        </p:spPr>
        <p:txBody>
          <a:bodyPr wrap="square" lIns="0" rIns="0" tIns="0" bIns="0" anchor="ctr">
            <a:spAutoFit/>
          </a:bodyPr>
          <a:lstStyle/>
          <a:p>
            <a:r>
              <a:rPr sz="750" b="1" i="0">
                <a:solidFill>
                  <a:srgbClr val="000000"/>
                </a:solidFill>
                <a:latin typeface="Trenda IG Text"/>
              </a:rPr>
              <a:t>Security and compliance engineer</a:t>
            </a:r>
          </a:p>
        </p:txBody>
      </p:sp>
      <p:sp>
        <p:nvSpPr>
          <p:cNvPr id="85" name="Text 84"/>
          <p:cNvSpPr txBox="1"/>
          <p:nvPr/>
        </p:nvSpPr>
        <p:spPr>
          <a:xfrm>
            <a:off x="2606040" y="5015484"/>
            <a:ext cx="3438144" cy="324612"/>
          </a:xfrm>
          <a:prstGeom prst="rect">
            <a:avLst/>
          </a:prstGeom>
          <a:noFill/>
        </p:spPr>
        <p:txBody>
          <a:bodyPr wrap="square" lIns="0" rIns="0" tIns="0" bIns="0" anchor="ctr">
            <a:spAutoFit/>
          </a:bodyPr>
          <a:lstStyle/>
          <a:p>
            <a:r>
              <a:rPr sz="700" b="0" i="0">
                <a:solidFill>
                  <a:srgbClr val="000000"/>
                </a:solidFill>
                <a:latin typeface="Trenda IG Text"/>
              </a:rPr>
              <a:t>HIPAA controls, DLP, IAM review, pen test, data terms</a:t>
            </a:r>
          </a:p>
        </p:txBody>
      </p:sp>
      <p:sp>
        <p:nvSpPr>
          <p:cNvPr id="86" name="Text 85"/>
          <p:cNvSpPr txBox="1"/>
          <p:nvPr/>
        </p:nvSpPr>
        <p:spPr>
          <a:xfrm>
            <a:off x="6126480" y="5015484"/>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87" name="Text 86"/>
          <p:cNvSpPr txBox="1"/>
          <p:nvPr/>
        </p:nvSpPr>
        <p:spPr>
          <a:xfrm>
            <a:off x="6629400" y="5015484"/>
            <a:ext cx="603503" cy="324612"/>
          </a:xfrm>
          <a:prstGeom prst="rect">
            <a:avLst/>
          </a:prstGeom>
          <a:noFill/>
        </p:spPr>
        <p:txBody>
          <a:bodyPr wrap="square" lIns="0" rIns="0" tIns="0" bIns="0" anchor="ctr">
            <a:spAutoFit/>
          </a:bodyPr>
          <a:lstStyle/>
          <a:p>
            <a:r>
              <a:rPr sz="750" b="0" i="0">
                <a:solidFill>
                  <a:srgbClr val="000000"/>
                </a:solidFill>
                <a:latin typeface="Trenda IG Text"/>
              </a:rPr>
              <a:t>Onshore</a:t>
            </a:r>
          </a:p>
        </p:txBody>
      </p:sp>
      <p:sp>
        <p:nvSpPr>
          <p:cNvPr id="88" name="Text 87"/>
          <p:cNvSpPr txBox="1"/>
          <p:nvPr/>
        </p:nvSpPr>
        <p:spPr>
          <a:xfrm>
            <a:off x="7315200" y="5015484"/>
            <a:ext cx="694943" cy="324612"/>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89" name="Shape 88"/>
          <p:cNvSpPr/>
          <p:nvPr/>
        </p:nvSpPr>
        <p:spPr>
          <a:xfrm>
            <a:off x="411480" y="5340096"/>
            <a:ext cx="7635240" cy="3246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466344" y="5456682"/>
            <a:ext cx="91440" cy="914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612648" y="5340096"/>
            <a:ext cx="1911095" cy="324612"/>
          </a:xfrm>
          <a:prstGeom prst="rect">
            <a:avLst/>
          </a:prstGeom>
          <a:noFill/>
        </p:spPr>
        <p:txBody>
          <a:bodyPr wrap="square" lIns="0" rIns="0" tIns="0" bIns="0" anchor="ctr">
            <a:spAutoFit/>
          </a:bodyPr>
          <a:lstStyle/>
          <a:p>
            <a:r>
              <a:rPr sz="750" b="1" i="0">
                <a:solidFill>
                  <a:srgbClr val="000000"/>
                </a:solidFill>
                <a:latin typeface="Trenda IG Text"/>
              </a:rPr>
              <a:t>Business analyst / change lead</a:t>
            </a:r>
          </a:p>
        </p:txBody>
      </p:sp>
      <p:sp>
        <p:nvSpPr>
          <p:cNvPr id="92" name="Text 91"/>
          <p:cNvSpPr txBox="1"/>
          <p:nvPr/>
        </p:nvSpPr>
        <p:spPr>
          <a:xfrm>
            <a:off x="2606040" y="5340096"/>
            <a:ext cx="3438144" cy="324612"/>
          </a:xfrm>
          <a:prstGeom prst="rect">
            <a:avLst/>
          </a:prstGeom>
          <a:noFill/>
        </p:spPr>
        <p:txBody>
          <a:bodyPr wrap="square" lIns="0" rIns="0" tIns="0" bIns="0" anchor="ctr">
            <a:spAutoFit/>
          </a:bodyPr>
          <a:lstStyle/>
          <a:p>
            <a:r>
              <a:rPr sz="700" b="0" i="0">
                <a:solidFill>
                  <a:srgbClr val="000000"/>
                </a:solidFill>
                <a:latin typeface="Trenda IG Text"/>
              </a:rPr>
              <a:t>Pod baselines, process mapping, training, adoption measures</a:t>
            </a:r>
          </a:p>
        </p:txBody>
      </p:sp>
      <p:sp>
        <p:nvSpPr>
          <p:cNvPr id="93" name="Text 92"/>
          <p:cNvSpPr txBox="1"/>
          <p:nvPr/>
        </p:nvSpPr>
        <p:spPr>
          <a:xfrm>
            <a:off x="6126480" y="5340096"/>
            <a:ext cx="420624" cy="32461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94" name="Text 93"/>
          <p:cNvSpPr txBox="1"/>
          <p:nvPr/>
        </p:nvSpPr>
        <p:spPr>
          <a:xfrm>
            <a:off x="6629400" y="5340096"/>
            <a:ext cx="603503" cy="324612"/>
          </a:xfrm>
          <a:prstGeom prst="rect">
            <a:avLst/>
          </a:prstGeom>
          <a:noFill/>
        </p:spPr>
        <p:txBody>
          <a:bodyPr wrap="square" lIns="0" rIns="0" tIns="0" bIns="0" anchor="ctr">
            <a:spAutoFit/>
          </a:bodyPr>
          <a:lstStyle/>
          <a:p>
            <a:r>
              <a:rPr sz="750" b="0" i="0">
                <a:solidFill>
                  <a:srgbClr val="000000"/>
                </a:solidFill>
                <a:latin typeface="Trenda IG Text"/>
              </a:rPr>
              <a:t>Onshore</a:t>
            </a:r>
          </a:p>
        </p:txBody>
      </p:sp>
      <p:sp>
        <p:nvSpPr>
          <p:cNvPr id="95" name="Text 94"/>
          <p:cNvSpPr txBox="1"/>
          <p:nvPr/>
        </p:nvSpPr>
        <p:spPr>
          <a:xfrm>
            <a:off x="7315200" y="5340096"/>
            <a:ext cx="694943" cy="32461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96" name="Shape 95"/>
          <p:cNvSpPr/>
          <p:nvPr/>
        </p:nvSpPr>
        <p:spPr>
          <a:xfrm>
            <a:off x="411480" y="5664708"/>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411480" y="5710428"/>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a:t>
            </a:r>
            <a:r>
              <a:rPr sz="750" b="0" i="0">
                <a:solidFill>
                  <a:srgbClr val="000000"/>
                </a:solidFill>
                <a:latin typeface="Trenda IG Text"/>
              </a:rPr>
              <a:t>1 run lead (onshore) + 5 engineers (GCP, graph, agents, Salesforce, QA).</a:t>
            </a:r>
          </a:p>
        </p:txBody>
      </p:sp>
      <p:sp>
        <p:nvSpPr>
          <p:cNvPr id="98" name="Shape 9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17.5</a:t>
            </a:r>
          </a:p>
        </p:txBody>
      </p:sp>
      <p:sp>
        <p:nvSpPr>
          <p:cNvPr id="100" name="Text 9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101" name="Shape 10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265</a:t>
            </a:r>
          </a:p>
        </p:txBody>
      </p:sp>
      <p:sp>
        <p:nvSpPr>
          <p:cNvPr id="103" name="Text 10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104" name="Shape 10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30%</a:t>
            </a:r>
          </a:p>
        </p:txBody>
      </p:sp>
      <p:sp>
        <p:nvSpPr>
          <p:cNvPr id="106" name="Text 10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onshore; the rest offshore</a:t>
            </a:r>
          </a:p>
        </p:txBody>
      </p:sp>
      <p:sp>
        <p:nvSpPr>
          <p:cNvPr id="107" name="Text 10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108" name="Chart 10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109" name="Shape 10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111" name="Shape 10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113" name="Shape 11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115" name="Shape 11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117" name="Shape 11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119" name="Shape 11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21" name="Shape 11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23" name="Shape 12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$3.39M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MAD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$113K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13</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$614K</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$676K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MAD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17.5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$765K</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$841K</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17</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$394K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$433K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$554K</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$610K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$535K</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$589K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8</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$113K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$124K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$3.08M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$3.39M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265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THREE WAYS TO CONTRACT</a:t>
            </a:r>
          </a:p>
        </p:txBody>
      </p:sp>
      <p:sp>
        <p:nvSpPr>
          <p:cNvPr id="68" name="Differentiator Border 68"/>
          <p:cNvSpPr/>
          <p:nvPr/>
        </p:nvSpPr>
        <p:spPr>
          <a:xfrm>
            <a:off x="8092440" y="1389888"/>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31036"/>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85900"/>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67612"/>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$3.39M</a:t>
            </a:r>
          </a:p>
        </p:txBody>
      </p:sp>
      <p:sp>
        <p:nvSpPr>
          <p:cNvPr id="72" name="Text 72"/>
          <p:cNvSpPr txBox="1"/>
          <p:nvPr/>
        </p:nvSpPr>
        <p:spPr>
          <a:xfrm>
            <a:off x="8243315" y="1741932"/>
            <a:ext cx="3383280" cy="448056"/>
          </a:xfrm>
          <a:prstGeom prst="rect">
            <a:avLst/>
          </a:prstGeom>
          <a:noFill/>
        </p:spPr>
        <p:txBody>
          <a:bodyPr wrap="square" lIns="0" rIns="0" tIns="0" bIns="0" anchor="t">
            <a:spAutoFit/>
          </a:bodyPr>
          <a:lstStyle/>
          <a:p>
            <a:r>
              <a:rPr sz="700" b="0" i="0">
                <a:solidFill>
                  <a:srgbClr val="000000"/>
                </a:solidFill>
                <a:latin typeface="Trenda IG Text"/>
              </a:rPr>
              <a:t>Each phase priced up front and invoiced only when its gate is signed. Insight Global carries delivery risk (10% included).</a:t>
            </a:r>
          </a:p>
        </p:txBody>
      </p:sp>
      <p:sp>
        <p:nvSpPr>
          <p:cNvPr id="73" name="Shape 73"/>
          <p:cNvSpPr/>
          <p:nvPr/>
        </p:nvSpPr>
        <p:spPr>
          <a:xfrm>
            <a:off x="10712196" y="2025395"/>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25395"/>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77440"/>
            <a:ext cx="368503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432304"/>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 capped</a:t>
            </a:r>
          </a:p>
        </p:txBody>
      </p:sp>
      <p:sp>
        <p:nvSpPr>
          <p:cNvPr id="77" name="Text 77"/>
          <p:cNvSpPr txBox="1"/>
          <p:nvPr/>
        </p:nvSpPr>
        <p:spPr>
          <a:xfrm>
            <a:off x="10479024" y="2414016"/>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$3.08M</a:t>
            </a:r>
          </a:p>
        </p:txBody>
      </p:sp>
      <p:sp>
        <p:nvSpPr>
          <p:cNvPr id="78" name="Text 78"/>
          <p:cNvSpPr txBox="1"/>
          <p:nvPr/>
        </p:nvSpPr>
        <p:spPr>
          <a:xfrm>
            <a:off x="8202167" y="2688336"/>
            <a:ext cx="3465576" cy="530352"/>
          </a:xfrm>
          <a:prstGeom prst="rect">
            <a:avLst/>
          </a:prstGeom>
          <a:noFill/>
        </p:spPr>
        <p:txBody>
          <a:bodyPr wrap="square" lIns="0" rIns="0" tIns="0" bIns="0" anchor="t">
            <a:spAutoFit/>
          </a:bodyPr>
          <a:lstStyle/>
          <a:p>
            <a:r>
              <a:rPr sz="700" b="0" i="0">
                <a:solidFill>
                  <a:srgbClr val="000000"/>
                </a:solidFill>
                <a:latin typeface="Trenda IG Text"/>
              </a:rPr>
              <a:t>Billed monthly on actuals, with a not-to-exceed cap per phase. Lower price; Ascension carries the overrun risk up to the cap.</a:t>
            </a:r>
          </a:p>
        </p:txBody>
      </p:sp>
      <p:sp>
        <p:nvSpPr>
          <p:cNvPr id="79" name="Shape 79"/>
          <p:cNvSpPr/>
          <p:nvPr/>
        </p:nvSpPr>
        <p:spPr>
          <a:xfrm>
            <a:off x="8092440" y="3364992"/>
            <a:ext cx="368503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8202167" y="3419856"/>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from month 19</a:t>
            </a:r>
          </a:p>
        </p:txBody>
      </p:sp>
      <p:sp>
        <p:nvSpPr>
          <p:cNvPr id="81" name="Text 81"/>
          <p:cNvSpPr txBox="1"/>
          <p:nvPr/>
        </p:nvSpPr>
        <p:spPr>
          <a:xfrm>
            <a:off x="10479024" y="3401568"/>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$56K / month</a:t>
            </a:r>
          </a:p>
        </p:txBody>
      </p:sp>
      <p:sp>
        <p:nvSpPr>
          <p:cNvPr id="82" name="Text 82"/>
          <p:cNvSpPr txBox="1"/>
          <p:nvPr/>
        </p:nvSpPr>
        <p:spPr>
          <a:xfrm>
            <a:off x="8202167" y="3675888"/>
            <a:ext cx="3465576" cy="530352"/>
          </a:xfrm>
          <a:prstGeom prst="rect">
            <a:avLst/>
          </a:prstGeom>
          <a:noFill/>
        </p:spPr>
        <p:txBody>
          <a:bodyPr wrap="square" lIns="0" rIns="0" tIns="0" bIns="0" anchor="t">
            <a:spAutoFit/>
          </a:bodyPr>
          <a:lstStyle/>
          <a:p>
            <a:r>
              <a:rPr sz="700" b="0" i="0">
                <a:solidFill>
                  <a:srgbClr val="000000"/>
                </a:solidFill>
                <a:latin typeface="Trenda IG Text"/>
              </a:rPr>
              <a:t>Run team of 6 keeps the graph, agents, rules and evaluations current, plus platform at cost (about $20K/month).</a:t>
            </a:r>
          </a:p>
        </p:txBody>
      </p:sp>
      <p:sp>
        <p:nvSpPr>
          <p:cNvPr id="83" name="Shape 83"/>
          <p:cNvSpPr/>
          <p:nvPr/>
        </p:nvSpPr>
        <p:spPr>
          <a:xfrm>
            <a:off x="8092440" y="4389120"/>
            <a:ext cx="3685032" cy="1929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8220456" y="4462272"/>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5" name="Text 85"/>
          <p:cNvSpPr txBox="1"/>
          <p:nvPr/>
        </p:nvSpPr>
        <p:spPr>
          <a:xfrm>
            <a:off x="8220456" y="4681728"/>
            <a:ext cx="3429000" cy="1563624"/>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Planned saving: 20-25% lower net run cost per pod </a:t>
            </a:r>
            <a:r>
              <a:rPr sz="900" b="0" i="0">
                <a:solidFill>
                  <a:srgbClr val="BFBFBF"/>
                </a:solidFill>
                <a:latin typeface="Trenda IG Text"/>
              </a:rPr>
              <a:t>(business outcomes slide).</a:t>
            </a:r>
          </a:p>
          <a:p>
            <a:pPr>
              <a:spcAft>
                <a:spcPts val="600"/>
              </a:spcAft>
            </a:pPr>
            <a:r>
              <a:rPr sz="900" b="0" i="0">
                <a:solidFill>
                  <a:srgbClr val="FFFFFF"/>
                </a:solidFill>
                <a:latin typeface="Trenda IG Text"/>
              </a:rPr>
              <a:t>Every $10M of pod delivery spend saves $2.0-2.5M a year, </a:t>
            </a:r>
            <a:r>
              <a:rPr sz="900" b="0" i="0">
                <a:solidFill>
                  <a:srgbClr val="FFFFFF"/>
                </a:solidFill>
                <a:latin typeface="Trenda IG Text"/>
              </a:rPr>
              <a:t>so the fixed fee pays back in about 1.4 to 1.7 years once pods are live.</a:t>
            </a:r>
          </a:p>
          <a:p>
            <a:pPr>
              <a:spcAft>
                <a:spcPts val="600"/>
              </a:spcAft>
            </a:pPr>
            <a:r>
              <a:rPr sz="900" b="0" i="0">
                <a:solidFill>
                  <a:srgbClr val="BFBFBF"/>
                </a:solidFill>
                <a:latin typeface="Trenda IG Text"/>
              </a:rPr>
              <a:t>Example: one 14-person pod at about $2.47M a year saves $0.49-0.62M a year.</a:t>
            </a:r>
          </a:p>
          <a:p>
            <a:pPr>
              <a:spcAft>
                <a:spcPts val="600"/>
              </a:spcAft>
            </a:pPr>
            <a:r>
              <a:rPr sz="900" b="0" i="0">
                <a:solidFill>
                  <a:srgbClr val="BFBFBF"/>
                </a:solidFill>
                <a:latin typeface="Trenda IG Text"/>
              </a:rPr>
              <a:t>Payback is measured per pod against the Phase 0 baseline: cycle time, effort per story, escaped defects.</a:t>
            </a:r>
          </a:p>
        </p:txBody>
      </p:sp>
      <p:sp>
        <p:nvSpPr>
          <p:cNvPr id="86" name="Text 86"/>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bill rates for sizing: $150/h onshore, $40/h offshore, 160 h per FTE-month (78.5 onshore, 186.5 offshore FTE-months). Replace with the Insight Global rate card before sharing. Excludes Ascension staff time and existing licences (Salesforce, Copado, Atlassian, OpenAI terms).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14027</Words>
  <Application>Microsoft Office PowerPoint</Application>
  <PresentationFormat>Widescreen</PresentationFormat>
  <Paragraphs>1586</Paragraphs>
  <Slides>14</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Courier New</vt:lpstr>
      <vt:lpstr>Trenda IG Display</vt:lpstr>
      <vt:lpstr>Trenda IG Display Bold</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2</cp:revision>
  <dcterms:created xsi:type="dcterms:W3CDTF">2026-09-09T12:37:24Z</dcterms:created>
  <dcterms:modified xsi:type="dcterms:W3CDTF">2026-10-11T03:44:01Z</dcterms:modified>
</cp:coreProperties>
</file>