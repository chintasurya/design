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318" r:id="rId2"/>
    <p:sldId id="323" r:id="rId3"/>
    <p:sldId id="329" r:id="rId23"/>
    <p:sldId id="330" r:id="rId24"/>
    <p:sldId id="256" r:id="rId4"/>
    <p:sldId id="319" r:id="rId5"/>
    <p:sldId id="324" r:id="rId6"/>
    <p:sldId id="325" r:id="rId7"/>
    <p:sldId id="327" r:id="rId8"/>
    <p:sldId id="328" r:id="rId9"/>
    <p:sldId id="326" r:id="rId10"/>
    <p:sldId id="320" r:id="rId11"/>
    <p:sldId id="321" r:id="rId12"/>
    <p:sldId id="322" r:id="rId13"/>
    <p:sldId id="258" r:id="rId14"/>
    <p:sldId id="257"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microsoft.com/office/2015/10/relationships/revisionInfo" Target="revisionInfo.xml"/><Relationship Id="rId23" Type="http://schemas.openxmlformats.org/officeDocument/2006/relationships/slide" Target="slides/slide15.xml"/><Relationship Id="rId24"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MAD approach, one agent team for every pod   (about 3 minutes)</a:t>
            </a:r>
          </a:p>
          <a:p>
            <a:endParaRPr/>
          </a:p>
          <a:p>
            <a:r>
              <a:t>KEY MESSAGE</a:t>
            </a:r>
          </a:p>
          <a:p>
            <a:r>
              <a:t>We are not proposing a separate set of agents for every pod. MAD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MAD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multi-agent delivery model, MAD,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MAD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MAD runs on what Ascension already owns. Marketing Cloud Next is optional.</a:t>
            </a:r>
          </a:p>
          <a:p>
            <a:r>
              <a:t>   MAD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MAD can use those features as one more tool, for example letting the Developer Agent call them. MAD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MAD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MAD,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MAD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MAD delivers on current licenses. If Ascension licenses Marketing Cloud Next later, MAD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MAD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MAD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MAD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MAD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MAD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MAD we scale by adding agent capacity, and new people get productive in about a week because they can ask the knowledge graph how anything works.</a:t>
            </a:r>
          </a:p>
          <a:p>
            <a:r>
              <a:t>- Best practice: today every pod interprets standards differently. With MAD the standards are encoded once and the Review Agent applies them the same way to every change in every pod.</a:t>
            </a:r>
          </a:p>
          <a:p>
            <a:r>
              <a:t>- Security: today access and sharing issues surface late and permission sets sprawl. With MAD least privilege, sharing and PHI checks run on every change, and no agent ever holds production credentials.</a:t>
            </a:r>
          </a:p>
          <a:p>
            <a:r>
              <a:t>- Tech debt: today it grows quietly. With MAD agents scan the org every night and raise ready-to-review clean-up changes in spare capacity, so debt goes down instead of up.</a:t>
            </a:r>
          </a:p>
          <a:p>
            <a:r>
              <a:t>- Run and support: today incidents start with "who changed what?". With MAD the graph answers that in minutes: the component, the owning pod and the last change.</a:t>
            </a:r>
          </a:p>
          <a:p>
            <a:endParaRPr/>
          </a:p>
          <a:p>
            <a:r>
              <a:t>OPERATING MODEL (right side)</a:t>
            </a:r>
          </a:p>
          <a:p>
            <a:r>
              <a:t>Today pods A, B, C each carry BA, developers, QA, release and support. With MAD each pod is an owner, a lead and 2 to 4 engineers, and a small platform team runs the agents, the graph and the standards for everyone.</a:t>
            </a:r>
          </a:p>
          <a:p>
            <a:r>
              <a:t>The bold version: a new pod goes live on MAD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MAD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MAD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MAD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MAD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MAD is built   (about 4 minutes)</a:t>
            </a:r>
          </a:p>
          <a:p/>
          <a:p>
            <a:r>
              <a:t>KEY MESSAGE</a:t>
            </a:r>
          </a:p>
          <a:p>
            <a:r>
              <a:t>Two phases, one picture. Phase 1 is the Engineering Context Knowledge Graph: what the agents know. Phase 2 is the MAD agent team: who does the work. Every action they take goes through one gateway, and people own every decision. Read it top to bottom: people, knowledge, agents, gateway, delivery, evidence.</a:t>
            </a:r>
          </a:p>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p>
            <a:r>
              <a:t>QUESTIONS, AND WHERE TO POINT (numbers match the markers)</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query API and the Ask-before-build star.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status tags. Six of the seven agents are already in use for UI, backend and QA delivery. The knowledge graph POC is running in the Ascension sandbox (last build 2,177 nodes and 2,786 edges) and already refuses to duplicate a field that exists. Every other box is a managed GCP service or a tool Ascension already runs. And each pattern is proven elsewhere (rail): what is new is combining them around a graph of the Ascension org.</a:t>
            </a:r>
          </a:p>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p>
            <a:r>
              <a:t>INDUSTRY PATTERNS ON THE RAIL</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Bottom: four controls that sit across every step.</a:t>
            </a:r>
          </a:p>
          <a:p/>
          <a:p>
            <a:r>
              <a:t>QUESTIONS, AND WHERE TO POINT (numbers match the markers)</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p>
            <a:r>
              <a:t>THE X-FACTOR (rail, bottom)</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image" Target="../media/image19.png"/><Relationship Id="rId13" Type="http://schemas.openxmlformats.org/officeDocument/2006/relationships/image" Target="../media/image20.png"/><Relationship Id="rId14" Type="http://schemas.openxmlformats.org/officeDocument/2006/relationships/image" Target="../media/image21.png"/><Relationship Id="rId15" Type="http://schemas.openxmlformats.org/officeDocument/2006/relationships/image" Target="../media/image10.png"/><Relationship Id="rId16" Type="http://schemas.openxmlformats.org/officeDocument/2006/relationships/image" Target="../media/image9.png"/><Relationship Id="rId17" Type="http://schemas.openxmlformats.org/officeDocument/2006/relationships/image" Target="../media/image13.png"/><Relationship Id="rId18" Type="http://schemas.openxmlformats.org/officeDocument/2006/relationships/image" Target="../media/image14.png"/><Relationship Id="rId19" Type="http://schemas.openxmlformats.org/officeDocument/2006/relationships/image" Target="../media/image22.png"/><Relationship Id="rId20"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MAD Approach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Multi-Agent Delivery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MULTI-AGENT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MAD APPROACH</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rIns="86417" tIns="43209"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rIns="86417" tIns="43209"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rIns="86417" tIns="43209"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rIns="86417" tIns="43209"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rIns="86417" tIns="43209"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rIns="86417" tIns="43209"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rIns="86417" tIns="43209"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rIns="86417" tIns="43209"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rIns="86417" tIns="43209"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rIns="86417" tIns="43209"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rIns="86417" tIns="43209"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rIns="86417" tIns="43209"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rIns="86417" tIns="43209"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rIns="86417" tIns="43209"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rIns="86417" tIns="43209"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rIns="88000" tIns="44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rIns="88000" tIns="44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rIns="88000" tIns="44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rIns="88000" tIns="44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rIns="88000" tIns="44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rIns="88000" tIns="44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rIns="88000" tIns="44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rIns="88000" tIns="44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rIns="88000" tIns="44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rIns="88000" tIns="44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rIns="88000" tIns="44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rIns="88000" tIns="44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rIns="85302" tIns="42651"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rIns="85302" tIns="42651"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rIns="85302" tIns="42651"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rIns="85302" tIns="42651"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rIns="85302" tIns="42651"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rIns="85302" tIns="42651"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rIns="85302" tIns="42651"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rIns="85302" tIns="42651"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rIns="85302" tIns="42651"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rIns="85302" tIns="42651"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rIns="85302" tIns="42651"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rIns="85302" tIns="42651"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rIns="85302" tIns="42651"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rIns="85302" tIns="42651"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rIns="85302" tIns="42651"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rIns="85302" tIns="42651"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rIns="85302" tIns="42651"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rIns="85302" tIns="42651"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rIns="85302" tIns="42651"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rIns="85302" tIns="42651"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rIns="85302" tIns="42651"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rIns="85302" tIns="42651"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rIns="85302" tIns="42651"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rIns="85302" tIns="42651"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rIns="85302" tIns="42651"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rIns="85302" tIns="42651"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rIns="85302" tIns="42651"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rIns="85302" tIns="42651"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rIns="85302" tIns="42651"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rIns="85302" tIns="42651"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rIns="85454" tIns="42727"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rIns="85454" tIns="42727"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MAD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rIns="85454" tIns="42727"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rIns="85454" tIns="42727"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rIns="85454" tIns="42727"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rIns="85454" tIns="42727"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rIns="85454" tIns="42727"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rIns="85454" tIns="42727"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AI multi-agent delivery (MAD)</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rIns="85454" tIns="42727"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rIns="85454" tIns="42727"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rIns="85454" tIns="42727"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rIns="85454" tIns="42727"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rIns="85454" tIns="42727"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rIns="85454" tIns="42727"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rIns="85454" tIns="42727"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rIns="85454" tIns="42727"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rIns="85454" tIns="42727"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MAD,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MAD</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rIns="86661" tIns="4333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rIns="86661" tIns="4333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rIns="86661" tIns="4333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rIns="86661" tIns="4333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MAD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rIns="86661" tIns="4333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MAD platform: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MAD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MAD APPROACH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MAD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rIns="86661" tIns="4333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rIns="86661" tIns="4333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rIns="86661" tIns="4333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rIns="86661" tIns="4333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rIns="86661" tIns="4333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rIns="86661" tIns="4333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rIns="86661" tIns="4333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rIns="86661" tIns="4333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rIns="86661" tIns="4333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rIns="86661" tIns="4333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rIns="86661" tIns="4333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rIns="86661" tIns="4333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rIns="86661" tIns="4333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rIns="86661" tIns="4333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rIns="86661" tIns="4333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rIns="86661" tIns="4333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rIns="86661" tIns="4333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rIns="86661" tIns="4333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rIns="86661" tIns="4333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rIns="86661" tIns="4333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rIns="86661" tIns="4333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rIns="86661" tIns="4333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rIns="86661" tIns="4333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rIns="86661" tIns="4333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rIns="86661" tIns="4333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rIns="86661" tIns="4333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rIns="86661" tIns="4333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rIns="86661" tIns="4333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MAD APPROACH</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rIns="85454" tIns="42727"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rIns="85454" tIns="42727"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8"/>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MAD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lIns="85454" rIns="85454" tIns="42727" bIns="42727"/>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lIns="85454" rIns="85454" tIns="42727" bIns="42727"/>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tc>
                  <a:txBody>
                    <a:bodyPr lIns="85454" rIns="85454" tIns="42727" bIns="42727"/>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a:noFill/>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rIns="85454" tIns="42727"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rIns="89549" tIns="44775"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rIns="89549" tIns="44775"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rIns="89549" tIns="44775"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rIns="89549" tIns="44775"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rIns="89549" tIns="44775"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rIns="89549" tIns="44775"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rIns="89549" tIns="44775"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rIns="89549" tIns="44775"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rIns="89549" tIns="44775"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rIns="89549" tIns="44775"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rIns="89549" tIns="44775"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rIns="89549" tIns="44775"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rIns="89549" tIns="44775"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rIns="89549" tIns="44775"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rIns="89549" tIns="44775"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rIns="89549" tIns="44775"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rIns="89549" tIns="44775"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rIns="89549" tIns="44775"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rIns="89549" tIns="44775"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rIns="89549" tIns="44775"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rIns="89549" tIns="44775"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rIns="89549" tIns="44775"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rIns="89549" tIns="44775"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rIns="89549" tIns="44775"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rIns="89549" tIns="44775"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rIns="89549" tIns="44775"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rIns="89549" tIns="44775"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rIns="89549" tIns="44775"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dirty="0" b="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rIns="89555" tIns="44777"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rIns="89555" tIns="44777"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rIns="89555" tIns="44777"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rIns="89555" tIns="44777"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rIns="89555" tIns="44777"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rIns="89555" tIns="44777"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rIns="89555" tIns="44777"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rIns="89555" tIns="44777"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rIns="89555" tIns="44777"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rIns="89555" tIns="44777"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rIns="89555" tIns="44777"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rIns="89555" tIns="44777"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rIns="89555" tIns="44777"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rIns="89555" tIns="44777"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rIns="89555" tIns="44777"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rIns="89555" tIns="44777"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rIns="89555" tIns="44777"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rIns="89555" tIns="44777"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rIns="89555" tIns="44777"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rIns="89555" tIns="44777"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rIns="89555" tIns="44777"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TARGET ARCHITECTURE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Phase 1 builds the Engineering Context Knowledge Graph. Phase 2 runs the MAD agent team on it. Agents prepare, people approve, and no agent holds a production credential.</a:t>
            </a:r>
          </a:p>
        </p:txBody>
      </p:sp>
      <p:sp>
        <p:nvSpPr>
          <p:cNvPr id="5" name="Shape 4"/>
          <p:cNvSpPr/>
          <p:nvPr/>
        </p:nvSpPr>
        <p:spPr>
          <a:xfrm>
            <a:off x="411480" y="1115568"/>
            <a:ext cx="1298448"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15568"/>
            <a:ext cx="1143000" cy="347472"/>
          </a:xfrm>
          <a:prstGeom prst="rect">
            <a:avLst/>
          </a:prstGeom>
          <a:noFill/>
        </p:spPr>
        <p:txBody>
          <a:bodyPr wrap="square" lIns="0" rIns="0" tIns="0" bIns="0" anchor="ctr">
            <a:spAutoFit/>
          </a:bodyPr>
          <a:lstStyle/>
          <a:p>
            <a:r>
              <a:rPr sz="650" b="1" i="0" spc="150">
                <a:solidFill>
                  <a:srgbClr val="FFFFFF"/>
                </a:solidFill>
                <a:latin typeface="Trenda IG Text"/>
              </a:rPr>
              <a:t>PEOPLE OWN
EVERY DECISION</a:t>
            </a:r>
          </a:p>
        </p:txBody>
      </p:sp>
      <p:sp>
        <p:nvSpPr>
          <p:cNvPr id="7" name="Shape 6"/>
          <p:cNvSpPr/>
          <p:nvPr/>
        </p:nvSpPr>
        <p:spPr>
          <a:xfrm>
            <a:off x="1764792" y="1115568"/>
            <a:ext cx="180365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1837943" y="1152144"/>
            <a:ext cx="1693926" cy="137160"/>
          </a:xfrm>
          <a:prstGeom prst="rect">
            <a:avLst/>
          </a:prstGeom>
          <a:noFill/>
        </p:spPr>
        <p:txBody>
          <a:bodyPr wrap="square" lIns="0" rIns="0" tIns="0" bIns="0" anchor="t">
            <a:spAutoFit/>
          </a:bodyPr>
          <a:lstStyle/>
          <a:p>
            <a:r>
              <a:rPr sz="750" b="1" i="0">
                <a:solidFill>
                  <a:srgbClr val="000000"/>
                </a:solidFill>
                <a:latin typeface="Trenda IG Text"/>
              </a:rPr>
              <a:t>Pod leads, product owners</a:t>
            </a:r>
          </a:p>
        </p:txBody>
      </p:sp>
      <p:sp>
        <p:nvSpPr>
          <p:cNvPr id="9" name="Text 8"/>
          <p:cNvSpPr txBox="1"/>
          <p:nvPr/>
        </p:nvSpPr>
        <p:spPr>
          <a:xfrm>
            <a:off x="1837943" y="1298448"/>
            <a:ext cx="1693926" cy="128016"/>
          </a:xfrm>
          <a:prstGeom prst="rect">
            <a:avLst/>
          </a:prstGeom>
          <a:noFill/>
        </p:spPr>
        <p:txBody>
          <a:bodyPr wrap="square" lIns="0" rIns="0" tIns="0" bIns="0" anchor="t">
            <a:spAutoFit/>
          </a:bodyPr>
          <a:lstStyle/>
          <a:p>
            <a:r>
              <a:rPr sz="650" b="0" i="0">
                <a:solidFill>
                  <a:srgbClr val="595959"/>
                </a:solidFill>
                <a:latin typeface="Trenda IG Text"/>
              </a:rPr>
              <a:t>Scope and priority · H1 requirements</a:t>
            </a:r>
          </a:p>
        </p:txBody>
      </p:sp>
      <p:sp>
        <p:nvSpPr>
          <p:cNvPr id="10" name="Shape 9"/>
          <p:cNvSpPr/>
          <p:nvPr/>
        </p:nvSpPr>
        <p:spPr>
          <a:xfrm>
            <a:off x="3623310" y="1115568"/>
            <a:ext cx="180365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10"/>
          <p:cNvSpPr txBox="1"/>
          <p:nvPr/>
        </p:nvSpPr>
        <p:spPr>
          <a:xfrm>
            <a:off x="3696462" y="1152144"/>
            <a:ext cx="1693926" cy="137160"/>
          </a:xfrm>
          <a:prstGeom prst="rect">
            <a:avLst/>
          </a:prstGeom>
          <a:noFill/>
        </p:spPr>
        <p:txBody>
          <a:bodyPr wrap="square" lIns="0" rIns="0" tIns="0" bIns="0" anchor="t">
            <a:spAutoFit/>
          </a:bodyPr>
          <a:lstStyle/>
          <a:p>
            <a:r>
              <a:rPr sz="750" b="1" i="0">
                <a:solidFill>
                  <a:srgbClr val="000000"/>
                </a:solidFill>
                <a:latin typeface="Trenda IG Text"/>
              </a:rPr>
              <a:t>Architecture and security</a:t>
            </a:r>
          </a:p>
        </p:txBody>
      </p:sp>
      <p:sp>
        <p:nvSpPr>
          <p:cNvPr id="12" name="Text 11"/>
          <p:cNvSpPr txBox="1"/>
          <p:nvPr/>
        </p:nvSpPr>
        <p:spPr>
          <a:xfrm>
            <a:off x="3696462" y="1298448"/>
            <a:ext cx="1693926" cy="128016"/>
          </a:xfrm>
          <a:prstGeom prst="rect">
            <a:avLst/>
          </a:prstGeom>
          <a:noFill/>
        </p:spPr>
        <p:txBody>
          <a:bodyPr wrap="square" lIns="0" rIns="0" tIns="0" bIns="0" anchor="t">
            <a:spAutoFit/>
          </a:bodyPr>
          <a:lstStyle/>
          <a:p>
            <a:r>
              <a:rPr sz="650" b="0" i="0">
                <a:solidFill>
                  <a:srgbClr val="595959"/>
                </a:solidFill>
                <a:latin typeface="Trenda IG Text"/>
              </a:rPr>
              <a:t>H2 design by risk tier · Guardian rulebook</a:t>
            </a:r>
          </a:p>
        </p:txBody>
      </p:sp>
      <p:sp>
        <p:nvSpPr>
          <p:cNvPr id="13" name="Shape 12"/>
          <p:cNvSpPr/>
          <p:nvPr/>
        </p:nvSpPr>
        <p:spPr>
          <a:xfrm>
            <a:off x="5481828" y="1115568"/>
            <a:ext cx="180365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554980" y="1152144"/>
            <a:ext cx="1693926" cy="137160"/>
          </a:xfrm>
          <a:prstGeom prst="rect">
            <a:avLst/>
          </a:prstGeom>
          <a:noFill/>
        </p:spPr>
        <p:txBody>
          <a:bodyPr wrap="square" lIns="0" rIns="0" tIns="0" bIns="0" anchor="t">
            <a:spAutoFit/>
          </a:bodyPr>
          <a:lstStyle/>
          <a:p>
            <a:r>
              <a:rPr sz="750" b="1" i="0">
                <a:solidFill>
                  <a:srgbClr val="000000"/>
                </a:solidFill>
                <a:latin typeface="Trenda IG Text"/>
              </a:rPr>
              <a:t>Tech leads, domain approvers</a:t>
            </a:r>
          </a:p>
        </p:txBody>
      </p:sp>
      <p:sp>
        <p:nvSpPr>
          <p:cNvPr id="15" name="Text 14"/>
          <p:cNvSpPr txBox="1"/>
          <p:nvPr/>
        </p:nvSpPr>
        <p:spPr>
          <a:xfrm>
            <a:off x="5554980" y="1298448"/>
            <a:ext cx="1693926" cy="128016"/>
          </a:xfrm>
          <a:prstGeom prst="rect">
            <a:avLst/>
          </a:prstGeom>
          <a:noFill/>
        </p:spPr>
        <p:txBody>
          <a:bodyPr wrap="square" lIns="0" rIns="0" tIns="0" bIns="0" anchor="t">
            <a:spAutoFit/>
          </a:bodyPr>
          <a:lstStyle/>
          <a:p>
            <a:r>
              <a:rPr sz="650" b="0" i="0">
                <a:solidFill>
                  <a:srgbClr val="595959"/>
                </a:solidFill>
                <a:latin typeface="Trenda IG Text"/>
              </a:rPr>
              <a:t>H3 code, access and security review</a:t>
            </a:r>
          </a:p>
        </p:txBody>
      </p:sp>
      <p:sp>
        <p:nvSpPr>
          <p:cNvPr id="16" name="Shape 15"/>
          <p:cNvSpPr/>
          <p:nvPr/>
        </p:nvSpPr>
        <p:spPr>
          <a:xfrm>
            <a:off x="7340346" y="1115568"/>
            <a:ext cx="180365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7413498" y="1152144"/>
            <a:ext cx="1693926" cy="137160"/>
          </a:xfrm>
          <a:prstGeom prst="rect">
            <a:avLst/>
          </a:prstGeom>
          <a:noFill/>
        </p:spPr>
        <p:txBody>
          <a:bodyPr wrap="square" lIns="0" rIns="0" tIns="0" bIns="0" anchor="t">
            <a:spAutoFit/>
          </a:bodyPr>
          <a:lstStyle/>
          <a:p>
            <a:r>
              <a:rPr sz="750" b="1" i="0">
                <a:solidFill>
                  <a:srgbClr val="000000"/>
                </a:solidFill>
                <a:latin typeface="Trenda IG Text"/>
              </a:rPr>
              <a:t>Business and release owners</a:t>
            </a:r>
          </a:p>
        </p:txBody>
      </p:sp>
      <p:sp>
        <p:nvSpPr>
          <p:cNvPr id="18" name="Text 17"/>
          <p:cNvSpPr txBox="1"/>
          <p:nvPr/>
        </p:nvSpPr>
        <p:spPr>
          <a:xfrm>
            <a:off x="7413498" y="1298448"/>
            <a:ext cx="1693926" cy="128016"/>
          </a:xfrm>
          <a:prstGeom prst="rect">
            <a:avLst/>
          </a:prstGeom>
          <a:noFill/>
        </p:spPr>
        <p:txBody>
          <a:bodyPr wrap="square" lIns="0" rIns="0" tIns="0" bIns="0" anchor="t">
            <a:spAutoFit/>
          </a:bodyPr>
          <a:lstStyle/>
          <a:p>
            <a:r>
              <a:rPr sz="650" b="0" i="0">
                <a:solidFill>
                  <a:srgbClr val="595959"/>
                </a:solidFill>
                <a:latin typeface="Trenda IG Text"/>
              </a:rPr>
              <a:t>H4 UAT · CAB · production go-live</a:t>
            </a:r>
          </a:p>
        </p:txBody>
      </p:sp>
      <p:sp>
        <p:nvSpPr>
          <p:cNvPr id="19" name="Shape 18"/>
          <p:cNvSpPr/>
          <p:nvPr/>
        </p:nvSpPr>
        <p:spPr>
          <a:xfrm>
            <a:off x="9034272" y="1042415"/>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9034272" y="1042415"/>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6</a:t>
            </a:r>
          </a:p>
        </p:txBody>
      </p:sp>
      <p:sp>
        <p:nvSpPr>
          <p:cNvPr id="21" name="Shape 20"/>
          <p:cNvSpPr/>
          <p:nvPr/>
        </p:nvSpPr>
        <p:spPr>
          <a:xfrm>
            <a:off x="411480" y="1572768"/>
            <a:ext cx="1481328" cy="25786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02920" y="1645920"/>
            <a:ext cx="1298448" cy="128016"/>
          </a:xfrm>
          <a:prstGeom prst="rect">
            <a:avLst/>
          </a:prstGeom>
          <a:noFill/>
        </p:spPr>
        <p:txBody>
          <a:bodyPr wrap="square" lIns="0" rIns="0" tIns="0" bIns="0" anchor="ctr">
            <a:spAutoFit/>
          </a:bodyPr>
          <a:lstStyle/>
          <a:p>
            <a:r>
              <a:rPr sz="650" b="1" i="0" spc="150">
                <a:solidFill>
                  <a:srgbClr val="000000"/>
                </a:solidFill>
                <a:latin typeface="Trenda IG Text"/>
              </a:rPr>
              <a:t>SYSTEMS OF RECORD</a:t>
            </a:r>
          </a:p>
        </p:txBody>
      </p:sp>
      <p:sp>
        <p:nvSpPr>
          <p:cNvPr id="23" name="Shape 22"/>
          <p:cNvSpPr/>
          <p:nvPr/>
        </p:nvSpPr>
        <p:spPr>
          <a:xfrm>
            <a:off x="502920" y="188366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630936" y="1847088"/>
            <a:ext cx="1207008" cy="137160"/>
          </a:xfrm>
          <a:prstGeom prst="rect">
            <a:avLst/>
          </a:prstGeom>
          <a:noFill/>
        </p:spPr>
        <p:txBody>
          <a:bodyPr wrap="square" lIns="0" rIns="0" tIns="0" bIns="0" anchor="t">
            <a:spAutoFit/>
          </a:bodyPr>
          <a:lstStyle/>
          <a:p>
            <a:r>
              <a:rPr sz="750" b="1" i="0">
                <a:solidFill>
                  <a:srgbClr val="000000"/>
                </a:solidFill>
                <a:latin typeface="Trenda IG Text"/>
              </a:rPr>
              <a:t>Jira</a:t>
            </a:r>
          </a:p>
        </p:txBody>
      </p:sp>
      <p:sp>
        <p:nvSpPr>
          <p:cNvPr id="25" name="Text 24"/>
          <p:cNvSpPr txBox="1"/>
          <p:nvPr/>
        </p:nvSpPr>
        <p:spPr>
          <a:xfrm>
            <a:off x="630936" y="1984248"/>
            <a:ext cx="1207008" cy="128016"/>
          </a:xfrm>
          <a:prstGeom prst="rect">
            <a:avLst/>
          </a:prstGeom>
          <a:noFill/>
        </p:spPr>
        <p:txBody>
          <a:bodyPr wrap="square" lIns="0" rIns="0" tIns="0" bIns="0" anchor="t">
            <a:spAutoFit/>
          </a:bodyPr>
          <a:lstStyle/>
          <a:p>
            <a:r>
              <a:rPr sz="650" b="0" i="0">
                <a:solidFill>
                  <a:srgbClr val="595959"/>
                </a:solidFill>
                <a:latin typeface="Trenda IG Text"/>
              </a:rPr>
              <a:t>Stories, acceptance criteria</a:t>
            </a:r>
          </a:p>
        </p:txBody>
      </p:sp>
      <p:sp>
        <p:nvSpPr>
          <p:cNvPr id="26" name="Shape 25"/>
          <p:cNvSpPr/>
          <p:nvPr/>
        </p:nvSpPr>
        <p:spPr>
          <a:xfrm>
            <a:off x="502920" y="22037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630936" y="2167128"/>
            <a:ext cx="1207008" cy="137160"/>
          </a:xfrm>
          <a:prstGeom prst="rect">
            <a:avLst/>
          </a:prstGeom>
          <a:noFill/>
        </p:spPr>
        <p:txBody>
          <a:bodyPr wrap="square" lIns="0" rIns="0" tIns="0" bIns="0" anchor="t">
            <a:spAutoFit/>
          </a:bodyPr>
          <a:lstStyle/>
          <a:p>
            <a:r>
              <a:rPr sz="750" b="1" i="0">
                <a:solidFill>
                  <a:srgbClr val="000000"/>
                </a:solidFill>
                <a:latin typeface="Trenda IG Text"/>
              </a:rPr>
              <a:t>Confluence</a:t>
            </a:r>
          </a:p>
        </p:txBody>
      </p:sp>
      <p:sp>
        <p:nvSpPr>
          <p:cNvPr id="28" name="Text 27"/>
          <p:cNvSpPr txBox="1"/>
          <p:nvPr/>
        </p:nvSpPr>
        <p:spPr>
          <a:xfrm>
            <a:off x="630936" y="2304288"/>
            <a:ext cx="1207008" cy="128016"/>
          </a:xfrm>
          <a:prstGeom prst="rect">
            <a:avLst/>
          </a:prstGeom>
          <a:noFill/>
        </p:spPr>
        <p:txBody>
          <a:bodyPr wrap="square" lIns="0" rIns="0" tIns="0" bIns="0" anchor="t">
            <a:spAutoFit/>
          </a:bodyPr>
          <a:lstStyle/>
          <a:p>
            <a:r>
              <a:rPr sz="650" b="0" i="0">
                <a:solidFill>
                  <a:srgbClr val="595959"/>
                </a:solidFill>
                <a:latin typeface="Trenda IG Text"/>
              </a:rPr>
              <a:t>Designs, business rules</a:t>
            </a:r>
          </a:p>
        </p:txBody>
      </p:sp>
      <p:sp>
        <p:nvSpPr>
          <p:cNvPr id="29" name="Shape 28"/>
          <p:cNvSpPr/>
          <p:nvPr/>
        </p:nvSpPr>
        <p:spPr>
          <a:xfrm>
            <a:off x="502920" y="252374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630936" y="2487168"/>
            <a:ext cx="1207008" cy="137160"/>
          </a:xfrm>
          <a:prstGeom prst="rect">
            <a:avLst/>
          </a:prstGeom>
          <a:noFill/>
        </p:spPr>
        <p:txBody>
          <a:bodyPr wrap="square" lIns="0" rIns="0" tIns="0" bIns="0" anchor="t">
            <a:spAutoFit/>
          </a:bodyPr>
          <a:lstStyle/>
          <a:p>
            <a:r>
              <a:rPr sz="750" b="1" i="0">
                <a:solidFill>
                  <a:srgbClr val="000000"/>
                </a:solidFill>
                <a:latin typeface="Trenda IG Text"/>
              </a:rPr>
              <a:t>Salesforce</a:t>
            </a:r>
          </a:p>
        </p:txBody>
      </p:sp>
      <p:sp>
        <p:nvSpPr>
          <p:cNvPr id="31" name="Text 30"/>
          <p:cNvSpPr txBox="1"/>
          <p:nvPr/>
        </p:nvSpPr>
        <p:spPr>
          <a:xfrm>
            <a:off x="630936" y="2624327"/>
            <a:ext cx="1207008" cy="128016"/>
          </a:xfrm>
          <a:prstGeom prst="rect">
            <a:avLst/>
          </a:prstGeom>
          <a:noFill/>
        </p:spPr>
        <p:txBody>
          <a:bodyPr wrap="square" lIns="0" rIns="0" tIns="0" bIns="0" anchor="t">
            <a:spAutoFit/>
          </a:bodyPr>
          <a:lstStyle/>
          <a:p>
            <a:r>
              <a:rPr sz="650" b="0" i="0">
                <a:solidFill>
                  <a:srgbClr val="595959"/>
                </a:solidFill>
                <a:latin typeface="Trenda IG Text"/>
              </a:rPr>
              <a:t>Health, Data, Marketing Cloud</a:t>
            </a:r>
          </a:p>
        </p:txBody>
      </p:sp>
      <p:sp>
        <p:nvSpPr>
          <p:cNvPr id="32" name="Shape 31"/>
          <p:cNvSpPr/>
          <p:nvPr/>
        </p:nvSpPr>
        <p:spPr>
          <a:xfrm>
            <a:off x="502920" y="284378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32"/>
          <p:cNvSpPr txBox="1"/>
          <p:nvPr/>
        </p:nvSpPr>
        <p:spPr>
          <a:xfrm>
            <a:off x="630936" y="2807208"/>
            <a:ext cx="1207008" cy="137160"/>
          </a:xfrm>
          <a:prstGeom prst="rect">
            <a:avLst/>
          </a:prstGeom>
          <a:noFill/>
        </p:spPr>
        <p:txBody>
          <a:bodyPr wrap="square" lIns="0" rIns="0" tIns="0" bIns="0" anchor="t">
            <a:spAutoFit/>
          </a:bodyPr>
          <a:lstStyle/>
          <a:p>
            <a:r>
              <a:rPr sz="750" b="1" i="0">
                <a:solidFill>
                  <a:srgbClr val="000000"/>
                </a:solidFill>
                <a:latin typeface="Trenda IG Text"/>
              </a:rPr>
              <a:t>Git</a:t>
            </a:r>
          </a:p>
        </p:txBody>
      </p:sp>
      <p:sp>
        <p:nvSpPr>
          <p:cNvPr id="34" name="Text 33"/>
          <p:cNvSpPr txBox="1"/>
          <p:nvPr/>
        </p:nvSpPr>
        <p:spPr>
          <a:xfrm>
            <a:off x="630936" y="2944368"/>
            <a:ext cx="1207008" cy="128016"/>
          </a:xfrm>
          <a:prstGeom prst="rect">
            <a:avLst/>
          </a:prstGeom>
          <a:noFill/>
        </p:spPr>
        <p:txBody>
          <a:bodyPr wrap="square" lIns="0" rIns="0" tIns="0" bIns="0" anchor="t">
            <a:spAutoFit/>
          </a:bodyPr>
          <a:lstStyle/>
          <a:p>
            <a:r>
              <a:rPr sz="650" b="0" i="0">
                <a:solidFill>
                  <a:srgbClr val="595959"/>
                </a:solidFill>
                <a:latin typeface="Trenda IG Text"/>
              </a:rPr>
              <a:t>Apex, LWC, metadata, tests</a:t>
            </a:r>
          </a:p>
        </p:txBody>
      </p:sp>
      <p:sp>
        <p:nvSpPr>
          <p:cNvPr id="35" name="Shape 34"/>
          <p:cNvSpPr/>
          <p:nvPr/>
        </p:nvSpPr>
        <p:spPr>
          <a:xfrm>
            <a:off x="502920" y="316382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630936" y="3127248"/>
            <a:ext cx="1207008" cy="137160"/>
          </a:xfrm>
          <a:prstGeom prst="rect">
            <a:avLst/>
          </a:prstGeom>
          <a:noFill/>
        </p:spPr>
        <p:txBody>
          <a:bodyPr wrap="square" lIns="0" rIns="0" tIns="0" bIns="0" anchor="t">
            <a:spAutoFit/>
          </a:bodyPr>
          <a:lstStyle/>
          <a:p>
            <a:r>
              <a:rPr sz="750" b="1" i="0">
                <a:solidFill>
                  <a:srgbClr val="000000"/>
                </a:solidFill>
                <a:latin typeface="Trenda IG Text"/>
              </a:rPr>
              <a:t>Copado</a:t>
            </a:r>
          </a:p>
        </p:txBody>
      </p:sp>
      <p:sp>
        <p:nvSpPr>
          <p:cNvPr id="37" name="Text 36"/>
          <p:cNvSpPr txBox="1"/>
          <p:nvPr/>
        </p:nvSpPr>
        <p:spPr>
          <a:xfrm>
            <a:off x="630936" y="3264408"/>
            <a:ext cx="1207008" cy="128016"/>
          </a:xfrm>
          <a:prstGeom prst="rect">
            <a:avLst/>
          </a:prstGeom>
          <a:noFill/>
        </p:spPr>
        <p:txBody>
          <a:bodyPr wrap="square" lIns="0" rIns="0" tIns="0" bIns="0" anchor="t">
            <a:spAutoFit/>
          </a:bodyPr>
          <a:lstStyle/>
          <a:p>
            <a:r>
              <a:rPr sz="650" b="0" i="0">
                <a:solidFill>
                  <a:srgbClr val="595959"/>
                </a:solidFill>
                <a:latin typeface="Trenda IG Text"/>
              </a:rPr>
              <a:t>Promotions, test runs</a:t>
            </a:r>
          </a:p>
        </p:txBody>
      </p:sp>
      <p:sp>
        <p:nvSpPr>
          <p:cNvPr id="38" name="Shape 37"/>
          <p:cNvSpPr/>
          <p:nvPr/>
        </p:nvSpPr>
        <p:spPr>
          <a:xfrm>
            <a:off x="502920" y="348386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30936" y="3447288"/>
            <a:ext cx="1207008" cy="137160"/>
          </a:xfrm>
          <a:prstGeom prst="rect">
            <a:avLst/>
          </a:prstGeom>
          <a:noFill/>
        </p:spPr>
        <p:txBody>
          <a:bodyPr wrap="square" lIns="0" rIns="0" tIns="0" bIns="0" anchor="t">
            <a:spAutoFit/>
          </a:bodyPr>
          <a:lstStyle/>
          <a:p>
            <a:r>
              <a:rPr sz="750" b="1" i="0">
                <a:solidFill>
                  <a:srgbClr val="000000"/>
                </a:solidFill>
                <a:latin typeface="Trenda IG Text"/>
              </a:rPr>
              <a:t>Google Drive</a:t>
            </a:r>
          </a:p>
        </p:txBody>
      </p:sp>
      <p:sp>
        <p:nvSpPr>
          <p:cNvPr id="40" name="Text 39"/>
          <p:cNvSpPr txBox="1"/>
          <p:nvPr/>
        </p:nvSpPr>
        <p:spPr>
          <a:xfrm>
            <a:off x="630936" y="3584448"/>
            <a:ext cx="1207008" cy="128016"/>
          </a:xfrm>
          <a:prstGeom prst="rect">
            <a:avLst/>
          </a:prstGeom>
          <a:noFill/>
        </p:spPr>
        <p:txBody>
          <a:bodyPr wrap="square" lIns="0" rIns="0" tIns="0" bIns="0" anchor="t">
            <a:spAutoFit/>
          </a:bodyPr>
          <a:lstStyle/>
          <a:p>
            <a:r>
              <a:rPr sz="650" b="0" i="0">
                <a:solidFill>
                  <a:srgbClr val="595959"/>
                </a:solidFill>
                <a:latin typeface="Trenda IG Text"/>
              </a:rPr>
              <a:t>Specs, mappings, evidence</a:t>
            </a:r>
          </a:p>
        </p:txBody>
      </p:sp>
      <p:sp>
        <p:nvSpPr>
          <p:cNvPr id="41" name="Shape 40"/>
          <p:cNvSpPr/>
          <p:nvPr/>
        </p:nvSpPr>
        <p:spPr>
          <a:xfrm>
            <a:off x="502920" y="3849624"/>
            <a:ext cx="1298448" cy="201168"/>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02920" y="3849624"/>
            <a:ext cx="1298448" cy="201168"/>
          </a:xfrm>
          <a:prstGeom prst="rect">
            <a:avLst/>
          </a:prstGeom>
          <a:noFill/>
        </p:spPr>
        <p:txBody>
          <a:bodyPr wrap="square" lIns="0" rIns="0" tIns="0" bIns="0" anchor="ctr">
            <a:spAutoFit/>
          </a:bodyPr>
          <a:lstStyle/>
          <a:p>
            <a:pPr algn="ctr"/>
            <a:r>
              <a:rPr sz="550" b="1" i="0" spc="100">
                <a:solidFill>
                  <a:srgbClr val="000000"/>
                </a:solidFill>
                <a:latin typeface="Trenda IG Text"/>
              </a:rPr>
              <a:t>AUTHORITY NEVER MOVES</a:t>
            </a:r>
          </a:p>
        </p:txBody>
      </p:sp>
      <p:cxnSp>
        <p:nvCxnSpPr>
          <p:cNvPr id="43" name="Arrow 42"/>
          <p:cNvCxnSpPr/>
          <p:nvPr/>
        </p:nvCxnSpPr>
        <p:spPr>
          <a:xfrm>
            <a:off x="1920240" y="2807208"/>
            <a:ext cx="329184"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 43"/>
          <p:cNvSpPr txBox="1"/>
          <p:nvPr/>
        </p:nvSpPr>
        <p:spPr>
          <a:xfrm>
            <a:off x="1911096" y="2487168"/>
            <a:ext cx="365760" cy="274320"/>
          </a:xfrm>
          <a:prstGeom prst="rect">
            <a:avLst/>
          </a:prstGeom>
          <a:noFill/>
        </p:spPr>
        <p:txBody>
          <a:bodyPr wrap="square" lIns="0" rIns="0" tIns="0" bIns="0" anchor="b">
            <a:spAutoFit/>
          </a:bodyPr>
          <a:lstStyle/>
          <a:p>
            <a:pPr algn="ctr"/>
            <a:r>
              <a:rPr sz="550" b="1" i="0" spc="100">
                <a:solidFill>
                  <a:srgbClr val="00273B"/>
                </a:solidFill>
                <a:latin typeface="Trenda IG Text"/>
              </a:rPr>
              <a:t>READ
ONLY</a:t>
            </a:r>
          </a:p>
        </p:txBody>
      </p:sp>
      <p:sp>
        <p:nvSpPr>
          <p:cNvPr id="45" name="Shape 44"/>
          <p:cNvSpPr/>
          <p:nvPr/>
        </p:nvSpPr>
        <p:spPr>
          <a:xfrm>
            <a:off x="1993392" y="2907791"/>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1993392" y="2907791"/>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2</a:t>
            </a:r>
          </a:p>
        </p:txBody>
      </p:sp>
      <p:sp>
        <p:nvSpPr>
          <p:cNvPr id="47" name="Shape 46"/>
          <p:cNvSpPr/>
          <p:nvPr/>
        </p:nvSpPr>
        <p:spPr>
          <a:xfrm>
            <a:off x="2276856" y="1572768"/>
            <a:ext cx="2697480" cy="2578608"/>
          </a:xfrm>
          <a:prstGeom prst="rect">
            <a:avLst/>
          </a:prstGeom>
          <a:solidFill>
            <a:srgbClr val="FFFFFF"/>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7"/>
          <p:cNvSpPr/>
          <p:nvPr/>
        </p:nvSpPr>
        <p:spPr>
          <a:xfrm>
            <a:off x="2276856" y="1572768"/>
            <a:ext cx="2697480"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2368296" y="1572768"/>
            <a:ext cx="2514600" cy="274320"/>
          </a:xfrm>
          <a:prstGeom prst="rect">
            <a:avLst/>
          </a:prstGeom>
          <a:noFill/>
        </p:spPr>
        <p:txBody>
          <a:bodyPr wrap="square" lIns="0" rIns="0" tIns="0" bIns="0" anchor="ctr">
            <a:spAutoFit/>
          </a:bodyPr>
          <a:lstStyle/>
          <a:p>
            <a:r>
              <a:rPr sz="650" b="1" i="0" spc="20">
                <a:solidFill>
                  <a:srgbClr val="FFFFFF"/>
                </a:solidFill>
                <a:latin typeface="Trenda IG Text"/>
              </a:rPr>
              <a:t>PHASE 1 · ENGINEERING CONTEXT KNOWLEDGE GRAPH</a:t>
            </a:r>
          </a:p>
        </p:txBody>
      </p:sp>
      <p:sp>
        <p:nvSpPr>
          <p:cNvPr id="50" name="Shape 49"/>
          <p:cNvSpPr/>
          <p:nvPr/>
        </p:nvSpPr>
        <p:spPr>
          <a:xfrm>
            <a:off x="3986784" y="1920240"/>
            <a:ext cx="896112" cy="155448"/>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986784" y="1920240"/>
            <a:ext cx="896112" cy="155448"/>
          </a:xfrm>
          <a:prstGeom prst="rect">
            <a:avLst/>
          </a:prstGeom>
          <a:noFill/>
        </p:spPr>
        <p:txBody>
          <a:bodyPr wrap="square" lIns="0" rIns="0" tIns="0" bIns="0" anchor="ctr">
            <a:spAutoFit/>
          </a:bodyPr>
          <a:lstStyle/>
          <a:p>
            <a:pPr algn="ctr"/>
            <a:r>
              <a:rPr sz="550" b="1" i="0" spc="100">
                <a:solidFill>
                  <a:srgbClr val="000000"/>
                </a:solidFill>
                <a:latin typeface="Trenda IG Text"/>
              </a:rPr>
              <a:t>POC IN SANDBOX</a:t>
            </a:r>
          </a:p>
        </p:txBody>
      </p:sp>
      <p:sp>
        <p:nvSpPr>
          <p:cNvPr id="52" name="Shape 51"/>
          <p:cNvSpPr/>
          <p:nvPr/>
        </p:nvSpPr>
        <p:spPr>
          <a:xfrm>
            <a:off x="2368296" y="2139696"/>
            <a:ext cx="457200" cy="201168"/>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2"/>
          <p:cNvSpPr txBox="1"/>
          <p:nvPr/>
        </p:nvSpPr>
        <p:spPr>
          <a:xfrm>
            <a:off x="2368296" y="2139696"/>
            <a:ext cx="457200" cy="201168"/>
          </a:xfrm>
          <a:prstGeom prst="rect">
            <a:avLst/>
          </a:prstGeom>
          <a:noFill/>
        </p:spPr>
        <p:txBody>
          <a:bodyPr wrap="square" lIns="0" rIns="0" tIns="0" bIns="0" anchor="ctr">
            <a:spAutoFit/>
          </a:bodyPr>
          <a:lstStyle/>
          <a:p>
            <a:pPr algn="ctr"/>
            <a:r>
              <a:rPr sz="650" b="1" i="0">
                <a:solidFill>
                  <a:srgbClr val="000000"/>
                </a:solidFill>
                <a:latin typeface="Trenda IG Text"/>
              </a:rPr>
              <a:t>Connect</a:t>
            </a:r>
          </a:p>
        </p:txBody>
      </p:sp>
      <p:cxnSp>
        <p:nvCxnSpPr>
          <p:cNvPr id="54" name="Arrow 53"/>
          <p:cNvCxnSpPr/>
          <p:nvPr/>
        </p:nvCxnSpPr>
        <p:spPr>
          <a:xfrm>
            <a:off x="2834640" y="2240280"/>
            <a:ext cx="91440"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Shape 54"/>
          <p:cNvSpPr/>
          <p:nvPr/>
        </p:nvSpPr>
        <p:spPr>
          <a:xfrm>
            <a:off x="2935224" y="2139696"/>
            <a:ext cx="457200" cy="201168"/>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2935224" y="2139696"/>
            <a:ext cx="457200" cy="201168"/>
          </a:xfrm>
          <a:prstGeom prst="rect">
            <a:avLst/>
          </a:prstGeom>
          <a:noFill/>
        </p:spPr>
        <p:txBody>
          <a:bodyPr wrap="square" lIns="0" rIns="0" tIns="0" bIns="0" anchor="ctr">
            <a:spAutoFit/>
          </a:bodyPr>
          <a:lstStyle/>
          <a:p>
            <a:pPr algn="ctr"/>
            <a:r>
              <a:rPr sz="650" b="1" i="0">
                <a:solidFill>
                  <a:srgbClr val="000000"/>
                </a:solidFill>
                <a:latin typeface="Trenda IG Text"/>
              </a:rPr>
              <a:t>Validate</a:t>
            </a:r>
          </a:p>
        </p:txBody>
      </p:sp>
      <p:cxnSp>
        <p:nvCxnSpPr>
          <p:cNvPr id="57" name="Arrow 56"/>
          <p:cNvCxnSpPr/>
          <p:nvPr/>
        </p:nvCxnSpPr>
        <p:spPr>
          <a:xfrm>
            <a:off x="3401568" y="2240280"/>
            <a:ext cx="91440"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Shape 57"/>
          <p:cNvSpPr/>
          <p:nvPr/>
        </p:nvSpPr>
        <p:spPr>
          <a:xfrm>
            <a:off x="3502152" y="2139696"/>
            <a:ext cx="457200" cy="201168"/>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3502152" y="2139696"/>
            <a:ext cx="457200" cy="201168"/>
          </a:xfrm>
          <a:prstGeom prst="rect">
            <a:avLst/>
          </a:prstGeom>
          <a:noFill/>
        </p:spPr>
        <p:txBody>
          <a:bodyPr wrap="square" lIns="0" rIns="0" tIns="0" bIns="0" anchor="ctr">
            <a:spAutoFit/>
          </a:bodyPr>
          <a:lstStyle/>
          <a:p>
            <a:pPr algn="ctr"/>
            <a:r>
              <a:rPr sz="650" b="1" i="0">
                <a:solidFill>
                  <a:srgbClr val="000000"/>
                </a:solidFill>
                <a:latin typeface="Trenda IG Text"/>
              </a:rPr>
              <a:t>Link</a:t>
            </a:r>
          </a:p>
        </p:txBody>
      </p:sp>
      <p:cxnSp>
        <p:nvCxnSpPr>
          <p:cNvPr id="60" name="Arrow 59"/>
          <p:cNvCxnSpPr/>
          <p:nvPr/>
        </p:nvCxnSpPr>
        <p:spPr>
          <a:xfrm>
            <a:off x="3968496" y="2240280"/>
            <a:ext cx="91440"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Shape 60"/>
          <p:cNvSpPr/>
          <p:nvPr/>
        </p:nvSpPr>
        <p:spPr>
          <a:xfrm>
            <a:off x="4069080" y="2139696"/>
            <a:ext cx="457200" cy="201168"/>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4069080" y="2139696"/>
            <a:ext cx="457200" cy="201168"/>
          </a:xfrm>
          <a:prstGeom prst="rect">
            <a:avLst/>
          </a:prstGeom>
          <a:noFill/>
        </p:spPr>
        <p:txBody>
          <a:bodyPr wrap="square" lIns="0" rIns="0" tIns="0" bIns="0" anchor="ctr">
            <a:spAutoFit/>
          </a:bodyPr>
          <a:lstStyle/>
          <a:p>
            <a:pPr algn="ctr"/>
            <a:r>
              <a:rPr sz="650" b="1" i="0">
                <a:solidFill>
                  <a:srgbClr val="000000"/>
                </a:solidFill>
                <a:latin typeface="Trenda IG Text"/>
              </a:rPr>
              <a:t>Version</a:t>
            </a:r>
          </a:p>
        </p:txBody>
      </p:sp>
      <p:sp>
        <p:nvSpPr>
          <p:cNvPr id="63" name="Text 62"/>
          <p:cNvSpPr txBox="1"/>
          <p:nvPr/>
        </p:nvSpPr>
        <p:spPr>
          <a:xfrm>
            <a:off x="2368296" y="1920240"/>
            <a:ext cx="1554480" cy="155448"/>
          </a:xfrm>
          <a:prstGeom prst="rect">
            <a:avLst/>
          </a:prstGeom>
          <a:noFill/>
        </p:spPr>
        <p:txBody>
          <a:bodyPr wrap="square" lIns="0" rIns="0" tIns="0" bIns="0" anchor="ctr">
            <a:spAutoFit/>
          </a:bodyPr>
          <a:lstStyle/>
          <a:p>
            <a:r>
              <a:rPr sz="650" b="0" i="0">
                <a:solidFill>
                  <a:srgbClr val="595959"/>
                </a:solidFill>
                <a:latin typeface="Trenda IG Text"/>
              </a:rPr>
              <a:t>Read-only sync on a schedule</a:t>
            </a:r>
          </a:p>
        </p:txBody>
      </p:sp>
      <p:sp>
        <p:nvSpPr>
          <p:cNvPr id="64" name="Shape 63"/>
          <p:cNvSpPr/>
          <p:nvPr/>
        </p:nvSpPr>
        <p:spPr>
          <a:xfrm>
            <a:off x="2386584" y="2491740"/>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2496312" y="2441448"/>
            <a:ext cx="2386584" cy="219456"/>
          </a:xfrm>
          <a:prstGeom prst="rect">
            <a:avLst/>
          </a:prstGeom>
          <a:noFill/>
        </p:spPr>
        <p:txBody>
          <a:bodyPr wrap="square" lIns="0" rIns="0" tIns="0" bIns="0" anchor="t">
            <a:spAutoFit/>
          </a:bodyPr>
          <a:lstStyle/>
          <a:p>
            <a:r>
              <a:rPr sz="650" b="0" i="0">
                <a:solidFill>
                  <a:srgbClr val="000000"/>
                </a:solidFill>
                <a:latin typeface="Trenda IG Text"/>
              </a:rPr>
              <a:t>Typed facts: requirement → design → component → test → release</a:t>
            </a:r>
          </a:p>
        </p:txBody>
      </p:sp>
      <p:sp>
        <p:nvSpPr>
          <p:cNvPr id="66" name="Shape 65"/>
          <p:cNvSpPr/>
          <p:nvPr/>
        </p:nvSpPr>
        <p:spPr>
          <a:xfrm>
            <a:off x="2386584" y="2720340"/>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2496312" y="2670048"/>
            <a:ext cx="2386584" cy="219456"/>
          </a:xfrm>
          <a:prstGeom prst="rect">
            <a:avLst/>
          </a:prstGeom>
          <a:noFill/>
        </p:spPr>
        <p:txBody>
          <a:bodyPr wrap="square" lIns="0" rIns="0" tIns="0" bIns="0" anchor="t">
            <a:spAutoFit/>
          </a:bodyPr>
          <a:lstStyle/>
          <a:p>
            <a:r>
              <a:rPr sz="650" b="0" i="0">
                <a:solidFill>
                  <a:srgbClr val="000000"/>
                </a:solidFill>
                <a:latin typeface="Trenda IG Text"/>
              </a:rPr>
              <a:t>Every fact carries its source path, SHA-256 and snapshot id</a:t>
            </a:r>
          </a:p>
        </p:txBody>
      </p:sp>
      <p:sp>
        <p:nvSpPr>
          <p:cNvPr id="68" name="Shape 67"/>
          <p:cNvSpPr/>
          <p:nvPr/>
        </p:nvSpPr>
        <p:spPr>
          <a:xfrm>
            <a:off x="2386584" y="2948940"/>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2496312" y="2898648"/>
            <a:ext cx="2386584" cy="219456"/>
          </a:xfrm>
          <a:prstGeom prst="rect">
            <a:avLst/>
          </a:prstGeom>
          <a:noFill/>
        </p:spPr>
        <p:txBody>
          <a:bodyPr wrap="square" lIns="0" rIns="0" tIns="0" bIns="0" anchor="t">
            <a:spAutoFit/>
          </a:bodyPr>
          <a:lstStyle/>
          <a:p>
            <a:r>
              <a:rPr sz="650" b="0" i="0">
                <a:solidFill>
                  <a:srgbClr val="000000"/>
                </a:solidFill>
                <a:latin typeface="Trenda IG Text"/>
              </a:rPr>
              <a:t>Freshness and coverage checked; unknowns go to the owning team</a:t>
            </a:r>
          </a:p>
        </p:txBody>
      </p:sp>
      <p:sp>
        <p:nvSpPr>
          <p:cNvPr id="70" name="Shape 69"/>
          <p:cNvSpPr/>
          <p:nvPr/>
        </p:nvSpPr>
        <p:spPr>
          <a:xfrm>
            <a:off x="2386584" y="3177540"/>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2496312" y="3127248"/>
            <a:ext cx="2386584" cy="219456"/>
          </a:xfrm>
          <a:prstGeom prst="rect">
            <a:avLst/>
          </a:prstGeom>
          <a:noFill/>
        </p:spPr>
        <p:txBody>
          <a:bodyPr wrap="square" lIns="0" rIns="0" tIns="0" bIns="0" anchor="t">
            <a:spAutoFit/>
          </a:bodyPr>
          <a:lstStyle/>
          <a:p>
            <a:r>
              <a:rPr sz="650" b="0" i="0">
                <a:solidFill>
                  <a:srgbClr val="000000"/>
                </a:solidFill>
                <a:latin typeface="Trenda IG Text"/>
              </a:rPr>
              <a:t>PHI and secrets redacted before anything is stored</a:t>
            </a:r>
          </a:p>
        </p:txBody>
      </p:sp>
      <p:sp>
        <p:nvSpPr>
          <p:cNvPr id="72" name="Shape 71"/>
          <p:cNvSpPr/>
          <p:nvPr/>
        </p:nvSpPr>
        <p:spPr>
          <a:xfrm>
            <a:off x="2368296" y="3374136"/>
            <a:ext cx="2514600" cy="32918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2441448" y="3401568"/>
            <a:ext cx="2423160" cy="128016"/>
          </a:xfrm>
          <a:prstGeom prst="rect">
            <a:avLst/>
          </a:prstGeom>
          <a:noFill/>
        </p:spPr>
        <p:txBody>
          <a:bodyPr wrap="square" lIns="0" rIns="0" tIns="0" bIns="0" anchor="t">
            <a:spAutoFit/>
          </a:bodyPr>
          <a:lstStyle/>
          <a:p>
            <a:r>
              <a:rPr sz="650" b="1" i="0">
                <a:solidFill>
                  <a:srgbClr val="000000"/>
                </a:solidFill>
                <a:latin typeface="Trenda IG Text"/>
              </a:rPr>
              <a:t>Query API · deterministic · under 0.01 s</a:t>
            </a:r>
          </a:p>
        </p:txBody>
      </p:sp>
      <p:sp>
        <p:nvSpPr>
          <p:cNvPr id="74" name="Text 73"/>
          <p:cNvSpPr txBox="1"/>
          <p:nvPr/>
        </p:nvSpPr>
        <p:spPr>
          <a:xfrm>
            <a:off x="2441448" y="3538728"/>
            <a:ext cx="2423160" cy="128016"/>
          </a:xfrm>
          <a:prstGeom prst="rect">
            <a:avLst/>
          </a:prstGeom>
          <a:noFill/>
        </p:spPr>
        <p:txBody>
          <a:bodyPr wrap="square" lIns="0" rIns="0" tIns="0" bIns="0" anchor="t">
            <a:spAutoFit/>
          </a:bodyPr>
          <a:lstStyle/>
          <a:p>
            <a:r>
              <a:rPr sz="600" b="0" i="0">
                <a:solidFill>
                  <a:srgbClr val="000000"/>
                </a:solidFill>
                <a:latin typeface="Courier New"/>
              </a:rPr>
              <a:t>blast_radius · find_reuse · classify_risk</a:t>
            </a:r>
          </a:p>
        </p:txBody>
      </p:sp>
      <p:sp>
        <p:nvSpPr>
          <p:cNvPr id="75" name="Shape 74"/>
          <p:cNvSpPr/>
          <p:nvPr/>
        </p:nvSpPr>
        <p:spPr>
          <a:xfrm>
            <a:off x="4700016" y="3300984"/>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700016" y="3300984"/>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4</a:t>
            </a:r>
          </a:p>
        </p:txBody>
      </p:sp>
      <p:sp>
        <p:nvSpPr>
          <p:cNvPr id="77" name="Shape 76"/>
          <p:cNvSpPr/>
          <p:nvPr/>
        </p:nvSpPr>
        <p:spPr>
          <a:xfrm>
            <a:off x="2368296" y="3803904"/>
            <a:ext cx="173736" cy="173736"/>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2587752" y="3767328"/>
            <a:ext cx="2313432" cy="310896"/>
          </a:xfrm>
          <a:prstGeom prst="rect">
            <a:avLst/>
          </a:prstGeom>
          <a:noFill/>
        </p:spPr>
        <p:txBody>
          <a:bodyPr wrap="square" lIns="0" rIns="0" tIns="0" bIns="0" anchor="ctr">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before any code is written.</a:t>
            </a:r>
          </a:p>
        </p:txBody>
      </p:sp>
      <p:cxnSp>
        <p:nvCxnSpPr>
          <p:cNvPr id="79" name="Arrow 78"/>
          <p:cNvCxnSpPr/>
          <p:nvPr/>
        </p:nvCxnSpPr>
        <p:spPr>
          <a:xfrm>
            <a:off x="5001768" y="2807208"/>
            <a:ext cx="329184"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9"/>
          <p:cNvSpPr txBox="1"/>
          <p:nvPr/>
        </p:nvSpPr>
        <p:spPr>
          <a:xfrm>
            <a:off x="4974336" y="2487168"/>
            <a:ext cx="411480" cy="274320"/>
          </a:xfrm>
          <a:prstGeom prst="rect">
            <a:avLst/>
          </a:prstGeom>
          <a:noFill/>
        </p:spPr>
        <p:txBody>
          <a:bodyPr wrap="square" lIns="0" rIns="0" tIns="0" bIns="0" anchor="b">
            <a:spAutoFit/>
          </a:bodyPr>
          <a:lstStyle/>
          <a:p>
            <a:pPr algn="ctr"/>
            <a:r>
              <a:rPr sz="550" b="1" i="0" spc="100">
                <a:solidFill>
                  <a:srgbClr val="00273B"/>
                </a:solidFill>
                <a:latin typeface="Trenda IG Text"/>
              </a:rPr>
              <a:t>CITED
FACTS</a:t>
            </a:r>
          </a:p>
        </p:txBody>
      </p:sp>
      <p:sp>
        <p:nvSpPr>
          <p:cNvPr id="81" name="Shape 80"/>
          <p:cNvSpPr/>
          <p:nvPr/>
        </p:nvSpPr>
        <p:spPr>
          <a:xfrm>
            <a:off x="5358384" y="1572768"/>
            <a:ext cx="3785615" cy="2578608"/>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81"/>
          <p:cNvSpPr/>
          <p:nvPr/>
        </p:nvSpPr>
        <p:spPr>
          <a:xfrm>
            <a:off x="5358384" y="1572768"/>
            <a:ext cx="3785615"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2"/>
          <p:cNvSpPr txBox="1"/>
          <p:nvPr/>
        </p:nvSpPr>
        <p:spPr>
          <a:xfrm>
            <a:off x="5449824" y="1572768"/>
            <a:ext cx="3602735" cy="274320"/>
          </a:xfrm>
          <a:prstGeom prst="rect">
            <a:avLst/>
          </a:prstGeom>
          <a:noFill/>
        </p:spPr>
        <p:txBody>
          <a:bodyPr wrap="square" lIns="0" rIns="0" tIns="0" bIns="0" anchor="ctr">
            <a:spAutoFit/>
          </a:bodyPr>
          <a:lstStyle/>
          <a:p>
            <a:r>
              <a:rPr sz="650" b="1" i="0" spc="100">
                <a:solidFill>
                  <a:srgbClr val="FFFFFF"/>
                </a:solidFill>
                <a:latin typeface="Trenda IG Text"/>
              </a:rPr>
              <a:t>PHASE 2 · MULTI-AGENT DELIVERY (MAD)</a:t>
            </a:r>
          </a:p>
        </p:txBody>
      </p:sp>
      <p:sp>
        <p:nvSpPr>
          <p:cNvPr id="84" name="Shape 83"/>
          <p:cNvSpPr/>
          <p:nvPr/>
        </p:nvSpPr>
        <p:spPr>
          <a:xfrm>
            <a:off x="8869680" y="1618488"/>
            <a:ext cx="182880" cy="182880"/>
          </a:xfrm>
          <a:prstGeom prst="ellipse">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869680" y="1618488"/>
            <a:ext cx="182880" cy="182880"/>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86" name="Shape 85"/>
          <p:cNvSpPr/>
          <p:nvPr/>
        </p:nvSpPr>
        <p:spPr>
          <a:xfrm>
            <a:off x="5449824" y="1938528"/>
            <a:ext cx="1755648"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5522976" y="1975104"/>
            <a:ext cx="1609344" cy="146304"/>
          </a:xfrm>
          <a:prstGeom prst="rect">
            <a:avLst/>
          </a:prstGeom>
          <a:noFill/>
        </p:spPr>
        <p:txBody>
          <a:bodyPr wrap="square" lIns="0" rIns="0" tIns="0" bIns="0" anchor="t">
            <a:spAutoFit/>
          </a:bodyPr>
          <a:lstStyle/>
          <a:p>
            <a:r>
              <a:rPr sz="750" b="1" i="0">
                <a:solidFill>
                  <a:srgbClr val="FFFFFF"/>
                </a:solidFill>
                <a:latin typeface="Trenda IG Text"/>
              </a:rPr>
              <a:t>Durable workflow controller</a:t>
            </a:r>
          </a:p>
        </p:txBody>
      </p:sp>
      <p:sp>
        <p:nvSpPr>
          <p:cNvPr id="88" name="Text 87"/>
          <p:cNvSpPr txBox="1"/>
          <p:nvPr/>
        </p:nvSpPr>
        <p:spPr>
          <a:xfrm>
            <a:off x="5522976" y="2130552"/>
            <a:ext cx="1609344" cy="292608"/>
          </a:xfrm>
          <a:prstGeom prst="rect">
            <a:avLst/>
          </a:prstGeom>
          <a:noFill/>
        </p:spPr>
        <p:txBody>
          <a:bodyPr wrap="square" lIns="0" rIns="0" tIns="0" bIns="0" anchor="t">
            <a:spAutoFit/>
          </a:bodyPr>
          <a:lstStyle/>
          <a:p>
            <a:r>
              <a:rPr sz="650" b="0" i="0">
                <a:solidFill>
                  <a:srgbClr val="D9D9D9"/>
                </a:solidFill>
                <a:latin typeface="Trenda IG Text"/>
              </a:rPr>
              <a:t>GCP Workflows + Firestore: run state, checkpoints, approvals, retry budgets</a:t>
            </a:r>
          </a:p>
        </p:txBody>
      </p:sp>
      <p:sp>
        <p:nvSpPr>
          <p:cNvPr id="89" name="Shape 88"/>
          <p:cNvSpPr/>
          <p:nvPr/>
        </p:nvSpPr>
        <p:spPr>
          <a:xfrm>
            <a:off x="7296912" y="1938528"/>
            <a:ext cx="1755648"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7370064" y="1975104"/>
            <a:ext cx="1609344" cy="146304"/>
          </a:xfrm>
          <a:prstGeom prst="rect">
            <a:avLst/>
          </a:prstGeom>
          <a:noFill/>
        </p:spPr>
        <p:txBody>
          <a:bodyPr wrap="square" lIns="0" rIns="0" tIns="0" bIns="0" anchor="t">
            <a:spAutoFit/>
          </a:bodyPr>
          <a:lstStyle/>
          <a:p>
            <a:r>
              <a:rPr sz="750" b="1" i="0">
                <a:solidFill>
                  <a:srgbClr val="FFFFFF"/>
                </a:solidFill>
                <a:latin typeface="Trenda IG Text"/>
              </a:rPr>
              <a:t>Codex orchestrator</a:t>
            </a:r>
          </a:p>
        </p:txBody>
      </p:sp>
      <p:sp>
        <p:nvSpPr>
          <p:cNvPr id="91" name="Text 90"/>
          <p:cNvSpPr txBox="1"/>
          <p:nvPr/>
        </p:nvSpPr>
        <p:spPr>
          <a:xfrm>
            <a:off x="7370064" y="2130552"/>
            <a:ext cx="1609344" cy="292608"/>
          </a:xfrm>
          <a:prstGeom prst="rect">
            <a:avLst/>
          </a:prstGeom>
          <a:noFill/>
        </p:spPr>
        <p:txBody>
          <a:bodyPr wrap="square" lIns="0" rIns="0" tIns="0" bIns="0" anchor="t">
            <a:spAutoFit/>
          </a:bodyPr>
          <a:lstStyle/>
          <a:p>
            <a:r>
              <a:rPr sz="650" b="0" i="0">
                <a:solidFill>
                  <a:srgbClr val="D9D9D9"/>
                </a:solidFill>
                <a:latin typeface="Trenda IG Text"/>
              </a:rPr>
              <a:t>Plans the run, routes agents, structured outputs, pauses for people</a:t>
            </a:r>
          </a:p>
        </p:txBody>
      </p:sp>
      <p:cxnSp>
        <p:nvCxnSpPr>
          <p:cNvPr id="92" name="Arrow 91"/>
          <p:cNvCxnSpPr/>
          <p:nvPr/>
        </p:nvCxnSpPr>
        <p:spPr>
          <a:xfrm>
            <a:off x="7214616" y="2194560"/>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3" name="Shape 92"/>
          <p:cNvSpPr/>
          <p:nvPr/>
        </p:nvSpPr>
        <p:spPr>
          <a:xfrm>
            <a:off x="5449824" y="2560320"/>
            <a:ext cx="859535" cy="32918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5504688" y="2587751"/>
            <a:ext cx="768095" cy="137160"/>
          </a:xfrm>
          <a:prstGeom prst="rect">
            <a:avLst/>
          </a:prstGeom>
          <a:noFill/>
        </p:spPr>
        <p:txBody>
          <a:bodyPr wrap="square" lIns="0" rIns="0" tIns="0" bIns="0" anchor="t">
            <a:spAutoFit/>
          </a:bodyPr>
          <a:lstStyle/>
          <a:p>
            <a:r>
              <a:rPr sz="700" b="1" i="0">
                <a:solidFill>
                  <a:srgbClr val="000000"/>
                </a:solidFill>
                <a:latin typeface="Trenda IG Text"/>
              </a:rPr>
              <a:t>Orchestrator</a:t>
            </a:r>
          </a:p>
        </p:txBody>
      </p:sp>
      <p:sp>
        <p:nvSpPr>
          <p:cNvPr id="95" name="Text 94"/>
          <p:cNvSpPr txBox="1"/>
          <p:nvPr/>
        </p:nvSpPr>
        <p:spPr>
          <a:xfrm>
            <a:off x="5504688" y="2724912"/>
            <a:ext cx="768095" cy="137160"/>
          </a:xfrm>
          <a:prstGeom prst="rect">
            <a:avLst/>
          </a:prstGeom>
          <a:noFill/>
        </p:spPr>
        <p:txBody>
          <a:bodyPr wrap="square" lIns="0" rIns="0" tIns="0" bIns="0" anchor="t">
            <a:spAutoFit/>
          </a:bodyPr>
          <a:lstStyle/>
          <a:p>
            <a:r>
              <a:rPr sz="600" b="0" i="0">
                <a:solidFill>
                  <a:srgbClr val="000000"/>
                </a:solidFill>
                <a:latin typeface="Trenda IG Text"/>
              </a:rPr>
              <a:t>routes, enforces gates</a:t>
            </a:r>
          </a:p>
        </p:txBody>
      </p:sp>
      <p:sp>
        <p:nvSpPr>
          <p:cNvPr id="96" name="Shape 95"/>
          <p:cNvSpPr/>
          <p:nvPr/>
        </p:nvSpPr>
        <p:spPr>
          <a:xfrm>
            <a:off x="6364224" y="2560320"/>
            <a:ext cx="859535" cy="32918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6419088" y="2587751"/>
            <a:ext cx="768095" cy="137160"/>
          </a:xfrm>
          <a:prstGeom prst="rect">
            <a:avLst/>
          </a:prstGeom>
          <a:noFill/>
        </p:spPr>
        <p:txBody>
          <a:bodyPr wrap="square" lIns="0" rIns="0" tIns="0" bIns="0" anchor="t">
            <a:spAutoFit/>
          </a:bodyPr>
          <a:lstStyle/>
          <a:p>
            <a:r>
              <a:rPr sz="700" b="1" i="0">
                <a:solidFill>
                  <a:srgbClr val="000000"/>
                </a:solidFill>
                <a:latin typeface="Trenda IG Text"/>
              </a:rPr>
              <a:t>Requirements</a:t>
            </a:r>
          </a:p>
        </p:txBody>
      </p:sp>
      <p:sp>
        <p:nvSpPr>
          <p:cNvPr id="98" name="Text 97"/>
          <p:cNvSpPr txBox="1"/>
          <p:nvPr/>
        </p:nvSpPr>
        <p:spPr>
          <a:xfrm>
            <a:off x="6419088" y="2724912"/>
            <a:ext cx="768095" cy="137160"/>
          </a:xfrm>
          <a:prstGeom prst="rect">
            <a:avLst/>
          </a:prstGeom>
          <a:noFill/>
        </p:spPr>
        <p:txBody>
          <a:bodyPr wrap="square" lIns="0" rIns="0" tIns="0" bIns="0" anchor="t">
            <a:spAutoFit/>
          </a:bodyPr>
          <a:lstStyle/>
          <a:p>
            <a:r>
              <a:rPr sz="600" b="0" i="0">
                <a:solidFill>
                  <a:srgbClr val="000000"/>
                </a:solidFill>
                <a:latin typeface="Trenda IG Text"/>
              </a:rPr>
              <a:t>story → clear brief</a:t>
            </a:r>
          </a:p>
        </p:txBody>
      </p:sp>
      <p:sp>
        <p:nvSpPr>
          <p:cNvPr id="99" name="Shape 98"/>
          <p:cNvSpPr/>
          <p:nvPr/>
        </p:nvSpPr>
        <p:spPr>
          <a:xfrm>
            <a:off x="7278623" y="2560320"/>
            <a:ext cx="859535" cy="32918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333488" y="2587751"/>
            <a:ext cx="768095" cy="137160"/>
          </a:xfrm>
          <a:prstGeom prst="rect">
            <a:avLst/>
          </a:prstGeom>
          <a:noFill/>
        </p:spPr>
        <p:txBody>
          <a:bodyPr wrap="square" lIns="0" rIns="0" tIns="0" bIns="0" anchor="t">
            <a:spAutoFit/>
          </a:bodyPr>
          <a:lstStyle/>
          <a:p>
            <a:r>
              <a:rPr sz="700" b="1" i="0">
                <a:solidFill>
                  <a:srgbClr val="000000"/>
                </a:solidFill>
                <a:latin typeface="Trenda IG Text"/>
              </a:rPr>
              <a:t>Architect</a:t>
            </a:r>
          </a:p>
        </p:txBody>
      </p:sp>
      <p:sp>
        <p:nvSpPr>
          <p:cNvPr id="101" name="Text 100"/>
          <p:cNvSpPr txBox="1"/>
          <p:nvPr/>
        </p:nvSpPr>
        <p:spPr>
          <a:xfrm>
            <a:off x="7333488" y="2724912"/>
            <a:ext cx="768095" cy="137160"/>
          </a:xfrm>
          <a:prstGeom prst="rect">
            <a:avLst/>
          </a:prstGeom>
          <a:noFill/>
        </p:spPr>
        <p:txBody>
          <a:bodyPr wrap="square" lIns="0" rIns="0" tIns="0" bIns="0" anchor="t">
            <a:spAutoFit/>
          </a:bodyPr>
          <a:lstStyle/>
          <a:p>
            <a:r>
              <a:rPr sz="600" b="0" i="0">
                <a:solidFill>
                  <a:srgbClr val="000000"/>
                </a:solidFill>
                <a:latin typeface="Trenda IG Text"/>
              </a:rPr>
              <a:t>impact, reuse, design</a:t>
            </a:r>
          </a:p>
        </p:txBody>
      </p:sp>
      <p:sp>
        <p:nvSpPr>
          <p:cNvPr id="102" name="Shape 101"/>
          <p:cNvSpPr/>
          <p:nvPr/>
        </p:nvSpPr>
        <p:spPr>
          <a:xfrm>
            <a:off x="8193023" y="2560320"/>
            <a:ext cx="859535" cy="32918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8247888" y="2587751"/>
            <a:ext cx="768095" cy="137160"/>
          </a:xfrm>
          <a:prstGeom prst="rect">
            <a:avLst/>
          </a:prstGeom>
          <a:noFill/>
        </p:spPr>
        <p:txBody>
          <a:bodyPr wrap="square" lIns="0" rIns="0" tIns="0" bIns="0" anchor="t">
            <a:spAutoFit/>
          </a:bodyPr>
          <a:lstStyle/>
          <a:p>
            <a:r>
              <a:rPr sz="700" b="1" i="0">
                <a:solidFill>
                  <a:srgbClr val="000000"/>
                </a:solidFill>
                <a:latin typeface="Trenda IG Text"/>
              </a:rPr>
              <a:t>Developer</a:t>
            </a:r>
          </a:p>
        </p:txBody>
      </p:sp>
      <p:sp>
        <p:nvSpPr>
          <p:cNvPr id="104" name="Text 103"/>
          <p:cNvSpPr txBox="1"/>
          <p:nvPr/>
        </p:nvSpPr>
        <p:spPr>
          <a:xfrm>
            <a:off x="8247888" y="2724912"/>
            <a:ext cx="768095" cy="137160"/>
          </a:xfrm>
          <a:prstGeom prst="rect">
            <a:avLst/>
          </a:prstGeom>
          <a:noFill/>
        </p:spPr>
        <p:txBody>
          <a:bodyPr wrap="square" lIns="0" rIns="0" tIns="0" bIns="0" anchor="t">
            <a:spAutoFit/>
          </a:bodyPr>
          <a:lstStyle/>
          <a:p>
            <a:r>
              <a:rPr sz="600" b="0" i="0">
                <a:solidFill>
                  <a:srgbClr val="000000"/>
                </a:solidFill>
                <a:latin typeface="Trenda IG Text"/>
              </a:rPr>
              <a:t>DEV + branch only</a:t>
            </a:r>
          </a:p>
        </p:txBody>
      </p:sp>
      <p:sp>
        <p:nvSpPr>
          <p:cNvPr id="105" name="Shape 104"/>
          <p:cNvSpPr/>
          <p:nvPr/>
        </p:nvSpPr>
        <p:spPr>
          <a:xfrm>
            <a:off x="5449824" y="2944368"/>
            <a:ext cx="859535" cy="32918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5504688" y="2971799"/>
            <a:ext cx="768095" cy="137160"/>
          </a:xfrm>
          <a:prstGeom prst="rect">
            <a:avLst/>
          </a:prstGeom>
          <a:noFill/>
        </p:spPr>
        <p:txBody>
          <a:bodyPr wrap="square" lIns="0" rIns="0" tIns="0" bIns="0" anchor="t">
            <a:spAutoFit/>
          </a:bodyPr>
          <a:lstStyle/>
          <a:p>
            <a:r>
              <a:rPr sz="700" b="1" i="0">
                <a:solidFill>
                  <a:srgbClr val="000000"/>
                </a:solidFill>
                <a:latin typeface="Trenda IG Text"/>
              </a:rPr>
              <a:t>Review</a:t>
            </a:r>
          </a:p>
        </p:txBody>
      </p:sp>
      <p:sp>
        <p:nvSpPr>
          <p:cNvPr id="107" name="Text 106"/>
          <p:cNvSpPr txBox="1"/>
          <p:nvPr/>
        </p:nvSpPr>
        <p:spPr>
          <a:xfrm>
            <a:off x="5504688" y="3108960"/>
            <a:ext cx="768095" cy="137160"/>
          </a:xfrm>
          <a:prstGeom prst="rect">
            <a:avLst/>
          </a:prstGeom>
          <a:noFill/>
        </p:spPr>
        <p:txBody>
          <a:bodyPr wrap="square" lIns="0" rIns="0" tIns="0" bIns="0" anchor="t">
            <a:spAutoFit/>
          </a:bodyPr>
          <a:lstStyle/>
          <a:p>
            <a:r>
              <a:rPr sz="600" b="0" i="0">
                <a:solidFill>
                  <a:srgbClr val="000000"/>
                </a:solidFill>
                <a:latin typeface="Trenda IG Text"/>
              </a:rPr>
              <a:t>quality, security</a:t>
            </a:r>
          </a:p>
        </p:txBody>
      </p:sp>
      <p:sp>
        <p:nvSpPr>
          <p:cNvPr id="108" name="Shape 107"/>
          <p:cNvSpPr/>
          <p:nvPr/>
        </p:nvSpPr>
        <p:spPr>
          <a:xfrm>
            <a:off x="6364224" y="2944368"/>
            <a:ext cx="859535" cy="32918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6419088" y="2971799"/>
            <a:ext cx="768095" cy="137160"/>
          </a:xfrm>
          <a:prstGeom prst="rect">
            <a:avLst/>
          </a:prstGeom>
          <a:noFill/>
        </p:spPr>
        <p:txBody>
          <a:bodyPr wrap="square" lIns="0" rIns="0" tIns="0" bIns="0" anchor="t">
            <a:spAutoFit/>
          </a:bodyPr>
          <a:lstStyle/>
          <a:p>
            <a:r>
              <a:rPr sz="700" b="1" i="0">
                <a:solidFill>
                  <a:srgbClr val="000000"/>
                </a:solidFill>
                <a:latin typeface="Trenda IG Text"/>
              </a:rPr>
              <a:t>Test</a:t>
            </a:r>
          </a:p>
        </p:txBody>
      </p:sp>
      <p:sp>
        <p:nvSpPr>
          <p:cNvPr id="110" name="Text 109"/>
          <p:cNvSpPr txBox="1"/>
          <p:nvPr/>
        </p:nvSpPr>
        <p:spPr>
          <a:xfrm>
            <a:off x="6419088" y="3108960"/>
            <a:ext cx="768095" cy="137160"/>
          </a:xfrm>
          <a:prstGeom prst="rect">
            <a:avLst/>
          </a:prstGeom>
          <a:noFill/>
        </p:spPr>
        <p:txBody>
          <a:bodyPr wrap="square" lIns="0" rIns="0" tIns="0" bIns="0" anchor="t">
            <a:spAutoFit/>
          </a:bodyPr>
          <a:lstStyle/>
          <a:p>
            <a:r>
              <a:rPr sz="600" b="0" i="0">
                <a:solidFill>
                  <a:srgbClr val="000000"/>
                </a:solidFill>
                <a:latin typeface="Trenda IG Text"/>
              </a:rPr>
              <a:t>unit, regression</a:t>
            </a:r>
          </a:p>
        </p:txBody>
      </p:sp>
      <p:sp>
        <p:nvSpPr>
          <p:cNvPr id="111" name="Shape 110"/>
          <p:cNvSpPr/>
          <p:nvPr/>
        </p:nvSpPr>
        <p:spPr>
          <a:xfrm>
            <a:off x="7278623" y="2944368"/>
            <a:ext cx="859535" cy="32918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7333488" y="2971799"/>
            <a:ext cx="768095" cy="137160"/>
          </a:xfrm>
          <a:prstGeom prst="rect">
            <a:avLst/>
          </a:prstGeom>
          <a:noFill/>
        </p:spPr>
        <p:txBody>
          <a:bodyPr wrap="square" lIns="0" rIns="0" tIns="0" bIns="0" anchor="t">
            <a:spAutoFit/>
          </a:bodyPr>
          <a:lstStyle/>
          <a:p>
            <a:r>
              <a:rPr sz="700" b="1" i="0">
                <a:solidFill>
                  <a:srgbClr val="000000"/>
                </a:solidFill>
                <a:latin typeface="Trenda IG Text"/>
              </a:rPr>
              <a:t>Release</a:t>
            </a:r>
          </a:p>
        </p:txBody>
      </p:sp>
      <p:sp>
        <p:nvSpPr>
          <p:cNvPr id="113" name="Text 112"/>
          <p:cNvSpPr txBox="1"/>
          <p:nvPr/>
        </p:nvSpPr>
        <p:spPr>
          <a:xfrm>
            <a:off x="7333488" y="3108960"/>
            <a:ext cx="768095" cy="137160"/>
          </a:xfrm>
          <a:prstGeom prst="rect">
            <a:avLst/>
          </a:prstGeom>
          <a:noFill/>
        </p:spPr>
        <p:txBody>
          <a:bodyPr wrap="square" lIns="0" rIns="0" tIns="0" bIns="0" anchor="t">
            <a:spAutoFit/>
          </a:bodyPr>
          <a:lstStyle/>
          <a:p>
            <a:r>
              <a:rPr sz="600" b="0" i="0">
                <a:solidFill>
                  <a:srgbClr val="000000"/>
                </a:solidFill>
                <a:latin typeface="Trenda IG Text"/>
              </a:rPr>
              <a:t>Copado, lower envs</a:t>
            </a:r>
          </a:p>
        </p:txBody>
      </p:sp>
      <p:sp>
        <p:nvSpPr>
          <p:cNvPr id="114" name="Shape 113"/>
          <p:cNvSpPr/>
          <p:nvPr/>
        </p:nvSpPr>
        <p:spPr>
          <a:xfrm>
            <a:off x="8193023" y="2944368"/>
            <a:ext cx="859535" cy="329184"/>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8247888" y="2971799"/>
            <a:ext cx="768095" cy="137160"/>
          </a:xfrm>
          <a:prstGeom prst="rect">
            <a:avLst/>
          </a:prstGeom>
          <a:noFill/>
        </p:spPr>
        <p:txBody>
          <a:bodyPr wrap="square" lIns="0" rIns="0" tIns="0" bIns="0" anchor="t">
            <a:spAutoFit/>
          </a:bodyPr>
          <a:lstStyle/>
          <a:p>
            <a:r>
              <a:rPr sz="700" b="1" i="0">
                <a:solidFill>
                  <a:srgbClr val="000000"/>
                </a:solidFill>
                <a:latin typeface="Trenda IG Text"/>
              </a:rPr>
              <a:t>Pod skills</a:t>
            </a:r>
          </a:p>
        </p:txBody>
      </p:sp>
      <p:sp>
        <p:nvSpPr>
          <p:cNvPr id="116" name="Text 115"/>
          <p:cNvSpPr txBox="1"/>
          <p:nvPr/>
        </p:nvSpPr>
        <p:spPr>
          <a:xfrm>
            <a:off x="8247888" y="3108960"/>
            <a:ext cx="768095" cy="137160"/>
          </a:xfrm>
          <a:prstGeom prst="rect">
            <a:avLst/>
          </a:prstGeom>
          <a:noFill/>
        </p:spPr>
        <p:txBody>
          <a:bodyPr wrap="square" lIns="0" rIns="0" tIns="0" bIns="0" anchor="t">
            <a:spAutoFit/>
          </a:bodyPr>
          <a:lstStyle/>
          <a:p>
            <a:r>
              <a:rPr sz="600" b="0" i="0">
                <a:solidFill>
                  <a:srgbClr val="000000"/>
                </a:solidFill>
                <a:latin typeface="Trenda IG Text"/>
              </a:rPr>
              <a:t>one set per platform</a:t>
            </a:r>
          </a:p>
        </p:txBody>
      </p:sp>
      <p:sp>
        <p:nvSpPr>
          <p:cNvPr id="117" name="Text 116"/>
          <p:cNvSpPr txBox="1"/>
          <p:nvPr/>
        </p:nvSpPr>
        <p:spPr>
          <a:xfrm>
            <a:off x="5449824" y="3337560"/>
            <a:ext cx="3602735" cy="128016"/>
          </a:xfrm>
          <a:prstGeom prst="rect">
            <a:avLst/>
          </a:prstGeom>
          <a:noFill/>
        </p:spPr>
        <p:txBody>
          <a:bodyPr wrap="square" lIns="0" rIns="0" tIns="0" bIns="0" anchor="ctr">
            <a:spAutoFit/>
          </a:bodyPr>
          <a:lstStyle/>
          <a:p>
            <a:r>
              <a:rPr sz="600" b="0" i="0">
                <a:solidFill>
                  <a:srgbClr val="595959"/>
                </a:solidFill>
                <a:latin typeface="Trenda IG Text"/>
              </a:rPr>
              <a:t>6 of 7 agents already in use for UI, backend and QA delivery · Release Agent is the next build</a:t>
            </a:r>
          </a:p>
        </p:txBody>
      </p:sp>
      <p:sp>
        <p:nvSpPr>
          <p:cNvPr id="118" name="Shape 117"/>
          <p:cNvSpPr/>
          <p:nvPr/>
        </p:nvSpPr>
        <p:spPr>
          <a:xfrm>
            <a:off x="5449824" y="3511296"/>
            <a:ext cx="1931212" cy="5486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5522976" y="3547872"/>
            <a:ext cx="1656892" cy="137160"/>
          </a:xfrm>
          <a:prstGeom prst="rect">
            <a:avLst/>
          </a:prstGeom>
          <a:noFill/>
        </p:spPr>
        <p:txBody>
          <a:bodyPr wrap="square" lIns="0" rIns="0" tIns="0" bIns="0" anchor="t">
            <a:spAutoFit/>
          </a:bodyPr>
          <a:lstStyle/>
          <a:p>
            <a:r>
              <a:rPr sz="750" b="1" i="0">
                <a:solidFill>
                  <a:srgbClr val="FFFFFF"/>
                </a:solidFill>
                <a:latin typeface="Trenda IG Text"/>
              </a:rPr>
              <a:t>Change Guardian · across every pod</a:t>
            </a:r>
          </a:p>
        </p:txBody>
      </p:sp>
      <p:sp>
        <p:nvSpPr>
          <p:cNvPr id="120" name="Text 119"/>
          <p:cNvSpPr txBox="1"/>
          <p:nvPr/>
        </p:nvSpPr>
        <p:spPr>
          <a:xfrm>
            <a:off x="5522976" y="3703320"/>
            <a:ext cx="1784908" cy="329184"/>
          </a:xfrm>
          <a:prstGeom prst="rect">
            <a:avLst/>
          </a:prstGeom>
          <a:noFill/>
        </p:spPr>
        <p:txBody>
          <a:bodyPr wrap="square" lIns="0" rIns="0" t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1" name="Shape 120"/>
          <p:cNvSpPr/>
          <p:nvPr/>
        </p:nvSpPr>
        <p:spPr>
          <a:xfrm>
            <a:off x="7161580" y="3547872"/>
            <a:ext cx="155448" cy="155448"/>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21"/>
          <p:cNvSpPr/>
          <p:nvPr/>
        </p:nvSpPr>
        <p:spPr>
          <a:xfrm>
            <a:off x="7472476" y="3511296"/>
            <a:ext cx="1580083" cy="54864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22"/>
          <p:cNvSpPr txBox="1"/>
          <p:nvPr/>
        </p:nvSpPr>
        <p:spPr>
          <a:xfrm>
            <a:off x="7545628" y="3547872"/>
            <a:ext cx="1305763" cy="137160"/>
          </a:xfrm>
          <a:prstGeom prst="rect">
            <a:avLst/>
          </a:prstGeom>
          <a:noFill/>
        </p:spPr>
        <p:txBody>
          <a:bodyPr wrap="square" lIns="0" rIns="0" tIns="0" bIns="0" anchor="t">
            <a:spAutoFit/>
          </a:bodyPr>
          <a:lstStyle/>
          <a:p>
            <a:r>
              <a:rPr sz="750" b="1" i="0">
                <a:solidFill>
                  <a:srgbClr val="000000"/>
                </a:solidFill>
                <a:latin typeface="Trenda IG Text"/>
              </a:rPr>
              <a:t>Approved model endpoint</a:t>
            </a:r>
          </a:p>
        </p:txBody>
      </p:sp>
      <p:sp>
        <p:nvSpPr>
          <p:cNvPr id="124" name="Text 123"/>
          <p:cNvSpPr txBox="1"/>
          <p:nvPr/>
        </p:nvSpPr>
        <p:spPr>
          <a:xfrm>
            <a:off x="7545628" y="3703320"/>
            <a:ext cx="1452067" cy="329184"/>
          </a:xfrm>
          <a:prstGeom prst="rect">
            <a:avLst/>
          </a:prstGeom>
          <a:noFill/>
        </p:spPr>
        <p:txBody>
          <a:bodyPr wrap="square" lIns="0" rIns="0" tIns="0" bIns="0" anchor="t">
            <a:spAutoFit/>
          </a:bodyPr>
          <a:lstStyle/>
          <a:p>
            <a:r>
              <a:rPr sz="650" b="0" i="0">
                <a:solidFill>
                  <a:srgbClr val="000000"/>
                </a:solidFill>
                <a:latin typeface="Trenda IG Text"/>
              </a:rPr>
              <a:t>Allowlisted egress · minimal context · PHI never sent · model swappable behind MCP</a:t>
            </a:r>
          </a:p>
        </p:txBody>
      </p:sp>
      <p:sp>
        <p:nvSpPr>
          <p:cNvPr id="125" name="Shape 124"/>
          <p:cNvSpPr/>
          <p:nvPr/>
        </p:nvSpPr>
        <p:spPr>
          <a:xfrm>
            <a:off x="8842248" y="3538727"/>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5"/>
          <p:cNvSpPr txBox="1"/>
          <p:nvPr/>
        </p:nvSpPr>
        <p:spPr>
          <a:xfrm>
            <a:off x="8842248" y="3538727"/>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3</a:t>
            </a:r>
          </a:p>
        </p:txBody>
      </p:sp>
      <p:cxnSp>
        <p:nvCxnSpPr>
          <p:cNvPr id="127" name="Arrow 126"/>
          <p:cNvCxnSpPr/>
          <p:nvPr/>
        </p:nvCxnSpPr>
        <p:spPr>
          <a:xfrm>
            <a:off x="7251192" y="4160520"/>
            <a:ext cx="0" cy="109728"/>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27"/>
          <p:cNvSpPr txBox="1"/>
          <p:nvPr/>
        </p:nvSpPr>
        <p:spPr>
          <a:xfrm>
            <a:off x="7306055" y="4151376"/>
            <a:ext cx="1645920" cy="128016"/>
          </a:xfrm>
          <a:prstGeom prst="rect">
            <a:avLst/>
          </a:prstGeom>
          <a:noFill/>
        </p:spPr>
        <p:txBody>
          <a:bodyPr wrap="square" lIns="0" rIns="0" tIns="0" bIns="0" anchor="ctr">
            <a:spAutoFit/>
          </a:bodyPr>
          <a:lstStyle/>
          <a:p>
            <a:r>
              <a:rPr sz="550" b="1" i="0" spc="100">
                <a:solidFill>
                  <a:srgbClr val="000000"/>
                </a:solidFill>
                <a:latin typeface="Trenda IG Text"/>
              </a:rPr>
              <a:t>ONLY APPROVED ACTIONS</a:t>
            </a:r>
          </a:p>
        </p:txBody>
      </p:sp>
      <p:sp>
        <p:nvSpPr>
          <p:cNvPr id="129" name="Shape 128"/>
          <p:cNvSpPr/>
          <p:nvPr/>
        </p:nvSpPr>
        <p:spPr>
          <a:xfrm>
            <a:off x="411480" y="4279392"/>
            <a:ext cx="8732520" cy="56692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521208" y="4343400"/>
            <a:ext cx="3108960" cy="146304"/>
          </a:xfrm>
          <a:prstGeom prst="rect">
            <a:avLst/>
          </a:prstGeom>
          <a:noFill/>
        </p:spPr>
        <p:txBody>
          <a:bodyPr wrap="square" lIns="0" rIns="0" tIns="0" bIns="0" anchor="t">
            <a:spAutoFit/>
          </a:bodyPr>
          <a:lstStyle/>
          <a:p>
            <a:r>
              <a:rPr sz="700" b="1" i="0" spc="150">
                <a:solidFill>
                  <a:srgbClr val="00D6F2"/>
                </a:solidFill>
                <a:latin typeface="Trenda IG Text"/>
              </a:rPr>
              <a:t>TOOL + POLICY GATEWAY (MCP)</a:t>
            </a:r>
          </a:p>
        </p:txBody>
      </p:sp>
      <p:sp>
        <p:nvSpPr>
          <p:cNvPr id="131" name="Text 130"/>
          <p:cNvSpPr txBox="1"/>
          <p:nvPr/>
        </p:nvSpPr>
        <p:spPr>
          <a:xfrm>
            <a:off x="521208" y="4507992"/>
            <a:ext cx="3017520" cy="310896"/>
          </a:xfrm>
          <a:prstGeom prst="rect">
            <a:avLst/>
          </a:prstGeom>
          <a:noFill/>
        </p:spPr>
        <p:txBody>
          <a:bodyPr wrap="square" lIns="0" rIns="0" t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1"/>
          <p:cNvSpPr/>
          <p:nvPr/>
        </p:nvSpPr>
        <p:spPr>
          <a:xfrm>
            <a:off x="3657600" y="4370831"/>
            <a:ext cx="1298448" cy="384048"/>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3721608" y="4398264"/>
            <a:ext cx="1207007" cy="146304"/>
          </a:xfrm>
          <a:prstGeom prst="rect">
            <a:avLst/>
          </a:prstGeom>
          <a:noFill/>
        </p:spPr>
        <p:txBody>
          <a:bodyPr wrap="square" lIns="0" rIns="0" tIns="0" bIns="0" anchor="t">
            <a:spAutoFit/>
          </a:bodyPr>
          <a:lstStyle/>
          <a:p>
            <a:r>
              <a:rPr sz="700" b="1" i="0">
                <a:solidFill>
                  <a:srgbClr val="FFFFFF"/>
                </a:solidFill>
                <a:latin typeface="Trenda IG Text"/>
              </a:rPr>
              <a:t>AI Read Service</a:t>
            </a:r>
          </a:p>
        </p:txBody>
      </p:sp>
      <p:sp>
        <p:nvSpPr>
          <p:cNvPr id="134" name="Text 133"/>
          <p:cNvSpPr txBox="1"/>
          <p:nvPr/>
        </p:nvSpPr>
        <p:spPr>
          <a:xfrm>
            <a:off x="3721608" y="4553712"/>
            <a:ext cx="1207007" cy="146304"/>
          </a:xfrm>
          <a:prstGeom prst="rect">
            <a:avLst/>
          </a:prstGeom>
          <a:noFill/>
        </p:spPr>
        <p:txBody>
          <a:bodyPr wrap="square" lIns="0" rIns="0" tIns="0" bIns="0" anchor="t">
            <a:spAutoFit/>
          </a:bodyPr>
          <a:lstStyle/>
          <a:p>
            <a:r>
              <a:rPr sz="650" b="0" i="0">
                <a:solidFill>
                  <a:srgbClr val="D9D9D9"/>
                </a:solidFill>
                <a:latin typeface="Trenda IG Text"/>
              </a:rPr>
              <a:t>read-only</a:t>
            </a:r>
          </a:p>
        </p:txBody>
      </p:sp>
      <p:sp>
        <p:nvSpPr>
          <p:cNvPr id="135" name="Shape 134"/>
          <p:cNvSpPr/>
          <p:nvPr/>
        </p:nvSpPr>
        <p:spPr>
          <a:xfrm>
            <a:off x="5029200" y="4370831"/>
            <a:ext cx="1298448" cy="384048"/>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5"/>
          <p:cNvSpPr txBox="1"/>
          <p:nvPr/>
        </p:nvSpPr>
        <p:spPr>
          <a:xfrm>
            <a:off x="5093208" y="4398264"/>
            <a:ext cx="1207007" cy="146304"/>
          </a:xfrm>
          <a:prstGeom prst="rect">
            <a:avLst/>
          </a:prstGeom>
          <a:noFill/>
        </p:spPr>
        <p:txBody>
          <a:bodyPr wrap="square" lIns="0" rIns="0" tIns="0" bIns="0" anchor="t">
            <a:spAutoFit/>
          </a:bodyPr>
          <a:lstStyle/>
          <a:p>
            <a:r>
              <a:rPr sz="700" b="1" i="0">
                <a:solidFill>
                  <a:srgbClr val="FFFFFF"/>
                </a:solidFill>
                <a:latin typeface="Trenda IG Text"/>
              </a:rPr>
              <a:t>AI Development Service</a:t>
            </a:r>
          </a:p>
        </p:txBody>
      </p:sp>
      <p:sp>
        <p:nvSpPr>
          <p:cNvPr id="137" name="Text 136"/>
          <p:cNvSpPr txBox="1"/>
          <p:nvPr/>
        </p:nvSpPr>
        <p:spPr>
          <a:xfrm>
            <a:off x="5093208" y="4553712"/>
            <a:ext cx="1207007" cy="146304"/>
          </a:xfrm>
          <a:prstGeom prst="rect">
            <a:avLst/>
          </a:prstGeom>
          <a:noFill/>
        </p:spPr>
        <p:txBody>
          <a:bodyPr wrap="square" lIns="0" rIns="0" tIns="0" bIns="0" anchor="t">
            <a:spAutoFit/>
          </a:bodyPr>
          <a:lstStyle/>
          <a:p>
            <a:r>
              <a:rPr sz="650" b="0" i="0">
                <a:solidFill>
                  <a:srgbClr val="D9D9D9"/>
                </a:solidFill>
                <a:latin typeface="Trenda IG Text"/>
              </a:rPr>
              <a:t>DEV org + branch</a:t>
            </a:r>
          </a:p>
        </p:txBody>
      </p:sp>
      <p:sp>
        <p:nvSpPr>
          <p:cNvPr id="138" name="Shape 137"/>
          <p:cNvSpPr/>
          <p:nvPr/>
        </p:nvSpPr>
        <p:spPr>
          <a:xfrm>
            <a:off x="6400800" y="4370831"/>
            <a:ext cx="1298448" cy="384048"/>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8"/>
          <p:cNvSpPr txBox="1"/>
          <p:nvPr/>
        </p:nvSpPr>
        <p:spPr>
          <a:xfrm>
            <a:off x="6464808" y="4398264"/>
            <a:ext cx="1207007" cy="146304"/>
          </a:xfrm>
          <a:prstGeom prst="rect">
            <a:avLst/>
          </a:prstGeom>
          <a:noFill/>
        </p:spPr>
        <p:txBody>
          <a:bodyPr wrap="square" lIns="0" rIns="0" tIns="0" bIns="0" anchor="t">
            <a:spAutoFit/>
          </a:bodyPr>
          <a:lstStyle/>
          <a:p>
            <a:r>
              <a:rPr sz="700" b="1" i="0">
                <a:solidFill>
                  <a:srgbClr val="FFFFFF"/>
                </a:solidFill>
                <a:latin typeface="Trenda IG Text"/>
              </a:rPr>
              <a:t>AI Release Service</a:t>
            </a:r>
          </a:p>
        </p:txBody>
      </p:sp>
      <p:sp>
        <p:nvSpPr>
          <p:cNvPr id="140" name="Text 139"/>
          <p:cNvSpPr txBox="1"/>
          <p:nvPr/>
        </p:nvSpPr>
        <p:spPr>
          <a:xfrm>
            <a:off x="6464808" y="4553712"/>
            <a:ext cx="1207007" cy="146304"/>
          </a:xfrm>
          <a:prstGeom prst="rect">
            <a:avLst/>
          </a:prstGeom>
          <a:noFill/>
        </p:spPr>
        <p:txBody>
          <a:bodyPr wrap="square" lIns="0" rIns="0" tIns="0" bIns="0" anchor="t">
            <a:spAutoFit/>
          </a:bodyPr>
          <a:lstStyle/>
          <a:p>
            <a:r>
              <a:rPr sz="650" b="0" i="0">
                <a:solidFill>
                  <a:srgbClr val="D9D9D9"/>
                </a:solidFill>
                <a:latin typeface="Trenda IG Text"/>
              </a:rPr>
              <a:t>Copado, lower envs</a:t>
            </a:r>
          </a:p>
        </p:txBody>
      </p:sp>
      <p:sp>
        <p:nvSpPr>
          <p:cNvPr id="141" name="Shape 140"/>
          <p:cNvSpPr/>
          <p:nvPr/>
        </p:nvSpPr>
        <p:spPr>
          <a:xfrm>
            <a:off x="7808975" y="4389120"/>
            <a:ext cx="173736" cy="173736"/>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41"/>
          <p:cNvSpPr txBox="1"/>
          <p:nvPr/>
        </p:nvSpPr>
        <p:spPr>
          <a:xfrm>
            <a:off x="8028431" y="4361688"/>
            <a:ext cx="1042416" cy="420624"/>
          </a:xfrm>
          <a:prstGeom prst="rect">
            <a:avLst/>
          </a:prstGeom>
          <a:noFill/>
        </p:spPr>
        <p:txBody>
          <a:bodyPr wrap="square" lIns="0" rIns="0" tIns="0" bIns="0" anchor="ctr">
            <a:spAutoFit/>
          </a:bodyPr>
          <a:lstStyle/>
          <a:p>
            <a:r>
              <a:rPr sz="650" b="1" i="0">
                <a:solidFill>
                  <a:srgbClr val="FFD700"/>
                </a:solidFill>
                <a:latin typeface="Trenda IG Text"/>
              </a:rPr>
              <a:t>No production credentials </a:t>
            </a:r>
            <a:r>
              <a:rPr sz="650" b="0" i="0">
                <a:solidFill>
                  <a:srgbClr val="FFFFFF"/>
                </a:solidFill>
                <a:latin typeface="Trenda IG Text"/>
              </a:rPr>
              <a:t>for any agent. Owning teams release.</a:t>
            </a:r>
          </a:p>
        </p:txBody>
      </p:sp>
      <p:sp>
        <p:nvSpPr>
          <p:cNvPr id="143" name="Shape 142"/>
          <p:cNvSpPr/>
          <p:nvPr/>
        </p:nvSpPr>
        <p:spPr>
          <a:xfrm>
            <a:off x="8897112" y="4187952"/>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 143"/>
          <p:cNvSpPr txBox="1"/>
          <p:nvPr/>
        </p:nvSpPr>
        <p:spPr>
          <a:xfrm>
            <a:off x="8897112" y="4187952"/>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2</a:t>
            </a:r>
          </a:p>
        </p:txBody>
      </p:sp>
      <p:cxnSp>
        <p:nvCxnSpPr>
          <p:cNvPr id="145" name="Arrow 144"/>
          <p:cNvCxnSpPr/>
          <p:nvPr/>
        </p:nvCxnSpPr>
        <p:spPr>
          <a:xfrm>
            <a:off x="1325880" y="4855464"/>
            <a:ext cx="0" cy="9144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Arrow 145"/>
          <p:cNvCxnSpPr/>
          <p:nvPr/>
        </p:nvCxnSpPr>
        <p:spPr>
          <a:xfrm>
            <a:off x="3429000" y="4855464"/>
            <a:ext cx="0" cy="9144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7" name="Arrow 146"/>
          <p:cNvCxnSpPr/>
          <p:nvPr/>
        </p:nvCxnSpPr>
        <p:spPr>
          <a:xfrm>
            <a:off x="5532120" y="4855464"/>
            <a:ext cx="0" cy="9144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8" name="Shape 147"/>
          <p:cNvSpPr/>
          <p:nvPr/>
        </p:nvSpPr>
        <p:spPr>
          <a:xfrm>
            <a:off x="411480" y="4956048"/>
            <a:ext cx="1993392"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48"/>
          <p:cNvSpPr txBox="1"/>
          <p:nvPr/>
        </p:nvSpPr>
        <p:spPr>
          <a:xfrm>
            <a:off x="502920" y="5010912"/>
            <a:ext cx="1810512" cy="146304"/>
          </a:xfrm>
          <a:prstGeom prst="rect">
            <a:avLst/>
          </a:prstGeom>
          <a:noFill/>
        </p:spPr>
        <p:txBody>
          <a:bodyPr wrap="square" lIns="0" rIns="0" tIns="0" bIns="0" anchor="t">
            <a:spAutoFit/>
          </a:bodyPr>
          <a:lstStyle/>
          <a:p>
            <a:r>
              <a:rPr sz="750" b="1" i="0">
                <a:solidFill>
                  <a:srgbClr val="000000"/>
                </a:solidFill>
                <a:latin typeface="Trenda IG Text"/>
              </a:rPr>
              <a:t>Salesforce Health Cloud</a:t>
            </a:r>
          </a:p>
        </p:txBody>
      </p:sp>
      <p:sp>
        <p:nvSpPr>
          <p:cNvPr id="150" name="Text 149"/>
          <p:cNvSpPr txBox="1"/>
          <p:nvPr/>
        </p:nvSpPr>
        <p:spPr>
          <a:xfrm>
            <a:off x="502920" y="5184648"/>
            <a:ext cx="1810512" cy="182880"/>
          </a:xfrm>
          <a:prstGeom prst="rect">
            <a:avLst/>
          </a:prstGeom>
          <a:noFill/>
        </p:spPr>
        <p:txBody>
          <a:bodyPr wrap="square" lIns="0" rIns="0" tIns="0" bIns="0" anchor="t">
            <a:spAutoFit/>
          </a:bodyPr>
          <a:lstStyle/>
          <a:p>
            <a:r>
              <a:rPr sz="650" b="0" i="0">
                <a:solidFill>
                  <a:srgbClr val="595959"/>
                </a:solidFill>
                <a:latin typeface="Trenda IG Text"/>
              </a:rPr>
              <a:t>Git + Copado · DEV → SIT → UAT</a:t>
            </a:r>
          </a:p>
        </p:txBody>
      </p:sp>
      <p:sp>
        <p:nvSpPr>
          <p:cNvPr id="151" name="Shape 150"/>
          <p:cNvSpPr/>
          <p:nvPr/>
        </p:nvSpPr>
        <p:spPr>
          <a:xfrm>
            <a:off x="2514600" y="4956048"/>
            <a:ext cx="1993392"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1"/>
          <p:cNvSpPr txBox="1"/>
          <p:nvPr/>
        </p:nvSpPr>
        <p:spPr>
          <a:xfrm>
            <a:off x="2606040" y="5010912"/>
            <a:ext cx="1810512" cy="146304"/>
          </a:xfrm>
          <a:prstGeom prst="rect">
            <a:avLst/>
          </a:prstGeom>
          <a:noFill/>
        </p:spPr>
        <p:txBody>
          <a:bodyPr wrap="square" lIns="0" rIns="0" tIns="0" bIns="0" anchor="t">
            <a:spAutoFit/>
          </a:bodyPr>
          <a:lstStyle/>
          <a:p>
            <a:r>
              <a:rPr sz="750" b="1" i="0">
                <a:solidFill>
                  <a:srgbClr val="000000"/>
                </a:solidFill>
                <a:latin typeface="Trenda IG Text"/>
              </a:rPr>
              <a:t>Marketing + Data Cloud</a:t>
            </a:r>
          </a:p>
        </p:txBody>
      </p:sp>
      <p:sp>
        <p:nvSpPr>
          <p:cNvPr id="153" name="Text 152"/>
          <p:cNvSpPr txBox="1"/>
          <p:nvPr/>
        </p:nvSpPr>
        <p:spPr>
          <a:xfrm>
            <a:off x="2606040" y="5184648"/>
            <a:ext cx="1810512" cy="182880"/>
          </a:xfrm>
          <a:prstGeom prst="rect">
            <a:avLst/>
          </a:prstGeom>
          <a:noFill/>
        </p:spPr>
        <p:txBody>
          <a:bodyPr wrap="square" lIns="0" rIns="0" tIns="0" bIns="0" anchor="t">
            <a:spAutoFit/>
          </a:bodyPr>
          <a:lstStyle/>
          <a:p>
            <a:r>
              <a:rPr sz="650" b="0" i="0">
                <a:solidFill>
                  <a:srgbClr val="595959"/>
                </a:solidFill>
                <a:latin typeface="Trenda IG Text"/>
              </a:rPr>
              <a:t>Supported APIs, Data Kits · Test BU</a:t>
            </a:r>
          </a:p>
        </p:txBody>
      </p:sp>
      <p:sp>
        <p:nvSpPr>
          <p:cNvPr id="154" name="Shape 153"/>
          <p:cNvSpPr/>
          <p:nvPr/>
        </p:nvSpPr>
        <p:spPr>
          <a:xfrm>
            <a:off x="4617720" y="4956048"/>
            <a:ext cx="1993392"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 154"/>
          <p:cNvSpPr txBox="1"/>
          <p:nvPr/>
        </p:nvSpPr>
        <p:spPr>
          <a:xfrm>
            <a:off x="4709160" y="5010912"/>
            <a:ext cx="1810512" cy="146304"/>
          </a:xfrm>
          <a:prstGeom prst="rect">
            <a:avLst/>
          </a:prstGeom>
          <a:noFill/>
        </p:spPr>
        <p:txBody>
          <a:bodyPr wrap="square" lIns="0" rIns="0" tIns="0" bIns="0" anchor="t">
            <a:spAutoFit/>
          </a:bodyPr>
          <a:lstStyle/>
          <a:p>
            <a:r>
              <a:rPr sz="750" b="1" i="0">
                <a:solidFill>
                  <a:srgbClr val="000000"/>
                </a:solidFill>
                <a:latin typeface="Trenda IG Text"/>
              </a:rPr>
              <a:t>GCP + integrations</a:t>
            </a:r>
          </a:p>
        </p:txBody>
      </p:sp>
      <p:sp>
        <p:nvSpPr>
          <p:cNvPr id="156" name="Text 155"/>
          <p:cNvSpPr txBox="1"/>
          <p:nvPr/>
        </p:nvSpPr>
        <p:spPr>
          <a:xfrm>
            <a:off x="4709160" y="5184648"/>
            <a:ext cx="1810512" cy="182880"/>
          </a:xfrm>
          <a:prstGeom prst="rect">
            <a:avLst/>
          </a:prstGeom>
          <a:noFill/>
        </p:spPr>
        <p:txBody>
          <a:bodyPr wrap="square" lIns="0" rIns="0" tIns="0" bIns="0" anchor="t">
            <a:spAutoFit/>
          </a:bodyPr>
          <a:lstStyle/>
          <a:p>
            <a:r>
              <a:rPr sz="650" b="0" i="0">
                <a:solidFill>
                  <a:srgbClr val="595959"/>
                </a:solidFill>
                <a:latin typeface="Trenda IG Text"/>
              </a:rPr>
              <a:t>Owner-managed CI/CD · DEV → TEST</a:t>
            </a:r>
          </a:p>
        </p:txBody>
      </p:sp>
      <p:sp>
        <p:nvSpPr>
          <p:cNvPr id="157" name="Shape 156"/>
          <p:cNvSpPr/>
          <p:nvPr/>
        </p:nvSpPr>
        <p:spPr>
          <a:xfrm>
            <a:off x="5623560" y="5010912"/>
            <a:ext cx="914400" cy="146304"/>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57"/>
          <p:cNvSpPr txBox="1"/>
          <p:nvPr/>
        </p:nvSpPr>
        <p:spPr>
          <a:xfrm>
            <a:off x="5623560" y="5010912"/>
            <a:ext cx="914400" cy="146304"/>
          </a:xfrm>
          <a:prstGeom prst="rect">
            <a:avLst/>
          </a:prstGeom>
          <a:noFill/>
        </p:spPr>
        <p:txBody>
          <a:bodyPr wrap="square" lIns="0" rIns="0" tIns="0" bIns="0" anchor="ctr">
            <a:spAutoFit/>
          </a:bodyPr>
          <a:lstStyle/>
          <a:p>
            <a:pPr algn="ctr"/>
            <a:r>
              <a:rPr sz="550" b="1" i="0" spc="100">
                <a:solidFill>
                  <a:srgbClr val="000000"/>
                </a:solidFill>
                <a:latin typeface="Trenda IG Text"/>
              </a:rPr>
              <a:t>PATH UNCHANGED</a:t>
            </a:r>
          </a:p>
        </p:txBody>
      </p:sp>
      <p:cxnSp>
        <p:nvCxnSpPr>
          <p:cNvPr id="159" name="Arrow 158"/>
          <p:cNvCxnSpPr/>
          <p:nvPr/>
        </p:nvCxnSpPr>
        <p:spPr>
          <a:xfrm>
            <a:off x="6729984" y="5184648"/>
            <a:ext cx="246888"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0" name="Shape 159"/>
          <p:cNvSpPr/>
          <p:nvPr/>
        </p:nvSpPr>
        <p:spPr>
          <a:xfrm>
            <a:off x="6995160" y="4956048"/>
            <a:ext cx="2148839"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 160"/>
          <p:cNvSpPr txBox="1"/>
          <p:nvPr/>
        </p:nvSpPr>
        <p:spPr>
          <a:xfrm>
            <a:off x="7086600" y="5010912"/>
            <a:ext cx="1965959" cy="146304"/>
          </a:xfrm>
          <a:prstGeom prst="rect">
            <a:avLst/>
          </a:prstGeom>
          <a:noFill/>
        </p:spPr>
        <p:txBody>
          <a:bodyPr wrap="square" lIns="0" rIns="0" tIns="0" bIns="0" anchor="t">
            <a:spAutoFit/>
          </a:bodyPr>
          <a:lstStyle/>
          <a:p>
            <a:r>
              <a:rPr sz="750" b="1" i="0">
                <a:solidFill>
                  <a:srgbClr val="000000"/>
                </a:solidFill>
                <a:latin typeface="Trenda IG Text"/>
              </a:rPr>
              <a:t>Human release gate</a:t>
            </a:r>
          </a:p>
        </p:txBody>
      </p:sp>
      <p:sp>
        <p:nvSpPr>
          <p:cNvPr id="162" name="Text 161"/>
          <p:cNvSpPr txBox="1"/>
          <p:nvPr/>
        </p:nvSpPr>
        <p:spPr>
          <a:xfrm>
            <a:off x="7086600" y="5184648"/>
            <a:ext cx="1965959" cy="182880"/>
          </a:xfrm>
          <a:prstGeom prst="rect">
            <a:avLst/>
          </a:prstGeom>
          <a:noFill/>
        </p:spPr>
        <p:txBody>
          <a:bodyPr wrap="square" lIns="0" rIns="0" tIns="0" bIns="0" anchor="t">
            <a:spAutoFit/>
          </a:bodyPr>
          <a:lstStyle/>
          <a:p>
            <a:r>
              <a:rPr sz="650" b="0" i="0">
                <a:solidFill>
                  <a:srgbClr val="000000"/>
                </a:solidFill>
                <a:latin typeface="Trenda IG Text"/>
              </a:rPr>
              <a:t>UAT + CAB approve · owning team deploys to PROD</a:t>
            </a:r>
          </a:p>
        </p:txBody>
      </p:sp>
      <p:sp>
        <p:nvSpPr>
          <p:cNvPr id="163" name="Shape 162"/>
          <p:cNvSpPr/>
          <p:nvPr/>
        </p:nvSpPr>
        <p:spPr>
          <a:xfrm>
            <a:off x="411480" y="5522976"/>
            <a:ext cx="4160520" cy="79552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 163"/>
          <p:cNvSpPr txBox="1"/>
          <p:nvPr/>
        </p:nvSpPr>
        <p:spPr>
          <a:xfrm>
            <a:off x="502920" y="5577840"/>
            <a:ext cx="3291840" cy="146304"/>
          </a:xfrm>
          <a:prstGeom prst="rect">
            <a:avLst/>
          </a:prstGeom>
          <a:noFill/>
        </p:spPr>
        <p:txBody>
          <a:bodyPr wrap="square" lIns="0" rIns="0" tIns="0" bIns="0" anchor="t">
            <a:spAutoFit/>
          </a:bodyPr>
          <a:lstStyle/>
          <a:p>
            <a:r>
              <a:rPr sz="700" b="1" i="0" spc="150">
                <a:solidFill>
                  <a:srgbClr val="000000"/>
                </a:solidFill>
                <a:latin typeface="Trenda IG Text"/>
              </a:rPr>
              <a:t>CHANGE PASSPORT + AUDIT</a:t>
            </a:r>
          </a:p>
        </p:txBody>
      </p:sp>
      <p:sp>
        <p:nvSpPr>
          <p:cNvPr id="165" name="Text 164"/>
          <p:cNvSpPr txBox="1"/>
          <p:nvPr/>
        </p:nvSpPr>
        <p:spPr>
          <a:xfrm>
            <a:off x="502920" y="5751576"/>
            <a:ext cx="3977639" cy="274320"/>
          </a:xfrm>
          <a:prstGeom prst="rect">
            <a:avLst/>
          </a:prstGeom>
          <a:noFill/>
        </p:spPr>
        <p:txBody>
          <a:bodyPr wrap="square" lIns="0" rIns="0" t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5"/>
          <p:cNvSpPr txBox="1"/>
          <p:nvPr/>
        </p:nvSpPr>
        <p:spPr>
          <a:xfrm>
            <a:off x="502920" y="6071616"/>
            <a:ext cx="3749039" cy="146304"/>
          </a:xfrm>
          <a:prstGeom prst="rect">
            <a:avLst/>
          </a:prstGeom>
          <a:noFill/>
        </p:spPr>
        <p:txBody>
          <a:bodyPr wrap="square" lIns="0" rIns="0" tIns="0" bIns="0" anchor="t">
            <a:spAutoFit/>
          </a:bodyPr>
          <a:lstStyle/>
          <a:p>
            <a:r>
              <a:rPr sz="650" b="0" i="0">
                <a:solidFill>
                  <a:srgbClr val="595959"/>
                </a:solidFill>
                <a:latin typeface="Trenda IG Text"/>
              </a:rPr>
              <a:t>BigQuery audit store · Cloud Logging · CAB evidence assembled, not collated</a:t>
            </a:r>
          </a:p>
        </p:txBody>
      </p:sp>
      <p:sp>
        <p:nvSpPr>
          <p:cNvPr id="167" name="Shape 166"/>
          <p:cNvSpPr/>
          <p:nvPr/>
        </p:nvSpPr>
        <p:spPr>
          <a:xfrm>
            <a:off x="4325112" y="5568696"/>
            <a:ext cx="173736" cy="173736"/>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67"/>
          <p:cNvSpPr/>
          <p:nvPr/>
        </p:nvSpPr>
        <p:spPr>
          <a:xfrm>
            <a:off x="4681728" y="5522976"/>
            <a:ext cx="4462272" cy="795528"/>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68"/>
          <p:cNvSpPr/>
          <p:nvPr/>
        </p:nvSpPr>
        <p:spPr>
          <a:xfrm>
            <a:off x="4773168" y="5596128"/>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69"/>
          <p:cNvSpPr txBox="1"/>
          <p:nvPr/>
        </p:nvSpPr>
        <p:spPr>
          <a:xfrm>
            <a:off x="5120640" y="5577840"/>
            <a:ext cx="3685032" cy="146304"/>
          </a:xfrm>
          <a:prstGeom prst="rect">
            <a:avLst/>
          </a:prstGeom>
          <a:noFill/>
        </p:spPr>
        <p:txBody>
          <a:bodyPr wrap="square" lIns="0" rIns="0" tIns="0" bIns="0" anchor="t">
            <a:spAutoFit/>
          </a:bodyPr>
          <a:lstStyle/>
          <a:p>
            <a:r>
              <a:rPr sz="700" b="1" i="0" spc="100">
                <a:solidFill>
                  <a:srgbClr val="000000"/>
                </a:solidFill>
                <a:latin typeface="Trenda IG Text"/>
              </a:rPr>
              <a:t>LEARNING LOOP · NO MODEL TRAINED ON ASCENSION DATA</a:t>
            </a:r>
          </a:p>
        </p:txBody>
      </p:sp>
      <p:sp>
        <p:nvSpPr>
          <p:cNvPr id="171" name="Text 170"/>
          <p:cNvSpPr txBox="1"/>
          <p:nvPr/>
        </p:nvSpPr>
        <p:spPr>
          <a:xfrm>
            <a:off x="5120640" y="5751576"/>
            <a:ext cx="3931920" cy="329184"/>
          </a:xfrm>
          <a:prstGeom prst="rect">
            <a:avLst/>
          </a:prstGeom>
          <a:noFill/>
        </p:spPr>
        <p:txBody>
          <a:bodyPr wrap="square" lIns="0" rIns="0" t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2" name="Shape 171"/>
          <p:cNvSpPr/>
          <p:nvPr/>
        </p:nvSpPr>
        <p:spPr>
          <a:xfrm>
            <a:off x="8897112" y="5568696"/>
            <a:ext cx="173736" cy="173736"/>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72"/>
          <p:cNvSpPr/>
          <p:nvPr/>
        </p:nvSpPr>
        <p:spPr>
          <a:xfrm>
            <a:off x="8686800" y="5559552"/>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73"/>
          <p:cNvSpPr txBox="1"/>
          <p:nvPr/>
        </p:nvSpPr>
        <p:spPr>
          <a:xfrm>
            <a:off x="8686800" y="5559552"/>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5</a:t>
            </a:r>
          </a:p>
        </p:txBody>
      </p:sp>
      <p:sp>
        <p:nvSpPr>
          <p:cNvPr id="175" name="Shape 174"/>
          <p:cNvSpPr/>
          <p:nvPr/>
        </p:nvSpPr>
        <p:spPr>
          <a:xfrm>
            <a:off x="9326880" y="1115568"/>
            <a:ext cx="2450592" cy="52029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75"/>
          <p:cNvSpPr txBox="1"/>
          <p:nvPr/>
        </p:nvSpPr>
        <p:spPr>
          <a:xfrm>
            <a:off x="9436607" y="1207008"/>
            <a:ext cx="2231136" cy="128016"/>
          </a:xfrm>
          <a:prstGeom prst="rect">
            <a:avLst/>
          </a:prstGeom>
          <a:noFill/>
        </p:spPr>
        <p:txBody>
          <a:bodyPr wrap="square" lIns="0" rIns="0" tIns="0" bIns="0" anchor="ctr">
            <a:spAutoFit/>
          </a:bodyPr>
          <a:lstStyle/>
          <a:p>
            <a:r>
              <a:rPr sz="650" b="1" i="0" spc="150">
                <a:solidFill>
                  <a:srgbClr val="000000"/>
                </a:solidFill>
                <a:latin typeface="Trenda IG Text"/>
              </a:rPr>
              <a:t>CLIENT QUESTIONS · WHERE TO POINT</a:t>
            </a:r>
          </a:p>
        </p:txBody>
      </p:sp>
      <p:sp>
        <p:nvSpPr>
          <p:cNvPr id="177" name="Shape 176"/>
          <p:cNvSpPr/>
          <p:nvPr/>
        </p:nvSpPr>
        <p:spPr>
          <a:xfrm>
            <a:off x="9436607" y="1394460"/>
            <a:ext cx="137160" cy="13716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 177"/>
          <p:cNvSpPr txBox="1"/>
          <p:nvPr/>
        </p:nvSpPr>
        <p:spPr>
          <a:xfrm>
            <a:off x="9436607" y="1394460"/>
            <a:ext cx="137160" cy="137160"/>
          </a:xfrm>
          <a:prstGeom prst="rect">
            <a:avLst/>
          </a:prstGeom>
          <a:noFill/>
        </p:spPr>
        <p:txBody>
          <a:bodyPr wrap="square" lIns="0" rIns="0" tIns="0" bIns="0" anchor="ctr">
            <a:spAutoFit/>
          </a:bodyPr>
          <a:lstStyle/>
          <a:p>
            <a:pPr algn="ctr"/>
            <a:r>
              <a:rPr sz="750" b="1" i="0">
                <a:solidFill>
                  <a:srgbClr val="FFFFFF"/>
                </a:solidFill>
                <a:latin typeface="Trenda IG Text"/>
              </a:rPr>
              <a:t>n</a:t>
            </a:r>
          </a:p>
        </p:txBody>
      </p:sp>
      <p:sp>
        <p:nvSpPr>
          <p:cNvPr id="179" name="Text 178"/>
          <p:cNvSpPr txBox="1"/>
          <p:nvPr/>
        </p:nvSpPr>
        <p:spPr>
          <a:xfrm>
            <a:off x="9610344" y="1389888"/>
            <a:ext cx="2084832" cy="146304"/>
          </a:xfrm>
          <a:prstGeom prst="rect">
            <a:avLst/>
          </a:prstGeom>
          <a:noFill/>
        </p:spPr>
        <p:txBody>
          <a:bodyPr wrap="square" lIns="0" rIns="0" tIns="0" bIns="0" anchor="ctr">
            <a:spAutoFit/>
          </a:bodyPr>
          <a:lstStyle/>
          <a:p>
            <a:r>
              <a:rPr sz="650" b="0" i="0">
                <a:solidFill>
                  <a:srgbClr val="595959"/>
                </a:solidFill>
                <a:latin typeface="Trenda IG Text"/>
              </a:rPr>
              <a:t>marker on the diagram   </a:t>
            </a:r>
            <a:r>
              <a:rPr sz="650" b="0" i="0">
                <a:solidFill>
                  <a:srgbClr val="000000"/>
                </a:solidFill>
                <a:latin typeface="Trenda IG Text"/>
              </a:rPr>
              <a:t>★</a:t>
            </a:r>
            <a:r>
              <a:rPr sz="650" b="0" i="0">
                <a:solidFill>
                  <a:srgbClr val="595959"/>
                </a:solidFill>
                <a:latin typeface="Trenda IG Text"/>
              </a:rPr>
              <a:t> x-factor</a:t>
            </a:r>
          </a:p>
        </p:txBody>
      </p:sp>
      <p:sp>
        <p:nvSpPr>
          <p:cNvPr id="180" name="Shape 179"/>
          <p:cNvSpPr/>
          <p:nvPr/>
        </p:nvSpPr>
        <p:spPr>
          <a:xfrm>
            <a:off x="9436607" y="1618488"/>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Text 180"/>
          <p:cNvSpPr txBox="1"/>
          <p:nvPr/>
        </p:nvSpPr>
        <p:spPr>
          <a:xfrm>
            <a:off x="9436607" y="1618488"/>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1</a:t>
            </a:r>
          </a:p>
        </p:txBody>
      </p:sp>
      <p:sp>
        <p:nvSpPr>
          <p:cNvPr id="182" name="Text 181"/>
          <p:cNvSpPr txBox="1"/>
          <p:nvPr/>
        </p:nvSpPr>
        <p:spPr>
          <a:xfrm>
            <a:off x="9692640" y="1609344"/>
            <a:ext cx="1993392" cy="155448"/>
          </a:xfrm>
          <a:prstGeom prst="rect">
            <a:avLst/>
          </a:prstGeom>
          <a:noFill/>
        </p:spPr>
        <p:txBody>
          <a:bodyPr wrap="square" lIns="0" rIns="0" tIns="0" bIns="0" anchor="t">
            <a:spAutoFit/>
          </a:bodyPr>
          <a:lstStyle/>
          <a:p>
            <a:r>
              <a:rPr sz="750" b="1" i="0">
                <a:solidFill>
                  <a:srgbClr val="000000"/>
                </a:solidFill>
                <a:latin typeface="Trenda IG Text"/>
              </a:rPr>
              <a:t>How do the agents work together?</a:t>
            </a:r>
          </a:p>
        </p:txBody>
      </p:sp>
      <p:sp>
        <p:nvSpPr>
          <p:cNvPr id="183" name="Text 182"/>
          <p:cNvSpPr txBox="1"/>
          <p:nvPr/>
        </p:nvSpPr>
        <p:spPr>
          <a:xfrm>
            <a:off x="9692640" y="1760220"/>
            <a:ext cx="1993392" cy="237744"/>
          </a:xfrm>
          <a:prstGeom prst="rect">
            <a:avLst/>
          </a:prstGeom>
          <a:noFill/>
        </p:spPr>
        <p:txBody>
          <a:bodyPr wrap="square" lIns="0" rIns="0" tIns="0" bIns="0" anchor="t">
            <a:spAutoFit/>
          </a:bodyPr>
          <a:lstStyle/>
          <a:p>
            <a:r>
              <a:rPr sz="650" b="0" i="0">
                <a:solidFill>
                  <a:srgbClr val="595959"/>
                </a:solidFill>
                <a:latin typeface="Trenda IG Text"/>
              </a:rPr>
              <a:t>Orchestrator routes, controller keeps state; every handoff is a reviewable artifact</a:t>
            </a:r>
          </a:p>
        </p:txBody>
      </p:sp>
      <p:sp>
        <p:nvSpPr>
          <p:cNvPr id="184" name="Shape 183"/>
          <p:cNvSpPr/>
          <p:nvPr/>
        </p:nvSpPr>
        <p:spPr>
          <a:xfrm>
            <a:off x="9436607" y="2034540"/>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Text 184"/>
          <p:cNvSpPr txBox="1"/>
          <p:nvPr/>
        </p:nvSpPr>
        <p:spPr>
          <a:xfrm>
            <a:off x="9436607" y="2034540"/>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2</a:t>
            </a:r>
          </a:p>
        </p:txBody>
      </p:sp>
      <p:sp>
        <p:nvSpPr>
          <p:cNvPr id="186" name="Text 185"/>
          <p:cNvSpPr txBox="1"/>
          <p:nvPr/>
        </p:nvSpPr>
        <p:spPr>
          <a:xfrm>
            <a:off x="9692640" y="2025396"/>
            <a:ext cx="1993392" cy="155448"/>
          </a:xfrm>
          <a:prstGeom prst="rect">
            <a:avLst/>
          </a:prstGeom>
          <a:noFill/>
        </p:spPr>
        <p:txBody>
          <a:bodyPr wrap="square" lIns="0" rIns="0" tIns="0" bIns="0" anchor="t">
            <a:spAutoFit/>
          </a:bodyPr>
          <a:lstStyle/>
          <a:p>
            <a:r>
              <a:rPr sz="750" b="1" i="0">
                <a:solidFill>
                  <a:srgbClr val="000000"/>
                </a:solidFill>
                <a:latin typeface="Trenda IG Text"/>
              </a:rPr>
              <a:t>How do you reach our systems?</a:t>
            </a:r>
          </a:p>
        </p:txBody>
      </p:sp>
      <p:sp>
        <p:nvSpPr>
          <p:cNvPr id="187" name="Text 186"/>
          <p:cNvSpPr txBox="1"/>
          <p:nvPr/>
        </p:nvSpPr>
        <p:spPr>
          <a:xfrm>
            <a:off x="9692640" y="2176272"/>
            <a:ext cx="1993392" cy="237744"/>
          </a:xfrm>
          <a:prstGeom prst="rect">
            <a:avLst/>
          </a:prstGeom>
          <a:noFill/>
        </p:spPr>
        <p:txBody>
          <a:bodyPr wrap="square" lIns="0" rIns="0" tIns="0" bIns="0" anchor="t">
            <a:spAutoFit/>
          </a:bodyPr>
          <a:lstStyle/>
          <a:p>
            <a:r>
              <a:rPr sz="650" b="0" i="0">
                <a:solidFill>
                  <a:srgbClr val="595959"/>
                </a:solidFill>
                <a:latin typeface="Trenda IG Text"/>
              </a:rPr>
              <a:t>Read-only connectors in; every write through the MCP gateway with a scoped identity</a:t>
            </a:r>
          </a:p>
        </p:txBody>
      </p:sp>
      <p:sp>
        <p:nvSpPr>
          <p:cNvPr id="188" name="Shape 187"/>
          <p:cNvSpPr/>
          <p:nvPr/>
        </p:nvSpPr>
        <p:spPr>
          <a:xfrm>
            <a:off x="9436607" y="2450592"/>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8"/>
          <p:cNvSpPr txBox="1"/>
          <p:nvPr/>
        </p:nvSpPr>
        <p:spPr>
          <a:xfrm>
            <a:off x="9436607" y="2450592"/>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3</a:t>
            </a:r>
          </a:p>
        </p:txBody>
      </p:sp>
      <p:sp>
        <p:nvSpPr>
          <p:cNvPr id="190" name="Text 189"/>
          <p:cNvSpPr txBox="1"/>
          <p:nvPr/>
        </p:nvSpPr>
        <p:spPr>
          <a:xfrm>
            <a:off x="9692640" y="2441448"/>
            <a:ext cx="1993392" cy="155448"/>
          </a:xfrm>
          <a:prstGeom prst="rect">
            <a:avLst/>
          </a:prstGeom>
          <a:noFill/>
        </p:spPr>
        <p:txBody>
          <a:bodyPr wrap="square" lIns="0" rIns="0" tIns="0" bIns="0" anchor="t">
            <a:spAutoFit/>
          </a:bodyPr>
          <a:lstStyle/>
          <a:p>
            <a:r>
              <a:rPr sz="750" b="1" i="0">
                <a:solidFill>
                  <a:srgbClr val="000000"/>
                </a:solidFill>
                <a:latin typeface="Trenda IG Text"/>
              </a:rPr>
              <a:t>How secure is the AI?</a:t>
            </a:r>
          </a:p>
        </p:txBody>
      </p:sp>
      <p:sp>
        <p:nvSpPr>
          <p:cNvPr id="191" name="Text 190"/>
          <p:cNvSpPr txBox="1"/>
          <p:nvPr/>
        </p:nvSpPr>
        <p:spPr>
          <a:xfrm>
            <a:off x="9692640" y="2592324"/>
            <a:ext cx="1993392" cy="237744"/>
          </a:xfrm>
          <a:prstGeom prst="rect">
            <a:avLst/>
          </a:prstGeom>
          <a:noFill/>
        </p:spPr>
        <p:txBody>
          <a:bodyPr wrap="square" lIns="0" rIns="0" tIns="0" bIns="0" anchor="t">
            <a:spAutoFit/>
          </a:bodyPr>
          <a:lstStyle/>
          <a:p>
            <a:r>
              <a:rPr sz="650" b="0" i="0">
                <a:solidFill>
                  <a:srgbClr val="595959"/>
                </a:solidFill>
                <a:latin typeface="Trenda IG Text"/>
              </a:rPr>
              <a:t>Three identities, no production credentials, PHI never sent, allowlisted model endpoint</a:t>
            </a:r>
          </a:p>
        </p:txBody>
      </p:sp>
      <p:sp>
        <p:nvSpPr>
          <p:cNvPr id="192" name="Shape 191"/>
          <p:cNvSpPr/>
          <p:nvPr/>
        </p:nvSpPr>
        <p:spPr>
          <a:xfrm>
            <a:off x="9436607" y="2866644"/>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Text 192"/>
          <p:cNvSpPr txBox="1"/>
          <p:nvPr/>
        </p:nvSpPr>
        <p:spPr>
          <a:xfrm>
            <a:off x="9436607" y="2866644"/>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4</a:t>
            </a:r>
          </a:p>
        </p:txBody>
      </p:sp>
      <p:sp>
        <p:nvSpPr>
          <p:cNvPr id="194" name="Text 193"/>
          <p:cNvSpPr txBox="1"/>
          <p:nvPr/>
        </p:nvSpPr>
        <p:spPr>
          <a:xfrm>
            <a:off x="9692640" y="2857500"/>
            <a:ext cx="1993392" cy="155448"/>
          </a:xfrm>
          <a:prstGeom prst="rect">
            <a:avLst/>
          </a:prstGeom>
          <a:noFill/>
        </p:spPr>
        <p:txBody>
          <a:bodyPr wrap="square" lIns="0" rIns="0" tIns="0" bIns="0" anchor="t">
            <a:spAutoFit/>
          </a:bodyPr>
          <a:lstStyle/>
          <a:p>
            <a:r>
              <a:rPr sz="750" b="1" i="0">
                <a:solidFill>
                  <a:srgbClr val="000000"/>
                </a:solidFill>
                <a:latin typeface="Trenda IG Text"/>
              </a:rPr>
              <a:t>What if the AI is wrong?</a:t>
            </a:r>
          </a:p>
        </p:txBody>
      </p:sp>
      <p:sp>
        <p:nvSpPr>
          <p:cNvPr id="195" name="Text 194"/>
          <p:cNvSpPr txBox="1"/>
          <p:nvPr/>
        </p:nvSpPr>
        <p:spPr>
          <a:xfrm>
            <a:off x="9692640" y="3008376"/>
            <a:ext cx="1993392" cy="237744"/>
          </a:xfrm>
          <a:prstGeom prst="rect">
            <a:avLst/>
          </a:prstGeom>
          <a:noFill/>
        </p:spPr>
        <p:txBody>
          <a:bodyPr wrap="square" lIns="0" rIns="0" tIns="0" bIns="0" anchor="t">
            <a:spAutoFit/>
          </a:bodyPr>
          <a:lstStyle/>
          <a:p>
            <a:r>
              <a:rPr sz="650" b="0" i="0">
                <a:solidFill>
                  <a:srgbClr val="595959"/>
                </a:solidFill>
                <a:latin typeface="Trenda IG Text"/>
              </a:rPr>
              <a:t>It reads cited graph facts, not guesses; uncited claims are blocked; tests and people verify</a:t>
            </a:r>
          </a:p>
        </p:txBody>
      </p:sp>
      <p:sp>
        <p:nvSpPr>
          <p:cNvPr id="196" name="Shape 195"/>
          <p:cNvSpPr/>
          <p:nvPr/>
        </p:nvSpPr>
        <p:spPr>
          <a:xfrm>
            <a:off x="9436607" y="3282696"/>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Text 196"/>
          <p:cNvSpPr txBox="1"/>
          <p:nvPr/>
        </p:nvSpPr>
        <p:spPr>
          <a:xfrm>
            <a:off x="9436607" y="3282696"/>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5</a:t>
            </a:r>
          </a:p>
        </p:txBody>
      </p:sp>
      <p:sp>
        <p:nvSpPr>
          <p:cNvPr id="198" name="Text 197"/>
          <p:cNvSpPr txBox="1"/>
          <p:nvPr/>
        </p:nvSpPr>
        <p:spPr>
          <a:xfrm>
            <a:off x="9692640" y="3273552"/>
            <a:ext cx="1993392" cy="155448"/>
          </a:xfrm>
          <a:prstGeom prst="rect">
            <a:avLst/>
          </a:prstGeom>
          <a:noFill/>
        </p:spPr>
        <p:txBody>
          <a:bodyPr wrap="square" lIns="0" rIns="0" tIns="0" bIns="0" anchor="t">
            <a:spAutoFit/>
          </a:bodyPr>
          <a:lstStyle/>
          <a:p>
            <a:r>
              <a:rPr sz="750" b="1" i="0">
                <a:solidFill>
                  <a:srgbClr val="000000"/>
                </a:solidFill>
                <a:latin typeface="Trenda IG Text"/>
              </a:rPr>
              <a:t>How does it keep learning?</a:t>
            </a:r>
          </a:p>
        </p:txBody>
      </p:sp>
      <p:sp>
        <p:nvSpPr>
          <p:cNvPr id="199" name="Text 198"/>
          <p:cNvSpPr txBox="1"/>
          <p:nvPr/>
        </p:nvSpPr>
        <p:spPr>
          <a:xfrm>
            <a:off x="9692640" y="3424428"/>
            <a:ext cx="1993392" cy="237744"/>
          </a:xfrm>
          <a:prstGeom prst="rect">
            <a:avLst/>
          </a:prstGeom>
          <a:noFill/>
        </p:spPr>
        <p:txBody>
          <a:bodyPr wrap="square" lIns="0" rIns="0" tIns="0" bIns="0" anchor="t">
            <a:spAutoFit/>
          </a:bodyPr>
          <a:lstStyle/>
          <a:p>
            <a:r>
              <a:rPr sz="650" b="0" i="0">
                <a:solidFill>
                  <a:srgbClr val="595959"/>
                </a:solidFill>
                <a:latin typeface="Trenda IG Text"/>
              </a:rPr>
              <a:t>Evidence refreshes the graph, incidents become rules, rejections become evaluations</a:t>
            </a:r>
          </a:p>
        </p:txBody>
      </p:sp>
      <p:sp>
        <p:nvSpPr>
          <p:cNvPr id="200" name="Shape 199"/>
          <p:cNvSpPr/>
          <p:nvPr/>
        </p:nvSpPr>
        <p:spPr>
          <a:xfrm>
            <a:off x="9436607" y="3698748"/>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200"/>
          <p:cNvSpPr txBox="1"/>
          <p:nvPr/>
        </p:nvSpPr>
        <p:spPr>
          <a:xfrm>
            <a:off x="9436607" y="3698748"/>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6</a:t>
            </a:r>
          </a:p>
        </p:txBody>
      </p:sp>
      <p:sp>
        <p:nvSpPr>
          <p:cNvPr id="202" name="Text 201"/>
          <p:cNvSpPr txBox="1"/>
          <p:nvPr/>
        </p:nvSpPr>
        <p:spPr>
          <a:xfrm>
            <a:off x="9692640" y="3689604"/>
            <a:ext cx="1993392" cy="155448"/>
          </a:xfrm>
          <a:prstGeom prst="rect">
            <a:avLst/>
          </a:prstGeom>
          <a:noFill/>
        </p:spPr>
        <p:txBody>
          <a:bodyPr wrap="square" lIns="0" rIns="0" tIns="0" bIns="0" anchor="t">
            <a:spAutoFit/>
          </a:bodyPr>
          <a:lstStyle/>
          <a:p>
            <a:r>
              <a:rPr sz="750" b="1" i="0">
                <a:solidFill>
                  <a:srgbClr val="000000"/>
                </a:solidFill>
                <a:latin typeface="Trenda IG Text"/>
              </a:rPr>
              <a:t>Who controls the SDLC?</a:t>
            </a:r>
          </a:p>
        </p:txBody>
      </p:sp>
      <p:sp>
        <p:nvSpPr>
          <p:cNvPr id="203" name="Text 202"/>
          <p:cNvSpPr txBox="1"/>
          <p:nvPr/>
        </p:nvSpPr>
        <p:spPr>
          <a:xfrm>
            <a:off x="9692640" y="3840480"/>
            <a:ext cx="1993392" cy="237744"/>
          </a:xfrm>
          <a:prstGeom prst="rect">
            <a:avLst/>
          </a:prstGeom>
          <a:noFill/>
        </p:spPr>
        <p:txBody>
          <a:bodyPr wrap="square" lIns="0" rIns="0" tIns="0" bIns="0" anchor="t">
            <a:spAutoFit/>
          </a:bodyPr>
          <a:lstStyle/>
          <a:p>
            <a:r>
              <a:rPr sz="650" b="0" i="0">
                <a:solidFill>
                  <a:srgbClr val="595959"/>
                </a:solidFill>
                <a:latin typeface="Trenda IG Text"/>
              </a:rPr>
              <a:t>Named people own each gate; the controller enforces order; Copado path unchanged</a:t>
            </a:r>
          </a:p>
        </p:txBody>
      </p:sp>
      <p:sp>
        <p:nvSpPr>
          <p:cNvPr id="204" name="Shape 203"/>
          <p:cNvSpPr/>
          <p:nvPr/>
        </p:nvSpPr>
        <p:spPr>
          <a:xfrm>
            <a:off x="9436607" y="4114800"/>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204"/>
          <p:cNvSpPr txBox="1"/>
          <p:nvPr/>
        </p:nvSpPr>
        <p:spPr>
          <a:xfrm>
            <a:off x="9436607" y="4114800"/>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7</a:t>
            </a:r>
          </a:p>
        </p:txBody>
      </p:sp>
      <p:sp>
        <p:nvSpPr>
          <p:cNvPr id="206" name="Text 205"/>
          <p:cNvSpPr txBox="1"/>
          <p:nvPr/>
        </p:nvSpPr>
        <p:spPr>
          <a:xfrm>
            <a:off x="9692640" y="4105656"/>
            <a:ext cx="1993392" cy="155448"/>
          </a:xfrm>
          <a:prstGeom prst="rect">
            <a:avLst/>
          </a:prstGeom>
          <a:noFill/>
        </p:spPr>
        <p:txBody>
          <a:bodyPr wrap="square" lIns="0" rIns="0" tIns="0" bIns="0" anchor="t">
            <a:spAutoFit/>
          </a:bodyPr>
          <a:lstStyle/>
          <a:p>
            <a:r>
              <a:rPr sz="750" b="1" i="0">
                <a:solidFill>
                  <a:srgbClr val="000000"/>
                </a:solidFill>
                <a:latin typeface="Trenda IG Text"/>
              </a:rPr>
              <a:t>Why are you confident?</a:t>
            </a:r>
          </a:p>
        </p:txBody>
      </p:sp>
      <p:sp>
        <p:nvSpPr>
          <p:cNvPr id="207" name="Text 206"/>
          <p:cNvSpPr txBox="1"/>
          <p:nvPr/>
        </p:nvSpPr>
        <p:spPr>
          <a:xfrm>
            <a:off x="9692640" y="4256532"/>
            <a:ext cx="1993392" cy="237744"/>
          </a:xfrm>
          <a:prstGeom prst="rect">
            <a:avLst/>
          </a:prstGeom>
          <a:noFill/>
        </p:spPr>
        <p:txBody>
          <a:bodyPr wrap="square" lIns="0" rIns="0" tIns="0" bIns="0" anchor="t">
            <a:spAutoFit/>
          </a:bodyPr>
          <a:lstStyle/>
          <a:p>
            <a:r>
              <a:rPr sz="650" b="0" i="0">
                <a:solidFill>
                  <a:srgbClr val="595959"/>
                </a:solidFill>
                <a:latin typeface="Trenda IG Text"/>
              </a:rPr>
              <a:t>6 of 7 agents in use, graph POC running in the sandbox, patterns proven elsewhere</a:t>
            </a:r>
          </a:p>
        </p:txBody>
      </p:sp>
      <p:sp>
        <p:nvSpPr>
          <p:cNvPr id="208" name="Shape 207"/>
          <p:cNvSpPr/>
          <p:nvPr/>
        </p:nvSpPr>
        <p:spPr>
          <a:xfrm>
            <a:off x="9418319" y="4549140"/>
            <a:ext cx="2267712" cy="167792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208"/>
          <p:cNvSpPr/>
          <p:nvPr/>
        </p:nvSpPr>
        <p:spPr>
          <a:xfrm>
            <a:off x="9509759" y="4640579"/>
            <a:ext cx="146304" cy="146304"/>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209"/>
          <p:cNvSpPr txBox="1"/>
          <p:nvPr/>
        </p:nvSpPr>
        <p:spPr>
          <a:xfrm>
            <a:off x="9710928" y="4631436"/>
            <a:ext cx="1901952" cy="164592"/>
          </a:xfrm>
          <a:prstGeom prst="rect">
            <a:avLst/>
          </a:prstGeom>
          <a:noFill/>
        </p:spPr>
        <p:txBody>
          <a:bodyPr wrap="square" lIns="0" rIns="0" tIns="0" bIns="0" anchor="ctr">
            <a:spAutoFit/>
          </a:bodyPr>
          <a:lstStyle/>
          <a:p>
            <a:r>
              <a:rPr sz="650" b="1" i="0" spc="150">
                <a:solidFill>
                  <a:srgbClr val="FFFFFF"/>
                </a:solidFill>
                <a:latin typeface="Trenda IG Text"/>
              </a:rPr>
              <a:t>PROVEN ELSEWHERE</a:t>
            </a:r>
          </a:p>
        </p:txBody>
      </p:sp>
      <p:sp>
        <p:nvSpPr>
          <p:cNvPr id="211" name="Text 210"/>
          <p:cNvSpPr txBox="1"/>
          <p:nvPr/>
        </p:nvSpPr>
        <p:spPr>
          <a:xfrm>
            <a:off x="9509759" y="4860036"/>
            <a:ext cx="2103120" cy="1312164"/>
          </a:xfrm>
          <a:prstGeom prst="rect">
            <a:avLst/>
          </a:prstGeom>
          <a:noFill/>
        </p:spPr>
        <p:txBody>
          <a:bodyPr wrap="square" lIns="0" rIns="0" tIns="0" bIns="0" anchor="t">
            <a:spAutoFit/>
          </a:bodyPr>
          <a:lstStyle/>
          <a:p>
            <a:pPr>
              <a:spcAft>
                <a:spcPts val="300"/>
              </a:spcAft>
            </a:pPr>
            <a:r>
              <a:rPr sz="700" b="1" i="0">
                <a:solidFill>
                  <a:srgbClr val="FFFFFF"/>
                </a:solidFill>
                <a:latin typeface="Trenda IG Text"/>
              </a:rPr>
              <a:t>Agent on its own branch, people approve the PR</a:t>
            </a:r>
            <a:r>
              <a:rPr sz="700" b="0" i="0">
                <a:solidFill>
                  <a:srgbClr val="FFFFFF"/>
                </a:solidFill>
                <a:latin typeface="Trenda IG Text"/>
              </a:rPr>
              <a:t> · GitHub Copilot coding agent</a:t>
            </a:r>
          </a:p>
          <a:p>
            <a:pPr>
              <a:spcAft>
                <a:spcPts val="300"/>
              </a:spcAft>
            </a:pPr>
            <a:r>
              <a:rPr sz="700" b="1" i="0">
                <a:solidFill>
                  <a:srgbClr val="FFFFFF"/>
                </a:solidFill>
                <a:latin typeface="Trenda IG Text"/>
              </a:rPr>
              <a:t>Graph-grounded retrieval</a:t>
            </a:r>
            <a:r>
              <a:rPr sz="700" b="0" i="0">
                <a:solidFill>
                  <a:srgbClr val="FFFFFF"/>
                </a:solidFill>
                <a:latin typeface="Trenda IG Text"/>
              </a:rPr>
              <a:t> · Microsoft GraphRAG</a:t>
            </a:r>
          </a:p>
          <a:p>
            <a:pPr>
              <a:spcAft>
                <a:spcPts val="300"/>
              </a:spcAft>
            </a:pPr>
            <a:r>
              <a:rPr sz="700" b="1" i="0">
                <a:solidFill>
                  <a:srgbClr val="FFFFFF"/>
                </a:solidFill>
                <a:latin typeface="Trenda IG Text"/>
              </a:rPr>
              <a:t>Open tool protocol</a:t>
            </a:r>
            <a:r>
              <a:rPr sz="700" b="0" i="0">
                <a:solidFill>
                  <a:srgbClr val="FFFFFF"/>
                </a:solidFill>
                <a:latin typeface="Trenda IG Text"/>
              </a:rPr>
              <a:t> · MCP, supported by OpenAI Codex</a:t>
            </a:r>
          </a:p>
          <a:p>
            <a:pPr>
              <a:spcAft>
                <a:spcPts val="300"/>
              </a:spcAft>
            </a:pPr>
            <a:r>
              <a:rPr sz="700" b="1" i="0">
                <a:solidFill>
                  <a:srgbClr val="FFFFFF"/>
                </a:solidFill>
                <a:latin typeface="Trenda IG Text"/>
              </a:rPr>
              <a:t>Durable workflows</a:t>
            </a:r>
            <a:r>
              <a:rPr sz="700" b="0" i="0">
                <a:solidFill>
                  <a:srgbClr val="FFFFFF"/>
                </a:solidFill>
                <a:latin typeface="Trenda IG Text"/>
              </a:rPr>
              <a:t> · Temporal, Google Cloud Workflows</a:t>
            </a:r>
          </a:p>
          <a:p>
            <a:pPr>
              <a:spcAft>
                <a:spcPts val="300"/>
              </a:spcAft>
            </a:pPr>
            <a:r>
              <a:rPr sz="700" b="1" i="0">
                <a:solidFill>
                  <a:srgbClr val="FFFFFF"/>
                </a:solidFill>
                <a:latin typeface="Trenda IG Text"/>
              </a:rPr>
              <a:t>Policy as code, build provenance</a:t>
            </a:r>
            <a:r>
              <a:rPr sz="700" b="0" i="0">
                <a:solidFill>
                  <a:srgbClr val="FFFFFF"/>
                </a:solidFill>
                <a:latin typeface="Trenda IG Text"/>
              </a:rPr>
              <a:t> · OPA, SLSA</a:t>
            </a:r>
          </a:p>
          <a:p>
            <a:pPr>
              <a:spcAft>
                <a:spcPts val="300"/>
              </a:spcAft>
            </a:pPr>
            <a:r>
              <a:rPr sz="700" b="1" i="0">
                <a:solidFill>
                  <a:srgbClr val="FFD700"/>
                </a:solidFill>
                <a:latin typeface="Trenda IG Text"/>
              </a:rPr>
              <a:t>None of them knows the Ascension org. The graph and the Guardian are what we add.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MAD APPROACH · EXECUTION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Shape 4"/>
          <p:cNvSpPr/>
          <p:nvPr/>
        </p:nvSpPr>
        <p:spPr>
          <a:xfrm>
            <a:off x="411480" y="1115568"/>
            <a:ext cx="8732520"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15568"/>
            <a:ext cx="2011680" cy="310896"/>
          </a:xfrm>
          <a:prstGeom prst="rect">
            <a:avLst/>
          </a:prstGeom>
          <a:noFill/>
        </p:spPr>
        <p:txBody>
          <a:bodyPr wrap="square" lIns="0" rIns="0" tIns="0" bIns="0" anchor="ctr">
            <a:spAutoFit/>
          </a:bodyPr>
          <a:lstStyle/>
          <a:p>
            <a:r>
              <a:rPr sz="700" b="1" i="0" spc="150">
                <a:solidFill>
                  <a:srgbClr val="00D6F2"/>
                </a:solidFill>
                <a:latin typeface="Trenda IG Text"/>
              </a:rPr>
              <a:t>DURABLE RUN · ONE PER STORY</a:t>
            </a:r>
          </a:p>
        </p:txBody>
      </p:sp>
      <p:sp>
        <p:nvSpPr>
          <p:cNvPr id="7" name="Text 6"/>
          <p:cNvSpPr txBox="1"/>
          <p:nvPr/>
        </p:nvSpPr>
        <p:spPr>
          <a:xfrm>
            <a:off x="2514600" y="1115568"/>
            <a:ext cx="6217920" cy="310896"/>
          </a:xfrm>
          <a:prstGeom prst="rect">
            <a:avLst/>
          </a:prstGeom>
          <a:noFill/>
        </p:spPr>
        <p:txBody>
          <a:bodyPr wrap="square" lIns="0" rIns="0" tIns="0" bIns="0" anchor="ctr">
            <a:spAutoFit/>
          </a:bodyPr>
          <a:lstStyle/>
          <a:p>
            <a:r>
              <a:rPr sz="650" b="0" i="0">
                <a:solidFill>
                  <a:srgbClr val="FFFFFF"/>
                </a:solidFill>
                <a:latin typeface="Trenda IG Text"/>
              </a:rPr>
              <a:t>Checkpoint after every step · retry budgets · resumes where it stopped · the change passport grows with each step: story → snapshot → design → approvals → SHA → tests → deploy → outcome</a:t>
            </a:r>
          </a:p>
        </p:txBody>
      </p:sp>
      <p:sp>
        <p:nvSpPr>
          <p:cNvPr id="8" name="Shape 7"/>
          <p:cNvSpPr/>
          <p:nvPr/>
        </p:nvSpPr>
        <p:spPr>
          <a:xfrm>
            <a:off x="8869680" y="1179576"/>
            <a:ext cx="182880" cy="182880"/>
          </a:xfrm>
          <a:prstGeom prst="ellipse">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8869680" y="1179576"/>
            <a:ext cx="182880" cy="182880"/>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10" name="Shape 9"/>
          <p:cNvSpPr/>
          <p:nvPr/>
        </p:nvSpPr>
        <p:spPr>
          <a:xfrm>
            <a:off x="411480" y="1536192"/>
            <a:ext cx="2691384" cy="10789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84632" y="1609344"/>
            <a:ext cx="219456" cy="219456"/>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484632" y="1609344"/>
            <a:ext cx="219456" cy="219456"/>
          </a:xfrm>
          <a:prstGeom prst="rect">
            <a:avLst/>
          </a:prstGeom>
          <a:noFill/>
        </p:spPr>
        <p:txBody>
          <a:bodyPr wrap="square" lIns="0" rIns="0" tIns="0" bIns="0" anchor="ctr">
            <a:spAutoFit/>
          </a:bodyPr>
          <a:lstStyle/>
          <a:p>
            <a:pPr algn="ctr"/>
            <a:r>
              <a:rPr sz="700" b="1" i="0">
                <a:solidFill>
                  <a:srgbClr val="FFFFFF"/>
                </a:solidFill>
                <a:latin typeface="Trenda IG Text"/>
              </a:rPr>
              <a:t>01</a:t>
            </a:r>
          </a:p>
        </p:txBody>
      </p:sp>
      <p:sp>
        <p:nvSpPr>
          <p:cNvPr id="13" name="Text 12"/>
          <p:cNvSpPr txBox="1"/>
          <p:nvPr/>
        </p:nvSpPr>
        <p:spPr>
          <a:xfrm>
            <a:off x="758952" y="1600200"/>
            <a:ext cx="2279904" cy="237744"/>
          </a:xfrm>
          <a:prstGeom prst="rect">
            <a:avLst/>
          </a:prstGeom>
          <a:noFill/>
        </p:spPr>
        <p:txBody>
          <a:bodyPr wrap="square" lIns="0" rIns="0" tIns="0" bIns="0" anchor="ctr">
            <a:spAutoFit/>
          </a:bodyPr>
          <a:lstStyle/>
          <a:p>
            <a:r>
              <a:rPr sz="900" b="1" i="0">
                <a:solidFill>
                  <a:srgbClr val="000000"/>
                </a:solidFill>
                <a:latin typeface="Trenda IG Text"/>
              </a:rPr>
              <a:t>Understand the request</a:t>
            </a:r>
          </a:p>
        </p:txBody>
      </p:sp>
      <p:sp>
        <p:nvSpPr>
          <p:cNvPr id="14" name="Text 13"/>
          <p:cNvSpPr txBox="1"/>
          <p:nvPr/>
        </p:nvSpPr>
        <p:spPr>
          <a:xfrm>
            <a:off x="502920" y="1865376"/>
            <a:ext cx="2508504" cy="118872"/>
          </a:xfrm>
          <a:prstGeom prst="rect">
            <a:avLst/>
          </a:prstGeom>
          <a:noFill/>
        </p:spPr>
        <p:txBody>
          <a:bodyPr wrap="square" lIns="0" rIns="0" tIns="0" bIns="0" anchor="ctr">
            <a:spAutoFit/>
          </a:bodyPr>
          <a:lstStyle/>
          <a:p>
            <a:r>
              <a:rPr sz="600" b="1" i="0" spc="100">
                <a:solidFill>
                  <a:srgbClr val="00273B"/>
                </a:solidFill>
                <a:latin typeface="Trenda IG Text"/>
              </a:rPr>
              <a:t>REQUIREMENTS AGENT</a:t>
            </a:r>
          </a:p>
        </p:txBody>
      </p:sp>
      <p:sp>
        <p:nvSpPr>
          <p:cNvPr id="15" name="Text 14"/>
          <p:cNvSpPr txBox="1"/>
          <p:nvPr/>
        </p:nvSpPr>
        <p:spPr>
          <a:xfrm>
            <a:off x="502920" y="1993391"/>
            <a:ext cx="2508504" cy="274320"/>
          </a:xfrm>
          <a:prstGeom prst="rect">
            <a:avLst/>
          </a:prstGeom>
          <a:noFill/>
        </p:spPr>
        <p:txBody>
          <a:bodyPr wrap="square" lIns="0" rIns="0" tIns="0" bIns="0" anchor="t">
            <a:spAutoFit/>
          </a:bodyPr>
          <a:lstStyle/>
          <a:p>
            <a:r>
              <a:rPr sz="650" b="0" i="0">
                <a:solidFill>
                  <a:srgbClr val="000000"/>
                </a:solidFill>
                <a:latin typeface="Trenda IG Text"/>
              </a:rPr>
              <a:t>Approved Jira story starts the run. Drafts scope, acceptance criteria and open questions.</a:t>
            </a:r>
          </a:p>
        </p:txBody>
      </p:sp>
      <p:sp>
        <p:nvSpPr>
          <p:cNvPr id="16" name="Shape 15"/>
          <p:cNvSpPr/>
          <p:nvPr/>
        </p:nvSpPr>
        <p:spPr>
          <a:xfrm>
            <a:off x="502920" y="2286000"/>
            <a:ext cx="250850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6"/>
          <p:cNvSpPr txBox="1"/>
          <p:nvPr/>
        </p:nvSpPr>
        <p:spPr>
          <a:xfrm>
            <a:off x="557784" y="2286000"/>
            <a:ext cx="2417064" cy="137160"/>
          </a:xfrm>
          <a:prstGeom prst="rect">
            <a:avLst/>
          </a:prstGeom>
          <a:noFill/>
        </p:spPr>
        <p:txBody>
          <a:bodyPr wrap="square" lIns="0" rIns="0" tIns="0" bIns="0" anchor="ctr">
            <a:spAutoFit/>
          </a:bodyPr>
          <a:lstStyle/>
          <a:p>
            <a:r>
              <a:rPr sz="600" b="1" i="0">
                <a:solidFill>
                  <a:srgbClr val="000000"/>
                </a:solidFill>
                <a:latin typeface="Trenda IG Text"/>
              </a:rPr>
              <a:t>Output: </a:t>
            </a:r>
            <a:r>
              <a:rPr sz="600" b="0" i="0">
                <a:solidFill>
                  <a:srgbClr val="000000"/>
                </a:solidFill>
                <a:latin typeface="Trenda IG Text"/>
              </a:rPr>
              <a:t>agreed brief linked to source facts</a:t>
            </a:r>
          </a:p>
        </p:txBody>
      </p:sp>
      <p:sp>
        <p:nvSpPr>
          <p:cNvPr id="18" name="Shape 17"/>
          <p:cNvSpPr/>
          <p:nvPr/>
        </p:nvSpPr>
        <p:spPr>
          <a:xfrm>
            <a:off x="502920" y="2450591"/>
            <a:ext cx="250850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57784" y="2450591"/>
            <a:ext cx="2417064" cy="128016"/>
          </a:xfrm>
          <a:prstGeom prst="rect">
            <a:avLst/>
          </a:prstGeom>
          <a:noFill/>
        </p:spPr>
        <p:txBody>
          <a:bodyPr wrap="square" lIns="0" rIns="0" t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0" name="Shape 19"/>
          <p:cNvSpPr/>
          <p:nvPr/>
        </p:nvSpPr>
        <p:spPr>
          <a:xfrm>
            <a:off x="3432048" y="1536192"/>
            <a:ext cx="2691384" cy="10789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3505200" y="1609344"/>
            <a:ext cx="219456" cy="219456"/>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3505200" y="1609344"/>
            <a:ext cx="219456" cy="219456"/>
          </a:xfrm>
          <a:prstGeom prst="rect">
            <a:avLst/>
          </a:prstGeom>
          <a:noFill/>
        </p:spPr>
        <p:txBody>
          <a:bodyPr wrap="square" lIns="0" rIns="0" tIns="0" bIns="0" anchor="ctr">
            <a:spAutoFit/>
          </a:bodyPr>
          <a:lstStyle/>
          <a:p>
            <a:pPr algn="ctr"/>
            <a:r>
              <a:rPr sz="700" b="1" i="0">
                <a:solidFill>
                  <a:srgbClr val="FFFFFF"/>
                </a:solidFill>
                <a:latin typeface="Trenda IG Text"/>
              </a:rPr>
              <a:t>02</a:t>
            </a:r>
          </a:p>
        </p:txBody>
      </p:sp>
      <p:sp>
        <p:nvSpPr>
          <p:cNvPr id="23" name="Text 22"/>
          <p:cNvSpPr txBox="1"/>
          <p:nvPr/>
        </p:nvSpPr>
        <p:spPr>
          <a:xfrm>
            <a:off x="3779520" y="1600200"/>
            <a:ext cx="2279904" cy="237744"/>
          </a:xfrm>
          <a:prstGeom prst="rect">
            <a:avLst/>
          </a:prstGeom>
          <a:noFill/>
        </p:spPr>
        <p:txBody>
          <a:bodyPr wrap="square" lIns="0" rIns="0" tIns="0" bIns="0" anchor="ctr">
            <a:spAutoFit/>
          </a:bodyPr>
          <a:lstStyle/>
          <a:p>
            <a:r>
              <a:rPr sz="900" b="1" i="0">
                <a:solidFill>
                  <a:srgbClr val="000000"/>
                </a:solidFill>
                <a:latin typeface="Trenda IG Text"/>
              </a:rPr>
              <a:t>Design with evidence</a:t>
            </a:r>
          </a:p>
        </p:txBody>
      </p:sp>
      <p:sp>
        <p:nvSpPr>
          <p:cNvPr id="24" name="Text 23"/>
          <p:cNvSpPr txBox="1"/>
          <p:nvPr/>
        </p:nvSpPr>
        <p:spPr>
          <a:xfrm>
            <a:off x="3523488" y="1865376"/>
            <a:ext cx="2508504" cy="118872"/>
          </a:xfrm>
          <a:prstGeom prst="rect">
            <a:avLst/>
          </a:prstGeom>
          <a:noFill/>
        </p:spPr>
        <p:txBody>
          <a:bodyPr wrap="square" lIns="0" rIns="0" tIns="0" bIns="0" anchor="ctr">
            <a:spAutoFit/>
          </a:bodyPr>
          <a:lstStyle/>
          <a:p>
            <a:r>
              <a:rPr sz="600" b="1" i="0" spc="100">
                <a:solidFill>
                  <a:srgbClr val="00273B"/>
                </a:solidFill>
                <a:latin typeface="Trenda IG Text"/>
              </a:rPr>
              <a:t>ARCHITECT AGENT</a:t>
            </a:r>
          </a:p>
        </p:txBody>
      </p:sp>
      <p:sp>
        <p:nvSpPr>
          <p:cNvPr id="25" name="Text 24"/>
          <p:cNvSpPr txBox="1"/>
          <p:nvPr/>
        </p:nvSpPr>
        <p:spPr>
          <a:xfrm>
            <a:off x="3523488" y="1993391"/>
            <a:ext cx="2508504" cy="274320"/>
          </a:xfrm>
          <a:prstGeom prst="rect">
            <a:avLst/>
          </a:prstGeom>
          <a:noFill/>
        </p:spPr>
        <p:txBody>
          <a:bodyPr wrap="square" lIns="0" rIns="0" tIns="0" bIns="0" anchor="t">
            <a:spAutoFit/>
          </a:bodyPr>
          <a:lstStyle/>
          <a:p>
            <a:r>
              <a:rPr sz="650" b="0" i="0">
                <a:solidFill>
                  <a:srgbClr val="000000"/>
                </a:solidFill>
                <a:latin typeface="Trenda IG Text"/>
              </a:rPr>
              <a:t>Asks the graph: exists, reuse or impact? Sets risk tier and test scope; affected pods named.</a:t>
            </a:r>
          </a:p>
        </p:txBody>
      </p:sp>
      <p:sp>
        <p:nvSpPr>
          <p:cNvPr id="26" name="Shape 25"/>
          <p:cNvSpPr/>
          <p:nvPr/>
        </p:nvSpPr>
        <p:spPr>
          <a:xfrm>
            <a:off x="3523488" y="2286000"/>
            <a:ext cx="250850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6"/>
          <p:cNvSpPr txBox="1"/>
          <p:nvPr/>
        </p:nvSpPr>
        <p:spPr>
          <a:xfrm>
            <a:off x="3578352" y="2286000"/>
            <a:ext cx="2417064" cy="137160"/>
          </a:xfrm>
          <a:prstGeom prst="rect">
            <a:avLst/>
          </a:prstGeom>
          <a:noFill/>
        </p:spPr>
        <p:txBody>
          <a:bodyPr wrap="square" lIns="0" rIns="0" tIns="0" bIns="0" anchor="ctr">
            <a:spAutoFit/>
          </a:bodyPr>
          <a:lstStyle/>
          <a:p>
            <a:r>
              <a:rPr sz="600" b="1" i="0">
                <a:solidFill>
                  <a:srgbClr val="000000"/>
                </a:solidFill>
                <a:latin typeface="Trenda IG Text"/>
              </a:rPr>
              <a:t>Output: </a:t>
            </a:r>
            <a:r>
              <a:rPr sz="600" b="0" i="0">
                <a:solidFill>
                  <a:srgbClr val="000000"/>
                </a:solidFill>
                <a:latin typeface="Trenda IG Text"/>
              </a:rPr>
              <a:t>design + change plan with cited facts</a:t>
            </a:r>
          </a:p>
        </p:txBody>
      </p:sp>
      <p:sp>
        <p:nvSpPr>
          <p:cNvPr id="28" name="Shape 27"/>
          <p:cNvSpPr/>
          <p:nvPr/>
        </p:nvSpPr>
        <p:spPr>
          <a:xfrm>
            <a:off x="3523488" y="2450591"/>
            <a:ext cx="250850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8"/>
          <p:cNvSpPr txBox="1"/>
          <p:nvPr/>
        </p:nvSpPr>
        <p:spPr>
          <a:xfrm>
            <a:off x="3578352" y="2450591"/>
            <a:ext cx="2417064" cy="128016"/>
          </a:xfrm>
          <a:prstGeom prst="rect">
            <a:avLst/>
          </a:prstGeom>
          <a:noFill/>
        </p:spPr>
        <p:txBody>
          <a:bodyPr wrap="square" lIns="0" rIns="0" t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0" name="Shape 29"/>
          <p:cNvSpPr/>
          <p:nvPr/>
        </p:nvSpPr>
        <p:spPr>
          <a:xfrm>
            <a:off x="6452616" y="1536192"/>
            <a:ext cx="2691384" cy="10789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30"/>
          <p:cNvSpPr/>
          <p:nvPr/>
        </p:nvSpPr>
        <p:spPr>
          <a:xfrm>
            <a:off x="6525768" y="1609344"/>
            <a:ext cx="219456" cy="219456"/>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525768" y="1609344"/>
            <a:ext cx="219456" cy="219456"/>
          </a:xfrm>
          <a:prstGeom prst="rect">
            <a:avLst/>
          </a:prstGeom>
          <a:noFill/>
        </p:spPr>
        <p:txBody>
          <a:bodyPr wrap="square" lIns="0" rIns="0" tIns="0" bIns="0" anchor="ctr">
            <a:spAutoFit/>
          </a:bodyPr>
          <a:lstStyle/>
          <a:p>
            <a:pPr algn="ctr"/>
            <a:r>
              <a:rPr sz="700" b="1" i="0">
                <a:solidFill>
                  <a:srgbClr val="FFFFFF"/>
                </a:solidFill>
                <a:latin typeface="Trenda IG Text"/>
              </a:rPr>
              <a:t>03</a:t>
            </a:r>
          </a:p>
        </p:txBody>
      </p:sp>
      <p:sp>
        <p:nvSpPr>
          <p:cNvPr id="33" name="Text 32"/>
          <p:cNvSpPr txBox="1"/>
          <p:nvPr/>
        </p:nvSpPr>
        <p:spPr>
          <a:xfrm>
            <a:off x="6800088" y="1600200"/>
            <a:ext cx="2279904" cy="237744"/>
          </a:xfrm>
          <a:prstGeom prst="rect">
            <a:avLst/>
          </a:prstGeom>
          <a:noFill/>
        </p:spPr>
        <p:txBody>
          <a:bodyPr wrap="square" lIns="0" rIns="0" tIns="0" bIns="0" anchor="ctr">
            <a:spAutoFit/>
          </a:bodyPr>
          <a:lstStyle/>
          <a:p>
            <a:r>
              <a:rPr sz="900" b="1" i="0">
                <a:solidFill>
                  <a:srgbClr val="000000"/>
                </a:solidFill>
                <a:latin typeface="Trenda IG Text"/>
              </a:rPr>
              <a:t>Build in an isolated workspace</a:t>
            </a:r>
          </a:p>
        </p:txBody>
      </p:sp>
      <p:sp>
        <p:nvSpPr>
          <p:cNvPr id="34" name="Text 33"/>
          <p:cNvSpPr txBox="1"/>
          <p:nvPr/>
        </p:nvSpPr>
        <p:spPr>
          <a:xfrm>
            <a:off x="6544056" y="1865376"/>
            <a:ext cx="2508504" cy="118872"/>
          </a:xfrm>
          <a:prstGeom prst="rect">
            <a:avLst/>
          </a:prstGeom>
          <a:noFill/>
        </p:spPr>
        <p:txBody>
          <a:bodyPr wrap="square" lIns="0" rIns="0" tIns="0" bIns="0" anchor="ctr">
            <a:spAutoFit/>
          </a:bodyPr>
          <a:lstStyle/>
          <a:p>
            <a:r>
              <a:rPr sz="600" b="1" i="0" spc="100">
                <a:solidFill>
                  <a:srgbClr val="00273B"/>
                </a:solidFill>
                <a:latin typeface="Trenda IG Text"/>
              </a:rPr>
              <a:t>DEVELOPER AGENT · TEST AGENT DRAFTS CASES</a:t>
            </a:r>
          </a:p>
        </p:txBody>
      </p:sp>
      <p:sp>
        <p:nvSpPr>
          <p:cNvPr id="35" name="Text 34"/>
          <p:cNvSpPr txBox="1"/>
          <p:nvPr/>
        </p:nvSpPr>
        <p:spPr>
          <a:xfrm>
            <a:off x="6544056" y="1993391"/>
            <a:ext cx="2508504" cy="274320"/>
          </a:xfrm>
          <a:prstGeom prst="rect">
            <a:avLst/>
          </a:prstGeom>
          <a:noFill/>
        </p:spPr>
        <p:txBody>
          <a:bodyPr wrap="square" lIns="0" rIns="0" tIns="0" bIns="0" anchor="t">
            <a:spAutoFit/>
          </a:bodyPr>
          <a:lstStyle/>
          <a:p>
            <a:r>
              <a:rPr sz="650" b="0" i="0">
                <a:solidFill>
                  <a:srgbClr val="000000"/>
                </a:solidFill>
                <a:latin typeface="Trenda IG Text"/>
              </a:rPr>
              <a:t>DEV org and its own branch, scoped tools only. Test cases written from the design in parallel.</a:t>
            </a:r>
          </a:p>
        </p:txBody>
      </p:sp>
      <p:sp>
        <p:nvSpPr>
          <p:cNvPr id="36" name="Shape 35"/>
          <p:cNvSpPr/>
          <p:nvPr/>
        </p:nvSpPr>
        <p:spPr>
          <a:xfrm>
            <a:off x="6544056" y="2286000"/>
            <a:ext cx="250850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6598920" y="2286000"/>
            <a:ext cx="2417064" cy="137160"/>
          </a:xfrm>
          <a:prstGeom prst="rect">
            <a:avLst/>
          </a:prstGeom>
          <a:noFill/>
        </p:spPr>
        <p:txBody>
          <a:bodyPr wrap="square" lIns="0" rIns="0" tIns="0" bIns="0" anchor="ctr">
            <a:spAutoFit/>
          </a:bodyPr>
          <a:lstStyle/>
          <a:p>
            <a:r>
              <a:rPr sz="600" b="1" i="0">
                <a:solidFill>
                  <a:srgbClr val="000000"/>
                </a:solidFill>
                <a:latin typeface="Trenda IG Text"/>
              </a:rPr>
              <a:t>Output: </a:t>
            </a:r>
            <a:r>
              <a:rPr sz="600" b="0" i="0">
                <a:solidFill>
                  <a:srgbClr val="000000"/>
                </a:solidFill>
                <a:latin typeface="Trenda IG Text"/>
              </a:rPr>
              <a:t>pull request + versioned candidate (SHA)</a:t>
            </a:r>
          </a:p>
        </p:txBody>
      </p:sp>
      <p:sp>
        <p:nvSpPr>
          <p:cNvPr id="38" name="Shape 37"/>
          <p:cNvSpPr/>
          <p:nvPr/>
        </p:nvSpPr>
        <p:spPr>
          <a:xfrm>
            <a:off x="6544056" y="2450591"/>
            <a:ext cx="250850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598920" y="2450591"/>
            <a:ext cx="2417064" cy="128016"/>
          </a:xfrm>
          <a:prstGeom prst="rect">
            <a:avLst/>
          </a:prstGeom>
          <a:noFill/>
        </p:spPr>
        <p:txBody>
          <a:bodyPr wrap="square" lIns="0" rIns="0" tIns="0" bIns="0" anchor="ctr">
            <a:spAutoFit/>
          </a:bodyPr>
          <a:lstStyle/>
          <a:p>
            <a:r>
              <a:rPr sz="600" b="1" i="0" spc="100">
                <a:solidFill>
                  <a:srgbClr val="000000"/>
                </a:solidFill>
                <a:latin typeface="Trenda IG Text"/>
              </a:rPr>
              <a:t>AI-LED · GUARDIAN CHECKS EVERY COMMIT</a:t>
            </a:r>
          </a:p>
        </p:txBody>
      </p:sp>
      <p:sp>
        <p:nvSpPr>
          <p:cNvPr id="40" name="Shape 39"/>
          <p:cNvSpPr/>
          <p:nvPr/>
        </p:nvSpPr>
        <p:spPr>
          <a:xfrm>
            <a:off x="6452616" y="2734056"/>
            <a:ext cx="2691384" cy="10789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hape 40"/>
          <p:cNvSpPr/>
          <p:nvPr/>
        </p:nvSpPr>
        <p:spPr>
          <a:xfrm>
            <a:off x="6525768" y="2807208"/>
            <a:ext cx="219456" cy="219456"/>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6525768" y="2807208"/>
            <a:ext cx="219456" cy="219456"/>
          </a:xfrm>
          <a:prstGeom prst="rect">
            <a:avLst/>
          </a:prstGeom>
          <a:noFill/>
        </p:spPr>
        <p:txBody>
          <a:bodyPr wrap="square" lIns="0" rIns="0" tIns="0" bIns="0" anchor="ctr">
            <a:spAutoFit/>
          </a:bodyPr>
          <a:lstStyle/>
          <a:p>
            <a:pPr algn="ctr"/>
            <a:r>
              <a:rPr sz="700" b="1" i="0">
                <a:solidFill>
                  <a:srgbClr val="FFFFFF"/>
                </a:solidFill>
                <a:latin typeface="Trenda IG Text"/>
              </a:rPr>
              <a:t>04</a:t>
            </a:r>
          </a:p>
        </p:txBody>
      </p:sp>
      <p:sp>
        <p:nvSpPr>
          <p:cNvPr id="43" name="Text 42"/>
          <p:cNvSpPr txBox="1"/>
          <p:nvPr/>
        </p:nvSpPr>
        <p:spPr>
          <a:xfrm>
            <a:off x="6800088" y="2798064"/>
            <a:ext cx="2279904" cy="237744"/>
          </a:xfrm>
          <a:prstGeom prst="rect">
            <a:avLst/>
          </a:prstGeom>
          <a:noFill/>
        </p:spPr>
        <p:txBody>
          <a:bodyPr wrap="square" lIns="0" rIns="0" tIns="0" bIns="0" anchor="ctr">
            <a:spAutoFit/>
          </a:bodyPr>
          <a:lstStyle/>
          <a:p>
            <a:r>
              <a:rPr sz="900" b="1" i="0">
                <a:solidFill>
                  <a:srgbClr val="000000"/>
                </a:solidFill>
                <a:latin typeface="Trenda IG Text"/>
              </a:rPr>
              <a:t>Verify independently</a:t>
            </a:r>
          </a:p>
        </p:txBody>
      </p:sp>
      <p:sp>
        <p:nvSpPr>
          <p:cNvPr id="44" name="Text 43"/>
          <p:cNvSpPr txBox="1"/>
          <p:nvPr/>
        </p:nvSpPr>
        <p:spPr>
          <a:xfrm>
            <a:off x="6544056" y="3063240"/>
            <a:ext cx="2508504" cy="118872"/>
          </a:xfrm>
          <a:prstGeom prst="rect">
            <a:avLst/>
          </a:prstGeom>
          <a:noFill/>
        </p:spPr>
        <p:txBody>
          <a:bodyPr wrap="square" lIns="0" rIns="0" tIns="0" bIns="0" anchor="ctr">
            <a:spAutoFit/>
          </a:bodyPr>
          <a:lstStyle/>
          <a:p>
            <a:r>
              <a:rPr sz="600" b="1" i="0" spc="100">
                <a:solidFill>
                  <a:srgbClr val="00273B"/>
                </a:solidFill>
                <a:latin typeface="Trenda IG Text"/>
              </a:rPr>
              <a:t>REVIEW AGENT + TEST AGENT · PARALLEL</a:t>
            </a:r>
          </a:p>
        </p:txBody>
      </p:sp>
      <p:sp>
        <p:nvSpPr>
          <p:cNvPr id="45" name="Text 44"/>
          <p:cNvSpPr txBox="1"/>
          <p:nvPr/>
        </p:nvSpPr>
        <p:spPr>
          <a:xfrm>
            <a:off x="6544056" y="3191256"/>
            <a:ext cx="2508504" cy="274320"/>
          </a:xfrm>
          <a:prstGeom prst="rect">
            <a:avLst/>
          </a:prstGeom>
          <a:noFill/>
        </p:spPr>
        <p:txBody>
          <a:bodyPr wrap="square" lIns="0" rIns="0" tIns="0" bIns="0" anchor="t">
            <a:spAutoFit/>
          </a:bodyPr>
          <a:lstStyle/>
          <a:p>
            <a:r>
              <a:rPr sz="650" b="0" i="0">
                <a:solidFill>
                  <a:srgbClr val="000000"/>
                </a:solidFill>
                <a:latin typeface="Trenda IG Text"/>
              </a:rPr>
              <a:t>Code, access, security and standards; unit, contract and regression tests, bound to the SHA.</a:t>
            </a:r>
          </a:p>
        </p:txBody>
      </p:sp>
      <p:sp>
        <p:nvSpPr>
          <p:cNvPr id="46" name="Shape 45"/>
          <p:cNvSpPr/>
          <p:nvPr/>
        </p:nvSpPr>
        <p:spPr>
          <a:xfrm>
            <a:off x="6544056" y="3483864"/>
            <a:ext cx="250850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6"/>
          <p:cNvSpPr txBox="1"/>
          <p:nvPr/>
        </p:nvSpPr>
        <p:spPr>
          <a:xfrm>
            <a:off x="6598920" y="3483864"/>
            <a:ext cx="2417064" cy="137160"/>
          </a:xfrm>
          <a:prstGeom prst="rect">
            <a:avLst/>
          </a:prstGeom>
          <a:noFill/>
        </p:spPr>
        <p:txBody>
          <a:bodyPr wrap="square" lIns="0" rIns="0" tIns="0" bIns="0" anchor="ctr">
            <a:spAutoFit/>
          </a:bodyPr>
          <a:lstStyle/>
          <a:p>
            <a:r>
              <a:rPr sz="600" b="1" i="0">
                <a:solidFill>
                  <a:srgbClr val="000000"/>
                </a:solidFill>
                <a:latin typeface="Trenda IG Text"/>
              </a:rPr>
              <a:t>Output: </a:t>
            </a:r>
            <a:r>
              <a:rPr sz="600" b="0" i="0">
                <a:solidFill>
                  <a:srgbClr val="000000"/>
                </a:solidFill>
                <a:latin typeface="Trenda IG Text"/>
              </a:rPr>
              <a:t>findings + passing evidence on the SHA</a:t>
            </a:r>
          </a:p>
        </p:txBody>
      </p:sp>
      <p:sp>
        <p:nvSpPr>
          <p:cNvPr id="48" name="Shape 47"/>
          <p:cNvSpPr/>
          <p:nvPr/>
        </p:nvSpPr>
        <p:spPr>
          <a:xfrm>
            <a:off x="6544056" y="3648456"/>
            <a:ext cx="250850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6598920" y="3648456"/>
            <a:ext cx="2417064" cy="128016"/>
          </a:xfrm>
          <a:prstGeom prst="rect">
            <a:avLst/>
          </a:prstGeom>
          <a:noFill/>
        </p:spPr>
        <p:txBody>
          <a:bodyPr wrap="square" lIns="0" rIns="0" t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0" name="Shape 49"/>
          <p:cNvSpPr/>
          <p:nvPr/>
        </p:nvSpPr>
        <p:spPr>
          <a:xfrm>
            <a:off x="3432048" y="2734056"/>
            <a:ext cx="2691384" cy="10789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3505200" y="2807208"/>
            <a:ext cx="219456" cy="219456"/>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3505200" y="2807208"/>
            <a:ext cx="219456" cy="219456"/>
          </a:xfrm>
          <a:prstGeom prst="rect">
            <a:avLst/>
          </a:prstGeom>
          <a:noFill/>
        </p:spPr>
        <p:txBody>
          <a:bodyPr wrap="square" lIns="0" rIns="0" tIns="0" bIns="0" anchor="ctr">
            <a:spAutoFit/>
          </a:bodyPr>
          <a:lstStyle/>
          <a:p>
            <a:pPr algn="ctr"/>
            <a:r>
              <a:rPr sz="700" b="1" i="0">
                <a:solidFill>
                  <a:srgbClr val="FFFFFF"/>
                </a:solidFill>
                <a:latin typeface="Trenda IG Text"/>
              </a:rPr>
              <a:t>05</a:t>
            </a:r>
          </a:p>
        </p:txBody>
      </p:sp>
      <p:sp>
        <p:nvSpPr>
          <p:cNvPr id="53" name="Text 52"/>
          <p:cNvSpPr txBox="1"/>
          <p:nvPr/>
        </p:nvSpPr>
        <p:spPr>
          <a:xfrm>
            <a:off x="3779520" y="2798064"/>
            <a:ext cx="2279904" cy="237744"/>
          </a:xfrm>
          <a:prstGeom prst="rect">
            <a:avLst/>
          </a:prstGeom>
          <a:noFill/>
        </p:spPr>
        <p:txBody>
          <a:bodyPr wrap="square" lIns="0" rIns="0" tIns="0" bIns="0" anchor="ctr">
            <a:spAutoFit/>
          </a:bodyPr>
          <a:lstStyle/>
          <a:p>
            <a:r>
              <a:rPr sz="900" b="1" i="0">
                <a:solidFill>
                  <a:srgbClr val="000000"/>
                </a:solidFill>
                <a:latin typeface="Trenda IG Text"/>
              </a:rPr>
              <a:t>Promote and prove in UAT</a:t>
            </a:r>
          </a:p>
        </p:txBody>
      </p:sp>
      <p:sp>
        <p:nvSpPr>
          <p:cNvPr id="54" name="Text 53"/>
          <p:cNvSpPr txBox="1"/>
          <p:nvPr/>
        </p:nvSpPr>
        <p:spPr>
          <a:xfrm>
            <a:off x="3523488" y="3063240"/>
            <a:ext cx="2508504" cy="118872"/>
          </a:xfrm>
          <a:prstGeom prst="rect">
            <a:avLst/>
          </a:prstGeom>
          <a:noFill/>
        </p:spPr>
        <p:txBody>
          <a:bodyPr wrap="square" lIns="0" rIns="0" tIns="0" bIns="0" anchor="ctr">
            <a:spAutoFit/>
          </a:bodyPr>
          <a:lstStyle/>
          <a:p>
            <a:r>
              <a:rPr sz="600" b="1" i="0" spc="100">
                <a:solidFill>
                  <a:srgbClr val="00273B"/>
                </a:solidFill>
                <a:latin typeface="Trenda IG Text"/>
              </a:rPr>
              <a:t>RELEASE AGENT + TEST AGENT</a:t>
            </a:r>
          </a:p>
        </p:txBody>
      </p:sp>
      <p:sp>
        <p:nvSpPr>
          <p:cNvPr id="55" name="Text 54"/>
          <p:cNvSpPr txBox="1"/>
          <p:nvPr/>
        </p:nvSpPr>
        <p:spPr>
          <a:xfrm>
            <a:off x="3523488" y="3191256"/>
            <a:ext cx="2508504" cy="274320"/>
          </a:xfrm>
          <a:prstGeom prst="rect">
            <a:avLst/>
          </a:prstGeom>
          <a:noFill/>
        </p:spPr>
        <p:txBody>
          <a:bodyPr wrap="square" lIns="0" rIns="0" tIns="0" bIns="0" anchor="t">
            <a:spAutoFit/>
          </a:bodyPr>
          <a:lstStyle/>
          <a:p>
            <a:r>
              <a:rPr sz="650" b="0" i="0">
                <a:solidFill>
                  <a:srgbClr val="000000"/>
                </a:solidFill>
                <a:latin typeface="Trenda IG Text"/>
              </a:rPr>
              <a:t>Copado promotes the approved SHA to SIT / UAT; integration and cross-pod tests run.</a:t>
            </a:r>
          </a:p>
        </p:txBody>
      </p:sp>
      <p:sp>
        <p:nvSpPr>
          <p:cNvPr id="56" name="Shape 55"/>
          <p:cNvSpPr/>
          <p:nvPr/>
        </p:nvSpPr>
        <p:spPr>
          <a:xfrm>
            <a:off x="3523488" y="3483864"/>
            <a:ext cx="250850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578352" y="3483864"/>
            <a:ext cx="2417064" cy="137160"/>
          </a:xfrm>
          <a:prstGeom prst="rect">
            <a:avLst/>
          </a:prstGeom>
          <a:noFill/>
        </p:spPr>
        <p:txBody>
          <a:bodyPr wrap="square" lIns="0" rIns="0" tIns="0" bIns="0" anchor="ctr">
            <a:spAutoFit/>
          </a:bodyPr>
          <a:lstStyle/>
          <a:p>
            <a:r>
              <a:rPr sz="600" b="1" i="0">
                <a:solidFill>
                  <a:srgbClr val="000000"/>
                </a:solidFill>
                <a:latin typeface="Trenda IG Text"/>
              </a:rPr>
              <a:t>Output: </a:t>
            </a:r>
            <a:r>
              <a:rPr sz="600" b="0" i="0">
                <a:solidFill>
                  <a:srgbClr val="000000"/>
                </a:solidFill>
                <a:latin typeface="Trenda IG Text"/>
              </a:rPr>
              <a:t>UAT build + test evidence + defects</a:t>
            </a:r>
          </a:p>
        </p:txBody>
      </p:sp>
      <p:sp>
        <p:nvSpPr>
          <p:cNvPr id="58" name="Shape 57"/>
          <p:cNvSpPr/>
          <p:nvPr/>
        </p:nvSpPr>
        <p:spPr>
          <a:xfrm>
            <a:off x="3523488" y="3648456"/>
            <a:ext cx="250850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3578352" y="3648456"/>
            <a:ext cx="2417064" cy="128016"/>
          </a:xfrm>
          <a:prstGeom prst="rect">
            <a:avLst/>
          </a:prstGeom>
          <a:noFill/>
        </p:spPr>
        <p:txBody>
          <a:bodyPr wrap="square" lIns="0" rIns="0" tIns="0" bIns="0" anchor="ctr">
            <a:spAutoFit/>
          </a:bodyPr>
          <a:lstStyle/>
          <a:p>
            <a:r>
              <a:rPr sz="600" b="1" i="0" spc="100">
                <a:solidFill>
                  <a:srgbClr val="000000"/>
                </a:solidFill>
                <a:latin typeface="Trenda IG Text"/>
              </a:rPr>
              <a:t>AI-LED · NO PASSPORT, NO PROMOTION</a:t>
            </a:r>
          </a:p>
        </p:txBody>
      </p:sp>
      <p:sp>
        <p:nvSpPr>
          <p:cNvPr id="60" name="Shape 59"/>
          <p:cNvSpPr/>
          <p:nvPr/>
        </p:nvSpPr>
        <p:spPr>
          <a:xfrm>
            <a:off x="411480" y="2734056"/>
            <a:ext cx="2691384" cy="10789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60"/>
          <p:cNvSpPr/>
          <p:nvPr/>
        </p:nvSpPr>
        <p:spPr>
          <a:xfrm>
            <a:off x="484632" y="2807208"/>
            <a:ext cx="219456" cy="219456"/>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484632" y="2807208"/>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06</a:t>
            </a:r>
          </a:p>
        </p:txBody>
      </p:sp>
      <p:sp>
        <p:nvSpPr>
          <p:cNvPr id="63" name="Text 62"/>
          <p:cNvSpPr txBox="1"/>
          <p:nvPr/>
        </p:nvSpPr>
        <p:spPr>
          <a:xfrm>
            <a:off x="758952" y="2798064"/>
            <a:ext cx="2279904" cy="237744"/>
          </a:xfrm>
          <a:prstGeom prst="rect">
            <a:avLst/>
          </a:prstGeom>
          <a:noFill/>
        </p:spPr>
        <p:txBody>
          <a:bodyPr wrap="square" lIns="0" rIns="0" tIns="0" bIns="0" anchor="ctr">
            <a:spAutoFit/>
          </a:bodyPr>
          <a:lstStyle/>
          <a:p>
            <a:r>
              <a:rPr sz="900" b="1" i="0">
                <a:solidFill>
                  <a:srgbClr val="000000"/>
                </a:solidFill>
                <a:latin typeface="Trenda IG Text"/>
              </a:rPr>
              <a:t>Accept the business outcome</a:t>
            </a:r>
          </a:p>
        </p:txBody>
      </p:sp>
      <p:sp>
        <p:nvSpPr>
          <p:cNvPr id="64" name="Text 63"/>
          <p:cNvSpPr txBox="1"/>
          <p:nvPr/>
        </p:nvSpPr>
        <p:spPr>
          <a:xfrm>
            <a:off x="502920" y="3063240"/>
            <a:ext cx="2508504" cy="118872"/>
          </a:xfrm>
          <a:prstGeom prst="rect">
            <a:avLst/>
          </a:prstGeom>
          <a:noFill/>
        </p:spPr>
        <p:txBody>
          <a:bodyPr wrap="square" lIns="0" rIns="0" tIns="0" bIns="0" anchor="ctr">
            <a:spAutoFit/>
          </a:bodyPr>
          <a:lstStyle/>
          <a:p>
            <a:r>
              <a:rPr sz="600" b="1" i="0" spc="100">
                <a:solidFill>
                  <a:srgbClr val="000000"/>
                </a:solidFill>
                <a:latin typeface="Trenda IG Text"/>
              </a:rPr>
              <a:t>HUMAN BUSINESS OWNERS</a:t>
            </a:r>
          </a:p>
        </p:txBody>
      </p:sp>
      <p:sp>
        <p:nvSpPr>
          <p:cNvPr id="65" name="Text 64"/>
          <p:cNvSpPr txBox="1"/>
          <p:nvPr/>
        </p:nvSpPr>
        <p:spPr>
          <a:xfrm>
            <a:off x="502920" y="3191256"/>
            <a:ext cx="2508504" cy="274320"/>
          </a:xfrm>
          <a:prstGeom prst="rect">
            <a:avLst/>
          </a:prstGeom>
          <a:noFill/>
        </p:spPr>
        <p:txBody>
          <a:bodyPr wrap="square" lIns="0" rIns="0" tIns="0" bIns="0" anchor="t">
            <a:spAutoFit/>
          </a:bodyPr>
          <a:lstStyle/>
          <a:p>
            <a:r>
              <a:rPr sz="650" b="0" i="0">
                <a:solidFill>
                  <a:srgbClr val="000000"/>
                </a:solidFill>
                <a:latin typeface="Trenda IG Text"/>
              </a:rPr>
              <a:t>Acceptance criteria and workflows checked; clinical / legal review where needed. Defects return to this run.</a:t>
            </a:r>
          </a:p>
        </p:txBody>
      </p:sp>
      <p:sp>
        <p:nvSpPr>
          <p:cNvPr id="66" name="Shape 65"/>
          <p:cNvSpPr/>
          <p:nvPr/>
        </p:nvSpPr>
        <p:spPr>
          <a:xfrm>
            <a:off x="502920" y="3483864"/>
            <a:ext cx="250850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557784" y="3483864"/>
            <a:ext cx="2417064" cy="137160"/>
          </a:xfrm>
          <a:prstGeom prst="rect">
            <a:avLst/>
          </a:prstGeom>
          <a:noFill/>
        </p:spPr>
        <p:txBody>
          <a:bodyPr wrap="square" lIns="0" rIns="0" tIns="0" bIns="0" anchor="ctr">
            <a:spAutoFit/>
          </a:bodyPr>
          <a:lstStyle/>
          <a:p>
            <a:r>
              <a:rPr sz="600" b="1" i="0">
                <a:solidFill>
                  <a:srgbClr val="000000"/>
                </a:solidFill>
                <a:latin typeface="Trenda IG Text"/>
              </a:rPr>
              <a:t>Output: </a:t>
            </a:r>
            <a:r>
              <a:rPr sz="600" b="0" i="0">
                <a:solidFill>
                  <a:srgbClr val="000000"/>
                </a:solidFill>
                <a:latin typeface="Trenda IG Text"/>
              </a:rPr>
              <a:t>UAT sign-off</a:t>
            </a:r>
          </a:p>
        </p:txBody>
      </p:sp>
      <p:sp>
        <p:nvSpPr>
          <p:cNvPr id="68" name="Shape 67"/>
          <p:cNvSpPr/>
          <p:nvPr/>
        </p:nvSpPr>
        <p:spPr>
          <a:xfrm>
            <a:off x="502920" y="3648456"/>
            <a:ext cx="250850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8"/>
          <p:cNvSpPr txBox="1"/>
          <p:nvPr/>
        </p:nvSpPr>
        <p:spPr>
          <a:xfrm>
            <a:off x="557784" y="3648456"/>
            <a:ext cx="2417064" cy="128016"/>
          </a:xfrm>
          <a:prstGeom prst="rect">
            <a:avLst/>
          </a:prstGeom>
          <a:noFill/>
        </p:spPr>
        <p:txBody>
          <a:bodyPr wrap="square" lIns="0" rIns="0" t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0" name="Shape 69"/>
          <p:cNvSpPr/>
          <p:nvPr/>
        </p:nvSpPr>
        <p:spPr>
          <a:xfrm>
            <a:off x="411480" y="3931920"/>
            <a:ext cx="2691384" cy="10789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70"/>
          <p:cNvSpPr/>
          <p:nvPr/>
        </p:nvSpPr>
        <p:spPr>
          <a:xfrm>
            <a:off x="484632" y="4005072"/>
            <a:ext cx="219456" cy="219456"/>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484632" y="4005072"/>
            <a:ext cx="219456" cy="219456"/>
          </a:xfrm>
          <a:prstGeom prst="rect">
            <a:avLst/>
          </a:prstGeom>
          <a:noFill/>
        </p:spPr>
        <p:txBody>
          <a:bodyPr wrap="square" lIns="0" rIns="0" tIns="0" bIns="0" anchor="ctr">
            <a:spAutoFit/>
          </a:bodyPr>
          <a:lstStyle/>
          <a:p>
            <a:pPr algn="ctr"/>
            <a:r>
              <a:rPr sz="700" b="1" i="0">
                <a:solidFill>
                  <a:srgbClr val="FFFFFF"/>
                </a:solidFill>
                <a:latin typeface="Trenda IG Text"/>
              </a:rPr>
              <a:t>07</a:t>
            </a:r>
          </a:p>
        </p:txBody>
      </p:sp>
      <p:sp>
        <p:nvSpPr>
          <p:cNvPr id="73" name="Text 72"/>
          <p:cNvSpPr txBox="1"/>
          <p:nvPr/>
        </p:nvSpPr>
        <p:spPr>
          <a:xfrm>
            <a:off x="758952" y="3995928"/>
            <a:ext cx="2279904" cy="237744"/>
          </a:xfrm>
          <a:prstGeom prst="rect">
            <a:avLst/>
          </a:prstGeom>
          <a:noFill/>
        </p:spPr>
        <p:txBody>
          <a:bodyPr wrap="square" lIns="0" rIns="0" tIns="0" bIns="0" anchor="ctr">
            <a:spAutoFit/>
          </a:bodyPr>
          <a:lstStyle/>
          <a:p>
            <a:r>
              <a:rPr sz="900" b="1" i="0">
                <a:solidFill>
                  <a:srgbClr val="000000"/>
                </a:solidFill>
                <a:latin typeface="Trenda IG Text"/>
              </a:rPr>
              <a:t>Prepare a release that can recover</a:t>
            </a:r>
          </a:p>
        </p:txBody>
      </p:sp>
      <p:sp>
        <p:nvSpPr>
          <p:cNvPr id="74" name="Text 73"/>
          <p:cNvSpPr txBox="1"/>
          <p:nvPr/>
        </p:nvSpPr>
        <p:spPr>
          <a:xfrm>
            <a:off x="502920" y="4261104"/>
            <a:ext cx="2508504" cy="118872"/>
          </a:xfrm>
          <a:prstGeom prst="rect">
            <a:avLst/>
          </a:prstGeom>
          <a:noFill/>
        </p:spPr>
        <p:txBody>
          <a:bodyPr wrap="square" lIns="0" rIns="0" tIns="0" bIns="0" anchor="ctr">
            <a:spAutoFit/>
          </a:bodyPr>
          <a:lstStyle/>
          <a:p>
            <a:r>
              <a:rPr sz="600" b="1" i="0" spc="100">
                <a:solidFill>
                  <a:srgbClr val="00273B"/>
                </a:solidFill>
                <a:latin typeface="Trenda IG Text"/>
              </a:rPr>
              <a:t>RELEASE AGENT</a:t>
            </a:r>
          </a:p>
        </p:txBody>
      </p:sp>
      <p:sp>
        <p:nvSpPr>
          <p:cNvPr id="75" name="Text 74"/>
          <p:cNvSpPr txBox="1"/>
          <p:nvPr/>
        </p:nvSpPr>
        <p:spPr>
          <a:xfrm>
            <a:off x="502920" y="4389120"/>
            <a:ext cx="2508504" cy="274320"/>
          </a:xfrm>
          <a:prstGeom prst="rect">
            <a:avLst/>
          </a:prstGeom>
          <a:noFill/>
        </p:spPr>
        <p:txBody>
          <a:bodyPr wrap="square" lIns="0" rIns="0" tIns="0" bIns="0" anchor="t">
            <a:spAutoFit/>
          </a:bodyPr>
          <a:lstStyle/>
          <a:p>
            <a:r>
              <a:rPr sz="650" b="0" i="0">
                <a:solidFill>
                  <a:srgbClr val="000000"/>
                </a:solidFill>
                <a:latin typeface="Trenda IG Text"/>
              </a:rPr>
              <a:t>Packages the approved version, runbook and rollback plan; re-checks source drift and dependencies.</a:t>
            </a:r>
          </a:p>
        </p:txBody>
      </p:sp>
      <p:sp>
        <p:nvSpPr>
          <p:cNvPr id="76" name="Shape 75"/>
          <p:cNvSpPr/>
          <p:nvPr/>
        </p:nvSpPr>
        <p:spPr>
          <a:xfrm>
            <a:off x="502920" y="4681728"/>
            <a:ext cx="250850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557784" y="4681728"/>
            <a:ext cx="2417064" cy="137160"/>
          </a:xfrm>
          <a:prstGeom prst="rect">
            <a:avLst/>
          </a:prstGeom>
          <a:noFill/>
        </p:spPr>
        <p:txBody>
          <a:bodyPr wrap="square" lIns="0" rIns="0" tIns="0" bIns="0" anchor="ctr">
            <a:spAutoFit/>
          </a:bodyPr>
          <a:lstStyle/>
          <a:p>
            <a:r>
              <a:rPr sz="600" b="1" i="0">
                <a:solidFill>
                  <a:srgbClr val="000000"/>
                </a:solidFill>
                <a:latin typeface="Trenda IG Text"/>
              </a:rPr>
              <a:t>Output: </a:t>
            </a:r>
            <a:r>
              <a:rPr sz="600" b="0" i="0">
                <a:solidFill>
                  <a:srgbClr val="000000"/>
                </a:solidFill>
                <a:latin typeface="Trenda IG Text"/>
              </a:rPr>
              <a:t>release bundle + CAB evidence</a:t>
            </a:r>
          </a:p>
        </p:txBody>
      </p:sp>
      <p:sp>
        <p:nvSpPr>
          <p:cNvPr id="78" name="Shape 77"/>
          <p:cNvSpPr/>
          <p:nvPr/>
        </p:nvSpPr>
        <p:spPr>
          <a:xfrm>
            <a:off x="502920" y="4846320"/>
            <a:ext cx="250850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557784" y="4846320"/>
            <a:ext cx="2417064" cy="128016"/>
          </a:xfrm>
          <a:prstGeom prst="rect">
            <a:avLst/>
          </a:prstGeom>
          <a:noFill/>
        </p:spPr>
        <p:txBody>
          <a:bodyPr wrap="square" lIns="0" rIns="0" tIns="0" bIns="0" anchor="ctr">
            <a:spAutoFit/>
          </a:bodyPr>
          <a:lstStyle/>
          <a:p>
            <a:r>
              <a:rPr sz="600" b="1" i="0" spc="100">
                <a:solidFill>
                  <a:srgbClr val="000000"/>
                </a:solidFill>
                <a:latin typeface="Trenda IG Text"/>
              </a:rPr>
              <a:t>AI-LED · ROLLBACK PLAN REQUIRED</a:t>
            </a:r>
          </a:p>
        </p:txBody>
      </p:sp>
      <p:sp>
        <p:nvSpPr>
          <p:cNvPr id="80" name="Shape 79"/>
          <p:cNvSpPr/>
          <p:nvPr/>
        </p:nvSpPr>
        <p:spPr>
          <a:xfrm>
            <a:off x="3432048" y="3931920"/>
            <a:ext cx="2691384" cy="10789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80"/>
          <p:cNvSpPr/>
          <p:nvPr/>
        </p:nvSpPr>
        <p:spPr>
          <a:xfrm>
            <a:off x="3505200" y="4005072"/>
            <a:ext cx="219456" cy="219456"/>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3505200" y="400507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08</a:t>
            </a:r>
          </a:p>
        </p:txBody>
      </p:sp>
      <p:sp>
        <p:nvSpPr>
          <p:cNvPr id="83" name="Text 82"/>
          <p:cNvSpPr txBox="1"/>
          <p:nvPr/>
        </p:nvSpPr>
        <p:spPr>
          <a:xfrm>
            <a:off x="3779520" y="3995928"/>
            <a:ext cx="2279904" cy="237744"/>
          </a:xfrm>
          <a:prstGeom prst="rect">
            <a:avLst/>
          </a:prstGeom>
          <a:noFill/>
        </p:spPr>
        <p:txBody>
          <a:bodyPr wrap="square" lIns="0" rIns="0" tIns="0" bIns="0" anchor="ctr">
            <a:spAutoFit/>
          </a:bodyPr>
          <a:lstStyle/>
          <a:p>
            <a:r>
              <a:rPr sz="900" b="1" i="0">
                <a:solidFill>
                  <a:srgbClr val="000000"/>
                </a:solidFill>
                <a:latin typeface="Trenda IG Text"/>
              </a:rPr>
              <a:t>Authorize production release</a:t>
            </a:r>
          </a:p>
        </p:txBody>
      </p:sp>
      <p:sp>
        <p:nvSpPr>
          <p:cNvPr id="84" name="Text 83"/>
          <p:cNvSpPr txBox="1"/>
          <p:nvPr/>
        </p:nvSpPr>
        <p:spPr>
          <a:xfrm>
            <a:off x="3523488" y="4261104"/>
            <a:ext cx="2508504" cy="118872"/>
          </a:xfrm>
          <a:prstGeom prst="rect">
            <a:avLst/>
          </a:prstGeom>
          <a:noFill/>
        </p:spPr>
        <p:txBody>
          <a:bodyPr wrap="square" lIns="0" rIns="0" tIns="0" bIns="0" anchor="ctr">
            <a:spAutoFit/>
          </a:bodyPr>
          <a:lstStyle/>
          <a:p>
            <a:r>
              <a:rPr sz="600" b="1" i="0" spc="100">
                <a:solidFill>
                  <a:srgbClr val="000000"/>
                </a:solidFill>
                <a:latin typeface="Trenda IG Text"/>
              </a:rPr>
              <a:t>CAB + PLATFORM RELEASE OWNER</a:t>
            </a:r>
          </a:p>
        </p:txBody>
      </p:sp>
      <p:sp>
        <p:nvSpPr>
          <p:cNvPr id="85" name="Text 84"/>
          <p:cNvSpPr txBox="1"/>
          <p:nvPr/>
        </p:nvSpPr>
        <p:spPr>
          <a:xfrm>
            <a:off x="3523488" y="4389120"/>
            <a:ext cx="2508504" cy="274320"/>
          </a:xfrm>
          <a:prstGeom prst="rect">
            <a:avLst/>
          </a:prstGeom>
          <a:noFill/>
        </p:spPr>
        <p:txBody>
          <a:bodyPr wrap="square" lIns="0" rIns="0" tIns="0" bIns="0" anchor="t">
            <a:spAutoFit/>
          </a:bodyPr>
          <a:lstStyle/>
          <a:p>
            <a:r>
              <a:rPr sz="650" b="0" i="0">
                <a:solidFill>
                  <a:srgbClr val="000000"/>
                </a:solidFill>
                <a:latin typeface="Trenda IG Text"/>
              </a:rPr>
              <a:t>Approve window, risk and recovery. Owner-controlled CI/CD deploys; campaign activation stays human.</a:t>
            </a:r>
          </a:p>
        </p:txBody>
      </p:sp>
      <p:sp>
        <p:nvSpPr>
          <p:cNvPr id="86" name="Shape 85"/>
          <p:cNvSpPr/>
          <p:nvPr/>
        </p:nvSpPr>
        <p:spPr>
          <a:xfrm>
            <a:off x="3523488" y="4681728"/>
            <a:ext cx="250850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6"/>
          <p:cNvSpPr txBox="1"/>
          <p:nvPr/>
        </p:nvSpPr>
        <p:spPr>
          <a:xfrm>
            <a:off x="3578352" y="4681728"/>
            <a:ext cx="2417064" cy="137160"/>
          </a:xfrm>
          <a:prstGeom prst="rect">
            <a:avLst/>
          </a:prstGeom>
          <a:noFill/>
        </p:spPr>
        <p:txBody>
          <a:bodyPr wrap="square" lIns="0" rIns="0" tIns="0" bIns="0" anchor="ctr">
            <a:spAutoFit/>
          </a:bodyPr>
          <a:lstStyle/>
          <a:p>
            <a:r>
              <a:rPr sz="600" b="1" i="0">
                <a:solidFill>
                  <a:srgbClr val="000000"/>
                </a:solidFill>
                <a:latin typeface="Trenda IG Text"/>
              </a:rPr>
              <a:t>Output: </a:t>
            </a:r>
            <a:r>
              <a:rPr sz="600" b="0" i="0">
                <a:solidFill>
                  <a:srgbClr val="000000"/>
                </a:solidFill>
                <a:latin typeface="Trenda IG Text"/>
              </a:rPr>
              <a:t>authorized production release</a:t>
            </a:r>
          </a:p>
        </p:txBody>
      </p:sp>
      <p:sp>
        <p:nvSpPr>
          <p:cNvPr id="88" name="Shape 87"/>
          <p:cNvSpPr/>
          <p:nvPr/>
        </p:nvSpPr>
        <p:spPr>
          <a:xfrm>
            <a:off x="3523488" y="4846320"/>
            <a:ext cx="250850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3578352" y="4846320"/>
            <a:ext cx="2417064" cy="128016"/>
          </a:xfrm>
          <a:prstGeom prst="rect">
            <a:avLst/>
          </a:prstGeom>
          <a:noFill/>
        </p:spPr>
        <p:txBody>
          <a:bodyPr wrap="square" lIns="0" rIns="0" t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0" name="Shape 89"/>
          <p:cNvSpPr/>
          <p:nvPr/>
        </p:nvSpPr>
        <p:spPr>
          <a:xfrm>
            <a:off x="6452616" y="3931920"/>
            <a:ext cx="2691384" cy="10789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6525768" y="4005072"/>
            <a:ext cx="219456" cy="219456"/>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6525768" y="4005072"/>
            <a:ext cx="219456" cy="219456"/>
          </a:xfrm>
          <a:prstGeom prst="rect">
            <a:avLst/>
          </a:prstGeom>
          <a:noFill/>
        </p:spPr>
        <p:txBody>
          <a:bodyPr wrap="square" lIns="0" rIns="0" tIns="0" bIns="0" anchor="ctr">
            <a:spAutoFit/>
          </a:bodyPr>
          <a:lstStyle/>
          <a:p>
            <a:pPr algn="ctr"/>
            <a:r>
              <a:rPr sz="700" b="1" i="0">
                <a:solidFill>
                  <a:srgbClr val="FFFFFF"/>
                </a:solidFill>
                <a:latin typeface="Trenda IG Text"/>
              </a:rPr>
              <a:t>09</a:t>
            </a:r>
          </a:p>
        </p:txBody>
      </p:sp>
      <p:sp>
        <p:nvSpPr>
          <p:cNvPr id="93" name="Text 92"/>
          <p:cNvSpPr txBox="1"/>
          <p:nvPr/>
        </p:nvSpPr>
        <p:spPr>
          <a:xfrm>
            <a:off x="6800088" y="3995928"/>
            <a:ext cx="2279904" cy="237744"/>
          </a:xfrm>
          <a:prstGeom prst="rect">
            <a:avLst/>
          </a:prstGeom>
          <a:noFill/>
        </p:spPr>
        <p:txBody>
          <a:bodyPr wrap="square" lIns="0" rIns="0" tIns="0" bIns="0" anchor="ctr">
            <a:spAutoFit/>
          </a:bodyPr>
          <a:lstStyle/>
          <a:p>
            <a:r>
              <a:rPr sz="900" b="1" i="0">
                <a:solidFill>
                  <a:srgbClr val="000000"/>
                </a:solidFill>
                <a:latin typeface="Trenda IG Text"/>
              </a:rPr>
              <a:t>Observe, learn and close</a:t>
            </a:r>
          </a:p>
        </p:txBody>
      </p:sp>
      <p:sp>
        <p:nvSpPr>
          <p:cNvPr id="94" name="Text 93"/>
          <p:cNvSpPr txBox="1"/>
          <p:nvPr/>
        </p:nvSpPr>
        <p:spPr>
          <a:xfrm>
            <a:off x="6544056" y="4261104"/>
            <a:ext cx="2508504" cy="118872"/>
          </a:xfrm>
          <a:prstGeom prst="rect">
            <a:avLst/>
          </a:prstGeom>
          <a:noFill/>
        </p:spPr>
        <p:txBody>
          <a:bodyPr wrap="square" lIns="0" rIns="0" tIns="0" bIns="0" anchor="ctr">
            <a:spAutoFit/>
          </a:bodyPr>
          <a:lstStyle/>
          <a:p>
            <a:r>
              <a:rPr sz="600" b="1" i="0" spc="100">
                <a:solidFill>
                  <a:srgbClr val="00273B"/>
                </a:solidFill>
                <a:latin typeface="Trenda IG Text"/>
              </a:rPr>
              <a:t>SYSTEM OWNERS + RUN CONTROLLER</a:t>
            </a:r>
          </a:p>
        </p:txBody>
      </p:sp>
      <p:sp>
        <p:nvSpPr>
          <p:cNvPr id="95" name="Text 94"/>
          <p:cNvSpPr txBox="1"/>
          <p:nvPr/>
        </p:nvSpPr>
        <p:spPr>
          <a:xfrm>
            <a:off x="6544056" y="4389120"/>
            <a:ext cx="2508504" cy="274320"/>
          </a:xfrm>
          <a:prstGeom prst="rect">
            <a:avLst/>
          </a:prstGeom>
          <a:noFill/>
        </p:spPr>
        <p:txBody>
          <a:bodyPr wrap="square" lIns="0" rIns="0" tIns="0" bIns="0" anchor="t">
            <a:spAutoFit/>
          </a:bodyPr>
          <a:lstStyle/>
          <a:p>
            <a:r>
              <a:rPr sz="650" b="0" i="0">
                <a:solidFill>
                  <a:srgbClr val="000000"/>
                </a:solidFill>
                <a:latin typeface="Trenda IG Text"/>
              </a:rPr>
              <a:t>Smoke checks and business validation; Jira closed; graph, rulebook and evaluations updated.</a:t>
            </a:r>
          </a:p>
        </p:txBody>
      </p:sp>
      <p:sp>
        <p:nvSpPr>
          <p:cNvPr id="96" name="Shape 95"/>
          <p:cNvSpPr/>
          <p:nvPr/>
        </p:nvSpPr>
        <p:spPr>
          <a:xfrm>
            <a:off x="6544056" y="4681728"/>
            <a:ext cx="250850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6598920" y="4681728"/>
            <a:ext cx="2417064" cy="137160"/>
          </a:xfrm>
          <a:prstGeom prst="rect">
            <a:avLst/>
          </a:prstGeom>
          <a:noFill/>
        </p:spPr>
        <p:txBody>
          <a:bodyPr wrap="square" lIns="0" rIns="0" tIns="0" bIns="0" anchor="ctr">
            <a:spAutoFit/>
          </a:bodyPr>
          <a:lstStyle/>
          <a:p>
            <a:r>
              <a:rPr sz="600" b="1" i="0">
                <a:solidFill>
                  <a:srgbClr val="000000"/>
                </a:solidFill>
                <a:latin typeface="Trenda IG Text"/>
              </a:rPr>
              <a:t>Output: </a:t>
            </a:r>
            <a:r>
              <a:rPr sz="600" b="0" i="0">
                <a:solidFill>
                  <a:srgbClr val="000000"/>
                </a:solidFill>
                <a:latin typeface="Trenda IG Text"/>
              </a:rPr>
              <a:t>verified outcome + auditable history</a:t>
            </a:r>
          </a:p>
        </p:txBody>
      </p:sp>
      <p:sp>
        <p:nvSpPr>
          <p:cNvPr id="98" name="Shape 97"/>
          <p:cNvSpPr/>
          <p:nvPr/>
        </p:nvSpPr>
        <p:spPr>
          <a:xfrm>
            <a:off x="6544056" y="4846320"/>
            <a:ext cx="250850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8"/>
          <p:cNvSpPr txBox="1"/>
          <p:nvPr/>
        </p:nvSpPr>
        <p:spPr>
          <a:xfrm>
            <a:off x="6598920" y="4846320"/>
            <a:ext cx="2417064" cy="128016"/>
          </a:xfrm>
          <a:prstGeom prst="rect">
            <a:avLst/>
          </a:prstGeom>
          <a:noFill/>
        </p:spPr>
        <p:txBody>
          <a:bodyPr wrap="square" lIns="0" rIns="0" tIns="0" bIns="0" anchor="ctr">
            <a:spAutoFit/>
          </a:bodyPr>
          <a:lstStyle/>
          <a:p>
            <a:r>
              <a:rPr sz="600" b="1" i="0" spc="100">
                <a:solidFill>
                  <a:srgbClr val="000000"/>
                </a:solidFill>
                <a:latin typeface="Trenda IG Text"/>
              </a:rPr>
              <a:t>CLOSES THE LOOP</a:t>
            </a:r>
          </a:p>
        </p:txBody>
      </p:sp>
      <p:cxnSp>
        <p:nvCxnSpPr>
          <p:cNvPr id="100" name="Arrow 99"/>
          <p:cNvCxnSpPr/>
          <p:nvPr/>
        </p:nvCxnSpPr>
        <p:spPr>
          <a:xfrm>
            <a:off x="3139440" y="2075688"/>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1" name="Arrow 100"/>
          <p:cNvCxnSpPr/>
          <p:nvPr/>
        </p:nvCxnSpPr>
        <p:spPr>
          <a:xfrm>
            <a:off x="6160008" y="2075688"/>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2" name="Arrow 101"/>
          <p:cNvCxnSpPr/>
          <p:nvPr/>
        </p:nvCxnSpPr>
        <p:spPr>
          <a:xfrm>
            <a:off x="7001256" y="2624327"/>
            <a:ext cx="0" cy="100585"/>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Arrow 102"/>
          <p:cNvCxnSpPr/>
          <p:nvPr/>
        </p:nvCxnSpPr>
        <p:spPr>
          <a:xfrm flipH="1">
            <a:off x="6160008" y="3273552"/>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4" name="Arrow 103"/>
          <p:cNvCxnSpPr/>
          <p:nvPr/>
        </p:nvCxnSpPr>
        <p:spPr>
          <a:xfrm flipH="1">
            <a:off x="3139440" y="3273552"/>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4"/>
          <p:cNvCxnSpPr/>
          <p:nvPr/>
        </p:nvCxnSpPr>
        <p:spPr>
          <a:xfrm>
            <a:off x="1757172" y="3822191"/>
            <a:ext cx="0" cy="100585"/>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a:off x="3139440" y="4471416"/>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a:off x="6160008" y="4471416"/>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7"/>
          <p:cNvCxnSpPr/>
          <p:nvPr/>
        </p:nvCxnSpPr>
        <p:spPr>
          <a:xfrm flipV="1">
            <a:off x="8851392" y="2624327"/>
            <a:ext cx="0" cy="100585"/>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9" name="Text 108"/>
          <p:cNvSpPr txBox="1"/>
          <p:nvPr/>
        </p:nvSpPr>
        <p:spPr>
          <a:xfrm>
            <a:off x="7251192" y="2615184"/>
            <a:ext cx="1536192" cy="118872"/>
          </a:xfrm>
          <a:prstGeom prst="rect">
            <a:avLst/>
          </a:prstGeom>
          <a:noFill/>
        </p:spPr>
        <p:txBody>
          <a:bodyPr wrap="square" lIns="0" rIns="0" tIns="0" bIns="0" anchor="ctr">
            <a:spAutoFit/>
          </a:bodyPr>
          <a:lstStyle/>
          <a:p>
            <a:pPr algn="r"/>
            <a:r>
              <a:rPr sz="550" b="1" i="0" spc="100">
                <a:solidFill>
                  <a:srgbClr val="FF0069"/>
                </a:solidFill>
                <a:latin typeface="Trenda IG Text"/>
              </a:rPr>
              <a:t>FIX LOOP · THEN OWNER</a:t>
            </a:r>
          </a:p>
        </p:txBody>
      </p:sp>
      <p:sp>
        <p:nvSpPr>
          <p:cNvPr id="110" name="Shape 109"/>
          <p:cNvSpPr/>
          <p:nvPr/>
        </p:nvSpPr>
        <p:spPr>
          <a:xfrm>
            <a:off x="5876544" y="1609344"/>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10"/>
          <p:cNvSpPr txBox="1"/>
          <p:nvPr/>
        </p:nvSpPr>
        <p:spPr>
          <a:xfrm>
            <a:off x="5876544" y="1609344"/>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7</a:t>
            </a:r>
          </a:p>
        </p:txBody>
      </p:sp>
      <p:sp>
        <p:nvSpPr>
          <p:cNvPr id="112" name="Shape 111"/>
          <p:cNvSpPr/>
          <p:nvPr/>
        </p:nvSpPr>
        <p:spPr>
          <a:xfrm>
            <a:off x="5666232" y="1618488"/>
            <a:ext cx="173736" cy="173736"/>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12"/>
          <p:cNvSpPr/>
          <p:nvPr/>
        </p:nvSpPr>
        <p:spPr>
          <a:xfrm>
            <a:off x="8897112" y="2807208"/>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8897112" y="2807208"/>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3</a:t>
            </a:r>
          </a:p>
        </p:txBody>
      </p:sp>
      <p:sp>
        <p:nvSpPr>
          <p:cNvPr id="115" name="Shape 114"/>
          <p:cNvSpPr/>
          <p:nvPr/>
        </p:nvSpPr>
        <p:spPr>
          <a:xfrm>
            <a:off x="8686800" y="2816352"/>
            <a:ext cx="173736" cy="173736"/>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5"/>
          <p:cNvSpPr/>
          <p:nvPr/>
        </p:nvSpPr>
        <p:spPr>
          <a:xfrm>
            <a:off x="2855976" y="4005072"/>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6"/>
          <p:cNvSpPr txBox="1"/>
          <p:nvPr/>
        </p:nvSpPr>
        <p:spPr>
          <a:xfrm>
            <a:off x="2855976" y="4005072"/>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6</a:t>
            </a:r>
          </a:p>
        </p:txBody>
      </p:sp>
      <p:sp>
        <p:nvSpPr>
          <p:cNvPr id="118" name="Shape 117"/>
          <p:cNvSpPr/>
          <p:nvPr/>
        </p:nvSpPr>
        <p:spPr>
          <a:xfrm>
            <a:off x="2855976" y="2807208"/>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2855976" y="2807208"/>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1</a:t>
            </a:r>
          </a:p>
        </p:txBody>
      </p:sp>
      <p:sp>
        <p:nvSpPr>
          <p:cNvPr id="120" name="Shape 119"/>
          <p:cNvSpPr/>
          <p:nvPr/>
        </p:nvSpPr>
        <p:spPr>
          <a:xfrm>
            <a:off x="8878824" y="4014215"/>
            <a:ext cx="173736" cy="173736"/>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411480" y="5138927"/>
            <a:ext cx="2743200" cy="128016"/>
          </a:xfrm>
          <a:prstGeom prst="rect">
            <a:avLst/>
          </a:prstGeom>
          <a:noFill/>
        </p:spPr>
        <p:txBody>
          <a:bodyPr wrap="square" lIns="0" rIns="0" tIns="0" bIns="0" anchor="ctr">
            <a:spAutoFit/>
          </a:bodyPr>
          <a:lstStyle/>
          <a:p>
            <a:r>
              <a:rPr sz="650" b="1" i="0" spc="150">
                <a:solidFill>
                  <a:srgbClr val="000000"/>
                </a:solidFill>
                <a:latin typeface="Trenda IG Text"/>
              </a:rPr>
              <a:t>CONTROLS ACROSS EVERY STEP</a:t>
            </a:r>
          </a:p>
        </p:txBody>
      </p:sp>
      <p:sp>
        <p:nvSpPr>
          <p:cNvPr id="122" name="Shape 121"/>
          <p:cNvSpPr/>
          <p:nvPr/>
        </p:nvSpPr>
        <p:spPr>
          <a:xfrm>
            <a:off x="411480" y="5294375"/>
            <a:ext cx="2114550" cy="1024128"/>
          </a:xfrm>
          <a:prstGeom prst="rect">
            <a:avLst/>
          </a:prstGeom>
          <a:solidFill>
            <a:srgbClr val="FFFFFF"/>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411480" y="5294375"/>
            <a:ext cx="2114550" cy="21945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502920" y="5294375"/>
            <a:ext cx="1748790" cy="219456"/>
          </a:xfrm>
          <a:prstGeom prst="rect">
            <a:avLst/>
          </a:prstGeom>
          <a:noFill/>
        </p:spPr>
        <p:txBody>
          <a:bodyPr wrap="square" lIns="0" rIns="0" tIns="0" bIns="0" anchor="ctr">
            <a:spAutoFit/>
          </a:bodyPr>
          <a:lstStyle/>
          <a:p>
            <a:r>
              <a:rPr sz="650" b="1" i="0" spc="150">
                <a:solidFill>
                  <a:srgbClr val="FFFFFF"/>
                </a:solidFill>
                <a:latin typeface="Trenda IG Text"/>
              </a:rPr>
              <a:t>CHANGE GUARDIAN</a:t>
            </a:r>
          </a:p>
        </p:txBody>
      </p:sp>
      <p:sp>
        <p:nvSpPr>
          <p:cNvPr id="125" name="Shape 124"/>
          <p:cNvSpPr/>
          <p:nvPr/>
        </p:nvSpPr>
        <p:spPr>
          <a:xfrm>
            <a:off x="2297430" y="5312663"/>
            <a:ext cx="182880" cy="182880"/>
          </a:xfrm>
          <a:prstGeom prst="ellipse">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5"/>
          <p:cNvSpPr txBox="1"/>
          <p:nvPr/>
        </p:nvSpPr>
        <p:spPr>
          <a:xfrm>
            <a:off x="2297430" y="5312663"/>
            <a:ext cx="182880" cy="182880"/>
          </a:xfrm>
          <a:prstGeom prst="rect">
            <a:avLst/>
          </a:prstGeom>
          <a:noFill/>
        </p:spPr>
        <p:txBody>
          <a:bodyPr wrap="square" lIns="0" rIns="0" tIns="0" bIns="0" anchor="ctr">
            <a:spAutoFit/>
          </a:bodyPr>
          <a:lstStyle/>
          <a:p>
            <a:pPr algn="ctr"/>
            <a:r>
              <a:rPr sz="750" b="1" i="0">
                <a:solidFill>
                  <a:srgbClr val="000000"/>
                </a:solidFill>
                <a:latin typeface="Trenda IG Text"/>
              </a:rPr>
              <a:t>5</a:t>
            </a:r>
          </a:p>
        </p:txBody>
      </p:sp>
      <p:sp>
        <p:nvSpPr>
          <p:cNvPr id="127" name="Shape 126"/>
          <p:cNvSpPr/>
          <p:nvPr/>
        </p:nvSpPr>
        <p:spPr>
          <a:xfrm>
            <a:off x="502920" y="5614415"/>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594360" y="5568695"/>
            <a:ext cx="1858517" cy="237744"/>
          </a:xfrm>
          <a:prstGeom prst="rect">
            <a:avLst/>
          </a:prstGeom>
          <a:noFill/>
        </p:spPr>
        <p:txBody>
          <a:bodyPr wrap="square" lIns="0" rIns="0" tIns="0" bIns="0" anchor="t">
            <a:spAutoFit/>
          </a:bodyPr>
          <a:lstStyle/>
          <a:p>
            <a:r>
              <a:rPr sz="650" b="0" i="0">
                <a:solidFill>
                  <a:srgbClr val="000000"/>
                </a:solidFill>
                <a:latin typeface="Trenda IG Text"/>
              </a:rPr>
              <a:t>At design, commit and promotion: diff + ownership graph + rulebook</a:t>
            </a:r>
          </a:p>
        </p:txBody>
      </p:sp>
      <p:sp>
        <p:nvSpPr>
          <p:cNvPr id="129" name="Shape 128"/>
          <p:cNvSpPr/>
          <p:nvPr/>
        </p:nvSpPr>
        <p:spPr>
          <a:xfrm>
            <a:off x="502920" y="586130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594360" y="5815583"/>
            <a:ext cx="1858517" cy="237744"/>
          </a:xfrm>
          <a:prstGeom prst="rect">
            <a:avLst/>
          </a:prstGeom>
          <a:noFill/>
        </p:spPr>
        <p:txBody>
          <a:bodyPr wrap="square" lIns="0" rIns="0" tIns="0" bIns="0" anchor="t">
            <a:spAutoFit/>
          </a:bodyPr>
          <a:lstStyle/>
          <a:p>
            <a:r>
              <a:rPr sz="650" b="0" i="0">
                <a:solidFill>
                  <a:srgbClr val="000000"/>
                </a:solidFill>
                <a:latin typeface="Trenda IG Text"/>
              </a:rPr>
              <a:t>PASS · NEEDS OWNER APPROVAL · BLOCK, enforced by CI/CD</a:t>
            </a:r>
          </a:p>
        </p:txBody>
      </p:sp>
      <p:sp>
        <p:nvSpPr>
          <p:cNvPr id="131" name="Shape 130"/>
          <p:cNvSpPr/>
          <p:nvPr/>
        </p:nvSpPr>
        <p:spPr>
          <a:xfrm>
            <a:off x="502920" y="6108191"/>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 131"/>
          <p:cNvSpPr txBox="1"/>
          <p:nvPr/>
        </p:nvSpPr>
        <p:spPr>
          <a:xfrm>
            <a:off x="594360" y="6062471"/>
            <a:ext cx="1858517" cy="237744"/>
          </a:xfrm>
          <a:prstGeom prst="rect">
            <a:avLst/>
          </a:prstGeom>
          <a:noFill/>
        </p:spPr>
        <p:txBody>
          <a:bodyPr wrap="square" lIns="0" rIns="0" tIns="0" bIns="0" anchor="t">
            <a:spAutoFit/>
          </a:bodyPr>
          <a:lstStyle/>
          <a:p>
            <a:r>
              <a:rPr sz="650" b="0" i="0">
                <a:solidFill>
                  <a:srgbClr val="000000"/>
                </a:solidFill>
                <a:latin typeface="Trenda IG Text"/>
              </a:rPr>
              <a:t>Nightly drift watch catches edits outside the pipeline</a:t>
            </a:r>
          </a:p>
        </p:txBody>
      </p:sp>
      <p:sp>
        <p:nvSpPr>
          <p:cNvPr id="133" name="Shape 132"/>
          <p:cNvSpPr/>
          <p:nvPr/>
        </p:nvSpPr>
        <p:spPr>
          <a:xfrm>
            <a:off x="2617470" y="5294375"/>
            <a:ext cx="2114550" cy="1024128"/>
          </a:xfrm>
          <a:prstGeom prst="rect">
            <a:avLst/>
          </a:prstGeom>
          <a:solidFill>
            <a:srgbClr val="FFFFFF"/>
          </a:solidFill>
          <a:ln w="12700">
            <a:solidFill>
              <a:srgbClr val="E6C2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4" name="Shape 133"/>
          <p:cNvSpPr/>
          <p:nvPr/>
        </p:nvSpPr>
        <p:spPr>
          <a:xfrm>
            <a:off x="2617470" y="5294375"/>
            <a:ext cx="2114550" cy="21945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2708910" y="5294375"/>
            <a:ext cx="1748790" cy="219456"/>
          </a:xfrm>
          <a:prstGeom prst="rect">
            <a:avLst/>
          </a:prstGeom>
          <a:noFill/>
        </p:spPr>
        <p:txBody>
          <a:bodyPr wrap="square" lIns="0" rIns="0" tIns="0" bIns="0" anchor="ctr">
            <a:spAutoFit/>
          </a:bodyPr>
          <a:lstStyle/>
          <a:p>
            <a:r>
              <a:rPr sz="650" b="1" i="0" spc="150">
                <a:solidFill>
                  <a:srgbClr val="000000"/>
                </a:solidFill>
                <a:latin typeface="Trenda IG Text"/>
              </a:rPr>
              <a:t>APPROVAL SERVICE</a:t>
            </a:r>
          </a:p>
        </p:txBody>
      </p:sp>
      <p:sp>
        <p:nvSpPr>
          <p:cNvPr id="136" name="Shape 135"/>
          <p:cNvSpPr/>
          <p:nvPr/>
        </p:nvSpPr>
        <p:spPr>
          <a:xfrm>
            <a:off x="4503420" y="5312663"/>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36"/>
          <p:cNvSpPr txBox="1"/>
          <p:nvPr/>
        </p:nvSpPr>
        <p:spPr>
          <a:xfrm>
            <a:off x="4503420" y="5312663"/>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4</a:t>
            </a:r>
          </a:p>
        </p:txBody>
      </p:sp>
      <p:sp>
        <p:nvSpPr>
          <p:cNvPr id="138" name="Shape 137"/>
          <p:cNvSpPr/>
          <p:nvPr/>
        </p:nvSpPr>
        <p:spPr>
          <a:xfrm>
            <a:off x="2708910" y="5614415"/>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8"/>
          <p:cNvSpPr txBox="1"/>
          <p:nvPr/>
        </p:nvSpPr>
        <p:spPr>
          <a:xfrm>
            <a:off x="2800350" y="5568695"/>
            <a:ext cx="1858517" cy="237744"/>
          </a:xfrm>
          <a:prstGeom prst="rect">
            <a:avLst/>
          </a:prstGeom>
          <a:noFill/>
        </p:spPr>
        <p:txBody>
          <a:bodyPr wrap="square" lIns="0" rIns="0" tIns="0" bIns="0" anchor="t">
            <a:spAutoFit/>
          </a:bodyPr>
          <a:lstStyle/>
          <a:p>
            <a:r>
              <a:rPr sz="650" b="0" i="0">
                <a:solidFill>
                  <a:srgbClr val="000000"/>
                </a:solidFill>
                <a:latin typeface="Trenda IG Text"/>
              </a:rPr>
              <a:t>Each decision bound to run, scope, SHA and target</a:t>
            </a:r>
          </a:p>
        </p:txBody>
      </p:sp>
      <p:sp>
        <p:nvSpPr>
          <p:cNvPr id="140" name="Shape 139"/>
          <p:cNvSpPr/>
          <p:nvPr/>
        </p:nvSpPr>
        <p:spPr>
          <a:xfrm>
            <a:off x="2708910" y="586130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40"/>
          <p:cNvSpPr txBox="1"/>
          <p:nvPr/>
        </p:nvSpPr>
        <p:spPr>
          <a:xfrm>
            <a:off x="2800350" y="5815583"/>
            <a:ext cx="1858517" cy="237744"/>
          </a:xfrm>
          <a:prstGeom prst="rect">
            <a:avLst/>
          </a:prstGeom>
          <a:noFill/>
        </p:spPr>
        <p:txBody>
          <a:bodyPr wrap="square" lIns="0" rIns="0" tIns="0" bIns="0" anchor="t">
            <a:spAutoFit/>
          </a:bodyPr>
          <a:lstStyle/>
          <a:p>
            <a:r>
              <a:rPr sz="650" b="0" i="0">
                <a:solidFill>
                  <a:srgbClr val="000000"/>
                </a:solidFill>
                <a:latin typeface="Trenda IG Text"/>
              </a:rPr>
              <a:t>Changed scope or artifact → a new approval</a:t>
            </a:r>
          </a:p>
        </p:txBody>
      </p:sp>
      <p:sp>
        <p:nvSpPr>
          <p:cNvPr id="142" name="Shape 141"/>
          <p:cNvSpPr/>
          <p:nvPr/>
        </p:nvSpPr>
        <p:spPr>
          <a:xfrm>
            <a:off x="2708910" y="6108191"/>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42"/>
          <p:cNvSpPr txBox="1"/>
          <p:nvPr/>
        </p:nvSpPr>
        <p:spPr>
          <a:xfrm>
            <a:off x="2800350" y="6062471"/>
            <a:ext cx="1858517" cy="237744"/>
          </a:xfrm>
          <a:prstGeom prst="rect">
            <a:avLst/>
          </a:prstGeom>
          <a:noFill/>
        </p:spPr>
        <p:txBody>
          <a:bodyPr wrap="square" lIns="0" rIns="0" tIns="0" bIns="0" anchor="t">
            <a:spAutoFit/>
          </a:bodyPr>
          <a:lstStyle/>
          <a:p>
            <a:r>
              <a:rPr sz="650" b="0" i="0">
                <a:solidFill>
                  <a:srgbClr val="000000"/>
                </a:solidFill>
                <a:latin typeface="Trenda IG Text"/>
              </a:rPr>
              <a:t>Expired or rejected → stop, or back to the owner</a:t>
            </a:r>
          </a:p>
        </p:txBody>
      </p:sp>
      <p:sp>
        <p:nvSpPr>
          <p:cNvPr id="144" name="Shape 143"/>
          <p:cNvSpPr/>
          <p:nvPr/>
        </p:nvSpPr>
        <p:spPr>
          <a:xfrm>
            <a:off x="4823460" y="5294375"/>
            <a:ext cx="2114550" cy="1024128"/>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44"/>
          <p:cNvSpPr/>
          <p:nvPr/>
        </p:nvSpPr>
        <p:spPr>
          <a:xfrm>
            <a:off x="4823460" y="5294375"/>
            <a:ext cx="2114550" cy="219456"/>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45"/>
          <p:cNvSpPr txBox="1"/>
          <p:nvPr/>
        </p:nvSpPr>
        <p:spPr>
          <a:xfrm>
            <a:off x="4914900" y="5294375"/>
            <a:ext cx="1748790" cy="219456"/>
          </a:xfrm>
          <a:prstGeom prst="rect">
            <a:avLst/>
          </a:prstGeom>
          <a:noFill/>
        </p:spPr>
        <p:txBody>
          <a:bodyPr wrap="square" lIns="0" rIns="0" tIns="0" bIns="0" anchor="ctr">
            <a:spAutoFit/>
          </a:bodyPr>
          <a:lstStyle/>
          <a:p>
            <a:r>
              <a:rPr sz="650" b="1" i="0" spc="150">
                <a:solidFill>
                  <a:srgbClr val="FFFFFF"/>
                </a:solidFill>
                <a:latin typeface="Trenda IG Text"/>
              </a:rPr>
              <a:t>FAILURE AND RECOVERY</a:t>
            </a:r>
          </a:p>
        </p:txBody>
      </p:sp>
      <p:sp>
        <p:nvSpPr>
          <p:cNvPr id="147" name="Shape 146"/>
          <p:cNvSpPr/>
          <p:nvPr/>
        </p:nvSpPr>
        <p:spPr>
          <a:xfrm>
            <a:off x="6709410" y="5312663"/>
            <a:ext cx="182880" cy="182880"/>
          </a:xfrm>
          <a:prstGeom prst="ellipse">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 147"/>
          <p:cNvSpPr txBox="1"/>
          <p:nvPr/>
        </p:nvSpPr>
        <p:spPr>
          <a:xfrm>
            <a:off x="6709410" y="5312663"/>
            <a:ext cx="182880" cy="182880"/>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149" name="Shape 148"/>
          <p:cNvSpPr/>
          <p:nvPr/>
        </p:nvSpPr>
        <p:spPr>
          <a:xfrm>
            <a:off x="4914900" y="5614415"/>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9"/>
          <p:cNvSpPr txBox="1"/>
          <p:nvPr/>
        </p:nvSpPr>
        <p:spPr>
          <a:xfrm>
            <a:off x="5006340" y="5568695"/>
            <a:ext cx="1858517" cy="237744"/>
          </a:xfrm>
          <a:prstGeom prst="rect">
            <a:avLst/>
          </a:prstGeom>
          <a:noFill/>
        </p:spPr>
        <p:txBody>
          <a:bodyPr wrap="square" lIns="0" rIns="0" tIns="0" bIns="0" anchor="t">
            <a:spAutoFit/>
          </a:bodyPr>
          <a:lstStyle/>
          <a:p>
            <a:r>
              <a:rPr sz="650" b="0" i="0">
                <a:solidFill>
                  <a:srgbClr val="000000"/>
                </a:solidFill>
                <a:latin typeface="Trenda IG Text"/>
              </a:rPr>
              <a:t>Transient error → bounded retry, idempotent steps</a:t>
            </a:r>
          </a:p>
        </p:txBody>
      </p:sp>
      <p:sp>
        <p:nvSpPr>
          <p:cNvPr id="151" name="Shape 150"/>
          <p:cNvSpPr/>
          <p:nvPr/>
        </p:nvSpPr>
        <p:spPr>
          <a:xfrm>
            <a:off x="4914900" y="586130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51"/>
          <p:cNvSpPr txBox="1"/>
          <p:nvPr/>
        </p:nvSpPr>
        <p:spPr>
          <a:xfrm>
            <a:off x="5006340" y="5815583"/>
            <a:ext cx="1858517" cy="237744"/>
          </a:xfrm>
          <a:prstGeom prst="rect">
            <a:avLst/>
          </a:prstGeom>
          <a:noFill/>
        </p:spPr>
        <p:txBody>
          <a:bodyPr wrap="square" lIns="0" rIns="0" tIns="0" bIns="0" anchor="t">
            <a:spAutoFit/>
          </a:bodyPr>
          <a:lstStyle/>
          <a:p>
            <a:r>
              <a:rPr sz="650" b="0" i="0">
                <a:solidFill>
                  <a:srgbClr val="000000"/>
                </a:solidFill>
                <a:latin typeface="Trenda IG Text"/>
              </a:rPr>
              <a:t>Missing context or failed test → rework or owner</a:t>
            </a:r>
          </a:p>
        </p:txBody>
      </p:sp>
      <p:sp>
        <p:nvSpPr>
          <p:cNvPr id="153" name="Shape 152"/>
          <p:cNvSpPr/>
          <p:nvPr/>
        </p:nvSpPr>
        <p:spPr>
          <a:xfrm>
            <a:off x="4914900" y="6108191"/>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53"/>
          <p:cNvSpPr txBox="1"/>
          <p:nvPr/>
        </p:nvSpPr>
        <p:spPr>
          <a:xfrm>
            <a:off x="5006340" y="6062471"/>
            <a:ext cx="1858517" cy="237744"/>
          </a:xfrm>
          <a:prstGeom prst="rect">
            <a:avLst/>
          </a:prstGeom>
          <a:noFill/>
        </p:spPr>
        <p:txBody>
          <a:bodyPr wrap="square" lIns="0" rIns="0" tIns="0" bIns="0" anchor="t">
            <a:spAutoFit/>
          </a:bodyPr>
          <a:lstStyle/>
          <a:p>
            <a:r>
              <a:rPr sz="650" b="0" i="0">
                <a:solidFill>
                  <a:srgbClr val="000000"/>
                </a:solidFill>
                <a:latin typeface="Trenda IG Text"/>
              </a:rPr>
              <a:t>Timeout or budget breach → pause and escalate</a:t>
            </a:r>
          </a:p>
        </p:txBody>
      </p:sp>
      <p:sp>
        <p:nvSpPr>
          <p:cNvPr id="155" name="Shape 154"/>
          <p:cNvSpPr/>
          <p:nvPr/>
        </p:nvSpPr>
        <p:spPr>
          <a:xfrm>
            <a:off x="7029450" y="5294375"/>
            <a:ext cx="2114550" cy="1024128"/>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Shape 155"/>
          <p:cNvSpPr/>
          <p:nvPr/>
        </p:nvSpPr>
        <p:spPr>
          <a:xfrm>
            <a:off x="7029450" y="5294375"/>
            <a:ext cx="2114550" cy="21945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 156"/>
          <p:cNvSpPr txBox="1"/>
          <p:nvPr/>
        </p:nvSpPr>
        <p:spPr>
          <a:xfrm>
            <a:off x="7120890" y="5294375"/>
            <a:ext cx="1748790" cy="219456"/>
          </a:xfrm>
          <a:prstGeom prst="rect">
            <a:avLst/>
          </a:prstGeom>
          <a:noFill/>
        </p:spPr>
        <p:txBody>
          <a:bodyPr wrap="square" lIns="0" rIns="0" tIns="0" bIns="0" anchor="ctr">
            <a:spAutoFit/>
          </a:bodyPr>
          <a:lstStyle/>
          <a:p>
            <a:r>
              <a:rPr sz="650" b="1" i="0" spc="150">
                <a:solidFill>
                  <a:srgbClr val="000000"/>
                </a:solidFill>
                <a:latin typeface="Trenda IG Text"/>
              </a:rPr>
              <a:t>ACCURACY GUARD</a:t>
            </a:r>
          </a:p>
        </p:txBody>
      </p:sp>
      <p:sp>
        <p:nvSpPr>
          <p:cNvPr id="158" name="Shape 157"/>
          <p:cNvSpPr/>
          <p:nvPr/>
        </p:nvSpPr>
        <p:spPr>
          <a:xfrm>
            <a:off x="8915400" y="5312663"/>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8"/>
          <p:cNvSpPr txBox="1"/>
          <p:nvPr/>
        </p:nvSpPr>
        <p:spPr>
          <a:xfrm>
            <a:off x="8915400" y="5312663"/>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3</a:t>
            </a:r>
          </a:p>
        </p:txBody>
      </p:sp>
      <p:sp>
        <p:nvSpPr>
          <p:cNvPr id="160" name="Shape 159"/>
          <p:cNvSpPr/>
          <p:nvPr/>
        </p:nvSpPr>
        <p:spPr>
          <a:xfrm>
            <a:off x="7120890" y="5614415"/>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 160"/>
          <p:cNvSpPr txBox="1"/>
          <p:nvPr/>
        </p:nvSpPr>
        <p:spPr>
          <a:xfrm>
            <a:off x="7212330" y="5568695"/>
            <a:ext cx="1858517" cy="237744"/>
          </a:xfrm>
          <a:prstGeom prst="rect">
            <a:avLst/>
          </a:prstGeom>
          <a:noFill/>
        </p:spPr>
        <p:txBody>
          <a:bodyPr wrap="square" lIns="0" rIns="0" tIns="0" bIns="0" anchor="t">
            <a:spAutoFit/>
          </a:bodyPr>
          <a:lstStyle/>
          <a:p>
            <a:r>
              <a:rPr sz="650" b="0" i="0">
                <a:solidFill>
                  <a:srgbClr val="000000"/>
                </a:solidFill>
                <a:latin typeface="Trenda IG Text"/>
              </a:rPr>
              <a:t>Context only from the graph; claims cite node + SHA</a:t>
            </a:r>
          </a:p>
        </p:txBody>
      </p:sp>
      <p:sp>
        <p:nvSpPr>
          <p:cNvPr id="162" name="Shape 161"/>
          <p:cNvSpPr/>
          <p:nvPr/>
        </p:nvSpPr>
        <p:spPr>
          <a:xfrm>
            <a:off x="7120890" y="586130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62"/>
          <p:cNvSpPr txBox="1"/>
          <p:nvPr/>
        </p:nvSpPr>
        <p:spPr>
          <a:xfrm>
            <a:off x="7212330" y="5815583"/>
            <a:ext cx="1858517" cy="237744"/>
          </a:xfrm>
          <a:prstGeom prst="rect">
            <a:avLst/>
          </a:prstGeom>
          <a:noFill/>
        </p:spPr>
        <p:txBody>
          <a:bodyPr wrap="square" lIns="0" rIns="0" tIns="0" bIns="0" anchor="t">
            <a:spAutoFit/>
          </a:bodyPr>
          <a:lstStyle/>
          <a:p>
            <a:r>
              <a:rPr sz="650" b="0" i="0">
                <a:solidFill>
                  <a:srgbClr val="000000"/>
                </a:solidFill>
                <a:latin typeface="Trenda IG Text"/>
              </a:rPr>
              <a:t>Uncited claim or invented dependency → rejected</a:t>
            </a:r>
          </a:p>
        </p:txBody>
      </p:sp>
      <p:sp>
        <p:nvSpPr>
          <p:cNvPr id="164" name="Shape 163"/>
          <p:cNvSpPr/>
          <p:nvPr/>
        </p:nvSpPr>
        <p:spPr>
          <a:xfrm>
            <a:off x="7120890" y="6108191"/>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64"/>
          <p:cNvSpPr txBox="1"/>
          <p:nvPr/>
        </p:nvSpPr>
        <p:spPr>
          <a:xfrm>
            <a:off x="7212330" y="6062471"/>
            <a:ext cx="1858517" cy="237744"/>
          </a:xfrm>
          <a:prstGeom prst="rect">
            <a:avLst/>
          </a:prstGeom>
          <a:noFill/>
        </p:spPr>
        <p:txBody>
          <a:bodyPr wrap="square" lIns="0" rIns="0" tIns="0" bIns="0" anchor="t">
            <a:spAutoFit/>
          </a:bodyPr>
          <a:lstStyle/>
          <a:p>
            <a:r>
              <a:rPr sz="650" b="0" i="0">
                <a:solidFill>
                  <a:srgbClr val="000000"/>
                </a:solidFill>
                <a:latin typeface="Trenda IG Text"/>
              </a:rPr>
              <a:t>The agent that builds never approves its own work</a:t>
            </a:r>
          </a:p>
        </p:txBody>
      </p:sp>
      <p:sp>
        <p:nvSpPr>
          <p:cNvPr id="166" name="Shape 165"/>
          <p:cNvSpPr/>
          <p:nvPr/>
        </p:nvSpPr>
        <p:spPr>
          <a:xfrm>
            <a:off x="9326880" y="1115568"/>
            <a:ext cx="2450592" cy="52029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 166"/>
          <p:cNvSpPr txBox="1"/>
          <p:nvPr/>
        </p:nvSpPr>
        <p:spPr>
          <a:xfrm>
            <a:off x="9436607" y="1207008"/>
            <a:ext cx="2231136" cy="128016"/>
          </a:xfrm>
          <a:prstGeom prst="rect">
            <a:avLst/>
          </a:prstGeom>
          <a:noFill/>
        </p:spPr>
        <p:txBody>
          <a:bodyPr wrap="square" lIns="0" rIns="0" tIns="0" bIns="0" anchor="ctr">
            <a:spAutoFit/>
          </a:bodyPr>
          <a:lstStyle/>
          <a:p>
            <a:r>
              <a:rPr sz="650" b="1" i="0" spc="150">
                <a:solidFill>
                  <a:srgbClr val="000000"/>
                </a:solidFill>
                <a:latin typeface="Trenda IG Text"/>
              </a:rPr>
              <a:t>CLIENT QUESTIONS · WHERE TO POINT</a:t>
            </a:r>
          </a:p>
        </p:txBody>
      </p:sp>
      <p:sp>
        <p:nvSpPr>
          <p:cNvPr id="168" name="Shape 167"/>
          <p:cNvSpPr/>
          <p:nvPr/>
        </p:nvSpPr>
        <p:spPr>
          <a:xfrm>
            <a:off x="9436607" y="1394460"/>
            <a:ext cx="137160" cy="13716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 168"/>
          <p:cNvSpPr txBox="1"/>
          <p:nvPr/>
        </p:nvSpPr>
        <p:spPr>
          <a:xfrm>
            <a:off x="9436607" y="1394460"/>
            <a:ext cx="137160" cy="137160"/>
          </a:xfrm>
          <a:prstGeom prst="rect">
            <a:avLst/>
          </a:prstGeom>
          <a:noFill/>
        </p:spPr>
        <p:txBody>
          <a:bodyPr wrap="square" lIns="0" rIns="0" tIns="0" bIns="0" anchor="ctr">
            <a:spAutoFit/>
          </a:bodyPr>
          <a:lstStyle/>
          <a:p>
            <a:pPr algn="ctr"/>
            <a:r>
              <a:rPr sz="750" b="1" i="0">
                <a:solidFill>
                  <a:srgbClr val="FFFFFF"/>
                </a:solidFill>
                <a:latin typeface="Trenda IG Text"/>
              </a:rPr>
              <a:t>n</a:t>
            </a:r>
          </a:p>
        </p:txBody>
      </p:sp>
      <p:sp>
        <p:nvSpPr>
          <p:cNvPr id="170" name="Text 169"/>
          <p:cNvSpPr txBox="1"/>
          <p:nvPr/>
        </p:nvSpPr>
        <p:spPr>
          <a:xfrm>
            <a:off x="9610344" y="1389888"/>
            <a:ext cx="2084832" cy="146304"/>
          </a:xfrm>
          <a:prstGeom prst="rect">
            <a:avLst/>
          </a:prstGeom>
          <a:noFill/>
        </p:spPr>
        <p:txBody>
          <a:bodyPr wrap="square" lIns="0" rIns="0" tIns="0" bIns="0" anchor="ctr">
            <a:spAutoFit/>
          </a:bodyPr>
          <a:lstStyle/>
          <a:p>
            <a:r>
              <a:rPr sz="650" b="0" i="0">
                <a:solidFill>
                  <a:srgbClr val="595959"/>
                </a:solidFill>
                <a:latin typeface="Trenda IG Text"/>
              </a:rPr>
              <a:t>marker on the diagram   </a:t>
            </a:r>
            <a:r>
              <a:rPr sz="650" b="0" i="0">
                <a:solidFill>
                  <a:srgbClr val="000000"/>
                </a:solidFill>
                <a:latin typeface="Trenda IG Text"/>
              </a:rPr>
              <a:t>★</a:t>
            </a:r>
            <a:r>
              <a:rPr sz="650" b="0" i="0">
                <a:solidFill>
                  <a:srgbClr val="595959"/>
                </a:solidFill>
                <a:latin typeface="Trenda IG Text"/>
              </a:rPr>
              <a:t> x-factor</a:t>
            </a:r>
          </a:p>
        </p:txBody>
      </p:sp>
      <p:sp>
        <p:nvSpPr>
          <p:cNvPr id="171" name="Shape 170"/>
          <p:cNvSpPr/>
          <p:nvPr/>
        </p:nvSpPr>
        <p:spPr>
          <a:xfrm>
            <a:off x="9436607" y="1618488"/>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Text 171"/>
          <p:cNvSpPr txBox="1"/>
          <p:nvPr/>
        </p:nvSpPr>
        <p:spPr>
          <a:xfrm>
            <a:off x="9436607" y="1618488"/>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1</a:t>
            </a:r>
          </a:p>
        </p:txBody>
      </p:sp>
      <p:sp>
        <p:nvSpPr>
          <p:cNvPr id="173" name="Text 172"/>
          <p:cNvSpPr txBox="1"/>
          <p:nvPr/>
        </p:nvSpPr>
        <p:spPr>
          <a:xfrm>
            <a:off x="9692640" y="1609344"/>
            <a:ext cx="1993392" cy="155448"/>
          </a:xfrm>
          <a:prstGeom prst="rect">
            <a:avLst/>
          </a:prstGeom>
          <a:noFill/>
        </p:spPr>
        <p:txBody>
          <a:bodyPr wrap="square" lIns="0" rIns="0" tIns="0" bIns="0" anchor="t">
            <a:spAutoFit/>
          </a:bodyPr>
          <a:lstStyle/>
          <a:p>
            <a:r>
              <a:rPr sz="750" b="1" i="0">
                <a:solidFill>
                  <a:srgbClr val="000000"/>
                </a:solidFill>
                <a:latin typeface="Trenda IG Text"/>
              </a:rPr>
              <a:t>How is the SDLC controlled?</a:t>
            </a:r>
          </a:p>
        </p:txBody>
      </p:sp>
      <p:sp>
        <p:nvSpPr>
          <p:cNvPr id="174" name="Text 173"/>
          <p:cNvSpPr txBox="1"/>
          <p:nvPr/>
        </p:nvSpPr>
        <p:spPr>
          <a:xfrm>
            <a:off x="9692640" y="1760220"/>
            <a:ext cx="1993392" cy="237744"/>
          </a:xfrm>
          <a:prstGeom prst="rect">
            <a:avLst/>
          </a:prstGeom>
          <a:noFill/>
        </p:spPr>
        <p:txBody>
          <a:bodyPr wrap="square" lIns="0" rIns="0" tIns="0" bIns="0" anchor="t">
            <a:spAutoFit/>
          </a:bodyPr>
          <a:lstStyle/>
          <a:p>
            <a:r>
              <a:rPr sz="650" b="0" i="0">
                <a:solidFill>
                  <a:srgbClr val="595959"/>
                </a:solidFill>
                <a:latin typeface="Trenda IG Text"/>
              </a:rPr>
              <a:t>Nine steps in a fixed order; H1 to H4 and CAB are named people; no step can be skipped</a:t>
            </a:r>
          </a:p>
        </p:txBody>
      </p:sp>
      <p:sp>
        <p:nvSpPr>
          <p:cNvPr id="175" name="Shape 174"/>
          <p:cNvSpPr/>
          <p:nvPr/>
        </p:nvSpPr>
        <p:spPr>
          <a:xfrm>
            <a:off x="9436607" y="2034540"/>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 175"/>
          <p:cNvSpPr txBox="1"/>
          <p:nvPr/>
        </p:nvSpPr>
        <p:spPr>
          <a:xfrm>
            <a:off x="9436607" y="2034540"/>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2</a:t>
            </a:r>
          </a:p>
        </p:txBody>
      </p:sp>
      <p:sp>
        <p:nvSpPr>
          <p:cNvPr id="177" name="Text 176"/>
          <p:cNvSpPr txBox="1"/>
          <p:nvPr/>
        </p:nvSpPr>
        <p:spPr>
          <a:xfrm>
            <a:off x="9692640" y="2025396"/>
            <a:ext cx="1993392" cy="155448"/>
          </a:xfrm>
          <a:prstGeom prst="rect">
            <a:avLst/>
          </a:prstGeom>
          <a:noFill/>
        </p:spPr>
        <p:txBody>
          <a:bodyPr wrap="square" lIns="0" rIns="0" tIns="0" bIns="0" anchor="t">
            <a:spAutoFit/>
          </a:bodyPr>
          <a:lstStyle/>
          <a:p>
            <a:r>
              <a:rPr sz="750" b="1" i="0">
                <a:solidFill>
                  <a:srgbClr val="000000"/>
                </a:solidFill>
                <a:latin typeface="Trenda IG Text"/>
              </a:rPr>
              <a:t>What if a step breaks?</a:t>
            </a:r>
          </a:p>
        </p:txBody>
      </p:sp>
      <p:sp>
        <p:nvSpPr>
          <p:cNvPr id="178" name="Text 177"/>
          <p:cNvSpPr txBox="1"/>
          <p:nvPr/>
        </p:nvSpPr>
        <p:spPr>
          <a:xfrm>
            <a:off x="9692640" y="2176272"/>
            <a:ext cx="1993392" cy="237744"/>
          </a:xfrm>
          <a:prstGeom prst="rect">
            <a:avLst/>
          </a:prstGeom>
          <a:noFill/>
        </p:spPr>
        <p:txBody>
          <a:bodyPr wrap="square" lIns="0" rIns="0" tIns="0" bIns="0" anchor="t">
            <a:spAutoFit/>
          </a:bodyPr>
          <a:lstStyle/>
          <a:p>
            <a:r>
              <a:rPr sz="650" b="0" i="0">
                <a:solidFill>
                  <a:srgbClr val="595959"/>
                </a:solidFill>
                <a:latin typeface="Trenda IG Text"/>
              </a:rPr>
              <a:t>Retry, then pause and escalate; the run resumes from its last checkpoint</a:t>
            </a:r>
          </a:p>
        </p:txBody>
      </p:sp>
      <p:sp>
        <p:nvSpPr>
          <p:cNvPr id="179" name="Shape 178"/>
          <p:cNvSpPr/>
          <p:nvPr/>
        </p:nvSpPr>
        <p:spPr>
          <a:xfrm>
            <a:off x="9436607" y="2450592"/>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9"/>
          <p:cNvSpPr txBox="1"/>
          <p:nvPr/>
        </p:nvSpPr>
        <p:spPr>
          <a:xfrm>
            <a:off x="9436607" y="2450592"/>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3</a:t>
            </a:r>
          </a:p>
        </p:txBody>
      </p:sp>
      <p:sp>
        <p:nvSpPr>
          <p:cNvPr id="181" name="Text 180"/>
          <p:cNvSpPr txBox="1"/>
          <p:nvPr/>
        </p:nvSpPr>
        <p:spPr>
          <a:xfrm>
            <a:off x="9692640" y="2441448"/>
            <a:ext cx="1993392" cy="155448"/>
          </a:xfrm>
          <a:prstGeom prst="rect">
            <a:avLst/>
          </a:prstGeom>
          <a:noFill/>
        </p:spPr>
        <p:txBody>
          <a:bodyPr wrap="square" lIns="0" rIns="0" tIns="0" bIns="0" anchor="t">
            <a:spAutoFit/>
          </a:bodyPr>
          <a:lstStyle/>
          <a:p>
            <a:r>
              <a:rPr sz="750" b="1" i="0">
                <a:solidFill>
                  <a:srgbClr val="000000"/>
                </a:solidFill>
                <a:latin typeface="Trenda IG Text"/>
              </a:rPr>
              <a:t>What if the output is wrong?</a:t>
            </a:r>
          </a:p>
        </p:txBody>
      </p:sp>
      <p:sp>
        <p:nvSpPr>
          <p:cNvPr id="182" name="Text 181"/>
          <p:cNvSpPr txBox="1"/>
          <p:nvPr/>
        </p:nvSpPr>
        <p:spPr>
          <a:xfrm>
            <a:off x="9692640" y="2592324"/>
            <a:ext cx="1993392" cy="237744"/>
          </a:xfrm>
          <a:prstGeom prst="rect">
            <a:avLst/>
          </a:prstGeom>
          <a:noFill/>
        </p:spPr>
        <p:txBody>
          <a:bodyPr wrap="square" lIns="0" rIns="0" tIns="0" bIns="0" anchor="t">
            <a:spAutoFit/>
          </a:bodyPr>
          <a:lstStyle/>
          <a:p>
            <a:r>
              <a:rPr sz="650" b="0" i="0">
                <a:solidFill>
                  <a:srgbClr val="595959"/>
                </a:solidFill>
                <a:latin typeface="Trenda IG Text"/>
              </a:rPr>
              <a:t>Step 04 and the accuracy guard: independent review and tests, fix loop to 03</a:t>
            </a:r>
          </a:p>
        </p:txBody>
      </p:sp>
      <p:sp>
        <p:nvSpPr>
          <p:cNvPr id="183" name="Shape 182"/>
          <p:cNvSpPr/>
          <p:nvPr/>
        </p:nvSpPr>
        <p:spPr>
          <a:xfrm>
            <a:off x="9436607" y="2866644"/>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Text 183"/>
          <p:cNvSpPr txBox="1"/>
          <p:nvPr/>
        </p:nvSpPr>
        <p:spPr>
          <a:xfrm>
            <a:off x="9436607" y="2866644"/>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4</a:t>
            </a:r>
          </a:p>
        </p:txBody>
      </p:sp>
      <p:sp>
        <p:nvSpPr>
          <p:cNvPr id="185" name="Text 184"/>
          <p:cNvSpPr txBox="1"/>
          <p:nvPr/>
        </p:nvSpPr>
        <p:spPr>
          <a:xfrm>
            <a:off x="9692640" y="2857500"/>
            <a:ext cx="1993392" cy="155448"/>
          </a:xfrm>
          <a:prstGeom prst="rect">
            <a:avLst/>
          </a:prstGeom>
          <a:noFill/>
        </p:spPr>
        <p:txBody>
          <a:bodyPr wrap="square" lIns="0" rIns="0" tIns="0" bIns="0" anchor="t">
            <a:spAutoFit/>
          </a:bodyPr>
          <a:lstStyle/>
          <a:p>
            <a:r>
              <a:rPr sz="750" b="1" i="0">
                <a:solidFill>
                  <a:srgbClr val="000000"/>
                </a:solidFill>
                <a:latin typeface="Trenda IG Text"/>
              </a:rPr>
              <a:t>What if it changes after approval?</a:t>
            </a:r>
          </a:p>
        </p:txBody>
      </p:sp>
      <p:sp>
        <p:nvSpPr>
          <p:cNvPr id="186" name="Text 185"/>
          <p:cNvSpPr txBox="1"/>
          <p:nvPr/>
        </p:nvSpPr>
        <p:spPr>
          <a:xfrm>
            <a:off x="9692640" y="3008376"/>
            <a:ext cx="1993392" cy="237744"/>
          </a:xfrm>
          <a:prstGeom prst="rect">
            <a:avLst/>
          </a:prstGeom>
          <a:noFill/>
        </p:spPr>
        <p:txBody>
          <a:bodyPr wrap="square" lIns="0" rIns="0" tIns="0" bIns="0" anchor="t">
            <a:spAutoFit/>
          </a:bodyPr>
          <a:lstStyle/>
          <a:p>
            <a:r>
              <a:rPr sz="650" b="0" i="0">
                <a:solidFill>
                  <a:srgbClr val="595959"/>
                </a:solidFill>
                <a:latin typeface="Trenda IG Text"/>
              </a:rPr>
              <a:t>Approvals are bound to the SHA; any change needs a new approval</a:t>
            </a:r>
          </a:p>
        </p:txBody>
      </p:sp>
      <p:sp>
        <p:nvSpPr>
          <p:cNvPr id="187" name="Shape 186"/>
          <p:cNvSpPr/>
          <p:nvPr/>
        </p:nvSpPr>
        <p:spPr>
          <a:xfrm>
            <a:off x="9436607" y="3282696"/>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8" name="Text 187"/>
          <p:cNvSpPr txBox="1"/>
          <p:nvPr/>
        </p:nvSpPr>
        <p:spPr>
          <a:xfrm>
            <a:off x="9436607" y="3282696"/>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5</a:t>
            </a:r>
          </a:p>
        </p:txBody>
      </p:sp>
      <p:sp>
        <p:nvSpPr>
          <p:cNvPr id="189" name="Text 188"/>
          <p:cNvSpPr txBox="1"/>
          <p:nvPr/>
        </p:nvSpPr>
        <p:spPr>
          <a:xfrm>
            <a:off x="9692640" y="3273552"/>
            <a:ext cx="1993392" cy="155448"/>
          </a:xfrm>
          <a:prstGeom prst="rect">
            <a:avLst/>
          </a:prstGeom>
          <a:noFill/>
        </p:spPr>
        <p:txBody>
          <a:bodyPr wrap="square" lIns="0" rIns="0" tIns="0" bIns="0" anchor="t">
            <a:spAutoFit/>
          </a:bodyPr>
          <a:lstStyle/>
          <a:p>
            <a:r>
              <a:rPr sz="750" b="1" i="0">
                <a:solidFill>
                  <a:srgbClr val="000000"/>
                </a:solidFill>
                <a:latin typeface="Trenda IG Text"/>
              </a:rPr>
              <a:t>Can one pod break another?</a:t>
            </a:r>
          </a:p>
        </p:txBody>
      </p:sp>
      <p:sp>
        <p:nvSpPr>
          <p:cNvPr id="190" name="Text 189"/>
          <p:cNvSpPr txBox="1"/>
          <p:nvPr/>
        </p:nvSpPr>
        <p:spPr>
          <a:xfrm>
            <a:off x="9692640" y="3424428"/>
            <a:ext cx="1993392" cy="237744"/>
          </a:xfrm>
          <a:prstGeom prst="rect">
            <a:avLst/>
          </a:prstGeom>
          <a:noFill/>
        </p:spPr>
        <p:txBody>
          <a:bodyPr wrap="square" lIns="0" rIns="0" tIns="0" bIns="0" anchor="t">
            <a:spAutoFit/>
          </a:bodyPr>
          <a:lstStyle/>
          <a:p>
            <a:r>
              <a:rPr sz="650" b="0" i="0">
                <a:solidFill>
                  <a:srgbClr val="595959"/>
                </a:solidFill>
                <a:latin typeface="Trenda IG Text"/>
              </a:rPr>
              <a:t>Change Guardian at design, commit and promotion; affected owners sign</a:t>
            </a:r>
          </a:p>
        </p:txBody>
      </p:sp>
      <p:sp>
        <p:nvSpPr>
          <p:cNvPr id="191" name="Shape 190"/>
          <p:cNvSpPr/>
          <p:nvPr/>
        </p:nvSpPr>
        <p:spPr>
          <a:xfrm>
            <a:off x="9436607" y="3698748"/>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91"/>
          <p:cNvSpPr txBox="1"/>
          <p:nvPr/>
        </p:nvSpPr>
        <p:spPr>
          <a:xfrm>
            <a:off x="9436607" y="3698748"/>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6</a:t>
            </a:r>
          </a:p>
        </p:txBody>
      </p:sp>
      <p:sp>
        <p:nvSpPr>
          <p:cNvPr id="193" name="Text 192"/>
          <p:cNvSpPr txBox="1"/>
          <p:nvPr/>
        </p:nvSpPr>
        <p:spPr>
          <a:xfrm>
            <a:off x="9692640" y="3689604"/>
            <a:ext cx="1993392" cy="155448"/>
          </a:xfrm>
          <a:prstGeom prst="rect">
            <a:avLst/>
          </a:prstGeom>
          <a:noFill/>
        </p:spPr>
        <p:txBody>
          <a:bodyPr wrap="square" lIns="0" rIns="0" tIns="0" bIns="0" anchor="t">
            <a:spAutoFit/>
          </a:bodyPr>
          <a:lstStyle/>
          <a:p>
            <a:r>
              <a:rPr sz="750" b="1" i="0">
                <a:solidFill>
                  <a:srgbClr val="000000"/>
                </a:solidFill>
                <a:latin typeface="Trenda IG Text"/>
              </a:rPr>
              <a:t>What if production fails?</a:t>
            </a:r>
          </a:p>
        </p:txBody>
      </p:sp>
      <p:sp>
        <p:nvSpPr>
          <p:cNvPr id="194" name="Text 193"/>
          <p:cNvSpPr txBox="1"/>
          <p:nvPr/>
        </p:nvSpPr>
        <p:spPr>
          <a:xfrm>
            <a:off x="9692640" y="3840480"/>
            <a:ext cx="1993392" cy="237744"/>
          </a:xfrm>
          <a:prstGeom prst="rect">
            <a:avLst/>
          </a:prstGeom>
          <a:noFill/>
        </p:spPr>
        <p:txBody>
          <a:bodyPr wrap="square" lIns="0" rIns="0" tIns="0" bIns="0" anchor="t">
            <a:spAutoFit/>
          </a:bodyPr>
          <a:lstStyle/>
          <a:p>
            <a:r>
              <a:rPr sz="650" b="0" i="0">
                <a:solidFill>
                  <a:srgbClr val="595959"/>
                </a:solidFill>
                <a:latin typeface="Trenda IG Text"/>
              </a:rPr>
              <a:t>Step 07 builds the rollback plan; the release owner, not an agent, deploys</a:t>
            </a:r>
          </a:p>
        </p:txBody>
      </p:sp>
      <p:sp>
        <p:nvSpPr>
          <p:cNvPr id="195" name="Shape 194"/>
          <p:cNvSpPr/>
          <p:nvPr/>
        </p:nvSpPr>
        <p:spPr>
          <a:xfrm>
            <a:off x="9436607" y="4114800"/>
            <a:ext cx="182880" cy="182880"/>
          </a:xfrm>
          <a:prstGeom prst="ellipse">
            <a:avLst/>
          </a:prstGeom>
          <a:solidFill>
            <a:srgbClr val="00000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6" name="Text 195"/>
          <p:cNvSpPr txBox="1"/>
          <p:nvPr/>
        </p:nvSpPr>
        <p:spPr>
          <a:xfrm>
            <a:off x="9436607" y="4114800"/>
            <a:ext cx="182880" cy="182880"/>
          </a:xfrm>
          <a:prstGeom prst="rect">
            <a:avLst/>
          </a:prstGeom>
          <a:noFill/>
        </p:spPr>
        <p:txBody>
          <a:bodyPr wrap="square" lIns="0" rIns="0" tIns="0" bIns="0" anchor="ctr">
            <a:spAutoFit/>
          </a:bodyPr>
          <a:lstStyle/>
          <a:p>
            <a:pPr algn="ctr"/>
            <a:r>
              <a:rPr sz="750" b="1" i="0">
                <a:solidFill>
                  <a:srgbClr val="FFFFFF"/>
                </a:solidFill>
                <a:latin typeface="Trenda IG Text"/>
              </a:rPr>
              <a:t>7</a:t>
            </a:r>
          </a:p>
        </p:txBody>
      </p:sp>
      <p:sp>
        <p:nvSpPr>
          <p:cNvPr id="197" name="Text 196"/>
          <p:cNvSpPr txBox="1"/>
          <p:nvPr/>
        </p:nvSpPr>
        <p:spPr>
          <a:xfrm>
            <a:off x="9692640" y="4105656"/>
            <a:ext cx="1993392" cy="155448"/>
          </a:xfrm>
          <a:prstGeom prst="rect">
            <a:avLst/>
          </a:prstGeom>
          <a:noFill/>
        </p:spPr>
        <p:txBody>
          <a:bodyPr wrap="square" lIns="0" rIns="0" tIns="0" bIns="0" anchor="t">
            <a:spAutoFit/>
          </a:bodyPr>
          <a:lstStyle/>
          <a:p>
            <a:r>
              <a:rPr sz="750" b="1" i="0">
                <a:solidFill>
                  <a:srgbClr val="000000"/>
                </a:solidFill>
                <a:latin typeface="Trenda IG Text"/>
              </a:rPr>
              <a:t>Does it solve our real problem?</a:t>
            </a:r>
          </a:p>
        </p:txBody>
      </p:sp>
      <p:sp>
        <p:nvSpPr>
          <p:cNvPr id="198" name="Text 197"/>
          <p:cNvSpPr txBox="1"/>
          <p:nvPr/>
        </p:nvSpPr>
        <p:spPr>
          <a:xfrm>
            <a:off x="9692640" y="4256532"/>
            <a:ext cx="1993392" cy="237744"/>
          </a:xfrm>
          <a:prstGeom prst="rect">
            <a:avLst/>
          </a:prstGeom>
          <a:noFill/>
        </p:spPr>
        <p:txBody>
          <a:bodyPr wrap="square" lIns="0" rIns="0" tIns="0" bIns="0" anchor="t">
            <a:spAutoFit/>
          </a:bodyPr>
          <a:lstStyle/>
          <a:p>
            <a:r>
              <a:rPr sz="650" b="0" i="0">
                <a:solidFill>
                  <a:srgbClr val="595959"/>
                </a:solidFill>
                <a:latin typeface="Trenda IG Text"/>
              </a:rPr>
              <a:t>Step 02: the graph stops duplicate and conflicting builds before they start</a:t>
            </a:r>
          </a:p>
        </p:txBody>
      </p:sp>
      <p:sp>
        <p:nvSpPr>
          <p:cNvPr id="199" name="Shape 198"/>
          <p:cNvSpPr/>
          <p:nvPr/>
        </p:nvSpPr>
        <p:spPr>
          <a:xfrm>
            <a:off x="9418319" y="4549140"/>
            <a:ext cx="2267712" cy="167792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99"/>
          <p:cNvSpPr/>
          <p:nvPr/>
        </p:nvSpPr>
        <p:spPr>
          <a:xfrm>
            <a:off x="9509759" y="4640579"/>
            <a:ext cx="146304" cy="146304"/>
          </a:xfrm>
          <a:prstGeom prst="star5">
            <a:avLst/>
          </a:prstGeom>
          <a:solidFill>
            <a:srgbClr val="FFD700"/>
          </a:solid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200"/>
          <p:cNvSpPr txBox="1"/>
          <p:nvPr/>
        </p:nvSpPr>
        <p:spPr>
          <a:xfrm>
            <a:off x="9710928" y="4631436"/>
            <a:ext cx="1901952" cy="164592"/>
          </a:xfrm>
          <a:prstGeom prst="rect">
            <a:avLst/>
          </a:prstGeom>
          <a:noFill/>
        </p:spPr>
        <p:txBody>
          <a:bodyPr wrap="square" lIns="0" rIns="0" tIns="0" bIns="0" anchor="ctr">
            <a:spAutoFit/>
          </a:bodyPr>
          <a:lstStyle/>
          <a:p>
            <a:r>
              <a:rPr sz="650" b="1" i="0" spc="150">
                <a:solidFill>
                  <a:srgbClr val="FFFFFF"/>
                </a:solidFill>
                <a:latin typeface="Trenda IG Text"/>
              </a:rPr>
              <a:t>THE X-FACTOR</a:t>
            </a:r>
          </a:p>
        </p:txBody>
      </p:sp>
      <p:sp>
        <p:nvSpPr>
          <p:cNvPr id="202" name="Text 201"/>
          <p:cNvSpPr txBox="1"/>
          <p:nvPr/>
        </p:nvSpPr>
        <p:spPr>
          <a:xfrm>
            <a:off x="9509759" y="4860036"/>
            <a:ext cx="2103120" cy="1312164"/>
          </a:xfrm>
          <a:prstGeom prst="rect">
            <a:avLst/>
          </a:prstGeom>
          <a:noFill/>
        </p:spPr>
        <p:txBody>
          <a:bodyPr wrap="square" lIns="0" rIns="0" tIns="0" bIns="0" anchor="t">
            <a:spAutoFit/>
          </a:bodyPr>
          <a:lstStyle/>
          <a:p>
            <a:pPr>
              <a:spcAft>
                <a:spcPts val="300"/>
              </a:spcAft>
            </a:pPr>
            <a:r>
              <a:rPr sz="700" b="1" i="0">
                <a:solidFill>
                  <a:srgbClr val="FFD700"/>
                </a:solidFill>
                <a:latin typeface="Trenda IG Text"/>
              </a:rPr>
              <a:t>Approval cannot drift. </a:t>
            </a:r>
            <a:r>
              <a:rPr sz="700" b="0" i="0">
                <a:solidFill>
                  <a:srgbClr val="FFFFFF"/>
                </a:solidFill>
                <a:latin typeface="Trenda IG Text"/>
              </a:rPr>
              <a:t>Every gate signs one specific SHA.</a:t>
            </a:r>
          </a:p>
          <a:p>
            <a:pPr>
              <a:spcAft>
                <a:spcPts val="300"/>
              </a:spcAft>
            </a:pPr>
            <a:r>
              <a:rPr sz="700" b="1" i="0">
                <a:solidFill>
                  <a:srgbClr val="FFD700"/>
                </a:solidFill>
                <a:latin typeface="Trenda IG Text"/>
              </a:rPr>
              <a:t>No agent marks its own homework. </a:t>
            </a:r>
            <a:r>
              <a:rPr sz="700" b="0" i="0">
                <a:solidFill>
                  <a:srgbClr val="FFFFFF"/>
                </a:solidFill>
                <a:latin typeface="Trenda IG Text"/>
              </a:rPr>
              <a:t>Build, review, test and the Guardian are separate.</a:t>
            </a:r>
          </a:p>
          <a:p>
            <a:pPr>
              <a:spcAft>
                <a:spcPts val="300"/>
              </a:spcAft>
            </a:pPr>
            <a:r>
              <a:rPr sz="700" b="1" i="0">
                <a:solidFill>
                  <a:srgbClr val="FFD700"/>
                </a:solidFill>
                <a:latin typeface="Trenda IG Text"/>
              </a:rPr>
              <a:t>A broken step resumes. </a:t>
            </a:r>
            <a:r>
              <a:rPr sz="700" b="0" i="0">
                <a:solidFill>
                  <a:srgbClr val="FFFFFF"/>
                </a:solidFill>
                <a:latin typeface="Trenda IG Text"/>
              </a:rPr>
              <a:t>Approved work is never redone.</a:t>
            </a:r>
          </a:p>
          <a:p>
            <a:pPr>
              <a:spcAft>
                <a:spcPts val="300"/>
              </a:spcAft>
            </a:pPr>
            <a:r>
              <a:rPr sz="700" b="1" i="0">
                <a:solidFill>
                  <a:srgbClr val="FFD700"/>
                </a:solidFill>
                <a:latin typeface="Trenda IG Text"/>
              </a:rPr>
              <a:t>CAB evidence builds itself. </a:t>
            </a:r>
            <a:r>
              <a:rPr sz="700" b="0" i="0">
                <a:solidFill>
                  <a:srgbClr val="FFFFFF"/>
                </a:solidFill>
                <a:latin typeface="Trenda IG Text"/>
              </a:rPr>
              <a:t>The change passport is written as the run moves.</a:t>
            </a:r>
          </a:p>
          <a:p>
            <a:pPr>
              <a:spcAft>
                <a:spcPts val="300"/>
              </a:spcAft>
            </a:pPr>
            <a:r>
              <a:rPr sz="700" b="1" i="0">
                <a:solidFill>
                  <a:srgbClr val="FFD700"/>
                </a:solidFill>
                <a:latin typeface="Trenda IG Text"/>
              </a:rPr>
              <a:t>Every release teaches the system, </a:t>
            </a:r>
            <a:r>
              <a:rPr sz="700" b="0" i="0">
                <a:solidFill>
                  <a:srgbClr val="FFFFFF"/>
                </a:solidFill>
                <a:latin typeface="Trenda IG Text"/>
              </a:rPr>
              <a:t>without training a model on patient data.</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14027</Words>
  <Application>Microsoft Office PowerPoint</Application>
  <PresentationFormat>Widescreen</PresentationFormat>
  <Paragraphs>1586</Paragraphs>
  <Slides>14</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Arial</vt:lpstr>
      <vt:lpstr>Courier New</vt:lpstr>
      <vt:lpstr>Trenda IG Display</vt:lpstr>
      <vt:lpstr>Trenda IG Display Bold</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2026-10-11T03:44:01Z</dcterms:modified>
</cp:coreProperties>
</file>