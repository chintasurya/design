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3" r:id="rId3"/>
    <p:sldId id="329" r:id="rId23"/>
    <p:sldId id="330" r:id="rId24"/>
    <p:sldId id="256" r:id="rId4"/>
    <p:sldId id="319" r:id="rId5"/>
    <p:sldId id="324" r:id="rId6"/>
    <p:sldId id="325" r:id="rId7"/>
    <p:sldId id="327" r:id="rId8"/>
    <p:sldId id="328" r:id="rId9"/>
    <p:sldId id="326" r:id="rId10"/>
    <p:sldId id="331" r:id="rId25"/>
    <p:sldId id="332" r:id="rId26"/>
    <p:sldId id="333" r:id="rId27"/>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6.5</c:v>
                </c:pt>
                <c:pt idx="1">
                  <c:v>16.5</c:v>
                </c:pt>
                <c:pt idx="2">
                  <c:v>16.5</c:v>
                </c:pt>
                <c:pt idx="3">
                  <c:v>16.5</c:v>
                </c:pt>
                <c:pt idx="4">
                  <c:v>16.5</c:v>
                </c:pt>
                <c:pt idx="5">
                  <c:v>25</c:v>
                </c:pt>
                <c:pt idx="6">
                  <c:v>25</c:v>
                </c:pt>
                <c:pt idx="7">
                  <c:v>25</c:v>
                </c:pt>
                <c:pt idx="8">
                  <c:v>25</c:v>
                </c:pt>
                <c:pt idx="9">
                  <c:v>23</c:v>
                </c:pt>
                <c:pt idx="10">
                  <c:v>23</c:v>
                </c:pt>
                <c:pt idx="11">
                  <c:v>25.5</c:v>
                </c:pt>
                <c:pt idx="12">
                  <c:v>25.5</c:v>
                </c:pt>
                <c:pt idx="13">
                  <c:v>25.5</c:v>
                </c:pt>
                <c:pt idx="14">
                  <c:v>25.5</c:v>
                </c:pt>
                <c:pt idx="15">
                  <c:v>25.5</c:v>
                </c:pt>
                <c:pt idx="16">
                  <c:v>25.5</c:v>
                </c:pt>
                <c:pt idx="17">
                  <c:v>10</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3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MAD,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26 people at peak across 14 roles, every role delivered offshore, sized from the phase plan: 381.5 FTE-months over 18 months.</a:t>
            </a:r>
          </a:p>
          <a:p/>
          <a:p>
            <a:r>
              <a:t>RAMP (FTE by phase)</a:t>
            </a:r>
          </a:p>
          <a:p>
            <a:r>
              <a:t>6.5 in month 1, 16.5 in months 2-5, 25 in months 6-9, 23 in months 10-11, 25.5 in months 12-14, 25.5 in months 15-17, 10 in month 18.</a:t>
            </a:r>
          </a:p>
          <a:p/>
          <a:p>
            <a:r>
              <a:t>HOW THE NUMBERS ARE BUILT</a:t>
            </a:r>
          </a:p>
          <a:p>
            <a:r>
              <a:t>Each role has an FTE per phase (plan_slides.py). Peak is that role's highest phase; "On team" is first to last month with any allocation. The security engineer is part-time except during the pilot and hardening, when the pen test and production authorisation happen.</a:t>
            </a:r>
          </a:p>
          <a:p/>
          <a:p>
            <a:r>
              <a:t>WHY THE TEAM IS THIS SIZE</a:t>
            </a:r>
          </a:p>
          <a:p>
            <a:r>
              <a:t>- Scale waves run pods in parallel: 4 Health Cloud developers and 3 QA engineers in months 12-17 so three to five pods onboard at once without lowering the pilots' quality bar.</a:t>
            </a:r>
          </a:p>
          <a:p>
            <a:r>
              <a:t>- 3 knowledge graph engineers: six connectors first, then every new pod's sources in each wave.</a:t>
            </a:r>
          </a:p>
          <a:p>
            <a:r>
              <a:t>- 3 AI agent engineers + an AI lead: the agents, prompts, skills and the evaluation set are the product.</a:t>
            </a:r>
          </a:p>
          <a:p>
            <a:r>
              <a:t>- 2 Marketing / Data Cloud developers: the Nudge pilot and the Marketing Cloud pods in the waves.</a:t>
            </a:r>
          </a:p>
          <a:p>
            <a:r>
              <a:t>- A project manager alongside the engagement lead: 18 months, seven gates, nine to ten pods.</a:t>
            </a:r>
          </a:p>
          <a:p/>
          <a:p>
            <a:r>
              <a:t>NOT IN THE COUNT</a:t>
            </a:r>
          </a:p>
          <a:p>
            <a:r>
              <a:t>Ascension's product owners, approvers, release owner, security reviewers, cloud team and Salesforce / Copado admins.</a:t>
            </a:r>
          </a:p>
          <a:p/>
          <a:p>
            <a:r>
              <a:t>AFTER MONTH 18</a:t>
            </a:r>
          </a:p>
          <a:p>
            <a:r>
              <a:t>A run team of 6, offshore: one lead and five engineers (GCP, graph, agents, Salesforce, QA).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($45-85/h, blended $60/h). Replace them with the Insight Global rate card in plan_slides.py and rebuild before this slide goes to Ascension.</a:t>
            </a:r>
          </a:p>
          <a:p/>
          <a:p>
            <a:r>
              <a:t>KEY MESSAGE</a:t>
            </a:r>
          </a:p>
          <a:p>
            <a:r>
              <a:t>$4.03M as a fixed fee over 18 months, invoiced only when each gate is signed. Platform usage is passed through at cost. After month 18, a managed service.</a:t>
            </a:r>
          </a:p>
          <a:p/>
          <a:p>
            <a:r>
              <a:t>THE OPTIONS</a:t>
            </a:r>
          </a:p>
          <a:p>
            <a:r>
              <a:t>- A, fixed fee by gate (recommended): Ascension pays for a phase only when its gate passes; Insight Global carries delivery risk (10% in the price).</a:t>
            </a:r>
          </a:p>
          <a:p>
            <a:r>
              <a:t>- B, time and materials with a cap per phase: $3.66M estimated; Ascension carries overrun risk up to the cap.</a:t>
            </a:r>
          </a:p>
          <a:p>
            <a:r>
              <a:t>- C, managed service from month 19: $58K a month for a run team of 6, plus platform at cost.</a:t>
            </a:r>
          </a:p>
          <a:p/>
          <a:p>
            <a:r>
              <a:t>IF ASCENSION ASKS FOR A LOWER NUMBER: TRADE SCOPE OR RISK, NOT RATES</a:t>
            </a:r>
          </a:p>
          <a:p>
            <a:r>
              <a:t>- Move to option B (time and materials, capped): $3.66M.</a:t>
            </a:r>
          </a:p>
          <a:p>
            <a:r>
              <a:t>- Contract wave 2 later, as a per-pod onboarding fee once wave 1 has proved the savings: removes $0.79M now, so the fixed fee becomes $3.24M.</a:t>
            </a:r>
          </a:p>
          <a:p>
            <a:r>
              <a:t>- Both levers together: about $2.95M.</a:t>
            </a:r>
          </a:p>
          <a:p>
            <a:r>
              <a:t>- Lower the risk premium to 5% in exchange for Ascension owning gate dates: $3.85M.</a:t>
            </a:r>
          </a:p>
          <a:p>
            <a:r>
              <a:t>Each lever keeps the rate card intact and leaves the delivery plan honest.</a:t>
            </a:r>
          </a:p>
          <a:p/>
          <a:p>
            <a:r>
              <a:t>VALUE CHECK</a:t>
            </a:r>
          </a:p>
          <a:p>
            <a:r>
              <a:t>The business outcomes slide plans 20-25% lower net run cost per pod. Every $10M of pod delivery spend saves $2.0-2.5M a year, which pays the fixed fee back in about 1.6 to 2.0 years. The 14-person pod example (about $2.47M a year, from the Agentic Delivery deck) alone saves $0.49-0.62M a year.</a:t>
            </a:r>
          </a:p>
          <a:p/>
          <a:p>
            <a:r>
              <a:t>NOT INCLUDED</a:t>
            </a:r>
          </a:p>
          <a:p>
            <a:r>
              <a:t>Ascension staff time; existing Salesforce, Copado and Atlassian licences; OpenAI enterprise terms.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rIns="0" t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2056383"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4155440"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625449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04024"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87831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10177272" y="581558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10177272" y="554126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26 people at peak across 14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25.5 FTE at peak, 381.5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Technology and skills</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4990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301752"/>
          </a:xfrm>
          <a:prstGeom prst="rect">
            <a:avLst/>
          </a:prstGeom>
          <a:noFill/>
        </p:spPr>
        <p:txBody>
          <a:bodyPr wrap="square" lIns="0" rIns="0" tIns="0" bIns="0" anchor="ctr">
            <a:spAutoFit/>
          </a:bodyPr>
          <a:lstStyle/>
          <a:p>
            <a:r>
              <a:rPr sz="750" b="1" i="0">
                <a:solidFill>
                  <a:srgbClr val="000000"/>
                </a:solidFill>
                <a:latin typeface="Trenda IG Text"/>
              </a:rPr>
              <a:t>Engagement / delivery lead</a:t>
            </a:r>
          </a:p>
        </p:txBody>
      </p:sp>
      <p:sp>
        <p:nvSpPr>
          <p:cNvPr id="14" name="Text 13"/>
          <p:cNvSpPr txBox="1"/>
          <p:nvPr/>
        </p:nvSpPr>
        <p:spPr>
          <a:xfrm>
            <a:off x="2606040" y="1444752"/>
            <a:ext cx="3438144" cy="301752"/>
          </a:xfrm>
          <a:prstGeom prst="rect">
            <a:avLst/>
          </a:prstGeom>
          <a:noFill/>
        </p:spPr>
        <p:txBody>
          <a:bodyPr wrap="square" lIns="0" rIns="0" tIns="0" bIns="0" anchor="ctr">
            <a:spAutoFit/>
          </a:bodyPr>
          <a:lstStyle/>
          <a:p>
            <a:r>
              <a:rPr sz="700" b="0" i="0">
                <a:solidFill>
                  <a:srgbClr val="000000"/>
                </a:solidFill>
                <a:latin typeface="Trenda IG Text"/>
              </a:rPr>
              <a:t>Delivery governance, gates, pod onboarding plan</a:t>
            </a:r>
          </a:p>
        </p:txBody>
      </p:sp>
      <p:sp>
        <p:nvSpPr>
          <p:cNvPr id="15" name="Text 14"/>
          <p:cNvSpPr txBox="1"/>
          <p:nvPr/>
        </p:nvSpPr>
        <p:spPr>
          <a:xfrm>
            <a:off x="6126480" y="144475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185166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746504"/>
            <a:ext cx="1911095" cy="301752"/>
          </a:xfrm>
          <a:prstGeom prst="rect">
            <a:avLst/>
          </a:prstGeom>
          <a:noFill/>
        </p:spPr>
        <p:txBody>
          <a:bodyPr wrap="square" lIns="0" rIns="0" tIns="0" bIns="0" anchor="ctr">
            <a:spAutoFit/>
          </a:bodyPr>
          <a:lstStyle/>
          <a:p>
            <a:r>
              <a:rPr sz="750" b="1" i="0">
                <a:solidFill>
                  <a:srgbClr val="000000"/>
                </a:solidFill>
                <a:latin typeface="Trenda IG Text"/>
              </a:rPr>
              <a:t>Project manager / scrum master</a:t>
            </a:r>
          </a:p>
        </p:txBody>
      </p:sp>
      <p:sp>
        <p:nvSpPr>
          <p:cNvPr id="20" name="Text 19"/>
          <p:cNvSpPr txBox="1"/>
          <p:nvPr/>
        </p:nvSpPr>
        <p:spPr>
          <a:xfrm>
            <a:off x="2606040" y="1746504"/>
            <a:ext cx="3438144" cy="301752"/>
          </a:xfrm>
          <a:prstGeom prst="rect">
            <a:avLst/>
          </a:prstGeom>
          <a:noFill/>
        </p:spPr>
        <p:txBody>
          <a:bodyPr wrap="square" lIns="0" rIns="0" tIns="0" bIns="0" anchor="ctr">
            <a:spAutoFit/>
          </a:bodyPr>
          <a:lstStyle/>
          <a:p>
            <a:r>
              <a:rPr sz="700" b="0" i="0">
                <a:solidFill>
                  <a:srgbClr val="000000"/>
                </a:solidFill>
                <a:latin typeface="Trenda IG Text"/>
              </a:rPr>
              <a:t>Sprint plans, RAID log, Jira, gate evidence packs</a:t>
            </a:r>
          </a:p>
        </p:txBody>
      </p:sp>
      <p:sp>
        <p:nvSpPr>
          <p:cNvPr id="21" name="Text 20"/>
          <p:cNvSpPr txBox="1"/>
          <p:nvPr/>
        </p:nvSpPr>
        <p:spPr>
          <a:xfrm>
            <a:off x="6126480" y="174650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74650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746504"/>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24" name="Shape 23"/>
          <p:cNvSpPr/>
          <p:nvPr/>
        </p:nvSpPr>
        <p:spPr>
          <a:xfrm>
            <a:off x="411480" y="204825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15341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048256"/>
            <a:ext cx="1911095" cy="301752"/>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7" name="Text 26"/>
          <p:cNvSpPr txBox="1"/>
          <p:nvPr/>
        </p:nvSpPr>
        <p:spPr>
          <a:xfrm>
            <a:off x="2606040" y="2048256"/>
            <a:ext cx="3438144" cy="301752"/>
          </a:xfrm>
          <a:prstGeom prst="rect">
            <a:avLst/>
          </a:prstGeom>
          <a:noFill/>
        </p:spPr>
        <p:txBody>
          <a:bodyPr wrap="square" lIns="0" rIns="0" tIns="0" bIns="0" anchor="ctr">
            <a:spAutoFit/>
          </a:bodyPr>
          <a:lstStyle/>
          <a:p>
            <a:r>
              <a:rPr sz="700" b="0" i="0">
                <a:solidFill>
                  <a:srgbClr val="000000"/>
                </a:solidFill>
                <a:latin typeface="Trenda IG Text"/>
              </a:rPr>
              <a:t>GCP + Salesforce architecture, Spanner Graph model, security design</a:t>
            </a:r>
          </a:p>
        </p:txBody>
      </p:sp>
      <p:sp>
        <p:nvSpPr>
          <p:cNvPr id="28" name="Text 27"/>
          <p:cNvSpPr txBox="1"/>
          <p:nvPr/>
        </p:nvSpPr>
        <p:spPr>
          <a:xfrm>
            <a:off x="6126480" y="204825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04825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048256"/>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455164"/>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350008"/>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lead</a:t>
            </a:r>
          </a:p>
        </p:txBody>
      </p:sp>
      <p:sp>
        <p:nvSpPr>
          <p:cNvPr id="33" name="Text 32"/>
          <p:cNvSpPr txBox="1"/>
          <p:nvPr/>
        </p:nvSpPr>
        <p:spPr>
          <a:xfrm>
            <a:off x="2606040" y="2350008"/>
            <a:ext cx="3438144" cy="301752"/>
          </a:xfrm>
          <a:prstGeom prst="rect">
            <a:avLst/>
          </a:prstGeom>
          <a:noFill/>
        </p:spPr>
        <p:txBody>
          <a:bodyPr wrap="square" lIns="0" rIns="0" tIns="0" bIns="0" anchor="ctr">
            <a:spAutoFit/>
          </a:bodyPr>
          <a:lstStyle/>
          <a:p>
            <a:r>
              <a:rPr sz="700" b="0" i="0">
                <a:solidFill>
                  <a:srgbClr val="000000"/>
                </a:solidFill>
                <a:latin typeface="Trenda IG Text"/>
              </a:rPr>
              <a:t>OpenAI Agents SDK, Codex SDK, MCP, prompts, skills, evaluations</a:t>
            </a:r>
          </a:p>
        </p:txBody>
      </p:sp>
      <p:sp>
        <p:nvSpPr>
          <p:cNvPr id="34" name="Text 33"/>
          <p:cNvSpPr txBox="1"/>
          <p:nvPr/>
        </p:nvSpPr>
        <p:spPr>
          <a:xfrm>
            <a:off x="6126480" y="235000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35" name="Text 34"/>
          <p:cNvSpPr txBox="1"/>
          <p:nvPr/>
        </p:nvSpPr>
        <p:spPr>
          <a:xfrm>
            <a:off x="6629400" y="235000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35000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7" name="Shape 36"/>
          <p:cNvSpPr/>
          <p:nvPr/>
        </p:nvSpPr>
        <p:spPr>
          <a:xfrm>
            <a:off x="411480" y="265176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2756916"/>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2651760"/>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engineers</a:t>
            </a:r>
          </a:p>
        </p:txBody>
      </p:sp>
      <p:sp>
        <p:nvSpPr>
          <p:cNvPr id="40" name="Text 39"/>
          <p:cNvSpPr txBox="1"/>
          <p:nvPr/>
        </p:nvSpPr>
        <p:spPr>
          <a:xfrm>
            <a:off x="2606040" y="2651760"/>
            <a:ext cx="3438144" cy="301752"/>
          </a:xfrm>
          <a:prstGeom prst="rect">
            <a:avLst/>
          </a:prstGeom>
          <a:noFill/>
        </p:spPr>
        <p:txBody>
          <a:bodyPr wrap="square" lIns="0" rIns="0" tIns="0" bIns="0" anchor="ctr">
            <a:spAutoFit/>
          </a:bodyPr>
          <a:lstStyle/>
          <a:p>
            <a:r>
              <a:rPr sz="700" b="0" i="0">
                <a:solidFill>
                  <a:srgbClr val="000000"/>
                </a:solidFill>
                <a:latin typeface="Trenda IG Text"/>
              </a:rPr>
              <a:t>Python, Agents SDK, headless Codex, MCP tools, JSON Schema outputs</a:t>
            </a:r>
          </a:p>
        </p:txBody>
      </p:sp>
      <p:sp>
        <p:nvSpPr>
          <p:cNvPr id="41" name="Text 40"/>
          <p:cNvSpPr txBox="1"/>
          <p:nvPr/>
        </p:nvSpPr>
        <p:spPr>
          <a:xfrm>
            <a:off x="6126480" y="265176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2" name="Text 41"/>
          <p:cNvSpPr txBox="1"/>
          <p:nvPr/>
        </p:nvSpPr>
        <p:spPr>
          <a:xfrm>
            <a:off x="6629400" y="265176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265176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44" name="Shape 43"/>
          <p:cNvSpPr/>
          <p:nvPr/>
        </p:nvSpPr>
        <p:spPr>
          <a:xfrm>
            <a:off x="466344" y="305866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2953512"/>
            <a:ext cx="1911095" cy="301752"/>
          </a:xfrm>
          <a:prstGeom prst="rect">
            <a:avLst/>
          </a:prstGeom>
          <a:noFill/>
        </p:spPr>
        <p:txBody>
          <a:bodyPr wrap="square" lIns="0" rIns="0" tIns="0" bIns="0" anchor="ctr">
            <a:spAutoFit/>
          </a:bodyPr>
          <a:lstStyle/>
          <a:p>
            <a:r>
              <a:rPr sz="750" b="1" i="0">
                <a:solidFill>
                  <a:srgbClr val="000000"/>
                </a:solidFill>
                <a:latin typeface="Trenda IG Text"/>
              </a:rPr>
              <a:t>GCP platform engineers</a:t>
            </a:r>
          </a:p>
        </p:txBody>
      </p:sp>
      <p:sp>
        <p:nvSpPr>
          <p:cNvPr id="46" name="Text 45"/>
          <p:cNvSpPr txBox="1"/>
          <p:nvPr/>
        </p:nvSpPr>
        <p:spPr>
          <a:xfrm>
            <a:off x="2606040" y="2953512"/>
            <a:ext cx="3438144" cy="301752"/>
          </a:xfrm>
          <a:prstGeom prst="rect">
            <a:avLst/>
          </a:prstGeom>
          <a:noFill/>
        </p:spPr>
        <p:txBody>
          <a:bodyPr wrap="square" lIns="0" rIns="0" tIns="0" bIns="0" anchor="ctr">
            <a:spAutoFit/>
          </a:bodyPr>
          <a:lstStyle/>
          <a:p>
            <a:r>
              <a:rPr sz="700" b="0" i="0">
                <a:solidFill>
                  <a:srgbClr val="000000"/>
                </a:solidFill>
                <a:latin typeface="Trenda IG Text"/>
              </a:rPr>
              <a:t>Terraform, Cloud Run, Workflows, Firestore, IAM, VPC-SC, Cloud Build</a:t>
            </a:r>
          </a:p>
        </p:txBody>
      </p:sp>
      <p:sp>
        <p:nvSpPr>
          <p:cNvPr id="47" name="Text 46"/>
          <p:cNvSpPr txBox="1"/>
          <p:nvPr/>
        </p:nvSpPr>
        <p:spPr>
          <a:xfrm>
            <a:off x="6126480" y="295351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8" name="Text 47"/>
          <p:cNvSpPr txBox="1"/>
          <p:nvPr/>
        </p:nvSpPr>
        <p:spPr>
          <a:xfrm>
            <a:off x="6629400" y="295351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295351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255264"/>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3360420"/>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255264"/>
            <a:ext cx="1911095" cy="301752"/>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53" name="Text 52"/>
          <p:cNvSpPr txBox="1"/>
          <p:nvPr/>
        </p:nvSpPr>
        <p:spPr>
          <a:xfrm>
            <a:off x="2606040" y="3255264"/>
            <a:ext cx="3438144" cy="301752"/>
          </a:xfrm>
          <a:prstGeom prst="rect">
            <a:avLst/>
          </a:prstGeom>
          <a:noFill/>
        </p:spPr>
        <p:txBody>
          <a:bodyPr wrap="square" lIns="0" rIns="0" tIns="0" bIns="0" anchor="ctr">
            <a:spAutoFit/>
          </a:bodyPr>
          <a:lstStyle/>
          <a:p>
            <a:r>
              <a:rPr sz="700" b="0" i="0">
                <a:solidFill>
                  <a:srgbClr val="000000"/>
                </a:solidFill>
                <a:latin typeface="Trenda IG Text"/>
              </a:rPr>
              <a:t>Python connectors, Spanner Graph (GQL), DLP, Jira / Confluence / SF APIs</a:t>
            </a:r>
          </a:p>
        </p:txBody>
      </p:sp>
      <p:sp>
        <p:nvSpPr>
          <p:cNvPr id="54" name="Text 53"/>
          <p:cNvSpPr txBox="1"/>
          <p:nvPr/>
        </p:nvSpPr>
        <p:spPr>
          <a:xfrm>
            <a:off x="6126480" y="325526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55" name="Text 54"/>
          <p:cNvSpPr txBox="1"/>
          <p:nvPr/>
        </p:nvSpPr>
        <p:spPr>
          <a:xfrm>
            <a:off x="6629400" y="325526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25526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3662172"/>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3557016"/>
            <a:ext cx="1911095" cy="301752"/>
          </a:xfrm>
          <a:prstGeom prst="rect">
            <a:avLst/>
          </a:prstGeom>
          <a:noFill/>
        </p:spPr>
        <p:txBody>
          <a:bodyPr wrap="square" lIns="0" rIns="0" tIns="0" bIns="0" anchor="ctr">
            <a:spAutoFit/>
          </a:bodyPr>
          <a:lstStyle/>
          <a:p>
            <a:r>
              <a:rPr sz="750" b="1" i="0">
                <a:solidFill>
                  <a:srgbClr val="000000"/>
                </a:solidFill>
                <a:latin typeface="Trenda IG Text"/>
              </a:rPr>
              <a:t>Python backend engineer</a:t>
            </a:r>
          </a:p>
        </p:txBody>
      </p:sp>
      <p:sp>
        <p:nvSpPr>
          <p:cNvPr id="59" name="Text 58"/>
          <p:cNvSpPr txBox="1"/>
          <p:nvPr/>
        </p:nvSpPr>
        <p:spPr>
          <a:xfrm>
            <a:off x="2606040" y="3557016"/>
            <a:ext cx="3438144" cy="301752"/>
          </a:xfrm>
          <a:prstGeom prst="rect">
            <a:avLst/>
          </a:prstGeom>
          <a:noFill/>
        </p:spPr>
        <p:txBody>
          <a:bodyPr wrap="square" lIns="0" rIns="0" tIns="0" bIns="0" anchor="ctr">
            <a:spAutoFit/>
          </a:bodyPr>
          <a:lstStyle/>
          <a:p>
            <a:r>
              <a:rPr sz="700" b="0" i="0">
                <a:solidFill>
                  <a:srgbClr val="000000"/>
                </a:solidFill>
                <a:latin typeface="Trenda IG Text"/>
              </a:rPr>
              <a:t>FastAPI services: gateway, approval, Guardian; OPA (Rego)</a:t>
            </a:r>
          </a:p>
        </p:txBody>
      </p:sp>
      <p:sp>
        <p:nvSpPr>
          <p:cNvPr id="60" name="Text 59"/>
          <p:cNvSpPr txBox="1"/>
          <p:nvPr/>
        </p:nvSpPr>
        <p:spPr>
          <a:xfrm>
            <a:off x="6126480" y="355701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355701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3557016"/>
            <a:ext cx="694943" cy="30175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63" name="Shape 62"/>
          <p:cNvSpPr/>
          <p:nvPr/>
        </p:nvSpPr>
        <p:spPr>
          <a:xfrm>
            <a:off x="411480" y="3858768"/>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3963924"/>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3858768"/>
            <a:ext cx="1911095" cy="301752"/>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66" name="Text 65"/>
          <p:cNvSpPr txBox="1"/>
          <p:nvPr/>
        </p:nvSpPr>
        <p:spPr>
          <a:xfrm>
            <a:off x="2606040" y="3858768"/>
            <a:ext cx="3438144" cy="301752"/>
          </a:xfrm>
          <a:prstGeom prst="rect">
            <a:avLst/>
          </a:prstGeom>
          <a:noFill/>
        </p:spPr>
        <p:txBody>
          <a:bodyPr wrap="square" lIns="0" rIns="0" tIns="0" bIns="0" anchor="ctr">
            <a:spAutoFit/>
          </a:bodyPr>
          <a:lstStyle/>
          <a:p>
            <a:r>
              <a:rPr sz="700" b="0" i="0">
                <a:solidFill>
                  <a:srgbClr val="000000"/>
                </a:solidFill>
                <a:latin typeface="Trenda IG Text"/>
              </a:rPr>
              <a:t>Apex, LWC, Flow, Metadata + Tooling API, sf CLI, pod skills</a:t>
            </a:r>
          </a:p>
        </p:txBody>
      </p:sp>
      <p:sp>
        <p:nvSpPr>
          <p:cNvPr id="67" name="Text 66"/>
          <p:cNvSpPr txBox="1"/>
          <p:nvPr/>
        </p:nvSpPr>
        <p:spPr>
          <a:xfrm>
            <a:off x="6126480" y="385876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68" name="Text 67"/>
          <p:cNvSpPr txBox="1"/>
          <p:nvPr/>
        </p:nvSpPr>
        <p:spPr>
          <a:xfrm>
            <a:off x="6629400" y="385876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3858768"/>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426567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4160520"/>
            <a:ext cx="1911095" cy="301752"/>
          </a:xfrm>
          <a:prstGeom prst="rect">
            <a:avLst/>
          </a:prstGeom>
          <a:noFill/>
        </p:spPr>
        <p:txBody>
          <a:bodyPr wrap="square" lIns="0" rIns="0" tIns="0" bIns="0" anchor="ctr">
            <a:spAutoFit/>
          </a:bodyPr>
          <a:lstStyle/>
          <a:p>
            <a:r>
              <a:rPr sz="750" b="1" i="0">
                <a:solidFill>
                  <a:srgbClr val="000000"/>
                </a:solidFill>
                <a:latin typeface="Trenda IG Text"/>
              </a:rPr>
              <a:t>Marketing / Data Cloud developers</a:t>
            </a:r>
          </a:p>
        </p:txBody>
      </p:sp>
      <p:sp>
        <p:nvSpPr>
          <p:cNvPr id="72" name="Text 71"/>
          <p:cNvSpPr txBox="1"/>
          <p:nvPr/>
        </p:nvSpPr>
        <p:spPr>
          <a:xfrm>
            <a:off x="2606040" y="4160520"/>
            <a:ext cx="3438144" cy="301752"/>
          </a:xfrm>
          <a:prstGeom prst="rect">
            <a:avLst/>
          </a:prstGeom>
          <a:noFill/>
        </p:spPr>
        <p:txBody>
          <a:bodyPr wrap="square" lIns="0" rIns="0" tIns="0" bIns="0" anchor="ctr">
            <a:spAutoFit/>
          </a:bodyPr>
          <a:lstStyle/>
          <a:p>
            <a:r>
              <a:rPr sz="700" b="0" i="0">
                <a:solidFill>
                  <a:srgbClr val="000000"/>
                </a:solidFill>
                <a:latin typeface="Trenda IG Text"/>
              </a:rPr>
              <a:t>SFMC SQL, AMPscript, Journey Builder, Data Cloud, mcdev</a:t>
            </a:r>
          </a:p>
        </p:txBody>
      </p:sp>
      <p:sp>
        <p:nvSpPr>
          <p:cNvPr id="73" name="Text 72"/>
          <p:cNvSpPr txBox="1"/>
          <p:nvPr/>
        </p:nvSpPr>
        <p:spPr>
          <a:xfrm>
            <a:off x="6126480" y="416052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74" name="Text 73"/>
          <p:cNvSpPr txBox="1"/>
          <p:nvPr/>
        </p:nvSpPr>
        <p:spPr>
          <a:xfrm>
            <a:off x="6629400" y="416052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4160520"/>
            <a:ext cx="694943" cy="301752"/>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76" name="Shape 75"/>
          <p:cNvSpPr/>
          <p:nvPr/>
        </p:nvSpPr>
        <p:spPr>
          <a:xfrm>
            <a:off x="411480" y="446227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66344" y="456742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612648" y="4462272"/>
            <a:ext cx="1911095" cy="301752"/>
          </a:xfrm>
          <a:prstGeom prst="rect">
            <a:avLst/>
          </a:prstGeom>
          <a:noFill/>
        </p:spPr>
        <p:txBody>
          <a:bodyPr wrap="square" lIns="0" rIns="0" tIns="0" bIns="0" anchor="ctr">
            <a:spAutoFit/>
          </a:bodyPr>
          <a:lstStyle/>
          <a:p>
            <a:r>
              <a:rPr sz="750" b="1" i="0">
                <a:solidFill>
                  <a:srgbClr val="000000"/>
                </a:solidFill>
                <a:latin typeface="Trenda IG Text"/>
              </a:rPr>
              <a:t>DevOps / Copado engineers</a:t>
            </a:r>
          </a:p>
        </p:txBody>
      </p:sp>
      <p:sp>
        <p:nvSpPr>
          <p:cNvPr id="79" name="Text 78"/>
          <p:cNvSpPr txBox="1"/>
          <p:nvPr/>
        </p:nvSpPr>
        <p:spPr>
          <a:xfrm>
            <a:off x="2606040" y="4462272"/>
            <a:ext cx="3438144" cy="301752"/>
          </a:xfrm>
          <a:prstGeom prst="rect">
            <a:avLst/>
          </a:prstGeom>
          <a:noFill/>
        </p:spPr>
        <p:txBody>
          <a:bodyPr wrap="square" lIns="0" rIns="0" tIns="0" bIns="0" anchor="ctr">
            <a:spAutoFit/>
          </a:bodyPr>
          <a:lstStyle/>
          <a:p>
            <a:r>
              <a:rPr sz="700" b="0" i="0">
                <a:solidFill>
                  <a:srgbClr val="000000"/>
                </a:solidFill>
                <a:latin typeface="Trenda IG Text"/>
              </a:rPr>
              <a:t>Copado pipelines and API, Git, CI checks, Code Analyzer</a:t>
            </a:r>
          </a:p>
        </p:txBody>
      </p:sp>
      <p:sp>
        <p:nvSpPr>
          <p:cNvPr id="80" name="Text 79"/>
          <p:cNvSpPr txBox="1"/>
          <p:nvPr/>
        </p:nvSpPr>
        <p:spPr>
          <a:xfrm>
            <a:off x="6126480" y="446227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81" name="Text 80"/>
          <p:cNvSpPr txBox="1"/>
          <p:nvPr/>
        </p:nvSpPr>
        <p:spPr>
          <a:xfrm>
            <a:off x="6629400" y="446227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2" name="Text 81"/>
          <p:cNvSpPr txBox="1"/>
          <p:nvPr/>
        </p:nvSpPr>
        <p:spPr>
          <a:xfrm>
            <a:off x="7315200" y="4462272"/>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3" name="Shape 82"/>
          <p:cNvSpPr/>
          <p:nvPr/>
        </p:nvSpPr>
        <p:spPr>
          <a:xfrm>
            <a:off x="466344" y="486918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612648" y="4764024"/>
            <a:ext cx="1911095" cy="301752"/>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85" name="Text 84"/>
          <p:cNvSpPr txBox="1"/>
          <p:nvPr/>
        </p:nvSpPr>
        <p:spPr>
          <a:xfrm>
            <a:off x="2606040" y="4764024"/>
            <a:ext cx="3438144" cy="301752"/>
          </a:xfrm>
          <a:prstGeom prst="rect">
            <a:avLst/>
          </a:prstGeom>
          <a:noFill/>
        </p:spPr>
        <p:txBody>
          <a:bodyPr wrap="square" lIns="0" rIns="0" tIns="0" bIns="0" anchor="ctr">
            <a:spAutoFit/>
          </a:bodyPr>
          <a:lstStyle/>
          <a:p>
            <a:r>
              <a:rPr sz="700" b="0" i="0">
                <a:solidFill>
                  <a:srgbClr val="000000"/>
                </a:solidFill>
                <a:latin typeface="Trenda IG Text"/>
              </a:rPr>
              <a:t>Copado Robotic Testing, Zephyr Scale, Apex + Jest, agent evaluations</a:t>
            </a:r>
          </a:p>
        </p:txBody>
      </p:sp>
      <p:sp>
        <p:nvSpPr>
          <p:cNvPr id="86" name="Text 85"/>
          <p:cNvSpPr txBox="1"/>
          <p:nvPr/>
        </p:nvSpPr>
        <p:spPr>
          <a:xfrm>
            <a:off x="6126480" y="476402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87" name="Text 86"/>
          <p:cNvSpPr txBox="1"/>
          <p:nvPr/>
        </p:nvSpPr>
        <p:spPr>
          <a:xfrm>
            <a:off x="6629400" y="476402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8" name="Text 87"/>
          <p:cNvSpPr txBox="1"/>
          <p:nvPr/>
        </p:nvSpPr>
        <p:spPr>
          <a:xfrm>
            <a:off x="7315200" y="476402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9" name="Shape 88"/>
          <p:cNvSpPr/>
          <p:nvPr/>
        </p:nvSpPr>
        <p:spPr>
          <a:xfrm>
            <a:off x="411480" y="506577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466344" y="5170932"/>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612648" y="5065776"/>
            <a:ext cx="1911095" cy="301752"/>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92" name="Text 91"/>
          <p:cNvSpPr txBox="1"/>
          <p:nvPr/>
        </p:nvSpPr>
        <p:spPr>
          <a:xfrm>
            <a:off x="2606040" y="5065776"/>
            <a:ext cx="3438144" cy="301752"/>
          </a:xfrm>
          <a:prstGeom prst="rect">
            <a:avLst/>
          </a:prstGeom>
          <a:noFill/>
        </p:spPr>
        <p:txBody>
          <a:bodyPr wrap="square" lIns="0" rIns="0" tIns="0" bIns="0" anchor="ctr">
            <a:spAutoFit/>
          </a:bodyPr>
          <a:lstStyle/>
          <a:p>
            <a:r>
              <a:rPr sz="700" b="0" i="0">
                <a:solidFill>
                  <a:srgbClr val="000000"/>
                </a:solidFill>
                <a:latin typeface="Trenda IG Text"/>
              </a:rPr>
              <a:t>HIPAA controls, DLP, IAM review, pen test, data terms</a:t>
            </a:r>
          </a:p>
        </p:txBody>
      </p:sp>
      <p:sp>
        <p:nvSpPr>
          <p:cNvPr id="93" name="Text 92"/>
          <p:cNvSpPr txBox="1"/>
          <p:nvPr/>
        </p:nvSpPr>
        <p:spPr>
          <a:xfrm>
            <a:off x="6126480" y="506577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94" name="Text 93"/>
          <p:cNvSpPr txBox="1"/>
          <p:nvPr/>
        </p:nvSpPr>
        <p:spPr>
          <a:xfrm>
            <a:off x="6629400" y="506577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95" name="Text 94"/>
          <p:cNvSpPr txBox="1"/>
          <p:nvPr/>
        </p:nvSpPr>
        <p:spPr>
          <a:xfrm>
            <a:off x="7315200" y="5065776"/>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96" name="Shape 95"/>
          <p:cNvSpPr/>
          <p:nvPr/>
        </p:nvSpPr>
        <p:spPr>
          <a:xfrm>
            <a:off x="466344" y="5472684"/>
            <a:ext cx="91440" cy="914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12648" y="5367528"/>
            <a:ext cx="1911095" cy="301752"/>
          </a:xfrm>
          <a:prstGeom prst="rect">
            <a:avLst/>
          </a:prstGeom>
          <a:noFill/>
        </p:spPr>
        <p:txBody>
          <a:bodyPr wrap="square" lIns="0" rIns="0" tIns="0" bIns="0" anchor="ctr">
            <a:spAutoFit/>
          </a:bodyPr>
          <a:lstStyle/>
          <a:p>
            <a:r>
              <a:rPr sz="750" b="1" i="0">
                <a:solidFill>
                  <a:srgbClr val="000000"/>
                </a:solidFill>
                <a:latin typeface="Trenda IG Text"/>
              </a:rPr>
              <a:t>Business analysts / change leads</a:t>
            </a:r>
          </a:p>
        </p:txBody>
      </p:sp>
      <p:sp>
        <p:nvSpPr>
          <p:cNvPr id="98" name="Text 97"/>
          <p:cNvSpPr txBox="1"/>
          <p:nvPr/>
        </p:nvSpPr>
        <p:spPr>
          <a:xfrm>
            <a:off x="2606040" y="5367528"/>
            <a:ext cx="3438144" cy="301752"/>
          </a:xfrm>
          <a:prstGeom prst="rect">
            <a:avLst/>
          </a:prstGeom>
          <a:noFill/>
        </p:spPr>
        <p:txBody>
          <a:bodyPr wrap="square" lIns="0" rIns="0" tIns="0" bIns="0" anchor="ctr">
            <a:spAutoFit/>
          </a:bodyPr>
          <a:lstStyle/>
          <a:p>
            <a:r>
              <a:rPr sz="700" b="0" i="0">
                <a:solidFill>
                  <a:srgbClr val="000000"/>
                </a:solidFill>
                <a:latin typeface="Trenda IG Text"/>
              </a:rPr>
              <a:t>Pod baselines, process mapping, training, adoption measures</a:t>
            </a:r>
          </a:p>
        </p:txBody>
      </p:sp>
      <p:sp>
        <p:nvSpPr>
          <p:cNvPr id="99" name="Text 98"/>
          <p:cNvSpPr txBox="1"/>
          <p:nvPr/>
        </p:nvSpPr>
        <p:spPr>
          <a:xfrm>
            <a:off x="6126480" y="536752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00" name="Text 99"/>
          <p:cNvSpPr txBox="1"/>
          <p:nvPr/>
        </p:nvSpPr>
        <p:spPr>
          <a:xfrm>
            <a:off x="6629400" y="536752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1" name="Text 100"/>
          <p:cNvSpPr txBox="1"/>
          <p:nvPr/>
        </p:nvSpPr>
        <p:spPr>
          <a:xfrm>
            <a:off x="7315200" y="536752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02" name="Shape 101"/>
          <p:cNvSpPr/>
          <p:nvPr/>
        </p:nvSpPr>
        <p:spPr>
          <a:xfrm>
            <a:off x="411480" y="5669280"/>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411480" y="5715000"/>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a:t>
            </a:r>
            <a:r>
              <a:rPr sz="750" b="0" i="0">
                <a:solidFill>
                  <a:srgbClr val="000000"/>
                </a:solidFill>
                <a:latin typeface="Trenda IG Text"/>
              </a:rPr>
              <a:t>1 run lead + 5 engineers (GCP, graph, agents, Salesforce, QA), all offshore.</a:t>
            </a:r>
          </a:p>
        </p:txBody>
      </p:sp>
      <p:sp>
        <p:nvSpPr>
          <p:cNvPr id="104" name="Shape 103"/>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4"/>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25.5</a:t>
            </a:r>
          </a:p>
        </p:txBody>
      </p:sp>
      <p:sp>
        <p:nvSpPr>
          <p:cNvPr id="106" name="Text 105"/>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12-14)</a:t>
            </a:r>
          </a:p>
        </p:txBody>
      </p:sp>
      <p:sp>
        <p:nvSpPr>
          <p:cNvPr id="107" name="Shape 106"/>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381.5</a:t>
            </a:r>
          </a:p>
        </p:txBody>
      </p:sp>
      <p:sp>
        <p:nvSpPr>
          <p:cNvPr id="109" name="Text 108"/>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110" name="Shape 109"/>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112" name="Text 111"/>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113" name="Text 112"/>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114" name="Chart 113"/>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115" name="Shape 113"/>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4"/>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117" name="Shape 115"/>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6"/>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119" name="Shape 117"/>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8"/>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121" name="Shape 119"/>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0"/>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123" name="Shape 121"/>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2"/>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125" name="Shape 123"/>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4"/>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27" name="Shape 125"/>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6"/>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29" name="Shape 127"/>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8"/>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$4.03M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6.5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$72K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$656K</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$722K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$954K</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$1.05M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23</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$440K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$484K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$722K</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$795K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$718K</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$789K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10</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$112K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$3.66M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$4.03M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381.5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THREE WAYS TO CONTRACT</a:t>
            </a:r>
          </a:p>
        </p:txBody>
      </p:sp>
      <p:sp>
        <p:nvSpPr>
          <p:cNvPr id="68" name="Differentiator Border 68"/>
          <p:cNvSpPr/>
          <p:nvPr/>
        </p:nvSpPr>
        <p:spPr>
          <a:xfrm>
            <a:off x="8092440" y="1389888"/>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31036"/>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85900"/>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67612"/>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$4.03M</a:t>
            </a:r>
          </a:p>
        </p:txBody>
      </p:sp>
      <p:sp>
        <p:nvSpPr>
          <p:cNvPr id="72" name="Text 72"/>
          <p:cNvSpPr txBox="1"/>
          <p:nvPr/>
        </p:nvSpPr>
        <p:spPr>
          <a:xfrm>
            <a:off x="8243315" y="1741932"/>
            <a:ext cx="3383280" cy="448056"/>
          </a:xfrm>
          <a:prstGeom prst="rect">
            <a:avLst/>
          </a:prstGeom>
          <a:noFill/>
        </p:spPr>
        <p:txBody>
          <a:bodyPr wrap="square" lIns="0" rIns="0" tIns="0" bIns="0" anchor="t">
            <a:spAutoFit/>
          </a:bodyPr>
          <a:lstStyle/>
          <a:p>
            <a:r>
              <a:rPr sz="700" b="0" i="0">
                <a:solidFill>
                  <a:srgbClr val="000000"/>
                </a:solidFill>
                <a:latin typeface="Trenda IG Text"/>
              </a:rPr>
              <a:t>Each phase priced up front and invoiced only when its gate is signed. Insight Global carries delivery risk (10% included).</a:t>
            </a:r>
          </a:p>
        </p:txBody>
      </p:sp>
      <p:sp>
        <p:nvSpPr>
          <p:cNvPr id="73" name="Shape 73"/>
          <p:cNvSpPr/>
          <p:nvPr/>
        </p:nvSpPr>
        <p:spPr>
          <a:xfrm>
            <a:off x="10712196" y="2025395"/>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25395"/>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77440"/>
            <a:ext cx="368503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432304"/>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 capped</a:t>
            </a:r>
          </a:p>
        </p:txBody>
      </p:sp>
      <p:sp>
        <p:nvSpPr>
          <p:cNvPr id="77" name="Text 77"/>
          <p:cNvSpPr txBox="1"/>
          <p:nvPr/>
        </p:nvSpPr>
        <p:spPr>
          <a:xfrm>
            <a:off x="10479024" y="2414016"/>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$3.66M</a:t>
            </a:r>
          </a:p>
        </p:txBody>
      </p:sp>
      <p:sp>
        <p:nvSpPr>
          <p:cNvPr id="78" name="Text 78"/>
          <p:cNvSpPr txBox="1"/>
          <p:nvPr/>
        </p:nvSpPr>
        <p:spPr>
          <a:xfrm>
            <a:off x="8202167" y="2688336"/>
            <a:ext cx="3465576" cy="530352"/>
          </a:xfrm>
          <a:prstGeom prst="rect">
            <a:avLst/>
          </a:prstGeom>
          <a:noFill/>
        </p:spPr>
        <p:txBody>
          <a:bodyPr wrap="square" lIns="0" rIns="0" tIns="0" bIns="0" anchor="t">
            <a:spAutoFit/>
          </a:bodyPr>
          <a:lstStyle/>
          <a:p>
            <a:r>
              <a:rPr sz="700" b="0" i="0">
                <a:solidFill>
                  <a:srgbClr val="000000"/>
                </a:solidFill>
                <a:latin typeface="Trenda IG Text"/>
              </a:rPr>
              <a:t>Billed monthly on actuals, with a not-to-exceed cap per phase. Lower price; Ascension carries the overrun risk up to the cap.</a:t>
            </a:r>
          </a:p>
        </p:txBody>
      </p:sp>
      <p:sp>
        <p:nvSpPr>
          <p:cNvPr id="79" name="Shape 79"/>
          <p:cNvSpPr/>
          <p:nvPr/>
        </p:nvSpPr>
        <p:spPr>
          <a:xfrm>
            <a:off x="8092440" y="3364992"/>
            <a:ext cx="368503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8202167" y="3419856"/>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from month 19</a:t>
            </a:r>
          </a:p>
        </p:txBody>
      </p:sp>
      <p:sp>
        <p:nvSpPr>
          <p:cNvPr id="81" name="Text 81"/>
          <p:cNvSpPr txBox="1"/>
          <p:nvPr/>
        </p:nvSpPr>
        <p:spPr>
          <a:xfrm>
            <a:off x="10479024" y="3401568"/>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$58K / month</a:t>
            </a:r>
          </a:p>
        </p:txBody>
      </p:sp>
      <p:sp>
        <p:nvSpPr>
          <p:cNvPr id="82" name="Text 82"/>
          <p:cNvSpPr txBox="1"/>
          <p:nvPr/>
        </p:nvSpPr>
        <p:spPr>
          <a:xfrm>
            <a:off x="8202167" y="3675888"/>
            <a:ext cx="3465576" cy="530352"/>
          </a:xfrm>
          <a:prstGeom prst="rect">
            <a:avLst/>
          </a:prstGeom>
          <a:noFill/>
        </p:spPr>
        <p:txBody>
          <a:bodyPr wrap="square" lIns="0" rIns="0" tIns="0" bIns="0" anchor="t">
            <a:spAutoFit/>
          </a:bodyPr>
          <a:lstStyle/>
          <a:p>
            <a:r>
              <a:rPr sz="700" b="0" i="0">
                <a:solidFill>
                  <a:srgbClr val="000000"/>
                </a:solidFill>
                <a:latin typeface="Trenda IG Text"/>
              </a:rPr>
              <a:t>Run team of 6 keeps the graph, agents, rules and evaluations current, plus platform at cost (about $20K/month).</a:t>
            </a:r>
          </a:p>
        </p:txBody>
      </p:sp>
      <p:sp>
        <p:nvSpPr>
          <p:cNvPr id="83" name="Shape 83"/>
          <p:cNvSpPr/>
          <p:nvPr/>
        </p:nvSpPr>
        <p:spPr>
          <a:xfrm>
            <a:off x="8092440" y="4389120"/>
            <a:ext cx="3685032" cy="1929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8220456" y="4462272"/>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5" name="Text 85"/>
          <p:cNvSpPr txBox="1"/>
          <p:nvPr/>
        </p:nvSpPr>
        <p:spPr>
          <a:xfrm>
            <a:off x="8220456" y="4681728"/>
            <a:ext cx="3429000" cy="1563624"/>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Planned saving: 20-25% lower net run cost per pod </a:t>
            </a:r>
            <a:r>
              <a:rPr sz="900" b="0" i="0">
                <a:solidFill>
                  <a:srgbClr val="BFBFBF"/>
                </a:solidFill>
                <a:latin typeface="Trenda IG Text"/>
              </a:rPr>
              <a:t>(business outcomes slide).</a:t>
            </a:r>
          </a:p>
          <a:p>
            <a:pPr>
              <a:spcAft>
                <a:spcPts val="600"/>
              </a:spcAft>
            </a:pPr>
            <a:r>
              <a:rPr sz="900" b="0" i="0">
                <a:solidFill>
                  <a:srgbClr val="FFFFFF"/>
                </a:solidFill>
                <a:latin typeface="Trenda IG Text"/>
              </a:rPr>
              <a:t>Every $10M of pod delivery spend saves $2.0-2.5M a year, </a:t>
            </a:r>
            <a:r>
              <a:rPr sz="900" b="0" i="0">
                <a:solidFill>
                  <a:srgbClr val="FFFFFF"/>
                </a:solidFill>
                <a:latin typeface="Trenda IG Text"/>
              </a:rPr>
              <a:t>so the fixed fee pays back in about 1.6 to 2.0 years once pods are live.</a:t>
            </a:r>
          </a:p>
          <a:p>
            <a:pPr>
              <a:spcAft>
                <a:spcPts val="600"/>
              </a:spcAft>
            </a:pPr>
            <a:r>
              <a:rPr sz="900" b="0" i="0">
                <a:solidFill>
                  <a:srgbClr val="BFBFBF"/>
                </a:solidFill>
                <a:latin typeface="Trenda IG Text"/>
              </a:rPr>
              <a:t>Example: one 14-person pod at about $2.47M a year saves $0.49-0.62M a year.</a:t>
            </a:r>
          </a:p>
          <a:p>
            <a:pPr>
              <a:spcAft>
                <a:spcPts val="600"/>
              </a:spcAft>
            </a:pPr>
            <a:r>
              <a:rPr sz="900" b="0" i="0">
                <a:solidFill>
                  <a:srgbClr val="BFBFBF"/>
                </a:solidFill>
                <a:latin typeface="Trenda IG Text"/>
              </a:rPr>
              <a:t>Payback is measured per pod against the Phase 0 baseline: cycle time, effort per story, escaped defects.</a:t>
            </a:r>
          </a:p>
        </p:txBody>
      </p:sp>
      <p:sp>
        <p:nvSpPr>
          <p:cNvPr id="86" name="Text 86"/>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$45-85/h, blended $60/h, 160 h per FTE-month, 381.5 FTE-months. Replace with the Insight Global rate card before sharing. Excludes Ascension staff time and existing licences (Salesforce, Copado, Atlassian, OpenAI terms).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