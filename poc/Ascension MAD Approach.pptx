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318" r:id="rId2"/>
    <p:sldId id="323" r:id="rId3"/>
    <p:sldId id="329" r:id="rId23"/>
    <p:sldId id="330" r:id="rId24"/>
    <p:sldId id="256" r:id="rId4"/>
    <p:sldId id="319" r:id="rId5"/>
    <p:sldId id="324" r:id="rId6"/>
    <p:sldId id="325" r:id="rId7"/>
    <p:sldId id="327" r:id="rId8"/>
    <p:sldId id="328" r:id="rId9"/>
    <p:sldId id="326" r:id="rId10"/>
    <p:sldId id="320" r:id="rId11"/>
    <p:sldId id="321" r:id="rId12"/>
    <p:sldId id="322" r:id="rId13"/>
    <p:sldId id="258" r:id="rId14"/>
    <p:sldId id="257"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openxmlformats.org/officeDocument/2006/relationships/slide" Target="slides/slide15.xml"/><Relationship Id="rId24" Type="http://schemas.openxmlformats.org/officeDocument/2006/relationships/slide" Target="slides/slide1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MAD approach, one agent team for every pod   (about 3 minutes)</a:t>
            </a:r>
          </a:p>
          <a:p>
            <a:endParaRPr/>
          </a:p>
          <a:p>
            <a:r>
              <a:t>KEY MESSAGE</a:t>
            </a:r>
          </a:p>
          <a:p>
            <a:r>
              <a:t>We are not proposing a separate set of agents for every pod. MAD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MAD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multi-agent delivery model, MAD,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MAD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MAD runs on what Ascension already owns. Marketing Cloud Next is optional.</a:t>
            </a:r>
          </a:p>
          <a:p>
            <a:r>
              <a:t>   MAD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MAD can use those features as one more tool, for example letting the Developer Agent call them. MAD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MAD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MAD,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MAD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MAD delivers on current licenses. If Ascension licenses Marketing Cloud Next later, MAD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MAD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MAD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MAD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MAD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MAD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MAD we scale by adding agent capacity, and new people get productive in about a week because they can ask the knowledge graph how anything works.</a:t>
            </a:r>
          </a:p>
          <a:p>
            <a:r>
              <a:t>- Best practice: today every pod interprets standards differently. With MAD the standards are encoded once and the Review Agent applies them the same way to every change in every pod.</a:t>
            </a:r>
          </a:p>
          <a:p>
            <a:r>
              <a:t>- Security: today access and sharing issues surface late and permission sets sprawl. With MAD least privilege, sharing and PHI checks run on every change, and no agent ever holds production credentials.</a:t>
            </a:r>
          </a:p>
          <a:p>
            <a:r>
              <a:t>- Tech debt: today it grows quietly. With MAD agents scan the org every night and raise ready-to-review clean-up changes in spare capacity, so debt goes down instead of up.</a:t>
            </a:r>
          </a:p>
          <a:p>
            <a:r>
              <a:t>- Run and support: today incidents start with "who changed what?". With MAD the graph answers that in minutes: the component, the owning pod and the last change.</a:t>
            </a:r>
          </a:p>
          <a:p>
            <a:endParaRPr/>
          </a:p>
          <a:p>
            <a:r>
              <a:t>OPERATING MODEL (right side)</a:t>
            </a:r>
          </a:p>
          <a:p>
            <a:r>
              <a:t>Today pods A, B, C each carry BA, developers, QA, release and support. With MAD each pod is an owner, a lead and 2 to 4 engineers, and a small platform team runs the agents, the graph and the standards for everyone.</a:t>
            </a:r>
          </a:p>
          <a:p>
            <a:r>
              <a:t>The bold version: a new pod goes live on MAD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MAD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MAD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MAD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MAD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MAD is built   (about 4 minutes)</a:t>
            </a:r>
          </a:p>
          <a:p/>
          <a:p>
            <a:r>
              <a:t>KEY MESSAGE</a:t>
            </a:r>
          </a:p>
          <a:p>
            <a:r>
              <a:t>Two phases, one picture. Phase 1 is the Engineering Context Knowledge Graph: what the agents know. Phase 2 is the MAD agent team: who does the work. Every action they take goes through one gateway, and people own every decision. Read it top to bottom: people, knowledge, agents, gateway, delivery, evidence.</a:t>
            </a:r>
          </a:p>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20.png"/><Relationship Id="rId14" Type="http://schemas.openxmlformats.org/officeDocument/2006/relationships/image" Target="../media/image21.png"/><Relationship Id="rId15" Type="http://schemas.openxmlformats.org/officeDocument/2006/relationships/image" Target="../media/image10.png"/><Relationship Id="rId16" Type="http://schemas.openxmlformats.org/officeDocument/2006/relationships/image" Target="../media/image9.png"/><Relationship Id="rId17" Type="http://schemas.openxmlformats.org/officeDocument/2006/relationships/image" Target="../media/image13.png"/><Relationship Id="rId18" Type="http://schemas.openxmlformats.org/officeDocument/2006/relationships/image" Target="../media/image14.png"/><Relationship Id="rId19" Type="http://schemas.openxmlformats.org/officeDocument/2006/relationships/image" Target="../media/image22.png"/><Relationship Id="rId20"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MAD Approach</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Multi-Agent Delivery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MULTI-AGENT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MAD APPROACH</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rIns="86417" tIns="43209"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rIns="86417" tIns="43209"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rIns="86417" tIns="43209"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rIns="86417" tIns="43209"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rIns="86417" tIns="43209"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rIns="86417" tIns="43209"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rIns="86417" tIns="43209"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rIns="86417" tIns="43209"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rIns="86417" tIns="43209"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rIns="86417" tIns="43209"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rIns="86417" tIns="43209"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rIns="86417" tIns="43209"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rIns="86417" tIns="43209"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rIns="86417" tIns="43209"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rIns="88000" tIns="44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rIns="88000" tIns="44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rIns="88000" tIns="44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rIns="88000" tIns="44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rIns="88000" tIns="44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rIns="88000" tIns="44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rIns="88000" tIns="44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rIns="88000" tIns="44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rIns="88000" tIns="44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rIns="88000" tIns="44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rIns="88000" tIns="44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rIns="88000" tIns="44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rIns="85302" tIns="42651"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rIns="85302" tIns="42651"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rIns="85302" tIns="42651"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rIns="85302" tIns="42651"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rIns="85302" tIns="42651"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rIns="85302" tIns="42651"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rIns="85302" tIns="42651"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rIns="85302" tIns="42651"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rIns="85302" tIns="42651"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rIns="85302" tIns="42651"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rIns="85302" tIns="42651"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rIns="85302" tIns="42651"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rIns="85302" tIns="42651"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rIns="85302" tIns="42651"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rIns="85302" tIns="42651"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rIns="85302" tIns="42651"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rIns="85302" tIns="42651"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rIns="85302" tIns="42651"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rIns="85302" tIns="42651"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rIns="85302" tIns="42651"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rIns="85302" tIns="42651"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rIns="85302" tIns="42651"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rIns="85302" tIns="42651"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rIns="85302" tIns="42651"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rIns="85302" tIns="42651"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rIns="85302" tIns="42651"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rIns="85302" tIns="42651"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rIns="85302" tIns="42651"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rIns="85302" tIns="42651"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rIns="85302" tIns="42651"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rIns="85454" tIns="42727"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rIns="85454" tIns="42727"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rIns="85454" tIns="42727"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rIns="85454" tIns="42727"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rIns="85454" tIns="42727"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rIns="85454" tIns="42727"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rIns="85454" tIns="42727"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rIns="85454" tIns="42727"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rIns="85454" tIns="42727"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rIns="85454" tIns="42727"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rIns="85454" tIns="42727"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rIns="85454" tIns="42727"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rIns="85454" tIns="42727"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rIns="85454" tIns="42727"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rIns="85454" tIns="42727"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rIns="85454" tIns="42727"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rIns="85454" tIns="42727"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MAD,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MAD</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MAD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MAD platform: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rIns="86661" tIns="4333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MAD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MAD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rIns="86661" tIns="4333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rIns="86661" tIns="4333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rIns="86661" tIns="4333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rIns="86661" tIns="4333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rIns="86661" tIns="4333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rIns="86661" tIns="4333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rIns="86661" tIns="4333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rIns="86661" tIns="4333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rIns="86661" tIns="4333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rIns="86661" tIns="4333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rIns="86661" tIns="4333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rIns="86661" tIns="4333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rIns="86661" tIns="4333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rIns="86661" tIns="4333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rIns="86661" tIns="4333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rIns="86661" tIns="4333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rIns="86661" tIns="4333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rIns="86661" tIns="4333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rIns="86661" tIns="4333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rIns="86661" tIns="4333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rIns="86661" tIns="4333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rIns="86661" tIns="4333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rIns="86661" tIns="4333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8"/>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MAD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rIns="89549" tIns="44775"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rIns="89549" tIns="44775"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rIns="89549" tIns="44775"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rIns="89549" tIns="44775"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rIns="89549" tIns="44775"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rIns="89549" tIns="44775"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rIns="89549" tIns="44775"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rIns="89549" tIns="44775"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rIns="89549" tIns="44775"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rIns="89549" tIns="44775"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rIns="89549" tIns="44775"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rIns="89549" tIns="44775"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rIns="89549" tIns="44775"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rIns="89549" tIns="44775"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rIns="89549" tIns="44775"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rIns="89549" tIns="44775"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rIns="89549" tIns="44775"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rIns="89549" tIns="44775"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rIns="89549" tIns="44775"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rIns="89549" tIns="44775"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rIns="89549" tIns="44775"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rIns="89549" tIns="44775"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rIns="89549" tIns="44775"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rIns="89549" tIns="44775"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rIns="89549" tIns="44775"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rIns="89549" tIns="44775"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rIns="89549" tIns="44775"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rIns="89549" tIns="44775"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rIns="89549" tIns="44775"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rIns="89549" tIns="44775"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rIns="89555" tIns="44777"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rIns="89555" tIns="44777"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rIns="89555" tIns="44777"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rIns="89555" tIns="44777"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rIns="89555" tIns="44777"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rIns="89555" tIns="44777"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rIns="89555" tIns="44777"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rIns="89555" tIns="44777"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rIns="89555" tIns="44777"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rIns="89555" tIns="44777"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rIns="89555" tIns="44777"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rIns="89555" tIns="44777"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rIns="89555" tIns="44777"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rIns="89555" tIns="44777"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rIns="89555" tIns="44777"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rIns="89555" tIns="44777"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rIns="89555" tIns="44777"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rIns="89555" tIns="44777"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rIns="89555" tIns="44777"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rIns="89555" tIns="44777"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TARGET ARCHITECTURE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Phase 1 builds the Engineering Context Knowledge Graph. Phase 2 runs the MAD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7"/>
          <p:cNvSpPr txBox="1"/>
          <p:nvPr/>
        </p:nvSpPr>
        <p:spPr>
          <a:xfrm>
            <a:off x="8138160" y="196596"/>
            <a:ext cx="3639312" cy="155448"/>
          </a:xfrm>
          <a:prstGeom prst="rect">
            <a:avLst/>
          </a:prstGeom>
          <a:noFill/>
        </p:spPr>
        <p:txBody>
          <a:bodyPr wrap="square" lIns="0" rIns="0" t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9"/>
          <p:cNvSpPr txBox="1"/>
          <p:nvPr/>
        </p:nvSpPr>
        <p:spPr>
          <a:xfrm>
            <a:off x="502920" y="1115568"/>
            <a:ext cx="1234440" cy="347472"/>
          </a:xfrm>
          <a:prstGeom prst="rect">
            <a:avLst/>
          </a:prstGeom>
          <a:noFill/>
        </p:spPr>
        <p:txBody>
          <a:bodyPr wrap="square" lIns="0" rIns="0" t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11"/>
          <p:cNvSpPr txBox="1"/>
          <p:nvPr/>
        </p:nvSpPr>
        <p:spPr>
          <a:xfrm>
            <a:off x="1929384" y="1152144"/>
            <a:ext cx="2297430" cy="137160"/>
          </a:xfrm>
          <a:prstGeom prst="rect">
            <a:avLst/>
          </a:prstGeom>
          <a:noFill/>
        </p:spPr>
        <p:txBody>
          <a:bodyPr wrap="square" lIns="0" rIns="0" t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rIns="0" t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4"/>
          <p:cNvSpPr txBox="1"/>
          <p:nvPr/>
        </p:nvSpPr>
        <p:spPr>
          <a:xfrm>
            <a:off x="4427981" y="1152144"/>
            <a:ext cx="2297430" cy="137160"/>
          </a:xfrm>
          <a:prstGeom prst="rect">
            <a:avLst/>
          </a:prstGeom>
          <a:noFill/>
        </p:spPr>
        <p:txBody>
          <a:bodyPr wrap="square" lIns="0" rIns="0" t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7"/>
          <p:cNvSpPr txBox="1"/>
          <p:nvPr/>
        </p:nvSpPr>
        <p:spPr>
          <a:xfrm>
            <a:off x="6926580" y="1152144"/>
            <a:ext cx="2297430" cy="137160"/>
          </a:xfrm>
          <a:prstGeom prst="rect">
            <a:avLst/>
          </a:prstGeom>
          <a:noFill/>
        </p:spPr>
        <p:txBody>
          <a:bodyPr wrap="square" lIns="0" rIns="0" t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20"/>
          <p:cNvSpPr txBox="1"/>
          <p:nvPr/>
        </p:nvSpPr>
        <p:spPr>
          <a:xfrm>
            <a:off x="9425178" y="1152144"/>
            <a:ext cx="2297430" cy="137160"/>
          </a:xfrm>
          <a:prstGeom prst="rect">
            <a:avLst/>
          </a:prstGeom>
          <a:noFill/>
        </p:spPr>
        <p:txBody>
          <a:bodyPr wrap="square" lIns="0" rIns="0" t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3"/>
          <p:cNvSpPr txBox="1"/>
          <p:nvPr/>
        </p:nvSpPr>
        <p:spPr>
          <a:xfrm>
            <a:off x="502920" y="1645920"/>
            <a:ext cx="1417320" cy="128016"/>
          </a:xfrm>
          <a:prstGeom prst="rect">
            <a:avLst/>
          </a:prstGeom>
          <a:noFill/>
        </p:spPr>
        <p:txBody>
          <a:bodyPr wrap="square" lIns="0" rIns="0" t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5"/>
          <p:cNvSpPr txBox="1"/>
          <p:nvPr/>
        </p:nvSpPr>
        <p:spPr>
          <a:xfrm>
            <a:off x="630936" y="1865376"/>
            <a:ext cx="1325880" cy="137160"/>
          </a:xfrm>
          <a:prstGeom prst="rect">
            <a:avLst/>
          </a:prstGeom>
          <a:noFill/>
        </p:spPr>
        <p:txBody>
          <a:bodyPr wrap="square" lIns="0" rIns="0" t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rIns="0" t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8"/>
          <p:cNvSpPr txBox="1"/>
          <p:nvPr/>
        </p:nvSpPr>
        <p:spPr>
          <a:xfrm>
            <a:off x="630936" y="2194560"/>
            <a:ext cx="1325880" cy="137160"/>
          </a:xfrm>
          <a:prstGeom prst="rect">
            <a:avLst/>
          </a:prstGeom>
          <a:noFill/>
        </p:spPr>
        <p:txBody>
          <a:bodyPr wrap="square" lIns="0" rIns="0" t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rIns="0" t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1"/>
          <p:cNvSpPr txBox="1"/>
          <p:nvPr/>
        </p:nvSpPr>
        <p:spPr>
          <a:xfrm>
            <a:off x="630936" y="2523744"/>
            <a:ext cx="1325880" cy="137160"/>
          </a:xfrm>
          <a:prstGeom prst="rect">
            <a:avLst/>
          </a:prstGeom>
          <a:noFill/>
        </p:spPr>
        <p:txBody>
          <a:bodyPr wrap="square" lIns="0" rIns="0" t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rIns="0" t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4"/>
          <p:cNvSpPr txBox="1"/>
          <p:nvPr/>
        </p:nvSpPr>
        <p:spPr>
          <a:xfrm>
            <a:off x="630936" y="2852928"/>
            <a:ext cx="1325880" cy="137160"/>
          </a:xfrm>
          <a:prstGeom prst="rect">
            <a:avLst/>
          </a:prstGeom>
          <a:noFill/>
        </p:spPr>
        <p:txBody>
          <a:bodyPr wrap="square" lIns="0" rIns="0" t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rIns="0" t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7"/>
          <p:cNvSpPr txBox="1"/>
          <p:nvPr/>
        </p:nvSpPr>
        <p:spPr>
          <a:xfrm>
            <a:off x="630936" y="3182112"/>
            <a:ext cx="1325880" cy="137160"/>
          </a:xfrm>
          <a:prstGeom prst="rect">
            <a:avLst/>
          </a:prstGeom>
          <a:noFill/>
        </p:spPr>
        <p:txBody>
          <a:bodyPr wrap="square" lIns="0" rIns="0" t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rIns="0" t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40"/>
          <p:cNvSpPr txBox="1"/>
          <p:nvPr/>
        </p:nvSpPr>
        <p:spPr>
          <a:xfrm>
            <a:off x="630936" y="3511296"/>
            <a:ext cx="1325880" cy="137160"/>
          </a:xfrm>
          <a:prstGeom prst="rect">
            <a:avLst/>
          </a:prstGeom>
          <a:noFill/>
        </p:spPr>
        <p:txBody>
          <a:bodyPr wrap="square" lIns="0" rIns="0" t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rIns="0" t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3"/>
          <p:cNvSpPr txBox="1"/>
          <p:nvPr/>
        </p:nvSpPr>
        <p:spPr>
          <a:xfrm>
            <a:off x="502920" y="3813048"/>
            <a:ext cx="1417320" cy="182880"/>
          </a:xfrm>
          <a:prstGeom prst="rect">
            <a:avLst/>
          </a:prstGeom>
          <a:noFill/>
        </p:spPr>
        <p:txBody>
          <a:bodyPr wrap="square" lIns="0" rIns="0" t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rIns="0" t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50"/>
          <p:cNvSpPr txBox="1"/>
          <p:nvPr/>
        </p:nvSpPr>
        <p:spPr>
          <a:xfrm>
            <a:off x="2555748" y="1613916"/>
            <a:ext cx="1975104" cy="274320"/>
          </a:xfrm>
          <a:prstGeom prst="rect">
            <a:avLst/>
          </a:prstGeom>
          <a:noFill/>
        </p:spPr>
        <p:txBody>
          <a:bodyPr wrap="square" lIns="0" rIns="0" t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2"/>
          <p:cNvSpPr txBox="1"/>
          <p:nvPr/>
        </p:nvSpPr>
        <p:spPr>
          <a:xfrm>
            <a:off x="4663440" y="1504188"/>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rIns="0" t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5"/>
          <p:cNvSpPr txBox="1"/>
          <p:nvPr/>
        </p:nvSpPr>
        <p:spPr>
          <a:xfrm>
            <a:off x="255574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8"/>
          <p:cNvSpPr txBox="1"/>
          <p:nvPr/>
        </p:nvSpPr>
        <p:spPr>
          <a:xfrm>
            <a:off x="319582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1"/>
          <p:cNvSpPr txBox="1"/>
          <p:nvPr/>
        </p:nvSpPr>
        <p:spPr>
          <a:xfrm>
            <a:off x="383590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4"/>
          <p:cNvSpPr txBox="1"/>
          <p:nvPr/>
        </p:nvSpPr>
        <p:spPr>
          <a:xfrm>
            <a:off x="447598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6"/>
          <p:cNvSpPr txBox="1"/>
          <p:nvPr/>
        </p:nvSpPr>
        <p:spPr>
          <a:xfrm>
            <a:off x="2555748" y="2455164"/>
            <a:ext cx="2980944" cy="164592"/>
          </a:xfrm>
          <a:prstGeom prst="rect">
            <a:avLst/>
          </a:prstGeom>
          <a:noFill/>
        </p:spPr>
        <p:txBody>
          <a:bodyPr wrap="square" lIns="0" rIns="0" t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8"/>
          <p:cNvSpPr txBox="1"/>
          <p:nvPr/>
        </p:nvSpPr>
        <p:spPr>
          <a:xfrm>
            <a:off x="2683764" y="2711196"/>
            <a:ext cx="2871216" cy="173736"/>
          </a:xfrm>
          <a:prstGeom prst="rect">
            <a:avLst/>
          </a:prstGeom>
          <a:noFill/>
        </p:spPr>
        <p:txBody>
          <a:bodyPr wrap="square" lIns="0" rIns="0" t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70"/>
          <p:cNvSpPr txBox="1"/>
          <p:nvPr/>
        </p:nvSpPr>
        <p:spPr>
          <a:xfrm>
            <a:off x="2683764" y="2903220"/>
            <a:ext cx="2871216" cy="173736"/>
          </a:xfrm>
          <a:prstGeom prst="rect">
            <a:avLst/>
          </a:prstGeom>
          <a:noFill/>
        </p:spPr>
        <p:txBody>
          <a:bodyPr wrap="square" lIns="0" rIns="0" t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2"/>
          <p:cNvSpPr txBox="1"/>
          <p:nvPr/>
        </p:nvSpPr>
        <p:spPr>
          <a:xfrm>
            <a:off x="2683764" y="3095244"/>
            <a:ext cx="2871216" cy="173736"/>
          </a:xfrm>
          <a:prstGeom prst="rect">
            <a:avLst/>
          </a:prstGeom>
          <a:noFill/>
        </p:spPr>
        <p:txBody>
          <a:bodyPr wrap="square" lIns="0" rIns="0" t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4"/>
          <p:cNvSpPr txBox="1"/>
          <p:nvPr/>
        </p:nvSpPr>
        <p:spPr>
          <a:xfrm>
            <a:off x="2683764" y="3287268"/>
            <a:ext cx="2871216" cy="173736"/>
          </a:xfrm>
          <a:prstGeom prst="rect">
            <a:avLst/>
          </a:prstGeom>
          <a:noFill/>
        </p:spPr>
        <p:txBody>
          <a:bodyPr wrap="square" lIns="0" rIns="0" t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6"/>
          <p:cNvSpPr txBox="1"/>
          <p:nvPr/>
        </p:nvSpPr>
        <p:spPr>
          <a:xfrm>
            <a:off x="2628900" y="3534156"/>
            <a:ext cx="2834640" cy="146304"/>
          </a:xfrm>
          <a:prstGeom prst="rect">
            <a:avLst/>
          </a:prstGeom>
          <a:noFill/>
        </p:spPr>
        <p:txBody>
          <a:bodyPr wrap="square" lIns="0" rIns="0" t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rIns="0" t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rIns="0" t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2"/>
          <p:cNvSpPr txBox="1"/>
          <p:nvPr/>
        </p:nvSpPr>
        <p:spPr>
          <a:xfrm>
            <a:off x="6172200" y="1572768"/>
            <a:ext cx="5513832" cy="274320"/>
          </a:xfrm>
          <a:prstGeom prst="rect">
            <a:avLst/>
          </a:prstGeom>
          <a:noFill/>
        </p:spPr>
        <p:txBody>
          <a:bodyPr wrap="square" lIns="0" rIns="0" tIns="0" bIns="0" anchor="ctr">
            <a:spAutoFit/>
          </a:bodyPr>
          <a:lstStyle/>
          <a:p>
            <a:r>
              <a:rPr sz="650" b="1" i="0" spc="100">
                <a:solidFill>
                  <a:srgbClr val="FFFFFF"/>
                </a:solidFill>
                <a:latin typeface="Trenda IG Text"/>
              </a:rPr>
              <a:t>PHASE 2 · MULTI-AGENT DELIVERY (MAD)</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4"/>
          <p:cNvSpPr txBox="1"/>
          <p:nvPr/>
        </p:nvSpPr>
        <p:spPr>
          <a:xfrm>
            <a:off x="6245352" y="1975104"/>
            <a:ext cx="1630680" cy="146304"/>
          </a:xfrm>
          <a:prstGeom prst="rect">
            <a:avLst/>
          </a:prstGeom>
          <a:noFill/>
        </p:spPr>
        <p:txBody>
          <a:bodyPr wrap="square" lIns="0" rIns="0" tIns="0" bIns="0" anchor="t">
            <a:spAutoFit/>
          </a:bodyPr>
          <a:lstStyle/>
          <a:p>
            <a:r>
              <a:rPr sz="750" b="1" i="0">
                <a:solidFill>
                  <a:srgbClr val="FFFFFF"/>
                </a:solidFill>
                <a:latin typeface="Trenda IG Text"/>
              </a:rPr>
              <a:t>Durable workflow controller</a:t>
            </a:r>
          </a:p>
        </p:txBody>
      </p:sp>
      <p:sp>
        <p:nvSpPr>
          <p:cNvPr id="84" name="Text 85"/>
          <p:cNvSpPr txBox="1"/>
          <p:nvPr/>
        </p:nvSpPr>
        <p:spPr>
          <a:xfrm>
            <a:off x="6245352" y="2130552"/>
            <a:ext cx="1630680" cy="292608"/>
          </a:xfrm>
          <a:prstGeom prst="rect">
            <a:avLst/>
          </a:prstGeom>
          <a:noFill/>
        </p:spPr>
        <p:txBody>
          <a:bodyPr wrap="square" lIns="0" rIns="0" t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8"/>
          <p:cNvSpPr txBox="1"/>
          <p:nvPr/>
        </p:nvSpPr>
        <p:spPr>
          <a:xfrm>
            <a:off x="8113776" y="1975104"/>
            <a:ext cx="1630680" cy="146304"/>
          </a:xfrm>
          <a:prstGeom prst="rect">
            <a:avLst/>
          </a:prstGeom>
          <a:noFill/>
        </p:spPr>
        <p:txBody>
          <a:bodyPr wrap="square" lIns="0" rIns="0" t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rIns="0" t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2"/>
          <p:cNvSpPr txBox="1"/>
          <p:nvPr/>
        </p:nvSpPr>
        <p:spPr>
          <a:xfrm>
            <a:off x="9982200" y="1975104"/>
            <a:ext cx="1630680" cy="146304"/>
          </a:xfrm>
          <a:prstGeom prst="rect">
            <a:avLst/>
          </a:prstGeom>
          <a:noFill/>
        </p:spPr>
        <p:txBody>
          <a:bodyPr wrap="square" lIns="0" rIns="0" tIns="0" bIns="0" anchor="t">
            <a:spAutoFit/>
          </a:bodyPr>
          <a:lstStyle/>
          <a:p>
            <a:r>
              <a:rPr sz="750" b="1" i="0">
                <a:solidFill>
                  <a:srgbClr val="FFFFFF"/>
                </a:solidFill>
                <a:latin typeface="Trenda IG Text"/>
              </a:rPr>
              <a:t>Approval service</a:t>
            </a:r>
          </a:p>
        </p:txBody>
      </p:sp>
      <p:sp>
        <p:nvSpPr>
          <p:cNvPr id="92" name="Text 93"/>
          <p:cNvSpPr txBox="1"/>
          <p:nvPr/>
        </p:nvSpPr>
        <p:spPr>
          <a:xfrm>
            <a:off x="9982200" y="2130552"/>
            <a:ext cx="1630680" cy="292608"/>
          </a:xfrm>
          <a:prstGeom prst="rect">
            <a:avLst/>
          </a:prstGeom>
          <a:noFill/>
        </p:spPr>
        <p:txBody>
          <a:bodyPr wrap="square" lIns="0" rIns="0" t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5"/>
          <p:cNvSpPr txBox="1"/>
          <p:nvPr/>
        </p:nvSpPr>
        <p:spPr>
          <a:xfrm>
            <a:off x="6236208" y="2569464"/>
            <a:ext cx="1227582" cy="137160"/>
          </a:xfrm>
          <a:prstGeom prst="rect">
            <a:avLst/>
          </a:prstGeom>
          <a:noFill/>
        </p:spPr>
        <p:txBody>
          <a:bodyPr wrap="square" lIns="0" rIns="0" t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rIns="0" t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8"/>
          <p:cNvSpPr txBox="1"/>
          <p:nvPr/>
        </p:nvSpPr>
        <p:spPr>
          <a:xfrm>
            <a:off x="7628382" y="2569464"/>
            <a:ext cx="1227582" cy="137160"/>
          </a:xfrm>
          <a:prstGeom prst="rect">
            <a:avLst/>
          </a:prstGeom>
          <a:noFill/>
        </p:spPr>
        <p:txBody>
          <a:bodyPr wrap="square" lIns="0" rIns="0" t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rIns="0" t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101"/>
          <p:cNvSpPr txBox="1"/>
          <p:nvPr/>
        </p:nvSpPr>
        <p:spPr>
          <a:xfrm>
            <a:off x="9020556" y="2569464"/>
            <a:ext cx="1227582" cy="137160"/>
          </a:xfrm>
          <a:prstGeom prst="rect">
            <a:avLst/>
          </a:prstGeom>
          <a:noFill/>
        </p:spPr>
        <p:txBody>
          <a:bodyPr wrap="square" lIns="0" rIns="0" t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rIns="0" t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4"/>
          <p:cNvSpPr txBox="1"/>
          <p:nvPr/>
        </p:nvSpPr>
        <p:spPr>
          <a:xfrm>
            <a:off x="10412730" y="2569464"/>
            <a:ext cx="1227582" cy="137160"/>
          </a:xfrm>
          <a:prstGeom prst="rect">
            <a:avLst/>
          </a:prstGeom>
          <a:noFill/>
        </p:spPr>
        <p:txBody>
          <a:bodyPr wrap="square" lIns="0" rIns="0" t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rIns="0" t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7"/>
          <p:cNvSpPr txBox="1"/>
          <p:nvPr/>
        </p:nvSpPr>
        <p:spPr>
          <a:xfrm>
            <a:off x="6236208" y="2971800"/>
            <a:ext cx="1227582" cy="137160"/>
          </a:xfrm>
          <a:prstGeom prst="rect">
            <a:avLst/>
          </a:prstGeom>
          <a:noFill/>
        </p:spPr>
        <p:txBody>
          <a:bodyPr wrap="square" lIns="0" rIns="0" t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rIns="0" t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10"/>
          <p:cNvSpPr txBox="1"/>
          <p:nvPr/>
        </p:nvSpPr>
        <p:spPr>
          <a:xfrm>
            <a:off x="7628382" y="2971800"/>
            <a:ext cx="1227582" cy="137160"/>
          </a:xfrm>
          <a:prstGeom prst="rect">
            <a:avLst/>
          </a:prstGeom>
          <a:noFill/>
        </p:spPr>
        <p:txBody>
          <a:bodyPr wrap="square" lIns="0" rIns="0" t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rIns="0" t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3"/>
          <p:cNvSpPr txBox="1"/>
          <p:nvPr/>
        </p:nvSpPr>
        <p:spPr>
          <a:xfrm>
            <a:off x="9020556" y="2971800"/>
            <a:ext cx="1227582" cy="137160"/>
          </a:xfrm>
          <a:prstGeom prst="rect">
            <a:avLst/>
          </a:prstGeom>
          <a:noFill/>
        </p:spPr>
        <p:txBody>
          <a:bodyPr wrap="square" lIns="0" rIns="0" t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rIns="0" t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6"/>
          <p:cNvSpPr txBox="1"/>
          <p:nvPr/>
        </p:nvSpPr>
        <p:spPr>
          <a:xfrm>
            <a:off x="10412730" y="2971800"/>
            <a:ext cx="1227582" cy="137160"/>
          </a:xfrm>
          <a:prstGeom prst="rect">
            <a:avLst/>
          </a:prstGeom>
          <a:noFill/>
        </p:spPr>
        <p:txBody>
          <a:bodyPr wrap="square" lIns="0" rIns="0" t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rIns="0" t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rIns="0" t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23"/>
          <p:cNvSpPr txBox="1"/>
          <p:nvPr/>
        </p:nvSpPr>
        <p:spPr>
          <a:xfrm>
            <a:off x="8419795" y="3451859"/>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rIns="0" t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rIns="0" t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7"/>
          <p:cNvSpPr txBox="1"/>
          <p:nvPr/>
        </p:nvSpPr>
        <p:spPr>
          <a:xfrm>
            <a:off x="9590227" y="3566159"/>
            <a:ext cx="2022652" cy="137160"/>
          </a:xfrm>
          <a:prstGeom prst="rect">
            <a:avLst/>
          </a:prstGeom>
          <a:noFill/>
        </p:spPr>
        <p:txBody>
          <a:bodyPr wrap="square" lIns="0" rIns="0" t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rIns="0" t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rIns="0" t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32"/>
          <p:cNvSpPr txBox="1"/>
          <p:nvPr/>
        </p:nvSpPr>
        <p:spPr>
          <a:xfrm>
            <a:off x="521208" y="4270247"/>
            <a:ext cx="3291840" cy="146304"/>
          </a:xfrm>
          <a:prstGeom prst="rect">
            <a:avLst/>
          </a:prstGeom>
          <a:noFill/>
        </p:spPr>
        <p:txBody>
          <a:bodyPr wrap="square" lIns="0" rIns="0" tIns="0" bIns="0" anchor="t">
            <a:spAutoFit/>
          </a:bodyPr>
          <a:lstStyle/>
          <a:p>
            <a:r>
              <a:rPr sz="700" b="1" i="0" spc="150">
                <a:solidFill>
                  <a:srgbClr val="00D6F2"/>
                </a:solidFill>
                <a:latin typeface="Trenda IG Text"/>
              </a:rPr>
              <a:t>TOOL + POLICY GATEWAY (MCP)</a:t>
            </a:r>
          </a:p>
        </p:txBody>
      </p:sp>
      <p:sp>
        <p:nvSpPr>
          <p:cNvPr id="131" name="Text 133"/>
          <p:cNvSpPr txBox="1"/>
          <p:nvPr/>
        </p:nvSpPr>
        <p:spPr>
          <a:xfrm>
            <a:off x="521208" y="4434840"/>
            <a:ext cx="3429000" cy="274320"/>
          </a:xfrm>
          <a:prstGeom prst="rect">
            <a:avLst/>
          </a:prstGeom>
          <a:noFill/>
        </p:spPr>
        <p:txBody>
          <a:bodyPr wrap="square" lIns="0" rIns="0" t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5"/>
          <p:cNvSpPr txBox="1"/>
          <p:nvPr/>
        </p:nvSpPr>
        <p:spPr>
          <a:xfrm>
            <a:off x="4187952"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rIns="0" t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8"/>
          <p:cNvSpPr txBox="1"/>
          <p:nvPr/>
        </p:nvSpPr>
        <p:spPr>
          <a:xfrm>
            <a:off x="5879592"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rIns="0" t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 141"/>
          <p:cNvSpPr txBox="1"/>
          <p:nvPr/>
        </p:nvSpPr>
        <p:spPr>
          <a:xfrm>
            <a:off x="7571231"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rIns="0" t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rIns="0" t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 146"/>
          <p:cNvSpPr txBox="1"/>
          <p:nvPr/>
        </p:nvSpPr>
        <p:spPr>
          <a:xfrm>
            <a:off x="502920" y="4901183"/>
            <a:ext cx="2194560" cy="146304"/>
          </a:xfrm>
          <a:prstGeom prst="rect">
            <a:avLst/>
          </a:prstGeom>
          <a:noFill/>
        </p:spPr>
        <p:txBody>
          <a:bodyPr wrap="square" lIns="0" rIns="0" t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rIns="0" t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 150"/>
          <p:cNvSpPr txBox="1"/>
          <p:nvPr/>
        </p:nvSpPr>
        <p:spPr>
          <a:xfrm>
            <a:off x="2990088" y="4901183"/>
            <a:ext cx="2194560" cy="146304"/>
          </a:xfrm>
          <a:prstGeom prst="rect">
            <a:avLst/>
          </a:prstGeom>
          <a:noFill/>
        </p:spPr>
        <p:txBody>
          <a:bodyPr wrap="square" lIns="0" rIns="0" t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rIns="0" t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54"/>
          <p:cNvSpPr txBox="1"/>
          <p:nvPr/>
        </p:nvSpPr>
        <p:spPr>
          <a:xfrm>
            <a:off x="5477256" y="4901183"/>
            <a:ext cx="2194560" cy="146304"/>
          </a:xfrm>
          <a:prstGeom prst="rect">
            <a:avLst/>
          </a:prstGeom>
          <a:noFill/>
        </p:spPr>
        <p:txBody>
          <a:bodyPr wrap="square" lIns="0" rIns="0" t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rIns="0" t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58"/>
          <p:cNvSpPr txBox="1"/>
          <p:nvPr/>
        </p:nvSpPr>
        <p:spPr>
          <a:xfrm>
            <a:off x="8238744" y="4901183"/>
            <a:ext cx="1828800" cy="146304"/>
          </a:xfrm>
          <a:prstGeom prst="rect">
            <a:avLst/>
          </a:prstGeom>
          <a:noFill/>
        </p:spPr>
        <p:txBody>
          <a:bodyPr wrap="square" lIns="0" rIns="0" t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rIns="0" t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61"/>
          <p:cNvSpPr txBox="1"/>
          <p:nvPr/>
        </p:nvSpPr>
        <p:spPr>
          <a:xfrm>
            <a:off x="10532059" y="4901183"/>
            <a:ext cx="1172260" cy="146304"/>
          </a:xfrm>
          <a:prstGeom prst="rect">
            <a:avLst/>
          </a:prstGeom>
          <a:noFill/>
        </p:spPr>
        <p:txBody>
          <a:bodyPr wrap="square" lIns="0" rIns="0" t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 166"/>
          <p:cNvSpPr txBox="1"/>
          <p:nvPr/>
        </p:nvSpPr>
        <p:spPr>
          <a:xfrm>
            <a:off x="5029200" y="5344667"/>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rIns="0" tIns="0" bIns="0" anchor="t">
            <a:spAutoFit/>
          </a:bodyPr>
          <a:lstStyle/>
          <a:p>
            <a:r>
              <a:rPr sz="700" b="1" i="0" spc="150">
                <a:solidFill>
                  <a:srgbClr val="000000"/>
                </a:solidFill>
                <a:latin typeface="Trenda IG Text"/>
              </a:rPr>
              <a:t>CHANGE PASSPORT + AUDIT</a:t>
            </a:r>
          </a:p>
        </p:txBody>
      </p:sp>
      <p:sp>
        <p:nvSpPr>
          <p:cNvPr id="165" name="Text 168"/>
          <p:cNvSpPr txBox="1"/>
          <p:nvPr/>
        </p:nvSpPr>
        <p:spPr>
          <a:xfrm>
            <a:off x="544068" y="5673851"/>
            <a:ext cx="5358384" cy="137160"/>
          </a:xfrm>
          <a:prstGeom prst="rect">
            <a:avLst/>
          </a:prstGeom>
          <a:noFill/>
        </p:spPr>
        <p:txBody>
          <a:bodyPr wrap="square" lIns="0" rIns="0" t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rIns="0" t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74"/>
          <p:cNvSpPr txBox="1"/>
          <p:nvPr/>
        </p:nvSpPr>
        <p:spPr>
          <a:xfrm>
            <a:off x="10771632" y="5344667"/>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 176"/>
          <p:cNvSpPr txBox="1"/>
          <p:nvPr/>
        </p:nvSpPr>
        <p:spPr>
          <a:xfrm>
            <a:off x="6652260" y="5509259"/>
            <a:ext cx="3291840" cy="146304"/>
          </a:xfrm>
          <a:prstGeom prst="rect">
            <a:avLst/>
          </a:prstGeom>
          <a:noFill/>
        </p:spPr>
        <p:txBody>
          <a:bodyPr wrap="square" lIns="0" rIns="0" tIns="0" bIns="0" anchor="t">
            <a:spAutoFit/>
          </a:bodyPr>
          <a:lstStyle/>
          <a:p>
            <a:r>
              <a:rPr sz="700" b="1" i="0" spc="100">
                <a:solidFill>
                  <a:srgbClr val="000000"/>
                </a:solidFill>
                <a:latin typeface="Trenda IG Text"/>
              </a:rPr>
              <a:t>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rIns="0" t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Text 179"/>
          <p:cNvSpPr txBox="1"/>
          <p:nvPr/>
        </p:nvSpPr>
        <p:spPr>
          <a:xfrm>
            <a:off x="521208" y="6044183"/>
            <a:ext cx="11146536" cy="274320"/>
          </a:xfrm>
          <a:prstGeom prst="rect">
            <a:avLst/>
          </a:prstGeom>
          <a:noFill/>
        </p:spPr>
        <p:txBody>
          <a:bodyPr wrap="square" lIns="0" rIns="0" t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EXECUTION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7"/>
          <p:cNvSpPr txBox="1"/>
          <p:nvPr/>
        </p:nvSpPr>
        <p:spPr>
          <a:xfrm>
            <a:off x="8138160" y="196596"/>
            <a:ext cx="3639312" cy="155448"/>
          </a:xfrm>
          <a:prstGeom prst="rect">
            <a:avLst/>
          </a:prstGeom>
          <a:noFill/>
        </p:spPr>
        <p:txBody>
          <a:bodyPr wrap="square" lIns="0" rIns="0" t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9"/>
          <p:cNvSpPr txBox="1"/>
          <p:nvPr/>
        </p:nvSpPr>
        <p:spPr>
          <a:xfrm>
            <a:off x="521208" y="1115568"/>
            <a:ext cx="2194560" cy="274320"/>
          </a:xfrm>
          <a:prstGeom prst="rect">
            <a:avLst/>
          </a:prstGeom>
          <a:noFill/>
        </p:spPr>
        <p:txBody>
          <a:bodyPr wrap="square" lIns="0" rIns="0" t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rIns="0" t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3"/>
          <p:cNvSpPr txBox="1"/>
          <p:nvPr/>
        </p:nvSpPr>
        <p:spPr>
          <a:xfrm>
            <a:off x="493776"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rIns="0" t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8"/>
          <p:cNvSpPr txBox="1"/>
          <p:nvPr/>
        </p:nvSpPr>
        <p:spPr>
          <a:xfrm>
            <a:off x="557784"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20"/>
          <p:cNvSpPr txBox="1"/>
          <p:nvPr/>
        </p:nvSpPr>
        <p:spPr>
          <a:xfrm>
            <a:off x="557784"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5"/>
          <p:cNvSpPr txBox="1"/>
          <p:nvPr/>
        </p:nvSpPr>
        <p:spPr>
          <a:xfrm>
            <a:off x="4599432" y="1449324"/>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7"/>
          <p:cNvSpPr txBox="1"/>
          <p:nvPr/>
        </p:nvSpPr>
        <p:spPr>
          <a:xfrm>
            <a:off x="3255264"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rIns="0" t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2"/>
          <p:cNvSpPr txBox="1"/>
          <p:nvPr/>
        </p:nvSpPr>
        <p:spPr>
          <a:xfrm>
            <a:off x="3319272"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4"/>
          <p:cNvSpPr txBox="1"/>
          <p:nvPr/>
        </p:nvSpPr>
        <p:spPr>
          <a:xfrm>
            <a:off x="3319272"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7"/>
          <p:cNvSpPr txBox="1"/>
          <p:nvPr/>
        </p:nvSpPr>
        <p:spPr>
          <a:xfrm>
            <a:off x="6016752"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rIns="0" t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2"/>
          <p:cNvSpPr txBox="1"/>
          <p:nvPr/>
        </p:nvSpPr>
        <p:spPr>
          <a:xfrm>
            <a:off x="6080760"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4"/>
          <p:cNvSpPr txBox="1"/>
          <p:nvPr/>
        </p:nvSpPr>
        <p:spPr>
          <a:xfrm>
            <a:off x="6080760"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7"/>
          <p:cNvSpPr txBox="1"/>
          <p:nvPr/>
        </p:nvSpPr>
        <p:spPr>
          <a:xfrm>
            <a:off x="6016752" y="293522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rIns="0" t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2"/>
          <p:cNvSpPr txBox="1"/>
          <p:nvPr/>
        </p:nvSpPr>
        <p:spPr>
          <a:xfrm>
            <a:off x="6080760"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4"/>
          <p:cNvSpPr txBox="1"/>
          <p:nvPr/>
        </p:nvSpPr>
        <p:spPr>
          <a:xfrm>
            <a:off x="6080760"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7"/>
          <p:cNvSpPr txBox="1"/>
          <p:nvPr/>
        </p:nvSpPr>
        <p:spPr>
          <a:xfrm>
            <a:off x="3255264" y="293522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rIns="0" t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2"/>
          <p:cNvSpPr txBox="1"/>
          <p:nvPr/>
        </p:nvSpPr>
        <p:spPr>
          <a:xfrm>
            <a:off x="3319272"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4"/>
          <p:cNvSpPr txBox="1"/>
          <p:nvPr/>
        </p:nvSpPr>
        <p:spPr>
          <a:xfrm>
            <a:off x="3319272"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7"/>
          <p:cNvSpPr txBox="1"/>
          <p:nvPr/>
        </p:nvSpPr>
        <p:spPr>
          <a:xfrm>
            <a:off x="493776" y="2935224"/>
            <a:ext cx="228600" cy="228600"/>
          </a:xfrm>
          <a:prstGeom prst="rect">
            <a:avLst/>
          </a:prstGeom>
          <a:noFill/>
        </p:spPr>
        <p:txBody>
          <a:bodyPr wrap="square" lIns="0" rIns="0" t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rIns="0" t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rIns="0" t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2"/>
          <p:cNvSpPr txBox="1"/>
          <p:nvPr/>
        </p:nvSpPr>
        <p:spPr>
          <a:xfrm>
            <a:off x="557784"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4"/>
          <p:cNvSpPr txBox="1"/>
          <p:nvPr/>
        </p:nvSpPr>
        <p:spPr>
          <a:xfrm>
            <a:off x="557784"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7"/>
          <p:cNvSpPr txBox="1"/>
          <p:nvPr/>
        </p:nvSpPr>
        <p:spPr>
          <a:xfrm>
            <a:off x="493776" y="4261103"/>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rIns="0" t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2"/>
          <p:cNvSpPr txBox="1"/>
          <p:nvPr/>
        </p:nvSpPr>
        <p:spPr>
          <a:xfrm>
            <a:off x="557784"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4"/>
          <p:cNvSpPr txBox="1"/>
          <p:nvPr/>
        </p:nvSpPr>
        <p:spPr>
          <a:xfrm>
            <a:off x="557784"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7"/>
          <p:cNvSpPr txBox="1"/>
          <p:nvPr/>
        </p:nvSpPr>
        <p:spPr>
          <a:xfrm>
            <a:off x="3255264" y="4261103"/>
            <a:ext cx="228600" cy="228600"/>
          </a:xfrm>
          <a:prstGeom prst="rect">
            <a:avLst/>
          </a:prstGeom>
          <a:noFill/>
        </p:spPr>
        <p:txBody>
          <a:bodyPr wrap="square" lIns="0" rIns="0" t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rIns="0" t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rIns="0" t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2"/>
          <p:cNvSpPr txBox="1"/>
          <p:nvPr/>
        </p:nvSpPr>
        <p:spPr>
          <a:xfrm>
            <a:off x="3319272"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4"/>
          <p:cNvSpPr txBox="1"/>
          <p:nvPr/>
        </p:nvSpPr>
        <p:spPr>
          <a:xfrm>
            <a:off x="3319272"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7"/>
          <p:cNvSpPr txBox="1"/>
          <p:nvPr/>
        </p:nvSpPr>
        <p:spPr>
          <a:xfrm>
            <a:off x="6016752" y="4261103"/>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rIns="0" t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2"/>
          <p:cNvSpPr txBox="1"/>
          <p:nvPr/>
        </p:nvSpPr>
        <p:spPr>
          <a:xfrm>
            <a:off x="6080760"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4"/>
          <p:cNvSpPr txBox="1"/>
          <p:nvPr/>
        </p:nvSpPr>
        <p:spPr>
          <a:xfrm>
            <a:off x="6080760"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rIns="0" t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rIns="0" t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20"/>
          <p:cNvSpPr txBox="1"/>
          <p:nvPr/>
        </p:nvSpPr>
        <p:spPr>
          <a:xfrm>
            <a:off x="10771632" y="1577340"/>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22"/>
          <p:cNvSpPr txBox="1"/>
          <p:nvPr/>
        </p:nvSpPr>
        <p:spPr>
          <a:xfrm>
            <a:off x="8727948" y="1687068"/>
            <a:ext cx="1911096" cy="201168"/>
          </a:xfrm>
          <a:prstGeom prst="rect">
            <a:avLst/>
          </a:prstGeom>
          <a:noFill/>
        </p:spPr>
        <p:txBody>
          <a:bodyPr wrap="square" lIns="0" rIns="0" t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4"/>
          <p:cNvSpPr txBox="1"/>
          <p:nvPr/>
        </p:nvSpPr>
        <p:spPr>
          <a:xfrm>
            <a:off x="8819388" y="1952243"/>
            <a:ext cx="2843784" cy="164592"/>
          </a:xfrm>
          <a:prstGeom prst="rect">
            <a:avLst/>
          </a:prstGeom>
          <a:noFill/>
        </p:spPr>
        <p:txBody>
          <a:bodyPr wrap="square" lIns="0" rIns="0" t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6"/>
          <p:cNvSpPr txBox="1"/>
          <p:nvPr/>
        </p:nvSpPr>
        <p:spPr>
          <a:xfrm>
            <a:off x="8819388" y="2135124"/>
            <a:ext cx="2843784" cy="164592"/>
          </a:xfrm>
          <a:prstGeom prst="rect">
            <a:avLst/>
          </a:prstGeom>
          <a:noFill/>
        </p:spPr>
        <p:txBody>
          <a:bodyPr wrap="square" lIns="0" rIns="0" t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8"/>
          <p:cNvSpPr txBox="1"/>
          <p:nvPr/>
        </p:nvSpPr>
        <p:spPr>
          <a:xfrm>
            <a:off x="8819388" y="2318003"/>
            <a:ext cx="2843784" cy="164592"/>
          </a:xfrm>
          <a:prstGeom prst="rect">
            <a:avLst/>
          </a:prstGeom>
          <a:noFill/>
        </p:spPr>
        <p:txBody>
          <a:bodyPr wrap="square" lIns="0" rIns="0" t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33"/>
          <p:cNvSpPr txBox="1"/>
          <p:nvPr/>
        </p:nvSpPr>
        <p:spPr>
          <a:xfrm>
            <a:off x="10771632" y="2528315"/>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 135"/>
          <p:cNvSpPr txBox="1"/>
          <p:nvPr/>
        </p:nvSpPr>
        <p:spPr>
          <a:xfrm>
            <a:off x="8727948" y="2638044"/>
            <a:ext cx="1911096" cy="201168"/>
          </a:xfrm>
          <a:prstGeom prst="rect">
            <a:avLst/>
          </a:prstGeom>
          <a:noFill/>
        </p:spPr>
        <p:txBody>
          <a:bodyPr wrap="square" lIns="0" rIns="0" t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 137"/>
          <p:cNvSpPr txBox="1"/>
          <p:nvPr/>
        </p:nvSpPr>
        <p:spPr>
          <a:xfrm>
            <a:off x="8819388" y="2903220"/>
            <a:ext cx="2843784" cy="164592"/>
          </a:xfrm>
          <a:prstGeom prst="rect">
            <a:avLst/>
          </a:prstGeom>
          <a:noFill/>
        </p:spPr>
        <p:txBody>
          <a:bodyPr wrap="square" lIns="0" rIns="0" t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9"/>
          <p:cNvSpPr txBox="1"/>
          <p:nvPr/>
        </p:nvSpPr>
        <p:spPr>
          <a:xfrm>
            <a:off x="8819388" y="3086100"/>
            <a:ext cx="2843784" cy="164592"/>
          </a:xfrm>
          <a:prstGeom prst="rect">
            <a:avLst/>
          </a:prstGeom>
          <a:noFill/>
        </p:spPr>
        <p:txBody>
          <a:bodyPr wrap="square" lIns="0" rIns="0" t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41"/>
          <p:cNvSpPr txBox="1"/>
          <p:nvPr/>
        </p:nvSpPr>
        <p:spPr>
          <a:xfrm>
            <a:off x="8819388" y="3268979"/>
            <a:ext cx="2843784" cy="164592"/>
          </a:xfrm>
          <a:prstGeom prst="rect">
            <a:avLst/>
          </a:prstGeom>
          <a:noFill/>
        </p:spPr>
        <p:txBody>
          <a:bodyPr wrap="square" lIns="0" rIns="0" t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44"/>
          <p:cNvSpPr txBox="1"/>
          <p:nvPr/>
        </p:nvSpPr>
        <p:spPr>
          <a:xfrm>
            <a:off x="8686800" y="3547872"/>
            <a:ext cx="1993392" cy="201168"/>
          </a:xfrm>
          <a:prstGeom prst="rect">
            <a:avLst/>
          </a:prstGeom>
          <a:noFill/>
        </p:spPr>
        <p:txBody>
          <a:bodyPr wrap="square" lIns="0" rIns="0" t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46"/>
          <p:cNvSpPr txBox="1"/>
          <p:nvPr/>
        </p:nvSpPr>
        <p:spPr>
          <a:xfrm>
            <a:off x="8778240" y="3813048"/>
            <a:ext cx="2926080" cy="164592"/>
          </a:xfrm>
          <a:prstGeom prst="rect">
            <a:avLst/>
          </a:prstGeom>
          <a:noFill/>
        </p:spPr>
        <p:txBody>
          <a:bodyPr wrap="square" lIns="0" rIns="0" t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8"/>
          <p:cNvSpPr txBox="1"/>
          <p:nvPr/>
        </p:nvSpPr>
        <p:spPr>
          <a:xfrm>
            <a:off x="8778240" y="3995928"/>
            <a:ext cx="2926080" cy="164592"/>
          </a:xfrm>
          <a:prstGeom prst="rect">
            <a:avLst/>
          </a:prstGeom>
          <a:noFill/>
        </p:spPr>
        <p:txBody>
          <a:bodyPr wrap="square" lIns="0" rIns="0" t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50"/>
          <p:cNvSpPr txBox="1"/>
          <p:nvPr/>
        </p:nvSpPr>
        <p:spPr>
          <a:xfrm>
            <a:off x="8778240" y="4178808"/>
            <a:ext cx="2926080" cy="164592"/>
          </a:xfrm>
          <a:prstGeom prst="rect">
            <a:avLst/>
          </a:prstGeom>
          <a:noFill/>
        </p:spPr>
        <p:txBody>
          <a:bodyPr wrap="square" lIns="0" rIns="0" t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53"/>
          <p:cNvSpPr txBox="1"/>
          <p:nvPr/>
        </p:nvSpPr>
        <p:spPr>
          <a:xfrm>
            <a:off x="8686800" y="4498848"/>
            <a:ext cx="1993392" cy="201168"/>
          </a:xfrm>
          <a:prstGeom prst="rect">
            <a:avLst/>
          </a:prstGeom>
          <a:noFill/>
        </p:spPr>
        <p:txBody>
          <a:bodyPr wrap="square" lIns="0" rIns="0" t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55"/>
          <p:cNvSpPr txBox="1"/>
          <p:nvPr/>
        </p:nvSpPr>
        <p:spPr>
          <a:xfrm>
            <a:off x="8778240" y="4764024"/>
            <a:ext cx="2926080" cy="164592"/>
          </a:xfrm>
          <a:prstGeom prst="rect">
            <a:avLst/>
          </a:prstGeom>
          <a:noFill/>
        </p:spPr>
        <p:txBody>
          <a:bodyPr wrap="square" lIns="0" rIns="0" t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57"/>
          <p:cNvSpPr txBox="1"/>
          <p:nvPr/>
        </p:nvSpPr>
        <p:spPr>
          <a:xfrm>
            <a:off x="8778240" y="4946904"/>
            <a:ext cx="2926080" cy="164592"/>
          </a:xfrm>
          <a:prstGeom prst="rect">
            <a:avLst/>
          </a:prstGeom>
          <a:noFill/>
        </p:spPr>
        <p:txBody>
          <a:bodyPr wrap="square" lIns="0" rIns="0" t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59"/>
          <p:cNvSpPr txBox="1"/>
          <p:nvPr/>
        </p:nvSpPr>
        <p:spPr>
          <a:xfrm>
            <a:off x="8778240" y="5129784"/>
            <a:ext cx="2926080" cy="164592"/>
          </a:xfrm>
          <a:prstGeom prst="rect">
            <a:avLst/>
          </a:prstGeom>
          <a:noFill/>
        </p:spPr>
        <p:txBody>
          <a:bodyPr wrap="square" lIns="0" rIns="0" t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 164"/>
          <p:cNvSpPr txBox="1"/>
          <p:nvPr/>
        </p:nvSpPr>
        <p:spPr>
          <a:xfrm>
            <a:off x="10771632" y="5417819"/>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rIns="0" t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rIns="0" t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 168"/>
          <p:cNvSpPr txBox="1"/>
          <p:nvPr/>
        </p:nvSpPr>
        <p:spPr>
          <a:xfrm>
            <a:off x="2537460" y="5747003"/>
            <a:ext cx="893826" cy="146304"/>
          </a:xfrm>
          <a:prstGeom prst="rect">
            <a:avLst/>
          </a:prstGeom>
          <a:noFill/>
        </p:spPr>
        <p:txBody>
          <a:bodyPr wrap="square" lIns="0" rIns="0" t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72"/>
          <p:cNvSpPr txBox="1"/>
          <p:nvPr/>
        </p:nvSpPr>
        <p:spPr>
          <a:xfrm>
            <a:off x="3705606" y="5747003"/>
            <a:ext cx="893826" cy="146304"/>
          </a:xfrm>
          <a:prstGeom prst="rect">
            <a:avLst/>
          </a:prstGeom>
          <a:noFill/>
        </p:spPr>
        <p:txBody>
          <a:bodyPr wrap="square" lIns="0" rIns="0" t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 176"/>
          <p:cNvSpPr txBox="1"/>
          <p:nvPr/>
        </p:nvSpPr>
        <p:spPr>
          <a:xfrm>
            <a:off x="4873752" y="5747003"/>
            <a:ext cx="893826" cy="146304"/>
          </a:xfrm>
          <a:prstGeom prst="rect">
            <a:avLst/>
          </a:prstGeom>
          <a:noFill/>
        </p:spPr>
        <p:txBody>
          <a:bodyPr wrap="square" lIns="0" rIns="0" t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 180"/>
          <p:cNvSpPr txBox="1"/>
          <p:nvPr/>
        </p:nvSpPr>
        <p:spPr>
          <a:xfrm>
            <a:off x="6041898" y="5747003"/>
            <a:ext cx="893826" cy="146304"/>
          </a:xfrm>
          <a:prstGeom prst="rect">
            <a:avLst/>
          </a:prstGeom>
          <a:noFill/>
        </p:spPr>
        <p:txBody>
          <a:bodyPr wrap="square" lIns="0" rIns="0" t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rIns="0" t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84"/>
          <p:cNvSpPr txBox="1"/>
          <p:nvPr/>
        </p:nvSpPr>
        <p:spPr>
          <a:xfrm>
            <a:off x="7210044" y="5747003"/>
            <a:ext cx="893826" cy="146304"/>
          </a:xfrm>
          <a:prstGeom prst="rect">
            <a:avLst/>
          </a:prstGeom>
          <a:noFill/>
        </p:spPr>
        <p:txBody>
          <a:bodyPr wrap="square" lIns="0" rIns="0" t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 188"/>
          <p:cNvSpPr txBox="1"/>
          <p:nvPr/>
        </p:nvSpPr>
        <p:spPr>
          <a:xfrm>
            <a:off x="8378190" y="5747003"/>
            <a:ext cx="893826" cy="146304"/>
          </a:xfrm>
          <a:prstGeom prst="rect">
            <a:avLst/>
          </a:prstGeom>
          <a:noFill/>
        </p:spPr>
        <p:txBody>
          <a:bodyPr wrap="square" lIns="0" rIns="0" t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 192"/>
          <p:cNvSpPr txBox="1"/>
          <p:nvPr/>
        </p:nvSpPr>
        <p:spPr>
          <a:xfrm>
            <a:off x="9546336" y="5747003"/>
            <a:ext cx="893826" cy="146304"/>
          </a:xfrm>
          <a:prstGeom prst="rect">
            <a:avLst/>
          </a:prstGeom>
          <a:noFill/>
        </p:spPr>
        <p:txBody>
          <a:bodyPr wrap="square" lIns="0" rIns="0" t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96"/>
          <p:cNvSpPr txBox="1"/>
          <p:nvPr/>
        </p:nvSpPr>
        <p:spPr>
          <a:xfrm>
            <a:off x="10714482" y="5747003"/>
            <a:ext cx="893826" cy="146304"/>
          </a:xfrm>
          <a:prstGeom prst="rect">
            <a:avLst/>
          </a:prstGeom>
          <a:noFill/>
        </p:spPr>
        <p:txBody>
          <a:bodyPr wrap="square" lIns="0" rIns="0" t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09</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14027</Words>
  <Application>Microsoft Office PowerPoint</Application>
  <PresentationFormat>Widescreen</PresentationFormat>
  <Paragraphs>1586</Paragraphs>
  <Slides>14</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Arial</vt:lpstr>
      <vt:lpstr>Courier New</vt:lpstr>
      <vt:lpstr>Trenda IG Display</vt:lpstr>
      <vt:lpstr>Trenda IG Display Bold</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2</cp:revision>
  <dcterms:created xsi:type="dcterms:W3CDTF">2026-09-09T12:37:24Z</dcterms:created>
  <dcterms:modified xsi:type="dcterms:W3CDTF">2026-10-11T03:44:01Z</dcterms:modified>
</cp:coreProperties>
</file>