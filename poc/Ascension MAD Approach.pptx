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31" r:id="rId25"/>
    <p:sldId id="332" r:id="rId26"/>
    <p:sldId id="333" r:id="rId27"/>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16.5</c:v>
                </c:pt>
                <c:pt idx="2">
                  <c:v>16.5</c:v>
                </c:pt>
                <c:pt idx="3">
                  <c:v>16.5</c:v>
                </c:pt>
                <c:pt idx="4">
                  <c:v>16.5</c:v>
                </c:pt>
                <c:pt idx="5">
                  <c:v>25</c:v>
                </c:pt>
                <c:pt idx="6">
                  <c:v>25</c:v>
                </c:pt>
                <c:pt idx="7">
                  <c:v>25</c:v>
                </c:pt>
                <c:pt idx="8">
                  <c:v>25</c:v>
                </c:pt>
                <c:pt idx="9">
                  <c:v>23</c:v>
                </c:pt>
                <c:pt idx="10">
                  <c:v>23</c:v>
                </c:pt>
                <c:pt idx="11">
                  <c:v>25.5</c:v>
                </c:pt>
                <c:pt idx="12">
                  <c:v>25.5</c:v>
                </c:pt>
                <c:pt idx="13">
                  <c:v>25.5</c:v>
                </c:pt>
                <c:pt idx="14">
                  <c:v>25.5</c:v>
                </c:pt>
                <c:pt idx="15">
                  <c:v>25.5</c:v>
                </c:pt>
                <c:pt idx="16">
                  <c:v>25.5</c:v>
                </c:pt>
                <c:pt idx="17">
                  <c:v>10</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3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26 people at peak across 14 roles, every role delivered offshore, sized from the phase plan: 381.5 FTE-months over 18 months.</a:t>
            </a:r>
          </a:p>
          <a:p/>
          <a:p>
            <a:r>
              <a:t>RAMP (FTE by phase)</a:t>
            </a:r>
          </a:p>
          <a:p>
            <a:r>
              <a:t>6.5 in month 1, 16.5 in months 2-5, 25 in months 6-9, 23 in months 10-11, 25.5 in months 12-14, 25.5 in months 15-17, 10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4 Health Cloud developers and 3 QA engineers in months 12-17 so three to five pods onboard at once without lowering the pilots' quality bar.</a:t>
            </a:r>
          </a:p>
          <a:p>
            <a:r>
              <a:t>- 3 knowledge graph engineers: six connectors first, then every new pod's sources in each wave.</a:t>
            </a:r>
          </a:p>
          <a:p>
            <a:r>
              <a:t>- 3 AI agent engineers + an AI lead: the agents, prompts, skills and the evaluation set are the product.</a:t>
            </a:r>
          </a:p>
          <a:p>
            <a:r>
              <a:t>- 2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($45-85/h, blended $60/h). Replace them with the Insight Global rate card in plan_slides.py and rebuild before this slide goes to Ascension.</a:t>
            </a:r>
          </a:p>
          <a:p/>
          <a:p>
            <a:r>
              <a:t>KEY MESSAGE</a:t>
            </a:r>
          </a:p>
          <a:p>
            <a:r>
              <a:t>$4.03M as a fixed fee over 18 months, invoiced only when each gate is signed. Platform usage is passed through at cost. After month 18, a managed service.</a:t>
            </a:r>
          </a:p>
          <a:p/>
          <a:p>
            <a:r>
              <a:t>THE OPTIONS (A or B pays for the build, months 1-18; C is the separate monthly service that starts at month 19)</a:t>
            </a:r>
          </a:p>
          <a:p>
            <a:r>
              <a:t>- A, fixed fee by gate (recommended): Ascension pays for a phase only when its gate passes; Insight Global carries delivery risk (10% in the price).</a:t>
            </a:r>
          </a:p>
          <a:p>
            <a:r>
              <a:t>- B, time and materials with a cap per phase: $3.66M estimated; Ascension carries overrun risk up to the cap.</a:t>
            </a:r>
          </a:p>
          <a:p>
            <a:r>
              <a:t>- C, managed service, only from month 19 once all pods are live: $58K a month for a run team of 6 (graph, agents, Guardian rules, evaluations, failed runs, new sources), plus platform at cost of about $20K a month. It is not part of the build fee and not charged during months 1-18.</a:t>
            </a:r>
          </a:p>
          <a:p/>
          <a:p>
            <a:r>
              <a:t>IF ASCENSION ASKS FOR A LOWER NUMBER: TRADE SCOPE OR RISK, NOT RATES</a:t>
            </a:r>
          </a:p>
          <a:p>
            <a:r>
              <a:t>- Move to option B (time and materials, capped): $3.66M.</a:t>
            </a:r>
          </a:p>
          <a:p>
            <a:r>
              <a:t>- Contract wave 2 later, as a per-pod onboarding fee once wave 1 has proved the savings: removes $0.79M now, so the fixed fee becomes $3.24M.</a:t>
            </a:r>
          </a:p>
          <a:p>
            <a:r>
              <a:t>- Both levers together: about $2.95M.</a:t>
            </a:r>
          </a:p>
          <a:p>
            <a:r>
              <a:t>- Lower the risk premium to 5% in exchange for Ascension owning gate dates: $3.85M.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1.6 to 2.0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26 people at peak across 14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25.5 FTE at peak, 381.5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96" name="Shape 95"/>
          <p:cNvSpPr/>
          <p:nvPr/>
        </p:nvSpPr>
        <p:spPr>
          <a:xfrm>
            <a:off x="466344" y="5472684"/>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2" name="Shape 101"/>
          <p:cNvSpPr/>
          <p:nvPr/>
        </p:nvSpPr>
        <p:spPr>
          <a:xfrm>
            <a:off x="411480" y="5669280"/>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411480" y="5715000"/>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04" name="Shape 103"/>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4"/>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25.5</a:t>
            </a:r>
          </a:p>
        </p:txBody>
      </p:sp>
      <p:sp>
        <p:nvSpPr>
          <p:cNvPr id="106" name="Text 105"/>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07" name="Shape 106"/>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381.5</a:t>
            </a:r>
          </a:p>
        </p:txBody>
      </p:sp>
      <p:sp>
        <p:nvSpPr>
          <p:cNvPr id="109" name="Text 108"/>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0" name="Shape 109"/>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2" name="Text 111"/>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13" name="Text 112"/>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14" name="Chart 113"/>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15" name="Shape 113"/>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4"/>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17" name="Shape 115"/>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6"/>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19" name="Shape 117"/>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8"/>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1" name="Shape 119"/>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0"/>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23" name="Shape 121"/>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2"/>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25" name="Shape 123"/>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4"/>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27" name="Shape 125"/>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6"/>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29" name="Shape 127"/>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8"/>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$4.03M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$72K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$656K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$722K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$954K</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$1.05M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23</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$440K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$484K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$722K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$795K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$718K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$789K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10</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$112K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$3.66M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$4.03M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381.5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76809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$4.03M</a:t>
            </a:r>
          </a:p>
        </p:txBody>
      </p:sp>
      <p:sp>
        <p:nvSpPr>
          <p:cNvPr id="72" name="Text 72"/>
          <p:cNvSpPr txBox="1"/>
          <p:nvPr/>
        </p:nvSpPr>
        <p:spPr>
          <a:xfrm>
            <a:off x="8243315" y="1705356"/>
            <a:ext cx="3383280" cy="329184"/>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(10% included).</a:t>
            </a:r>
          </a:p>
        </p:txBody>
      </p:sp>
      <p:sp>
        <p:nvSpPr>
          <p:cNvPr id="73" name="Shape 73"/>
          <p:cNvSpPr/>
          <p:nvPr/>
        </p:nvSpPr>
        <p:spPr>
          <a:xfrm>
            <a:off x="10712196" y="1879091"/>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1879091"/>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212848"/>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267712"/>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2494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$3.66M</a:t>
            </a:r>
          </a:p>
        </p:txBody>
      </p:sp>
      <p:sp>
        <p:nvSpPr>
          <p:cNvPr id="78" name="Text 78"/>
          <p:cNvSpPr txBox="1"/>
          <p:nvPr/>
        </p:nvSpPr>
        <p:spPr>
          <a:xfrm>
            <a:off x="8202167" y="2505456"/>
            <a:ext cx="3465576" cy="329184"/>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Text 79"/>
          <p:cNvSpPr txBox="1"/>
          <p:nvPr/>
        </p:nvSpPr>
        <p:spPr>
          <a:xfrm>
            <a:off x="8092440" y="3017520"/>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21868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27355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25526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$58K / month</a:t>
            </a:r>
          </a:p>
        </p:txBody>
      </p:sp>
      <p:sp>
        <p:nvSpPr>
          <p:cNvPr id="83" name="Text 83"/>
          <p:cNvSpPr txBox="1"/>
          <p:nvPr/>
        </p:nvSpPr>
        <p:spPr>
          <a:xfrm>
            <a:off x="8202167" y="3511296"/>
            <a:ext cx="3465576" cy="329184"/>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6, offshore, keeps the graph, agents, Guardian rules and evaluations current, fixes failed runs and adds new sources.</a:t>
            </a:r>
          </a:p>
        </p:txBody>
      </p:sp>
      <p:sp>
        <p:nvSpPr>
          <p:cNvPr id="84" name="Shape 84"/>
          <p:cNvSpPr/>
          <p:nvPr/>
        </p:nvSpPr>
        <p:spPr>
          <a:xfrm>
            <a:off x="8183879" y="391363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3913632"/>
            <a:ext cx="3355848" cy="256032"/>
          </a:xfrm>
          <a:prstGeom prst="rect">
            <a:avLst/>
          </a:prstGeom>
          <a:noFill/>
        </p:spPr>
        <p:txBody>
          <a:bodyPr wrap="square" lIns="0" rIns="0" tIns="0" bIns="0" anchor="ctr">
            <a:spAutoFit/>
          </a:bodyPr>
          <a:lstStyle/>
          <a:p>
            <a:r>
              <a:rPr sz="700" b="0" i="0">
                <a:solidFill>
                  <a:srgbClr val="000000"/>
                </a:solidFill>
                <a:latin typeface="Trenda IG Text"/>
              </a:rPr>
              <a:t>Team $58K + platform ~$20K = </a:t>
            </a:r>
            <a:r>
              <a:rPr sz="700" b="1" i="0">
                <a:solidFill>
                  <a:srgbClr val="000000"/>
                </a:solidFill>
                <a:latin typeface="Trenda IG Text"/>
              </a:rPr>
              <a:t>about $78K a month ($0.93M a year)</a:t>
            </a:r>
          </a:p>
        </p:txBody>
      </p:sp>
      <p:sp>
        <p:nvSpPr>
          <p:cNvPr id="86" name="Shape 86"/>
          <p:cNvSpPr/>
          <p:nvPr/>
        </p:nvSpPr>
        <p:spPr>
          <a:xfrm>
            <a:off x="8092440" y="4352544"/>
            <a:ext cx="3685032"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42569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626864"/>
            <a:ext cx="3429000" cy="163677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build fee pays back in about 1.6 to 2.0 years once pods are live.</a:t>
            </a:r>
          </a:p>
          <a:p>
            <a:pPr>
              <a:spcAft>
                <a:spcPts val="600"/>
              </a:spcAft>
            </a:pPr>
            <a:r>
              <a:rPr sz="900" b="0" i="0">
                <a:solidFill>
                  <a:srgbClr val="BFBFBF"/>
                </a:solidFill>
                <a:latin typeface="Trenda IG Text"/>
              </a:rPr>
              <a:t>Example: one 14-person pod at about $2.47M a year saves $0.49-0.62M a year.</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$45-85/h, blended $60/h, 160 h per FTE-month, 381.5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