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9" r:id="rId23"/>
    <p:sldId id="323" r:id="rId3"/>
    <p:sldId id="330" r:id="rId24"/>
    <p:sldId id="331" r:id="rId25"/>
    <p:sldId id="332" r:id="rId26"/>
    <p:sldId id="333" r:id="rId27"/>
    <p:sldId id="256" r:id="rId4"/>
    <p:sldId id="319" r:id="rId5"/>
    <p:sldId id="324" r:id="rId6"/>
    <p:sldId id="325" r:id="rId7"/>
    <p:sldId id="327" r:id="rId8"/>
    <p:sldId id="328" r:id="rId9"/>
    <p:sldId id="326" r:id="rId10"/>
    <p:sldId id="334" r:id="rId28"/>
    <p:sldId id="335" r:id="rId29"/>
    <p:sldId id="336" r:id="rId30"/>
    <p:sldId id="337" r:id="rId31"/>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6.5</c:v>
                </c:pt>
                <c:pt idx="1">
                  <c:v>22.5</c:v>
                </c:pt>
                <c:pt idx="2">
                  <c:v>22.5</c:v>
                </c:pt>
                <c:pt idx="3">
                  <c:v>22.5</c:v>
                </c:pt>
                <c:pt idx="4">
                  <c:v>22.5</c:v>
                </c:pt>
                <c:pt idx="5">
                  <c:v>32</c:v>
                </c:pt>
                <c:pt idx="6">
                  <c:v>32</c:v>
                </c:pt>
                <c:pt idx="7">
                  <c:v>32</c:v>
                </c:pt>
                <c:pt idx="8">
                  <c:v>32</c:v>
                </c:pt>
                <c:pt idx="9">
                  <c:v>30</c:v>
                </c:pt>
                <c:pt idx="10">
                  <c:v>30</c:v>
                </c:pt>
                <c:pt idx="11">
                  <c:v>33.5</c:v>
                </c:pt>
                <c:pt idx="12">
                  <c:v>33.5</c:v>
                </c:pt>
                <c:pt idx="13">
                  <c:v>33.5</c:v>
                </c:pt>
                <c:pt idx="14">
                  <c:v>32.5</c:v>
                </c:pt>
                <c:pt idx="15">
                  <c:v>32.5</c:v>
                </c:pt>
                <c:pt idx="16">
                  <c:v>32.5</c:v>
                </c:pt>
                <c:pt idx="17">
                  <c:v>15</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4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p>
            <a:r>
              <a:t>Open with the question, then pause. Every pod at Ascension builds without seeing what the rest of the org already has: the same field gets built twice, one pod's flow breaks another pod's process, and knowledge lives in a few people's heads.</a:t>
            </a:r>
          </a:p>
          <a:p/>
          <a:p>
            <a:r>
              <a:t>MAD answers that: one AI agent team, grounded in a knowledge graph of the Ascension org, that takes a Jira story to a tested, deployable change. People approve every step, and no agent ever touches production.</a:t>
            </a:r>
          </a:p>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p>
            <a:r>
              <a:t>Then the agenda: the problem and the approach, how it works and why it is safe, what it returns and what it costs.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p>
            <a:r>
              <a:t>KEY MESSAGE</a:t>
            </a:r>
          </a:p>
          <a:p>
            <a:r>
              <a:t>MAD is a platform, not a script: five layers on Ascension's own infrastructure, in the same layered pattern as Insight Global's Helios platform.</a:t>
            </a:r>
          </a:p>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p>
            <a:r>
              <a:t>KEY MESSAGE</a:t>
            </a:r>
          </a:p>
          <a:p>
            <a:r>
              <a:t>Codex Enterprise, which Ascension already licenses, gives SSO, admin policies, enterprise data terms and an audit log. MAD adds five layers on top, so a bad or wrong request is stopped long before it could change anything.</a:t>
            </a:r>
          </a:p>
          <a:p/>
          <a:p>
            <a:r>
              <a:t>THE SIX LAYERS</a:t>
            </a:r>
          </a:p>
          <a:p>
            <a:r>
              <a:t>1 Codex Enterprise: Ascension's baseline.</a:t>
            </a:r>
          </a:p>
          <a:p>
            <a:r>
              <a:t>2 Intake: only a signed-in user on the pod, with a valid Jira key whose story is Ready for MAD,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p>
            <a:r>
              <a:t>WHAT HAPPENS WHEN (bottom table)</a:t>
            </a:r>
          </a:p>
          <a:p>
            <a:r>
              <a:t>Walk two rows: the offensive prompt (blocked and logged) and the "ignore the rules, deploy to production" prompt (refused, and even if it got through, no agent has a tool or credential that could do it).</a:t>
            </a:r>
          </a:p>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p>
            <a:r>
              <a:t>IF ASKED</a:t>
            </a:r>
          </a:p>
          <a:p>
            <a:r>
              <a:t>- Does OpenAI train on our data? Ascension's enterprise terms govern that; in addition, MAD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p>
            <a:r>
              <a:t>KEY MESSAGE</a:t>
            </a:r>
          </a:p>
          <a:p>
            <a:r>
              <a:t>Two pods cost $2.59M a year today. With agent-first squads they cost $0.79-0.99M: $1.59-1.80M back every year, and $4.1-4.8M over three years. That is from two pods alone; every further pod on MAD adds to it.</a:t>
            </a:r>
          </a:p>
          <a:p/>
          <a:p>
            <a:r>
              <a:t>WALK IT</a:t>
            </a:r>
          </a:p>
          <a:p>
            <a:r>
              <a:t>- Top strip: the agent-first squad. Today a squad is 4-5 developers and a QA. With MAD it is 1 developer directing the MAD agent team (requirements, build, test, review, release prep), plus 1 QA, for the same scope. The agent drafts overnight; the developer designs, directs and approves; QA verifies. Every human gate stays.</a:t>
            </a:r>
          </a:p>
          <a:p>
            <a:r>
              <a:t>- VBC (Salesforce Core / Flex): $2.47M today, $0.72-0.92M with MAD. Saves $1.55-1.75M a year (63-71%).</a:t>
            </a:r>
          </a:p>
          <a:p>
            <a:r>
              <a:t>- Network Services: $117K today, $68-76K with MAD. Saves $40-50K a year (35-42%).</a:t>
            </a:r>
          </a:p>
          <a:p>
            <a:r>
              <a:t>- Both pods: saves $1.59-1.80M a year (62-69%). Year 1 realises 60-70% while each pod is onboarded; full savings from year 2.</a:t>
            </a:r>
          </a:p>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MAD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MAD platform and run team (commercials slide) serve every pod and are not loaded onto these two pods.</a:t>
            </a:r>
          </a:p>
          <a:p>
            <a:r>
              <a:t>- Confirm the role mix with each pod lead before quoting per-pod figures.</a:t>
            </a:r>
          </a:p>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MAD,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34 people at peak across 15 roles, every role delivered offshore, sized from the phase plan: 497.5 FTE-months over 18 months.</a:t>
            </a:r>
          </a:p>
          <a:p/>
          <a:p>
            <a:r>
              <a:t>RAMP (FTE by phase)</a:t>
            </a:r>
          </a:p>
          <a:p>
            <a:r>
              <a:t>6.5 in month 1, 22.5 in months 2-5, 32 in months 6-9, 30 in months 10-11, 33.5 in months 12-14, 32.5 in months 15-17, 15 in month 18.</a:t>
            </a:r>
          </a:p>
          <a:p/>
          <a:p>
            <a:r>
              <a:t>HOW THE NUMBERS ARE BUILT</a:t>
            </a:r>
          </a:p>
          <a:p>
            <a:r>
              <a:t>Each role has an FTE per phase (plan_slides.py). Peak is that role's highest phase; "On team" is first to last month with any allocation. The security engineer is part-time except during the pilot and hardening, when the pen test and production authorisation happen.</a:t>
            </a:r>
          </a:p>
          <a:p/>
          <a:p>
            <a:r>
              <a:t>WHY THE TEAM IS THIS SIZE</a:t>
            </a:r>
          </a:p>
          <a:p>
            <a:r>
              <a:t>- Scale waves run pods in parallel: 5 Health Cloud developers, 3 Marketing / Data Cloud developers and 5 QA engineers in months 12-17, so three to five pods onboard at once without lowering the pilots' quality bar.</a:t>
            </a:r>
          </a:p>
          <a:p>
            <a:r>
              <a:t>- A site reliability engineer from month 2: monitoring, alerting, runbooks and disaster-recovery tests, so the platform is production-grade before Gate 3.</a:t>
            </a:r>
          </a:p>
          <a:p>
            <a:r>
              <a:t>- 4 knowledge graph engineers at the pilot, then 3: six connectors first, then every new pod's sources in each wave.</a:t>
            </a:r>
          </a:p>
          <a:p>
            <a:r>
              <a:t>- 4 AI agent engineers + an AI lead: the agents, prompts, skills and the evaluation set are the product.</a:t>
            </a:r>
          </a:p>
          <a:p>
            <a:r>
              <a:t>- 2 to 3 Marketing / Data Cloud developers: the Nudge pilot and the Marketing Cloud pods in the waves.</a:t>
            </a:r>
          </a:p>
          <a:p>
            <a:r>
              <a:t>- A project manager alongside the engagement lead: 18 months, seven gates, nine to ten pods.</a:t>
            </a:r>
          </a:p>
          <a:p/>
          <a:p>
            <a:r>
              <a:t>NOT IN THE COUNT</a:t>
            </a:r>
          </a:p>
          <a:p>
            <a:r>
              <a:t>Ascension's product owners, approvers, release owner, security reviewers, cloud team and Salesforce / Copado admins.</a:t>
            </a:r>
          </a:p>
          <a:p/>
          <a:p>
            <a:r>
              <a:t>AFTER MONTH 18</a:t>
            </a:r>
          </a:p>
          <a:p>
            <a:r>
              <a:t>A run team of 6, offshore: one lead and five engineers (GCP, graph, agents, Salesforce, QA).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Commercials   (about 3 minutes)</a:t>
            </a:r>
          </a:p>
          <a:p/>
          <a:p>
            <a:r>
              <a:t>INTERNAL FIRST: the rates behind this slide are ASSUMED offshore bill rates by role ($45-95/h, blended $61/h). Replace them with the Insight Global rate card in plan_slides.py and rebuild before this slide goes to Ascension.</a:t>
            </a:r>
          </a:p>
          <a:p/>
          <a:p>
            <a:r>
              <a:t>KEY MESSAGE</a:t>
            </a:r>
          </a:p>
          <a:p>
            <a:r>
              <a:t>$5.50M as a fixed fee over 18 months, invoiced only when each gate is signed. Platform usage is passed through at cost. After month 18, a managed service.</a:t>
            </a:r>
          </a:p>
          <a:p/>
          <a:p>
            <a:r>
              <a:t>THE OPTIONS (A or B pays for the build, months 1-18; C is the separate monthly service that starts at month 19)</a:t>
            </a:r>
          </a:p>
          <a:p>
            <a:r>
              <a:t>- A, fixed fee by gate (recommended): Ascension pays for a phase only when its gate passes; Insight Global carries delivery risk (13% in the price).</a:t>
            </a:r>
          </a:p>
          <a:p>
            <a:r>
              <a:t>- B, time and materials with a cap per phase: $4.87M estimated; Ascension carries overrun risk up to the cap.</a:t>
            </a:r>
          </a:p>
          <a:p>
            <a:r>
              <a:t>- C, managed service, only from month 19 once all pods are live: $61K a month for a run team of 6 (graph, agents, Guardian rules, evaluations, failed runs, new sources), plus platform at cost of about $20K a month. It is not part of the build fee and not charged during months 1-18.</a:t>
            </a:r>
          </a:p>
          <a:p/>
          <a:p>
            <a:r>
              <a:t>IF ASCENSION ASKS FOR A LOWER NUMBER: TRADE SCOPE OR RISK, NOT RATES</a:t>
            </a:r>
          </a:p>
          <a:p>
            <a:r>
              <a:t>- Move to option B (time and materials, capped): $4.87M.</a:t>
            </a:r>
          </a:p>
          <a:p>
            <a:r>
              <a:t>- Contract wave 2 later, as a per-pod onboarding fee once wave 1 has proved the savings: removes $1.05M now, so the fixed fee becomes $4.45M.</a:t>
            </a:r>
          </a:p>
          <a:p>
            <a:r>
              <a:t>- Both levers together: about $3.94M.</a:t>
            </a:r>
          </a:p>
          <a:p>
            <a:r>
              <a:t>- Lower the risk premium to 5% in exchange for Ascension owning gate dates: $5.11M.</a:t>
            </a:r>
          </a:p>
          <a:p>
            <a:r>
              <a:t>Each lever keeps the rate card intact and leaves the delivery plan honest.</a:t>
            </a:r>
          </a:p>
          <a:p/>
          <a:p>
            <a:r>
              <a:t>VALUE CHECK</a:t>
            </a:r>
          </a:p>
          <a:p>
            <a:r>
              <a:t>The business outcomes slide plans 20-25% lower net run cost per pod. Every $10M of pod delivery spend saves $2.0-2.5M a year, which pays the fixed fee back in about 2.2 to 2.8 years. The 14-person pod example (about $2.47M a year, from the Agentic Delivery deck) alone saves $0.49-0.62M a year.</a:t>
            </a:r>
          </a:p>
          <a:p/>
          <a:p>
            <a:r>
              <a:t>NOT INCLUDED</a:t>
            </a:r>
          </a:p>
          <a:p>
            <a:r>
              <a:t>Ascension staff time; existing Salesforce, Copado and Atlassian licences; OpenAI enterprise terms.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640080" y="566928"/>
            <a:ext cx="8229600" cy="201168"/>
          </a:xfrm>
          <a:prstGeom prst="rect">
            <a:avLst/>
          </a:prstGeom>
          <a:noFill/>
        </p:spPr>
        <p:txBody>
          <a:bodyPr wrap="square" lIns="0" rIns="0" tIns="0" bIns="0" anchor="ctr">
            <a:spAutoFit/>
          </a:bodyPr>
          <a:lstStyle/>
          <a:p>
            <a:r>
              <a:rPr sz="800" b="1" i="0" spc="300">
                <a:solidFill>
                  <a:srgbClr val="00D6F2"/>
                </a:solidFill>
                <a:latin typeface="Trenda IG Text"/>
              </a:rPr>
              <a:t>ASCENSION MAD APPROACH · MULTI-AGENT DELIVERY</a:t>
            </a:r>
          </a:p>
        </p:txBody>
      </p:sp>
      <p:sp>
        <p:nvSpPr>
          <p:cNvPr id="3" name="Text 2"/>
          <p:cNvSpPr txBox="1"/>
          <p:nvPr/>
        </p:nvSpPr>
        <p:spPr>
          <a:xfrm>
            <a:off x="640080" y="960120"/>
            <a:ext cx="10607040" cy="1600200"/>
          </a:xfrm>
          <a:prstGeom prst="rect">
            <a:avLst/>
          </a:prstGeom>
          <a:noFill/>
        </p:spPr>
        <p:txBody>
          <a:bodyPr wrap="square" lIns="0" rIns="0" t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rIns="0" tIns="0" bIns="0" anchor="t">
            <a:spAutoFit/>
          </a:bodyPr>
          <a:lstStyle/>
          <a:p>
            <a:r>
              <a:rPr sz="1400" b="0" i="0">
                <a:solidFill>
                  <a:srgbClr val="BFBFBF"/>
                </a:solidFill>
                <a:latin typeface="Trenda IG Text"/>
              </a:rPr>
              <a:t>MAD is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640080" y="3584448"/>
            <a:ext cx="329184" cy="329184"/>
          </a:xfrm>
          <a:prstGeom prst="rect">
            <a:avLst/>
          </a:prstGeom>
          <a:noFill/>
        </p:spPr>
        <p:txBody>
          <a:bodyPr wrap="square" lIns="0" rIns="0" t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rIns="0" t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4343400" y="3584448"/>
            <a:ext cx="329184" cy="329184"/>
          </a:xfrm>
          <a:prstGeom prst="rect">
            <a:avLst/>
          </a:prstGeom>
          <a:noFill/>
        </p:spPr>
        <p:txBody>
          <a:bodyPr wrap="square" lIns="0" rIns="0" t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rIns="0" t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8046719" y="3584448"/>
            <a:ext cx="329184" cy="329184"/>
          </a:xfrm>
          <a:prstGeom prst="rect">
            <a:avLst/>
          </a:prstGeom>
          <a:noFill/>
        </p:spPr>
        <p:txBody>
          <a:bodyPr wrap="square" lIns="0" rIns="0" t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rIns="0" t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640080"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rIns="0" t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rIns="0" t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rIns="0" t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rIns="0" tIns="0" bIns="0" anchor="ctr">
            <a:spAutoFit/>
          </a:bodyPr>
          <a:lstStyle/>
          <a:p>
            <a:r>
              <a:rPr sz="750" b="0" i="0">
                <a:solidFill>
                  <a:srgbClr val="595959"/>
                </a:solidFill>
                <a:latin typeface="Trenda IG Text"/>
              </a:rPr>
              <a:t>Measured figures: Agentifying Ascension Ways of Working. Planned figure: business outcomes, later in this deck.</a:t>
            </a:r>
          </a:p>
        </p:txBody>
      </p:sp>
      <p:pic>
        <p:nvPicPr>
          <p:cNvPr id="28" name="Picture 27" descr="ig-mark-white.png"/>
          <p:cNvPicPr>
            <a:picLocks noChangeAspect="1"/>
          </p:cNvPicPr>
          <p:nvPr/>
        </p:nvPicPr>
        <p:blipFill>
          <a:blip r:embed="rId2"/>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MAD APPROACH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MAD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 4"/>
          <p:cNvSpPr txBox="1"/>
          <p:nvPr/>
        </p:nvSpPr>
        <p:spPr>
          <a:xfrm>
            <a:off x="2468880" y="914400"/>
            <a:ext cx="1508760" cy="420624"/>
          </a:xfrm>
          <a:prstGeom prst="rect">
            <a:avLst/>
          </a:prstGeom>
          <a:noFill/>
        </p:spPr>
        <p:txBody>
          <a:bodyPr wrap="square" lIns="0" rIns="0" t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4160520" y="914400"/>
            <a:ext cx="1508760" cy="420624"/>
          </a:xfrm>
          <a:prstGeom prst="rect">
            <a:avLst/>
          </a:prstGeom>
          <a:noFill/>
        </p:spPr>
        <p:txBody>
          <a:bodyPr wrap="square" lIns="0" rIns="0" t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5852160" y="914400"/>
            <a:ext cx="1508760" cy="420624"/>
          </a:xfrm>
          <a:prstGeom prst="rect">
            <a:avLst/>
          </a:prstGeom>
          <a:noFill/>
        </p:spPr>
        <p:txBody>
          <a:bodyPr wrap="square" lIns="0" rIns="0" t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640080" y="1737360"/>
            <a:ext cx="1188720" cy="457200"/>
          </a:xfrm>
          <a:prstGeom prst="rect">
            <a:avLst/>
          </a:prstGeom>
          <a:noFill/>
        </p:spPr>
        <p:txBody>
          <a:bodyPr wrap="square" lIns="0" rIns="0" tIns="0" bIns="0" anchor="t">
            <a:spAutoFit/>
          </a:bodyPr>
          <a:lstStyle/>
          <a:p>
            <a:pPr>
              <a:lnSpc>
                <a:spcPct val="95000"/>
              </a:lnSpc>
            </a:pPr>
            <a:r>
              <a:rPr sz="1200" b="0" i="0">
                <a:solidFill>
                  <a:srgbClr val="FFFFFF"/>
                </a:solidFill>
                <a:latin typeface="Trenda IG Text"/>
              </a:rPr>
              <a:t>MAD
Surface</a:t>
            </a:r>
          </a:p>
        </p:txBody>
      </p:sp>
      <p:sp>
        <p:nvSpPr>
          <p:cNvPr id="16" name="Text 15"/>
          <p:cNvSpPr txBox="1"/>
          <p:nvPr/>
        </p:nvSpPr>
        <p:spPr>
          <a:xfrm>
            <a:off x="640080" y="2212848"/>
            <a:ext cx="1188720" cy="457200"/>
          </a:xfrm>
          <a:prstGeom prst="rect">
            <a:avLst/>
          </a:prstGeom>
          <a:noFill/>
        </p:spPr>
        <p:txBody>
          <a:bodyPr wrap="square" lIns="0" rIns="0" t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rIns="0" t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rIns="0" t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rIns="0" t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rIns="0" t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rIns="0" t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rIns="0" t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03120" y="1746504"/>
            <a:ext cx="1371600" cy="219456"/>
          </a:xfrm>
          <a:prstGeom prst="rect">
            <a:avLst/>
          </a:prstGeom>
          <a:noFill/>
        </p:spPr>
        <p:txBody>
          <a:bodyPr wrap="square" lIns="0" rIns="0" tIns="0" bIns="0" anchor="t">
            <a:spAutoFit/>
          </a:bodyPr>
          <a:lstStyle/>
          <a:p>
            <a:r>
              <a:rPr sz="1100" b="1" i="0">
                <a:solidFill>
                  <a:srgbClr val="FFFFFF"/>
                </a:solidFill>
                <a:latin typeface="Trenda IG Text"/>
              </a:rPr>
              <a:t>MAD Runtime</a:t>
            </a:r>
          </a:p>
        </p:txBody>
      </p:sp>
      <p:sp>
        <p:nvSpPr>
          <p:cNvPr id="25" name="Text 24"/>
          <p:cNvSpPr txBox="1"/>
          <p:nvPr/>
        </p:nvSpPr>
        <p:spPr>
          <a:xfrm>
            <a:off x="2103120" y="1984248"/>
            <a:ext cx="1325880" cy="365760"/>
          </a:xfrm>
          <a:prstGeom prst="rect">
            <a:avLst/>
          </a:prstGeom>
          <a:noFill/>
        </p:spPr>
        <p:txBody>
          <a:bodyPr wrap="square" lIns="0" rIns="0" t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2103120" y="2587752"/>
            <a:ext cx="1371600" cy="219456"/>
          </a:xfrm>
          <a:prstGeom prst="rect">
            <a:avLst/>
          </a:prstGeom>
          <a:noFill/>
        </p:spPr>
        <p:txBody>
          <a:bodyPr wrap="square" lIns="0" rIns="0" tIns="0" bIns="0" anchor="t">
            <a:spAutoFit/>
          </a:bodyPr>
          <a:lstStyle/>
          <a:p>
            <a:r>
              <a:rPr sz="1100" b="1" i="0">
                <a:solidFill>
                  <a:srgbClr val="FFFFFF"/>
                </a:solidFill>
                <a:latin typeface="Trenda IG Text"/>
              </a:rPr>
              <a:t>MAD Registry</a:t>
            </a:r>
          </a:p>
        </p:txBody>
      </p:sp>
      <p:sp>
        <p:nvSpPr>
          <p:cNvPr id="34" name="Text 33"/>
          <p:cNvSpPr txBox="1"/>
          <p:nvPr/>
        </p:nvSpPr>
        <p:spPr>
          <a:xfrm>
            <a:off x="2103120" y="2825496"/>
            <a:ext cx="1325880" cy="365760"/>
          </a:xfrm>
          <a:prstGeom prst="rect">
            <a:avLst/>
          </a:prstGeom>
          <a:noFill/>
        </p:spPr>
        <p:txBody>
          <a:bodyPr wrap="square" lIns="0" rIns="0" t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2103120" y="3429000"/>
            <a:ext cx="1371600" cy="219456"/>
          </a:xfrm>
          <a:prstGeom prst="rect">
            <a:avLst/>
          </a:prstGeom>
          <a:noFill/>
        </p:spPr>
        <p:txBody>
          <a:bodyPr wrap="square" lIns="0" rIns="0" tIns="0" bIns="0" anchor="t">
            <a:spAutoFit/>
          </a:bodyPr>
          <a:lstStyle/>
          <a:p>
            <a:r>
              <a:rPr sz="1100" b="1" i="0">
                <a:solidFill>
                  <a:srgbClr val="FFFFFF"/>
                </a:solidFill>
                <a:latin typeface="Trenda IG Text"/>
              </a:rPr>
              <a:t>MAD Context</a:t>
            </a:r>
          </a:p>
        </p:txBody>
      </p:sp>
      <p:sp>
        <p:nvSpPr>
          <p:cNvPr id="43" name="Text 42"/>
          <p:cNvSpPr txBox="1"/>
          <p:nvPr/>
        </p:nvSpPr>
        <p:spPr>
          <a:xfrm>
            <a:off x="2103120" y="3666744"/>
            <a:ext cx="1325880" cy="365760"/>
          </a:xfrm>
          <a:prstGeom prst="rect">
            <a:avLst/>
          </a:prstGeom>
          <a:noFill/>
        </p:spPr>
        <p:txBody>
          <a:bodyPr wrap="square" lIns="0" rIns="0" t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rIns="0" t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rIns="0" t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rIns="0" t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3593592" y="4306824"/>
            <a:ext cx="804672" cy="182880"/>
          </a:xfrm>
          <a:prstGeom prst="rect">
            <a:avLst/>
          </a:prstGeom>
          <a:noFill/>
        </p:spPr>
        <p:txBody>
          <a:bodyPr wrap="square" lIns="0" rIns="0" t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4489704" y="4306824"/>
            <a:ext cx="804672" cy="182880"/>
          </a:xfrm>
          <a:prstGeom prst="rect">
            <a:avLst/>
          </a:prstGeom>
          <a:noFill/>
        </p:spPr>
        <p:txBody>
          <a:bodyPr wrap="square" lIns="0" rIns="0" t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85816" y="4306824"/>
            <a:ext cx="804672" cy="182880"/>
          </a:xfrm>
          <a:prstGeom prst="rect">
            <a:avLst/>
          </a:prstGeom>
          <a:noFill/>
        </p:spPr>
        <p:txBody>
          <a:bodyPr wrap="square" lIns="0" rIns="0" t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3593592" y="4507992"/>
            <a:ext cx="804672" cy="182880"/>
          </a:xfrm>
          <a:prstGeom prst="rect">
            <a:avLst/>
          </a:prstGeom>
          <a:noFill/>
        </p:spPr>
        <p:txBody>
          <a:bodyPr wrap="square" lIns="0" rIns="0" t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4489704" y="4507992"/>
            <a:ext cx="804672" cy="182880"/>
          </a:xfrm>
          <a:prstGeom prst="rect">
            <a:avLst/>
          </a:prstGeom>
          <a:noFill/>
        </p:spPr>
        <p:txBody>
          <a:bodyPr wrap="square" lIns="0" rIns="0" t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5385816" y="4507992"/>
            <a:ext cx="804672" cy="182880"/>
          </a:xfrm>
          <a:prstGeom prst="rect">
            <a:avLst/>
          </a:prstGeom>
          <a:noFill/>
        </p:spPr>
        <p:txBody>
          <a:bodyPr wrap="square" lIns="0" rIns="0" t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464808" y="1737360"/>
            <a:ext cx="2011680" cy="237744"/>
          </a:xfrm>
          <a:prstGeom prst="rect">
            <a:avLst/>
          </a:prstGeom>
          <a:noFill/>
        </p:spPr>
        <p:txBody>
          <a:bodyPr wrap="square" lIns="0" rIns="0" tIns="0" bIns="0" anchor="t">
            <a:spAutoFit/>
          </a:bodyPr>
          <a:lstStyle/>
          <a:p>
            <a:r>
              <a:rPr sz="1200" b="0" i="0">
                <a:solidFill>
                  <a:srgbClr val="FFFFFF"/>
                </a:solidFill>
                <a:latin typeface="Trenda IG Text"/>
              </a:rPr>
              <a:t>MAD Govern</a:t>
            </a:r>
          </a:p>
        </p:txBody>
      </p:sp>
      <p:sp>
        <p:nvSpPr>
          <p:cNvPr id="66" name="Text 65"/>
          <p:cNvSpPr txBox="1"/>
          <p:nvPr/>
        </p:nvSpPr>
        <p:spPr>
          <a:xfrm>
            <a:off x="6464808" y="1984248"/>
            <a:ext cx="2057400" cy="201168"/>
          </a:xfrm>
          <a:prstGeom prst="rect">
            <a:avLst/>
          </a:prstGeom>
          <a:noFill/>
        </p:spPr>
        <p:txBody>
          <a:bodyPr wrap="square" lIns="0" rIns="0" t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rIns="0" t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rIns="0" t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rIns="0" t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rIns="0" t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rIns="0" t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rIns="0" t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rIns="0" t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777240" y="5230368"/>
            <a:ext cx="2011680" cy="164592"/>
          </a:xfrm>
          <a:prstGeom prst="rect">
            <a:avLst/>
          </a:prstGeom>
          <a:noFill/>
        </p:spPr>
        <p:txBody>
          <a:bodyPr wrap="square" lIns="0" rIns="0" tIns="0" bIns="0" anchor="ctr">
            <a:spAutoFit/>
          </a:bodyPr>
          <a:lstStyle/>
          <a:p>
            <a:r>
              <a:rPr sz="650" b="0" i="0" spc="20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rIns="0" t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rIns="0" t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rIns="0" t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rIns="0" t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9144000" y="1938528"/>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rIns="0" t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rIns="0" t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rIns="0" t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9144000" y="301752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rIns="0" t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rIns="0" t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rIns="0" t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144000" y="4096511"/>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rIns="0" t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rIns="0" t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rIns="0" t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rIns="0" t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2"/>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02920" y="1115568"/>
            <a:ext cx="123444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1"/>
          <p:cNvSpPr txBox="1"/>
          <p:nvPr/>
        </p:nvSpPr>
        <p:spPr>
          <a:xfrm>
            <a:off x="1929384" y="1152144"/>
            <a:ext cx="2297430" cy="137160"/>
          </a:xfrm>
          <a:prstGeom prst="rect">
            <a:avLst/>
          </a:prstGeom>
          <a:noFill/>
        </p:spPr>
        <p:txBody>
          <a:bodyPr wrap="square" lIns="0" rIns="0" t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4"/>
          <p:cNvSpPr txBox="1"/>
          <p:nvPr/>
        </p:nvSpPr>
        <p:spPr>
          <a:xfrm>
            <a:off x="4427981" y="1152144"/>
            <a:ext cx="2297430"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7"/>
          <p:cNvSpPr txBox="1"/>
          <p:nvPr/>
        </p:nvSpPr>
        <p:spPr>
          <a:xfrm>
            <a:off x="6926580" y="1152144"/>
            <a:ext cx="2297430" cy="137160"/>
          </a:xfrm>
          <a:prstGeom prst="rect">
            <a:avLst/>
          </a:prstGeom>
          <a:noFill/>
        </p:spPr>
        <p:txBody>
          <a:bodyPr wrap="square" lIns="0" rIns="0" t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9425178" y="1152144"/>
            <a:ext cx="2297430"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3"/>
          <p:cNvSpPr txBox="1"/>
          <p:nvPr/>
        </p:nvSpPr>
        <p:spPr>
          <a:xfrm>
            <a:off x="502920" y="1645920"/>
            <a:ext cx="1417320"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30936" y="1865376"/>
            <a:ext cx="1325880"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8"/>
          <p:cNvSpPr txBox="1"/>
          <p:nvPr/>
        </p:nvSpPr>
        <p:spPr>
          <a:xfrm>
            <a:off x="630936" y="2194560"/>
            <a:ext cx="1325880"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1"/>
          <p:cNvSpPr txBox="1"/>
          <p:nvPr/>
        </p:nvSpPr>
        <p:spPr>
          <a:xfrm>
            <a:off x="630936" y="2523744"/>
            <a:ext cx="1325880"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rIns="0" t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4"/>
          <p:cNvSpPr txBox="1"/>
          <p:nvPr/>
        </p:nvSpPr>
        <p:spPr>
          <a:xfrm>
            <a:off x="630936" y="2852928"/>
            <a:ext cx="1325880"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7"/>
          <p:cNvSpPr txBox="1"/>
          <p:nvPr/>
        </p:nvSpPr>
        <p:spPr>
          <a:xfrm>
            <a:off x="630936" y="3182112"/>
            <a:ext cx="1325880"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40"/>
          <p:cNvSpPr txBox="1"/>
          <p:nvPr/>
        </p:nvSpPr>
        <p:spPr>
          <a:xfrm>
            <a:off x="630936" y="3511296"/>
            <a:ext cx="1325880"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3"/>
          <p:cNvSpPr txBox="1"/>
          <p:nvPr/>
        </p:nvSpPr>
        <p:spPr>
          <a:xfrm>
            <a:off x="502920" y="3813048"/>
            <a:ext cx="1417320" cy="182880"/>
          </a:xfrm>
          <a:prstGeom prst="rect">
            <a:avLst/>
          </a:prstGeom>
          <a:noFill/>
        </p:spPr>
        <p:txBody>
          <a:bodyPr wrap="square" lIns="0" rIns="0" t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50"/>
          <p:cNvSpPr txBox="1"/>
          <p:nvPr/>
        </p:nvSpPr>
        <p:spPr>
          <a:xfrm>
            <a:off x="2555748" y="1613916"/>
            <a:ext cx="1975104" cy="274320"/>
          </a:xfrm>
          <a:prstGeom prst="rect">
            <a:avLst/>
          </a:prstGeom>
          <a:noFill/>
        </p:spPr>
        <p:txBody>
          <a:bodyPr wrap="square" lIns="0" rIns="0" t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4663440" y="1504188"/>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rIns="0" t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5"/>
          <p:cNvSpPr txBox="1"/>
          <p:nvPr/>
        </p:nvSpPr>
        <p:spPr>
          <a:xfrm>
            <a:off x="255574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8"/>
          <p:cNvSpPr txBox="1"/>
          <p:nvPr/>
        </p:nvSpPr>
        <p:spPr>
          <a:xfrm>
            <a:off x="319582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1"/>
          <p:cNvSpPr txBox="1"/>
          <p:nvPr/>
        </p:nvSpPr>
        <p:spPr>
          <a:xfrm>
            <a:off x="383590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4475988" y="2180844"/>
            <a:ext cx="512064" cy="192024"/>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6"/>
          <p:cNvSpPr txBox="1"/>
          <p:nvPr/>
        </p:nvSpPr>
        <p:spPr>
          <a:xfrm>
            <a:off x="2555748" y="2455164"/>
            <a:ext cx="2980944" cy="164592"/>
          </a:xfrm>
          <a:prstGeom prst="rect">
            <a:avLst/>
          </a:prstGeom>
          <a:noFill/>
        </p:spPr>
        <p:txBody>
          <a:bodyPr wrap="square" lIns="0" rIns="0" t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8"/>
          <p:cNvSpPr txBox="1"/>
          <p:nvPr/>
        </p:nvSpPr>
        <p:spPr>
          <a:xfrm>
            <a:off x="2683764" y="2711196"/>
            <a:ext cx="2871216" cy="17373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70"/>
          <p:cNvSpPr txBox="1"/>
          <p:nvPr/>
        </p:nvSpPr>
        <p:spPr>
          <a:xfrm>
            <a:off x="2683764" y="2903220"/>
            <a:ext cx="2871216" cy="17373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2683764" y="3095244"/>
            <a:ext cx="2871216" cy="17373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2683764" y="3287268"/>
            <a:ext cx="2871216" cy="17373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6"/>
          <p:cNvSpPr txBox="1"/>
          <p:nvPr/>
        </p:nvSpPr>
        <p:spPr>
          <a:xfrm>
            <a:off x="2628900" y="3534156"/>
            <a:ext cx="2834640" cy="146304"/>
          </a:xfrm>
          <a:prstGeom prst="rect">
            <a:avLst/>
          </a:prstGeom>
          <a:noFill/>
        </p:spPr>
        <p:txBody>
          <a:bodyPr wrap="square" lIns="0" rIns="0" t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6172200" y="1572768"/>
            <a:ext cx="5513832"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6245352" y="1975104"/>
            <a:ext cx="1630680"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8"/>
          <p:cNvSpPr txBox="1"/>
          <p:nvPr/>
        </p:nvSpPr>
        <p:spPr>
          <a:xfrm>
            <a:off x="8113776" y="1975104"/>
            <a:ext cx="1630680"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9982200" y="1975104"/>
            <a:ext cx="1630680" cy="146304"/>
          </a:xfrm>
          <a:prstGeom prst="rect">
            <a:avLst/>
          </a:prstGeom>
          <a:noFill/>
        </p:spPr>
        <p:txBody>
          <a:bodyPr wrap="square" lIns="0" rIns="0" t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rIns="0" t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5"/>
          <p:cNvSpPr txBox="1"/>
          <p:nvPr/>
        </p:nvSpPr>
        <p:spPr>
          <a:xfrm>
            <a:off x="6236208" y="2569464"/>
            <a:ext cx="1227582" cy="137160"/>
          </a:xfrm>
          <a:prstGeom prst="rect">
            <a:avLst/>
          </a:prstGeom>
          <a:noFill/>
        </p:spPr>
        <p:txBody>
          <a:bodyPr wrap="square" lIns="0" rIns="0" t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rIns="0" t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8"/>
          <p:cNvSpPr txBox="1"/>
          <p:nvPr/>
        </p:nvSpPr>
        <p:spPr>
          <a:xfrm>
            <a:off x="7628382" y="2569464"/>
            <a:ext cx="1227582" cy="137160"/>
          </a:xfrm>
          <a:prstGeom prst="rect">
            <a:avLst/>
          </a:prstGeom>
          <a:noFill/>
        </p:spPr>
        <p:txBody>
          <a:bodyPr wrap="square" lIns="0" rIns="0" t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rIns="0" t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101"/>
          <p:cNvSpPr txBox="1"/>
          <p:nvPr/>
        </p:nvSpPr>
        <p:spPr>
          <a:xfrm>
            <a:off x="9020556" y="2569464"/>
            <a:ext cx="1227582" cy="137160"/>
          </a:xfrm>
          <a:prstGeom prst="rect">
            <a:avLst/>
          </a:prstGeom>
          <a:noFill/>
        </p:spPr>
        <p:txBody>
          <a:bodyPr wrap="square" lIns="0" rIns="0" t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rIns="0" t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10412730" y="2569464"/>
            <a:ext cx="1227582" cy="137160"/>
          </a:xfrm>
          <a:prstGeom prst="rect">
            <a:avLst/>
          </a:prstGeom>
          <a:noFill/>
        </p:spPr>
        <p:txBody>
          <a:bodyPr wrap="square" lIns="0" rIns="0" t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rIns="0" t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7"/>
          <p:cNvSpPr txBox="1"/>
          <p:nvPr/>
        </p:nvSpPr>
        <p:spPr>
          <a:xfrm>
            <a:off x="6236208"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rIns="0" t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10"/>
          <p:cNvSpPr txBox="1"/>
          <p:nvPr/>
        </p:nvSpPr>
        <p:spPr>
          <a:xfrm>
            <a:off x="7628382" y="2971800"/>
            <a:ext cx="1227582" cy="137160"/>
          </a:xfrm>
          <a:prstGeom prst="rect">
            <a:avLst/>
          </a:prstGeom>
          <a:noFill/>
        </p:spPr>
        <p:txBody>
          <a:bodyPr wrap="square" lIns="0" rIns="0" t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rIns="0" t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3"/>
          <p:cNvSpPr txBox="1"/>
          <p:nvPr/>
        </p:nvSpPr>
        <p:spPr>
          <a:xfrm>
            <a:off x="9020556" y="2971800"/>
            <a:ext cx="1227582" cy="137160"/>
          </a:xfrm>
          <a:prstGeom prst="rect">
            <a:avLst/>
          </a:prstGeom>
          <a:noFill/>
        </p:spPr>
        <p:txBody>
          <a:bodyPr wrap="square" lIns="0" rIns="0" t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rIns="0" t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6"/>
          <p:cNvSpPr txBox="1"/>
          <p:nvPr/>
        </p:nvSpPr>
        <p:spPr>
          <a:xfrm>
            <a:off x="10412730" y="2971800"/>
            <a:ext cx="1227582"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rIns="0" t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rIns="0" t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3"/>
          <p:cNvSpPr txBox="1"/>
          <p:nvPr/>
        </p:nvSpPr>
        <p:spPr>
          <a:xfrm>
            <a:off x="8419795" y="345185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7"/>
          <p:cNvSpPr txBox="1"/>
          <p:nvPr/>
        </p:nvSpPr>
        <p:spPr>
          <a:xfrm>
            <a:off x="9590227" y="3566159"/>
            <a:ext cx="2022652"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2"/>
          <p:cNvSpPr txBox="1"/>
          <p:nvPr/>
        </p:nvSpPr>
        <p:spPr>
          <a:xfrm>
            <a:off x="521208" y="4270247"/>
            <a:ext cx="329184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5"/>
          <p:cNvSpPr txBox="1"/>
          <p:nvPr/>
        </p:nvSpPr>
        <p:spPr>
          <a:xfrm>
            <a:off x="418795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8"/>
          <p:cNvSpPr txBox="1"/>
          <p:nvPr/>
        </p:nvSpPr>
        <p:spPr>
          <a:xfrm>
            <a:off x="5879592"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rIns="0" t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41"/>
          <p:cNvSpPr txBox="1"/>
          <p:nvPr/>
        </p:nvSpPr>
        <p:spPr>
          <a:xfrm>
            <a:off x="7571231" y="4315968"/>
            <a:ext cx="1490472"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rIns="0" t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rIns="0" t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6"/>
          <p:cNvSpPr txBox="1"/>
          <p:nvPr/>
        </p:nvSpPr>
        <p:spPr>
          <a:xfrm>
            <a:off x="502920" y="4901183"/>
            <a:ext cx="2194560"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50"/>
          <p:cNvSpPr txBox="1"/>
          <p:nvPr/>
        </p:nvSpPr>
        <p:spPr>
          <a:xfrm>
            <a:off x="2990088" y="4901183"/>
            <a:ext cx="2194560"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4"/>
          <p:cNvSpPr txBox="1"/>
          <p:nvPr/>
        </p:nvSpPr>
        <p:spPr>
          <a:xfrm>
            <a:off x="5477256" y="4901183"/>
            <a:ext cx="2194560"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8"/>
          <p:cNvSpPr txBox="1"/>
          <p:nvPr/>
        </p:nvSpPr>
        <p:spPr>
          <a:xfrm>
            <a:off x="8238744" y="4901183"/>
            <a:ext cx="1828800"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rIns="0" t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61"/>
          <p:cNvSpPr txBox="1"/>
          <p:nvPr/>
        </p:nvSpPr>
        <p:spPr>
          <a:xfrm>
            <a:off x="10532059" y="4901183"/>
            <a:ext cx="1172260" cy="146304"/>
          </a:xfrm>
          <a:prstGeom prst="rect">
            <a:avLst/>
          </a:prstGeom>
          <a:noFill/>
        </p:spPr>
        <p:txBody>
          <a:bodyPr wrap="square" lIns="0" rIns="0" t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6"/>
          <p:cNvSpPr txBox="1"/>
          <p:nvPr/>
        </p:nvSpPr>
        <p:spPr>
          <a:xfrm>
            <a:off x="5029200"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74"/>
          <p:cNvSpPr txBox="1"/>
          <p:nvPr/>
        </p:nvSpPr>
        <p:spPr>
          <a:xfrm>
            <a:off x="10771632" y="5344667"/>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6652260" y="5509259"/>
            <a:ext cx="3291840"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 179"/>
          <p:cNvSpPr txBox="1"/>
          <p:nvPr/>
        </p:nvSpPr>
        <p:spPr>
          <a:xfrm>
            <a:off x="521208" y="6044183"/>
            <a:ext cx="11146536" cy="274320"/>
          </a:xfrm>
          <a:prstGeom prst="rect">
            <a:avLst/>
          </a:prstGeom>
          <a:noFill/>
        </p:spPr>
        <p:txBody>
          <a:bodyPr wrap="square" lIns="0" rIns="0" t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7"/>
          <p:cNvSpPr txBox="1"/>
          <p:nvPr/>
        </p:nvSpPr>
        <p:spPr>
          <a:xfrm>
            <a:off x="8138160" y="196596"/>
            <a:ext cx="3639312" cy="155448"/>
          </a:xfrm>
          <a:prstGeom prst="rect">
            <a:avLst/>
          </a:prstGeom>
          <a:noFill/>
        </p:spPr>
        <p:txBody>
          <a:bodyPr wrap="square" lIns="0" rIns="0" t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9"/>
          <p:cNvSpPr txBox="1"/>
          <p:nvPr/>
        </p:nvSpPr>
        <p:spPr>
          <a:xfrm>
            <a:off x="521208" y="1115568"/>
            <a:ext cx="2194560" cy="274320"/>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rIns="0" t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3"/>
          <p:cNvSpPr txBox="1"/>
          <p:nvPr/>
        </p:nvSpPr>
        <p:spPr>
          <a:xfrm>
            <a:off x="493776"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8"/>
          <p:cNvSpPr txBox="1"/>
          <p:nvPr/>
        </p:nvSpPr>
        <p:spPr>
          <a:xfrm>
            <a:off x="557784"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20"/>
          <p:cNvSpPr txBox="1"/>
          <p:nvPr/>
        </p:nvSpPr>
        <p:spPr>
          <a:xfrm>
            <a:off x="557784"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5"/>
          <p:cNvSpPr txBox="1"/>
          <p:nvPr/>
        </p:nvSpPr>
        <p:spPr>
          <a:xfrm>
            <a:off x="4599432" y="1449324"/>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7"/>
          <p:cNvSpPr txBox="1"/>
          <p:nvPr/>
        </p:nvSpPr>
        <p:spPr>
          <a:xfrm>
            <a:off x="3255264"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rIns="0" t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2"/>
          <p:cNvSpPr txBox="1"/>
          <p:nvPr/>
        </p:nvSpPr>
        <p:spPr>
          <a:xfrm>
            <a:off x="3319272"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4"/>
          <p:cNvSpPr txBox="1"/>
          <p:nvPr/>
        </p:nvSpPr>
        <p:spPr>
          <a:xfrm>
            <a:off x="3319272"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7"/>
          <p:cNvSpPr txBox="1"/>
          <p:nvPr/>
        </p:nvSpPr>
        <p:spPr>
          <a:xfrm>
            <a:off x="6016752" y="160934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rIns="0" t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2"/>
          <p:cNvSpPr txBox="1"/>
          <p:nvPr/>
        </p:nvSpPr>
        <p:spPr>
          <a:xfrm>
            <a:off x="6080760" y="2377439"/>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4"/>
          <p:cNvSpPr txBox="1"/>
          <p:nvPr/>
        </p:nvSpPr>
        <p:spPr>
          <a:xfrm>
            <a:off x="6080760" y="254203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016752"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2"/>
          <p:cNvSpPr txBox="1"/>
          <p:nvPr/>
        </p:nvSpPr>
        <p:spPr>
          <a:xfrm>
            <a:off x="6080760"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4"/>
          <p:cNvSpPr txBox="1"/>
          <p:nvPr/>
        </p:nvSpPr>
        <p:spPr>
          <a:xfrm>
            <a:off x="6080760"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7"/>
          <p:cNvSpPr txBox="1"/>
          <p:nvPr/>
        </p:nvSpPr>
        <p:spPr>
          <a:xfrm>
            <a:off x="3255264" y="2935224"/>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rIns="0" t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2"/>
          <p:cNvSpPr txBox="1"/>
          <p:nvPr/>
        </p:nvSpPr>
        <p:spPr>
          <a:xfrm>
            <a:off x="3319272"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4"/>
          <p:cNvSpPr txBox="1"/>
          <p:nvPr/>
        </p:nvSpPr>
        <p:spPr>
          <a:xfrm>
            <a:off x="3319272"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7"/>
          <p:cNvSpPr txBox="1"/>
          <p:nvPr/>
        </p:nvSpPr>
        <p:spPr>
          <a:xfrm>
            <a:off x="493776" y="2935224"/>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rIns="0" t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2"/>
          <p:cNvSpPr txBox="1"/>
          <p:nvPr/>
        </p:nvSpPr>
        <p:spPr>
          <a:xfrm>
            <a:off x="557784" y="370332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4"/>
          <p:cNvSpPr txBox="1"/>
          <p:nvPr/>
        </p:nvSpPr>
        <p:spPr>
          <a:xfrm>
            <a:off x="557784" y="386791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7"/>
          <p:cNvSpPr txBox="1"/>
          <p:nvPr/>
        </p:nvSpPr>
        <p:spPr>
          <a:xfrm>
            <a:off x="493776"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rIns="0" t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2"/>
          <p:cNvSpPr txBox="1"/>
          <p:nvPr/>
        </p:nvSpPr>
        <p:spPr>
          <a:xfrm>
            <a:off x="557784"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4"/>
          <p:cNvSpPr txBox="1"/>
          <p:nvPr/>
        </p:nvSpPr>
        <p:spPr>
          <a:xfrm>
            <a:off x="557784"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7"/>
          <p:cNvSpPr txBox="1"/>
          <p:nvPr/>
        </p:nvSpPr>
        <p:spPr>
          <a:xfrm>
            <a:off x="3255264" y="4261103"/>
            <a:ext cx="228600" cy="228600"/>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rIns="0" t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2"/>
          <p:cNvSpPr txBox="1"/>
          <p:nvPr/>
        </p:nvSpPr>
        <p:spPr>
          <a:xfrm>
            <a:off x="3319272"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4"/>
          <p:cNvSpPr txBox="1"/>
          <p:nvPr/>
        </p:nvSpPr>
        <p:spPr>
          <a:xfrm>
            <a:off x="3319272"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7"/>
          <p:cNvSpPr txBox="1"/>
          <p:nvPr/>
        </p:nvSpPr>
        <p:spPr>
          <a:xfrm>
            <a:off x="6016752" y="4261103"/>
            <a:ext cx="228600" cy="228600"/>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rIns="0" t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2"/>
          <p:cNvSpPr txBox="1"/>
          <p:nvPr/>
        </p:nvSpPr>
        <p:spPr>
          <a:xfrm>
            <a:off x="6080760" y="5029200"/>
            <a:ext cx="2157984" cy="137160"/>
          </a:xfrm>
          <a:prstGeom prst="rect">
            <a:avLst/>
          </a:prstGeom>
          <a:noFill/>
        </p:spPr>
        <p:txBody>
          <a:bodyPr wrap="square" lIns="0" rIns="0" t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4"/>
          <p:cNvSpPr txBox="1"/>
          <p:nvPr/>
        </p:nvSpPr>
        <p:spPr>
          <a:xfrm>
            <a:off x="6080760" y="5193792"/>
            <a:ext cx="2157984" cy="128016"/>
          </a:xfrm>
          <a:prstGeom prst="rect">
            <a:avLst/>
          </a:prstGeom>
          <a:noFill/>
        </p:spPr>
        <p:txBody>
          <a:bodyPr wrap="square" lIns="0" rIns="0" t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20"/>
          <p:cNvSpPr txBox="1"/>
          <p:nvPr/>
        </p:nvSpPr>
        <p:spPr>
          <a:xfrm>
            <a:off x="10771632" y="1577340"/>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22"/>
          <p:cNvSpPr txBox="1"/>
          <p:nvPr/>
        </p:nvSpPr>
        <p:spPr>
          <a:xfrm>
            <a:off x="8727948" y="1687068"/>
            <a:ext cx="1911096" cy="201168"/>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4"/>
          <p:cNvSpPr txBox="1"/>
          <p:nvPr/>
        </p:nvSpPr>
        <p:spPr>
          <a:xfrm>
            <a:off x="8819388" y="1952243"/>
            <a:ext cx="2843784" cy="164592"/>
          </a:xfrm>
          <a:prstGeom prst="rect">
            <a:avLst/>
          </a:prstGeom>
          <a:noFill/>
        </p:spPr>
        <p:txBody>
          <a:bodyPr wrap="square" lIns="0" rIns="0" t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6"/>
          <p:cNvSpPr txBox="1"/>
          <p:nvPr/>
        </p:nvSpPr>
        <p:spPr>
          <a:xfrm>
            <a:off x="8819388" y="2135124"/>
            <a:ext cx="2843784" cy="164592"/>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8"/>
          <p:cNvSpPr txBox="1"/>
          <p:nvPr/>
        </p:nvSpPr>
        <p:spPr>
          <a:xfrm>
            <a:off x="8819388" y="2318003"/>
            <a:ext cx="2843784" cy="164592"/>
          </a:xfrm>
          <a:prstGeom prst="rect">
            <a:avLst/>
          </a:prstGeom>
          <a:noFill/>
        </p:spPr>
        <p:txBody>
          <a:bodyPr wrap="square" lIns="0" rIns="0" t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33"/>
          <p:cNvSpPr txBox="1"/>
          <p:nvPr/>
        </p:nvSpPr>
        <p:spPr>
          <a:xfrm>
            <a:off x="10771632" y="2528315"/>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5"/>
          <p:cNvSpPr txBox="1"/>
          <p:nvPr/>
        </p:nvSpPr>
        <p:spPr>
          <a:xfrm>
            <a:off x="8727948" y="2638044"/>
            <a:ext cx="1911096" cy="201168"/>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 137"/>
          <p:cNvSpPr txBox="1"/>
          <p:nvPr/>
        </p:nvSpPr>
        <p:spPr>
          <a:xfrm>
            <a:off x="8819388" y="2903220"/>
            <a:ext cx="2843784" cy="164592"/>
          </a:xfrm>
          <a:prstGeom prst="rect">
            <a:avLst/>
          </a:prstGeom>
          <a:noFill/>
        </p:spPr>
        <p:txBody>
          <a:bodyPr wrap="square" lIns="0" rIns="0" t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9"/>
          <p:cNvSpPr txBox="1"/>
          <p:nvPr/>
        </p:nvSpPr>
        <p:spPr>
          <a:xfrm>
            <a:off x="8819388" y="3086100"/>
            <a:ext cx="2843784" cy="164592"/>
          </a:xfrm>
          <a:prstGeom prst="rect">
            <a:avLst/>
          </a:prstGeom>
          <a:noFill/>
        </p:spPr>
        <p:txBody>
          <a:bodyPr wrap="square" lIns="0" rIns="0" t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41"/>
          <p:cNvSpPr txBox="1"/>
          <p:nvPr/>
        </p:nvSpPr>
        <p:spPr>
          <a:xfrm>
            <a:off x="8819388" y="3268979"/>
            <a:ext cx="2843784" cy="164592"/>
          </a:xfrm>
          <a:prstGeom prst="rect">
            <a:avLst/>
          </a:prstGeom>
          <a:noFill/>
        </p:spPr>
        <p:txBody>
          <a:bodyPr wrap="square" lIns="0" rIns="0" t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4"/>
          <p:cNvSpPr txBox="1"/>
          <p:nvPr/>
        </p:nvSpPr>
        <p:spPr>
          <a:xfrm>
            <a:off x="8686800" y="3547872"/>
            <a:ext cx="1993392" cy="201168"/>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6"/>
          <p:cNvSpPr txBox="1"/>
          <p:nvPr/>
        </p:nvSpPr>
        <p:spPr>
          <a:xfrm>
            <a:off x="8778240" y="3813048"/>
            <a:ext cx="2926080" cy="164592"/>
          </a:xfrm>
          <a:prstGeom prst="rect">
            <a:avLst/>
          </a:prstGeom>
          <a:noFill/>
        </p:spPr>
        <p:txBody>
          <a:bodyPr wrap="square" lIns="0" rIns="0" t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8"/>
          <p:cNvSpPr txBox="1"/>
          <p:nvPr/>
        </p:nvSpPr>
        <p:spPr>
          <a:xfrm>
            <a:off x="8778240" y="3995928"/>
            <a:ext cx="2926080" cy="164592"/>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50"/>
          <p:cNvSpPr txBox="1"/>
          <p:nvPr/>
        </p:nvSpPr>
        <p:spPr>
          <a:xfrm>
            <a:off x="8778240" y="4178808"/>
            <a:ext cx="2926080" cy="164592"/>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53"/>
          <p:cNvSpPr txBox="1"/>
          <p:nvPr/>
        </p:nvSpPr>
        <p:spPr>
          <a:xfrm>
            <a:off x="8686800" y="4498848"/>
            <a:ext cx="1993392" cy="201168"/>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5"/>
          <p:cNvSpPr txBox="1"/>
          <p:nvPr/>
        </p:nvSpPr>
        <p:spPr>
          <a:xfrm>
            <a:off x="8778240" y="4764024"/>
            <a:ext cx="2926080" cy="164592"/>
          </a:xfrm>
          <a:prstGeom prst="rect">
            <a:avLst/>
          </a:prstGeom>
          <a:noFill/>
        </p:spPr>
        <p:txBody>
          <a:bodyPr wrap="square" lIns="0" rIns="0" t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7"/>
          <p:cNvSpPr txBox="1"/>
          <p:nvPr/>
        </p:nvSpPr>
        <p:spPr>
          <a:xfrm>
            <a:off x="8778240" y="4946904"/>
            <a:ext cx="2926080" cy="164592"/>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59"/>
          <p:cNvSpPr txBox="1"/>
          <p:nvPr/>
        </p:nvSpPr>
        <p:spPr>
          <a:xfrm>
            <a:off x="8778240" y="5129784"/>
            <a:ext cx="2926080" cy="164592"/>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64"/>
          <p:cNvSpPr txBox="1"/>
          <p:nvPr/>
        </p:nvSpPr>
        <p:spPr>
          <a:xfrm>
            <a:off x="10771632" y="5417819"/>
            <a:ext cx="896112" cy="137160"/>
          </a:xfrm>
          <a:prstGeom prst="rect">
            <a:avLst/>
          </a:prstGeom>
          <a:noFill/>
        </p:spPr>
        <p:txBody>
          <a:bodyPr wrap="square" lIns="0" rIns="0" t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rIns="0" t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rIns="0" t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8"/>
          <p:cNvSpPr txBox="1"/>
          <p:nvPr/>
        </p:nvSpPr>
        <p:spPr>
          <a:xfrm>
            <a:off x="2537460" y="5747003"/>
            <a:ext cx="893826" cy="146304"/>
          </a:xfrm>
          <a:prstGeom prst="rect">
            <a:avLst/>
          </a:prstGeom>
          <a:noFill/>
        </p:spPr>
        <p:txBody>
          <a:bodyPr wrap="square" lIns="0" rIns="0" t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72"/>
          <p:cNvSpPr txBox="1"/>
          <p:nvPr/>
        </p:nvSpPr>
        <p:spPr>
          <a:xfrm>
            <a:off x="3705606" y="5747003"/>
            <a:ext cx="893826" cy="146304"/>
          </a:xfrm>
          <a:prstGeom prst="rect">
            <a:avLst/>
          </a:prstGeom>
          <a:noFill/>
        </p:spPr>
        <p:txBody>
          <a:bodyPr wrap="square" lIns="0" rIns="0" t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6"/>
          <p:cNvSpPr txBox="1"/>
          <p:nvPr/>
        </p:nvSpPr>
        <p:spPr>
          <a:xfrm>
            <a:off x="4873752"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80"/>
          <p:cNvSpPr txBox="1"/>
          <p:nvPr/>
        </p:nvSpPr>
        <p:spPr>
          <a:xfrm>
            <a:off x="6041898" y="5747003"/>
            <a:ext cx="893826" cy="146304"/>
          </a:xfrm>
          <a:prstGeom prst="rect">
            <a:avLst/>
          </a:prstGeom>
          <a:noFill/>
        </p:spPr>
        <p:txBody>
          <a:bodyPr wrap="square" lIns="0" rIns="0" t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rIns="0" t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84"/>
          <p:cNvSpPr txBox="1"/>
          <p:nvPr/>
        </p:nvSpPr>
        <p:spPr>
          <a:xfrm>
            <a:off x="7210044" y="5747003"/>
            <a:ext cx="893826" cy="146304"/>
          </a:xfrm>
          <a:prstGeom prst="rect">
            <a:avLst/>
          </a:prstGeom>
          <a:noFill/>
        </p:spPr>
        <p:txBody>
          <a:bodyPr wrap="square" lIns="0" rIns="0" t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8"/>
          <p:cNvSpPr txBox="1"/>
          <p:nvPr/>
        </p:nvSpPr>
        <p:spPr>
          <a:xfrm>
            <a:off x="8378190" y="5747003"/>
            <a:ext cx="893826" cy="146304"/>
          </a:xfrm>
          <a:prstGeom prst="rect">
            <a:avLst/>
          </a:prstGeom>
          <a:noFill/>
        </p:spPr>
        <p:txBody>
          <a:bodyPr wrap="square" lIns="0" rIns="0" t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92"/>
          <p:cNvSpPr txBox="1"/>
          <p:nvPr/>
        </p:nvSpPr>
        <p:spPr>
          <a:xfrm>
            <a:off x="9546336" y="5747003"/>
            <a:ext cx="893826" cy="146304"/>
          </a:xfrm>
          <a:prstGeom prst="rect">
            <a:avLst/>
          </a:prstGeom>
          <a:noFill/>
        </p:spPr>
        <p:txBody>
          <a:bodyPr wrap="square" lIns="0" rIns="0" t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6"/>
          <p:cNvSpPr txBox="1"/>
          <p:nvPr/>
        </p:nvSpPr>
        <p:spPr>
          <a:xfrm>
            <a:off x="10714482" y="5747003"/>
            <a:ext cx="893826" cy="146304"/>
          </a:xfrm>
          <a:prstGeom prst="rect">
            <a:avLst/>
          </a:prstGeom>
          <a:noFill/>
        </p:spPr>
        <p:txBody>
          <a:bodyPr wrap="square" lIns="0" rIns="0" t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rIns="0" tIns="0" bIns="0" anchor="t">
            <a:spAutoFit/>
          </a:bodyPr>
          <a:lstStyle/>
          <a:p>
            <a:r>
              <a:rPr sz="600" b="0" i="0">
                <a:solidFill>
                  <a:srgbClr val="595959"/>
                </a:solidFill>
                <a:latin typeface="Trenda IG Text"/>
              </a:rPr>
              <a:t>step 09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SECURITY, RELIABILITY AND INPUT GUARDRAILS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Ascension's Codex Enterprise secures sign-in and data terms. MAD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3949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241554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252526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52526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Valid Jira key, story in Ready for MAD</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52526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245211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32816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443788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443788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443788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436473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624078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635050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635050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635050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627735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8153399"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826312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826312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826312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818997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10066020" y="1280160"/>
            <a:ext cx="274320" cy="274320"/>
          </a:xfrm>
          <a:prstGeom prst="rect">
            <a:avLst/>
          </a:prstGeom>
          <a:noFill/>
        </p:spPr>
        <p:txBody>
          <a:bodyPr wrap="square" lIns="0" rIns="0" t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rIns="0" t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rIns="0" tIns="0" bIns="0" anchor="ctr">
            <a:spAutoFit/>
          </a:bodyPr>
          <a:lstStyle/>
          <a:p>
            <a:r>
              <a:rPr sz="550" b="1" i="0" spc="150">
                <a:solidFill>
                  <a:srgbClr val="595959"/>
                </a:solidFill>
                <a:latin typeface="Trenda IG Text"/>
              </a:rPr>
              <a:t>MAD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10175748" y="1755648"/>
            <a:ext cx="1528572" cy="365760"/>
          </a:xfrm>
          <a:prstGeom prst="rect">
            <a:avLst/>
          </a:prstGeom>
          <a:noFill/>
        </p:spPr>
        <p:txBody>
          <a:bodyPr wrap="square" lIns="0" rIns="0" t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10175748" y="2139696"/>
            <a:ext cx="1528572" cy="365760"/>
          </a:xfrm>
          <a:prstGeom prst="rect">
            <a:avLst/>
          </a:prstGeom>
          <a:noFill/>
        </p:spPr>
        <p:txBody>
          <a:bodyPr wrap="square" lIns="0" rIns="0" t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10175748" y="2523744"/>
            <a:ext cx="1528572" cy="365760"/>
          </a:xfrm>
          <a:prstGeom prst="rect">
            <a:avLst/>
          </a:prstGeom>
          <a:noFill/>
        </p:spPr>
        <p:txBody>
          <a:bodyPr wrap="square" lIns="0" rIns="0" t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10102596" y="2944368"/>
            <a:ext cx="1546860" cy="237744"/>
          </a:xfrm>
          <a:prstGeom prst="rect">
            <a:avLst/>
          </a:prstGeom>
          <a:noFill/>
        </p:spPr>
        <p:txBody>
          <a:bodyPr wrap="square" lIns="0" rIns="0" t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rIns="0" t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rIns="0" t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rIns="0" tIns="0" bIns="0" anchor="ctr">
            <a:spAutoFit/>
          </a:bodyPr>
          <a:lstStyle/>
          <a:p>
            <a:r>
              <a:rPr sz="750" b="1" i="0">
                <a:solidFill>
                  <a:srgbClr val="000000"/>
                </a:solidFill>
                <a:latin typeface="Trenda IG Text"/>
              </a:rPr>
              <a:t>What MAD does</a:t>
            </a:r>
          </a:p>
        </p:txBody>
      </p:sp>
      <p:sp>
        <p:nvSpPr>
          <p:cNvPr id="97" name="Text 96"/>
          <p:cNvSpPr txBox="1"/>
          <p:nvPr/>
        </p:nvSpPr>
        <p:spPr>
          <a:xfrm>
            <a:off x="7086600" y="3657600"/>
            <a:ext cx="594359" cy="182880"/>
          </a:xfrm>
          <a:prstGeom prst="rect">
            <a:avLst/>
          </a:prstGeom>
          <a:noFill/>
        </p:spPr>
        <p:txBody>
          <a:bodyPr wrap="square" lIns="0" rIns="0" t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457200" y="3886200"/>
            <a:ext cx="2697479" cy="344859"/>
          </a:xfrm>
          <a:prstGeom prst="rect">
            <a:avLst/>
          </a:prstGeom>
          <a:noFill/>
        </p:spPr>
        <p:txBody>
          <a:bodyPr wrap="square" lIns="0" rIns="0" t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rIns="0" t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rIns="0" t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rIns="0" t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457200" y="4575918"/>
            <a:ext cx="2697479" cy="344859"/>
          </a:xfrm>
          <a:prstGeom prst="rect">
            <a:avLst/>
          </a:prstGeom>
          <a:noFill/>
        </p:spPr>
        <p:txBody>
          <a:bodyPr wrap="square" lIns="0" rIns="0" t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rIns="0" t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rIns="0" t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rIns="0" t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57200" y="5265637"/>
            <a:ext cx="2697479" cy="344859"/>
          </a:xfrm>
          <a:prstGeom prst="rect">
            <a:avLst/>
          </a:prstGeom>
          <a:noFill/>
        </p:spPr>
        <p:txBody>
          <a:bodyPr wrap="square" lIns="0" rIns="0" t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rIns="0" t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rIns="0" t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rIns="0" t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457200" y="5955356"/>
            <a:ext cx="2697479" cy="344859"/>
          </a:xfrm>
          <a:prstGeom prst="rect">
            <a:avLst/>
          </a:prstGeom>
          <a:noFill/>
        </p:spPr>
        <p:txBody>
          <a:bodyPr wrap="square" lIns="0" rIns="0" t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rIns="0" t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rIns="0" t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8046720" y="3547872"/>
            <a:ext cx="3593592" cy="182880"/>
          </a:xfrm>
          <a:prstGeom prst="rect">
            <a:avLst/>
          </a:prstGeom>
          <a:noFill/>
        </p:spPr>
        <p:txBody>
          <a:bodyPr wrap="square" lIns="0" rIns="0" t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65592" y="3803904"/>
            <a:ext cx="3483864" cy="310896"/>
          </a:xfrm>
          <a:prstGeom prst="rect">
            <a:avLst/>
          </a:prstGeom>
          <a:noFill/>
        </p:spPr>
        <p:txBody>
          <a:bodyPr wrap="square" lIns="0" rIns="0" tIns="0" bIns="0" anchor="t">
            <a:spAutoFit/>
          </a:bodyPr>
          <a:lstStyle/>
          <a:p>
            <a:r>
              <a:rPr sz="700" b="0" i="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8"/>
          <p:cNvSpPr txBox="1"/>
          <p:nvPr/>
        </p:nvSpPr>
        <p:spPr>
          <a:xfrm>
            <a:off x="8165592" y="4133088"/>
            <a:ext cx="3483864" cy="310896"/>
          </a:xfrm>
          <a:prstGeom prst="rect">
            <a:avLst/>
          </a:prstGeom>
          <a:noFill/>
        </p:spPr>
        <p:txBody>
          <a:bodyPr wrap="square" lIns="0" rIns="0" t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30"/>
          <p:cNvSpPr txBox="1"/>
          <p:nvPr/>
        </p:nvSpPr>
        <p:spPr>
          <a:xfrm>
            <a:off x="8165592" y="4462272"/>
            <a:ext cx="3483864" cy="310896"/>
          </a:xfrm>
          <a:prstGeom prst="rect">
            <a:avLst/>
          </a:prstGeom>
          <a:noFill/>
        </p:spPr>
        <p:txBody>
          <a:bodyPr wrap="square" lIns="0" rIns="0" t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8165592" y="4791456"/>
            <a:ext cx="3483864" cy="310896"/>
          </a:xfrm>
          <a:prstGeom prst="rect">
            <a:avLst/>
          </a:prstGeom>
          <a:noFill/>
        </p:spPr>
        <p:txBody>
          <a:bodyPr wrap="square" lIns="0" rIns="0" t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8165592" y="5120640"/>
            <a:ext cx="3483864" cy="310896"/>
          </a:xfrm>
          <a:prstGeom prst="rect">
            <a:avLst/>
          </a:prstGeom>
          <a:noFill/>
        </p:spPr>
        <p:txBody>
          <a:bodyPr wrap="square" lIns="0" rIns="0" t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36"/>
          <p:cNvSpPr txBox="1"/>
          <p:nvPr/>
        </p:nvSpPr>
        <p:spPr>
          <a:xfrm>
            <a:off x="8165592" y="5449824"/>
            <a:ext cx="3483864" cy="310896"/>
          </a:xfrm>
          <a:prstGeom prst="rect">
            <a:avLst/>
          </a:prstGeom>
          <a:noFill/>
        </p:spPr>
        <p:txBody>
          <a:bodyPr wrap="square" lIns="0" rIns="0" t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rIns="0" t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WHAT IT MEANS FOR TWO PODS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Two pods spend $2.59M a year today. With MAD: $1.59-1.80M back every year</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squad of 4-5 developers becomes 1 developer directing 1 MAD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76072" y="1298448"/>
            <a:ext cx="3474720" cy="128016"/>
          </a:xfrm>
          <a:prstGeom prst="rect">
            <a:avLst/>
          </a:prstGeom>
          <a:noFill/>
        </p:spPr>
        <p:txBody>
          <a:bodyPr wrap="square" lIns="0" rIns="0" t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7607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1216152"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85623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49631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136391" y="1517904"/>
            <a:ext cx="566928" cy="384048"/>
          </a:xfrm>
          <a:prstGeom prst="rect">
            <a:avLst/>
          </a:prstGeom>
          <a:noFill/>
        </p:spPr>
        <p:txBody>
          <a:bodyPr wrap="square" lIns="0" rIns="0" t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rIns="0" t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010912" y="1298448"/>
            <a:ext cx="3291840" cy="128016"/>
          </a:xfrm>
          <a:prstGeom prst="rect">
            <a:avLst/>
          </a:prstGeom>
          <a:noFill/>
        </p:spPr>
        <p:txBody>
          <a:bodyPr wrap="square" lIns="0" rIns="0" tIns="0" bIns="0" anchor="ctr">
            <a:spAutoFit/>
          </a:bodyPr>
          <a:lstStyle/>
          <a:p>
            <a:r>
              <a:rPr sz="650" b="1" i="0" spc="150">
                <a:solidFill>
                  <a:srgbClr val="000000"/>
                </a:solidFill>
                <a:latin typeface="Trenda IG Text"/>
              </a:rPr>
              <a:t>WITH MAD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01091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5"/>
          <p:cNvSpPr txBox="1"/>
          <p:nvPr/>
        </p:nvSpPr>
        <p:spPr>
          <a:xfrm>
            <a:off x="6007607" y="1554480"/>
            <a:ext cx="1024127" cy="310896"/>
          </a:xfrm>
          <a:prstGeom prst="rect">
            <a:avLst/>
          </a:prstGeom>
          <a:noFill/>
        </p:spPr>
        <p:txBody>
          <a:bodyPr wrap="square" lIns="0" rIns="0" tIns="0" bIns="0" anchor="ctr">
            <a:spAutoFit/>
          </a:bodyPr>
          <a:lstStyle/>
          <a:p>
            <a:pPr algn="ctr"/>
            <a:r>
              <a:rPr sz="750" b="1" i="0">
                <a:solidFill>
                  <a:srgbClr val="FFFFFF"/>
                </a:solidFill>
                <a:latin typeface="Trenda IG Text"/>
              </a:rPr>
              <a:t>MAD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7"/>
          <p:cNvSpPr txBox="1"/>
          <p:nvPr/>
        </p:nvSpPr>
        <p:spPr>
          <a:xfrm>
            <a:off x="7159752" y="1517904"/>
            <a:ext cx="868680" cy="384048"/>
          </a:xfrm>
          <a:prstGeom prst="rect">
            <a:avLst/>
          </a:prstGeom>
          <a:noFill/>
        </p:spPr>
        <p:txBody>
          <a:bodyPr wrap="square" lIns="0" rIns="0" t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rIns="0" t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rIns="0" t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rIns="0" tIns="0" bIns="0" anchor="t">
            <a:spAutoFit/>
          </a:bodyPr>
          <a:lstStyle/>
          <a:p>
            <a:pPr>
              <a:spcAft>
                <a:spcPts val="300"/>
              </a:spcAft>
            </a:pPr>
            <a:r>
              <a:rPr sz="750" b="1" i="0">
                <a:solidFill>
                  <a:srgbClr val="000000"/>
                </a:solidFill>
                <a:latin typeface="Trenda IG Text"/>
              </a:rPr>
              <a:t>MAD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2"/>
          <p:cNvSpPr txBox="1"/>
          <p:nvPr/>
        </p:nvSpPr>
        <p:spPr>
          <a:xfrm>
            <a:off x="594360" y="2560320"/>
            <a:ext cx="5212079" cy="274320"/>
          </a:xfrm>
          <a:prstGeom prst="rect">
            <a:avLst/>
          </a:prstGeom>
          <a:noFill/>
        </p:spPr>
        <p:txBody>
          <a:bodyPr wrap="square" lIns="0" rIns="0" t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rIns="0" t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rIns="0" t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rIns="0" tIns="0" bIns="0" anchor="ctr">
            <a:spAutoFit/>
          </a:bodyPr>
          <a:lstStyle/>
          <a:p>
            <a:r>
              <a:rPr sz="650" b="1" i="0" spc="150">
                <a:solidFill>
                  <a:srgbClr val="000000"/>
                </a:solidFill>
                <a:latin typeface="Trenda IG Text"/>
              </a:rPr>
              <a:t>WITH MAD</a:t>
            </a:r>
          </a:p>
        </p:txBody>
      </p:sp>
      <p:sp>
        <p:nvSpPr>
          <p:cNvPr id="38" name="Text 38"/>
          <p:cNvSpPr txBox="1"/>
          <p:nvPr/>
        </p:nvSpPr>
        <p:spPr>
          <a:xfrm>
            <a:off x="3429000" y="3127248"/>
            <a:ext cx="2468880" cy="548640"/>
          </a:xfrm>
          <a:prstGeom prst="rect">
            <a:avLst/>
          </a:prstGeom>
          <a:noFill/>
        </p:spPr>
        <p:txBody>
          <a:bodyPr wrap="square" lIns="0" rIns="0" t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rIns="0" t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3"/>
          <p:cNvSpPr txBox="1"/>
          <p:nvPr/>
        </p:nvSpPr>
        <p:spPr>
          <a:xfrm>
            <a:off x="772668" y="4082796"/>
            <a:ext cx="2011680" cy="539496"/>
          </a:xfrm>
          <a:prstGeom prst="rect">
            <a:avLst/>
          </a:prstGeom>
          <a:noFill/>
        </p:spPr>
        <p:txBody>
          <a:bodyPr wrap="square" lIns="0" rIns="0" t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rIns="0" t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rIns="0" t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7"/>
          <p:cNvSpPr txBox="1"/>
          <p:nvPr/>
        </p:nvSpPr>
        <p:spPr>
          <a:xfrm>
            <a:off x="6382512" y="2560320"/>
            <a:ext cx="5212079" cy="274320"/>
          </a:xfrm>
          <a:prstGeom prst="rect">
            <a:avLst/>
          </a:prstGeom>
          <a:noFill/>
        </p:spPr>
        <p:txBody>
          <a:bodyPr wrap="square" lIns="0" rIns="0" t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rIns="0" t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rIns="0" t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rIns="0" t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rIns="0" tIns="0" bIns="0" anchor="ctr">
            <a:spAutoFit/>
          </a:bodyPr>
          <a:lstStyle/>
          <a:p>
            <a:r>
              <a:rPr sz="650" b="1" i="0" spc="150">
                <a:solidFill>
                  <a:srgbClr val="000000"/>
                </a:solidFill>
                <a:latin typeface="Trenda IG Text"/>
              </a:rPr>
              <a:t>WITH MAD</a:t>
            </a:r>
          </a:p>
        </p:txBody>
      </p:sp>
      <p:sp>
        <p:nvSpPr>
          <p:cNvPr id="52" name="Text 53"/>
          <p:cNvSpPr txBox="1"/>
          <p:nvPr/>
        </p:nvSpPr>
        <p:spPr>
          <a:xfrm>
            <a:off x="9217152" y="3127248"/>
            <a:ext cx="2468880" cy="548640"/>
          </a:xfrm>
          <a:prstGeom prst="rect">
            <a:avLst/>
          </a:prstGeom>
          <a:noFill/>
        </p:spPr>
        <p:txBody>
          <a:bodyPr wrap="square" lIns="0" rIns="0" t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rIns="0" t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8"/>
          <p:cNvSpPr txBox="1"/>
          <p:nvPr/>
        </p:nvSpPr>
        <p:spPr>
          <a:xfrm>
            <a:off x="6560820" y="4082796"/>
            <a:ext cx="2011680" cy="539496"/>
          </a:xfrm>
          <a:prstGeom prst="rect">
            <a:avLst/>
          </a:prstGeom>
          <a:noFill/>
        </p:spPr>
        <p:txBody>
          <a:bodyPr wrap="square" lIns="0" rIns="0" t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rIns="0" tIns="0" bIns="0" anchor="ctr">
            <a:spAutoFit/>
          </a:bodyPr>
          <a:lstStyle/>
          <a:p>
            <a:pPr algn="r"/>
            <a:r>
              <a:rPr sz="2800" b="1" i="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rIns="0" t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2"/>
          <p:cNvSpPr txBox="1"/>
          <p:nvPr/>
        </p:nvSpPr>
        <p:spPr>
          <a:xfrm>
            <a:off x="640080" y="5166359"/>
            <a:ext cx="2743200" cy="182880"/>
          </a:xfrm>
          <a:prstGeom prst="rect">
            <a:avLst/>
          </a:prstGeom>
          <a:noFill/>
        </p:spPr>
        <p:txBody>
          <a:bodyPr wrap="square" lIns="0" rIns="0" t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rIns="0" t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rIns="0" t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rIns="0" tIns="0" bIns="0" anchor="t">
            <a:spAutoFit/>
          </a:bodyPr>
          <a:lstStyle/>
          <a:p>
            <a:r>
              <a:rPr sz="800" b="0" i="0">
                <a:solidFill>
                  <a:srgbClr val="BFBFBF"/>
                </a:solidFill>
                <a:latin typeface="Trenda IG Text"/>
              </a:rPr>
              <a:t>With MAD</a:t>
            </a:r>
          </a:p>
        </p:txBody>
      </p:sp>
      <p:sp>
        <p:nvSpPr>
          <p:cNvPr id="65" name="Text 67"/>
          <p:cNvSpPr txBox="1"/>
          <p:nvPr/>
        </p:nvSpPr>
        <p:spPr>
          <a:xfrm>
            <a:off x="3481578" y="5532120"/>
            <a:ext cx="2567178" cy="347472"/>
          </a:xfrm>
          <a:prstGeom prst="rect">
            <a:avLst/>
          </a:prstGeom>
          <a:noFill/>
        </p:spPr>
        <p:txBody>
          <a:bodyPr wrap="square" lIns="0" rIns="0" t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rIns="0" t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rIns="0" t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rIns="0" t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rIns="0" t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rIns="0" t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rIns="0" t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rIns="0" t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rIns="0" tIns="0" bIns="0" anchor="t">
            <a:spAutoFit/>
          </a:bodyPr>
          <a:lstStyle/>
          <a:p>
            <a:r>
              <a:rPr sz="650" b="0" i="0">
                <a:solidFill>
                  <a:srgbClr val="595959"/>
                </a:solidFill>
                <a:latin typeface="Trenda IG Text"/>
              </a:rPr>
              <a:t>Spend as provided by Ascension, per year. With MAD keeps today's cost for the people who stay (a developer and QA per squad, plus a tech lead in VBC) and adds agent run cost of $9K-18K per squad a year; the shared MAD platform is priced once for all pods on the commercials slide. Target once a pod runs fully on MAD; the 20-25% on the business outcomes slide is the floor. Each pod's Phase 0 baseline confirms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rIns="0" t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2056383"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4155440"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625449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04024" y="581558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878316" y="5541264"/>
            <a:ext cx="16002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10177272" y="581558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10177272" y="5541264"/>
            <a:ext cx="16002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34 people at peak across 15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33.5 FTE at peak, 497.5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Technology and skills</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4990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301752"/>
          </a:xfrm>
          <a:prstGeom prst="rect">
            <a:avLst/>
          </a:prstGeom>
          <a:noFill/>
        </p:spPr>
        <p:txBody>
          <a:bodyPr wrap="square" lIns="0" rIns="0" tIns="0" bIns="0" anchor="ctr">
            <a:spAutoFit/>
          </a:bodyPr>
          <a:lstStyle/>
          <a:p>
            <a:r>
              <a:rPr sz="750" b="1" i="0">
                <a:solidFill>
                  <a:srgbClr val="000000"/>
                </a:solidFill>
                <a:latin typeface="Trenda IG Text"/>
              </a:rPr>
              <a:t>Engagement / delivery lead</a:t>
            </a:r>
          </a:p>
        </p:txBody>
      </p:sp>
      <p:sp>
        <p:nvSpPr>
          <p:cNvPr id="14" name="Text 13"/>
          <p:cNvSpPr txBox="1"/>
          <p:nvPr/>
        </p:nvSpPr>
        <p:spPr>
          <a:xfrm>
            <a:off x="2606040" y="1444752"/>
            <a:ext cx="3438144" cy="301752"/>
          </a:xfrm>
          <a:prstGeom prst="rect">
            <a:avLst/>
          </a:prstGeom>
          <a:noFill/>
        </p:spPr>
        <p:txBody>
          <a:bodyPr wrap="square" lIns="0" rIns="0" tIns="0" bIns="0" anchor="ctr">
            <a:spAutoFit/>
          </a:bodyPr>
          <a:lstStyle/>
          <a:p>
            <a:r>
              <a:rPr sz="700" b="0" i="0">
                <a:solidFill>
                  <a:srgbClr val="000000"/>
                </a:solidFill>
                <a:latin typeface="Trenda IG Text"/>
              </a:rPr>
              <a:t>Delivery governance, gates, pod onboarding plan</a:t>
            </a:r>
          </a:p>
        </p:txBody>
      </p:sp>
      <p:sp>
        <p:nvSpPr>
          <p:cNvPr id="15" name="Text 14"/>
          <p:cNvSpPr txBox="1"/>
          <p:nvPr/>
        </p:nvSpPr>
        <p:spPr>
          <a:xfrm>
            <a:off x="6126480" y="144475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185166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746504"/>
            <a:ext cx="1911095" cy="301752"/>
          </a:xfrm>
          <a:prstGeom prst="rect">
            <a:avLst/>
          </a:prstGeom>
          <a:noFill/>
        </p:spPr>
        <p:txBody>
          <a:bodyPr wrap="square" lIns="0" rIns="0" tIns="0" bIns="0" anchor="ctr">
            <a:spAutoFit/>
          </a:bodyPr>
          <a:lstStyle/>
          <a:p>
            <a:r>
              <a:rPr sz="750" b="1" i="0">
                <a:solidFill>
                  <a:srgbClr val="000000"/>
                </a:solidFill>
                <a:latin typeface="Trenda IG Text"/>
              </a:rPr>
              <a:t>Project manager / scrum master</a:t>
            </a:r>
          </a:p>
        </p:txBody>
      </p:sp>
      <p:sp>
        <p:nvSpPr>
          <p:cNvPr id="20" name="Text 19"/>
          <p:cNvSpPr txBox="1"/>
          <p:nvPr/>
        </p:nvSpPr>
        <p:spPr>
          <a:xfrm>
            <a:off x="2606040" y="1746504"/>
            <a:ext cx="3438144" cy="301752"/>
          </a:xfrm>
          <a:prstGeom prst="rect">
            <a:avLst/>
          </a:prstGeom>
          <a:noFill/>
        </p:spPr>
        <p:txBody>
          <a:bodyPr wrap="square" lIns="0" rIns="0" tIns="0" bIns="0" anchor="ctr">
            <a:spAutoFit/>
          </a:bodyPr>
          <a:lstStyle/>
          <a:p>
            <a:r>
              <a:rPr sz="700" b="0" i="0">
                <a:solidFill>
                  <a:srgbClr val="000000"/>
                </a:solidFill>
                <a:latin typeface="Trenda IG Text"/>
              </a:rPr>
              <a:t>Sprint plans, RAID log, Jira, gate evidence packs</a:t>
            </a:r>
          </a:p>
        </p:txBody>
      </p:sp>
      <p:sp>
        <p:nvSpPr>
          <p:cNvPr id="21" name="Text 20"/>
          <p:cNvSpPr txBox="1"/>
          <p:nvPr/>
        </p:nvSpPr>
        <p:spPr>
          <a:xfrm>
            <a:off x="6126480" y="174650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74650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746504"/>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04825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15341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048256"/>
            <a:ext cx="1911095" cy="301752"/>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7" name="Text 26"/>
          <p:cNvSpPr txBox="1"/>
          <p:nvPr/>
        </p:nvSpPr>
        <p:spPr>
          <a:xfrm>
            <a:off x="2606040" y="2048256"/>
            <a:ext cx="3438144" cy="301752"/>
          </a:xfrm>
          <a:prstGeom prst="rect">
            <a:avLst/>
          </a:prstGeom>
          <a:noFill/>
        </p:spPr>
        <p:txBody>
          <a:bodyPr wrap="square" lIns="0" rIns="0" tIns="0" bIns="0" anchor="ctr">
            <a:spAutoFit/>
          </a:bodyPr>
          <a:lstStyle/>
          <a:p>
            <a:r>
              <a:rPr sz="700" b="0" i="0">
                <a:solidFill>
                  <a:srgbClr val="000000"/>
                </a:solidFill>
                <a:latin typeface="Trenda IG Text"/>
              </a:rPr>
              <a:t>GCP + Salesforce architecture, Spanner Graph model, security design</a:t>
            </a:r>
          </a:p>
        </p:txBody>
      </p:sp>
      <p:sp>
        <p:nvSpPr>
          <p:cNvPr id="28" name="Text 27"/>
          <p:cNvSpPr txBox="1"/>
          <p:nvPr/>
        </p:nvSpPr>
        <p:spPr>
          <a:xfrm>
            <a:off x="6126480" y="204825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04825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048256"/>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455164"/>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350008"/>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lead</a:t>
            </a:r>
          </a:p>
        </p:txBody>
      </p:sp>
      <p:sp>
        <p:nvSpPr>
          <p:cNvPr id="33" name="Text 32"/>
          <p:cNvSpPr txBox="1"/>
          <p:nvPr/>
        </p:nvSpPr>
        <p:spPr>
          <a:xfrm>
            <a:off x="2606040" y="2350008"/>
            <a:ext cx="3438144" cy="301752"/>
          </a:xfrm>
          <a:prstGeom prst="rect">
            <a:avLst/>
          </a:prstGeom>
          <a:noFill/>
        </p:spPr>
        <p:txBody>
          <a:bodyPr wrap="square" lIns="0" rIns="0" tIns="0" bIns="0" anchor="ctr">
            <a:spAutoFit/>
          </a:bodyPr>
          <a:lstStyle/>
          <a:p>
            <a:r>
              <a:rPr sz="700" b="0" i="0">
                <a:solidFill>
                  <a:srgbClr val="000000"/>
                </a:solidFill>
                <a:latin typeface="Trenda IG Text"/>
              </a:rPr>
              <a:t>OpenAI Agents SDK, Codex SDK, MCP, prompts, skills, evaluations</a:t>
            </a:r>
          </a:p>
        </p:txBody>
      </p:sp>
      <p:sp>
        <p:nvSpPr>
          <p:cNvPr id="34" name="Text 33"/>
          <p:cNvSpPr txBox="1"/>
          <p:nvPr/>
        </p:nvSpPr>
        <p:spPr>
          <a:xfrm>
            <a:off x="6126480" y="235000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35" name="Text 34"/>
          <p:cNvSpPr txBox="1"/>
          <p:nvPr/>
        </p:nvSpPr>
        <p:spPr>
          <a:xfrm>
            <a:off x="6629400" y="235000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350008"/>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7" name="Shape 36"/>
          <p:cNvSpPr/>
          <p:nvPr/>
        </p:nvSpPr>
        <p:spPr>
          <a:xfrm>
            <a:off x="411480" y="265176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2756916"/>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2651760"/>
            <a:ext cx="1911095" cy="301752"/>
          </a:xfrm>
          <a:prstGeom prst="rect">
            <a:avLst/>
          </a:prstGeom>
          <a:noFill/>
        </p:spPr>
        <p:txBody>
          <a:bodyPr wrap="square" lIns="0" rIns="0" tIns="0" bIns="0" anchor="ctr">
            <a:spAutoFit/>
          </a:bodyPr>
          <a:lstStyle/>
          <a:p>
            <a:r>
              <a:rPr sz="750" b="1" i="0">
                <a:solidFill>
                  <a:srgbClr val="000000"/>
                </a:solidFill>
                <a:latin typeface="Trenda IG Text"/>
              </a:rPr>
              <a:t>AI agent engineers</a:t>
            </a:r>
          </a:p>
        </p:txBody>
      </p:sp>
      <p:sp>
        <p:nvSpPr>
          <p:cNvPr id="40" name="Text 39"/>
          <p:cNvSpPr txBox="1"/>
          <p:nvPr/>
        </p:nvSpPr>
        <p:spPr>
          <a:xfrm>
            <a:off x="2606040" y="2651760"/>
            <a:ext cx="3438144" cy="301752"/>
          </a:xfrm>
          <a:prstGeom prst="rect">
            <a:avLst/>
          </a:prstGeom>
          <a:noFill/>
        </p:spPr>
        <p:txBody>
          <a:bodyPr wrap="square" lIns="0" rIns="0" tIns="0" bIns="0" anchor="ctr">
            <a:spAutoFit/>
          </a:bodyPr>
          <a:lstStyle/>
          <a:p>
            <a:r>
              <a:rPr sz="700" b="0" i="0">
                <a:solidFill>
                  <a:srgbClr val="000000"/>
                </a:solidFill>
                <a:latin typeface="Trenda IG Text"/>
              </a:rPr>
              <a:t>Python, Agents SDK, headless Codex, MCP tools, JSON Schema outputs</a:t>
            </a:r>
          </a:p>
        </p:txBody>
      </p:sp>
      <p:sp>
        <p:nvSpPr>
          <p:cNvPr id="41" name="Text 40"/>
          <p:cNvSpPr txBox="1"/>
          <p:nvPr/>
        </p:nvSpPr>
        <p:spPr>
          <a:xfrm>
            <a:off x="6126480" y="265176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42" name="Text 41"/>
          <p:cNvSpPr txBox="1"/>
          <p:nvPr/>
        </p:nvSpPr>
        <p:spPr>
          <a:xfrm>
            <a:off x="6629400" y="265176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265176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44" name="Shape 43"/>
          <p:cNvSpPr/>
          <p:nvPr/>
        </p:nvSpPr>
        <p:spPr>
          <a:xfrm>
            <a:off x="466344" y="305866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2953512"/>
            <a:ext cx="1911095" cy="301752"/>
          </a:xfrm>
          <a:prstGeom prst="rect">
            <a:avLst/>
          </a:prstGeom>
          <a:noFill/>
        </p:spPr>
        <p:txBody>
          <a:bodyPr wrap="square" lIns="0" rIns="0" tIns="0" bIns="0" anchor="ctr">
            <a:spAutoFit/>
          </a:bodyPr>
          <a:lstStyle/>
          <a:p>
            <a:r>
              <a:rPr sz="750" b="1" i="0">
                <a:solidFill>
                  <a:srgbClr val="000000"/>
                </a:solidFill>
                <a:latin typeface="Trenda IG Text"/>
              </a:rPr>
              <a:t>GCP platform engineers</a:t>
            </a:r>
          </a:p>
        </p:txBody>
      </p:sp>
      <p:sp>
        <p:nvSpPr>
          <p:cNvPr id="46" name="Text 45"/>
          <p:cNvSpPr txBox="1"/>
          <p:nvPr/>
        </p:nvSpPr>
        <p:spPr>
          <a:xfrm>
            <a:off x="2606040" y="2953512"/>
            <a:ext cx="3438144" cy="301752"/>
          </a:xfrm>
          <a:prstGeom prst="rect">
            <a:avLst/>
          </a:prstGeom>
          <a:noFill/>
        </p:spPr>
        <p:txBody>
          <a:bodyPr wrap="square" lIns="0" rIns="0" tIns="0" bIns="0" anchor="ctr">
            <a:spAutoFit/>
          </a:bodyPr>
          <a:lstStyle/>
          <a:p>
            <a:r>
              <a:rPr sz="700" b="0" i="0">
                <a:solidFill>
                  <a:srgbClr val="000000"/>
                </a:solidFill>
                <a:latin typeface="Trenda IG Text"/>
              </a:rPr>
              <a:t>Terraform, Cloud Run, Workflows, Firestore, IAM, VPC-SC, Cloud Build</a:t>
            </a:r>
          </a:p>
        </p:txBody>
      </p:sp>
      <p:sp>
        <p:nvSpPr>
          <p:cNvPr id="47" name="Text 46"/>
          <p:cNvSpPr txBox="1"/>
          <p:nvPr/>
        </p:nvSpPr>
        <p:spPr>
          <a:xfrm>
            <a:off x="6126480" y="295351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48" name="Text 47"/>
          <p:cNvSpPr txBox="1"/>
          <p:nvPr/>
        </p:nvSpPr>
        <p:spPr>
          <a:xfrm>
            <a:off x="6629400" y="295351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2953512"/>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255264"/>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336042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255264"/>
            <a:ext cx="1911095" cy="301752"/>
          </a:xfrm>
          <a:prstGeom prst="rect">
            <a:avLst/>
          </a:prstGeom>
          <a:noFill/>
        </p:spPr>
        <p:txBody>
          <a:bodyPr wrap="square" lIns="0" rIns="0" tIns="0" bIns="0" anchor="ctr">
            <a:spAutoFit/>
          </a:bodyPr>
          <a:lstStyle/>
          <a:p>
            <a:r>
              <a:rPr sz="750" b="1" i="0">
                <a:solidFill>
                  <a:srgbClr val="000000"/>
                </a:solidFill>
                <a:latin typeface="Trenda IG Text"/>
              </a:rPr>
              <a:t>Site reliability engineer</a:t>
            </a:r>
          </a:p>
        </p:txBody>
      </p:sp>
      <p:sp>
        <p:nvSpPr>
          <p:cNvPr id="53" name="Text 52"/>
          <p:cNvSpPr txBox="1"/>
          <p:nvPr/>
        </p:nvSpPr>
        <p:spPr>
          <a:xfrm>
            <a:off x="2606040" y="3255264"/>
            <a:ext cx="3438144" cy="301752"/>
          </a:xfrm>
          <a:prstGeom prst="rect">
            <a:avLst/>
          </a:prstGeom>
          <a:noFill/>
        </p:spPr>
        <p:txBody>
          <a:bodyPr wrap="square" lIns="0" rIns="0" tIns="0" bIns="0" anchor="ctr">
            <a:spAutoFit/>
          </a:bodyPr>
          <a:lstStyle/>
          <a:p>
            <a:r>
              <a:rPr sz="700" b="0" i="0">
                <a:solidFill>
                  <a:srgbClr val="000000"/>
                </a:solidFill>
                <a:latin typeface="Trenda IG Text"/>
              </a:rPr>
              <a:t>Cloud Monitoring, Logging, Trace, alerting, runbooks, DR tests</a:t>
            </a:r>
          </a:p>
        </p:txBody>
      </p:sp>
      <p:sp>
        <p:nvSpPr>
          <p:cNvPr id="54" name="Text 53"/>
          <p:cNvSpPr txBox="1"/>
          <p:nvPr/>
        </p:nvSpPr>
        <p:spPr>
          <a:xfrm>
            <a:off x="6126480" y="325526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55" name="Text 54"/>
          <p:cNvSpPr txBox="1"/>
          <p:nvPr/>
        </p:nvSpPr>
        <p:spPr>
          <a:xfrm>
            <a:off x="6629400" y="325526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25526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3662172"/>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3557016"/>
            <a:ext cx="1911095" cy="301752"/>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59" name="Text 58"/>
          <p:cNvSpPr txBox="1"/>
          <p:nvPr/>
        </p:nvSpPr>
        <p:spPr>
          <a:xfrm>
            <a:off x="2606040" y="3557016"/>
            <a:ext cx="3438144" cy="301752"/>
          </a:xfrm>
          <a:prstGeom prst="rect">
            <a:avLst/>
          </a:prstGeom>
          <a:noFill/>
        </p:spPr>
        <p:txBody>
          <a:bodyPr wrap="square" lIns="0" rIns="0" tIns="0" bIns="0" anchor="ctr">
            <a:spAutoFit/>
          </a:bodyPr>
          <a:lstStyle/>
          <a:p>
            <a:r>
              <a:rPr sz="700" b="0" i="0">
                <a:solidFill>
                  <a:srgbClr val="000000"/>
                </a:solidFill>
                <a:latin typeface="Trenda IG Text"/>
              </a:rPr>
              <a:t>Python connectors, Spanner Graph (GQL), DLP, Jira / Confluence / SF APIs</a:t>
            </a:r>
          </a:p>
        </p:txBody>
      </p:sp>
      <p:sp>
        <p:nvSpPr>
          <p:cNvPr id="60" name="Text 59"/>
          <p:cNvSpPr txBox="1"/>
          <p:nvPr/>
        </p:nvSpPr>
        <p:spPr>
          <a:xfrm>
            <a:off x="6126480" y="355701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4</a:t>
            </a:r>
          </a:p>
        </p:txBody>
      </p:sp>
      <p:sp>
        <p:nvSpPr>
          <p:cNvPr id="61" name="Text 60"/>
          <p:cNvSpPr txBox="1"/>
          <p:nvPr/>
        </p:nvSpPr>
        <p:spPr>
          <a:xfrm>
            <a:off x="6629400" y="355701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3557016"/>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63" name="Shape 62"/>
          <p:cNvSpPr/>
          <p:nvPr/>
        </p:nvSpPr>
        <p:spPr>
          <a:xfrm>
            <a:off x="411480" y="3858768"/>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39639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3858768"/>
            <a:ext cx="1911095" cy="301752"/>
          </a:xfrm>
          <a:prstGeom prst="rect">
            <a:avLst/>
          </a:prstGeom>
          <a:noFill/>
        </p:spPr>
        <p:txBody>
          <a:bodyPr wrap="square" lIns="0" rIns="0" tIns="0" bIns="0" anchor="ctr">
            <a:spAutoFit/>
          </a:bodyPr>
          <a:lstStyle/>
          <a:p>
            <a:r>
              <a:rPr sz="750" b="1" i="0">
                <a:solidFill>
                  <a:srgbClr val="000000"/>
                </a:solidFill>
                <a:latin typeface="Trenda IG Text"/>
              </a:rPr>
              <a:t>Python backend engineers</a:t>
            </a:r>
          </a:p>
        </p:txBody>
      </p:sp>
      <p:sp>
        <p:nvSpPr>
          <p:cNvPr id="66" name="Text 65"/>
          <p:cNvSpPr txBox="1"/>
          <p:nvPr/>
        </p:nvSpPr>
        <p:spPr>
          <a:xfrm>
            <a:off x="2606040" y="3858768"/>
            <a:ext cx="3438144" cy="301752"/>
          </a:xfrm>
          <a:prstGeom prst="rect">
            <a:avLst/>
          </a:prstGeom>
          <a:noFill/>
        </p:spPr>
        <p:txBody>
          <a:bodyPr wrap="square" lIns="0" rIns="0" tIns="0" bIns="0" anchor="ctr">
            <a:spAutoFit/>
          </a:bodyPr>
          <a:lstStyle/>
          <a:p>
            <a:r>
              <a:rPr sz="700" b="0" i="0">
                <a:solidFill>
                  <a:srgbClr val="000000"/>
                </a:solidFill>
                <a:latin typeface="Trenda IG Text"/>
              </a:rPr>
              <a:t>FastAPI services: gateway, approval, Guardian; OPA (Rego)</a:t>
            </a:r>
          </a:p>
        </p:txBody>
      </p:sp>
      <p:sp>
        <p:nvSpPr>
          <p:cNvPr id="67" name="Text 66"/>
          <p:cNvSpPr txBox="1"/>
          <p:nvPr/>
        </p:nvSpPr>
        <p:spPr>
          <a:xfrm>
            <a:off x="6126480" y="385876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68" name="Text 67"/>
          <p:cNvSpPr txBox="1"/>
          <p:nvPr/>
        </p:nvSpPr>
        <p:spPr>
          <a:xfrm>
            <a:off x="6629400" y="385876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3858768"/>
            <a:ext cx="694943" cy="301752"/>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70" name="Shape 69"/>
          <p:cNvSpPr/>
          <p:nvPr/>
        </p:nvSpPr>
        <p:spPr>
          <a:xfrm>
            <a:off x="466344" y="426567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4160520"/>
            <a:ext cx="1911095" cy="301752"/>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72" name="Text 71"/>
          <p:cNvSpPr txBox="1"/>
          <p:nvPr/>
        </p:nvSpPr>
        <p:spPr>
          <a:xfrm>
            <a:off x="2606040" y="4160520"/>
            <a:ext cx="3438144" cy="301752"/>
          </a:xfrm>
          <a:prstGeom prst="rect">
            <a:avLst/>
          </a:prstGeom>
          <a:noFill/>
        </p:spPr>
        <p:txBody>
          <a:bodyPr wrap="square" lIns="0" rIns="0" tIns="0" bIns="0" anchor="ctr">
            <a:spAutoFit/>
          </a:bodyPr>
          <a:lstStyle/>
          <a:p>
            <a:r>
              <a:rPr sz="700" b="0" i="0">
                <a:solidFill>
                  <a:srgbClr val="000000"/>
                </a:solidFill>
                <a:latin typeface="Trenda IG Text"/>
              </a:rPr>
              <a:t>Apex, LWC, Flow, Metadata + Tooling API, sf CLI, pod skills</a:t>
            </a:r>
          </a:p>
        </p:txBody>
      </p:sp>
      <p:sp>
        <p:nvSpPr>
          <p:cNvPr id="73" name="Text 72"/>
          <p:cNvSpPr txBox="1"/>
          <p:nvPr/>
        </p:nvSpPr>
        <p:spPr>
          <a:xfrm>
            <a:off x="6126480" y="416052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74" name="Text 73"/>
          <p:cNvSpPr txBox="1"/>
          <p:nvPr/>
        </p:nvSpPr>
        <p:spPr>
          <a:xfrm>
            <a:off x="6629400" y="416052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4160520"/>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6" name="Shape 75"/>
          <p:cNvSpPr/>
          <p:nvPr/>
        </p:nvSpPr>
        <p:spPr>
          <a:xfrm>
            <a:off x="411480" y="4462272"/>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66344" y="4567428"/>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612648" y="4462272"/>
            <a:ext cx="1911095" cy="301752"/>
          </a:xfrm>
          <a:prstGeom prst="rect">
            <a:avLst/>
          </a:prstGeom>
          <a:noFill/>
        </p:spPr>
        <p:txBody>
          <a:bodyPr wrap="square" lIns="0" rIns="0" tIns="0" bIns="0" anchor="ctr">
            <a:spAutoFit/>
          </a:bodyPr>
          <a:lstStyle/>
          <a:p>
            <a:r>
              <a:rPr sz="750" b="1" i="0">
                <a:solidFill>
                  <a:srgbClr val="000000"/>
                </a:solidFill>
                <a:latin typeface="Trenda IG Text"/>
              </a:rPr>
              <a:t>Marketing / Data Cloud developers</a:t>
            </a:r>
          </a:p>
        </p:txBody>
      </p:sp>
      <p:sp>
        <p:nvSpPr>
          <p:cNvPr id="79" name="Text 78"/>
          <p:cNvSpPr txBox="1"/>
          <p:nvPr/>
        </p:nvSpPr>
        <p:spPr>
          <a:xfrm>
            <a:off x="2606040" y="4462272"/>
            <a:ext cx="3438144" cy="301752"/>
          </a:xfrm>
          <a:prstGeom prst="rect">
            <a:avLst/>
          </a:prstGeom>
          <a:noFill/>
        </p:spPr>
        <p:txBody>
          <a:bodyPr wrap="square" lIns="0" rIns="0" tIns="0" bIns="0" anchor="ctr">
            <a:spAutoFit/>
          </a:bodyPr>
          <a:lstStyle/>
          <a:p>
            <a:r>
              <a:rPr sz="700" b="0" i="0">
                <a:solidFill>
                  <a:srgbClr val="000000"/>
                </a:solidFill>
                <a:latin typeface="Trenda IG Text"/>
              </a:rPr>
              <a:t>SFMC SQL, AMPscript, Journey Builder, Data Cloud, mcdev</a:t>
            </a:r>
          </a:p>
        </p:txBody>
      </p:sp>
      <p:sp>
        <p:nvSpPr>
          <p:cNvPr id="80" name="Text 79"/>
          <p:cNvSpPr txBox="1"/>
          <p:nvPr/>
        </p:nvSpPr>
        <p:spPr>
          <a:xfrm>
            <a:off x="6126480" y="4462272"/>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81" name="Text 80"/>
          <p:cNvSpPr txBox="1"/>
          <p:nvPr/>
        </p:nvSpPr>
        <p:spPr>
          <a:xfrm>
            <a:off x="6629400" y="4462272"/>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2" name="Text 81"/>
          <p:cNvSpPr txBox="1"/>
          <p:nvPr/>
        </p:nvSpPr>
        <p:spPr>
          <a:xfrm>
            <a:off x="7315200" y="4462272"/>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3" name="Shape 82"/>
          <p:cNvSpPr/>
          <p:nvPr/>
        </p:nvSpPr>
        <p:spPr>
          <a:xfrm>
            <a:off x="466344" y="48691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612648" y="4764024"/>
            <a:ext cx="1911095" cy="301752"/>
          </a:xfrm>
          <a:prstGeom prst="rect">
            <a:avLst/>
          </a:prstGeom>
          <a:noFill/>
        </p:spPr>
        <p:txBody>
          <a:bodyPr wrap="square" lIns="0" rIns="0" tIns="0" bIns="0" anchor="ctr">
            <a:spAutoFit/>
          </a:bodyPr>
          <a:lstStyle/>
          <a:p>
            <a:r>
              <a:rPr sz="750" b="1" i="0">
                <a:solidFill>
                  <a:srgbClr val="000000"/>
                </a:solidFill>
                <a:latin typeface="Trenda IG Text"/>
              </a:rPr>
              <a:t>DevOps / Copado engineers</a:t>
            </a:r>
          </a:p>
        </p:txBody>
      </p:sp>
      <p:sp>
        <p:nvSpPr>
          <p:cNvPr id="85" name="Text 84"/>
          <p:cNvSpPr txBox="1"/>
          <p:nvPr/>
        </p:nvSpPr>
        <p:spPr>
          <a:xfrm>
            <a:off x="2606040" y="4764024"/>
            <a:ext cx="3438144" cy="301752"/>
          </a:xfrm>
          <a:prstGeom prst="rect">
            <a:avLst/>
          </a:prstGeom>
          <a:noFill/>
        </p:spPr>
        <p:txBody>
          <a:bodyPr wrap="square" lIns="0" rIns="0" tIns="0" bIns="0" anchor="ctr">
            <a:spAutoFit/>
          </a:bodyPr>
          <a:lstStyle/>
          <a:p>
            <a:r>
              <a:rPr sz="700" b="0" i="0">
                <a:solidFill>
                  <a:srgbClr val="000000"/>
                </a:solidFill>
                <a:latin typeface="Trenda IG Text"/>
              </a:rPr>
              <a:t>Copado pipelines and API, Git, CI checks, Code Analyzer</a:t>
            </a:r>
          </a:p>
        </p:txBody>
      </p:sp>
      <p:sp>
        <p:nvSpPr>
          <p:cNvPr id="86" name="Text 85"/>
          <p:cNvSpPr txBox="1"/>
          <p:nvPr/>
        </p:nvSpPr>
        <p:spPr>
          <a:xfrm>
            <a:off x="6126480" y="4764024"/>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87" name="Text 86"/>
          <p:cNvSpPr txBox="1"/>
          <p:nvPr/>
        </p:nvSpPr>
        <p:spPr>
          <a:xfrm>
            <a:off x="6629400" y="4764024"/>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88" name="Text 87"/>
          <p:cNvSpPr txBox="1"/>
          <p:nvPr/>
        </p:nvSpPr>
        <p:spPr>
          <a:xfrm>
            <a:off x="7315200" y="4764024"/>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89" name="Shape 88"/>
          <p:cNvSpPr/>
          <p:nvPr/>
        </p:nvSpPr>
        <p:spPr>
          <a:xfrm>
            <a:off x="411480" y="5065776"/>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466344" y="517093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612648" y="5065776"/>
            <a:ext cx="1911095" cy="301752"/>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92" name="Text 91"/>
          <p:cNvSpPr txBox="1"/>
          <p:nvPr/>
        </p:nvSpPr>
        <p:spPr>
          <a:xfrm>
            <a:off x="2606040" y="5065776"/>
            <a:ext cx="3438144" cy="301752"/>
          </a:xfrm>
          <a:prstGeom prst="rect">
            <a:avLst/>
          </a:prstGeom>
          <a:noFill/>
        </p:spPr>
        <p:txBody>
          <a:bodyPr wrap="square" lIns="0" rIns="0" tIns="0" bIns="0" anchor="ctr">
            <a:spAutoFit/>
          </a:bodyPr>
          <a:lstStyle/>
          <a:p>
            <a:r>
              <a:rPr sz="700" b="0" i="0">
                <a:solidFill>
                  <a:srgbClr val="000000"/>
                </a:solidFill>
                <a:latin typeface="Trenda IG Text"/>
              </a:rPr>
              <a:t>Copado Robotic Testing, Zephyr Scale, Apex + Jest, agent evaluations</a:t>
            </a:r>
          </a:p>
        </p:txBody>
      </p:sp>
      <p:sp>
        <p:nvSpPr>
          <p:cNvPr id="93" name="Text 92"/>
          <p:cNvSpPr txBox="1"/>
          <p:nvPr/>
        </p:nvSpPr>
        <p:spPr>
          <a:xfrm>
            <a:off x="6126480" y="5065776"/>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94" name="Text 93"/>
          <p:cNvSpPr txBox="1"/>
          <p:nvPr/>
        </p:nvSpPr>
        <p:spPr>
          <a:xfrm>
            <a:off x="6629400" y="5065776"/>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95" name="Text 94"/>
          <p:cNvSpPr txBox="1"/>
          <p:nvPr/>
        </p:nvSpPr>
        <p:spPr>
          <a:xfrm>
            <a:off x="7315200" y="5065776"/>
            <a:ext cx="694943" cy="301752"/>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96" name="Shape 95"/>
          <p:cNvSpPr/>
          <p:nvPr/>
        </p:nvSpPr>
        <p:spPr>
          <a:xfrm>
            <a:off x="466344" y="547268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12648" y="5367528"/>
            <a:ext cx="1911095" cy="301752"/>
          </a:xfrm>
          <a:prstGeom prst="rect">
            <a:avLst/>
          </a:prstGeom>
          <a:noFill/>
        </p:spPr>
        <p:txBody>
          <a:bodyPr wrap="square" lIns="0" rIns="0" tIns="0" bIns="0" anchor="ctr">
            <a:spAutoFit/>
          </a:bodyPr>
          <a:lstStyle/>
          <a:p>
            <a:r>
              <a:rPr sz="750" b="1" i="0">
                <a:solidFill>
                  <a:srgbClr val="000000"/>
                </a:solidFill>
                <a:latin typeface="Trenda IG Text"/>
              </a:rPr>
              <a:t>Security and compliance engineer</a:t>
            </a:r>
          </a:p>
        </p:txBody>
      </p:sp>
      <p:sp>
        <p:nvSpPr>
          <p:cNvPr id="98" name="Text 97"/>
          <p:cNvSpPr txBox="1"/>
          <p:nvPr/>
        </p:nvSpPr>
        <p:spPr>
          <a:xfrm>
            <a:off x="2606040" y="5367528"/>
            <a:ext cx="3438144" cy="301752"/>
          </a:xfrm>
          <a:prstGeom prst="rect">
            <a:avLst/>
          </a:prstGeom>
          <a:noFill/>
        </p:spPr>
        <p:txBody>
          <a:bodyPr wrap="square" lIns="0" rIns="0" tIns="0" bIns="0" anchor="ctr">
            <a:spAutoFit/>
          </a:bodyPr>
          <a:lstStyle/>
          <a:p>
            <a:r>
              <a:rPr sz="700" b="0" i="0">
                <a:solidFill>
                  <a:srgbClr val="000000"/>
                </a:solidFill>
                <a:latin typeface="Trenda IG Text"/>
              </a:rPr>
              <a:t>HIPAA controls, DLP, IAM review, pen test, data terms</a:t>
            </a:r>
          </a:p>
        </p:txBody>
      </p:sp>
      <p:sp>
        <p:nvSpPr>
          <p:cNvPr id="99" name="Text 98"/>
          <p:cNvSpPr txBox="1"/>
          <p:nvPr/>
        </p:nvSpPr>
        <p:spPr>
          <a:xfrm>
            <a:off x="6126480" y="5367528"/>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00" name="Text 99"/>
          <p:cNvSpPr txBox="1"/>
          <p:nvPr/>
        </p:nvSpPr>
        <p:spPr>
          <a:xfrm>
            <a:off x="6629400" y="5367528"/>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1" name="Text 100"/>
          <p:cNvSpPr txBox="1"/>
          <p:nvPr/>
        </p:nvSpPr>
        <p:spPr>
          <a:xfrm>
            <a:off x="7315200" y="5367528"/>
            <a:ext cx="694943" cy="301752"/>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102" name="Shape 101"/>
          <p:cNvSpPr/>
          <p:nvPr/>
        </p:nvSpPr>
        <p:spPr>
          <a:xfrm>
            <a:off x="411480" y="5669280"/>
            <a:ext cx="7635240" cy="30175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102"/>
          <p:cNvSpPr/>
          <p:nvPr/>
        </p:nvSpPr>
        <p:spPr>
          <a:xfrm>
            <a:off x="466344" y="5774436"/>
            <a:ext cx="91440" cy="914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612648" y="5669280"/>
            <a:ext cx="1911095" cy="301752"/>
          </a:xfrm>
          <a:prstGeom prst="rect">
            <a:avLst/>
          </a:prstGeom>
          <a:noFill/>
        </p:spPr>
        <p:txBody>
          <a:bodyPr wrap="square" lIns="0" rIns="0" tIns="0" bIns="0" anchor="ctr">
            <a:spAutoFit/>
          </a:bodyPr>
          <a:lstStyle/>
          <a:p>
            <a:r>
              <a:rPr sz="750" b="1" i="0">
                <a:solidFill>
                  <a:srgbClr val="000000"/>
                </a:solidFill>
                <a:latin typeface="Trenda IG Text"/>
              </a:rPr>
              <a:t>Business analysts / change leads</a:t>
            </a:r>
          </a:p>
        </p:txBody>
      </p:sp>
      <p:sp>
        <p:nvSpPr>
          <p:cNvPr id="105" name="Text 104"/>
          <p:cNvSpPr txBox="1"/>
          <p:nvPr/>
        </p:nvSpPr>
        <p:spPr>
          <a:xfrm>
            <a:off x="2606040" y="5669280"/>
            <a:ext cx="3438144" cy="301752"/>
          </a:xfrm>
          <a:prstGeom prst="rect">
            <a:avLst/>
          </a:prstGeom>
          <a:noFill/>
        </p:spPr>
        <p:txBody>
          <a:bodyPr wrap="square" lIns="0" rIns="0" tIns="0" bIns="0" anchor="ctr">
            <a:spAutoFit/>
          </a:bodyPr>
          <a:lstStyle/>
          <a:p>
            <a:r>
              <a:rPr sz="700" b="0" i="0">
                <a:solidFill>
                  <a:srgbClr val="000000"/>
                </a:solidFill>
                <a:latin typeface="Trenda IG Text"/>
              </a:rPr>
              <a:t>Pod baselines, process mapping, training, adoption measures</a:t>
            </a:r>
          </a:p>
        </p:txBody>
      </p:sp>
      <p:sp>
        <p:nvSpPr>
          <p:cNvPr id="106" name="Text 105"/>
          <p:cNvSpPr txBox="1"/>
          <p:nvPr/>
        </p:nvSpPr>
        <p:spPr>
          <a:xfrm>
            <a:off x="6126480" y="5669280"/>
            <a:ext cx="420624" cy="301752"/>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7" name="Text 106"/>
          <p:cNvSpPr txBox="1"/>
          <p:nvPr/>
        </p:nvSpPr>
        <p:spPr>
          <a:xfrm>
            <a:off x="6629400" y="5669280"/>
            <a:ext cx="603503" cy="301752"/>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08" name="Text 107"/>
          <p:cNvSpPr txBox="1"/>
          <p:nvPr/>
        </p:nvSpPr>
        <p:spPr>
          <a:xfrm>
            <a:off x="7315200" y="5669280"/>
            <a:ext cx="694943" cy="301752"/>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09" name="Shape 108"/>
          <p:cNvSpPr/>
          <p:nvPr/>
        </p:nvSpPr>
        <p:spPr>
          <a:xfrm>
            <a:off x="411480" y="597103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11480" y="601675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a:t>
            </a:r>
            <a:r>
              <a:rPr sz="750" b="0" i="0">
                <a:solidFill>
                  <a:srgbClr val="000000"/>
                </a:solidFill>
                <a:latin typeface="Trenda IG Text"/>
              </a:rPr>
              <a:t>1 run lead + 5 engineers (GCP, graph, agents, Salesforce, QA), all offshore.</a:t>
            </a:r>
          </a:p>
        </p:txBody>
      </p:sp>
      <p:sp>
        <p:nvSpPr>
          <p:cNvPr id="111" name="Shape 110"/>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33.5</a:t>
            </a:r>
          </a:p>
        </p:txBody>
      </p:sp>
      <p:sp>
        <p:nvSpPr>
          <p:cNvPr id="113" name="Text 112"/>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12-14)</a:t>
            </a:r>
          </a:p>
        </p:txBody>
      </p:sp>
      <p:sp>
        <p:nvSpPr>
          <p:cNvPr id="114" name="Shape 113"/>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497.5</a:t>
            </a:r>
          </a:p>
        </p:txBody>
      </p:sp>
      <p:sp>
        <p:nvSpPr>
          <p:cNvPr id="116" name="Text 115"/>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117" name="Shape 116"/>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119" name="Text 118"/>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120" name="Text 119"/>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121" name="Chart 120"/>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122" name="Shape 120"/>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21"/>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124" name="Shape 122"/>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3"/>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126" name="Shape 124"/>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5"/>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128" name="Shape 126"/>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7"/>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130" name="Shape 128"/>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9"/>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132" name="Shape 130"/>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1"/>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34" name="Shape 132"/>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3"/>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36" name="Shape 134"/>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35"/>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$5.50M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6.5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$76K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$86K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22.5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$907K</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$1.03M</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32</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$1.25M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$1.42M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30</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$587K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$664K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33.5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$964K</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$1.09M</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32.5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$930K</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$1.05M</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$151K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$171K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$4.87M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497.5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76809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685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2" name="Text 72"/>
          <p:cNvSpPr txBox="1"/>
          <p:nvPr/>
        </p:nvSpPr>
        <p:spPr>
          <a:xfrm>
            <a:off x="8243315" y="1705356"/>
            <a:ext cx="3383280" cy="329184"/>
          </a:xfrm>
          <a:prstGeom prst="rect">
            <a:avLst/>
          </a:prstGeom>
          <a:noFill/>
        </p:spPr>
        <p:txBody>
          <a:bodyPr wrap="square" lIns="0" rIns="0" tIns="0" bIns="0" anchor="t">
            <a:spAutoFit/>
          </a:bodyPr>
          <a:lstStyle/>
          <a:p>
            <a:r>
              <a:rPr sz="700" b="0" i="0">
                <a:solidFill>
                  <a:srgbClr val="000000"/>
                </a:solidFill>
                <a:latin typeface="Trenda IG Text"/>
              </a:rPr>
              <a:t>Each phase priced up front and invoiced only when its gate is signed. Insight Global carries delivery risk (13% included).</a:t>
            </a:r>
          </a:p>
        </p:txBody>
      </p:sp>
      <p:sp>
        <p:nvSpPr>
          <p:cNvPr id="73" name="Shape 73"/>
          <p:cNvSpPr/>
          <p:nvPr/>
        </p:nvSpPr>
        <p:spPr>
          <a:xfrm>
            <a:off x="10712196" y="1879091"/>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1879091"/>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212848"/>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267712"/>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 capped</a:t>
            </a:r>
          </a:p>
        </p:txBody>
      </p:sp>
      <p:sp>
        <p:nvSpPr>
          <p:cNvPr id="77" name="Text 77"/>
          <p:cNvSpPr txBox="1"/>
          <p:nvPr/>
        </p:nvSpPr>
        <p:spPr>
          <a:xfrm>
            <a:off x="10479024" y="22494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$4.87M</a:t>
            </a:r>
          </a:p>
        </p:txBody>
      </p:sp>
      <p:sp>
        <p:nvSpPr>
          <p:cNvPr id="78" name="Text 78"/>
          <p:cNvSpPr txBox="1"/>
          <p:nvPr/>
        </p:nvSpPr>
        <p:spPr>
          <a:xfrm>
            <a:off x="8202167" y="2505456"/>
            <a:ext cx="3465576" cy="329184"/>
          </a:xfrm>
          <a:prstGeom prst="rect">
            <a:avLst/>
          </a:prstGeom>
          <a:noFill/>
        </p:spPr>
        <p:txBody>
          <a:bodyPr wrap="square" lIns="0" rIns="0" tIns="0" bIns="0" anchor="t">
            <a:spAutoFit/>
          </a:bodyPr>
          <a:lstStyle/>
          <a:p>
            <a:r>
              <a:rPr sz="700" b="0" i="0">
                <a:solidFill>
                  <a:srgbClr val="000000"/>
                </a:solidFill>
                <a:latin typeface="Trenda IG Text"/>
              </a:rPr>
              <a:t>Billed monthly on actuals, with a not-to-exceed cap per phase. Lower price; Ascension carries the overrun risk up to the cap.</a:t>
            </a:r>
          </a:p>
        </p:txBody>
      </p:sp>
      <p:sp>
        <p:nvSpPr>
          <p:cNvPr id="79" name="Text 79"/>
          <p:cNvSpPr txBox="1"/>
          <p:nvPr/>
        </p:nvSpPr>
        <p:spPr>
          <a:xfrm>
            <a:off x="8092440" y="3017520"/>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21868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27355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25526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$61K / month</a:t>
            </a:r>
          </a:p>
        </p:txBody>
      </p:sp>
      <p:sp>
        <p:nvSpPr>
          <p:cNvPr id="83" name="Text 83"/>
          <p:cNvSpPr txBox="1"/>
          <p:nvPr/>
        </p:nvSpPr>
        <p:spPr>
          <a:xfrm>
            <a:off x="8202167" y="3511296"/>
            <a:ext cx="3465576" cy="329184"/>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6, offshore, keeps the graph, agents, Guardian rules and evaluations current, fixes failed runs and adds new sources.</a:t>
            </a:r>
          </a:p>
        </p:txBody>
      </p:sp>
      <p:sp>
        <p:nvSpPr>
          <p:cNvPr id="84" name="Shape 84"/>
          <p:cNvSpPr/>
          <p:nvPr/>
        </p:nvSpPr>
        <p:spPr>
          <a:xfrm>
            <a:off x="8183879" y="391363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3913632"/>
            <a:ext cx="3355848" cy="256032"/>
          </a:xfrm>
          <a:prstGeom prst="rect">
            <a:avLst/>
          </a:prstGeom>
          <a:noFill/>
        </p:spPr>
        <p:txBody>
          <a:bodyPr wrap="square" lIns="0" rIns="0" tIns="0" bIns="0" anchor="ctr">
            <a:spAutoFit/>
          </a:bodyPr>
          <a:lstStyle/>
          <a:p>
            <a:r>
              <a:rPr sz="700" b="0" i="0">
                <a:solidFill>
                  <a:srgbClr val="000000"/>
                </a:solidFill>
                <a:latin typeface="Trenda IG Text"/>
              </a:rPr>
              <a:t>Team $61K + platform ~$20K = </a:t>
            </a:r>
            <a:r>
              <a:rPr sz="700" b="1" i="0">
                <a:solidFill>
                  <a:srgbClr val="000000"/>
                </a:solidFill>
                <a:latin typeface="Trenda IG Text"/>
              </a:rPr>
              <a:t>about $81K a month ($0.97M a year)</a:t>
            </a:r>
          </a:p>
        </p:txBody>
      </p:sp>
      <p:sp>
        <p:nvSpPr>
          <p:cNvPr id="86" name="Shape 86"/>
          <p:cNvSpPr/>
          <p:nvPr/>
        </p:nvSpPr>
        <p:spPr>
          <a:xfrm>
            <a:off x="8092440" y="4352544"/>
            <a:ext cx="3685032" cy="19659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42569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626864"/>
            <a:ext cx="3429000" cy="163677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Planned saving: 20-25% lower net run cost per pod </a:t>
            </a:r>
            <a:r>
              <a:rPr sz="900" b="0" i="0">
                <a:solidFill>
                  <a:srgbClr val="BFBFBF"/>
                </a:solidFill>
                <a:latin typeface="Trenda IG Text"/>
              </a:rPr>
              <a:t>(business outcomes slide).</a:t>
            </a:r>
          </a:p>
          <a:p>
            <a:pPr>
              <a:spcAft>
                <a:spcPts val="600"/>
              </a:spcAft>
            </a:pPr>
            <a:r>
              <a:rPr sz="900" b="0" i="0">
                <a:solidFill>
                  <a:srgbClr val="FFFFFF"/>
                </a:solidFill>
                <a:latin typeface="Trenda IG Text"/>
              </a:rPr>
              <a:t>Every $10M of pod delivery spend saves $2.0-2.5M a year, </a:t>
            </a:r>
            <a:r>
              <a:rPr sz="900" b="0" i="0">
                <a:solidFill>
                  <a:srgbClr val="FFFFFF"/>
                </a:solidFill>
                <a:latin typeface="Trenda IG Text"/>
              </a:rPr>
              <a:t>so the build fee pays back in about 2.2 to 2.8 years once pods are live.</a:t>
            </a:r>
          </a:p>
          <a:p>
            <a:pPr>
              <a:spcAft>
                <a:spcPts val="600"/>
              </a:spcAft>
            </a:pPr>
            <a:r>
              <a:rPr sz="900" b="0" i="0">
                <a:solidFill>
                  <a:srgbClr val="BFBFBF"/>
                </a:solidFill>
                <a:latin typeface="Trenda IG Text"/>
              </a:rPr>
              <a:t>Example: one 14-person pod at about $2.47M a year saves $0.49-0.62M a year.</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$45-95/h, blended $61/h, 160 h per FTE-month, 497.5 FTE-months. Replace with the Insight Global rate card before sharing. Excludes Ascension staff time and existing licences (Salesforce, Copado, Atlassian, OpenAI terms).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