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9" r:id="rId23"/>
    <p:sldId id="323" r:id="rId3"/>
    <p:sldId id="330" r:id="rId24"/>
    <p:sldId id="331" r:id="rId25"/>
    <p:sldId id="332" r:id="rId26"/>
    <p:sldId id="333" r:id="rId27"/>
    <p:sldId id="256" r:id="rId4"/>
    <p:sldId id="319" r:id="rId5"/>
    <p:sldId id="324" r:id="rId6"/>
    <p:sldId id="325" r:id="rId7"/>
    <p:sldId id="327" r:id="rId8"/>
    <p:sldId id="328" r:id="rId9"/>
    <p:sldId id="326" r:id="rId10"/>
    <p:sldId id="334" r:id="rId28"/>
    <p:sldId id="335" r:id="rId29"/>
    <p:sldId id="336" r:id="rId30"/>
    <p:sldId id="337" r:id="rId31"/>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22.5</c:v>
                </c:pt>
                <c:pt idx="2">
                  <c:v>22.5</c:v>
                </c:pt>
                <c:pt idx="3">
                  <c:v>22.5</c:v>
                </c:pt>
                <c:pt idx="4">
                  <c:v>22.5</c:v>
                </c:pt>
                <c:pt idx="5">
                  <c:v>32</c:v>
                </c:pt>
                <c:pt idx="6">
                  <c:v>32</c:v>
                </c:pt>
                <c:pt idx="7">
                  <c:v>32</c:v>
                </c:pt>
                <c:pt idx="8">
                  <c:v>32</c:v>
                </c:pt>
                <c:pt idx="9">
                  <c:v>30</c:v>
                </c:pt>
                <c:pt idx="10">
                  <c:v>30</c:v>
                </c:pt>
                <c:pt idx="11">
                  <c:v>33.5</c:v>
                </c:pt>
                <c:pt idx="12">
                  <c:v>33.5</c:v>
                </c:pt>
                <c:pt idx="13">
                  <c:v>33.5</c:v>
                </c:pt>
                <c:pt idx="14">
                  <c:v>32.5</c:v>
                </c:pt>
                <c:pt idx="15">
                  <c:v>32.5</c:v>
                </c:pt>
                <c:pt idx="16">
                  <c:v>32.5</c:v>
                </c:pt>
                <c:pt idx="17">
                  <c:v>15</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4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p>
            <a:r>
              <a:t>Open with the question, then pause. Every pod at Ascension builds without seeing what the rest of the org already has: the same field gets built twice, one pod's flow breaks another pod's process, and knowledge lives in a few people's heads.</a:t>
            </a:r>
          </a:p>
          <a:p/>
          <a:p>
            <a:r>
              <a:t>MAD answers that: one AI agent team, grounded in a knowledge graph of the Ascension org, that takes a Jira story to a tested, deployable change. People approve every step, and no agent ever touches production.</a:t>
            </a:r>
          </a:p>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p>
            <a:r>
              <a:t>Then the agenda: the problem and the approach, how it works and why it is safe, what it returns and what it costs.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p>
            <a:r>
              <a:t>KEY MESSAGE</a:t>
            </a:r>
          </a:p>
          <a:p>
            <a:r>
              <a:t>MAD is a platform, not a script: five layers on Ascension's own infrastructure, in the same layered pattern as Insight Global's Helios platform.</a:t>
            </a:r>
          </a:p>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p>
            <a:r>
              <a:t>KEY MESSAGE</a:t>
            </a:r>
          </a:p>
          <a:p>
            <a:r>
              <a:t>Codex Enterprise, which Ascension already licenses, gives SSO, admin policies, enterprise data terms and an audit log. MAD adds five layers on top, so a bad or wrong request is stopped long before it could change anything.</a:t>
            </a:r>
          </a:p>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p>
            <a:r>
              <a:t>WHAT HAPPENS WHEN (bottom table)</a:t>
            </a:r>
          </a:p>
          <a:p>
            <a:r>
              <a:t>Walk two rows: the offensive prompt (blocked and logged) and the "ignore the rules, deploy to production" prompt (refused, and even if it got through, no agent has a tool or credential that could do it).</a:t>
            </a:r>
          </a:p>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2 minutes)</a:t>
            </a:r>
          </a:p>
          <a:p/>
          <a:p>
            <a:r>
              <a:t>KEY MESSAGE</a:t>
            </a:r>
          </a:p>
          <a:p>
            <a:r>
              <a:t>In dollars: VBC (Salesforce Core / Flex) costs $2.47M a year with 14 people; Network Services $117K with 4. At MAD steady state, together they save about $0.52-0.65M every year, or deliver $1.0-1.6M more work a year with the same people.</a:t>
            </a:r>
          </a:p>
          <a:p/>
          <a:p>
            <a:r>
              <a:t>HOW THE NUMBERS ARE BUILT</a:t>
            </a:r>
          </a:p>
          <a:p>
            <a:r>
              <a:t>Today's figures are as provided by Ascension. With MAD applies the planned figures from the business outcomes slide: 20-25% lower net run cost per pod, 20-30% smaller team for the same scope, or 1.4-1.6x output with the same team. Year 1 realises 60-70% while the pod is onboarded.</a:t>
            </a:r>
          </a:p>
          <a:p/>
          <a:p>
            <a:r>
              <a:t>VBC: $2.47M to $1.85-1.98M, 14 people to 10-11; saves $494-618K a year.</a:t>
            </a:r>
          </a:p>
          <a:p>
            <a:r>
              <a:t>Network Services: $117K to $88-94K, 4 people to 3; saves $23-29K a year.</a:t>
            </a:r>
          </a:p>
          <a:p/>
          <a:p>
            <a:r>
              <a:t>IF ASKED</a:t>
            </a:r>
          </a:p>
          <a:p>
            <a:r>
              <a:t>- Why not a bigger cut? Workshops, decisions, legal review, UAT and CAB stay human and take the same time; we only count savings on work agents do.</a:t>
            </a:r>
          </a:p>
          <a:p>
            <a:r>
              <a:t>- Do people lose jobs? Ascension chooses: a smaller team for the same scope, or the same team clearing more backlog.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34 people at peak across 15 roles, every role delivered offshore, sized from the phase plan: 497.5 FTE-months over 18 months.</a:t>
            </a:r>
          </a:p>
          <a:p/>
          <a:p>
            <a:r>
              <a:t>RAMP (FTE by phase)</a:t>
            </a:r>
          </a:p>
          <a:p>
            <a:r>
              <a:t>6.5 in month 1, 22.5 in months 2-5, 32 in months 6-9, 30 in months 10-11, 33.5 in months 12-14, 32.5 in months 15-17, 15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5 Health Cloud developers, 3 Marketing / Data Cloud developers and 5 QA engineers in months 12-17, so three to five pods onboard at once without lowering the pilots' quality bar.</a:t>
            </a:r>
          </a:p>
          <a:p>
            <a:r>
              <a:t>- A site reliability engineer from month 2: monitoring, alerting, runbooks and disaster-recovery tests, so the platform is production-grade before Gate 3.</a:t>
            </a:r>
          </a:p>
          <a:p>
            <a:r>
              <a:t>- 4 knowledge graph engineers at the pilot, then 3: six connectors first, then every new pod's sources in each wave.</a:t>
            </a:r>
          </a:p>
          <a:p>
            <a:r>
              <a:t>- 4 AI agent engineers + an AI lead: the agents, prompts, skills and the evaluation set are the product.</a:t>
            </a:r>
          </a:p>
          <a:p>
            <a:r>
              <a:t>- 2 to 3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($45-95/h, blended $61/h). Replace them with the Insight Global rate card in plan_slides.py and rebuild before this slide goes to Ascension.</a:t>
            </a:r>
          </a:p>
          <a:p/>
          <a:p>
            <a:r>
              <a:t>KEY MESSAGE</a:t>
            </a:r>
          </a:p>
          <a:p>
            <a:r>
              <a:t>$5.50M as a fixed fee over 18 months, invoiced only when each gate is signed. Platform usage is passed through at cost. After month 18, a managed service.</a:t>
            </a:r>
          </a:p>
          <a:p/>
          <a:p>
            <a:r>
              <a:t>THE OPTIONS (A or B pays for the build, months 1-18; C is the separate monthly service that starts at month 19)</a:t>
            </a:r>
          </a:p>
          <a:p>
            <a:r>
              <a:t>- A, fixed fee by gate (recommended): Ascension pays for a phase only when its gate passes; Insight Global carries delivery risk (13% in the price).</a:t>
            </a:r>
          </a:p>
          <a:p>
            <a:r>
              <a:t>- B, time and materials with a cap per phase: $4.87M estimated; Ascension carries overrun risk up to the cap.</a:t>
            </a:r>
          </a:p>
          <a:p>
            <a:r>
              <a:t>- C, managed service, only from month 19 once all pods are live: $61K a month for a run team of 6 (graph, agents, Guardian rules, evaluations, failed runs, new sources), plus platform at cost of about $20K a month. It is not part of the build fee and not charged during months 1-18.</a:t>
            </a:r>
          </a:p>
          <a:p/>
          <a:p>
            <a:r>
              <a:t>IF ASCENSION ASKS FOR A LOWER NUMBER: TRADE SCOPE OR RISK, NOT RATES</a:t>
            </a:r>
          </a:p>
          <a:p>
            <a:r>
              <a:t>- Move to option B (time and materials, capped): $4.87M.</a:t>
            </a:r>
          </a:p>
          <a:p>
            <a:r>
              <a:t>- Contract wave 2 later, as a per-pod onboarding fee once wave 1 has proved the savings: removes $1.05M now, so the fixed fee becomes $4.45M.</a:t>
            </a:r>
          </a:p>
          <a:p>
            <a:r>
              <a:t>- Both levers together: about $3.94M.</a:t>
            </a:r>
          </a:p>
          <a:p>
            <a:r>
              <a:t>- Lower the risk premium to 5% in exchange for Ascension owning gate dates: $5.11M.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2.2 to 2.8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640080" y="566928"/>
            <a:ext cx="8229600" cy="201168"/>
          </a:xfrm>
          <a:prstGeom prst="rect">
            <a:avLst/>
          </a:prstGeom>
          <a:noFill/>
        </p:spPr>
        <p:txBody>
          <a:bodyPr wrap="square" lIns="0" rIns="0" t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rIns="0" t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rIns="0" t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640080"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4343400"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8046719"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640080"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rIns="0" tIns="0" bIns="0" anchor="ctr">
            <a:spAutoFit/>
          </a:bodyPr>
          <a:lstStyle/>
          <a:p>
            <a:r>
              <a:rPr sz="750" b="0" i="0">
                <a:solidFill>
                  <a:srgbClr val="595959"/>
                </a:solidFill>
                <a:latin typeface="Trenda IG Text"/>
              </a:rPr>
              <a:t>Measured figures: Agentifying Ascension Ways of Working. Planned figure: business outcomes, later in this deck.</a:t>
            </a:r>
          </a:p>
        </p:txBody>
      </p:sp>
      <p:pic>
        <p:nvPicPr>
          <p:cNvPr id="28" name="Picture 27" descr="ig-mark-white.png"/>
          <p:cNvPicPr>
            <a:picLocks noChangeAspect="1"/>
          </p:cNvPicPr>
          <p:nvPr/>
        </p:nvPicPr>
        <p:blipFill>
          <a:blip r:embed="rId2"/>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 4"/>
          <p:cNvSpPr txBox="1"/>
          <p:nvPr/>
        </p:nvSpPr>
        <p:spPr>
          <a:xfrm>
            <a:off x="246888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416052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585216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640080" y="1737360"/>
            <a:ext cx="1188720" cy="457200"/>
          </a:xfrm>
          <a:prstGeom prst="rect">
            <a:avLst/>
          </a:prstGeom>
          <a:noFill/>
        </p:spPr>
        <p:txBody>
          <a:bodyPr wrap="square" lIns="0" rIns="0" t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rIns="0" t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rIns="0" t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rIns="0" t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rIns="0" t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rIns="0" t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rIns="0" t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rIns="0" t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03120" y="1746504"/>
            <a:ext cx="1371600" cy="219456"/>
          </a:xfrm>
          <a:prstGeom prst="rect">
            <a:avLst/>
          </a:prstGeom>
          <a:noFill/>
        </p:spPr>
        <p:txBody>
          <a:bodyPr wrap="square" lIns="0" rIns="0" t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rIns="0" t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2103120" y="2587752"/>
            <a:ext cx="1371600" cy="219456"/>
          </a:xfrm>
          <a:prstGeom prst="rect">
            <a:avLst/>
          </a:prstGeom>
          <a:noFill/>
        </p:spPr>
        <p:txBody>
          <a:bodyPr wrap="square" lIns="0" rIns="0" t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rIns="0" t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2103120" y="3429000"/>
            <a:ext cx="1371600" cy="219456"/>
          </a:xfrm>
          <a:prstGeom prst="rect">
            <a:avLst/>
          </a:prstGeom>
          <a:noFill/>
        </p:spPr>
        <p:txBody>
          <a:bodyPr wrap="square" lIns="0" rIns="0" t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rIns="0" t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rIns="0" t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3593592"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489704"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85816"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3593592"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4489704"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5385816"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464808" y="1737360"/>
            <a:ext cx="2011680" cy="237744"/>
          </a:xfrm>
          <a:prstGeom prst="rect">
            <a:avLst/>
          </a:prstGeom>
          <a:noFill/>
        </p:spPr>
        <p:txBody>
          <a:bodyPr wrap="square" lIns="0" rIns="0" t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rIns="0" t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rIns="0" t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rIns="0" t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rIns="0" t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rIns="0" t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rIns="0" t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rIns="0" t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rIns="0" t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777240" y="5230368"/>
            <a:ext cx="2011680" cy="164592"/>
          </a:xfrm>
          <a:prstGeom prst="rect">
            <a:avLst/>
          </a:prstGeom>
          <a:noFill/>
        </p:spPr>
        <p:txBody>
          <a:bodyPr wrap="square" lIns="0" rIns="0" t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rIns="0" t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rIns="0" t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144000" y="1938528"/>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rIns="0" t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rIns="0" t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rIns="0" t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144000" y="301752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rIns="0" t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rIns="0" t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rIns="0" t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144000" y="4096511"/>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rIns="0" t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rIns="0" t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rIns="0" t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rIns="0" t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2"/>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3949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241554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52526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52526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52526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245211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2816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443788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443788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443788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436473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624078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35050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635050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635050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627735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8153399"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826312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826312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826312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818997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1006602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1017574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1017574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1017574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1010259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rIns="0" t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rIns="0" t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rIns="0" t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rIns="0" t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457200" y="3886200"/>
            <a:ext cx="2697479" cy="344859"/>
          </a:xfrm>
          <a:prstGeom prst="rect">
            <a:avLst/>
          </a:prstGeom>
          <a:noFill/>
        </p:spPr>
        <p:txBody>
          <a:bodyPr wrap="square" lIns="0" rIns="0" t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rIns="0" t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rIns="0" t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rIns="0" t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457200" y="4575918"/>
            <a:ext cx="2697479" cy="344859"/>
          </a:xfrm>
          <a:prstGeom prst="rect">
            <a:avLst/>
          </a:prstGeom>
          <a:noFill/>
        </p:spPr>
        <p:txBody>
          <a:bodyPr wrap="square" lIns="0" rIns="0" t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rIns="0" t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rIns="0" t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rIns="0" t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57200" y="5265637"/>
            <a:ext cx="2697479" cy="344859"/>
          </a:xfrm>
          <a:prstGeom prst="rect">
            <a:avLst/>
          </a:prstGeom>
          <a:noFill/>
        </p:spPr>
        <p:txBody>
          <a:bodyPr wrap="square" lIns="0" rIns="0" t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rIns="0" t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rIns="0" t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rIns="0" t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457200" y="5955356"/>
            <a:ext cx="2697479" cy="344859"/>
          </a:xfrm>
          <a:prstGeom prst="rect">
            <a:avLst/>
          </a:prstGeom>
          <a:noFill/>
        </p:spPr>
        <p:txBody>
          <a:bodyPr wrap="square" lIns="0" rIns="0" t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rIns="0" t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8046720" y="3547872"/>
            <a:ext cx="3593592" cy="182880"/>
          </a:xfrm>
          <a:prstGeom prst="rect">
            <a:avLst/>
          </a:prstGeom>
          <a:noFill/>
        </p:spPr>
        <p:txBody>
          <a:bodyPr wrap="square" lIns="0" rIns="0" t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65592" y="3803904"/>
            <a:ext cx="3483864" cy="310896"/>
          </a:xfrm>
          <a:prstGeom prst="rect">
            <a:avLst/>
          </a:prstGeom>
          <a:noFill/>
        </p:spPr>
        <p:txBody>
          <a:bodyPr wrap="square" lIns="0" rIns="0" t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8"/>
          <p:cNvSpPr txBox="1"/>
          <p:nvPr/>
        </p:nvSpPr>
        <p:spPr>
          <a:xfrm>
            <a:off x="8165592" y="4133088"/>
            <a:ext cx="3483864" cy="310896"/>
          </a:xfrm>
          <a:prstGeom prst="rect">
            <a:avLst/>
          </a:prstGeom>
          <a:noFill/>
        </p:spPr>
        <p:txBody>
          <a:bodyPr wrap="square" lIns="0" rIns="0" t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30"/>
          <p:cNvSpPr txBox="1"/>
          <p:nvPr/>
        </p:nvSpPr>
        <p:spPr>
          <a:xfrm>
            <a:off x="8165592" y="4462272"/>
            <a:ext cx="3483864" cy="310896"/>
          </a:xfrm>
          <a:prstGeom prst="rect">
            <a:avLst/>
          </a:prstGeom>
          <a:noFill/>
        </p:spPr>
        <p:txBody>
          <a:bodyPr wrap="square" lIns="0" rIns="0" t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8165592" y="4791456"/>
            <a:ext cx="3483864" cy="310896"/>
          </a:xfrm>
          <a:prstGeom prst="rect">
            <a:avLst/>
          </a:prstGeom>
          <a:noFill/>
        </p:spPr>
        <p:txBody>
          <a:bodyPr wrap="square" lIns="0" rIns="0" t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8165592" y="5120640"/>
            <a:ext cx="3483864" cy="310896"/>
          </a:xfrm>
          <a:prstGeom prst="rect">
            <a:avLst/>
          </a:prstGeom>
          <a:noFill/>
        </p:spPr>
        <p:txBody>
          <a:bodyPr wrap="square" lIns="0" rIns="0" t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6"/>
          <p:cNvSpPr txBox="1"/>
          <p:nvPr/>
        </p:nvSpPr>
        <p:spPr>
          <a:xfrm>
            <a:off x="8165592" y="5449824"/>
            <a:ext cx="3483864" cy="310896"/>
          </a:xfrm>
          <a:prstGeom prst="rect">
            <a:avLst/>
          </a:prstGeom>
          <a:noFill/>
        </p:spPr>
        <p:txBody>
          <a:bodyPr wrap="square" lIns="0" rIns="0" t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rIns="0" t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Two pods today: $2.59M a year. With MAD: $0.52-0.65M back every year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Today's annual spend and headcount for two Ascension pods, and the same pods at MAD steady state, using the planned figures on the business outcomes slide.</a:t>
            </a:r>
          </a:p>
        </p:txBody>
      </p:sp>
      <p:sp>
        <p:nvSpPr>
          <p:cNvPr id="5" name="Shape 4"/>
          <p:cNvSpPr/>
          <p:nvPr/>
        </p:nvSpPr>
        <p:spPr>
          <a:xfrm>
            <a:off x="411480" y="1188720"/>
            <a:ext cx="5577840" cy="32461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94360" y="1298448"/>
            <a:ext cx="5212079" cy="274320"/>
          </a:xfrm>
          <a:prstGeom prst="rect">
            <a:avLst/>
          </a:prstGeom>
          <a:noFill/>
        </p:spPr>
        <p:txBody>
          <a:bodyPr wrap="square" lIns="0" rIns="0" tIns="0" bIns="0" anchor="ctr">
            <a:spAutoFit/>
          </a:bodyPr>
          <a:lstStyle/>
          <a:p>
            <a:r>
              <a:rPr sz="1200" b="1" i="0">
                <a:solidFill>
                  <a:srgbClr val="000000"/>
                </a:solidFill>
                <a:latin typeface="Trenda IG Text"/>
              </a:rPr>
              <a:t>VBC · Salesforce Core / Flex</a:t>
            </a:r>
          </a:p>
        </p:txBody>
      </p:sp>
      <p:sp>
        <p:nvSpPr>
          <p:cNvPr id="7" name="Text 6"/>
          <p:cNvSpPr txBox="1"/>
          <p:nvPr/>
        </p:nvSpPr>
        <p:spPr>
          <a:xfrm>
            <a:off x="594360" y="1691640"/>
            <a:ext cx="219456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8" name="Text 7"/>
          <p:cNvSpPr txBox="1"/>
          <p:nvPr/>
        </p:nvSpPr>
        <p:spPr>
          <a:xfrm>
            <a:off x="594360" y="1874519"/>
            <a:ext cx="2377440" cy="548640"/>
          </a:xfrm>
          <a:prstGeom prst="rect">
            <a:avLst/>
          </a:prstGeom>
          <a:noFill/>
        </p:spPr>
        <p:txBody>
          <a:bodyPr wrap="square" lIns="0" rIns="0" tIns="0" bIns="0" anchor="ctr">
            <a:spAutoFit/>
          </a:bodyPr>
          <a:lstStyle/>
          <a:p>
            <a:r>
              <a:rPr sz="3000" b="0" i="0">
                <a:solidFill>
                  <a:srgbClr val="595959"/>
                </a:solidFill>
                <a:latin typeface="Trenda IG Text Light"/>
              </a:rPr>
              <a:t>$2.47M</a:t>
            </a:r>
          </a:p>
        </p:txBody>
      </p:sp>
      <p:sp>
        <p:nvSpPr>
          <p:cNvPr id="9" name="Text 8"/>
          <p:cNvSpPr txBox="1"/>
          <p:nvPr/>
        </p:nvSpPr>
        <p:spPr>
          <a:xfrm>
            <a:off x="594360" y="2450591"/>
            <a:ext cx="2377440" cy="219456"/>
          </a:xfrm>
          <a:prstGeom prst="rect">
            <a:avLst/>
          </a:prstGeom>
          <a:noFill/>
        </p:spPr>
        <p:txBody>
          <a:bodyPr wrap="square" lIns="0" rIns="0" tIns="0" bIns="0" anchor="t">
            <a:spAutoFit/>
          </a:bodyPr>
          <a:lstStyle/>
          <a:p>
            <a:r>
              <a:rPr sz="900" b="0" i="0">
                <a:solidFill>
                  <a:srgbClr val="595959"/>
                </a:solidFill>
                <a:latin typeface="Trenda IG Text"/>
              </a:rPr>
              <a:t>14 people · per year</a:t>
            </a:r>
          </a:p>
        </p:txBody>
      </p:sp>
      <p:cxnSp>
        <p:nvCxnSpPr>
          <p:cNvPr id="10" name="Arrow 9"/>
          <p:cNvCxnSpPr/>
          <p:nvPr/>
        </p:nvCxnSpPr>
        <p:spPr>
          <a:xfrm>
            <a:off x="2926080" y="2148840"/>
            <a:ext cx="36576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 10"/>
          <p:cNvSpPr txBox="1"/>
          <p:nvPr/>
        </p:nvSpPr>
        <p:spPr>
          <a:xfrm>
            <a:off x="3429000" y="1691640"/>
            <a:ext cx="2377440" cy="128016"/>
          </a:xfrm>
          <a:prstGeom prst="rect">
            <a:avLst/>
          </a:prstGeom>
          <a:noFill/>
        </p:spPr>
        <p:txBody>
          <a:bodyPr wrap="square" lIns="0" rIns="0" tIns="0" bIns="0" anchor="ctr">
            <a:spAutoFit/>
          </a:bodyPr>
          <a:lstStyle/>
          <a:p>
            <a:r>
              <a:rPr sz="650" b="1" i="0" spc="150">
                <a:solidFill>
                  <a:srgbClr val="000000"/>
                </a:solidFill>
                <a:latin typeface="Trenda IG Text"/>
              </a:rPr>
              <a:t>WITH MAD, STEADY STATE</a:t>
            </a:r>
          </a:p>
        </p:txBody>
      </p:sp>
      <p:sp>
        <p:nvSpPr>
          <p:cNvPr id="12" name="Text 11"/>
          <p:cNvSpPr txBox="1"/>
          <p:nvPr/>
        </p:nvSpPr>
        <p:spPr>
          <a:xfrm>
            <a:off x="3429000" y="1874519"/>
            <a:ext cx="2514600" cy="548640"/>
          </a:xfrm>
          <a:prstGeom prst="rect">
            <a:avLst/>
          </a:prstGeom>
          <a:noFill/>
        </p:spPr>
        <p:txBody>
          <a:bodyPr wrap="square" lIns="0" rIns="0" tIns="0" bIns="0" anchor="ctr">
            <a:spAutoFit/>
          </a:bodyPr>
          <a:lstStyle/>
          <a:p>
            <a:r>
              <a:rPr sz="2600" b="0" i="0">
                <a:solidFill>
                  <a:srgbClr val="000000"/>
                </a:solidFill>
                <a:latin typeface="Trenda IG Text Light"/>
              </a:rPr>
              <a:t>$1.85-1.98M</a:t>
            </a:r>
          </a:p>
        </p:txBody>
      </p:sp>
      <p:sp>
        <p:nvSpPr>
          <p:cNvPr id="13" name="Text 12"/>
          <p:cNvSpPr txBox="1"/>
          <p:nvPr/>
        </p:nvSpPr>
        <p:spPr>
          <a:xfrm>
            <a:off x="3429000" y="2450591"/>
            <a:ext cx="2377440" cy="219456"/>
          </a:xfrm>
          <a:prstGeom prst="rect">
            <a:avLst/>
          </a:prstGeom>
          <a:noFill/>
        </p:spPr>
        <p:txBody>
          <a:bodyPr wrap="square" lIns="0" rIns="0" tIns="0" bIns="0" anchor="t">
            <a:spAutoFit/>
          </a:bodyPr>
          <a:lstStyle/>
          <a:p>
            <a:r>
              <a:rPr sz="900" b="0" i="0">
                <a:solidFill>
                  <a:srgbClr val="595959"/>
                </a:solidFill>
                <a:latin typeface="Trenda IG Text"/>
              </a:rPr>
              <a:t>10-11 people · per year</a:t>
            </a:r>
          </a:p>
        </p:txBody>
      </p:sp>
      <p:sp>
        <p:nvSpPr>
          <p:cNvPr id="14" name="Differentiator Border 14"/>
          <p:cNvSpPr/>
          <p:nvPr/>
        </p:nvSpPr>
        <p:spPr>
          <a:xfrm>
            <a:off x="594360" y="2816352"/>
            <a:ext cx="5212079" cy="7315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5"/>
          <p:cNvSpPr/>
          <p:nvPr/>
        </p:nvSpPr>
        <p:spPr>
          <a:xfrm>
            <a:off x="635508" y="2857500"/>
            <a:ext cx="5129783" cy="649224"/>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6"/>
          <p:cNvSpPr txBox="1"/>
          <p:nvPr/>
        </p:nvSpPr>
        <p:spPr>
          <a:xfrm>
            <a:off x="772668" y="2857500"/>
            <a:ext cx="1828800" cy="649224"/>
          </a:xfrm>
          <a:prstGeom prst="rect">
            <a:avLst/>
          </a:prstGeom>
          <a:noFill/>
        </p:spPr>
        <p:txBody>
          <a:bodyPr wrap="square" lIns="0" rIns="0" tIns="0" bIns="0" anchor="ctr">
            <a:spAutoFit/>
          </a:bodyPr>
          <a:lstStyle/>
          <a:p>
            <a:r>
              <a:rPr sz="700" b="1" i="0" spc="200">
                <a:solidFill>
                  <a:srgbClr val="000000"/>
                </a:solidFill>
                <a:latin typeface="Trenda IG Text"/>
              </a:rPr>
              <a:t>SAVES EVERY YEAR</a:t>
            </a:r>
          </a:p>
        </p:txBody>
      </p:sp>
      <p:sp>
        <p:nvSpPr>
          <p:cNvPr id="17" name="Text 17"/>
          <p:cNvSpPr txBox="1"/>
          <p:nvPr/>
        </p:nvSpPr>
        <p:spPr>
          <a:xfrm>
            <a:off x="2464308" y="2857500"/>
            <a:ext cx="3163823" cy="649224"/>
          </a:xfrm>
          <a:prstGeom prst="rect">
            <a:avLst/>
          </a:prstGeom>
          <a:noFill/>
        </p:spPr>
        <p:txBody>
          <a:bodyPr wrap="square" lIns="0" rIns="0" tIns="0" bIns="0" anchor="ctr">
            <a:spAutoFit/>
          </a:bodyPr>
          <a:lstStyle/>
          <a:p>
            <a:pPr algn="r"/>
            <a:r>
              <a:rPr sz="2600" b="1" i="0">
                <a:solidFill>
                  <a:srgbClr val="000000"/>
                </a:solidFill>
                <a:latin typeface="Trenda IG Text"/>
              </a:rPr>
              <a:t>$0.49-0.62M</a:t>
            </a:r>
          </a:p>
        </p:txBody>
      </p:sp>
      <p:sp>
        <p:nvSpPr>
          <p:cNvPr id="18" name="Text 18"/>
          <p:cNvSpPr txBox="1"/>
          <p:nvPr/>
        </p:nvSpPr>
        <p:spPr>
          <a:xfrm>
            <a:off x="594360" y="3675888"/>
            <a:ext cx="5212079" cy="640080"/>
          </a:xfrm>
          <a:prstGeom prst="rect">
            <a:avLst/>
          </a:prstGeom>
          <a:noFill/>
        </p:spPr>
        <p:txBody>
          <a:bodyPr wrap="square" lIns="0" rIns="0" tIns="0" bIns="0" anchor="t">
            <a:spAutoFit/>
          </a:bodyPr>
          <a:lstStyle/>
          <a:p>
            <a:pPr>
              <a:spcAft>
                <a:spcPts val="400"/>
              </a:spcAft>
            </a:pPr>
            <a:r>
              <a:rPr sz="850" b="0" i="0">
                <a:solidFill>
                  <a:srgbClr val="000000"/>
                </a:solidFill>
                <a:latin typeface="Trenda IG Text"/>
              </a:rPr>
              <a:t>Or keep all 14 people and deliver 1.4-1.6x the work: </a:t>
            </a:r>
            <a:r>
              <a:rPr sz="850" b="1" i="0">
                <a:solidFill>
                  <a:srgbClr val="000000"/>
                </a:solidFill>
                <a:latin typeface="Trenda IG Text"/>
              </a:rPr>
              <a:t>$0.99-1.48M of extra delivery a year.</a:t>
            </a:r>
          </a:p>
          <a:p>
            <a:pPr>
              <a:spcAft>
                <a:spcPts val="400"/>
              </a:spcAft>
            </a:pPr>
            <a:r>
              <a:rPr sz="850" b="0" i="0">
                <a:solidFill>
                  <a:srgbClr val="595959"/>
                </a:solidFill>
                <a:latin typeface="Trenda IG Text"/>
              </a:rPr>
              <a:t>Year 1 realises 60-70% of this while the pod is onboarded: $296-432K.</a:t>
            </a:r>
          </a:p>
        </p:txBody>
      </p:sp>
      <p:sp>
        <p:nvSpPr>
          <p:cNvPr id="19" name="Shape 19"/>
          <p:cNvSpPr/>
          <p:nvPr/>
        </p:nvSpPr>
        <p:spPr>
          <a:xfrm>
            <a:off x="6199632" y="1188720"/>
            <a:ext cx="5577840" cy="32461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6382512" y="1298448"/>
            <a:ext cx="5212079" cy="274320"/>
          </a:xfrm>
          <a:prstGeom prst="rect">
            <a:avLst/>
          </a:prstGeom>
          <a:noFill/>
        </p:spPr>
        <p:txBody>
          <a:bodyPr wrap="square" lIns="0" rIns="0" tIns="0" bIns="0" anchor="ctr">
            <a:spAutoFit/>
          </a:bodyPr>
          <a:lstStyle/>
          <a:p>
            <a:r>
              <a:rPr sz="1200" b="1" i="0">
                <a:solidFill>
                  <a:srgbClr val="000000"/>
                </a:solidFill>
                <a:latin typeface="Trenda IG Text"/>
              </a:rPr>
              <a:t>Network Services</a:t>
            </a:r>
          </a:p>
        </p:txBody>
      </p:sp>
      <p:sp>
        <p:nvSpPr>
          <p:cNvPr id="21" name="Text 21"/>
          <p:cNvSpPr txBox="1"/>
          <p:nvPr/>
        </p:nvSpPr>
        <p:spPr>
          <a:xfrm>
            <a:off x="6382512" y="1691640"/>
            <a:ext cx="219456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22" name="Text 22"/>
          <p:cNvSpPr txBox="1"/>
          <p:nvPr/>
        </p:nvSpPr>
        <p:spPr>
          <a:xfrm>
            <a:off x="6382512" y="1874519"/>
            <a:ext cx="2377440" cy="548640"/>
          </a:xfrm>
          <a:prstGeom prst="rect">
            <a:avLst/>
          </a:prstGeom>
          <a:noFill/>
        </p:spPr>
        <p:txBody>
          <a:bodyPr wrap="square" lIns="0" rIns="0" tIns="0" bIns="0" anchor="ctr">
            <a:spAutoFit/>
          </a:bodyPr>
          <a:lstStyle/>
          <a:p>
            <a:r>
              <a:rPr sz="3000" b="0" i="0">
                <a:solidFill>
                  <a:srgbClr val="595959"/>
                </a:solidFill>
                <a:latin typeface="Trenda IG Text Light"/>
              </a:rPr>
              <a:t>$117K</a:t>
            </a:r>
          </a:p>
        </p:txBody>
      </p:sp>
      <p:sp>
        <p:nvSpPr>
          <p:cNvPr id="23" name="Text 23"/>
          <p:cNvSpPr txBox="1"/>
          <p:nvPr/>
        </p:nvSpPr>
        <p:spPr>
          <a:xfrm>
            <a:off x="6382512" y="2450591"/>
            <a:ext cx="2377440" cy="219456"/>
          </a:xfrm>
          <a:prstGeom prst="rect">
            <a:avLst/>
          </a:prstGeom>
          <a:noFill/>
        </p:spPr>
        <p:txBody>
          <a:bodyPr wrap="square" lIns="0" rIns="0" tIns="0" bIns="0" anchor="t">
            <a:spAutoFit/>
          </a:bodyPr>
          <a:lstStyle/>
          <a:p>
            <a:r>
              <a:rPr sz="900" b="0" i="0">
                <a:solidFill>
                  <a:srgbClr val="595959"/>
                </a:solidFill>
                <a:latin typeface="Trenda IG Text"/>
              </a:rPr>
              <a:t>4 people · per year</a:t>
            </a:r>
          </a:p>
        </p:txBody>
      </p:sp>
      <p:cxnSp>
        <p:nvCxnSpPr>
          <p:cNvPr id="24" name="Arrow 24"/>
          <p:cNvCxnSpPr/>
          <p:nvPr/>
        </p:nvCxnSpPr>
        <p:spPr>
          <a:xfrm>
            <a:off x="8714232" y="2148840"/>
            <a:ext cx="36576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 25"/>
          <p:cNvSpPr txBox="1"/>
          <p:nvPr/>
        </p:nvSpPr>
        <p:spPr>
          <a:xfrm>
            <a:off x="9217152" y="1691640"/>
            <a:ext cx="2377440" cy="128016"/>
          </a:xfrm>
          <a:prstGeom prst="rect">
            <a:avLst/>
          </a:prstGeom>
          <a:noFill/>
        </p:spPr>
        <p:txBody>
          <a:bodyPr wrap="square" lIns="0" rIns="0" tIns="0" bIns="0" anchor="ctr">
            <a:spAutoFit/>
          </a:bodyPr>
          <a:lstStyle/>
          <a:p>
            <a:r>
              <a:rPr sz="650" b="1" i="0" spc="150">
                <a:solidFill>
                  <a:srgbClr val="000000"/>
                </a:solidFill>
                <a:latin typeface="Trenda IG Text"/>
              </a:rPr>
              <a:t>WITH MAD, STEADY STATE</a:t>
            </a:r>
          </a:p>
        </p:txBody>
      </p:sp>
      <p:sp>
        <p:nvSpPr>
          <p:cNvPr id="26" name="Text 26"/>
          <p:cNvSpPr txBox="1"/>
          <p:nvPr/>
        </p:nvSpPr>
        <p:spPr>
          <a:xfrm>
            <a:off x="9217152" y="1874519"/>
            <a:ext cx="2514600" cy="548640"/>
          </a:xfrm>
          <a:prstGeom prst="rect">
            <a:avLst/>
          </a:prstGeom>
          <a:noFill/>
        </p:spPr>
        <p:txBody>
          <a:bodyPr wrap="square" lIns="0" rIns="0" tIns="0" bIns="0" anchor="ctr">
            <a:spAutoFit/>
          </a:bodyPr>
          <a:lstStyle/>
          <a:p>
            <a:r>
              <a:rPr sz="2600" b="0" i="0">
                <a:solidFill>
                  <a:srgbClr val="000000"/>
                </a:solidFill>
                <a:latin typeface="Trenda IG Text Light"/>
              </a:rPr>
              <a:t>$88-94K</a:t>
            </a:r>
          </a:p>
        </p:txBody>
      </p:sp>
      <p:sp>
        <p:nvSpPr>
          <p:cNvPr id="27" name="Text 27"/>
          <p:cNvSpPr txBox="1"/>
          <p:nvPr/>
        </p:nvSpPr>
        <p:spPr>
          <a:xfrm>
            <a:off x="9217152" y="2450591"/>
            <a:ext cx="2377440" cy="219456"/>
          </a:xfrm>
          <a:prstGeom prst="rect">
            <a:avLst/>
          </a:prstGeom>
          <a:noFill/>
        </p:spPr>
        <p:txBody>
          <a:bodyPr wrap="square" lIns="0" rIns="0" tIns="0" bIns="0" anchor="t">
            <a:spAutoFit/>
          </a:bodyPr>
          <a:lstStyle/>
          <a:p>
            <a:r>
              <a:rPr sz="900" b="0" i="0">
                <a:solidFill>
                  <a:srgbClr val="595959"/>
                </a:solidFill>
                <a:latin typeface="Trenda IG Text"/>
              </a:rPr>
              <a:t>3 people · per year</a:t>
            </a:r>
          </a:p>
        </p:txBody>
      </p:sp>
      <p:sp>
        <p:nvSpPr>
          <p:cNvPr id="28" name="Differentiator Border 29"/>
          <p:cNvSpPr/>
          <p:nvPr/>
        </p:nvSpPr>
        <p:spPr>
          <a:xfrm>
            <a:off x="6382512" y="2816352"/>
            <a:ext cx="5212079" cy="7315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30"/>
          <p:cNvSpPr/>
          <p:nvPr/>
        </p:nvSpPr>
        <p:spPr>
          <a:xfrm>
            <a:off x="6423660" y="2857500"/>
            <a:ext cx="5129783" cy="649224"/>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31"/>
          <p:cNvSpPr txBox="1"/>
          <p:nvPr/>
        </p:nvSpPr>
        <p:spPr>
          <a:xfrm>
            <a:off x="6560820" y="2857500"/>
            <a:ext cx="1828800" cy="649224"/>
          </a:xfrm>
          <a:prstGeom prst="rect">
            <a:avLst/>
          </a:prstGeom>
          <a:noFill/>
        </p:spPr>
        <p:txBody>
          <a:bodyPr wrap="square" lIns="0" rIns="0" tIns="0" bIns="0" anchor="ctr">
            <a:spAutoFit/>
          </a:bodyPr>
          <a:lstStyle/>
          <a:p>
            <a:r>
              <a:rPr sz="700" b="1" i="0" spc="200">
                <a:solidFill>
                  <a:srgbClr val="000000"/>
                </a:solidFill>
                <a:latin typeface="Trenda IG Text"/>
              </a:rPr>
              <a:t>SAVES EVERY YEAR</a:t>
            </a:r>
          </a:p>
        </p:txBody>
      </p:sp>
      <p:sp>
        <p:nvSpPr>
          <p:cNvPr id="31" name="Text 32"/>
          <p:cNvSpPr txBox="1"/>
          <p:nvPr/>
        </p:nvSpPr>
        <p:spPr>
          <a:xfrm>
            <a:off x="8252460" y="2857500"/>
            <a:ext cx="3163823" cy="649224"/>
          </a:xfrm>
          <a:prstGeom prst="rect">
            <a:avLst/>
          </a:prstGeom>
          <a:noFill/>
        </p:spPr>
        <p:txBody>
          <a:bodyPr wrap="square" lIns="0" rIns="0" tIns="0" bIns="0" anchor="ctr">
            <a:spAutoFit/>
          </a:bodyPr>
          <a:lstStyle/>
          <a:p>
            <a:pPr algn="r"/>
            <a:r>
              <a:rPr sz="2600" b="1" i="0">
                <a:solidFill>
                  <a:srgbClr val="000000"/>
                </a:solidFill>
                <a:latin typeface="Trenda IG Text"/>
              </a:rPr>
              <a:t>$23-29K</a:t>
            </a:r>
          </a:p>
        </p:txBody>
      </p:sp>
      <p:sp>
        <p:nvSpPr>
          <p:cNvPr id="32" name="Text 33"/>
          <p:cNvSpPr txBox="1"/>
          <p:nvPr/>
        </p:nvSpPr>
        <p:spPr>
          <a:xfrm>
            <a:off x="6382512" y="3675888"/>
            <a:ext cx="5212079" cy="640080"/>
          </a:xfrm>
          <a:prstGeom prst="rect">
            <a:avLst/>
          </a:prstGeom>
          <a:noFill/>
        </p:spPr>
        <p:txBody>
          <a:bodyPr wrap="square" lIns="0" rIns="0" tIns="0" bIns="0" anchor="t">
            <a:spAutoFit/>
          </a:bodyPr>
          <a:lstStyle/>
          <a:p>
            <a:pPr>
              <a:spcAft>
                <a:spcPts val="400"/>
              </a:spcAft>
            </a:pPr>
            <a:r>
              <a:rPr sz="850" b="0" i="0">
                <a:solidFill>
                  <a:srgbClr val="000000"/>
                </a:solidFill>
                <a:latin typeface="Trenda IG Text"/>
              </a:rPr>
              <a:t>Or keep all 4 people and deliver 1.4-1.6x the work: </a:t>
            </a:r>
            <a:r>
              <a:rPr sz="850" b="1" i="0">
                <a:solidFill>
                  <a:srgbClr val="000000"/>
                </a:solidFill>
                <a:latin typeface="Trenda IG Text"/>
              </a:rPr>
              <a:t>$47-70K of extra delivery a year.</a:t>
            </a:r>
          </a:p>
          <a:p>
            <a:pPr>
              <a:spcAft>
                <a:spcPts val="400"/>
              </a:spcAft>
            </a:pPr>
            <a:r>
              <a:rPr sz="850" b="0" i="0">
                <a:solidFill>
                  <a:srgbClr val="595959"/>
                </a:solidFill>
                <a:latin typeface="Trenda IG Text"/>
              </a:rPr>
              <a:t>Year 1 realises 60-70% of this while the pod is onboarded: $14-20K.</a:t>
            </a:r>
          </a:p>
        </p:txBody>
      </p:sp>
      <p:sp>
        <p:nvSpPr>
          <p:cNvPr id="33" name="Shape 34"/>
          <p:cNvSpPr/>
          <p:nvPr/>
        </p:nvSpPr>
        <p:spPr>
          <a:xfrm>
            <a:off x="411480" y="4617720"/>
            <a:ext cx="11365992" cy="11430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5"/>
          <p:cNvSpPr txBox="1"/>
          <p:nvPr/>
        </p:nvSpPr>
        <p:spPr>
          <a:xfrm>
            <a:off x="640080" y="4727448"/>
            <a:ext cx="2743200" cy="201168"/>
          </a:xfrm>
          <a:prstGeom prst="rect">
            <a:avLst/>
          </a:prstGeom>
          <a:noFill/>
        </p:spPr>
        <p:txBody>
          <a:bodyPr wrap="square" lIns="0" rIns="0" tIns="0" bIns="0" anchor="t">
            <a:spAutoFit/>
          </a:bodyPr>
          <a:lstStyle/>
          <a:p>
            <a:r>
              <a:rPr sz="750" b="1" i="0" spc="200">
                <a:solidFill>
                  <a:srgbClr val="FFD700"/>
                </a:solidFill>
                <a:latin typeface="Trenda IG Text"/>
              </a:rPr>
              <a:t>BOTH PODS TOGETHER</a:t>
            </a:r>
          </a:p>
        </p:txBody>
      </p:sp>
      <p:sp>
        <p:nvSpPr>
          <p:cNvPr id="35" name="Text 36"/>
          <p:cNvSpPr txBox="1"/>
          <p:nvPr/>
        </p:nvSpPr>
        <p:spPr>
          <a:xfrm>
            <a:off x="640080" y="4965192"/>
            <a:ext cx="2567178" cy="182880"/>
          </a:xfrm>
          <a:prstGeom prst="rect">
            <a:avLst/>
          </a:prstGeom>
          <a:noFill/>
        </p:spPr>
        <p:txBody>
          <a:bodyPr wrap="square" lIns="0" rIns="0" tIns="0" bIns="0" anchor="t">
            <a:spAutoFit/>
          </a:bodyPr>
          <a:lstStyle/>
          <a:p>
            <a:r>
              <a:rPr sz="800" b="0" i="0">
                <a:solidFill>
                  <a:srgbClr val="BFBFBF"/>
                </a:solidFill>
                <a:latin typeface="Trenda IG Text"/>
              </a:rPr>
              <a:t>Today</a:t>
            </a:r>
          </a:p>
        </p:txBody>
      </p:sp>
      <p:sp>
        <p:nvSpPr>
          <p:cNvPr id="36" name="Text 37"/>
          <p:cNvSpPr txBox="1"/>
          <p:nvPr/>
        </p:nvSpPr>
        <p:spPr>
          <a:xfrm>
            <a:off x="640080" y="5148072"/>
            <a:ext cx="2567178" cy="384048"/>
          </a:xfrm>
          <a:prstGeom prst="rect">
            <a:avLst/>
          </a:prstGeom>
          <a:noFill/>
        </p:spPr>
        <p:txBody>
          <a:bodyPr wrap="square" lIns="0" rIns="0" tIns="0" bIns="0" anchor="ctr">
            <a:spAutoFit/>
          </a:bodyPr>
          <a:lstStyle/>
          <a:p>
            <a:r>
              <a:rPr sz="2000" b="0" i="0">
                <a:solidFill>
                  <a:srgbClr val="FFFFFF"/>
                </a:solidFill>
                <a:latin typeface="Trenda IG Text Light"/>
              </a:rPr>
              <a:t>$2.59M</a:t>
            </a:r>
          </a:p>
        </p:txBody>
      </p:sp>
      <p:sp>
        <p:nvSpPr>
          <p:cNvPr id="37" name="Text 38"/>
          <p:cNvSpPr txBox="1"/>
          <p:nvPr/>
        </p:nvSpPr>
        <p:spPr>
          <a:xfrm>
            <a:off x="640080" y="5513831"/>
            <a:ext cx="2567178" cy="182880"/>
          </a:xfrm>
          <a:prstGeom prst="rect">
            <a:avLst/>
          </a:prstGeom>
          <a:noFill/>
        </p:spPr>
        <p:txBody>
          <a:bodyPr wrap="square" lIns="0" rIns="0" tIns="0" bIns="0" anchor="t">
            <a:spAutoFit/>
          </a:bodyPr>
          <a:lstStyle/>
          <a:p>
            <a:r>
              <a:rPr sz="750" b="0" i="0">
                <a:solidFill>
                  <a:srgbClr val="BFBFBF"/>
                </a:solidFill>
                <a:latin typeface="Trenda IG Text"/>
              </a:rPr>
              <a:t>18 people</a:t>
            </a:r>
          </a:p>
        </p:txBody>
      </p:sp>
      <p:sp>
        <p:nvSpPr>
          <p:cNvPr id="38" name="Text 39"/>
          <p:cNvSpPr txBox="1"/>
          <p:nvPr/>
        </p:nvSpPr>
        <p:spPr>
          <a:xfrm>
            <a:off x="3481578" y="4965192"/>
            <a:ext cx="2567178" cy="182880"/>
          </a:xfrm>
          <a:prstGeom prst="rect">
            <a:avLst/>
          </a:prstGeom>
          <a:noFill/>
        </p:spPr>
        <p:txBody>
          <a:bodyPr wrap="square" lIns="0" rIns="0" tIns="0" bIns="0" anchor="t">
            <a:spAutoFit/>
          </a:bodyPr>
          <a:lstStyle/>
          <a:p>
            <a:r>
              <a:rPr sz="800" b="0" i="0">
                <a:solidFill>
                  <a:srgbClr val="BFBFBF"/>
                </a:solidFill>
                <a:latin typeface="Trenda IG Text"/>
              </a:rPr>
              <a:t>With MAD</a:t>
            </a:r>
          </a:p>
        </p:txBody>
      </p:sp>
      <p:sp>
        <p:nvSpPr>
          <p:cNvPr id="39" name="Text 40"/>
          <p:cNvSpPr txBox="1"/>
          <p:nvPr/>
        </p:nvSpPr>
        <p:spPr>
          <a:xfrm>
            <a:off x="3481578" y="5148072"/>
            <a:ext cx="2567178" cy="384048"/>
          </a:xfrm>
          <a:prstGeom prst="rect">
            <a:avLst/>
          </a:prstGeom>
          <a:noFill/>
        </p:spPr>
        <p:txBody>
          <a:bodyPr wrap="square" lIns="0" rIns="0" tIns="0" bIns="0" anchor="ctr">
            <a:spAutoFit/>
          </a:bodyPr>
          <a:lstStyle/>
          <a:p>
            <a:r>
              <a:rPr sz="2000" b="0" i="0">
                <a:solidFill>
                  <a:srgbClr val="FFFFFF"/>
                </a:solidFill>
                <a:latin typeface="Trenda IG Text Light"/>
              </a:rPr>
              <a:t>$1.94-2.07M</a:t>
            </a:r>
          </a:p>
        </p:txBody>
      </p:sp>
      <p:sp>
        <p:nvSpPr>
          <p:cNvPr id="40" name="Text 41"/>
          <p:cNvSpPr txBox="1"/>
          <p:nvPr/>
        </p:nvSpPr>
        <p:spPr>
          <a:xfrm>
            <a:off x="3481578" y="5513831"/>
            <a:ext cx="2567178" cy="182880"/>
          </a:xfrm>
          <a:prstGeom prst="rect">
            <a:avLst/>
          </a:prstGeom>
          <a:noFill/>
        </p:spPr>
        <p:txBody>
          <a:bodyPr wrap="square" lIns="0" rIns="0" tIns="0" bIns="0" anchor="t">
            <a:spAutoFit/>
          </a:bodyPr>
          <a:lstStyle/>
          <a:p>
            <a:r>
              <a:rPr sz="750" b="0" i="0">
                <a:solidFill>
                  <a:srgbClr val="BFBFBF"/>
                </a:solidFill>
                <a:latin typeface="Trenda IG Text"/>
              </a:rPr>
              <a:t>13-14 people</a:t>
            </a:r>
          </a:p>
        </p:txBody>
      </p:sp>
      <p:sp>
        <p:nvSpPr>
          <p:cNvPr id="41" name="Text 42"/>
          <p:cNvSpPr txBox="1"/>
          <p:nvPr/>
        </p:nvSpPr>
        <p:spPr>
          <a:xfrm>
            <a:off x="6323076" y="4965192"/>
            <a:ext cx="2567178" cy="182880"/>
          </a:xfrm>
          <a:prstGeom prst="rect">
            <a:avLst/>
          </a:prstGeom>
          <a:noFill/>
        </p:spPr>
        <p:txBody>
          <a:bodyPr wrap="square" lIns="0" rIns="0" tIns="0" bIns="0" anchor="t">
            <a:spAutoFit/>
          </a:bodyPr>
          <a:lstStyle/>
          <a:p>
            <a:r>
              <a:rPr sz="800" b="0" i="0">
                <a:solidFill>
                  <a:srgbClr val="BFBFBF"/>
                </a:solidFill>
                <a:latin typeface="Trenda IG Text"/>
              </a:rPr>
              <a:t>Saved every year</a:t>
            </a:r>
          </a:p>
        </p:txBody>
      </p:sp>
      <p:sp>
        <p:nvSpPr>
          <p:cNvPr id="42" name="Text 43"/>
          <p:cNvSpPr txBox="1"/>
          <p:nvPr/>
        </p:nvSpPr>
        <p:spPr>
          <a:xfrm>
            <a:off x="6323076" y="5148072"/>
            <a:ext cx="2567178" cy="384048"/>
          </a:xfrm>
          <a:prstGeom prst="rect">
            <a:avLst/>
          </a:prstGeom>
          <a:noFill/>
        </p:spPr>
        <p:txBody>
          <a:bodyPr wrap="square" lIns="0" rIns="0" tIns="0" bIns="0" anchor="ctr">
            <a:spAutoFit/>
          </a:bodyPr>
          <a:lstStyle/>
          <a:p>
            <a:r>
              <a:rPr sz="2200" b="1" i="0">
                <a:solidFill>
                  <a:srgbClr val="00D6F2"/>
                </a:solidFill>
                <a:latin typeface="Trenda IG Text"/>
              </a:rPr>
              <a:t>$0.52-0.65M</a:t>
            </a:r>
          </a:p>
        </p:txBody>
      </p:sp>
      <p:sp>
        <p:nvSpPr>
          <p:cNvPr id="43" name="Text 44"/>
          <p:cNvSpPr txBox="1"/>
          <p:nvPr/>
        </p:nvSpPr>
        <p:spPr>
          <a:xfrm>
            <a:off x="6323076" y="5513831"/>
            <a:ext cx="2567178" cy="182880"/>
          </a:xfrm>
          <a:prstGeom prst="rect">
            <a:avLst/>
          </a:prstGeom>
          <a:noFill/>
        </p:spPr>
        <p:txBody>
          <a:bodyPr wrap="square" lIns="0" rIns="0" tIns="0" bIns="0" anchor="t">
            <a:spAutoFit/>
          </a:bodyPr>
          <a:lstStyle/>
          <a:p>
            <a:r>
              <a:rPr sz="750" b="0" i="0">
                <a:solidFill>
                  <a:srgbClr val="BFBFBF"/>
                </a:solidFill>
                <a:latin typeface="Trenda IG Text"/>
              </a:rPr>
              <a:t>at steady state</a:t>
            </a:r>
          </a:p>
        </p:txBody>
      </p:sp>
      <p:sp>
        <p:nvSpPr>
          <p:cNvPr id="44" name="Text 45"/>
          <p:cNvSpPr txBox="1"/>
          <p:nvPr/>
        </p:nvSpPr>
        <p:spPr>
          <a:xfrm>
            <a:off x="9164574" y="4965192"/>
            <a:ext cx="2567178" cy="182880"/>
          </a:xfrm>
          <a:prstGeom prst="rect">
            <a:avLst/>
          </a:prstGeom>
          <a:noFill/>
        </p:spPr>
        <p:txBody>
          <a:bodyPr wrap="square" lIns="0" rIns="0" tIns="0" bIns="0" anchor="t">
            <a:spAutoFit/>
          </a:bodyPr>
          <a:lstStyle/>
          <a:p>
            <a:r>
              <a:rPr sz="800" b="0" i="0">
                <a:solidFill>
                  <a:srgbClr val="BFBFBF"/>
                </a:solidFill>
                <a:latin typeface="Trenda IG Text"/>
              </a:rPr>
              <a:t>Or extra delivery</a:t>
            </a:r>
          </a:p>
        </p:txBody>
      </p:sp>
      <p:sp>
        <p:nvSpPr>
          <p:cNvPr id="45" name="Text 46"/>
          <p:cNvSpPr txBox="1"/>
          <p:nvPr/>
        </p:nvSpPr>
        <p:spPr>
          <a:xfrm>
            <a:off x="9164574" y="5148072"/>
            <a:ext cx="2567178" cy="384048"/>
          </a:xfrm>
          <a:prstGeom prst="rect">
            <a:avLst/>
          </a:prstGeom>
          <a:noFill/>
        </p:spPr>
        <p:txBody>
          <a:bodyPr wrap="square" lIns="0" rIns="0" tIns="0" bIns="0" anchor="ctr">
            <a:spAutoFit/>
          </a:bodyPr>
          <a:lstStyle/>
          <a:p>
            <a:r>
              <a:rPr sz="2000" b="0" i="0">
                <a:solidFill>
                  <a:srgbClr val="FFFFFF"/>
                </a:solidFill>
                <a:latin typeface="Trenda IG Text Light"/>
              </a:rPr>
              <a:t>$1.03-1.55M</a:t>
            </a:r>
          </a:p>
        </p:txBody>
      </p:sp>
      <p:sp>
        <p:nvSpPr>
          <p:cNvPr id="46" name="Text 47"/>
          <p:cNvSpPr txBox="1"/>
          <p:nvPr/>
        </p:nvSpPr>
        <p:spPr>
          <a:xfrm>
            <a:off x="9164574" y="5513831"/>
            <a:ext cx="2567178" cy="182880"/>
          </a:xfrm>
          <a:prstGeom prst="rect">
            <a:avLst/>
          </a:prstGeom>
          <a:noFill/>
        </p:spPr>
        <p:txBody>
          <a:bodyPr wrap="square" lIns="0" rIns="0" tIns="0" bIns="0" anchor="t">
            <a:spAutoFit/>
          </a:bodyPr>
          <a:lstStyle/>
          <a:p>
            <a:r>
              <a:rPr sz="750" b="0" i="0">
                <a:solidFill>
                  <a:srgbClr val="BFBFBF"/>
                </a:solidFill>
                <a:latin typeface="Trenda IG Text"/>
              </a:rPr>
              <a:t>same people, a year</a:t>
            </a:r>
          </a:p>
        </p:txBody>
      </p:sp>
      <p:sp>
        <p:nvSpPr>
          <p:cNvPr id="47" name="Text 48"/>
          <p:cNvSpPr txBox="1"/>
          <p:nvPr/>
        </p:nvSpPr>
        <p:spPr>
          <a:xfrm>
            <a:off x="411480" y="5870448"/>
            <a:ext cx="11365992" cy="384048"/>
          </a:xfrm>
          <a:prstGeom prst="rect">
            <a:avLst/>
          </a:prstGeom>
          <a:noFill/>
        </p:spPr>
        <p:txBody>
          <a:bodyPr wrap="square" lIns="0" rIns="0" tIns="0" bIns="0" anchor="t">
            <a:spAutoFit/>
          </a:bodyPr>
          <a:lstStyle/>
          <a:p>
            <a:r>
              <a:rPr sz="650" b="0" i="0">
                <a:solidFill>
                  <a:srgbClr val="595959"/>
                </a:solidFill>
                <a:latin typeface="Trenda IG Text"/>
              </a:rPr>
              <a:t>Spend and headcount as provided by Ascension, per year. With MAD uses the planned 20-25% lower net run cost per pod and 20-30% smaller team for the same scope (business outcomes slide), or 1.4-1.6x output with the same team. Planning estimates; each pod's Phase 0 baseline confirms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34 people at peak across 15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33.5 FTE at peak, 497.5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Site reliability engineer</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Cloud Monitoring, Logging, Trace, alerting, runbooks, DR tests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96" name="Shape 95"/>
          <p:cNvSpPr/>
          <p:nvPr/>
        </p:nvSpPr>
        <p:spPr>
          <a:xfrm>
            <a:off x="466344" y="547268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102" name="Shape 101"/>
          <p:cNvSpPr/>
          <p:nvPr/>
        </p:nvSpPr>
        <p:spPr>
          <a:xfrm>
            <a:off x="411480" y="566928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102"/>
          <p:cNvSpPr/>
          <p:nvPr/>
        </p:nvSpPr>
        <p:spPr>
          <a:xfrm>
            <a:off x="466344" y="5774436"/>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612648" y="5669280"/>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105" name="Text 104"/>
          <p:cNvSpPr txBox="1"/>
          <p:nvPr/>
        </p:nvSpPr>
        <p:spPr>
          <a:xfrm>
            <a:off x="2606040" y="5669280"/>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106" name="Text 105"/>
          <p:cNvSpPr txBox="1"/>
          <p:nvPr/>
        </p:nvSpPr>
        <p:spPr>
          <a:xfrm>
            <a:off x="6126480" y="566928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7" name="Text 106"/>
          <p:cNvSpPr txBox="1"/>
          <p:nvPr/>
        </p:nvSpPr>
        <p:spPr>
          <a:xfrm>
            <a:off x="6629400" y="566928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8" name="Text 107"/>
          <p:cNvSpPr txBox="1"/>
          <p:nvPr/>
        </p:nvSpPr>
        <p:spPr>
          <a:xfrm>
            <a:off x="7315200" y="5669280"/>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9" name="Shape 108"/>
          <p:cNvSpPr/>
          <p:nvPr/>
        </p:nvSpPr>
        <p:spPr>
          <a:xfrm>
            <a:off x="411480" y="597103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11480" y="601675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11" name="Shape 110"/>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33.5</a:t>
            </a:r>
          </a:p>
        </p:txBody>
      </p:sp>
      <p:sp>
        <p:nvSpPr>
          <p:cNvPr id="113" name="Text 112"/>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14" name="Shape 113"/>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497.5</a:t>
            </a:r>
          </a:p>
        </p:txBody>
      </p:sp>
      <p:sp>
        <p:nvSpPr>
          <p:cNvPr id="116" name="Text 115"/>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7" name="Shape 116"/>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9" name="Text 118"/>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20" name="Text 119"/>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21" name="Chart 120"/>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22" name="Shape 120"/>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21"/>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24" name="Shape 122"/>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3"/>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26" name="Shape 124"/>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5"/>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8" name="Shape 126"/>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7"/>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30" name="Shape 128"/>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9"/>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32" name="Shape 130"/>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1"/>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34" name="Shape 132"/>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3"/>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36" name="Shape 134"/>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5"/>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$5.50M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$86K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22.5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$907K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$1.03M</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$1.25M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$1.42M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30</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$587K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$664K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33.5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$964K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$1.09M</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$930K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$1.05M</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$151K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$171K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$4.87M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497.5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76809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2" name="Text 72"/>
          <p:cNvSpPr txBox="1"/>
          <p:nvPr/>
        </p:nvSpPr>
        <p:spPr>
          <a:xfrm>
            <a:off x="8243315" y="1705356"/>
            <a:ext cx="3383280" cy="329184"/>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(13% included).</a:t>
            </a:r>
          </a:p>
        </p:txBody>
      </p:sp>
      <p:sp>
        <p:nvSpPr>
          <p:cNvPr id="73" name="Shape 73"/>
          <p:cNvSpPr/>
          <p:nvPr/>
        </p:nvSpPr>
        <p:spPr>
          <a:xfrm>
            <a:off x="10712196" y="1879091"/>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1879091"/>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212848"/>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267712"/>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2494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$4.87M</a:t>
            </a:r>
          </a:p>
        </p:txBody>
      </p:sp>
      <p:sp>
        <p:nvSpPr>
          <p:cNvPr id="78" name="Text 78"/>
          <p:cNvSpPr txBox="1"/>
          <p:nvPr/>
        </p:nvSpPr>
        <p:spPr>
          <a:xfrm>
            <a:off x="8202167" y="2505456"/>
            <a:ext cx="3465576" cy="329184"/>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Text 79"/>
          <p:cNvSpPr txBox="1"/>
          <p:nvPr/>
        </p:nvSpPr>
        <p:spPr>
          <a:xfrm>
            <a:off x="8092440" y="3017520"/>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21868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27355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25526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$61K / month</a:t>
            </a:r>
          </a:p>
        </p:txBody>
      </p:sp>
      <p:sp>
        <p:nvSpPr>
          <p:cNvPr id="83" name="Text 83"/>
          <p:cNvSpPr txBox="1"/>
          <p:nvPr/>
        </p:nvSpPr>
        <p:spPr>
          <a:xfrm>
            <a:off x="8202167" y="3511296"/>
            <a:ext cx="3465576" cy="329184"/>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6, offshore, keeps the graph, agents, Guardian rules and evaluations current, fixes failed runs and adds new sources.</a:t>
            </a:r>
          </a:p>
        </p:txBody>
      </p:sp>
      <p:sp>
        <p:nvSpPr>
          <p:cNvPr id="84" name="Shape 84"/>
          <p:cNvSpPr/>
          <p:nvPr/>
        </p:nvSpPr>
        <p:spPr>
          <a:xfrm>
            <a:off x="8183879" y="391363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3913632"/>
            <a:ext cx="3355848" cy="256032"/>
          </a:xfrm>
          <a:prstGeom prst="rect">
            <a:avLst/>
          </a:prstGeom>
          <a:noFill/>
        </p:spPr>
        <p:txBody>
          <a:bodyPr wrap="square" lIns="0" rIns="0" tIns="0" bIns="0" anchor="ctr">
            <a:spAutoFit/>
          </a:bodyPr>
          <a:lstStyle/>
          <a:p>
            <a:r>
              <a:rPr sz="700" b="0" i="0">
                <a:solidFill>
                  <a:srgbClr val="000000"/>
                </a:solidFill>
                <a:latin typeface="Trenda IG Text"/>
              </a:rPr>
              <a:t>Team $61K + platform ~$20K = </a:t>
            </a:r>
            <a:r>
              <a:rPr sz="700" b="1" i="0">
                <a:solidFill>
                  <a:srgbClr val="000000"/>
                </a:solidFill>
                <a:latin typeface="Trenda IG Text"/>
              </a:rPr>
              <a:t>about $81K a month ($0.97M a year)</a:t>
            </a:r>
          </a:p>
        </p:txBody>
      </p:sp>
      <p:sp>
        <p:nvSpPr>
          <p:cNvPr id="86" name="Shape 86"/>
          <p:cNvSpPr/>
          <p:nvPr/>
        </p:nvSpPr>
        <p:spPr>
          <a:xfrm>
            <a:off x="8092440" y="4352544"/>
            <a:ext cx="3685032"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42569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626864"/>
            <a:ext cx="3429000" cy="163677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build fee pays back in about 2.2 to 2.8 years once pods are live.</a:t>
            </a:r>
          </a:p>
          <a:p>
            <a:pPr>
              <a:spcAft>
                <a:spcPts val="600"/>
              </a:spcAft>
            </a:pPr>
            <a:r>
              <a:rPr sz="900" b="0" i="0">
                <a:solidFill>
                  <a:srgbClr val="BFBFBF"/>
                </a:solidFill>
                <a:latin typeface="Trenda IG Text"/>
              </a:rPr>
              <a:t>Example: one 14-person pod at about $2.47M a year saves $0.49-0.62M a year.</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$45-95/h, blended $61/h, 160 h per FTE-month, 497.5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