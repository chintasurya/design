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18" r:id="rId2"/>
    <p:sldId id="323" r:id="rId3"/>
    <p:sldId id="256" r:id="rId4"/>
    <p:sldId id="319" r:id="rId5"/>
    <p:sldId id="324" r:id="rId6"/>
    <p:sldId id="325" r:id="rId7"/>
    <p:sldId id="327" r:id="rId8"/>
    <p:sldId id="328" r:id="rId9"/>
    <p:sldId id="326" r:id="rId10"/>
    <p:sldId id="320" r:id="rId11"/>
    <p:sldId id="321" r:id="rId12"/>
    <p:sldId id="322" r:id="rId13"/>
    <p:sldId id="258" r:id="rId14"/>
    <p:sldId id="25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71ACB-2EF7-466F-BCE2-1ED9F814351E}" v="1" dt="2026-10-11T03:43:5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1T03:43:52.441" v="87" actId="27636"/>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1T03:43:52.441" v="87" actId="27636"/>
        <pc:sldMkLst>
          <pc:docMk/>
          <pc:sldMk cId="3603168410" sldId="318"/>
        </pc:sldMkLst>
        <pc:spChg chg="mod">
          <ac:chgData name="Surya Chinta" userId="41ee6f01-053e-4268-a09b-364f54be2fbe" providerId="ADAL" clId="{E5143D04-8900-4457-BE49-945FECC57414}" dt="2026-10-11T03:43:52.441" v="87" actId="27636"/>
          <ac:spMkLst>
            <pc:docMk/>
            <pc:sldMk cId="3603168410" sldId="318"/>
            <ac:spMk id="2" creationId="{4EA92DF6-3BED-B26E-DE34-1D5A049BE760}"/>
          </ac:spMkLst>
        </pc:spChg>
      </pc:sldChg>
      <pc:sldChg chg="modSp add mod ord setBg">
        <pc:chgData name="Surya Chinta" userId="41ee6f01-053e-4268-a09b-364f54be2fbe" providerId="ADAL" clId="{E5143D04-8900-4457-BE49-945FECC57414}" dt="2026-09-11T13:34:03.985" v="79" actId="20577"/>
        <pc:sldMkLst>
          <pc:docMk/>
          <pc:sldMk cId="0" sldId="319"/>
        </pc:sldMkLst>
        <pc:spChg chg="mod">
          <ac:chgData name="Surya Chinta" userId="41ee6f01-053e-4268-a09b-364f54be2fbe" providerId="ADAL" clId="{E5143D04-8900-4457-BE49-945FECC57414}" dt="2026-09-11T13:34:03.985" v="79" actId="20577"/>
          <ac:spMkLst>
            <pc:docMk/>
            <pc:sldMk cId="0" sldId="319"/>
            <ac:spMk id="164"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 setBg">
        <pc:chgData name="Surya Chinta" userId="41ee6f01-053e-4268-a09b-364f54be2fbe" providerId="ADAL" clId="{E5143D04-8900-4457-BE49-945FECC57414}" dt="2026-10-11T03:43:52.269" v="86"/>
        <pc:sldMkLst>
          <pc:docMk/>
          <pc:sldMk cId="0" sldId="327"/>
        </pc:sldMkLst>
      </pc:sldChg>
      <pc:sldChg chg="add setBg">
        <pc:chgData name="Surya Chinta" userId="41ee6f01-053e-4268-a09b-364f54be2fbe" providerId="ADAL" clId="{E5143D04-8900-4457-BE49-945FECC57414}" dt="2026-10-11T03:43:52.269" v="86"/>
        <pc:sldMkLst>
          <pc:docMk/>
          <pc:sldMk cId="0" sldId="3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MAD approach, one agent team for every pod   (about 3 minutes)</a:t>
            </a:r>
          </a:p>
          <a:p>
            <a:endParaRPr/>
          </a:p>
          <a:p>
            <a:r>
              <a:t>KEY MESSAGE</a:t>
            </a:r>
          </a:p>
          <a:p>
            <a:r>
              <a:t>We are not proposing a separate set of agents for every pod. MAD is one team of 7 common agents. They are built once, they read the same knowledge graph, and each pod adds only its platform skills.</a:t>
            </a:r>
          </a:p>
          <a:p>
            <a:endParaRPr/>
          </a:p>
          <a:p>
            <a:r>
              <a:t>WHERE THE AGENTS COME FROM</a:t>
            </a:r>
          </a:p>
          <a:p>
            <a:r>
              <a:t>These are not slideware. We have already built agents across UI development, backend engineering and QA:</a:t>
            </a:r>
          </a:p>
          <a:p>
            <a:r>
              <a:t>- UI: Orchestrator, Jira Agent, Figma / Confluence Agent, Architect Agent, Development Agent, Test Agent, Review Agent.</a:t>
            </a:r>
          </a:p>
          <a:p>
            <a:r>
              <a:t>- Backend: Orchestrator, Architect, Developer, Test Engineer.</a:t>
            </a:r>
          </a:p>
          <a:p>
            <a:r>
              <a:t>- QA: Spec to Zephyr test cases, Zephyr to Copado automation, Automation to Zephyr, Performance test generator.</a:t>
            </a:r>
          </a:p>
          <a:p>
            <a:r>
              <a:t>We consolidate them into 7 common agents: Orchestrator, Requirements, Architect, Developer, Review, Test and Release. Release is the one still to build; it uses the AI Release Service from the knowledge-graph design and only promotes to lower environments.</a:t>
            </a:r>
          </a:p>
          <a:p>
            <a:endParaRPr/>
          </a:p>
          <a:p>
            <a:r>
              <a:t>HOW IT WORKS</a:t>
            </a:r>
          </a:p>
          <a:p>
            <a:r>
              <a:t>- Left: the knowledge graph reads six systems of record (Jira, Confluence, Salesforce, Git, Copado, Google Drive). Agents ask the graph; they never scan the org and never invent a dependency.</a:t>
            </a:r>
          </a:p>
          <a:p>
            <a:r>
              <a:t>- Middle: each agent does one job and hands over something a person can review.</a:t>
            </a:r>
          </a:p>
          <a:p>
            <a:r>
              <a:t>- Right: what changes per pod is the skill set. Health Cloud skills (Apex, Flows, LWC, sharing), Marketing Cloud skills (Data Cloud, SFMC SQL, journeys, AMPscript), QA skills (Zephyr, Copado robotic and regression).</a:t>
            </a:r>
          </a:p>
          <a:p>
            <a:r>
              <a:t>- Bottom: the governed path is unchanged: DEV, SIT, UAT, human approval, CAB, production. AI builds; people approve at four gates: requirements, architecture, review and UAT.</a:t>
            </a:r>
          </a:p>
          <a:p>
            <a:endParaRPr/>
          </a:p>
          <a:p>
            <a:r>
              <a:t>WHY THIS MATTERS TO ASCENSION</a:t>
            </a:r>
          </a:p>
          <a:p>
            <a:r>
              <a:t>- One team to build, govern and audit, not one per pod.</a:t>
            </a:r>
          </a:p>
          <a:p>
            <a:r>
              <a:t>- A new pod joins by adding its sources to the graph and its skills, in weeks, not by building new agents.</a:t>
            </a:r>
          </a:p>
          <a:p>
            <a:r>
              <a:t>- Every improvement to an agent helps every pod.</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(NUDGE POD, MARKETING CLOUD): Launching a campaign, 90 days manual vs ~17 days with MAD   (about 5 minutes)</a:t>
            </a:r>
          </a:p>
          <a:p>
            <a:endParaRPr/>
          </a:p>
          <a:p>
            <a:r>
              <a:t>1. OPENING (20s)</a:t>
            </a:r>
          </a:p>
          <a:p>
            <a:r>
              <a:t>Every patient campaign at Ascension follows the same path: data comes from ADSI in BigQuery into Data Cloud, audiences are activated into Marketing Cloud, and Journey Builder sends email, SMS or app messages. This slide compares how long that takes today with what a knowledge-graph multi-agent delivery model, MAD, can do for the same campaign.</a:t>
            </a:r>
          </a:p>
          <a:p>
            <a:endParaRPr/>
          </a:p>
          <a:p>
            <a:r>
              <a:t>2. LEFT SIDE: HOW WE DELIVER TODAY (about 90 days)</a:t>
            </a:r>
          </a:p>
          <a:p>
            <a:r>
              <a:t>Use a real example: the VBC CHF Post-Discharge Nudge Program. CHF is Congestive Heart Failure.</a:t>
            </a:r>
          </a:p>
          <a:p>
            <a:r>
              <a:t>- What it does: after a CHF patient is discharged, ADSI sends the encounter to Data Cloud; the patient gets SMS nudges to follow up with cardiology and their primary care provider; messages vary by AECN vs non-AECN routing; patients can reply DONE to finish or STOP to opt out; a Day 30 survey goes through CloudPages and FormAssembly, and responses flow back to Data Cloud and to ADSI in BigQuery.</a:t>
            </a:r>
          </a:p>
          <a:p>
            <a:r>
              <a:t>- How many steps: the CHF manual implementation runbook has 13 sections and more than 200 numbered manual steps. The Dev-to-Prod deployment page adds 19 deployment stories.</a:t>
            </a:r>
          </a:p>
          <a:p>
            <a:r>
              <a:t>- How long: the CHF solution design started on 20 March 2026; the survey and DONE flow were added on 30 April; in May it was still in design and implementation. Design alone took about six weeks.</a:t>
            </a:r>
          </a:p>
          <a:p>
            <a:r>
              <a:t>- Walk the 9 steps quickly:</a:t>
            </a:r>
          </a:p>
          <a:p>
            <a:r>
              <a:t>  1. Discovery and PRD: ministry scope, audience, KPIs, holdout group.</a:t>
            </a:r>
          </a:p>
          <a:p>
            <a:r>
              <a:t>  2. ADSI data readiness: BigQuery tables, field mapping, EUID and consent checks.</a:t>
            </a:r>
          </a:p>
          <a:p>
            <a:r>
              <a:t>  3. Data Cloud ingestion: data stream, transform, data model, links to Unified Individual.</a:t>
            </a:r>
          </a:p>
          <a:p>
            <a:r>
              <a:t>  4. Segment and activation: positive-consent rule, age and other filters, activation to Marketing Cloud.</a:t>
            </a:r>
          </a:p>
          <a:p>
            <a:r>
              <a:t>  5. SFMC data prep: SQL to parse the payload, messaging data extension, suppression.</a:t>
            </a:r>
          </a:p>
          <a:p>
            <a:r>
              <a:t>  6. Content and legal approval: copy, AMPscript, STOP and DONE keywords, legal and clinical sign-off. The longest single step.</a:t>
            </a:r>
          </a:p>
          <a:p>
            <a:r>
              <a:t>  7. Journey Builder build: entry, channel order App, then SMS, then email, CloudPages, surveys.</a:t>
            </a:r>
          </a:p>
          <a:p>
            <a:r>
              <a:t>  8. Testing and UAT in the Sandbox business unit.</a:t>
            </a:r>
          </a:p>
          <a:p>
            <a:r>
              <a:t>  9. Deploy and go-live: Data Kit, Package Manager, GitHub and Copado, then manual fixes and a smoke test, because Package Manager does not carry every asset.</a:t>
            </a:r>
          </a:p>
          <a:p>
            <a:r>
              <a:t>- Why it is slow: the work is sequential and handed between teams; most of the time is waiting, re-keying and checking, not thinking.</a:t>
            </a:r>
          </a:p>
          <a:p>
            <a:r>
              <a:t>- Why it is risky: the first MAWV cohort (Medicare Annual Wellness Visit) was stopped on day one because of a wrong call-in number and unclear content. Manual checks miss things.</a:t>
            </a:r>
          </a:p>
          <a:p>
            <a:r>
              <a:t>- The 90 days is a rough figure for a new campaign with new data; expansions of existing campaigns are faster.</a:t>
            </a:r>
          </a:p>
          <a:p>
            <a:endParaRPr/>
          </a:p>
          <a:p>
            <a:r>
              <a:t>3. RIGHT SIDE: SAME CAMPAIGN WITH MAD (15-20 days)</a:t>
            </a:r>
          </a:p>
          <a:p>
            <a:r>
              <a:t>These are the same 7 common agents introduced on the agent team slide. On the Nudge pod they use their Marketing Cloud skills.</a:t>
            </a:r>
          </a:p>
          <a:p>
            <a:r>
              <a:t>- Orchestrator (days 0-17): plans the work, routes it to the right agents and makes sure no gate is skipped.</a:t>
            </a:r>
          </a:p>
          <a:p>
            <a:r>
              <a:t>- Requirements Agent (human gate, days 0-2): pulls the Jira story and Confluence context and drafts the PRD, audience rules and KPIs from similar past campaigns; business signs off.</a:t>
            </a:r>
          </a:p>
          <a:p>
            <a:r>
              <a:t>- Architect Agent (human gate, days 2-4): asks the knowledge graph what this campaign touches and what can be reused: data model, consent rules, channel order, suppression. Architect approves.</a:t>
            </a:r>
          </a:p>
          <a:p>
            <a:r>
              <a:t>- Developer Agent (AI-led, days 4-12): builds the Data Cloud stream, segment and activation, then the Marketing Cloud data extensions, SQL, journey, AMPscript and draft copy.</a:t>
            </a:r>
          </a:p>
          <a:p>
            <a:r>
              <a:t>- Review Agent (human gate, days 4-11): checks standards, consent and content as the build happens; legal and clinical approve patient-facing content. This runs alongside the build instead of after it.</a:t>
            </a:r>
          </a:p>
          <a:p>
            <a:r>
              <a:t>- Test Agent (human gate, days 12-15): generates Zephyr test cases and Copado automation and tests every message variant, link and phone number; people sign UAT.</a:t>
            </a:r>
          </a:p>
          <a:p>
            <a:r>
              <a:t>- Release Agent (AI-led, days 15-17): Data Kit and package through Copado to lower environments, smoke checklist; CAB still approves production.</a:t>
            </a:r>
          </a:p>
          <a:p>
            <a:r>
              <a:t>Critical path is about 17 days because review runs in parallel with the build.</a:t>
            </a:r>
          </a:p>
          <a:p>
            <a:endParaRPr/>
          </a:p>
          <a:p>
            <a:r>
              <a:t>4. WHY WE ARE CONFIDENT: HOW IT WORKS (high level, not a build plan)</a:t>
            </a:r>
          </a:p>
          <a:p>
            <a:r>
              <a:t>a) Most of a campaign is a repeat of a known pattern.</a:t>
            </a:r>
          </a:p>
          <a:p>
            <a:r>
              <a:t>   Every Ascension campaign uses the same building blocks: stream, data model, segment, activation, data extension, SQL, journey, deploy. Adding a ministry to the PCP referral campaign is literally two steps: add it to the segment filter and the activation filter. The CHF runbook is a checklist. Anything we can write as a checklist, an agent can execute and check.</a:t>
            </a:r>
          </a:p>
          <a:p>
            <a:r>
              <a:t>b) The knowledge graph is Ascension's memory.</a:t>
            </a:r>
          </a:p>
          <a:p>
            <a:r>
              <a:t>   We have nearly 500 Confluence pages: PRDs, field dictionaries, consent rules, the SFMC Development and Deployment Standard, smoke-test and pre-deployment checklists, and past journeys. The knowledge graph connects these, so an agent starts from what already works at Ascension, not from a blank page. A Requirements Agent drafts a new PRD from similar past PRDs; the Architect Agent reuses the approved channel pattern.</a:t>
            </a:r>
          </a:p>
          <a:p>
            <a:r>
              <a:t>c) Each agent does one job, the same job on every pod, and hands over a reviewable output.</a:t>
            </a:r>
          </a:p>
          <a:p>
            <a:r>
              <a:t>   A PRD, a field map, a Data Kit, SQL, a draft journey, a test report. People review and approve outputs; they do not rebuild them. That is where the time goes away.</a:t>
            </a:r>
          </a:p>
          <a:p>
            <a:r>
              <a:t>d) Same guardrails as today.</a:t>
            </a:r>
          </a:p>
          <a:p>
            <a:r>
              <a:t>   Agents build only in the Sandbox business unit, follow the same promotion path (Development, UAT, Ready-for-Prod, GitHub, Copado) and the same pre-deployment and smoke-test checklists. Nothing goes live without the four human gates.</a:t>
            </a:r>
          </a:p>
          <a:p>
            <a:r>
              <a:t>e) MAD runs on what Ascension already owns. Marketing Cloud Next is optional.</a:t>
            </a:r>
          </a:p>
          <a:p>
            <a:r>
              <a:t>   MAD works on today's licenses: Data Cloud, Marketing Cloud (Journey Builder, Automation Studio, MobileConnect) and Health Cloud. It does not need a new Salesforce product to deliver 15-20 days.</a:t>
            </a:r>
          </a:p>
          <a:p>
            <a:r>
              <a:t>   Salesforce is moving the same way: Marketing Cloud Next has a Campaign Creation agent that drafts the brief, audience, content and journey, and Salesforce says campaigns can be built "in hours". That confirms the direction, but it is an extra license cost.</a:t>
            </a:r>
          </a:p>
          <a:p>
            <a:r>
              <a:t>   Ascension has already set up Marketing Cloud Advanced (MCA) as a pilot (its own business unit, data graph, consent validation, Einstein, Tableau Next). If Ascension decides to license it, MAD can use those features as one more tool, for example letting the Developer Agent call them. MAD stays the delivery model either way.</a:t>
            </a:r>
          </a:p>
          <a:p>
            <a:r>
              <a:t>f) We have tested the out-of-the-box agent, and it is not enough on its own.</a:t>
            </a:r>
          </a:p>
          <a:p>
            <a:r>
              <a:t>   Our POC of the Salesforce Campaign Creation Agent generated a brief, a Campaign record and draft segments, but segment, journey and content only partly worked: segments needed custom Apex or Flow, and branding needs work. MAD covers the full Ascension flow (ADSI data, consent rules, AECN routing, DONE keywords, CloudPage surveys, deployment standard) because its agents are grounded in our knowledge graph. We are not depending on the out-of-the-box agent or on new licenses.</a:t>
            </a:r>
          </a:p>
          <a:p>
            <a:endParaRPr/>
          </a:p>
          <a:p>
            <a:r>
              <a:t>5. BOTTOM ROW: IMPACT (30s)</a:t>
            </a:r>
          </a:p>
          <a:p>
            <a:r>
              <a:t>About 80 percent faster to launch: 90 days to 15-20 days is the recorded manual average versus the agent-assisted average. The same 7 agents serve every pod. With the same squad we expect 2 to 3 times more campaigns per quarter; approvals and UAT still set the pace, so we do not claim more. On the QA side, initial test-case preparation is already 75 to 85 percent faster with the QA agents.</a:t>
            </a:r>
          </a:p>
          <a:p>
            <a:endParaRPr/>
          </a:p>
          <a:p>
            <a:r>
              <a:t>6. CLOSE AND ASK (20s)</a:t>
            </a:r>
          </a:p>
          <a:p>
            <a:r>
              <a:t>We are not asking for trust; we are asking for one pilot. Pick a campaign such as a referral market or service-line expansion, run it with MAD, and measure days, steps and defects against the manual baseline.</a:t>
            </a:r>
          </a:p>
          <a:p>
            <a:endParaRPr/>
          </a:p>
          <a:p>
            <a:r>
              <a:t>LIKELY QUESTIONS</a:t>
            </a:r>
          </a:p>
          <a:p>
            <a:endParaRPr/>
          </a:p>
          <a:p>
            <a:r>
              <a:t>Q: Is this doable? How confident are you?</a:t>
            </a:r>
          </a:p>
          <a:p>
            <a:r>
              <a:t>A: High confidence for repeat-pattern campaigns (new market, new service line, new referral journey): 15-20 days. Medium for campaigns that need a brand-new data source, where we would plan 25-30 days, because agents cannot speed up waiting for upstream data. Either way the pilot gives us real numbers.</a:t>
            </a:r>
          </a:p>
          <a:p>
            <a:endParaRPr/>
          </a:p>
          <a:p>
            <a:r>
              <a:t>Q: Why should we believe agents can build this?</a:t>
            </a:r>
          </a:p>
          <a:p>
            <a:r>
              <a:t>A: Because the work is already written down as checklists and standards, and each agent follows them on the platforms we already license. Salesforce's own move to agentic marketing (Marketing Cloud Next) shows the industry direction, and our POC already produced a brief, a Campaign record and draft segments. MAD goes further because it knows Ascension's data, consent rules and standards.</a:t>
            </a:r>
          </a:p>
          <a:p>
            <a:endParaRPr/>
          </a:p>
          <a:p>
            <a:r>
              <a:t>Q: Why not just buy Marketing Cloud Next?</a:t>
            </a:r>
          </a:p>
          <a:p>
            <a:r>
              <a:t>A: It is an added license cost, and our POC showed the out-of-the-box agent only partly handles segments, journeys and content for Ascension. MAD delivers on current licenses. If Ascension licenses Marketing Cloud Next later, MAD uses its features as extra tools, so nothing is wasted.</a:t>
            </a:r>
          </a:p>
          <a:p>
            <a:endParaRPr/>
          </a:p>
          <a:p>
            <a:r>
              <a:t>Q: What if an agent gets it wrong?</a:t>
            </a:r>
          </a:p>
          <a:p>
            <a:r>
              <a:t>A: Every agent output is reviewable before it moves on, everything is built in the sandbox first, testing covers every scenario (for example all four CHF message types), and the four human gates stay. The Test Agent checks every link and phone number, which is the kind of miss that stopped MAWV.</a:t>
            </a:r>
          </a:p>
          <a:p>
            <a:endParaRPr/>
          </a:p>
          <a:p>
            <a:r>
              <a:t>Q: What about patient data and HIPAA?</a:t>
            </a:r>
          </a:p>
          <a:p>
            <a:r>
              <a:t>A: Agents work inside Salesforce and our controlled environments under the same access controls. Consent rules (positive consent, STOP, DONE) are built into the patterns the agents reuse. Legal and clinical teams still approve all patient-facing content.</a:t>
            </a:r>
          </a:p>
          <a:p>
            <a:endParaRPr/>
          </a:p>
          <a:p>
            <a:r>
              <a:t>Q: Where do the remaining 15-20 days go?</a:t>
            </a:r>
          </a:p>
          <a:p>
            <a:r>
              <a:t>A: Mostly human time: requirements sign-off, about a week of legal and clinical review, and UAT. We deliberately did not compress approvals.</a:t>
            </a:r>
          </a:p>
          <a:p>
            <a:endParaRPr/>
          </a:p>
          <a:p>
            <a:r>
              <a:t>Q: Does this replace people?</a:t>
            </a:r>
          </a:p>
          <a:p>
            <a:r>
              <a:t>A: It changes the work. The squad moves from building and re-keying to reviewing, approving and running more campaigns. Same people, more output.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(NETWORK SERVICES POD, HEALTH CLOUD): Onboarding a new market in Health Cloud, 9 months manual vs ~12 weeks with MAD   (about 5 minutes)</a:t>
            </a:r>
          </a:p>
          <a:p>
            <a:endParaRPr/>
          </a:p>
          <a:p>
            <a:r>
              <a:t>1. OPENING (20s)</a:t>
            </a:r>
          </a:p>
          <a:p>
            <a:r>
              <a:t>The first slide showed campaigns on the Nudge pod. This one uses the same 7 agents on the Health Cloud side, using a real Network Services project: onboarding Texas CIN, the Texas Clinically Integrated Network, into Enterprise Salesforce Health Cloud.</a:t>
            </a:r>
          </a:p>
          <a:p>
            <a:endParaRPr/>
          </a:p>
          <a:p>
            <a:r>
              <a:t>2. LEFT SIDE: WHAT TEXAS CIN TOOK (about 9 months)</a:t>
            </a:r>
          </a:p>
          <a:p>
            <a:r>
              <a:t>- Starting point: Texas ACO ran provider network work across disconnected tools: REDCap for intake, Excel for rosters, email for credentialing approvals, HubSpot for CRM, and manually stored vendor packets. Result: duplicate provider and practice records, heavy manual validation, no credentialing visibility, inconsistent payer rosters.</a:t>
            </a:r>
          </a:p>
          <a:p>
            <a:r>
              <a:t>- Requirements, about 3 months:</a:t>
            </a:r>
          </a:p>
          <a:p>
            <a:r>
              <a:t>  1. Discovery workshops on current tools and Texas-specific workflows: M&amp;C committee review, Board approval, delegated credentialing (ARC, LSCC, Capital Medical).</a:t>
            </a:r>
          </a:p>
          <a:p>
            <a:r>
              <a:t>  2. PRD with 4 phases (intake and contracting, roster lifecycle, CRM, shared savings), an MVP, and payer roster rules: BCBS full roster quarterly plus monthly updates, Aetna only on TIN changes, CMS and employer groups with their own rules. Several questions stayed open, for example how much HubSpot history to migrate.</a:t>
            </a:r>
          </a:p>
          <a:p>
            <a:r>
              <a:t>- Design and build, about 6 months:</a:t>
            </a:r>
          </a:p>
          <a:p>
            <a:r>
              <a:t>  3. Data mapping: the Texas Excel roster does not map one to one to Enterprise objects; contracting is at TIN level only.</a:t>
            </a:r>
          </a:p>
          <a:p>
            <a:r>
              <a:t>  4. Solution design: the biggest change. National and Texas teams must not see each other's records, and they share providers. So we designed a Shell Account (shared NPI, TIN, Managing Team) with team-specific child accounts and a Texas-CIN record type, and moved cascade updates off the shared Account so one market's change cannot overwrite another's.</a:t>
            </a:r>
          </a:p>
          <a:p>
            <a:r>
              <a:t>  5. Security: NS Market field, public groups, ownership-based sharing rules, and 6 standard permission sets (National and Texas CIN, each Read Only, Read Write, High Access).</a:t>
            </a:r>
          </a:p>
          <a:p>
            <a:r>
              <a:t>  6. Automation: lead conversion flows that create shell and child accounts, cascade logic from the child account, HFN and CPA generation. Lead conversion breaks if picklists like NS Market differ across objects, so every change had to be checked by hand.</a:t>
            </a:r>
          </a:p>
          <a:p>
            <a:r>
              <a:t>  7. Contracting: DocuSign templates, TIN-level CPAs, approval flow.</a:t>
            </a:r>
          </a:p>
          <a:p>
            <a:r>
              <a:t>  8. Data migration and UAT, including regression so National users are not affected.</a:t>
            </a:r>
          </a:p>
          <a:p>
            <a:r>
              <a:t>  9. Copado release, permission assignment, training and hypercare.</a:t>
            </a:r>
          </a:p>
          <a:p>
            <a:r>
              <a:t>- Why it took 9 months: every step waited on the one before; design had to be worked out from scratch; regression across National flows was manual.</a:t>
            </a:r>
          </a:p>
          <a:p>
            <a:endParaRPr/>
          </a:p>
          <a:p>
            <a:r>
              <a:t>3. RIGHT SIDE: SAME ONBOARDING WITH MAD (10-12 weeks)</a:t>
            </a:r>
          </a:p>
          <a:p>
            <a:r>
              <a:t>Same 7 agents as the Marketing Cloud slide. Here they use their Health Cloud skills.</a:t>
            </a:r>
          </a:p>
          <a:p>
            <a:r>
              <a:t>- Orchestrator (weeks 0-12): plans the onboarding, routes work and enforces the gates.</a:t>
            </a:r>
          </a:p>
          <a:p>
            <a:r>
              <a:t>- Requirements Agent (human gate, weeks 0-4): pulls Jira and Confluence context, profiles the REDCap exports, Excel rosters and HubSpot data before the first workshop and drafts the PRD; the Texas team signs off. Requirements drop from about 3 months to about 4 weeks.</a:t>
            </a:r>
          </a:p>
          <a:p>
            <a:r>
              <a:t>- Architect Agent (human gate, weeks 3-5): reuses the proven market pattern (shell account, child account, record type, sharing, cascade from the child account) and uses the graph to show the impact on National flows. Architect approves.</a:t>
            </a:r>
          </a:p>
          <a:p>
            <a:r>
              <a:t>- Developer Agent (AI-led, weeks 5-9): builds the record type, public groups, sharing rules, permission sets, lead conversion flows, cascade Apex, DocuSign templates and migration loads in DEV.</a:t>
            </a:r>
          </a:p>
          <a:p>
            <a:r>
              <a:t>- Review Agent (human gate, weeks 6-9): reviews code, security and sharing against Ascension standards; tech lead approves.</a:t>
            </a:r>
          </a:p>
          <a:p>
            <a:r>
              <a:t>- Test Agent (human gate, weeks 8-11): Zephyr test cases and Copado regression so National users are not affected; people sign UAT.</a:t>
            </a:r>
          </a:p>
          <a:p>
            <a:r>
              <a:t>- Release Agent (AI-led, weeks 11-12): Copado release to SIT and UAT; CAB approves production.</a:t>
            </a:r>
          </a:p>
          <a:p>
            <a:endParaRPr/>
          </a:p>
          <a:p>
            <a:r>
              <a:t>4. WHY WE ARE CONFIDENT (high level)</a:t>
            </a:r>
          </a:p>
          <a:p>
            <a:r>
              <a:t>a) Market onboarding is now a pattern, not a project. The Texas CIN design says it outright: Texas Seton will be onboarded with the same model without major redesign. Every next market is the same set of building blocks: NS Market value, record type, public group, sharing rules, 3 permission sets, child-account cascade, lead conversion, DocuSign templates.</a:t>
            </a:r>
          </a:p>
          <a:p>
            <a:r>
              <a:t>b) The knowledge graph holds Network Services' memory: the Texas CIN PRD and design, the Shell Account model, the permission set standard, lead conversion workflow, cascade framework, HFN and CPA logic, credentialing and DocuSign designs, plus the org's actual metadata. Agents start from what already works.</a:t>
            </a:r>
          </a:p>
          <a:p>
            <a:r>
              <a:t>c) Most of the 9 months was waiting and rework, not hard thinking. Agents remove the waiting: they draft before meetings, build in parallel, and check picklists, sharing and cascade impact automatically, which is exactly where manual errors happen today.</a:t>
            </a:r>
          </a:p>
          <a:p>
            <a:r>
              <a:t>d) Same guardrails: agents build in sandboxes only, every output is reviewable, releases go through Copado as today, and nothing goes live without the four human gates.</a:t>
            </a:r>
          </a:p>
          <a:p>
            <a:r>
              <a:t>e) It runs on what Ascension already owns: Health Cloud, Salesforce CLI and Metadata API, Copado, Jira and Confluence. No new license is needed. Einstein and Health Cloud AI features (for example the lead and application summaries in the Discovery AI PRD) can be used as extra tools if Ascension turns them on.</a:t>
            </a:r>
          </a:p>
          <a:p>
            <a:endParaRPr/>
          </a:p>
          <a:p>
            <a:r>
              <a:t>5. BOTTOM ROW (30s)</a:t>
            </a:r>
          </a:p>
          <a:p>
            <a:r>
              <a:t>About 70 percent faster market onboarding, 9 months to 10-12 weeks; this is our estimate. What is already measured: Health Cloud implementations have gone from 1-2 weeks to 2-4 days with the agent-assisted approach. The next market, Texas Seton, in 6-8 weeks because the pattern is reused. And it is the same 7 agents as the Marketing Cloud slide.</a:t>
            </a:r>
          </a:p>
          <a:p>
            <a:endParaRPr/>
          </a:p>
          <a:p>
            <a:r>
              <a:t>6. CLOSE AND ASK (20s)</a:t>
            </a:r>
          </a:p>
          <a:p>
            <a:r>
              <a:t>Use Texas Seton as the pilot. We know exactly what Texas CIN took, so we can measure MAD against a real baseline.</a:t>
            </a:r>
          </a:p>
          <a:p>
            <a:endParaRPr/>
          </a:p>
          <a:p>
            <a:r>
              <a:t>LIKELY QUESTIONS</a:t>
            </a:r>
          </a:p>
          <a:p>
            <a:r>
              <a:t>Q: Requirements took 3 months because the business needed time. How can agents change that?</a:t>
            </a:r>
          </a:p>
          <a:p>
            <a:r>
              <a:t>A: Agents cannot make decisions for the business, but they remove the prep and the back-and-forth. The Texas team reviews a drafted current state and PRD in a few focused workshops instead of building it from scratch. Business decisions still need them; we planned about 4 weeks for that.</a:t>
            </a:r>
          </a:p>
          <a:p>
            <a:r>
              <a:t>Q: How confident are you in 10-12 weeks?</a:t>
            </a:r>
          </a:p>
          <a:p>
            <a:r>
              <a:t>A: High for a market that follows the Texas CIN pattern (Texas Seton: 6-8 weeks). Medium for a market with new workflows, such as shared-savings calculations that are still undefined; there we would plan longer and say so up front.</a:t>
            </a:r>
          </a:p>
          <a:p>
            <a:r>
              <a:t>Q: What if an agent breaks National users' access or cascade?</a:t>
            </a:r>
          </a:p>
          <a:p>
            <a:r>
              <a:t>A: Everything is built in a sandbox first, the Test Agent runs regression for National users every time, and design and UAT need human approval before release.</a:t>
            </a:r>
          </a:p>
          <a:p>
            <a:r>
              <a:t>Q: Provider data is sensitive. Is it safe?</a:t>
            </a:r>
          </a:p>
          <a:p>
            <a:r>
              <a:t>A: Agents work on configuration and metadata. Migration uses the same controlled loads as today, with test data in sandboxes and enterprise access rules applied.</a:t>
            </a:r>
          </a:p>
          <a:p>
            <a:r>
              <a:t>Q: Why not a separate set of agents for each pod?</a:t>
            </a:r>
          </a:p>
          <a:p>
            <a:r>
              <a:t>A: That would be harder to build, govern and explain. One common team of 7 agents does the same jobs everywhere; only the platform skills behind them change. Adding a new pod means adding skills, not new agents.</a:t>
            </a:r>
          </a:p>
          <a:p>
            <a:r>
              <a:t>Q: Does this replace the pod?</a:t>
            </a:r>
          </a:p>
          <a:p>
            <a:r>
              <a:t>A: No. The same squad moves from configuring and re-checking to reviewing and approving, and takes on more markets and enhancements.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Operational efficiency   (about 3 minutes)</a:t>
            </a:r>
          </a:p>
          <a:p>
            <a:endParaRPr/>
          </a:p>
          <a:p>
            <a:r>
              <a:t>KEY MESSAGE</a:t>
            </a:r>
          </a:p>
          <a:p>
            <a:r>
              <a:t>Today every pod repeats the same delivery stack and works its own way. MAD turns the pods into lean teams that supervise, on one shared agent platform that works around the clock and applies one set of Ascension standards.</a:t>
            </a:r>
          </a:p>
          <a:p>
            <a:endParaRPr/>
          </a:p>
          <a:p>
            <a:r>
              <a:t>WALK THE SIX ROWS</a:t>
            </a:r>
          </a:p>
          <a:p>
            <a:r>
              <a:t>- Productivity: today work moves one hand-off at a time inside office hours. With MAD the Orchestrator and Developer Agent keep working overnight: stories refined, code and tests drafted. People review and approve in the morning. Delivery runs close to 20 hours a day instead of 8.</a:t>
            </a:r>
          </a:p>
          <a:p>
            <a:r>
              <a:t>- Scalability: today more scope means hiring, and a new developer needs 4 to 6 weeks to learn the org. With MAD we scale by adding agent capacity, and new people get productive in about a week because they can ask the knowledge graph how anything works.</a:t>
            </a:r>
          </a:p>
          <a:p>
            <a:r>
              <a:t>- Best practice: today every pod interprets standards differently. With MAD the standards are encoded once and the Review Agent applies them the same way to every change in every pod.</a:t>
            </a:r>
          </a:p>
          <a:p>
            <a:r>
              <a:t>- Security: today access and sharing issues surface late and permission sets sprawl. With MAD least privilege, sharing and PHI checks run on every change, and no agent ever holds production credentials.</a:t>
            </a:r>
          </a:p>
          <a:p>
            <a:r>
              <a:t>- Tech debt: today it grows quietly. With MAD agents scan the org every night and raise ready-to-review clean-up changes in spare capacity, so debt goes down instead of up.</a:t>
            </a:r>
          </a:p>
          <a:p>
            <a:r>
              <a:t>- Run and support: today incidents start with "who changed what?". With MAD the graph answers that in minutes: the component, the owning pod and the last change.</a:t>
            </a:r>
          </a:p>
          <a:p>
            <a:endParaRPr/>
          </a:p>
          <a:p>
            <a:r>
              <a:t>OPERATING MODEL (right side)</a:t>
            </a:r>
          </a:p>
          <a:p>
            <a:r>
              <a:t>Today pods A, B, C each carry BA, developers, QA, release and support. With MAD each pod is an owner, a lead and 2 to 4 engineers, and a small platform team runs the agents, the graph and the standards for everyone.</a:t>
            </a:r>
          </a:p>
          <a:p>
            <a:r>
              <a:t>The bold version: a new pod goes live on MAD in 2 weeks, not 2 months.</a:t>
            </a:r>
          </a:p>
          <a:p>
            <a:endParaRPr/>
          </a:p>
          <a:p>
            <a:r>
              <a:t>TARGETS (bottom)</a:t>
            </a:r>
          </a:p>
          <a:p>
            <a:r>
              <a:t>About 20 delivery hours a day, new engineers productive in about a week, 100 percent of changes checked against standards, incident triage time halved. These are pilot targets; we baseline each pod first.</a:t>
            </a:r>
          </a:p>
          <a:p>
            <a:endParaRPr/>
          </a:p>
          <a:p>
            <a:r>
              <a:t>LIKELY QUESTIONS</a:t>
            </a:r>
          </a:p>
          <a:p>
            <a:r>
              <a:t>Q: Who reviews overnight work?</a:t>
            </a:r>
          </a:p>
          <a:p>
            <a:r>
              <a:t>A: Nothing overnight goes anywhere on its own. Agents prepare; people approve in the morning through the same four gates.</a:t>
            </a:r>
          </a:p>
          <a:p>
            <a:r>
              <a:t>Q: Is a 2-week pod onboarding realistic?</a:t>
            </a:r>
          </a:p>
          <a:p>
            <a:r>
              <a:t>A: It is the bold version. The agents and standards already exist; a pod adds its sources to the graph and its platform skills. The first pods will take longer, and each one after gets faster.</a:t>
            </a:r>
          </a:p>
          <a:p>
            <a:r>
              <a:t>Q: Does this reduce headcount?</a:t>
            </a:r>
          </a:p>
          <a:p>
            <a:r>
              <a:t>A: It changes the shape of a pod. Savings come from not repeating the same roles in every pod; we show the numbers on the business outcomes slide.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Change management   (about 3 minutes)</a:t>
            </a:r>
          </a:p>
          <a:p>
            <a:endParaRPr/>
          </a:p>
          <a:p>
            <a:r>
              <a:t>KEY MESSAGE</a:t>
            </a:r>
          </a:p>
          <a:p>
            <a:r>
              <a:t>Many pods share one Enterprise Salesforce org. Today each change is judged only by the pod that makes it, so one pod can affect others without anyone knowing until late. MAD gives the org a Change Control Tower: every change predicts, proves and records its impact before it moves.</a:t>
            </a:r>
          </a:p>
          <a:p>
            <a:endParaRPr/>
          </a:p>
          <a:p>
            <a:r>
              <a:t>LEFT: TODAY</a:t>
            </a:r>
          </a:p>
          <a:p>
            <a:r>
              <a:t>- Copado is good at moving code, but it does not know who else depends on that code.</a:t>
            </a:r>
          </a:p>
          <a:p>
            <a:r>
              <a:t>- Simple example: a pod adds a record-triggered flow on a shared object without a record-type filter, or edits a common Apex class. That change reaches every pod that uses the object or class.</a:t>
            </a:r>
          </a:p>
          <a:p>
            <a:r>
              <a:t>- The impact surfaces late, in another pod's UAT or after go-live, and then it is a fire drill: rollback, delays, finger pointing.</a:t>
            </a:r>
          </a:p>
          <a:p>
            <a:r>
              <a:t>- Edits made directly in an org can go unnoticed until something breaks.</a:t>
            </a:r>
          </a:p>
          <a:p>
            <a:endParaRPr/>
          </a:p>
          <a:p>
            <a:r>
              <a:t>RIGHT: THE NEW PIECE, THE CHANGE GUARDIAN AGENT</a:t>
            </a:r>
          </a:p>
          <a:p>
            <a:r>
              <a:t>This is what MAD adds for change control. The 7 delivery agents work inside a pod. The Change Guardian Agent works across all pods and sits between every change and the shared org.</a:t>
            </a:r>
          </a:p>
          <a:p>
            <a:endParaRPr/>
          </a:p>
          <a:p>
            <a:r>
              <a:t>How it decides (top row)</a:t>
            </a:r>
          </a:p>
          <a:p>
            <a:r>
              <a:t>It takes three inputs: the change itself (the code and metadata diff), the ownership map from the knowledge graph (who owns and who uses each class, flow, field and record type), and the guardrail rulebook (Ascension's rules, written as code and owned by architecture). It gives one of three verdicts:</a:t>
            </a:r>
          </a:p>
          <a:p>
            <a:r>
              <a:t>- Pass: the change moves on, with its change passport.</a:t>
            </a:r>
          </a:p>
          <a:p>
            <a:r>
              <a:t>- Needs approval: the change touches other pods, so their leads must sign first. Nobody changes another pod's world silently.</a:t>
            </a:r>
          </a:p>
          <a:p>
            <a:r>
              <a:t>- Block and fix: the change breaks a rule. The Guardian says why, and the Developer Agent drafts the fix. It does not just say no; it hands back a corrected change.</a:t>
            </a:r>
          </a:p>
          <a:p>
            <a:endParaRPr/>
          </a:p>
          <a:p>
            <a:r>
              <a:t>Where it checks (middle row): checkpoints no change can skip</a:t>
            </a:r>
          </a:p>
          <a:p>
            <a:r>
              <a:t>1. Story intake, before build: it runs the blast radius, names every affected pod and adds their leads as approvers.</a:t>
            </a:r>
          </a:p>
          <a:p>
            <a:r>
              <a:t>2. Every commit, before merge: it checks the diff against the rulebook. This is blocking, not advisory.</a:t>
            </a:r>
          </a:p>
          <a:p>
            <a:r>
              <a:t>3. Copado promotion, before SIT and UAT: impact tests for each affected pod must pass. No passport, no promotion.</a:t>
            </a:r>
          </a:p>
          <a:p>
            <a:r>
              <a:t>Always on, every night: it compares every org with Git and the graph; any edit made outside the pipeline is flagged within 24 hours and raised for the owning pod.</a:t>
            </a:r>
          </a:p>
          <a:p>
            <a:endParaRPr/>
          </a:p>
          <a:p>
            <a:r>
              <a:t>The rulebook (bottom row), examples that block a change</a:t>
            </a:r>
          </a:p>
          <a:p>
            <a:r>
              <a:t>- A record-triggered flow on a shared object without record-type entry criteria.</a:t>
            </a:r>
          </a:p>
          <a:p>
            <a:r>
              <a:t>- An edit to a shared Apex class without tests for every pod that uses it.</a:t>
            </a:r>
          </a:p>
          <a:p>
            <a:r>
              <a:t>- A new field, validation rule or picklist value on a shared object without owner-pod sign-off.</a:t>
            </a:r>
          </a:p>
          <a:p>
            <a:r>
              <a:t>- Hardcoded IDs, or SOQL and DML inside loops.</a:t>
            </a:r>
          </a:p>
          <a:p>
            <a:r>
              <a:t>- Modify All or View All in a permission set, or a sharing change without security review.</a:t>
            </a:r>
          </a:p>
          <a:p>
            <a:r>
              <a:t>- Any change that did not come through the pipeline.</a:t>
            </a:r>
          </a:p>
          <a:p>
            <a:r>
              <a:t>Architecture owns the rulebook; every new incident can become a new rule, so the org gets safer over time.</a:t>
            </a:r>
          </a:p>
          <a:p>
            <a:endParaRPr/>
          </a:p>
          <a:p>
            <a:r>
              <a:t>THE BOLD VERSION</a:t>
            </a:r>
          </a:p>
          <a:p>
            <a:r>
              <a:t>A self-governing org: low-risk changes with a clean passport flow through as standard changes; CAB spends its time only on high-risk, cross-pod changes, with evidence already assembled.</a:t>
            </a:r>
          </a:p>
          <a:p>
            <a:endParaRPr/>
          </a:p>
          <a:p>
            <a:r>
              <a:t>WHY THIS IS CREDIBLE</a:t>
            </a:r>
          </a:p>
          <a:p>
            <a:r>
              <a:t>The building blocks are already designed in the knowledge graph: blast radius, risk classification with approver routing by risk tier, and provenance on every fact. MAD connects them into the delivery flow.</a:t>
            </a:r>
          </a:p>
          <a:p>
            <a:endParaRPr/>
          </a:p>
          <a:p>
            <a:r>
              <a:t>TARGETS</a:t>
            </a:r>
          </a:p>
          <a:p>
            <a:r>
              <a:t>Cross-pod impact known before build, 100 percent of changes with a passport, out-of-pipeline edits caught within 24 hours, CAB evidence in minutes instead of days.</a:t>
            </a:r>
          </a:p>
          <a:p>
            <a:endParaRPr/>
          </a:p>
          <a:p>
            <a:r>
              <a:t>LIKELY QUESTIONS</a:t>
            </a:r>
          </a:p>
          <a:p>
            <a:r>
              <a:t>Q: Will this slow pods down with more approvals?</a:t>
            </a:r>
          </a:p>
          <a:p>
            <a:r>
              <a:t>A: Only changes that touch other pods add approvers, and the impact report tells them exactly what to look at. Most changes stay inside one pod and move faster because the evidence is automatic.</a:t>
            </a:r>
          </a:p>
          <a:p>
            <a:r>
              <a:t>Q: What if the ownership map is wrong?</a:t>
            </a:r>
          </a:p>
          <a:p>
            <a:r>
              <a:t>A: It is built from the actual metadata and dependencies, refreshed on every sync, and pods confirm ownership once. Unknown ownership is itself flagged as a risk.</a:t>
            </a:r>
          </a:p>
          <a:p>
            <a:r>
              <a:t>Q: Why a separate agent instead of the Review Agent?</a:t>
            </a:r>
          </a:p>
          <a:p>
            <a:r>
              <a:t>A: The Review Agent checks quality inside one pod's change. The Guardian has a different job and a different view: it sees all pods, owns the rulebook and has the authority to block. Keeping it separate means no pod's own agents can approve their own cross-pod impact.</a:t>
            </a:r>
          </a:p>
          <a:p>
            <a:r>
              <a:t>Q: Does this replace Copado?</a:t>
            </a:r>
          </a:p>
          <a:p>
            <a:r>
              <a:t>A: No. Copado stays the release tool. MAD adds the impact knowledge and controls Copado does not have.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Business outcomes   (about 3 minutes)</a:t>
            </a:r>
          </a:p>
          <a:p>
            <a:endParaRPr/>
          </a:p>
          <a:p>
            <a:r>
              <a:t>KEY MESSAGE</a:t>
            </a:r>
          </a:p>
          <a:p>
            <a:r>
              <a:t>We separate what is measured from what is planned, and we keep the planned numbers conservative.</a:t>
            </a:r>
          </a:p>
          <a:p>
            <a:endParaRPr/>
          </a:p>
          <a:p>
            <a:r>
              <a:t>MEASURED TO DATE (top row)</a:t>
            </a:r>
          </a:p>
          <a:p>
            <a:r>
              <a:t>- Health Cloud: implementations that took 1 to 2 weeks now take 2 to 4 days with the agent-assisted approach.</a:t>
            </a:r>
          </a:p>
          <a:p>
            <a:r>
              <a:t>- Marketing Cloud: campaign delivery averaged 90 days manually and 15 to 20 days agent-assisted, about 80 percent lower and about 75 fewer calendar days.</a:t>
            </a:r>
          </a:p>
          <a:p>
            <a:r>
              <a:t>- QA: initial test-case preparation is 75 to 85 percent faster. People still review every generated case.</a:t>
            </a:r>
          </a:p>
          <a:p>
            <a:endParaRPr/>
          </a:p>
          <a:p>
            <a:r>
              <a:t>PLANNED STEADY STATE PER POD (second row)</a:t>
            </a:r>
          </a:p>
          <a:p>
            <a:r>
              <a:t>These are lower than the measured cycle-time gains on purpose:</a:t>
            </a:r>
          </a:p>
          <a:p>
            <a:r>
              <a:t>- Cycle time is not effort. Workshops, business decisions, legal review, UAT and CAB do not shrink with AI.</a:t>
            </a:r>
          </a:p>
          <a:p>
            <a:r>
              <a:t>- Across a whole pod, we expect 30 to 40 percent less effort per change. That is build and test effort cut by about half, analysis and design by about a third, and ceremonies unchanged.</a:t>
            </a:r>
          </a:p>
          <a:p>
            <a:r>
              <a:t>- That gives 1.4 to 1.6 times more output from the same team, or the same scope with 20 to 30 percent fewer people, for example an 8-person pod becoming 6.</a:t>
            </a:r>
          </a:p>
          <a:p>
            <a:r>
              <a:t>- Net run cost per pod falls 20 to 25 percent after paying for the platform (Google Cloud, model usage, upkeep of the graph and agents), which we expect to be a small share of pod cost.</a:t>
            </a:r>
          </a:p>
          <a:p>
            <a:r>
              <a:t>- Year 1 realizes roughly 60 to 70 percent of this while pods are onboarded to the graph.</a:t>
            </a:r>
          </a:p>
          <a:p>
            <a:endParaRPr/>
          </a:p>
          <a:p>
            <a:r>
              <a:t>PER POD (table)</a:t>
            </a:r>
          </a:p>
          <a:p>
            <a:r>
              <a:t>- Nudge pod: choose between 2 to 3 times more campaigns per quarter with the same team, or the same volume with a smaller team.</a:t>
            </a:r>
          </a:p>
          <a:p>
            <a:r>
              <a:t>- Network Services: 2 to 4 day enhancements, and new markets in 10 to 12 weeks, 6 to 8 weeks for Texas Seton.</a:t>
            </a:r>
          </a:p>
          <a:p>
            <a:r>
              <a:t>- Other pods: same 7 agents plus their skills; we target 25 to 35 percent less effort after onboarding and will confirm with each pod's own baseline.</a:t>
            </a:r>
          </a:p>
          <a:p>
            <a:endParaRPr/>
          </a:p>
          <a:p>
            <a:r>
              <a:t>HOW WE WILL PROVE IT</a:t>
            </a:r>
          </a:p>
          <a:p>
            <a:r>
              <a:t>Baseline each pod before it starts: cycle time, effort hours per story, escaped defects, test coverage. Review quarterly. Headcount changes happen through redeployment, attrition or moving people to the backlog, not by removing the human gates.</a:t>
            </a:r>
          </a:p>
          <a:p>
            <a:endParaRPr/>
          </a:p>
          <a:p>
            <a:r>
              <a:t>LIKELY QUESTIONS</a:t>
            </a:r>
          </a:p>
          <a:p>
            <a:r>
              <a:t>Q: Why is the team reduction only 20-30 percent when cycle time drops 70-80 percent?</a:t>
            </a:r>
          </a:p>
          <a:p>
            <a:r>
              <a:t>A: Because a lot of pod time is meetings, decisions, approvals and UAT support. We only count savings in the work agents actually do.</a:t>
            </a:r>
          </a:p>
          <a:p>
            <a:r>
              <a:t>Q: What does the platform cost?</a:t>
            </a:r>
          </a:p>
          <a:p>
            <a:r>
              <a:t>A: A one-time setup of the graph and pod skills, then cloud and model usage. We will size it with Ascension's cloud team; the 20-25 percent is net of it.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0.png"/><Relationship Id="rId1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9.png"/><Relationship Id="rId17" Type="http://schemas.openxmlformats.org/officeDocument/2006/relationships/image" Target="../media/image13.png"/><Relationship Id="rId2" Type="http://schemas.openxmlformats.org/officeDocument/2006/relationships/notesSlide" Target="../notesSlides/notesSlide3.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image" Target="../media/image17.png"/><Relationship Id="rId19" Type="http://schemas.openxmlformats.org/officeDocument/2006/relationships/image" Target="../media/image22.png"/><Relationship Id="rId4" Type="http://schemas.openxmlformats.org/officeDocument/2006/relationships/image" Target="../media/image4.png"/><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dirty="0">
                <a:latin typeface="Trenda IG Text Semibold"/>
              </a:rPr>
              <a:t>Ascension MAD Approach</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kern="1200" dirty="0">
                <a:solidFill>
                  <a:srgbClr val="B8BEC6"/>
                </a:solidFill>
                <a:latin typeface="Trenda IG Text"/>
                <a:ea typeface="Calibri"/>
                <a:cs typeface="Calibri"/>
              </a:rPr>
              <a:t>Multi-Agent Delivery on an Engineering Context Knowledge Graph: one common agent team that turns tickets into reviewed, tested, deployable Salesforce changes for every pod</a:t>
            </a:r>
          </a:p>
          <a:p>
            <a:pPr algn="l">
              <a:spcAft>
                <a:spcPts val="600"/>
              </a:spcAft>
            </a:pPr>
            <a:endParaRPr lang="en-US" b="0" i="0" dirty="0">
              <a:latin typeface="Trenda IG Text" pitchFamily="2" charset="77"/>
            </a:endParaRP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dirty="0">
                <a:solidFill>
                  <a:srgbClr val="00D6F1"/>
                </a:solidFill>
                <a:latin typeface="Trenda IG Text Semibold"/>
                <a:ea typeface="Calibri"/>
                <a:cs typeface="Calibri"/>
              </a:rPr>
              <a:t>AI-DRIVEN MULTI-AGENT DELIVERY</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One agent team, reused by every pod</a:t>
            </a:r>
            <a:endParaRPr lang="en-US" sz="2200" dirty="0"/>
          </a:p>
        </p:txBody>
      </p:sp>
      <p:sp>
        <p:nvSpPr>
          <p:cNvPr id="4" name="Text 2"/>
          <p:cNvSpPr txBox="1"/>
          <p:nvPr/>
        </p:nvSpPr>
        <p:spPr>
          <a:xfrm>
            <a:off x="411480" y="804672"/>
            <a:ext cx="11338560" cy="237744"/>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Built from the agents already in use for UI, backend and QA delivery. Every agent reads the knowledge graph; AI builds, people approve at four gates.</a:t>
            </a:r>
            <a:endParaRPr lang="en-US" sz="1050" dirty="0"/>
          </a:p>
        </p:txBody>
      </p:sp>
      <p:sp>
        <p:nvSpPr>
          <p:cNvPr id="5" name="Shape 3"/>
          <p:cNvSpPr/>
          <p:nvPr/>
        </p:nvSpPr>
        <p:spPr>
          <a:xfrm>
            <a:off x="411480" y="1207008"/>
            <a:ext cx="2606040" cy="4224528"/>
          </a:xfrm>
          <a:prstGeom prst="rect">
            <a:avLst/>
          </a:prstGeom>
          <a:solidFill>
            <a:srgbClr val="FFFFFF"/>
          </a:solidFill>
          <a:ln w="9525">
            <a:solidFill>
              <a:srgbClr val="DCE4EE"/>
            </a:solidFill>
            <a:prstDash val="solid"/>
          </a:ln>
        </p:spPr>
        <p:txBody>
          <a:bodyPr/>
          <a:lstStyle/>
          <a:p>
            <a:endParaRPr lang="en-IN"/>
          </a:p>
        </p:txBody>
      </p:sp>
      <p:sp>
        <p:nvSpPr>
          <p:cNvPr id="6" name="Shape 4"/>
          <p:cNvSpPr/>
          <p:nvPr/>
        </p:nvSpPr>
        <p:spPr>
          <a:xfrm>
            <a:off x="411480" y="1207008"/>
            <a:ext cx="2606040" cy="310896"/>
          </a:xfrm>
          <a:prstGeom prst="rect">
            <a:avLst/>
          </a:prstGeom>
          <a:solidFill>
            <a:srgbClr val="1B6BC0"/>
          </a:solidFill>
          <a:ln w="12700">
            <a:solidFill>
              <a:srgbClr val="1B6BC0"/>
            </a:solidFill>
            <a:prstDash val="solid"/>
          </a:ln>
        </p:spPr>
        <p:txBody>
          <a:bodyPr/>
          <a:lstStyle/>
          <a:p>
            <a:endParaRPr lang="en-IN"/>
          </a:p>
        </p:txBody>
      </p:sp>
      <p:sp>
        <p:nvSpPr>
          <p:cNvPr id="7" name="Text 5"/>
          <p:cNvSpPr/>
          <p:nvPr/>
        </p:nvSpPr>
        <p:spPr>
          <a:xfrm>
            <a:off x="548640" y="1207008"/>
            <a:ext cx="23317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Knowledge graph · what agents read</a:t>
            </a:r>
            <a:endParaRPr lang="en-US" sz="1000" dirty="0"/>
          </a:p>
        </p:txBody>
      </p:sp>
      <p:sp>
        <p:nvSpPr>
          <p:cNvPr id="8" name="Text 6"/>
          <p:cNvSpPr txBox="1"/>
          <p:nvPr/>
        </p:nvSpPr>
        <p:spPr>
          <a:xfrm>
            <a:off x="566928" y="1645920"/>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Jira</a:t>
            </a:r>
            <a:endParaRPr lang="en-US" sz="950" dirty="0"/>
          </a:p>
        </p:txBody>
      </p:sp>
      <p:sp>
        <p:nvSpPr>
          <p:cNvPr id="9" name="Text 7"/>
          <p:cNvSpPr txBox="1"/>
          <p:nvPr/>
        </p:nvSpPr>
        <p:spPr>
          <a:xfrm>
            <a:off x="566928" y="1828800"/>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Stories, acceptance criteria, history</a:t>
            </a:r>
            <a:endParaRPr lang="en-US" sz="780" dirty="0"/>
          </a:p>
        </p:txBody>
      </p:sp>
      <p:sp>
        <p:nvSpPr>
          <p:cNvPr id="10" name="Text 8"/>
          <p:cNvSpPr txBox="1"/>
          <p:nvPr/>
        </p:nvSpPr>
        <p:spPr>
          <a:xfrm>
            <a:off x="566928" y="2130552"/>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Confluence</a:t>
            </a:r>
            <a:endParaRPr lang="en-US" sz="950" dirty="0"/>
          </a:p>
        </p:txBody>
      </p:sp>
      <p:sp>
        <p:nvSpPr>
          <p:cNvPr id="11" name="Text 9"/>
          <p:cNvSpPr txBox="1"/>
          <p:nvPr/>
        </p:nvSpPr>
        <p:spPr>
          <a:xfrm>
            <a:off x="566928" y="2313432"/>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Design, business rules, runbooks</a:t>
            </a:r>
            <a:endParaRPr lang="en-US" sz="780" dirty="0"/>
          </a:p>
        </p:txBody>
      </p:sp>
      <p:sp>
        <p:nvSpPr>
          <p:cNvPr id="12" name="Text 10"/>
          <p:cNvSpPr txBox="1"/>
          <p:nvPr/>
        </p:nvSpPr>
        <p:spPr>
          <a:xfrm>
            <a:off x="566928" y="2615184"/>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Salesforce</a:t>
            </a:r>
            <a:endParaRPr lang="en-US" sz="950" dirty="0"/>
          </a:p>
        </p:txBody>
      </p:sp>
      <p:sp>
        <p:nvSpPr>
          <p:cNvPr id="13" name="Text 11"/>
          <p:cNvSpPr txBox="1"/>
          <p:nvPr/>
        </p:nvSpPr>
        <p:spPr>
          <a:xfrm>
            <a:off x="566928" y="2798064"/>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Objects, fields, Flows, Apex, deps</a:t>
            </a:r>
            <a:endParaRPr lang="en-US" sz="780" dirty="0"/>
          </a:p>
        </p:txBody>
      </p:sp>
      <p:sp>
        <p:nvSpPr>
          <p:cNvPr id="14" name="Text 12"/>
          <p:cNvSpPr txBox="1"/>
          <p:nvPr/>
        </p:nvSpPr>
        <p:spPr>
          <a:xfrm>
            <a:off x="566928" y="3099816"/>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Git</a:t>
            </a:r>
            <a:endParaRPr lang="en-US" sz="950" dirty="0"/>
          </a:p>
        </p:txBody>
      </p:sp>
      <p:sp>
        <p:nvSpPr>
          <p:cNvPr id="15" name="Text 13"/>
          <p:cNvSpPr txBox="1"/>
          <p:nvPr/>
        </p:nvSpPr>
        <p:spPr>
          <a:xfrm>
            <a:off x="566928" y="3282696"/>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Apex, LWC, metadata, unit tests</a:t>
            </a:r>
            <a:endParaRPr lang="en-US" sz="780" dirty="0"/>
          </a:p>
        </p:txBody>
      </p:sp>
      <p:sp>
        <p:nvSpPr>
          <p:cNvPr id="16" name="Text 14"/>
          <p:cNvSpPr txBox="1"/>
          <p:nvPr/>
        </p:nvSpPr>
        <p:spPr>
          <a:xfrm>
            <a:off x="566928" y="3584448"/>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Copado</a:t>
            </a:r>
            <a:endParaRPr lang="en-US" sz="950" dirty="0"/>
          </a:p>
        </p:txBody>
      </p:sp>
      <p:sp>
        <p:nvSpPr>
          <p:cNvPr id="17" name="Text 15"/>
          <p:cNvSpPr txBox="1"/>
          <p:nvPr/>
        </p:nvSpPr>
        <p:spPr>
          <a:xfrm>
            <a:off x="566928" y="3767328"/>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Releases, robotic and regression runs</a:t>
            </a:r>
            <a:endParaRPr lang="en-US" sz="780" dirty="0"/>
          </a:p>
        </p:txBody>
      </p:sp>
      <p:sp>
        <p:nvSpPr>
          <p:cNvPr id="18" name="Text 16"/>
          <p:cNvSpPr txBox="1"/>
          <p:nvPr/>
        </p:nvSpPr>
        <p:spPr>
          <a:xfrm>
            <a:off x="566928" y="4069080"/>
            <a:ext cx="2286000" cy="182880"/>
          </a:xfrm>
          <a:prstGeom prst="rect">
            <a:avLst/>
          </a:prstGeom>
          <a:noFill/>
          <a:ln/>
        </p:spPr>
        <p:txBody>
          <a:bodyPr wrap="square" lIns="0" tIns="0" rIns="0" bIns="0" rtlCol="0" anchor="ctr"/>
          <a:lstStyle/>
          <a:p>
            <a:pPr marL="0" indent="0">
              <a:buNone/>
            </a:pPr>
            <a:r>
              <a:rPr lang="en-US" sz="950" b="1" dirty="0">
                <a:solidFill>
                  <a:srgbClr val="1B6BC0"/>
                </a:solidFill>
                <a:latin typeface="Trenda IG Text" pitchFamily="34" charset="0"/>
                <a:ea typeface="Trenda IG Text" pitchFamily="34" charset="-122"/>
                <a:cs typeface="Trenda IG Text" pitchFamily="34" charset="-120"/>
              </a:rPr>
              <a:t>Google Drive</a:t>
            </a:r>
            <a:endParaRPr lang="en-US" sz="950" dirty="0"/>
          </a:p>
        </p:txBody>
      </p:sp>
      <p:sp>
        <p:nvSpPr>
          <p:cNvPr id="19" name="Text 17"/>
          <p:cNvSpPr txBox="1"/>
          <p:nvPr/>
        </p:nvSpPr>
        <p:spPr>
          <a:xfrm>
            <a:off x="566928" y="4251960"/>
            <a:ext cx="2377440" cy="182880"/>
          </a:xfrm>
          <a:prstGeom prst="rect">
            <a:avLst/>
          </a:prstGeom>
          <a:noFill/>
          <a:ln/>
        </p:spPr>
        <p:txBody>
          <a:bodyPr wrap="square" lIns="0" tIns="0" rIns="0" bIns="0" rtlCol="0" anchor="ctr"/>
          <a:lstStyle/>
          <a:p>
            <a:pPr marL="0" indent="0">
              <a:buNone/>
            </a:pPr>
            <a:r>
              <a:rPr lang="en-US" sz="780" dirty="0">
                <a:solidFill>
                  <a:srgbClr val="5C6E85"/>
                </a:solidFill>
                <a:latin typeface="Trenda IG Text" pitchFamily="34" charset="0"/>
                <a:ea typeface="Trenda IG Text" pitchFamily="34" charset="-122"/>
                <a:cs typeface="Trenda IG Text" pitchFamily="34" charset="-120"/>
              </a:rPr>
              <a:t>Specs, mapping sheets, evidence</a:t>
            </a:r>
            <a:endParaRPr lang="en-US" sz="780" dirty="0"/>
          </a:p>
        </p:txBody>
      </p:sp>
      <p:sp>
        <p:nvSpPr>
          <p:cNvPr id="20" name="Shape 18"/>
          <p:cNvSpPr/>
          <p:nvPr/>
        </p:nvSpPr>
        <p:spPr>
          <a:xfrm>
            <a:off x="548640" y="4608576"/>
            <a:ext cx="2331720" cy="713232"/>
          </a:xfrm>
          <a:prstGeom prst="rect">
            <a:avLst/>
          </a:prstGeom>
          <a:solidFill>
            <a:srgbClr val="EAF1FB"/>
          </a:solidFill>
          <a:ln w="12700">
            <a:solidFill>
              <a:srgbClr val="EAF1FB"/>
            </a:solidFill>
            <a:prstDash val="solid"/>
          </a:ln>
        </p:spPr>
        <p:txBody>
          <a:bodyPr/>
          <a:lstStyle/>
          <a:p>
            <a:endParaRPr lang="en-IN"/>
          </a:p>
        </p:txBody>
      </p:sp>
      <p:sp>
        <p:nvSpPr>
          <p:cNvPr id="21" name="Text 19"/>
          <p:cNvSpPr txBox="1"/>
          <p:nvPr/>
        </p:nvSpPr>
        <p:spPr>
          <a:xfrm>
            <a:off x="640080" y="4663440"/>
            <a:ext cx="2167128" cy="603504"/>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Agents ask the graph for verified facts with source and SHA-256. They never scan the org or invent a dependency.</a:t>
            </a:r>
            <a:endParaRPr lang="en-US" sz="780" dirty="0"/>
          </a:p>
        </p:txBody>
      </p:sp>
      <p:sp>
        <p:nvSpPr>
          <p:cNvPr id="22" name="Shape 20"/>
          <p:cNvSpPr/>
          <p:nvPr/>
        </p:nvSpPr>
        <p:spPr>
          <a:xfrm>
            <a:off x="3154680" y="1207008"/>
            <a:ext cx="5806440" cy="4224528"/>
          </a:xfrm>
          <a:prstGeom prst="rect">
            <a:avLst/>
          </a:prstGeom>
          <a:solidFill>
            <a:srgbClr val="FFFFFF"/>
          </a:solidFill>
          <a:ln w="9525">
            <a:solidFill>
              <a:srgbClr val="DCE4EE"/>
            </a:solidFill>
            <a:prstDash val="solid"/>
          </a:ln>
        </p:spPr>
        <p:txBody>
          <a:bodyPr/>
          <a:lstStyle/>
          <a:p>
            <a:endParaRPr lang="en-IN"/>
          </a:p>
        </p:txBody>
      </p:sp>
      <p:sp>
        <p:nvSpPr>
          <p:cNvPr id="23" name="Shape 21"/>
          <p:cNvSpPr/>
          <p:nvPr/>
        </p:nvSpPr>
        <p:spPr>
          <a:xfrm>
            <a:off x="3154680" y="1207008"/>
            <a:ext cx="5806440" cy="310896"/>
          </a:xfrm>
          <a:prstGeom prst="rect">
            <a:avLst/>
          </a:prstGeom>
          <a:solidFill>
            <a:srgbClr val="00757F"/>
          </a:solidFill>
          <a:ln w="12700">
            <a:solidFill>
              <a:srgbClr val="00757F"/>
            </a:solidFill>
            <a:prstDash val="solid"/>
          </a:ln>
        </p:spPr>
        <p:txBody>
          <a:bodyPr/>
          <a:lstStyle/>
          <a:p>
            <a:endParaRPr lang="en-IN"/>
          </a:p>
        </p:txBody>
      </p:sp>
      <p:sp>
        <p:nvSpPr>
          <p:cNvPr id="24" name="Text 22"/>
          <p:cNvSpPr/>
          <p:nvPr/>
        </p:nvSpPr>
        <p:spPr>
          <a:xfrm>
            <a:off x="3291840" y="1207008"/>
            <a:ext cx="55321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7 common agents · the same on every pod</a:t>
            </a:r>
            <a:endParaRPr lang="en-US" sz="1000" dirty="0"/>
          </a:p>
        </p:txBody>
      </p:sp>
      <p:sp>
        <p:nvSpPr>
          <p:cNvPr id="25" name="Text 23"/>
          <p:cNvSpPr txBox="1"/>
          <p:nvPr/>
        </p:nvSpPr>
        <p:spPr>
          <a:xfrm>
            <a:off x="7040880" y="1591056"/>
            <a:ext cx="1188720" cy="146304"/>
          </a:xfrm>
          <a:prstGeom prst="rect">
            <a:avLst/>
          </a:prstGeom>
          <a:noFill/>
          <a:ln/>
        </p:spPr>
        <p:txBody>
          <a:bodyPr wrap="square" lIns="0" tIns="0" rIns="0" bIns="0" rtlCol="0" anchor="ctr"/>
          <a:lstStyle/>
          <a:p>
            <a:pPr marL="0" indent="0">
              <a:buNone/>
            </a:pPr>
            <a:r>
              <a:rPr lang="en-US" sz="650" b="1" kern="0" spc="100" dirty="0">
                <a:solidFill>
                  <a:srgbClr val="5C6E85"/>
                </a:solidFill>
                <a:latin typeface="Trenda IG Text" pitchFamily="34" charset="0"/>
                <a:ea typeface="Trenda IG Text" pitchFamily="34" charset="-122"/>
                <a:cs typeface="Trenda IG Text" pitchFamily="34" charset="-120"/>
              </a:rPr>
              <a:t>BUILT FROM TODAY</a:t>
            </a:r>
            <a:endParaRPr lang="en-US" sz="650" dirty="0"/>
          </a:p>
        </p:txBody>
      </p:sp>
      <p:sp>
        <p:nvSpPr>
          <p:cNvPr id="26" name="Shape 24"/>
          <p:cNvSpPr/>
          <p:nvPr/>
        </p:nvSpPr>
        <p:spPr>
          <a:xfrm>
            <a:off x="3291840" y="1828800"/>
            <a:ext cx="219456" cy="219456"/>
          </a:xfrm>
          <a:prstGeom prst="ellipse">
            <a:avLst/>
          </a:prstGeom>
          <a:solidFill>
            <a:srgbClr val="00757F"/>
          </a:solidFill>
          <a:ln w="12700">
            <a:solidFill>
              <a:srgbClr val="00757F"/>
            </a:solidFill>
            <a:prstDash val="solid"/>
          </a:ln>
        </p:spPr>
        <p:txBody>
          <a:bodyPr/>
          <a:lstStyle/>
          <a:p>
            <a:endParaRPr lang="en-IN"/>
          </a:p>
        </p:txBody>
      </p:sp>
      <p:sp>
        <p:nvSpPr>
          <p:cNvPr id="27" name="Text 25"/>
          <p:cNvSpPr txBox="1"/>
          <p:nvPr/>
        </p:nvSpPr>
        <p:spPr>
          <a:xfrm>
            <a:off x="3291840" y="182880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1</a:t>
            </a:r>
            <a:endParaRPr lang="en-US" sz="800" dirty="0"/>
          </a:p>
        </p:txBody>
      </p:sp>
      <p:sp>
        <p:nvSpPr>
          <p:cNvPr id="28" name="Text 26"/>
          <p:cNvSpPr txBox="1"/>
          <p:nvPr/>
        </p:nvSpPr>
        <p:spPr>
          <a:xfrm>
            <a:off x="3611880" y="1773936"/>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Orchestrator</a:t>
            </a:r>
            <a:endParaRPr lang="en-US" sz="950" dirty="0"/>
          </a:p>
        </p:txBody>
      </p:sp>
      <p:sp>
        <p:nvSpPr>
          <p:cNvPr id="29" name="Text 27"/>
          <p:cNvSpPr txBox="1"/>
          <p:nvPr/>
        </p:nvSpPr>
        <p:spPr>
          <a:xfrm>
            <a:off x="3611880" y="1956816"/>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Classifies the task, gathers context, routes the chain, enforces gates</a:t>
            </a:r>
            <a:endParaRPr lang="en-US" sz="760" dirty="0"/>
          </a:p>
        </p:txBody>
      </p:sp>
      <p:sp>
        <p:nvSpPr>
          <p:cNvPr id="30" name="Text 28"/>
          <p:cNvSpPr txBox="1"/>
          <p:nvPr/>
        </p:nvSpPr>
        <p:spPr>
          <a:xfrm>
            <a:off x="7040880" y="1956816"/>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UI + backend Orchestrator</a:t>
            </a:r>
            <a:endParaRPr lang="en-US" sz="680" dirty="0"/>
          </a:p>
        </p:txBody>
      </p:sp>
      <p:sp>
        <p:nvSpPr>
          <p:cNvPr id="31" name="Text 29"/>
          <p:cNvSpPr/>
          <p:nvPr/>
        </p:nvSpPr>
        <p:spPr>
          <a:xfrm>
            <a:off x="8110728" y="1819656"/>
            <a:ext cx="731520" cy="182880"/>
          </a:xfrm>
          <a:prstGeom prst="roundRect">
            <a:avLst>
              <a:gd name="adj" fmla="val 40000"/>
            </a:avLst>
          </a:prstGeom>
          <a:solidFill>
            <a:srgbClr val="FFFFFF"/>
          </a:solidFill>
          <a:ln w="9525">
            <a:solidFill>
              <a:srgbClr val="00757F"/>
            </a:solidFill>
          </a:ln>
        </p:spPr>
        <p:txBody>
          <a:bodyPr wrap="square" lIns="0" tIns="0" rIns="0" bIns="0" rtlCol="0" anchor="ctr"/>
          <a:lstStyle/>
          <a:p>
            <a:pPr marL="0" indent="0" algn="ctr">
              <a:buNone/>
            </a:pPr>
            <a:r>
              <a:rPr lang="en-US" sz="700" b="1" dirty="0">
                <a:solidFill>
                  <a:srgbClr val="00757F"/>
                </a:solidFill>
                <a:latin typeface="Trenda IG Text" pitchFamily="34" charset="0"/>
                <a:ea typeface="Trenda IG Text" pitchFamily="34" charset="-122"/>
                <a:cs typeface="Trenda IG Text" pitchFamily="34" charset="-120"/>
              </a:rPr>
              <a:t>Coordinates</a:t>
            </a:r>
            <a:endParaRPr lang="en-US" sz="700" dirty="0"/>
          </a:p>
        </p:txBody>
      </p:sp>
      <p:sp>
        <p:nvSpPr>
          <p:cNvPr id="32" name="Shape 30"/>
          <p:cNvSpPr/>
          <p:nvPr/>
        </p:nvSpPr>
        <p:spPr>
          <a:xfrm>
            <a:off x="3291840" y="2231136"/>
            <a:ext cx="5532120" cy="0"/>
          </a:xfrm>
          <a:prstGeom prst="line">
            <a:avLst/>
          </a:prstGeom>
          <a:noFill/>
          <a:ln w="6350">
            <a:solidFill>
              <a:srgbClr val="DCE4EE"/>
            </a:solidFill>
            <a:prstDash val="solid"/>
          </a:ln>
        </p:spPr>
        <p:txBody>
          <a:bodyPr/>
          <a:lstStyle/>
          <a:p>
            <a:endParaRPr lang="en-IN"/>
          </a:p>
        </p:txBody>
      </p:sp>
      <p:sp>
        <p:nvSpPr>
          <p:cNvPr id="33" name="Shape 31"/>
          <p:cNvSpPr/>
          <p:nvPr/>
        </p:nvSpPr>
        <p:spPr>
          <a:xfrm>
            <a:off x="3291840" y="2345436"/>
            <a:ext cx="219456" cy="219456"/>
          </a:xfrm>
          <a:prstGeom prst="ellipse">
            <a:avLst/>
          </a:prstGeom>
          <a:solidFill>
            <a:srgbClr val="C77400"/>
          </a:solidFill>
          <a:ln w="12700">
            <a:solidFill>
              <a:srgbClr val="C77400"/>
            </a:solidFill>
            <a:prstDash val="solid"/>
          </a:ln>
        </p:spPr>
        <p:txBody>
          <a:bodyPr/>
          <a:lstStyle/>
          <a:p>
            <a:endParaRPr lang="en-IN"/>
          </a:p>
        </p:txBody>
      </p:sp>
      <p:sp>
        <p:nvSpPr>
          <p:cNvPr id="34" name="Text 32"/>
          <p:cNvSpPr txBox="1"/>
          <p:nvPr/>
        </p:nvSpPr>
        <p:spPr>
          <a:xfrm>
            <a:off x="3291840" y="234543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2</a:t>
            </a:r>
            <a:endParaRPr lang="en-US" sz="800" dirty="0"/>
          </a:p>
        </p:txBody>
      </p:sp>
      <p:sp>
        <p:nvSpPr>
          <p:cNvPr id="35" name="Text 33"/>
          <p:cNvSpPr txBox="1"/>
          <p:nvPr/>
        </p:nvSpPr>
        <p:spPr>
          <a:xfrm>
            <a:off x="3611880" y="2290572"/>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Requirements Agent</a:t>
            </a:r>
            <a:endParaRPr lang="en-US" sz="950" dirty="0"/>
          </a:p>
        </p:txBody>
      </p:sp>
      <p:sp>
        <p:nvSpPr>
          <p:cNvPr id="36" name="Text 34"/>
          <p:cNvSpPr txBox="1"/>
          <p:nvPr/>
        </p:nvSpPr>
        <p:spPr>
          <a:xfrm>
            <a:off x="3611880" y="2473452"/>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Jira story and Confluence / Figma design into a clear brief</a:t>
            </a:r>
            <a:endParaRPr lang="en-US" sz="760" dirty="0"/>
          </a:p>
        </p:txBody>
      </p:sp>
      <p:sp>
        <p:nvSpPr>
          <p:cNvPr id="37" name="Text 35"/>
          <p:cNvSpPr txBox="1"/>
          <p:nvPr/>
        </p:nvSpPr>
        <p:spPr>
          <a:xfrm>
            <a:off x="7040880" y="2473452"/>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JiraAgent, Figma/Confluence</a:t>
            </a:r>
            <a:endParaRPr lang="en-US" sz="680" dirty="0"/>
          </a:p>
        </p:txBody>
      </p:sp>
      <p:sp>
        <p:nvSpPr>
          <p:cNvPr id="38" name="Text 36"/>
          <p:cNvSpPr/>
          <p:nvPr/>
        </p:nvSpPr>
        <p:spPr>
          <a:xfrm>
            <a:off x="8110728" y="2336292"/>
            <a:ext cx="731520"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39" name="Shape 37"/>
          <p:cNvSpPr/>
          <p:nvPr/>
        </p:nvSpPr>
        <p:spPr>
          <a:xfrm>
            <a:off x="3291840" y="2747772"/>
            <a:ext cx="5532120" cy="0"/>
          </a:xfrm>
          <a:prstGeom prst="line">
            <a:avLst/>
          </a:prstGeom>
          <a:noFill/>
          <a:ln w="6350">
            <a:solidFill>
              <a:srgbClr val="DCE4EE"/>
            </a:solidFill>
            <a:prstDash val="solid"/>
          </a:ln>
        </p:spPr>
        <p:txBody>
          <a:bodyPr/>
          <a:lstStyle/>
          <a:p>
            <a:endParaRPr lang="en-IN"/>
          </a:p>
        </p:txBody>
      </p:sp>
      <p:sp>
        <p:nvSpPr>
          <p:cNvPr id="40" name="Shape 38"/>
          <p:cNvSpPr/>
          <p:nvPr/>
        </p:nvSpPr>
        <p:spPr>
          <a:xfrm>
            <a:off x="3291840" y="2862072"/>
            <a:ext cx="219456" cy="219456"/>
          </a:xfrm>
          <a:prstGeom prst="ellipse">
            <a:avLst/>
          </a:prstGeom>
          <a:solidFill>
            <a:srgbClr val="C77400"/>
          </a:solidFill>
          <a:ln w="12700">
            <a:solidFill>
              <a:srgbClr val="C77400"/>
            </a:solidFill>
            <a:prstDash val="solid"/>
          </a:ln>
        </p:spPr>
        <p:txBody>
          <a:bodyPr/>
          <a:lstStyle/>
          <a:p>
            <a:endParaRPr lang="en-IN"/>
          </a:p>
        </p:txBody>
      </p:sp>
      <p:sp>
        <p:nvSpPr>
          <p:cNvPr id="41" name="Text 39"/>
          <p:cNvSpPr txBox="1"/>
          <p:nvPr/>
        </p:nvSpPr>
        <p:spPr>
          <a:xfrm>
            <a:off x="3291840" y="2862072"/>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3</a:t>
            </a:r>
            <a:endParaRPr lang="en-US" sz="800" dirty="0"/>
          </a:p>
        </p:txBody>
      </p:sp>
      <p:sp>
        <p:nvSpPr>
          <p:cNvPr id="42" name="Text 40"/>
          <p:cNvSpPr txBox="1"/>
          <p:nvPr/>
        </p:nvSpPr>
        <p:spPr>
          <a:xfrm>
            <a:off x="3611880" y="2807208"/>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Architect Agent</a:t>
            </a:r>
            <a:endParaRPr lang="en-US" sz="950" dirty="0"/>
          </a:p>
        </p:txBody>
      </p:sp>
      <p:sp>
        <p:nvSpPr>
          <p:cNvPr id="43" name="Text 41"/>
          <p:cNvSpPr txBox="1"/>
          <p:nvPr/>
        </p:nvSpPr>
        <p:spPr>
          <a:xfrm>
            <a:off x="3611880" y="2990088"/>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Impact, reuse and risk from the graph; designs the change plan</a:t>
            </a:r>
            <a:endParaRPr lang="en-US" sz="760" dirty="0"/>
          </a:p>
        </p:txBody>
      </p:sp>
      <p:sp>
        <p:nvSpPr>
          <p:cNvPr id="44" name="Text 42"/>
          <p:cNvSpPr txBox="1"/>
          <p:nvPr/>
        </p:nvSpPr>
        <p:spPr>
          <a:xfrm>
            <a:off x="7040880" y="2990088"/>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ArchitectAgent, Architect</a:t>
            </a:r>
            <a:endParaRPr lang="en-US" sz="680" dirty="0"/>
          </a:p>
        </p:txBody>
      </p:sp>
      <p:sp>
        <p:nvSpPr>
          <p:cNvPr id="45" name="Text 43"/>
          <p:cNvSpPr/>
          <p:nvPr/>
        </p:nvSpPr>
        <p:spPr>
          <a:xfrm>
            <a:off x="8110728" y="2852928"/>
            <a:ext cx="731520"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46" name="Shape 44"/>
          <p:cNvSpPr/>
          <p:nvPr/>
        </p:nvSpPr>
        <p:spPr>
          <a:xfrm>
            <a:off x="3291840" y="3264408"/>
            <a:ext cx="5532120" cy="0"/>
          </a:xfrm>
          <a:prstGeom prst="line">
            <a:avLst/>
          </a:prstGeom>
          <a:noFill/>
          <a:ln w="6350">
            <a:solidFill>
              <a:srgbClr val="DCE4EE"/>
            </a:solidFill>
            <a:prstDash val="solid"/>
          </a:ln>
        </p:spPr>
        <p:txBody>
          <a:bodyPr/>
          <a:lstStyle/>
          <a:p>
            <a:endParaRPr lang="en-IN"/>
          </a:p>
        </p:txBody>
      </p:sp>
      <p:sp>
        <p:nvSpPr>
          <p:cNvPr id="47" name="Shape 45"/>
          <p:cNvSpPr/>
          <p:nvPr/>
        </p:nvSpPr>
        <p:spPr>
          <a:xfrm>
            <a:off x="3291840" y="3378708"/>
            <a:ext cx="219456" cy="219456"/>
          </a:xfrm>
          <a:prstGeom prst="ellipse">
            <a:avLst/>
          </a:prstGeom>
          <a:solidFill>
            <a:srgbClr val="2E7D32"/>
          </a:solidFill>
          <a:ln w="12700">
            <a:solidFill>
              <a:srgbClr val="2E7D32"/>
            </a:solidFill>
            <a:prstDash val="solid"/>
          </a:ln>
        </p:spPr>
        <p:txBody>
          <a:bodyPr/>
          <a:lstStyle/>
          <a:p>
            <a:endParaRPr lang="en-IN"/>
          </a:p>
        </p:txBody>
      </p:sp>
      <p:sp>
        <p:nvSpPr>
          <p:cNvPr id="48" name="Text 46"/>
          <p:cNvSpPr txBox="1"/>
          <p:nvPr/>
        </p:nvSpPr>
        <p:spPr>
          <a:xfrm>
            <a:off x="3291840" y="33787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4</a:t>
            </a:r>
            <a:endParaRPr lang="en-US" sz="800" dirty="0"/>
          </a:p>
        </p:txBody>
      </p:sp>
      <p:sp>
        <p:nvSpPr>
          <p:cNvPr id="49" name="Text 47"/>
          <p:cNvSpPr txBox="1"/>
          <p:nvPr/>
        </p:nvSpPr>
        <p:spPr>
          <a:xfrm>
            <a:off x="3611880" y="3323844"/>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Developer Agent</a:t>
            </a:r>
            <a:endParaRPr lang="en-US" sz="950" dirty="0"/>
          </a:p>
        </p:txBody>
      </p:sp>
      <p:sp>
        <p:nvSpPr>
          <p:cNvPr id="50" name="Text 48"/>
          <p:cNvSpPr txBox="1"/>
          <p:nvPr/>
        </p:nvSpPr>
        <p:spPr>
          <a:xfrm>
            <a:off x="3611880" y="3506724"/>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Builds the change to Ascension standards in DEV + branch</a:t>
            </a:r>
            <a:endParaRPr lang="en-US" sz="760" dirty="0"/>
          </a:p>
        </p:txBody>
      </p:sp>
      <p:sp>
        <p:nvSpPr>
          <p:cNvPr id="51" name="Text 49"/>
          <p:cNvSpPr txBox="1"/>
          <p:nvPr/>
        </p:nvSpPr>
        <p:spPr>
          <a:xfrm>
            <a:off x="7040880" y="3506724"/>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DevelopmentAgent, Developer</a:t>
            </a:r>
            <a:endParaRPr lang="en-US" sz="680" dirty="0"/>
          </a:p>
        </p:txBody>
      </p:sp>
      <p:sp>
        <p:nvSpPr>
          <p:cNvPr id="52" name="Text 50"/>
          <p:cNvSpPr/>
          <p:nvPr/>
        </p:nvSpPr>
        <p:spPr>
          <a:xfrm>
            <a:off x="8110728" y="3369564"/>
            <a:ext cx="731520"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53" name="Shape 51"/>
          <p:cNvSpPr/>
          <p:nvPr/>
        </p:nvSpPr>
        <p:spPr>
          <a:xfrm>
            <a:off x="3291840" y="3781044"/>
            <a:ext cx="5532120" cy="0"/>
          </a:xfrm>
          <a:prstGeom prst="line">
            <a:avLst/>
          </a:prstGeom>
          <a:noFill/>
          <a:ln w="6350">
            <a:solidFill>
              <a:srgbClr val="DCE4EE"/>
            </a:solidFill>
            <a:prstDash val="solid"/>
          </a:ln>
        </p:spPr>
        <p:txBody>
          <a:bodyPr/>
          <a:lstStyle/>
          <a:p>
            <a:endParaRPr lang="en-IN"/>
          </a:p>
        </p:txBody>
      </p:sp>
      <p:sp>
        <p:nvSpPr>
          <p:cNvPr id="54" name="Shape 52"/>
          <p:cNvSpPr/>
          <p:nvPr/>
        </p:nvSpPr>
        <p:spPr>
          <a:xfrm>
            <a:off x="3291840" y="3895344"/>
            <a:ext cx="219456" cy="219456"/>
          </a:xfrm>
          <a:prstGeom prst="ellipse">
            <a:avLst/>
          </a:prstGeom>
          <a:solidFill>
            <a:srgbClr val="C77400"/>
          </a:solidFill>
          <a:ln w="12700">
            <a:solidFill>
              <a:srgbClr val="C77400"/>
            </a:solidFill>
            <a:prstDash val="solid"/>
          </a:ln>
        </p:spPr>
        <p:txBody>
          <a:bodyPr/>
          <a:lstStyle/>
          <a:p>
            <a:endParaRPr lang="en-IN"/>
          </a:p>
        </p:txBody>
      </p:sp>
      <p:sp>
        <p:nvSpPr>
          <p:cNvPr id="55" name="Text 53"/>
          <p:cNvSpPr txBox="1"/>
          <p:nvPr/>
        </p:nvSpPr>
        <p:spPr>
          <a:xfrm>
            <a:off x="3291840" y="3895344"/>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5</a:t>
            </a:r>
            <a:endParaRPr lang="en-US" sz="800" dirty="0"/>
          </a:p>
        </p:txBody>
      </p:sp>
      <p:sp>
        <p:nvSpPr>
          <p:cNvPr id="56" name="Text 54"/>
          <p:cNvSpPr txBox="1"/>
          <p:nvPr/>
        </p:nvSpPr>
        <p:spPr>
          <a:xfrm>
            <a:off x="3611880" y="3840480"/>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Review Agent</a:t>
            </a:r>
            <a:endParaRPr lang="en-US" sz="950" dirty="0"/>
          </a:p>
        </p:txBody>
      </p:sp>
      <p:sp>
        <p:nvSpPr>
          <p:cNvPr id="57" name="Text 55"/>
          <p:cNvSpPr txBox="1"/>
          <p:nvPr/>
        </p:nvSpPr>
        <p:spPr>
          <a:xfrm>
            <a:off x="3611880" y="4023360"/>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Checks quality, security and Ascension coding standards</a:t>
            </a:r>
            <a:endParaRPr lang="en-US" sz="760" dirty="0"/>
          </a:p>
        </p:txBody>
      </p:sp>
      <p:sp>
        <p:nvSpPr>
          <p:cNvPr id="58" name="Text 56"/>
          <p:cNvSpPr txBox="1"/>
          <p:nvPr/>
        </p:nvSpPr>
        <p:spPr>
          <a:xfrm>
            <a:off x="7040880" y="4023360"/>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ReviewAgent</a:t>
            </a:r>
            <a:endParaRPr lang="en-US" sz="680" dirty="0"/>
          </a:p>
        </p:txBody>
      </p:sp>
      <p:sp>
        <p:nvSpPr>
          <p:cNvPr id="59" name="Text 57"/>
          <p:cNvSpPr/>
          <p:nvPr/>
        </p:nvSpPr>
        <p:spPr>
          <a:xfrm>
            <a:off x="8110728" y="3886200"/>
            <a:ext cx="731520"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60" name="Shape 58"/>
          <p:cNvSpPr/>
          <p:nvPr/>
        </p:nvSpPr>
        <p:spPr>
          <a:xfrm>
            <a:off x="3291840" y="4297680"/>
            <a:ext cx="5532120" cy="0"/>
          </a:xfrm>
          <a:prstGeom prst="line">
            <a:avLst/>
          </a:prstGeom>
          <a:noFill/>
          <a:ln w="6350">
            <a:solidFill>
              <a:srgbClr val="DCE4EE"/>
            </a:solidFill>
            <a:prstDash val="solid"/>
          </a:ln>
        </p:spPr>
        <p:txBody>
          <a:bodyPr/>
          <a:lstStyle/>
          <a:p>
            <a:endParaRPr lang="en-IN"/>
          </a:p>
        </p:txBody>
      </p:sp>
      <p:sp>
        <p:nvSpPr>
          <p:cNvPr id="61" name="Shape 59"/>
          <p:cNvSpPr/>
          <p:nvPr/>
        </p:nvSpPr>
        <p:spPr>
          <a:xfrm>
            <a:off x="3291840" y="4411980"/>
            <a:ext cx="219456" cy="219456"/>
          </a:xfrm>
          <a:prstGeom prst="ellipse">
            <a:avLst/>
          </a:prstGeom>
          <a:solidFill>
            <a:srgbClr val="C77400"/>
          </a:solidFill>
          <a:ln w="12700">
            <a:solidFill>
              <a:srgbClr val="C77400"/>
            </a:solidFill>
            <a:prstDash val="solid"/>
          </a:ln>
        </p:spPr>
        <p:txBody>
          <a:bodyPr/>
          <a:lstStyle/>
          <a:p>
            <a:endParaRPr lang="en-IN"/>
          </a:p>
        </p:txBody>
      </p:sp>
      <p:sp>
        <p:nvSpPr>
          <p:cNvPr id="62" name="Text 60"/>
          <p:cNvSpPr txBox="1"/>
          <p:nvPr/>
        </p:nvSpPr>
        <p:spPr>
          <a:xfrm>
            <a:off x="3291840" y="4411980"/>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6</a:t>
            </a:r>
            <a:endParaRPr lang="en-US" sz="800" dirty="0"/>
          </a:p>
        </p:txBody>
      </p:sp>
      <p:sp>
        <p:nvSpPr>
          <p:cNvPr id="63" name="Text 61"/>
          <p:cNvSpPr txBox="1"/>
          <p:nvPr/>
        </p:nvSpPr>
        <p:spPr>
          <a:xfrm>
            <a:off x="3611880" y="4357116"/>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Test Agent</a:t>
            </a:r>
            <a:endParaRPr lang="en-US" sz="950" dirty="0"/>
          </a:p>
        </p:txBody>
      </p:sp>
      <p:sp>
        <p:nvSpPr>
          <p:cNvPr id="64" name="Text 62"/>
          <p:cNvSpPr txBox="1"/>
          <p:nvPr/>
        </p:nvSpPr>
        <p:spPr>
          <a:xfrm>
            <a:off x="3611880" y="4539996"/>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Unit, regression and performance tests; Zephyr to Copado</a:t>
            </a:r>
            <a:endParaRPr lang="en-US" sz="760" dirty="0"/>
          </a:p>
        </p:txBody>
      </p:sp>
      <p:sp>
        <p:nvSpPr>
          <p:cNvPr id="65" name="Text 63"/>
          <p:cNvSpPr txBox="1"/>
          <p:nvPr/>
        </p:nvSpPr>
        <p:spPr>
          <a:xfrm>
            <a:off x="7040880" y="4539996"/>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TestAgent, Test Engineer, 4 QA</a:t>
            </a:r>
            <a:endParaRPr lang="en-US" sz="680" dirty="0"/>
          </a:p>
        </p:txBody>
      </p:sp>
      <p:sp>
        <p:nvSpPr>
          <p:cNvPr id="66" name="Text 64"/>
          <p:cNvSpPr/>
          <p:nvPr/>
        </p:nvSpPr>
        <p:spPr>
          <a:xfrm>
            <a:off x="8110728" y="4402836"/>
            <a:ext cx="731520"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67" name="Shape 65"/>
          <p:cNvSpPr/>
          <p:nvPr/>
        </p:nvSpPr>
        <p:spPr>
          <a:xfrm>
            <a:off x="3291840" y="4814316"/>
            <a:ext cx="5532120" cy="0"/>
          </a:xfrm>
          <a:prstGeom prst="line">
            <a:avLst/>
          </a:prstGeom>
          <a:noFill/>
          <a:ln w="6350">
            <a:solidFill>
              <a:srgbClr val="DCE4EE"/>
            </a:solidFill>
            <a:prstDash val="solid"/>
          </a:ln>
        </p:spPr>
        <p:txBody>
          <a:bodyPr/>
          <a:lstStyle/>
          <a:p>
            <a:endParaRPr lang="en-IN"/>
          </a:p>
        </p:txBody>
      </p:sp>
      <p:sp>
        <p:nvSpPr>
          <p:cNvPr id="68" name="Shape 66"/>
          <p:cNvSpPr/>
          <p:nvPr/>
        </p:nvSpPr>
        <p:spPr>
          <a:xfrm>
            <a:off x="3291840" y="4928616"/>
            <a:ext cx="219456" cy="219456"/>
          </a:xfrm>
          <a:prstGeom prst="ellipse">
            <a:avLst/>
          </a:prstGeom>
          <a:solidFill>
            <a:srgbClr val="2E7D32"/>
          </a:solidFill>
          <a:ln w="12700">
            <a:solidFill>
              <a:srgbClr val="2E7D32"/>
            </a:solidFill>
            <a:prstDash val="solid"/>
          </a:ln>
        </p:spPr>
        <p:txBody>
          <a:bodyPr/>
          <a:lstStyle/>
          <a:p>
            <a:endParaRPr lang="en-IN"/>
          </a:p>
        </p:txBody>
      </p:sp>
      <p:sp>
        <p:nvSpPr>
          <p:cNvPr id="69" name="Text 67"/>
          <p:cNvSpPr txBox="1"/>
          <p:nvPr/>
        </p:nvSpPr>
        <p:spPr>
          <a:xfrm>
            <a:off x="3291840" y="492861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7</a:t>
            </a:r>
            <a:endParaRPr lang="en-US" sz="800" dirty="0"/>
          </a:p>
        </p:txBody>
      </p:sp>
      <p:sp>
        <p:nvSpPr>
          <p:cNvPr id="70" name="Text 68"/>
          <p:cNvSpPr txBox="1"/>
          <p:nvPr/>
        </p:nvSpPr>
        <p:spPr>
          <a:xfrm>
            <a:off x="3611880" y="4873752"/>
            <a:ext cx="2377440" cy="182880"/>
          </a:xfrm>
          <a:prstGeom prst="rect">
            <a:avLst/>
          </a:prstGeom>
          <a:noFill/>
          <a:ln/>
        </p:spPr>
        <p:txBody>
          <a:bodyPr wrap="square" lIns="0" tIns="0" rIns="0" bIns="0" rtlCol="0" anchor="ctr"/>
          <a:lstStyle/>
          <a:p>
            <a:pPr marL="0" indent="0">
              <a:buNone/>
            </a:pPr>
            <a:r>
              <a:rPr lang="en-US" sz="950" b="1" dirty="0">
                <a:solidFill>
                  <a:srgbClr val="12233B"/>
                </a:solidFill>
                <a:latin typeface="Trenda IG Text" pitchFamily="34" charset="0"/>
                <a:ea typeface="Trenda IG Text" pitchFamily="34" charset="-122"/>
                <a:cs typeface="Trenda IG Text" pitchFamily="34" charset="-120"/>
              </a:rPr>
              <a:t>Release Agent</a:t>
            </a:r>
            <a:endParaRPr lang="en-US" sz="950" dirty="0"/>
          </a:p>
        </p:txBody>
      </p:sp>
      <p:sp>
        <p:nvSpPr>
          <p:cNvPr id="71" name="Text 69"/>
          <p:cNvSpPr txBox="1"/>
          <p:nvPr/>
        </p:nvSpPr>
        <p:spPr>
          <a:xfrm>
            <a:off x="3611880" y="5056632"/>
            <a:ext cx="3337560" cy="182880"/>
          </a:xfrm>
          <a:prstGeom prst="rect">
            <a:avLst/>
          </a:prstGeom>
          <a:noFill/>
          <a:ln/>
        </p:spPr>
        <p:txBody>
          <a:bodyPr wrap="square" lIns="0" tIns="0" rIns="0" bIns="0" rtlCol="0" anchor="ctr"/>
          <a:lstStyle/>
          <a:p>
            <a:pPr marL="0" indent="0">
              <a:buNone/>
            </a:pPr>
            <a:r>
              <a:rPr lang="en-US" sz="760" dirty="0">
                <a:solidFill>
                  <a:srgbClr val="5C6E85"/>
                </a:solidFill>
                <a:latin typeface="Trenda IG Text" pitchFamily="34" charset="0"/>
                <a:ea typeface="Trenda IG Text" pitchFamily="34" charset="-122"/>
                <a:cs typeface="Trenda IG Text" pitchFamily="34" charset="-120"/>
              </a:rPr>
              <a:t>Packages and promotes through Copado to lower environments</a:t>
            </a:r>
            <a:endParaRPr lang="en-US" sz="760" dirty="0"/>
          </a:p>
        </p:txBody>
      </p:sp>
      <p:sp>
        <p:nvSpPr>
          <p:cNvPr id="72" name="Text 70"/>
          <p:cNvSpPr txBox="1"/>
          <p:nvPr/>
        </p:nvSpPr>
        <p:spPr>
          <a:xfrm>
            <a:off x="7040880" y="5056632"/>
            <a:ext cx="1280160" cy="182880"/>
          </a:xfrm>
          <a:prstGeom prst="rect">
            <a:avLst/>
          </a:prstGeom>
          <a:noFill/>
          <a:ln/>
        </p:spPr>
        <p:txBody>
          <a:bodyPr wrap="square" lIns="0" tIns="0" rIns="0" bIns="0" rtlCol="0" anchor="ctr"/>
          <a:lstStyle/>
          <a:p>
            <a:pPr marL="0" indent="0">
              <a:buNone/>
            </a:pPr>
            <a:r>
              <a:rPr lang="en-US" sz="680" i="1" dirty="0">
                <a:solidFill>
                  <a:srgbClr val="00757F"/>
                </a:solidFill>
                <a:latin typeface="Trenda IG Text" pitchFamily="34" charset="0"/>
                <a:ea typeface="Trenda IG Text" pitchFamily="34" charset="-122"/>
                <a:cs typeface="Trenda IG Text" pitchFamily="34" charset="-120"/>
              </a:rPr>
              <a:t>AI Release Service (next)</a:t>
            </a:r>
            <a:endParaRPr lang="en-US" sz="680" dirty="0"/>
          </a:p>
        </p:txBody>
      </p:sp>
      <p:sp>
        <p:nvSpPr>
          <p:cNvPr id="73" name="Text 71"/>
          <p:cNvSpPr/>
          <p:nvPr/>
        </p:nvSpPr>
        <p:spPr>
          <a:xfrm>
            <a:off x="8110728" y="4919472"/>
            <a:ext cx="731520"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74" name="Shape 72"/>
          <p:cNvSpPr/>
          <p:nvPr/>
        </p:nvSpPr>
        <p:spPr>
          <a:xfrm>
            <a:off x="9098280" y="1207008"/>
            <a:ext cx="2679192" cy="4224528"/>
          </a:xfrm>
          <a:prstGeom prst="rect">
            <a:avLst/>
          </a:prstGeom>
          <a:solidFill>
            <a:srgbClr val="FFFFFF"/>
          </a:solidFill>
          <a:ln w="9525">
            <a:solidFill>
              <a:srgbClr val="DCE4EE"/>
            </a:solidFill>
            <a:prstDash val="solid"/>
          </a:ln>
        </p:spPr>
        <p:txBody>
          <a:bodyPr/>
          <a:lstStyle/>
          <a:p>
            <a:endParaRPr lang="en-IN"/>
          </a:p>
        </p:txBody>
      </p:sp>
      <p:sp>
        <p:nvSpPr>
          <p:cNvPr id="75" name="Shape 73"/>
          <p:cNvSpPr/>
          <p:nvPr/>
        </p:nvSpPr>
        <p:spPr>
          <a:xfrm>
            <a:off x="9098280" y="1207008"/>
            <a:ext cx="2679192" cy="310896"/>
          </a:xfrm>
          <a:prstGeom prst="rect">
            <a:avLst/>
          </a:prstGeom>
          <a:solidFill>
            <a:srgbClr val="C2185B"/>
          </a:solidFill>
          <a:ln w="12700">
            <a:solidFill>
              <a:srgbClr val="C2185B"/>
            </a:solidFill>
            <a:prstDash val="solid"/>
          </a:ln>
        </p:spPr>
        <p:txBody>
          <a:bodyPr/>
          <a:lstStyle/>
          <a:p>
            <a:endParaRPr lang="en-IN"/>
          </a:p>
        </p:txBody>
      </p:sp>
      <p:sp>
        <p:nvSpPr>
          <p:cNvPr id="76" name="Text 74"/>
          <p:cNvSpPr/>
          <p:nvPr/>
        </p:nvSpPr>
        <p:spPr>
          <a:xfrm>
            <a:off x="9235440" y="1207008"/>
            <a:ext cx="2404872"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Pod skills · what changes per pod</a:t>
            </a:r>
            <a:endParaRPr lang="en-US" sz="1000" dirty="0"/>
          </a:p>
        </p:txBody>
      </p:sp>
      <p:sp>
        <p:nvSpPr>
          <p:cNvPr id="77" name="Text 75"/>
          <p:cNvSpPr txBox="1"/>
          <p:nvPr/>
        </p:nvSpPr>
        <p:spPr>
          <a:xfrm>
            <a:off x="9253728" y="1664208"/>
            <a:ext cx="2404872" cy="182880"/>
          </a:xfrm>
          <a:prstGeom prst="rect">
            <a:avLst/>
          </a:prstGeom>
          <a:noFill/>
          <a:ln/>
        </p:spPr>
        <p:txBody>
          <a:bodyPr wrap="square" lIns="0" tIns="0" rIns="0" bIns="0" rtlCol="0" anchor="ctr"/>
          <a:lstStyle/>
          <a:p>
            <a:pPr marL="0" indent="0">
              <a:buNone/>
            </a:pPr>
            <a:r>
              <a:rPr lang="en-US" sz="950" b="1" dirty="0">
                <a:solidFill>
                  <a:srgbClr val="C2185B"/>
                </a:solidFill>
                <a:latin typeface="Trenda IG Text" pitchFamily="34" charset="0"/>
                <a:ea typeface="Trenda IG Text" pitchFamily="34" charset="-122"/>
                <a:cs typeface="Trenda IG Text" pitchFamily="34" charset="-120"/>
              </a:rPr>
              <a:t>Health Cloud pods</a:t>
            </a:r>
            <a:endParaRPr lang="en-US" sz="950" dirty="0"/>
          </a:p>
        </p:txBody>
      </p:sp>
      <p:sp>
        <p:nvSpPr>
          <p:cNvPr id="78" name="Text 76"/>
          <p:cNvSpPr txBox="1"/>
          <p:nvPr/>
        </p:nvSpPr>
        <p:spPr>
          <a:xfrm>
            <a:off x="9253728" y="1856232"/>
            <a:ext cx="2404872" cy="182880"/>
          </a:xfrm>
          <a:prstGeom prst="rect">
            <a:avLst/>
          </a:prstGeom>
          <a:noFill/>
          <a:ln/>
        </p:spPr>
        <p:txBody>
          <a:bodyPr wrap="square" lIns="0" tIns="0" rIns="0" bIns="0" rtlCol="0" anchor="ctr"/>
          <a:lstStyle/>
          <a:p>
            <a:pPr marL="0" indent="0">
              <a:buNone/>
            </a:pPr>
            <a:r>
              <a:rPr lang="en-US" sz="720" i="1" dirty="0">
                <a:solidFill>
                  <a:srgbClr val="5C6E85"/>
                </a:solidFill>
                <a:latin typeface="Trenda IG Text" pitchFamily="34" charset="0"/>
                <a:ea typeface="Trenda IG Text" pitchFamily="34" charset="-122"/>
                <a:cs typeface="Trenda IG Text" pitchFamily="34" charset="-120"/>
              </a:rPr>
              <a:t>Network Services, Clinical Transformation, Contact Center</a:t>
            </a:r>
            <a:endParaRPr lang="en-US" sz="720" dirty="0"/>
          </a:p>
        </p:txBody>
      </p:sp>
      <p:sp>
        <p:nvSpPr>
          <p:cNvPr id="79" name="Text 77"/>
          <p:cNvSpPr txBox="1"/>
          <p:nvPr/>
        </p:nvSpPr>
        <p:spPr>
          <a:xfrm>
            <a:off x="9253728" y="2048256"/>
            <a:ext cx="2404872" cy="365760"/>
          </a:xfrm>
          <a:prstGeom prst="rect">
            <a:avLst/>
          </a:prstGeom>
          <a:noFill/>
          <a:ln/>
        </p:spPr>
        <p:txBody>
          <a:bodyPr wrap="square" lIns="0" tIns="0" rIns="0" bIns="0" rtlCol="0" anchor="t"/>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Apex, Flows, LWC, sharing, permission sets, Health Cloud objects</a:t>
            </a:r>
            <a:endParaRPr lang="en-US" sz="780" dirty="0"/>
          </a:p>
        </p:txBody>
      </p:sp>
      <p:sp>
        <p:nvSpPr>
          <p:cNvPr id="80" name="Text 78"/>
          <p:cNvSpPr txBox="1"/>
          <p:nvPr/>
        </p:nvSpPr>
        <p:spPr>
          <a:xfrm>
            <a:off x="9253728" y="2624328"/>
            <a:ext cx="2404872" cy="182880"/>
          </a:xfrm>
          <a:prstGeom prst="rect">
            <a:avLst/>
          </a:prstGeom>
          <a:noFill/>
          <a:ln/>
        </p:spPr>
        <p:txBody>
          <a:bodyPr wrap="square" lIns="0" tIns="0" rIns="0" bIns="0" rtlCol="0" anchor="ctr"/>
          <a:lstStyle/>
          <a:p>
            <a:pPr marL="0" indent="0">
              <a:buNone/>
            </a:pPr>
            <a:r>
              <a:rPr lang="en-US" sz="950" b="1" dirty="0">
                <a:solidFill>
                  <a:srgbClr val="C2185B"/>
                </a:solidFill>
                <a:latin typeface="Trenda IG Text" pitchFamily="34" charset="0"/>
                <a:ea typeface="Trenda IG Text" pitchFamily="34" charset="-122"/>
                <a:cs typeface="Trenda IG Text" pitchFamily="34" charset="-120"/>
              </a:rPr>
              <a:t>Marketing Cloud pods</a:t>
            </a:r>
            <a:endParaRPr lang="en-US" sz="950" dirty="0"/>
          </a:p>
        </p:txBody>
      </p:sp>
      <p:sp>
        <p:nvSpPr>
          <p:cNvPr id="81" name="Text 79"/>
          <p:cNvSpPr txBox="1"/>
          <p:nvPr/>
        </p:nvSpPr>
        <p:spPr>
          <a:xfrm>
            <a:off x="9253728" y="2816352"/>
            <a:ext cx="2404872" cy="182880"/>
          </a:xfrm>
          <a:prstGeom prst="rect">
            <a:avLst/>
          </a:prstGeom>
          <a:noFill/>
          <a:ln/>
        </p:spPr>
        <p:txBody>
          <a:bodyPr wrap="square" lIns="0" tIns="0" rIns="0" bIns="0" rtlCol="0" anchor="ctr"/>
          <a:lstStyle/>
          <a:p>
            <a:pPr marL="0" indent="0">
              <a:buNone/>
            </a:pPr>
            <a:r>
              <a:rPr lang="en-US" sz="720" i="1" dirty="0">
                <a:solidFill>
                  <a:srgbClr val="5C6E85"/>
                </a:solidFill>
                <a:latin typeface="Trenda IG Text" pitchFamily="34" charset="0"/>
                <a:ea typeface="Trenda IG Text" pitchFamily="34" charset="-122"/>
                <a:cs typeface="Trenda IG Text" pitchFamily="34" charset="-120"/>
              </a:rPr>
              <a:t>Nudge / Demand, VBC outreach</a:t>
            </a:r>
            <a:endParaRPr lang="en-US" sz="720" dirty="0"/>
          </a:p>
        </p:txBody>
      </p:sp>
      <p:sp>
        <p:nvSpPr>
          <p:cNvPr id="82" name="Text 80"/>
          <p:cNvSpPr txBox="1"/>
          <p:nvPr/>
        </p:nvSpPr>
        <p:spPr>
          <a:xfrm>
            <a:off x="9253728" y="3008376"/>
            <a:ext cx="2404872" cy="365760"/>
          </a:xfrm>
          <a:prstGeom prst="rect">
            <a:avLst/>
          </a:prstGeom>
          <a:noFill/>
          <a:ln/>
        </p:spPr>
        <p:txBody>
          <a:bodyPr wrap="square" lIns="0" tIns="0" rIns="0" bIns="0" rtlCol="0" anchor="t"/>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Data Cloud streams and segments, SFMC SQL, journeys, AMPscript</a:t>
            </a:r>
            <a:endParaRPr lang="en-US" sz="780" dirty="0"/>
          </a:p>
        </p:txBody>
      </p:sp>
      <p:sp>
        <p:nvSpPr>
          <p:cNvPr id="83" name="Text 81"/>
          <p:cNvSpPr txBox="1"/>
          <p:nvPr/>
        </p:nvSpPr>
        <p:spPr>
          <a:xfrm>
            <a:off x="9253728" y="3584448"/>
            <a:ext cx="2404872" cy="182880"/>
          </a:xfrm>
          <a:prstGeom prst="rect">
            <a:avLst/>
          </a:prstGeom>
          <a:noFill/>
          <a:ln/>
        </p:spPr>
        <p:txBody>
          <a:bodyPr wrap="square" lIns="0" tIns="0" rIns="0" bIns="0" rtlCol="0" anchor="ctr"/>
          <a:lstStyle/>
          <a:p>
            <a:pPr marL="0" indent="0">
              <a:buNone/>
            </a:pPr>
            <a:r>
              <a:rPr lang="en-US" sz="950" b="1" dirty="0">
                <a:solidFill>
                  <a:srgbClr val="C2185B"/>
                </a:solidFill>
                <a:latin typeface="Trenda IG Text" pitchFamily="34" charset="0"/>
                <a:ea typeface="Trenda IG Text" pitchFamily="34" charset="-122"/>
                <a:cs typeface="Trenda IG Text" pitchFamily="34" charset="-120"/>
              </a:rPr>
              <a:t>QA, all pods</a:t>
            </a:r>
            <a:endParaRPr lang="en-US" sz="950" dirty="0"/>
          </a:p>
        </p:txBody>
      </p:sp>
      <p:sp>
        <p:nvSpPr>
          <p:cNvPr id="84" name="Text 82"/>
          <p:cNvSpPr txBox="1"/>
          <p:nvPr/>
        </p:nvSpPr>
        <p:spPr>
          <a:xfrm>
            <a:off x="9253728" y="3776472"/>
            <a:ext cx="2404872" cy="182880"/>
          </a:xfrm>
          <a:prstGeom prst="rect">
            <a:avLst/>
          </a:prstGeom>
          <a:noFill/>
          <a:ln/>
        </p:spPr>
        <p:txBody>
          <a:bodyPr wrap="square" lIns="0" tIns="0" rIns="0" bIns="0" rtlCol="0" anchor="ctr"/>
          <a:lstStyle/>
          <a:p>
            <a:pPr marL="0" indent="0">
              <a:buNone/>
            </a:pPr>
            <a:r>
              <a:rPr lang="en-US" sz="720" i="1" dirty="0">
                <a:solidFill>
                  <a:srgbClr val="5C6E85"/>
                </a:solidFill>
                <a:latin typeface="Trenda IG Text" pitchFamily="34" charset="0"/>
                <a:ea typeface="Trenda IG Text" pitchFamily="34" charset="-122"/>
                <a:cs typeface="Trenda IG Text" pitchFamily="34" charset="-120"/>
              </a:rPr>
              <a:t>Every release</a:t>
            </a:r>
            <a:endParaRPr lang="en-US" sz="720" dirty="0"/>
          </a:p>
        </p:txBody>
      </p:sp>
      <p:sp>
        <p:nvSpPr>
          <p:cNvPr id="85" name="Text 83"/>
          <p:cNvSpPr txBox="1"/>
          <p:nvPr/>
        </p:nvSpPr>
        <p:spPr>
          <a:xfrm>
            <a:off x="9253728" y="3968496"/>
            <a:ext cx="2404872" cy="365760"/>
          </a:xfrm>
          <a:prstGeom prst="rect">
            <a:avLst/>
          </a:prstGeom>
          <a:noFill/>
          <a:ln/>
        </p:spPr>
        <p:txBody>
          <a:bodyPr wrap="square" lIns="0" tIns="0" rIns="0" bIns="0" rtlCol="0" anchor="t"/>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Zephyr test cases, Copado robotic and regression suites</a:t>
            </a:r>
            <a:endParaRPr lang="en-US" sz="780" dirty="0"/>
          </a:p>
        </p:txBody>
      </p:sp>
      <p:sp>
        <p:nvSpPr>
          <p:cNvPr id="86" name="Shape 84"/>
          <p:cNvSpPr/>
          <p:nvPr/>
        </p:nvSpPr>
        <p:spPr>
          <a:xfrm>
            <a:off x="9235440" y="4608576"/>
            <a:ext cx="2404872" cy="713232"/>
          </a:xfrm>
          <a:prstGeom prst="rect">
            <a:avLst/>
          </a:prstGeom>
          <a:solidFill>
            <a:srgbClr val="FBE9F0"/>
          </a:solidFill>
          <a:ln w="12700">
            <a:solidFill>
              <a:srgbClr val="FBE9F0"/>
            </a:solidFill>
            <a:prstDash val="solid"/>
          </a:ln>
        </p:spPr>
        <p:txBody>
          <a:bodyPr/>
          <a:lstStyle/>
          <a:p>
            <a:endParaRPr lang="en-IN"/>
          </a:p>
        </p:txBody>
      </p:sp>
      <p:sp>
        <p:nvSpPr>
          <p:cNvPr id="87" name="Text 85"/>
          <p:cNvSpPr txBox="1"/>
          <p:nvPr/>
        </p:nvSpPr>
        <p:spPr>
          <a:xfrm>
            <a:off x="9326880" y="4663440"/>
            <a:ext cx="2221992" cy="603504"/>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 new pod adds its sources to the graph and its skills to the agents. No new agents to build or govern.</a:t>
            </a:r>
            <a:endParaRPr lang="en-US" sz="780" dirty="0"/>
          </a:p>
        </p:txBody>
      </p:sp>
      <p:sp>
        <p:nvSpPr>
          <p:cNvPr id="88" name="Shape 86"/>
          <p:cNvSpPr/>
          <p:nvPr/>
        </p:nvSpPr>
        <p:spPr>
          <a:xfrm>
            <a:off x="411480" y="5577840"/>
            <a:ext cx="11365992" cy="868680"/>
          </a:xfrm>
          <a:prstGeom prst="rect">
            <a:avLst/>
          </a:prstGeom>
          <a:solidFill>
            <a:srgbClr val="FFFFFF"/>
          </a:solidFill>
          <a:ln w="9525">
            <a:solidFill>
              <a:srgbClr val="DCE4EE"/>
            </a:solidFill>
            <a:prstDash val="solid"/>
          </a:ln>
        </p:spPr>
        <p:txBody>
          <a:bodyPr/>
          <a:lstStyle/>
          <a:p>
            <a:endParaRPr lang="en-IN"/>
          </a:p>
        </p:txBody>
      </p:sp>
      <p:sp>
        <p:nvSpPr>
          <p:cNvPr id="89" name="Text 87"/>
          <p:cNvSpPr txBox="1"/>
          <p:nvPr/>
        </p:nvSpPr>
        <p:spPr>
          <a:xfrm>
            <a:off x="566928" y="5669280"/>
            <a:ext cx="3657600" cy="164592"/>
          </a:xfrm>
          <a:prstGeom prst="rect">
            <a:avLst/>
          </a:prstGeom>
          <a:noFill/>
          <a:ln/>
        </p:spPr>
        <p:txBody>
          <a:bodyPr wrap="square" lIns="0" tIns="0" rIns="0" bIns="0" rtlCol="0" anchor="ctr"/>
          <a:lstStyle/>
          <a:p>
            <a:pPr marL="0" indent="0">
              <a:buNone/>
            </a:pPr>
            <a:r>
              <a:rPr lang="en-US" sz="750" b="1" kern="0" spc="200" dirty="0">
                <a:solidFill>
                  <a:srgbClr val="00757F"/>
                </a:solidFill>
                <a:latin typeface="Trenda IG Text" pitchFamily="34" charset="0"/>
                <a:ea typeface="Trenda IG Text" pitchFamily="34" charset="-122"/>
                <a:cs typeface="Trenda IG Text" pitchFamily="34" charset="-120"/>
              </a:rPr>
              <a:t>GOVERNED PATH, UNCHANGED</a:t>
            </a:r>
            <a:endParaRPr lang="en-US" sz="750" dirty="0"/>
          </a:p>
        </p:txBody>
      </p:sp>
      <p:sp>
        <p:nvSpPr>
          <p:cNvPr id="90" name="Text 88"/>
          <p:cNvSpPr/>
          <p:nvPr/>
        </p:nvSpPr>
        <p:spPr>
          <a:xfrm>
            <a:off x="566928" y="5907024"/>
            <a:ext cx="1188720" cy="292608"/>
          </a:xfrm>
          <a:prstGeom prst="chevron">
            <a:avLst/>
          </a:prstGeom>
          <a:solidFill>
            <a:srgbClr val="E8F3E9"/>
          </a:solidFill>
          <a:ln w="9525">
            <a:solidFill>
              <a:srgbClr val="2E7D32"/>
            </a:solidFill>
          </a:ln>
        </p:spPr>
        <p:txBody>
          <a:bodyPr wrap="square" lIns="0" tIns="0" rIns="0" bIns="0" rtlCol="0" anchor="ctr"/>
          <a:lstStyle/>
          <a:p>
            <a:pPr marL="0" indent="0" algn="ctr">
              <a:buNone/>
            </a:pPr>
            <a:r>
              <a:rPr lang="en-US" sz="800" b="1" dirty="0">
                <a:solidFill>
                  <a:srgbClr val="2E7D32"/>
                </a:solidFill>
                <a:latin typeface="Trenda IG Text" pitchFamily="34" charset="0"/>
                <a:ea typeface="Trenda IG Text" pitchFamily="34" charset="-122"/>
                <a:cs typeface="Trenda IG Text" pitchFamily="34" charset="-120"/>
              </a:rPr>
              <a:t>AI build</a:t>
            </a:r>
            <a:endParaRPr lang="en-US" sz="800" dirty="0"/>
          </a:p>
        </p:txBody>
      </p:sp>
      <p:sp>
        <p:nvSpPr>
          <p:cNvPr id="91" name="Text 89"/>
          <p:cNvSpPr/>
          <p:nvPr/>
        </p:nvSpPr>
        <p:spPr>
          <a:xfrm>
            <a:off x="1810512" y="5907024"/>
            <a:ext cx="1188720" cy="292608"/>
          </a:xfrm>
          <a:prstGeom prst="chevron">
            <a:avLst/>
          </a:prstGeom>
          <a:solidFill>
            <a:srgbClr val="F4F7FC"/>
          </a:solidFill>
          <a:ln w="9525">
            <a:solidFill>
              <a:srgbClr val="C7D2DE"/>
            </a:solidFill>
          </a:ln>
        </p:spPr>
        <p:txBody>
          <a:bodyPr wrap="square" lIns="0" tIns="0" rIns="0" bIns="0" rtlCol="0" anchor="ctr"/>
          <a:lstStyle/>
          <a:p>
            <a:pPr marL="0" indent="0" algn="ctr">
              <a:buNone/>
            </a:pPr>
            <a:r>
              <a:rPr lang="en-US" sz="800" b="1" dirty="0">
                <a:solidFill>
                  <a:srgbClr val="12233B"/>
                </a:solidFill>
                <a:latin typeface="Trenda IG Text" pitchFamily="34" charset="0"/>
                <a:ea typeface="Trenda IG Text" pitchFamily="34" charset="-122"/>
                <a:cs typeface="Trenda IG Text" pitchFamily="34" charset="-120"/>
              </a:rPr>
              <a:t>Copado</a:t>
            </a:r>
            <a:endParaRPr lang="en-US" sz="800" dirty="0"/>
          </a:p>
        </p:txBody>
      </p:sp>
      <p:sp>
        <p:nvSpPr>
          <p:cNvPr id="92" name="Text 90"/>
          <p:cNvSpPr/>
          <p:nvPr/>
        </p:nvSpPr>
        <p:spPr>
          <a:xfrm>
            <a:off x="3054096" y="5907024"/>
            <a:ext cx="1188720" cy="292608"/>
          </a:xfrm>
          <a:prstGeom prst="chevron">
            <a:avLst/>
          </a:prstGeom>
          <a:solidFill>
            <a:srgbClr val="F4F7FC"/>
          </a:solidFill>
          <a:ln w="9525">
            <a:solidFill>
              <a:srgbClr val="C7D2DE"/>
            </a:solidFill>
          </a:ln>
        </p:spPr>
        <p:txBody>
          <a:bodyPr wrap="square" lIns="0" tIns="0" rIns="0" bIns="0" rtlCol="0" anchor="ctr"/>
          <a:lstStyle/>
          <a:p>
            <a:pPr marL="0" indent="0" algn="ctr">
              <a:buNone/>
            </a:pPr>
            <a:r>
              <a:rPr lang="en-US" sz="800" b="1" dirty="0">
                <a:solidFill>
                  <a:srgbClr val="12233B"/>
                </a:solidFill>
                <a:latin typeface="Trenda IG Text" pitchFamily="34" charset="0"/>
                <a:ea typeface="Trenda IG Text" pitchFamily="34" charset="-122"/>
                <a:cs typeface="Trenda IG Text" pitchFamily="34" charset="-120"/>
              </a:rPr>
              <a:t>Quality gates</a:t>
            </a:r>
            <a:endParaRPr lang="en-US" sz="800" dirty="0"/>
          </a:p>
        </p:txBody>
      </p:sp>
      <p:sp>
        <p:nvSpPr>
          <p:cNvPr id="93" name="Text 91"/>
          <p:cNvSpPr/>
          <p:nvPr/>
        </p:nvSpPr>
        <p:spPr>
          <a:xfrm>
            <a:off x="4297680" y="5907024"/>
            <a:ext cx="1188720" cy="292608"/>
          </a:xfrm>
          <a:prstGeom prst="chevron">
            <a:avLst/>
          </a:prstGeom>
          <a:solidFill>
            <a:srgbClr val="F4F7FC"/>
          </a:solidFill>
          <a:ln w="9525">
            <a:solidFill>
              <a:srgbClr val="C7D2DE"/>
            </a:solidFill>
          </a:ln>
        </p:spPr>
        <p:txBody>
          <a:bodyPr wrap="square" lIns="0" tIns="0" rIns="0" bIns="0" rtlCol="0" anchor="ctr"/>
          <a:lstStyle/>
          <a:p>
            <a:pPr marL="0" indent="0" algn="ctr">
              <a:buNone/>
            </a:pPr>
            <a:r>
              <a:rPr lang="en-US" sz="800" b="1" dirty="0">
                <a:solidFill>
                  <a:srgbClr val="12233B"/>
                </a:solidFill>
                <a:latin typeface="Trenda IG Text" pitchFamily="34" charset="0"/>
                <a:ea typeface="Trenda IG Text" pitchFamily="34" charset="-122"/>
                <a:cs typeface="Trenda IG Text" pitchFamily="34" charset="-120"/>
              </a:rPr>
              <a:t>DEV</a:t>
            </a:r>
            <a:endParaRPr lang="en-US" sz="800" dirty="0"/>
          </a:p>
        </p:txBody>
      </p:sp>
      <p:sp>
        <p:nvSpPr>
          <p:cNvPr id="94" name="Text 92"/>
          <p:cNvSpPr/>
          <p:nvPr/>
        </p:nvSpPr>
        <p:spPr>
          <a:xfrm>
            <a:off x="5541264" y="5907024"/>
            <a:ext cx="1188720" cy="292608"/>
          </a:xfrm>
          <a:prstGeom prst="chevron">
            <a:avLst/>
          </a:prstGeom>
          <a:solidFill>
            <a:srgbClr val="F4F7FC"/>
          </a:solidFill>
          <a:ln w="9525">
            <a:solidFill>
              <a:srgbClr val="C7D2DE"/>
            </a:solidFill>
          </a:ln>
        </p:spPr>
        <p:txBody>
          <a:bodyPr wrap="square" lIns="0" tIns="0" rIns="0" bIns="0" rtlCol="0" anchor="ctr"/>
          <a:lstStyle/>
          <a:p>
            <a:pPr marL="0" indent="0" algn="ctr">
              <a:buNone/>
            </a:pPr>
            <a:r>
              <a:rPr lang="en-US" sz="800" b="1" dirty="0">
                <a:solidFill>
                  <a:srgbClr val="12233B"/>
                </a:solidFill>
                <a:latin typeface="Trenda IG Text" pitchFamily="34" charset="0"/>
                <a:ea typeface="Trenda IG Text" pitchFamily="34" charset="-122"/>
                <a:cs typeface="Trenda IG Text" pitchFamily="34" charset="-120"/>
              </a:rPr>
              <a:t>SIT</a:t>
            </a:r>
            <a:endParaRPr lang="en-US" sz="800" dirty="0"/>
          </a:p>
        </p:txBody>
      </p:sp>
      <p:sp>
        <p:nvSpPr>
          <p:cNvPr id="95" name="Text 93"/>
          <p:cNvSpPr/>
          <p:nvPr/>
        </p:nvSpPr>
        <p:spPr>
          <a:xfrm>
            <a:off x="6784848" y="5907024"/>
            <a:ext cx="1188720" cy="292608"/>
          </a:xfrm>
          <a:prstGeom prst="chevron">
            <a:avLst/>
          </a:prstGeom>
          <a:solidFill>
            <a:srgbClr val="FBF1E3"/>
          </a:solidFill>
          <a:ln w="9525">
            <a:solidFill>
              <a:srgbClr val="C77400"/>
            </a:solidFill>
          </a:ln>
        </p:spPr>
        <p:txBody>
          <a:bodyPr wrap="square" lIns="0" tIns="0" rIns="0" bIns="0" rtlCol="0" anchor="ctr"/>
          <a:lstStyle/>
          <a:p>
            <a:pPr marL="0" indent="0" algn="ctr">
              <a:buNone/>
            </a:pPr>
            <a:r>
              <a:rPr lang="en-US" sz="800" b="1" dirty="0">
                <a:solidFill>
                  <a:srgbClr val="C77400"/>
                </a:solidFill>
                <a:latin typeface="Trenda IG Text" pitchFamily="34" charset="0"/>
                <a:ea typeface="Trenda IG Text" pitchFamily="34" charset="-122"/>
                <a:cs typeface="Trenda IG Text" pitchFamily="34" charset="-120"/>
              </a:rPr>
              <a:t>UAT</a:t>
            </a:r>
            <a:endParaRPr lang="en-US" sz="800" dirty="0"/>
          </a:p>
        </p:txBody>
      </p:sp>
      <p:sp>
        <p:nvSpPr>
          <p:cNvPr id="96" name="Text 94"/>
          <p:cNvSpPr/>
          <p:nvPr/>
        </p:nvSpPr>
        <p:spPr>
          <a:xfrm>
            <a:off x="8028432" y="5907024"/>
            <a:ext cx="1188720" cy="292608"/>
          </a:xfrm>
          <a:prstGeom prst="chevron">
            <a:avLst/>
          </a:prstGeom>
          <a:solidFill>
            <a:srgbClr val="FBF1E3"/>
          </a:solidFill>
          <a:ln w="9525">
            <a:solidFill>
              <a:srgbClr val="C77400"/>
            </a:solidFill>
          </a:ln>
        </p:spPr>
        <p:txBody>
          <a:bodyPr wrap="square" lIns="0" tIns="0" rIns="0" bIns="0" rtlCol="0" anchor="ctr"/>
          <a:lstStyle/>
          <a:p>
            <a:pPr marL="0" indent="0" algn="ctr">
              <a:buNone/>
            </a:pPr>
            <a:r>
              <a:rPr lang="en-US" sz="800" b="1" dirty="0">
                <a:solidFill>
                  <a:srgbClr val="C77400"/>
                </a:solidFill>
                <a:latin typeface="Trenda IG Text" pitchFamily="34" charset="0"/>
                <a:ea typeface="Trenda IG Text" pitchFamily="34" charset="-122"/>
                <a:cs typeface="Trenda IG Text" pitchFamily="34" charset="-120"/>
              </a:rPr>
              <a:t>Human approval</a:t>
            </a:r>
            <a:endParaRPr lang="en-US" sz="800" dirty="0"/>
          </a:p>
        </p:txBody>
      </p:sp>
      <p:sp>
        <p:nvSpPr>
          <p:cNvPr id="97" name="Text 95"/>
          <p:cNvSpPr/>
          <p:nvPr/>
        </p:nvSpPr>
        <p:spPr>
          <a:xfrm>
            <a:off x="9272016" y="5907024"/>
            <a:ext cx="1188720" cy="292608"/>
          </a:xfrm>
          <a:prstGeom prst="chevron">
            <a:avLst/>
          </a:prstGeom>
          <a:solidFill>
            <a:srgbClr val="FBF1E3"/>
          </a:solidFill>
          <a:ln w="9525">
            <a:solidFill>
              <a:srgbClr val="C77400"/>
            </a:solidFill>
          </a:ln>
        </p:spPr>
        <p:txBody>
          <a:bodyPr wrap="square" lIns="0" tIns="0" rIns="0" bIns="0" rtlCol="0" anchor="ctr"/>
          <a:lstStyle/>
          <a:p>
            <a:pPr marL="0" indent="0" algn="ctr">
              <a:buNone/>
            </a:pPr>
            <a:r>
              <a:rPr lang="en-US" sz="800" b="1" dirty="0">
                <a:solidFill>
                  <a:srgbClr val="C77400"/>
                </a:solidFill>
                <a:latin typeface="Trenda IG Text" pitchFamily="34" charset="0"/>
                <a:ea typeface="Trenda IG Text" pitchFamily="34" charset="-122"/>
                <a:cs typeface="Trenda IG Text" pitchFamily="34" charset="-120"/>
              </a:rPr>
              <a:t>CAB</a:t>
            </a:r>
            <a:endParaRPr lang="en-US" sz="800" dirty="0"/>
          </a:p>
        </p:txBody>
      </p:sp>
      <p:sp>
        <p:nvSpPr>
          <p:cNvPr id="98" name="Text 96"/>
          <p:cNvSpPr/>
          <p:nvPr/>
        </p:nvSpPr>
        <p:spPr>
          <a:xfrm>
            <a:off x="10515600" y="5907024"/>
            <a:ext cx="1188720" cy="292608"/>
          </a:xfrm>
          <a:prstGeom prst="chevron">
            <a:avLst/>
          </a:prstGeom>
          <a:solidFill>
            <a:srgbClr val="F4F7FC"/>
          </a:solidFill>
          <a:ln w="9525">
            <a:solidFill>
              <a:srgbClr val="C7D2DE"/>
            </a:solidFill>
          </a:ln>
        </p:spPr>
        <p:txBody>
          <a:bodyPr wrap="square" lIns="0" tIns="0" rIns="0" bIns="0" rtlCol="0" anchor="ctr"/>
          <a:lstStyle/>
          <a:p>
            <a:pPr marL="0" indent="0" algn="ctr">
              <a:buNone/>
            </a:pPr>
            <a:r>
              <a:rPr lang="en-US" sz="800" b="1" dirty="0">
                <a:solidFill>
                  <a:srgbClr val="12233B"/>
                </a:solidFill>
                <a:latin typeface="Trenda IG Text" pitchFamily="34" charset="0"/>
                <a:ea typeface="Trenda IG Text" pitchFamily="34" charset="-122"/>
                <a:cs typeface="Trenda IG Text" pitchFamily="34" charset="-120"/>
              </a:rPr>
              <a:t>PROD</a:t>
            </a:r>
            <a:endParaRPr lang="en-US" sz="800" dirty="0"/>
          </a:p>
        </p:txBody>
      </p:sp>
      <p:sp>
        <p:nvSpPr>
          <p:cNvPr id="99" name="Text 97"/>
          <p:cNvSpPr txBox="1"/>
          <p:nvPr/>
        </p:nvSpPr>
        <p:spPr>
          <a:xfrm>
            <a:off x="566928" y="6245352"/>
            <a:ext cx="10972800" cy="182880"/>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Four human gates on every change: requirements sign-off, architecture approval by risk tier, review, UAT. No production credentials for any agent.</a:t>
            </a:r>
            <a:endParaRPr lang="en-US" sz="750" dirty="0"/>
          </a:p>
        </p:txBody>
      </p:sp>
      <p:sp>
        <p:nvSpPr>
          <p:cNvPr id="100" name="Text 98"/>
          <p:cNvSpPr txBox="1"/>
          <p:nvPr/>
        </p:nvSpPr>
        <p:spPr>
          <a:xfrm>
            <a:off x="411480" y="6510528"/>
            <a:ext cx="11338560" cy="182880"/>
          </a:xfrm>
          <a:prstGeom prst="rect">
            <a:avLst/>
          </a:prstGeom>
          <a:noFill/>
          <a:ln/>
        </p:spPr>
        <p:txBody>
          <a:bodyPr wrap="square" lIns="0" tIns="0" rIns="0" bIns="0" rtlCol="0" anchor="ctr"/>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Sources: Agentifying Ascension Ways of Working (built agents across UI, backend and QA); Engineering Context Knowledge Graph architecture. Release Agent is the next build, using the AI Release Service design.</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2697480" y="146304"/>
            <a:ext cx="6793992" cy="731520"/>
          </a:xfrm>
          <a:prstGeom prst="roundRect">
            <a:avLst>
              <a:gd name="adj" fmla="val 7500"/>
            </a:avLst>
          </a:prstGeom>
          <a:solidFill>
            <a:srgbClr val="0E1B2E"/>
          </a:solidFill>
          <a:ln w="12700">
            <a:solidFill>
              <a:srgbClr val="0E1B2E"/>
            </a:solidFill>
            <a:prstDash val="solid"/>
          </a:ln>
        </p:spPr>
        <p:txBody>
          <a:bodyPr/>
          <a:lstStyle/>
          <a:p>
            <a:endParaRPr lang="en-IN"/>
          </a:p>
        </p:txBody>
      </p:sp>
      <p:sp>
        <p:nvSpPr>
          <p:cNvPr id="3" name="Text 1"/>
          <p:cNvSpPr txBox="1"/>
          <p:nvPr/>
        </p:nvSpPr>
        <p:spPr>
          <a:xfrm>
            <a:off x="2743200" y="201168"/>
            <a:ext cx="6702552" cy="201168"/>
          </a:xfrm>
          <a:prstGeom prst="rect">
            <a:avLst/>
          </a:prstGeom>
          <a:noFill/>
          <a:ln/>
        </p:spPr>
        <p:txBody>
          <a:bodyPr wrap="square" lIns="0" tIns="0" rIns="0" bIns="0" rtlCol="0" anchor="ctr"/>
          <a:lstStyle/>
          <a:p>
            <a:pPr marL="0" indent="0" algn="ctr">
              <a:buNone/>
            </a:pPr>
            <a:r>
              <a:rPr lang="en-US" sz="1300" b="0" kern="0" spc="30" dirty="0">
                <a:solidFill>
                  <a:srgbClr val="FFFFFF"/>
                </a:solidFill>
                <a:latin typeface="Trenda IG Display Bold" pitchFamily="34" charset="0"/>
                <a:ea typeface="Trenda IG Display Bold" pitchFamily="34" charset="-122"/>
                <a:cs typeface="Trenda IG Display Bold" pitchFamily="34" charset="-120"/>
              </a:rPr>
              <a:t>ASCENSION NETWORK SERVICES</a:t>
            </a:r>
            <a:endParaRPr lang="en-US" sz="1300" dirty="0"/>
          </a:p>
        </p:txBody>
      </p:sp>
      <p:sp>
        <p:nvSpPr>
          <p:cNvPr id="4" name="Text 2"/>
          <p:cNvSpPr txBox="1"/>
          <p:nvPr/>
        </p:nvSpPr>
        <p:spPr>
          <a:xfrm>
            <a:off x="2743200" y="420624"/>
            <a:ext cx="6702552" cy="182880"/>
          </a:xfrm>
          <a:prstGeom prst="rect">
            <a:avLst/>
          </a:prstGeom>
          <a:noFill/>
          <a:ln/>
        </p:spPr>
        <p:txBody>
          <a:bodyPr wrap="square" lIns="0" tIns="0" rIns="0" bIns="0" rtlCol="0" anchor="ctr"/>
          <a:lstStyle/>
          <a:p>
            <a:pPr marL="0" indent="0" algn="ctr">
              <a:buNone/>
            </a:pPr>
            <a:r>
              <a:rPr lang="en-US" sz="1050" b="0" dirty="0">
                <a:solidFill>
                  <a:srgbClr val="5FD0E8"/>
                </a:solidFill>
                <a:latin typeface="Trenda IG Display Bold" pitchFamily="34" charset="0"/>
                <a:ea typeface="Trenda IG Display Bold" pitchFamily="34" charset="-122"/>
                <a:cs typeface="Trenda IG Display Bold" pitchFamily="34" charset="-120"/>
              </a:rPr>
              <a:t>Engineering Context Knowledge Graph Architecture</a:t>
            </a:r>
            <a:endParaRPr lang="en-US" sz="1050" dirty="0"/>
          </a:p>
        </p:txBody>
      </p:sp>
      <p:sp>
        <p:nvSpPr>
          <p:cNvPr id="5" name="Text 3"/>
          <p:cNvSpPr txBox="1"/>
          <p:nvPr/>
        </p:nvSpPr>
        <p:spPr>
          <a:xfrm>
            <a:off x="2743200" y="630936"/>
            <a:ext cx="6702552" cy="182880"/>
          </a:xfrm>
          <a:prstGeom prst="rect">
            <a:avLst/>
          </a:prstGeom>
          <a:noFill/>
          <a:ln/>
        </p:spPr>
        <p:txBody>
          <a:bodyPr wrap="square" lIns="0" tIns="0" rIns="0" bIns="0" rtlCol="0" anchor="ctr"/>
          <a:lstStyle/>
          <a:p>
            <a:pPr marL="0" indent="0" algn="ctr">
              <a:buNone/>
            </a:pPr>
            <a:r>
              <a:rPr lang="en-US" sz="750" dirty="0">
                <a:solidFill>
                  <a:srgbClr val="AEBED0"/>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50" dirty="0"/>
          </a:p>
        </p:txBody>
      </p:sp>
      <p:sp>
        <p:nvSpPr>
          <p:cNvPr id="6" name="Text 4"/>
          <p:cNvSpPr txBox="1"/>
          <p:nvPr/>
        </p:nvSpPr>
        <p:spPr>
          <a:xfrm>
            <a:off x="384048" y="932688"/>
            <a:ext cx="4572000" cy="146304"/>
          </a:xfrm>
          <a:prstGeom prst="rect">
            <a:avLst/>
          </a:prstGeom>
          <a:noFill/>
          <a:ln/>
        </p:spPr>
        <p:txBody>
          <a:bodyPr wrap="square" lIns="0" tIns="0" rIns="0" bIns="0" rtlCol="0" anchor="ctr"/>
          <a:lstStyle/>
          <a:p>
            <a:pPr marL="0" indent="0">
              <a:buNone/>
            </a:pPr>
            <a:r>
              <a:rPr lang="en-US" sz="700" b="0" kern="0" spc="30" dirty="0">
                <a:solidFill>
                  <a:srgbClr val="5C6E85"/>
                </a:solidFill>
                <a:latin typeface="Trenda IG Text Semibold" pitchFamily="34" charset="0"/>
                <a:ea typeface="Trenda IG Text Semibold" pitchFamily="34" charset="-122"/>
                <a:cs typeface="Trenda IG Text Semibold" pitchFamily="34" charset="-120"/>
              </a:rPr>
              <a:t>SYSTEMS OF RECORD  ·  authority never moves</a:t>
            </a:r>
            <a:endParaRPr lang="en-US" sz="700" dirty="0"/>
          </a:p>
        </p:txBody>
      </p:sp>
      <p:sp>
        <p:nvSpPr>
          <p:cNvPr id="7" name="Shape 5"/>
          <p:cNvSpPr/>
          <p:nvPr/>
        </p:nvSpPr>
        <p:spPr>
          <a:xfrm>
            <a:off x="384048"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493776" y="1207008"/>
            <a:ext cx="155448" cy="155448"/>
          </a:xfrm>
          <a:prstGeom prst="rect">
            <a:avLst/>
          </a:prstGeom>
        </p:spPr>
      </p:pic>
      <p:sp>
        <p:nvSpPr>
          <p:cNvPr id="9" name="Text 6"/>
          <p:cNvSpPr txBox="1"/>
          <p:nvPr/>
        </p:nvSpPr>
        <p:spPr>
          <a:xfrm>
            <a:off x="704088"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Jira</a:t>
            </a:r>
            <a:endParaRPr lang="en-US" sz="850" dirty="0"/>
          </a:p>
        </p:txBody>
      </p:sp>
      <p:sp>
        <p:nvSpPr>
          <p:cNvPr id="10" name="Text 7"/>
          <p:cNvSpPr txBox="1"/>
          <p:nvPr/>
        </p:nvSpPr>
        <p:spPr>
          <a:xfrm>
            <a:off x="493776"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Requirements, acceptance criteria, history</a:t>
            </a:r>
            <a:endParaRPr lang="en-US" sz="650" dirty="0"/>
          </a:p>
        </p:txBody>
      </p:sp>
      <p:sp>
        <p:nvSpPr>
          <p:cNvPr id="12" name="Shape 9"/>
          <p:cNvSpPr/>
          <p:nvPr/>
        </p:nvSpPr>
        <p:spPr>
          <a:xfrm>
            <a:off x="2308860"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2418588" y="1207008"/>
            <a:ext cx="155448" cy="155448"/>
          </a:xfrm>
          <a:prstGeom prst="rect">
            <a:avLst/>
          </a:prstGeom>
        </p:spPr>
      </p:pic>
      <p:sp>
        <p:nvSpPr>
          <p:cNvPr id="14" name="Text 10"/>
          <p:cNvSpPr txBox="1"/>
          <p:nvPr/>
        </p:nvSpPr>
        <p:spPr>
          <a:xfrm>
            <a:off x="2628900"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Confluence</a:t>
            </a:r>
            <a:endParaRPr lang="en-US" sz="850" dirty="0"/>
          </a:p>
        </p:txBody>
      </p:sp>
      <p:sp>
        <p:nvSpPr>
          <p:cNvPr id="15" name="Text 11"/>
          <p:cNvSpPr txBox="1"/>
          <p:nvPr/>
        </p:nvSpPr>
        <p:spPr>
          <a:xfrm>
            <a:off x="2418588"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Functional &amp; technical design, business rules</a:t>
            </a:r>
            <a:endParaRPr lang="en-US" sz="650" dirty="0"/>
          </a:p>
        </p:txBody>
      </p:sp>
      <p:sp>
        <p:nvSpPr>
          <p:cNvPr id="17" name="Shape 13"/>
          <p:cNvSpPr/>
          <p:nvPr/>
        </p:nvSpPr>
        <p:spPr>
          <a:xfrm>
            <a:off x="4233672"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4343400" y="1207008"/>
            <a:ext cx="155448" cy="155448"/>
          </a:xfrm>
          <a:prstGeom prst="rect">
            <a:avLst/>
          </a:prstGeom>
        </p:spPr>
      </p:pic>
      <p:sp>
        <p:nvSpPr>
          <p:cNvPr id="19" name="Text 14"/>
          <p:cNvSpPr txBox="1"/>
          <p:nvPr/>
        </p:nvSpPr>
        <p:spPr>
          <a:xfrm>
            <a:off x="4553712"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Salesforce</a:t>
            </a:r>
            <a:endParaRPr lang="en-US" sz="850" dirty="0"/>
          </a:p>
        </p:txBody>
      </p:sp>
      <p:sp>
        <p:nvSpPr>
          <p:cNvPr id="20" name="Text 15"/>
          <p:cNvSpPr txBox="1"/>
          <p:nvPr/>
        </p:nvSpPr>
        <p:spPr>
          <a:xfrm>
            <a:off x="4343400"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Objects, fields, Flows, Apex dependencies</a:t>
            </a:r>
            <a:endParaRPr lang="en-US" sz="650" dirty="0"/>
          </a:p>
        </p:txBody>
      </p:sp>
      <p:sp>
        <p:nvSpPr>
          <p:cNvPr id="22" name="Shape 17"/>
          <p:cNvSpPr/>
          <p:nvPr/>
        </p:nvSpPr>
        <p:spPr>
          <a:xfrm>
            <a:off x="6158484"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6268212" y="1207008"/>
            <a:ext cx="155448" cy="155448"/>
          </a:xfrm>
          <a:prstGeom prst="rect">
            <a:avLst/>
          </a:prstGeom>
        </p:spPr>
      </p:pic>
      <p:sp>
        <p:nvSpPr>
          <p:cNvPr id="24" name="Text 18"/>
          <p:cNvSpPr txBox="1"/>
          <p:nvPr/>
        </p:nvSpPr>
        <p:spPr>
          <a:xfrm>
            <a:off x="6478524"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Git</a:t>
            </a:r>
            <a:endParaRPr lang="en-US" sz="850" dirty="0"/>
          </a:p>
        </p:txBody>
      </p:sp>
      <p:sp>
        <p:nvSpPr>
          <p:cNvPr id="25" name="Text 19"/>
          <p:cNvSpPr txBox="1"/>
          <p:nvPr/>
        </p:nvSpPr>
        <p:spPr>
          <a:xfrm>
            <a:off x="6268212"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Apex, LWC, metadata, unit tests</a:t>
            </a:r>
            <a:endParaRPr lang="en-US" sz="650" dirty="0"/>
          </a:p>
        </p:txBody>
      </p:sp>
      <p:sp>
        <p:nvSpPr>
          <p:cNvPr id="27" name="Shape 21"/>
          <p:cNvSpPr/>
          <p:nvPr/>
        </p:nvSpPr>
        <p:spPr>
          <a:xfrm>
            <a:off x="8083296"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8193024" y="1207008"/>
            <a:ext cx="155448" cy="155448"/>
          </a:xfrm>
          <a:prstGeom prst="rect">
            <a:avLst/>
          </a:prstGeom>
        </p:spPr>
      </p:pic>
      <p:sp>
        <p:nvSpPr>
          <p:cNvPr id="29" name="Text 22"/>
          <p:cNvSpPr txBox="1"/>
          <p:nvPr/>
        </p:nvSpPr>
        <p:spPr>
          <a:xfrm>
            <a:off x="8403336"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Copado</a:t>
            </a:r>
            <a:endParaRPr lang="en-US" sz="850" dirty="0"/>
          </a:p>
        </p:txBody>
      </p:sp>
      <p:sp>
        <p:nvSpPr>
          <p:cNvPr id="30" name="Text 23"/>
          <p:cNvSpPr txBox="1"/>
          <p:nvPr/>
        </p:nvSpPr>
        <p:spPr>
          <a:xfrm>
            <a:off x="8193024"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Releases, robotic &amp; regression testing</a:t>
            </a:r>
            <a:endParaRPr lang="en-US" sz="650" dirty="0"/>
          </a:p>
        </p:txBody>
      </p:sp>
      <p:sp>
        <p:nvSpPr>
          <p:cNvPr id="32" name="Shape 25"/>
          <p:cNvSpPr/>
          <p:nvPr/>
        </p:nvSpPr>
        <p:spPr>
          <a:xfrm>
            <a:off x="10008108" y="1115568"/>
            <a:ext cx="1796796" cy="713232"/>
          </a:xfrm>
          <a:prstGeom prst="roundRect">
            <a:avLst>
              <a:gd name="adj" fmla="val 6410"/>
            </a:avLst>
          </a:prstGeom>
          <a:solidFill>
            <a:srgbClr val="FFFFFF"/>
          </a:solidFill>
          <a:ln w="12700">
            <a:solidFill>
              <a:srgbClr val="DCE4EE"/>
            </a:solidFill>
            <a:prstDash val="solid"/>
          </a:ln>
        </p:spPr>
        <p:txBody>
          <a:bodyPr/>
          <a:lstStyle/>
          <a:p>
            <a:endParaRPr lang="en-IN"/>
          </a:p>
        </p:txBody>
      </p:sp>
      <p:pic>
        <p:nvPicPr>
          <p:cNvPr id="33" name="Image 5" descr="preencoded.png"/>
          <p:cNvPicPr>
            <a:picLocks noChangeAspect="1"/>
          </p:cNvPicPr>
          <p:nvPr/>
        </p:nvPicPr>
        <p:blipFill>
          <a:blip r:embed="rId8"/>
          <a:stretch>
            <a:fillRect/>
          </a:stretch>
        </p:blipFill>
        <p:spPr>
          <a:xfrm>
            <a:off x="10117836" y="1207008"/>
            <a:ext cx="155448" cy="155448"/>
          </a:xfrm>
          <a:prstGeom prst="rect">
            <a:avLst/>
          </a:prstGeom>
        </p:spPr>
      </p:pic>
      <p:sp>
        <p:nvSpPr>
          <p:cNvPr id="34" name="Text 26"/>
          <p:cNvSpPr txBox="1"/>
          <p:nvPr/>
        </p:nvSpPr>
        <p:spPr>
          <a:xfrm>
            <a:off x="10328148" y="1197864"/>
            <a:ext cx="1385316" cy="173736"/>
          </a:xfrm>
          <a:prstGeom prst="rect">
            <a:avLst/>
          </a:prstGeom>
          <a:noFill/>
          <a:ln/>
        </p:spPr>
        <p:txBody>
          <a:bodyPr wrap="square" lIns="0" tIns="0" rIns="0" bIns="0" rtlCol="0" anchor="ctr"/>
          <a:lstStyle/>
          <a:p>
            <a:pPr marL="0" indent="0">
              <a:buNone/>
            </a:pPr>
            <a:r>
              <a:rPr lang="en-US" sz="850" b="0" dirty="0">
                <a:solidFill>
                  <a:srgbClr val="12233B"/>
                </a:solidFill>
                <a:latin typeface="Trenda IG Text Semibold" pitchFamily="34" charset="0"/>
                <a:ea typeface="Trenda IG Text Semibold" pitchFamily="34" charset="-122"/>
                <a:cs typeface="Trenda IG Text Semibold" pitchFamily="34" charset="-120"/>
              </a:rPr>
              <a:t>Google Drive</a:t>
            </a:r>
            <a:endParaRPr lang="en-US" sz="850" dirty="0"/>
          </a:p>
        </p:txBody>
      </p:sp>
      <p:sp>
        <p:nvSpPr>
          <p:cNvPr id="35" name="Text 27"/>
          <p:cNvSpPr txBox="1"/>
          <p:nvPr/>
        </p:nvSpPr>
        <p:spPr>
          <a:xfrm>
            <a:off x="10117836" y="1408176"/>
            <a:ext cx="1577340" cy="347472"/>
          </a:xfrm>
          <a:prstGeom prst="rect">
            <a:avLst/>
          </a:prstGeom>
          <a:noFill/>
          <a:ln/>
        </p:spPr>
        <p:txBody>
          <a:bodyPr wrap="square" lIns="0" tIns="0" rIns="0" bIns="0" rtlCol="0" anchor="t"/>
          <a:lstStyle/>
          <a:p>
            <a:pPr marL="0" indent="0">
              <a:lnSpc>
                <a:spcPct val="95000"/>
              </a:lnSpc>
              <a:buNone/>
            </a:pPr>
            <a:r>
              <a:rPr lang="en-US" sz="650" dirty="0">
                <a:solidFill>
                  <a:srgbClr val="5C6E85"/>
                </a:solidFill>
                <a:latin typeface="Trenda IG Text" pitchFamily="34" charset="0"/>
                <a:ea typeface="Trenda IG Text" pitchFamily="34" charset="-122"/>
                <a:cs typeface="Trenda IG Text" pitchFamily="34" charset="-120"/>
              </a:rPr>
              <a:t>Specs, mapping sheets, evidence exports</a:t>
            </a:r>
            <a:endParaRPr lang="en-US" sz="650" dirty="0"/>
          </a:p>
        </p:txBody>
      </p:sp>
      <p:sp>
        <p:nvSpPr>
          <p:cNvPr id="37" name="Text 29"/>
          <p:cNvSpPr txBox="1"/>
          <p:nvPr/>
        </p:nvSpPr>
        <p:spPr>
          <a:xfrm>
            <a:off x="7315200" y="932688"/>
            <a:ext cx="4489704" cy="146304"/>
          </a:xfrm>
          <a:prstGeom prst="rect">
            <a:avLst/>
          </a:prstGeom>
          <a:noFill/>
          <a:ln/>
        </p:spPr>
        <p:txBody>
          <a:bodyPr wrap="square" lIns="0" tIns="0" rIns="0" bIns="0" rtlCol="0" anchor="ctr"/>
          <a:lstStyle/>
          <a:p>
            <a:pPr marL="0" indent="0" algn="r">
              <a:buNone/>
            </a:pPr>
            <a:r>
              <a:rPr lang="en-US" sz="650" i="1" dirty="0">
                <a:solidFill>
                  <a:srgbClr val="5C6E85"/>
                </a:solidFill>
                <a:latin typeface="Trenda IG Text" pitchFamily="34" charset="0"/>
                <a:ea typeface="Trenda IG Text" pitchFamily="34" charset="-122"/>
                <a:cs typeface="Trenda IG Text" pitchFamily="34" charset="-120"/>
              </a:rPr>
              <a:t>read-only connectors  ·  hashed  ·  provenance-tagged</a:t>
            </a:r>
            <a:endParaRPr lang="en-US" sz="650" dirty="0"/>
          </a:p>
        </p:txBody>
      </p:sp>
      <p:sp>
        <p:nvSpPr>
          <p:cNvPr id="38" name="Shape 30"/>
          <p:cNvSpPr/>
          <p:nvPr/>
        </p:nvSpPr>
        <p:spPr>
          <a:xfrm>
            <a:off x="384048" y="2121408"/>
            <a:ext cx="2487168" cy="2304288"/>
          </a:xfrm>
          <a:prstGeom prst="roundRect">
            <a:avLst>
              <a:gd name="adj" fmla="val 2381"/>
            </a:avLst>
          </a:prstGeom>
          <a:solidFill>
            <a:srgbClr val="FDF1DE"/>
          </a:solidFill>
          <a:ln w="15875">
            <a:solidFill>
              <a:srgbClr val="C77400"/>
            </a:solidFill>
            <a:prstDash val="solid"/>
          </a:ln>
        </p:spPr>
        <p:txBody>
          <a:bodyPr/>
          <a:lstStyle/>
          <a:p>
            <a:endParaRPr lang="en-IN"/>
          </a:p>
        </p:txBody>
      </p:sp>
      <p:pic>
        <p:nvPicPr>
          <p:cNvPr id="39" name="Image 6" descr="preencoded.png"/>
          <p:cNvPicPr>
            <a:picLocks noChangeAspect="1"/>
          </p:cNvPicPr>
          <p:nvPr/>
        </p:nvPicPr>
        <p:blipFill>
          <a:blip r:embed="rId9"/>
          <a:stretch>
            <a:fillRect/>
          </a:stretch>
        </p:blipFill>
        <p:spPr>
          <a:xfrm>
            <a:off x="530352" y="2231136"/>
            <a:ext cx="182880" cy="182880"/>
          </a:xfrm>
          <a:prstGeom prst="rect">
            <a:avLst/>
          </a:prstGeom>
        </p:spPr>
      </p:pic>
      <p:sp>
        <p:nvSpPr>
          <p:cNvPr id="40" name="Text 31"/>
          <p:cNvSpPr txBox="1"/>
          <p:nvPr/>
        </p:nvSpPr>
        <p:spPr>
          <a:xfrm>
            <a:off x="777240" y="2221992"/>
            <a:ext cx="2011680" cy="201168"/>
          </a:xfrm>
          <a:prstGeom prst="rect">
            <a:avLst/>
          </a:prstGeom>
          <a:noFill/>
          <a:ln/>
        </p:spPr>
        <p:txBody>
          <a:bodyPr wrap="square" lIns="0" tIns="0" rIns="0" bIns="0" rtlCol="0" anchor="ctr"/>
          <a:lstStyle/>
          <a:p>
            <a:pPr marL="0" indent="0">
              <a:buNone/>
            </a:pPr>
            <a:r>
              <a:rPr lang="en-US" sz="1100" b="0" kern="0" spc="30" dirty="0">
                <a:solidFill>
                  <a:srgbClr val="9A5A00"/>
                </a:solidFill>
                <a:latin typeface="Trenda IG Display Bold" pitchFamily="34" charset="0"/>
                <a:ea typeface="Trenda IG Display Bold" pitchFamily="34" charset="-122"/>
                <a:cs typeface="Trenda IG Display Bold" pitchFamily="34" charset="-120"/>
              </a:rPr>
              <a:t>CODEX</a:t>
            </a:r>
            <a:endParaRPr lang="en-US" sz="1100" dirty="0"/>
          </a:p>
        </p:txBody>
      </p:sp>
      <p:sp>
        <p:nvSpPr>
          <p:cNvPr id="41" name="Text 32"/>
          <p:cNvSpPr txBox="1"/>
          <p:nvPr/>
        </p:nvSpPr>
        <p:spPr>
          <a:xfrm>
            <a:off x="530352" y="2432304"/>
            <a:ext cx="2212848" cy="146304"/>
          </a:xfrm>
          <a:prstGeom prst="rect">
            <a:avLst/>
          </a:prstGeom>
          <a:noFill/>
          <a:ln/>
        </p:spPr>
        <p:txBody>
          <a:bodyPr wrap="square" lIns="0" tIns="0" rIns="0" bIns="0" rtlCol="0" anchor="ctr"/>
          <a:lstStyle/>
          <a:p>
            <a:pPr marL="0" indent="0">
              <a:buNone/>
            </a:pPr>
            <a:r>
              <a:rPr lang="en-US" sz="650" i="1" dirty="0">
                <a:solidFill>
                  <a:srgbClr val="9A5A00"/>
                </a:solidFill>
                <a:latin typeface="Trenda IG Text" pitchFamily="34" charset="0"/>
                <a:ea typeface="Trenda IG Text" pitchFamily="34" charset="-122"/>
                <a:cs typeface="Trenda IG Text" pitchFamily="34" charset="-120"/>
              </a:rPr>
              <a:t>AI reasoning layer · the way people ask</a:t>
            </a:r>
            <a:endParaRPr lang="en-US" sz="650" dirty="0"/>
          </a:p>
        </p:txBody>
      </p:sp>
      <p:sp>
        <p:nvSpPr>
          <p:cNvPr id="42" name="Text 33"/>
          <p:cNvSpPr txBox="1"/>
          <p:nvPr/>
        </p:nvSpPr>
        <p:spPr>
          <a:xfrm>
            <a:off x="548640" y="2633472"/>
            <a:ext cx="2194560" cy="1005840"/>
          </a:xfrm>
          <a:prstGeom prst="rect">
            <a:avLst/>
          </a:prstGeom>
          <a:noFill/>
          <a:ln/>
        </p:spPr>
        <p:txBody>
          <a:bodyPr wrap="square" lIns="0" tIns="0" rIns="0" bIns="0" rtlCol="0" anchor="t"/>
          <a:lstStyle/>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Requirement understanding</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Architecture reasoning</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Reuse detection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Impact analysis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classification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Build orchestration</a:t>
            </a:r>
            <a:endParaRPr lang="en-US" sz="750" dirty="0"/>
          </a:p>
        </p:txBody>
      </p:sp>
      <p:sp>
        <p:nvSpPr>
          <p:cNvPr id="43" name="Shape 34"/>
          <p:cNvSpPr/>
          <p:nvPr/>
        </p:nvSpPr>
        <p:spPr>
          <a:xfrm>
            <a:off x="530352" y="3730752"/>
            <a:ext cx="2194560" cy="566928"/>
          </a:xfrm>
          <a:prstGeom prst="roundRect">
            <a:avLst>
              <a:gd name="adj" fmla="val 6452"/>
            </a:avLst>
          </a:prstGeom>
          <a:solidFill>
            <a:srgbClr val="C77400"/>
          </a:solidFill>
          <a:ln w="12700">
            <a:solidFill>
              <a:srgbClr val="C77400"/>
            </a:solidFill>
            <a:prstDash val="solid"/>
          </a:ln>
        </p:spPr>
        <p:txBody>
          <a:bodyPr/>
          <a:lstStyle/>
          <a:p>
            <a:endParaRPr lang="en-IN"/>
          </a:p>
        </p:txBody>
      </p:sp>
      <p:sp>
        <p:nvSpPr>
          <p:cNvPr id="44" name="Text 35"/>
          <p:cNvSpPr txBox="1"/>
          <p:nvPr/>
        </p:nvSpPr>
        <p:spPr>
          <a:xfrm>
            <a:off x="603504" y="3785616"/>
            <a:ext cx="2048256" cy="457200"/>
          </a:xfrm>
          <a:prstGeom prst="rect">
            <a:avLst/>
          </a:prstGeom>
          <a:noFill/>
          <a:ln/>
        </p:spPr>
        <p:txBody>
          <a:bodyPr wrap="square" lIns="0" tIns="0" rIns="0" bIns="0" rtlCol="0" anchor="t"/>
          <a:lstStyle/>
          <a:p>
            <a:pPr marL="0" indent="0">
              <a:lnSpc>
                <a:spcPct val="95000"/>
              </a:lnSpc>
              <a:buNone/>
            </a:pPr>
            <a:r>
              <a:rPr lang="en-US" sz="680" dirty="0">
                <a:solidFill>
                  <a:srgbClr val="FFFFFF"/>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80" dirty="0"/>
          </a:p>
        </p:txBody>
      </p:sp>
      <p:sp>
        <p:nvSpPr>
          <p:cNvPr id="45" name="Shape 36"/>
          <p:cNvSpPr/>
          <p:nvPr/>
        </p:nvSpPr>
        <p:spPr>
          <a:xfrm>
            <a:off x="2944368" y="2990088"/>
            <a:ext cx="475488" cy="219456"/>
          </a:xfrm>
          <a:prstGeom prst="rightArrow">
            <a:avLst/>
          </a:prstGeom>
          <a:solidFill>
            <a:srgbClr val="9AA7B5"/>
          </a:solidFill>
          <a:ln w="12700">
            <a:solidFill>
              <a:srgbClr val="9AA7B5"/>
            </a:solidFill>
            <a:prstDash val="solid"/>
          </a:ln>
        </p:spPr>
        <p:txBody>
          <a:bodyPr/>
          <a:lstStyle/>
          <a:p>
            <a:endParaRPr lang="en-IN"/>
          </a:p>
        </p:txBody>
      </p:sp>
      <p:sp>
        <p:nvSpPr>
          <p:cNvPr id="46" name="Text 37"/>
          <p:cNvSpPr txBox="1"/>
          <p:nvPr/>
        </p:nvSpPr>
        <p:spPr>
          <a:xfrm>
            <a:off x="2871216" y="2798064"/>
            <a:ext cx="640080" cy="128016"/>
          </a:xfrm>
          <a:prstGeom prst="rect">
            <a:avLst/>
          </a:prstGeom>
          <a:noFill/>
          <a:ln/>
        </p:spPr>
        <p:txBody>
          <a:bodyPr wrap="square" lIns="0" tIns="0" rIns="0" bIns="0" rtlCol="0" anchor="ctr"/>
          <a:lstStyle/>
          <a:p>
            <a:pPr marL="0" indent="0" algn="ctr">
              <a:buNone/>
            </a:pPr>
            <a:r>
              <a:rPr lang="en-US" sz="600" b="0" dirty="0">
                <a:solidFill>
                  <a:srgbClr val="5C6E85"/>
                </a:solidFill>
                <a:latin typeface="Trenda IG Text Semibold" pitchFamily="34" charset="0"/>
                <a:ea typeface="Trenda IG Text Semibold" pitchFamily="34" charset="-122"/>
                <a:cs typeface="Trenda IG Text Semibold" pitchFamily="34" charset="-120"/>
              </a:rPr>
              <a:t>question</a:t>
            </a:r>
            <a:endParaRPr lang="en-US" sz="600" dirty="0"/>
          </a:p>
        </p:txBody>
      </p:sp>
      <p:sp>
        <p:nvSpPr>
          <p:cNvPr id="47" name="Shape 38"/>
          <p:cNvSpPr/>
          <p:nvPr/>
        </p:nvSpPr>
        <p:spPr>
          <a:xfrm>
            <a:off x="2944368" y="3419856"/>
            <a:ext cx="475488" cy="219456"/>
          </a:xfrm>
          <a:prstGeom prst="leftArrow">
            <a:avLst/>
          </a:prstGeom>
          <a:solidFill>
            <a:srgbClr val="9AA7B5"/>
          </a:solidFill>
          <a:ln w="12700">
            <a:solidFill>
              <a:srgbClr val="9AA7B5"/>
            </a:solidFill>
            <a:prstDash val="solid"/>
          </a:ln>
        </p:spPr>
        <p:txBody>
          <a:bodyPr/>
          <a:lstStyle/>
          <a:p>
            <a:endParaRPr lang="en-IN"/>
          </a:p>
        </p:txBody>
      </p:sp>
      <p:sp>
        <p:nvSpPr>
          <p:cNvPr id="48" name="Text 39"/>
          <p:cNvSpPr txBox="1"/>
          <p:nvPr/>
        </p:nvSpPr>
        <p:spPr>
          <a:xfrm>
            <a:off x="2834640" y="3657600"/>
            <a:ext cx="640080" cy="128016"/>
          </a:xfrm>
          <a:prstGeom prst="rect">
            <a:avLst/>
          </a:prstGeom>
          <a:noFill/>
          <a:ln/>
        </p:spPr>
        <p:txBody>
          <a:bodyPr wrap="square" lIns="0" tIns="0" rIns="0" bIns="0" rtlCol="0" anchor="ctr"/>
          <a:lstStyle/>
          <a:p>
            <a:pPr marL="0" indent="0" algn="ctr">
              <a:buNone/>
            </a:pPr>
            <a:r>
              <a:rPr lang="en-US" sz="550" b="0" dirty="0">
                <a:solidFill>
                  <a:srgbClr val="5C6E85"/>
                </a:solidFill>
                <a:latin typeface="Trenda IG Text Semibold" pitchFamily="34" charset="0"/>
                <a:ea typeface="Trenda IG Text Semibold" pitchFamily="34" charset="-122"/>
                <a:cs typeface="Trenda IG Text Semibold" pitchFamily="34" charset="-120"/>
              </a:rPr>
              <a:t>verified answer</a:t>
            </a:r>
            <a:endParaRPr lang="en-US" sz="550" dirty="0"/>
          </a:p>
        </p:txBody>
      </p:sp>
      <p:sp>
        <p:nvSpPr>
          <p:cNvPr id="49" name="Shape 40"/>
          <p:cNvSpPr/>
          <p:nvPr/>
        </p:nvSpPr>
        <p:spPr>
          <a:xfrm>
            <a:off x="3493008" y="2121408"/>
            <a:ext cx="5138928" cy="2304288"/>
          </a:xfrm>
          <a:prstGeom prst="roundRect">
            <a:avLst>
              <a:gd name="adj" fmla="val 2381"/>
            </a:avLst>
          </a:prstGeom>
          <a:solidFill>
            <a:srgbClr val="FFFFFF"/>
          </a:solidFill>
          <a:ln w="22225">
            <a:solidFill>
              <a:srgbClr val="1B6BC0"/>
            </a:solidFill>
            <a:prstDash val="solid"/>
          </a:ln>
        </p:spPr>
        <p:txBody>
          <a:bodyPr/>
          <a:lstStyle/>
          <a:p>
            <a:endParaRPr lang="en-IN"/>
          </a:p>
        </p:txBody>
      </p:sp>
      <p:pic>
        <p:nvPicPr>
          <p:cNvPr id="50" name="Image 7" descr="preencoded.png"/>
          <p:cNvPicPr>
            <a:picLocks noChangeAspect="1"/>
          </p:cNvPicPr>
          <p:nvPr/>
        </p:nvPicPr>
        <p:blipFill>
          <a:blip r:embed="rId10"/>
          <a:stretch>
            <a:fillRect/>
          </a:stretch>
        </p:blipFill>
        <p:spPr>
          <a:xfrm>
            <a:off x="3657600" y="2231136"/>
            <a:ext cx="182880" cy="182880"/>
          </a:xfrm>
          <a:prstGeom prst="rect">
            <a:avLst/>
          </a:prstGeom>
        </p:spPr>
      </p:pic>
      <p:sp>
        <p:nvSpPr>
          <p:cNvPr id="51" name="Text 41"/>
          <p:cNvSpPr txBox="1"/>
          <p:nvPr/>
        </p:nvSpPr>
        <p:spPr>
          <a:xfrm>
            <a:off x="3904488" y="2221992"/>
            <a:ext cx="4572000" cy="201168"/>
          </a:xfrm>
          <a:prstGeom prst="rect">
            <a:avLst/>
          </a:prstGeom>
          <a:noFill/>
          <a:ln/>
        </p:spPr>
        <p:txBody>
          <a:bodyPr wrap="square" lIns="0" tIns="0" rIns="0" bIns="0" rtlCol="0" anchor="ctr"/>
          <a:lstStyle/>
          <a:p>
            <a:pPr marL="0" indent="0">
              <a:buNone/>
            </a:pPr>
            <a:r>
              <a:rPr lang="en-US" sz="1100" b="0" kern="0" spc="20" dirty="0">
                <a:solidFill>
                  <a:srgbClr val="1B6BC0"/>
                </a:solidFill>
                <a:latin typeface="Trenda IG Display Bold" pitchFamily="34" charset="0"/>
                <a:ea typeface="Trenda IG Display Bold" pitchFamily="34" charset="-122"/>
                <a:cs typeface="Trenda IG Display Bold" pitchFamily="34" charset="-120"/>
              </a:rPr>
              <a:t>ENGINEERING CONTEXT KNOWLEDGE GRAPH</a:t>
            </a:r>
            <a:endParaRPr lang="en-US" sz="1100" dirty="0"/>
          </a:p>
        </p:txBody>
      </p:sp>
      <p:sp>
        <p:nvSpPr>
          <p:cNvPr id="52" name="Text 42"/>
          <p:cNvSpPr txBox="1"/>
          <p:nvPr/>
        </p:nvSpPr>
        <p:spPr>
          <a:xfrm>
            <a:off x="3657600" y="2432304"/>
            <a:ext cx="4846320" cy="146304"/>
          </a:xfrm>
          <a:prstGeom prst="rect">
            <a:avLst/>
          </a:prstGeom>
          <a:noFill/>
          <a:ln/>
        </p:spPr>
        <p:txBody>
          <a:bodyPr wrap="square" lIns="0" tIns="0" rIns="0" bIns="0" rtlCol="0" anchor="ctr"/>
          <a:lstStyle/>
          <a:p>
            <a:pPr marL="0" indent="0">
              <a:buNone/>
            </a:pPr>
            <a:r>
              <a:rPr lang="en-US" sz="680" i="1" dirty="0">
                <a:solidFill>
                  <a:srgbClr val="5C6E85"/>
                </a:solidFill>
                <a:latin typeface="Trenda IG Text" pitchFamily="34" charset="0"/>
                <a:ea typeface="Trenda IG Text" pitchFamily="34" charset="-122"/>
                <a:cs typeface="Trenda IG Text" pitchFamily="34" charset="-120"/>
              </a:rPr>
              <a:t>Semantica ContextGraph · one graph, six systems, one set of facts</a:t>
            </a:r>
            <a:endParaRPr lang="en-US" sz="680" dirty="0"/>
          </a:p>
        </p:txBody>
      </p:sp>
      <p:sp>
        <p:nvSpPr>
          <p:cNvPr id="53" name="Text 43"/>
          <p:cNvSpPr txBox="1"/>
          <p:nvPr/>
        </p:nvSpPr>
        <p:spPr>
          <a:xfrm>
            <a:off x="3657600" y="2633472"/>
            <a:ext cx="2377440" cy="128016"/>
          </a:xfrm>
          <a:prstGeom prst="rect">
            <a:avLst/>
          </a:prstGeom>
          <a:noFill/>
          <a:ln/>
        </p:spPr>
        <p:txBody>
          <a:bodyPr wrap="square" lIns="0" tIns="0" rIns="0" bIns="0" rtlCol="0" anchor="ctr"/>
          <a:lstStyle/>
          <a:p>
            <a:pPr marL="0" indent="0">
              <a:buNone/>
            </a:pPr>
            <a:r>
              <a:rPr lang="en-US" sz="630" b="0" kern="0" spc="30" dirty="0">
                <a:solidFill>
                  <a:srgbClr val="1B6BC0"/>
                </a:solidFill>
                <a:latin typeface="Trenda IG Text Semibold" pitchFamily="34" charset="0"/>
                <a:ea typeface="Trenda IG Text Semibold" pitchFamily="34" charset="-122"/>
                <a:cs typeface="Trenda IG Text Semibold" pitchFamily="34" charset="-120"/>
              </a:rPr>
              <a:t>WHAT IT STORES</a:t>
            </a:r>
            <a:endParaRPr lang="en-US" sz="630" dirty="0"/>
          </a:p>
        </p:txBody>
      </p:sp>
      <p:sp>
        <p:nvSpPr>
          <p:cNvPr id="54" name="Text 44"/>
          <p:cNvSpPr txBox="1"/>
          <p:nvPr/>
        </p:nvSpPr>
        <p:spPr>
          <a:xfrm>
            <a:off x="3675888" y="2788920"/>
            <a:ext cx="2331720" cy="1170432"/>
          </a:xfrm>
          <a:prstGeom prst="rect">
            <a:avLst/>
          </a:prstGeom>
          <a:noFill/>
          <a:ln/>
        </p:spPr>
        <p:txBody>
          <a:bodyPr wrap="square" lIns="0" tIns="0" rIns="0" bIns="0" rtlCol="0" anchor="t"/>
          <a:lstStyle/>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 capability</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(Jira)</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Design doc &amp; business rule</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 + fields</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Flow / Apex / trigger / VR</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Test, robotic &amp; regression</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 &amp; environment</a:t>
            </a:r>
            <a:endParaRPr lang="en-US" sz="700" dirty="0"/>
          </a:p>
          <a:p>
            <a:pPr marL="101600" indent="-101600">
              <a:lnSpc>
                <a:spcPct val="98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APDH integration event</a:t>
            </a:r>
            <a:endParaRPr lang="en-US" sz="700" dirty="0"/>
          </a:p>
        </p:txBody>
      </p:sp>
      <p:sp>
        <p:nvSpPr>
          <p:cNvPr id="55" name="Text 45"/>
          <p:cNvSpPr txBox="1"/>
          <p:nvPr/>
        </p:nvSpPr>
        <p:spPr>
          <a:xfrm>
            <a:off x="6172200" y="2633472"/>
            <a:ext cx="2377440" cy="128016"/>
          </a:xfrm>
          <a:prstGeom prst="rect">
            <a:avLst/>
          </a:prstGeom>
          <a:noFill/>
          <a:ln/>
        </p:spPr>
        <p:txBody>
          <a:bodyPr wrap="square" lIns="0" tIns="0" rIns="0" bIns="0" rtlCol="0" anchor="ctr"/>
          <a:lstStyle/>
          <a:p>
            <a:pPr marL="0" indent="0">
              <a:buNone/>
            </a:pPr>
            <a:r>
              <a:rPr lang="en-US" sz="630" b="0" kern="0" spc="30" dirty="0">
                <a:solidFill>
                  <a:srgbClr val="1B6BC0"/>
                </a:solidFill>
                <a:latin typeface="Trenda IG Text Semibold" pitchFamily="34" charset="0"/>
                <a:ea typeface="Trenda IG Text Semibold" pitchFamily="34" charset="-122"/>
                <a:cs typeface="Trenda IG Text Semibold" pitchFamily="34" charset="-120"/>
              </a:rPr>
              <a:t>HOW IT CONNECTS THEM</a:t>
            </a:r>
            <a:endParaRPr lang="en-US" sz="630" dirty="0"/>
          </a:p>
        </p:txBody>
      </p:sp>
      <p:sp>
        <p:nvSpPr>
          <p:cNvPr id="56" name="Text 46"/>
          <p:cNvSpPr txBox="1"/>
          <p:nvPr/>
        </p:nvSpPr>
        <p:spPr>
          <a:xfrm>
            <a:off x="6190488" y="2788920"/>
            <a:ext cx="2331720" cy="1170432"/>
          </a:xfrm>
          <a:prstGeom prst="rect">
            <a:avLst/>
          </a:prstGeom>
          <a:noFill/>
          <a:ln/>
        </p:spPr>
        <p:txBody>
          <a:bodyPr wrap="square" lIns="0" tIns="0" rIns="0" bIns="0" rtlCol="0" anchor="t"/>
          <a:lstStyle/>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REQUIREMENT_TARGETS_CAPABILITY</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RULE_CONSTRAINS_SOBJECT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SOBJECT_HAS_FIELD</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FLOW_UPDATES_SOBJECT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APEX_REFERENCES_SOBJECT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TEST_COVERS_COMPONENT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RELEASE_DEPLOYS_COMPONENT</a:t>
            </a:r>
            <a:endParaRPr lang="en-US" sz="640" dirty="0"/>
          </a:p>
          <a:p>
            <a:pPr marL="101600" indent="-101600">
              <a:lnSpc>
                <a:spcPct val="98000"/>
              </a:lnSpc>
              <a:buSzPct val="100000"/>
              <a:buChar char="•"/>
            </a:pPr>
            <a:r>
              <a:rPr lang="en-US" sz="640" dirty="0">
                <a:solidFill>
                  <a:srgbClr val="12233B"/>
                </a:solidFill>
                <a:latin typeface="Trenda IG Text" pitchFamily="34" charset="0"/>
                <a:ea typeface="Trenda IG Text" pitchFamily="34" charset="-122"/>
                <a:cs typeface="Trenda IG Text" pitchFamily="34" charset="-120"/>
              </a:rPr>
              <a:t>COMPONENT_PUBLISHES_EVENT</a:t>
            </a:r>
            <a:endParaRPr lang="en-US" sz="640" dirty="0"/>
          </a:p>
        </p:txBody>
      </p:sp>
      <p:sp>
        <p:nvSpPr>
          <p:cNvPr id="57" name="Shape 47"/>
          <p:cNvSpPr/>
          <p:nvPr/>
        </p:nvSpPr>
        <p:spPr>
          <a:xfrm>
            <a:off x="3657600" y="3986784"/>
            <a:ext cx="4809744" cy="310896"/>
          </a:xfrm>
          <a:prstGeom prst="roundRect">
            <a:avLst>
              <a:gd name="adj" fmla="val 11765"/>
            </a:avLst>
          </a:prstGeom>
          <a:solidFill>
            <a:srgbClr val="EAF1FB"/>
          </a:solidFill>
          <a:ln w="9525">
            <a:solidFill>
              <a:srgbClr val="1B6BC0"/>
            </a:solidFill>
            <a:prstDash val="solid"/>
          </a:ln>
        </p:spPr>
        <p:txBody>
          <a:bodyPr/>
          <a:lstStyle/>
          <a:p>
            <a:endParaRPr lang="en-IN"/>
          </a:p>
        </p:txBody>
      </p:sp>
      <p:sp>
        <p:nvSpPr>
          <p:cNvPr id="58" name="Text 48"/>
          <p:cNvSpPr txBox="1"/>
          <p:nvPr/>
        </p:nvSpPr>
        <p:spPr>
          <a:xfrm>
            <a:off x="3712464" y="4041648"/>
            <a:ext cx="4700016" cy="219456"/>
          </a:xfrm>
          <a:prstGeom prst="rect">
            <a:avLst/>
          </a:prstGeom>
          <a:noFill/>
          <a:ln/>
        </p:spPr>
        <p:txBody>
          <a:bodyPr wrap="square" lIns="0" tIns="0" rIns="0" bIns="0" rtlCol="0" anchor="ctr"/>
          <a:lstStyle/>
          <a:p>
            <a:pPr marL="0" indent="0" algn="ctr">
              <a:buNone/>
            </a:pPr>
            <a:r>
              <a:rPr lang="en-US" sz="700" b="0" dirty="0">
                <a:solidFill>
                  <a:srgbClr val="1B6BC0"/>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700" dirty="0"/>
          </a:p>
        </p:txBody>
      </p:sp>
      <p:sp>
        <p:nvSpPr>
          <p:cNvPr id="59" name="Shape 49"/>
          <p:cNvSpPr/>
          <p:nvPr/>
        </p:nvSpPr>
        <p:spPr>
          <a:xfrm>
            <a:off x="8705088" y="3163824"/>
            <a:ext cx="475488" cy="237744"/>
          </a:xfrm>
          <a:prstGeom prst="rightArrow">
            <a:avLst/>
          </a:prstGeom>
          <a:solidFill>
            <a:srgbClr val="9AA7B5"/>
          </a:solidFill>
          <a:ln w="12700">
            <a:solidFill>
              <a:srgbClr val="9AA7B5"/>
            </a:solidFill>
            <a:prstDash val="solid"/>
          </a:ln>
        </p:spPr>
        <p:txBody>
          <a:bodyPr/>
          <a:lstStyle/>
          <a:p>
            <a:endParaRPr lang="en-IN"/>
          </a:p>
        </p:txBody>
      </p:sp>
      <p:sp>
        <p:nvSpPr>
          <p:cNvPr id="60" name="Shape 50"/>
          <p:cNvSpPr/>
          <p:nvPr/>
        </p:nvSpPr>
        <p:spPr>
          <a:xfrm>
            <a:off x="9253728" y="2121408"/>
            <a:ext cx="2551176" cy="2304288"/>
          </a:xfrm>
          <a:prstGeom prst="roundRect">
            <a:avLst>
              <a:gd name="adj" fmla="val 2381"/>
            </a:avLst>
          </a:prstGeom>
          <a:solidFill>
            <a:srgbClr val="E9F3EA"/>
          </a:solidFill>
          <a:ln w="15875">
            <a:solidFill>
              <a:srgbClr val="2E7D32"/>
            </a:solidFill>
            <a:prstDash val="solid"/>
          </a:ln>
        </p:spPr>
        <p:txBody>
          <a:bodyPr/>
          <a:lstStyle/>
          <a:p>
            <a:endParaRPr lang="en-IN"/>
          </a:p>
        </p:txBody>
      </p:sp>
      <p:pic>
        <p:nvPicPr>
          <p:cNvPr id="61" name="Image 8" descr="preencoded.png"/>
          <p:cNvPicPr>
            <a:picLocks noChangeAspect="1"/>
          </p:cNvPicPr>
          <p:nvPr/>
        </p:nvPicPr>
        <p:blipFill>
          <a:blip r:embed="rId11"/>
          <a:stretch>
            <a:fillRect/>
          </a:stretch>
        </p:blipFill>
        <p:spPr>
          <a:xfrm>
            <a:off x="9400032" y="2231136"/>
            <a:ext cx="182880" cy="182880"/>
          </a:xfrm>
          <a:prstGeom prst="rect">
            <a:avLst/>
          </a:prstGeom>
        </p:spPr>
      </p:pic>
      <p:sp>
        <p:nvSpPr>
          <p:cNvPr id="62" name="Text 51"/>
          <p:cNvSpPr txBox="1"/>
          <p:nvPr/>
        </p:nvSpPr>
        <p:spPr>
          <a:xfrm>
            <a:off x="9646920" y="2221992"/>
            <a:ext cx="2103120" cy="201168"/>
          </a:xfrm>
          <a:prstGeom prst="rect">
            <a:avLst/>
          </a:prstGeom>
          <a:noFill/>
          <a:ln/>
        </p:spPr>
        <p:txBody>
          <a:bodyPr wrap="square" lIns="0" tIns="0" rIns="0" bIns="0" rtlCol="0" anchor="ctr"/>
          <a:lstStyle/>
          <a:p>
            <a:pPr marL="0" indent="0">
              <a:buNone/>
            </a:pPr>
            <a:r>
              <a:rPr lang="en-US" sz="1000" b="0" kern="0" spc="20" dirty="0">
                <a:solidFill>
                  <a:srgbClr val="2E7D32"/>
                </a:solidFill>
                <a:latin typeface="Trenda IG Display Bold" pitchFamily="34" charset="0"/>
                <a:ea typeface="Trenda IG Display Bold" pitchFamily="34" charset="-122"/>
                <a:cs typeface="Trenda IG Display Bold" pitchFamily="34" charset="-120"/>
              </a:rPr>
              <a:t>GOVERNED OUTPUT</a:t>
            </a:r>
            <a:endParaRPr lang="en-US" sz="1000" dirty="0"/>
          </a:p>
        </p:txBody>
      </p:sp>
      <p:sp>
        <p:nvSpPr>
          <p:cNvPr id="63" name="Text 52"/>
          <p:cNvSpPr txBox="1"/>
          <p:nvPr/>
        </p:nvSpPr>
        <p:spPr>
          <a:xfrm>
            <a:off x="9418320" y="2487168"/>
            <a:ext cx="2240280" cy="1188720"/>
          </a:xfrm>
          <a:prstGeom prst="rect">
            <a:avLst/>
          </a:prstGeom>
          <a:noFill/>
          <a:ln/>
        </p:spPr>
        <p:txBody>
          <a:bodyPr wrap="square" lIns="0" tIns="0" rIns="0" bIns="0" rtlCol="0" anchor="t"/>
          <a:lstStyle/>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Impact analysis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Reuse recommendation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Change plan</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Generated Apex, Flows, VRs, tests</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tier + required approver</a:t>
            </a:r>
            <a:endParaRPr lang="en-US" sz="750" dirty="0"/>
          </a:p>
          <a:p>
            <a:pPr marL="101600" indent="-101600">
              <a:lnSpc>
                <a:spcPct val="100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Audit evidence</a:t>
            </a:r>
            <a:endParaRPr lang="en-US" sz="750" dirty="0"/>
          </a:p>
        </p:txBody>
      </p:sp>
      <p:sp>
        <p:nvSpPr>
          <p:cNvPr id="64" name="Shape 53"/>
          <p:cNvSpPr/>
          <p:nvPr/>
        </p:nvSpPr>
        <p:spPr>
          <a:xfrm>
            <a:off x="9400032" y="3730752"/>
            <a:ext cx="2258568" cy="566928"/>
          </a:xfrm>
          <a:prstGeom prst="roundRect">
            <a:avLst>
              <a:gd name="adj" fmla="val 6452"/>
            </a:avLst>
          </a:prstGeom>
          <a:solidFill>
            <a:srgbClr val="2E7D32"/>
          </a:solidFill>
          <a:ln w="12700">
            <a:solidFill>
              <a:srgbClr val="2E7D32"/>
            </a:solidFill>
            <a:prstDash val="solid"/>
          </a:ln>
        </p:spPr>
        <p:txBody>
          <a:bodyPr/>
          <a:lstStyle/>
          <a:p>
            <a:endParaRPr lang="en-IN"/>
          </a:p>
        </p:txBody>
      </p:sp>
      <p:sp>
        <p:nvSpPr>
          <p:cNvPr id="65" name="Text 54"/>
          <p:cNvSpPr txBox="1"/>
          <p:nvPr/>
        </p:nvSpPr>
        <p:spPr>
          <a:xfrm>
            <a:off x="9473184" y="3785616"/>
            <a:ext cx="2112264" cy="457200"/>
          </a:xfrm>
          <a:prstGeom prst="rect">
            <a:avLst/>
          </a:prstGeom>
          <a:noFill/>
          <a:ln/>
        </p:spPr>
        <p:txBody>
          <a:bodyPr wrap="square" lIns="0" tIns="0" rIns="0" bIns="0" rtlCol="0" anchor="t"/>
          <a:lstStyle/>
          <a:p>
            <a:pPr marL="0" indent="0">
              <a:lnSpc>
                <a:spcPct val="95000"/>
              </a:lnSpc>
              <a:buNone/>
            </a:pPr>
            <a:r>
              <a:rPr lang="en-US" sz="680" dirty="0">
                <a:solidFill>
                  <a:srgbClr val="FFFFFF"/>
                </a:solidFill>
                <a:latin typeface="Trenda IG Text" pitchFamily="34" charset="0"/>
                <a:ea typeface="Trenda IG Text" pitchFamily="34" charset="-122"/>
                <a:cs typeface="Trenda IG Text" pitchFamily="34" charset="-120"/>
              </a:rPr>
              <a:t>AI analyses and builds. People own architecture, UAT, CAB and production.</a:t>
            </a:r>
            <a:endParaRPr lang="en-US" sz="680" dirty="0"/>
          </a:p>
        </p:txBody>
      </p:sp>
      <p:sp>
        <p:nvSpPr>
          <p:cNvPr id="66" name="Shape 55"/>
          <p:cNvSpPr/>
          <p:nvPr/>
        </p:nvSpPr>
        <p:spPr>
          <a:xfrm>
            <a:off x="384048" y="4553712"/>
            <a:ext cx="3712464"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67" name="Image 9" descr="preencoded.png"/>
          <p:cNvPicPr>
            <a:picLocks noChangeAspect="1"/>
          </p:cNvPicPr>
          <p:nvPr/>
        </p:nvPicPr>
        <p:blipFill>
          <a:blip r:embed="rId12"/>
          <a:stretch>
            <a:fillRect/>
          </a:stretch>
        </p:blipFill>
        <p:spPr>
          <a:xfrm>
            <a:off x="502920" y="4645152"/>
            <a:ext cx="137160" cy="137160"/>
          </a:xfrm>
          <a:prstGeom prst="rect">
            <a:avLst/>
          </a:prstGeom>
        </p:spPr>
      </p:pic>
      <p:sp>
        <p:nvSpPr>
          <p:cNvPr id="68" name="Text 56"/>
          <p:cNvSpPr txBox="1"/>
          <p:nvPr/>
        </p:nvSpPr>
        <p:spPr>
          <a:xfrm>
            <a:off x="694944" y="4636008"/>
            <a:ext cx="329184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Why a graph, not a model scan</a:t>
            </a:r>
            <a:endParaRPr lang="en-US" sz="850" dirty="0"/>
          </a:p>
        </p:txBody>
      </p:sp>
      <p:sp>
        <p:nvSpPr>
          <p:cNvPr id="69" name="Text 57"/>
          <p:cNvSpPr txBox="1"/>
          <p:nvPr/>
        </p:nvSpPr>
        <p:spPr>
          <a:xfrm>
            <a:off x="530352" y="4828032"/>
            <a:ext cx="3438144"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700" dirty="0"/>
          </a:p>
        </p:txBody>
      </p:sp>
      <p:sp>
        <p:nvSpPr>
          <p:cNvPr id="70" name="Shape 58"/>
          <p:cNvSpPr/>
          <p:nvPr/>
        </p:nvSpPr>
        <p:spPr>
          <a:xfrm>
            <a:off x="4233672" y="4553712"/>
            <a:ext cx="3712464"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71" name="Image 10" descr="preencoded.png"/>
          <p:cNvPicPr>
            <a:picLocks noChangeAspect="1"/>
          </p:cNvPicPr>
          <p:nvPr/>
        </p:nvPicPr>
        <p:blipFill>
          <a:blip r:embed="rId13"/>
          <a:stretch>
            <a:fillRect/>
          </a:stretch>
        </p:blipFill>
        <p:spPr>
          <a:xfrm>
            <a:off x="4352544" y="4645152"/>
            <a:ext cx="137160" cy="137160"/>
          </a:xfrm>
          <a:prstGeom prst="rect">
            <a:avLst/>
          </a:prstGeom>
        </p:spPr>
      </p:pic>
      <p:sp>
        <p:nvSpPr>
          <p:cNvPr id="72" name="Text 59"/>
          <p:cNvSpPr txBox="1"/>
          <p:nvPr/>
        </p:nvSpPr>
        <p:spPr>
          <a:xfrm>
            <a:off x="4544568" y="4636008"/>
            <a:ext cx="3291840" cy="164592"/>
          </a:xfrm>
          <a:prstGeom prst="rect">
            <a:avLst/>
          </a:prstGeom>
          <a:noFill/>
          <a:ln/>
        </p:spPr>
        <p:txBody>
          <a:bodyPr wrap="square" lIns="0" tIns="0" rIns="0" bIns="0" rtlCol="0" anchor="ctr"/>
          <a:lstStyle/>
          <a:p>
            <a:pPr marL="0" indent="0">
              <a:buNone/>
            </a:pPr>
            <a:r>
              <a:rPr lang="en-US" sz="850" b="0" dirty="0">
                <a:solidFill>
                  <a:srgbClr val="7A4FC0"/>
                </a:solidFill>
                <a:latin typeface="Trenda IG Text Semibold" pitchFamily="34" charset="0"/>
                <a:ea typeface="Trenda IG Text Semibold" pitchFamily="34" charset="-122"/>
                <a:cs typeface="Trenda IG Text Semibold" pitchFamily="34" charset="-120"/>
              </a:rPr>
              <a:t>Provenance on every fact</a:t>
            </a:r>
            <a:endParaRPr lang="en-US" sz="850" dirty="0"/>
          </a:p>
        </p:txBody>
      </p:sp>
      <p:sp>
        <p:nvSpPr>
          <p:cNvPr id="73" name="Text 60"/>
          <p:cNvSpPr txBox="1"/>
          <p:nvPr/>
        </p:nvSpPr>
        <p:spPr>
          <a:xfrm>
            <a:off x="4379976" y="4828032"/>
            <a:ext cx="3438144"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createdBy · derivationMethod · origin · confidence · sourceReferences</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artifactPath + SHA-256 + retrievedAt, authority stays with the source system</a:t>
            </a:r>
            <a:endParaRPr lang="en-US" sz="700" dirty="0"/>
          </a:p>
        </p:txBody>
      </p:sp>
      <p:sp>
        <p:nvSpPr>
          <p:cNvPr id="74" name="Shape 61"/>
          <p:cNvSpPr/>
          <p:nvPr/>
        </p:nvSpPr>
        <p:spPr>
          <a:xfrm>
            <a:off x="8083296" y="4553712"/>
            <a:ext cx="3721608" cy="896112"/>
          </a:xfrm>
          <a:prstGeom prst="roundRect">
            <a:avLst>
              <a:gd name="adj" fmla="val 5102"/>
            </a:avLst>
          </a:prstGeom>
          <a:solidFill>
            <a:srgbClr val="FFFFFF"/>
          </a:solidFill>
          <a:ln w="12700">
            <a:solidFill>
              <a:srgbClr val="DCE4EE"/>
            </a:solidFill>
            <a:prstDash val="solid"/>
          </a:ln>
        </p:spPr>
        <p:txBody>
          <a:bodyPr/>
          <a:lstStyle/>
          <a:p>
            <a:endParaRPr lang="en-IN"/>
          </a:p>
        </p:txBody>
      </p:sp>
      <p:pic>
        <p:nvPicPr>
          <p:cNvPr id="75" name="Image 11" descr="preencoded.png"/>
          <p:cNvPicPr>
            <a:picLocks noChangeAspect="1"/>
          </p:cNvPicPr>
          <p:nvPr/>
        </p:nvPicPr>
        <p:blipFill>
          <a:blip r:embed="rId14"/>
          <a:stretch>
            <a:fillRect/>
          </a:stretch>
        </p:blipFill>
        <p:spPr>
          <a:xfrm>
            <a:off x="8202168" y="4645152"/>
            <a:ext cx="137160" cy="137160"/>
          </a:xfrm>
          <a:prstGeom prst="rect">
            <a:avLst/>
          </a:prstGeom>
        </p:spPr>
      </p:pic>
      <p:sp>
        <p:nvSpPr>
          <p:cNvPr id="76" name="Text 62"/>
          <p:cNvSpPr txBox="1"/>
          <p:nvPr/>
        </p:nvSpPr>
        <p:spPr>
          <a:xfrm>
            <a:off x="8394192" y="4636008"/>
            <a:ext cx="3300984" cy="164592"/>
          </a:xfrm>
          <a:prstGeom prst="rect">
            <a:avLst/>
          </a:prstGeom>
          <a:noFill/>
          <a:ln/>
        </p:spPr>
        <p:txBody>
          <a:bodyPr wrap="square" lIns="0" tIns="0" rIns="0" bIns="0" rtlCol="0" anchor="ctr"/>
          <a:lstStyle/>
          <a:p>
            <a:pPr marL="0" indent="0">
              <a:buNone/>
            </a:pPr>
            <a:r>
              <a:rPr lang="en-US" sz="850" b="0" dirty="0">
                <a:solidFill>
                  <a:srgbClr val="0E8A7D"/>
                </a:solidFill>
                <a:latin typeface="Trenda IG Text Semibold" pitchFamily="34" charset="0"/>
                <a:ea typeface="Trenda IG Text Semibold" pitchFamily="34" charset="-122"/>
                <a:cs typeface="Trenda IG Text Semibold" pitchFamily="34" charset="-120"/>
              </a:rPr>
              <a:t>Security, three separated identities</a:t>
            </a:r>
            <a:endParaRPr lang="en-US" sz="850" dirty="0"/>
          </a:p>
        </p:txBody>
      </p:sp>
      <p:sp>
        <p:nvSpPr>
          <p:cNvPr id="77" name="Text 63"/>
          <p:cNvSpPr txBox="1"/>
          <p:nvPr/>
        </p:nvSpPr>
        <p:spPr>
          <a:xfrm>
            <a:off x="8229600" y="4828032"/>
            <a:ext cx="3447288" cy="548640"/>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AI Read Service (read-only) · AI Development Service (DEV + branch)</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700" dirty="0"/>
          </a:p>
        </p:txBody>
      </p:sp>
      <p:sp>
        <p:nvSpPr>
          <p:cNvPr id="78" name="Shape 64"/>
          <p:cNvSpPr/>
          <p:nvPr/>
        </p:nvSpPr>
        <p:spPr>
          <a:xfrm>
            <a:off x="384048" y="5559552"/>
            <a:ext cx="7562088" cy="1042416"/>
          </a:xfrm>
          <a:prstGeom prst="roundRect">
            <a:avLst>
              <a:gd name="adj" fmla="val 4386"/>
            </a:avLst>
          </a:prstGeom>
          <a:solidFill>
            <a:srgbClr val="FFFFFF"/>
          </a:solidFill>
          <a:ln w="12700">
            <a:solidFill>
              <a:srgbClr val="DCE4EE"/>
            </a:solidFill>
            <a:prstDash val="solid"/>
          </a:ln>
        </p:spPr>
        <p:txBody>
          <a:bodyPr/>
          <a:lstStyle/>
          <a:p>
            <a:endParaRPr lang="en-IN"/>
          </a:p>
        </p:txBody>
      </p:sp>
      <p:pic>
        <p:nvPicPr>
          <p:cNvPr id="79" name="Image 12" descr="preencoded.png"/>
          <p:cNvPicPr>
            <a:picLocks noChangeAspect="1"/>
          </p:cNvPicPr>
          <p:nvPr/>
        </p:nvPicPr>
        <p:blipFill>
          <a:blip r:embed="rId11"/>
          <a:stretch>
            <a:fillRect/>
          </a:stretch>
        </p:blipFill>
        <p:spPr>
          <a:xfrm>
            <a:off x="502920" y="5650992"/>
            <a:ext cx="137160" cy="137160"/>
          </a:xfrm>
          <a:prstGeom prst="rect">
            <a:avLst/>
          </a:prstGeom>
        </p:spPr>
      </p:pic>
      <p:sp>
        <p:nvSpPr>
          <p:cNvPr id="80" name="Text 65"/>
          <p:cNvSpPr txBox="1"/>
          <p:nvPr/>
        </p:nvSpPr>
        <p:spPr>
          <a:xfrm>
            <a:off x="694944" y="5641848"/>
            <a:ext cx="7141464" cy="164592"/>
          </a:xfrm>
          <a:prstGeom prst="rect">
            <a:avLst/>
          </a:prstGeom>
          <a:noFill/>
          <a:ln/>
        </p:spPr>
        <p:txBody>
          <a:bodyPr wrap="square" lIns="0" tIns="0" rIns="0" bIns="0" rtlCol="0" anchor="ctr"/>
          <a:lstStyle/>
          <a:p>
            <a:pPr marL="0" indent="0">
              <a:buNone/>
            </a:pPr>
            <a:r>
              <a:rPr lang="en-US" sz="850" b="0" dirty="0">
                <a:solidFill>
                  <a:srgbClr val="2E7D32"/>
                </a:solidFill>
                <a:latin typeface="Trenda IG Text Semibold" pitchFamily="34" charset="0"/>
                <a:ea typeface="Trenda IG Text Semibold" pitchFamily="34" charset="-122"/>
                <a:cs typeface="Trenda IG Text Semibold" pitchFamily="34" charset="-120"/>
              </a:rPr>
              <a:t>Governed delivery lifecycle</a:t>
            </a:r>
            <a:endParaRPr lang="en-US" sz="850" dirty="0"/>
          </a:p>
        </p:txBody>
      </p:sp>
      <p:sp>
        <p:nvSpPr>
          <p:cNvPr id="81" name="Text 66"/>
          <p:cNvSpPr txBox="1"/>
          <p:nvPr/>
        </p:nvSpPr>
        <p:spPr>
          <a:xfrm>
            <a:off x="530352" y="5833872"/>
            <a:ext cx="7287768" cy="694944"/>
          </a:xfrm>
          <a:prstGeom prst="rect">
            <a:avLst/>
          </a:prstGeom>
          <a:noFill/>
          <a:ln/>
        </p:spPr>
        <p:txBody>
          <a:bodyPr wrap="square" lIns="0" tIns="0" rIns="0" bIns="0" rtlCol="0" anchor="t"/>
          <a:lstStyle/>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50" dirty="0"/>
          </a:p>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50" dirty="0"/>
          </a:p>
          <a:p>
            <a:pPr marL="101600" indent="-101600">
              <a:lnSpc>
                <a:spcPct val="95000"/>
              </a:lnSpc>
              <a:buSzPct val="100000"/>
              <a:buChar char="•"/>
            </a:pPr>
            <a:r>
              <a:rPr lang="en-US" sz="750" dirty="0">
                <a:solidFill>
                  <a:srgbClr val="12233B"/>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50" dirty="0"/>
          </a:p>
        </p:txBody>
      </p:sp>
      <p:sp>
        <p:nvSpPr>
          <p:cNvPr id="82" name="Shape 67"/>
          <p:cNvSpPr/>
          <p:nvPr/>
        </p:nvSpPr>
        <p:spPr>
          <a:xfrm>
            <a:off x="8083296" y="5559552"/>
            <a:ext cx="3721608" cy="1042416"/>
          </a:xfrm>
          <a:prstGeom prst="roundRect">
            <a:avLst>
              <a:gd name="adj" fmla="val 4386"/>
            </a:avLst>
          </a:prstGeom>
          <a:solidFill>
            <a:srgbClr val="FFFFFF"/>
          </a:solidFill>
          <a:ln w="12700">
            <a:solidFill>
              <a:srgbClr val="DCE4EE"/>
            </a:solidFill>
            <a:prstDash val="solid"/>
          </a:ln>
        </p:spPr>
        <p:txBody>
          <a:bodyPr/>
          <a:lstStyle/>
          <a:p>
            <a:endParaRPr lang="en-IN"/>
          </a:p>
        </p:txBody>
      </p:sp>
      <p:pic>
        <p:nvPicPr>
          <p:cNvPr id="83" name="Image 13" descr="preencoded.png"/>
          <p:cNvPicPr>
            <a:picLocks noChangeAspect="1"/>
          </p:cNvPicPr>
          <p:nvPr/>
        </p:nvPicPr>
        <p:blipFill>
          <a:blip r:embed="rId15"/>
          <a:stretch>
            <a:fillRect/>
          </a:stretch>
        </p:blipFill>
        <p:spPr>
          <a:xfrm>
            <a:off x="8202168" y="5650992"/>
            <a:ext cx="137160" cy="137160"/>
          </a:xfrm>
          <a:prstGeom prst="rect">
            <a:avLst/>
          </a:prstGeom>
        </p:spPr>
      </p:pic>
      <p:sp>
        <p:nvSpPr>
          <p:cNvPr id="84" name="Text 68"/>
          <p:cNvSpPr txBox="1"/>
          <p:nvPr/>
        </p:nvSpPr>
        <p:spPr>
          <a:xfrm>
            <a:off x="8394192" y="5641848"/>
            <a:ext cx="3300984" cy="164592"/>
          </a:xfrm>
          <a:prstGeom prst="rect">
            <a:avLst/>
          </a:prstGeom>
          <a:noFill/>
          <a:ln/>
        </p:spPr>
        <p:txBody>
          <a:bodyPr wrap="square" lIns="0" tIns="0" rIns="0" bIns="0" rtlCol="0" anchor="ctr"/>
          <a:lstStyle/>
          <a:p>
            <a:pPr marL="0" indent="0">
              <a:buNone/>
            </a:pPr>
            <a:r>
              <a:rPr lang="en-US" sz="850" b="0" dirty="0">
                <a:solidFill>
                  <a:srgbClr val="C62828"/>
                </a:solidFill>
                <a:latin typeface="Trenda IG Text Semibold" pitchFamily="34" charset="0"/>
                <a:ea typeface="Trenda IG Text Semibold" pitchFamily="34" charset="-122"/>
                <a:cs typeface="Trenda IG Text Semibold" pitchFamily="34" charset="-120"/>
              </a:rPr>
              <a:t>Existing APDH integration, unchanged</a:t>
            </a:r>
            <a:endParaRPr lang="en-US" sz="850" dirty="0"/>
          </a:p>
        </p:txBody>
      </p:sp>
      <p:sp>
        <p:nvSpPr>
          <p:cNvPr id="85" name="Text 69"/>
          <p:cNvSpPr txBox="1"/>
          <p:nvPr/>
        </p:nvSpPr>
        <p:spPr>
          <a:xfrm>
            <a:off x="8229600" y="5833872"/>
            <a:ext cx="3447288" cy="694944"/>
          </a:xfrm>
          <a:prstGeom prst="rect">
            <a:avLst/>
          </a:prstGeom>
          <a:noFill/>
          <a:ln/>
        </p:spPr>
        <p:txBody>
          <a:bodyPr wrap="square" lIns="0" tIns="0" rIns="0" bIns="0" rtlCol="0" anchor="t"/>
          <a:lstStyle/>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Salesforce → Queueable Apex → Google Pub/Sub → APDH (one-way, near real-time)</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700" dirty="0"/>
          </a:p>
          <a:p>
            <a:pPr marL="101600" indent="-101600">
              <a:lnSpc>
                <a:spcPct val="95000"/>
              </a:lnSpc>
              <a:buSzPct val="100000"/>
              <a:buChar char="•"/>
            </a:pPr>
            <a:r>
              <a:rPr lang="en-US" sz="700" dirty="0">
                <a:solidFill>
                  <a:srgbClr val="12233B"/>
                </a:solidFill>
                <a:latin typeface="Trenda IG Text" pitchFamily="34" charset="0"/>
                <a:ea typeface="Trenda IG Text" pitchFamily="34" charset="-122"/>
                <a:cs typeface="Trenda IG Text" pitchFamily="34" charset="-120"/>
              </a:rPr>
              <a:t>No back-write to Salesforce</a:t>
            </a:r>
            <a:endParaRPr lang="en-US" sz="700" dirty="0"/>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526155" y="-414909"/>
            <a:ext cx="292608" cy="47800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488561" y="547497"/>
            <a:ext cx="292608" cy="28552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50967" y="1509903"/>
            <a:ext cx="292608" cy="930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13373" y="1477899"/>
            <a:ext cx="292608" cy="9944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75779" y="515493"/>
            <a:ext cx="292608" cy="29192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338185" y="-446913"/>
            <a:ext cx="292608" cy="48440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12464" y="109728"/>
            <a:ext cx="4764024" cy="566928"/>
          </a:xfrm>
          <a:prstGeom prst="roundRect">
            <a:avLst>
              <a:gd name="adj" fmla="val 9677"/>
            </a:avLst>
          </a:prstGeom>
          <a:solidFill>
            <a:srgbClr val="0E1B2E"/>
          </a:solidFill>
          <a:ln w="12700">
            <a:solidFill>
              <a:srgbClr val="0E1B2E"/>
            </a:solidFill>
            <a:prstDash val="solid"/>
          </a:ln>
        </p:spPr>
        <p:txBody>
          <a:bodyPr/>
          <a:lstStyle/>
          <a:p>
            <a:endParaRPr lang="en-IN"/>
          </a:p>
        </p:txBody>
      </p:sp>
      <p:sp>
        <p:nvSpPr>
          <p:cNvPr id="3" name="Text 1"/>
          <p:cNvSpPr txBox="1"/>
          <p:nvPr/>
        </p:nvSpPr>
        <p:spPr>
          <a:xfrm>
            <a:off x="3758184" y="146304"/>
            <a:ext cx="4672584" cy="173736"/>
          </a:xfrm>
          <a:prstGeom prst="rect">
            <a:avLst/>
          </a:prstGeom>
          <a:noFill/>
          <a:ln/>
        </p:spPr>
        <p:txBody>
          <a:bodyPr wrap="square" lIns="0" tIns="0" rIns="0" bIns="0" rtlCol="0" anchor="ctr"/>
          <a:lstStyle/>
          <a:p>
            <a:pPr marL="0" indent="0" algn="ctr">
              <a:buNone/>
            </a:pPr>
            <a:r>
              <a:rPr lang="en-US" sz="1150" b="0" kern="0" spc="20" dirty="0">
                <a:solidFill>
                  <a:srgbClr val="FFFFFF"/>
                </a:solidFill>
                <a:latin typeface="Trenda IG Display Bold" pitchFamily="34" charset="0"/>
                <a:ea typeface="Trenda IG Display Bold" pitchFamily="34" charset="-122"/>
                <a:cs typeface="Trenda IG Display Bold" pitchFamily="34" charset="-120"/>
              </a:rPr>
              <a:t>ASCENSION NETWORK SERVICES</a:t>
            </a:r>
            <a:endParaRPr lang="en-US" sz="1150" dirty="0"/>
          </a:p>
        </p:txBody>
      </p:sp>
      <p:sp>
        <p:nvSpPr>
          <p:cNvPr id="4" name="Text 2"/>
          <p:cNvSpPr txBox="1"/>
          <p:nvPr/>
        </p:nvSpPr>
        <p:spPr>
          <a:xfrm>
            <a:off x="3758184" y="329184"/>
            <a:ext cx="4672584" cy="155448"/>
          </a:xfrm>
          <a:prstGeom prst="rect">
            <a:avLst/>
          </a:prstGeom>
          <a:noFill/>
          <a:ln/>
        </p:spPr>
        <p:txBody>
          <a:bodyPr wrap="square" lIns="0" tIns="0" rIns="0" bIns="0" rtlCol="0" anchor="ctr"/>
          <a:lstStyle/>
          <a:p>
            <a:pPr marL="0" indent="0" algn="ctr">
              <a:buNone/>
            </a:pPr>
            <a:r>
              <a:rPr lang="en-US" sz="900" b="0" dirty="0">
                <a:solidFill>
                  <a:srgbClr val="5FD0E8"/>
                </a:solidFill>
                <a:latin typeface="Trenda IG Display Bold" pitchFamily="34" charset="0"/>
                <a:ea typeface="Trenda IG Display Bold" pitchFamily="34" charset="-122"/>
                <a:cs typeface="Trenda IG Display Bold" pitchFamily="34" charset="-120"/>
              </a:rPr>
              <a:t>Engineering Context Knowledge Graph Architecture</a:t>
            </a:r>
            <a:endParaRPr lang="en-US" sz="900" dirty="0"/>
          </a:p>
        </p:txBody>
      </p:sp>
      <p:sp>
        <p:nvSpPr>
          <p:cNvPr id="5" name="Text 3"/>
          <p:cNvSpPr txBox="1"/>
          <p:nvPr/>
        </p:nvSpPr>
        <p:spPr>
          <a:xfrm>
            <a:off x="3758184" y="502920"/>
            <a:ext cx="4672584" cy="146304"/>
          </a:xfrm>
          <a:prstGeom prst="rect">
            <a:avLst/>
          </a:prstGeom>
          <a:noFill/>
          <a:ln/>
        </p:spPr>
        <p:txBody>
          <a:bodyPr wrap="square" lIns="0" tIns="0" rIns="0" bIns="0" rtlCol="0" anchor="ctr"/>
          <a:lstStyle/>
          <a:p>
            <a:pPr marL="0" indent="0" algn="ctr">
              <a:lnSpc>
                <a:spcPct val="95000"/>
              </a:lnSpc>
              <a:buNone/>
            </a:pPr>
            <a:r>
              <a:rPr lang="en-US" sz="600" dirty="0">
                <a:solidFill>
                  <a:srgbClr val="AEBED0"/>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600" dirty="0"/>
          </a:p>
        </p:txBody>
      </p:sp>
      <p:sp>
        <p:nvSpPr>
          <p:cNvPr id="6" name="Shape 4"/>
          <p:cNvSpPr/>
          <p:nvPr/>
        </p:nvSpPr>
        <p:spPr>
          <a:xfrm>
            <a:off x="164592"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7" name="Text 5"/>
          <p:cNvSpPr txBox="1"/>
          <p:nvPr/>
        </p:nvSpPr>
        <p:spPr>
          <a:xfrm>
            <a:off x="274320" y="146304"/>
            <a:ext cx="3218688" cy="137160"/>
          </a:xfrm>
          <a:prstGeom prst="rect">
            <a:avLst/>
          </a:prstGeom>
          <a:noFill/>
          <a:ln/>
        </p:spPr>
        <p:txBody>
          <a:bodyPr wrap="square" lIns="0" tIns="0" rIns="0" bIns="0" rtlCol="0" anchor="ctr"/>
          <a:lstStyle/>
          <a:p>
            <a:pPr marL="0" indent="0">
              <a:buNone/>
            </a:pPr>
            <a:r>
              <a:rPr lang="en-US" sz="740" b="0" kern="0" spc="30" dirty="0">
                <a:solidFill>
                  <a:srgbClr val="1B6BC0"/>
                </a:solidFill>
                <a:latin typeface="Trenda IG Text Semibold" pitchFamily="34" charset="0"/>
                <a:ea typeface="Trenda IG Text Semibold" pitchFamily="34" charset="-122"/>
                <a:cs typeface="Trenda IG Text Semibold" pitchFamily="34" charset="-120"/>
              </a:rPr>
              <a:t>SIX AUTHORITATIVE SYSTEMS OF RECORD</a:t>
            </a:r>
            <a:endParaRPr lang="en-US" sz="740" dirty="0"/>
          </a:p>
        </p:txBody>
      </p:sp>
      <p:pic>
        <p:nvPicPr>
          <p:cNvPr id="8" name="Image 0" descr="preencoded.png"/>
          <p:cNvPicPr>
            <a:picLocks noChangeAspect="1"/>
          </p:cNvPicPr>
          <p:nvPr/>
        </p:nvPicPr>
        <p:blipFill>
          <a:blip r:embed="rId3"/>
          <a:stretch>
            <a:fillRect/>
          </a:stretch>
        </p:blipFill>
        <p:spPr>
          <a:xfrm>
            <a:off x="347472" y="292608"/>
            <a:ext cx="137160" cy="137160"/>
          </a:xfrm>
          <a:prstGeom prst="rect">
            <a:avLst/>
          </a:prstGeom>
        </p:spPr>
      </p:pic>
      <p:sp>
        <p:nvSpPr>
          <p:cNvPr id="9" name="Text 6"/>
          <p:cNvSpPr txBox="1"/>
          <p:nvPr/>
        </p:nvSpPr>
        <p:spPr>
          <a:xfrm>
            <a:off x="20116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Jira</a:t>
            </a:r>
            <a:endParaRPr lang="en-US" sz="580" dirty="0"/>
          </a:p>
        </p:txBody>
      </p:sp>
      <p:pic>
        <p:nvPicPr>
          <p:cNvPr id="10" name="Image 1" descr="preencoded.png"/>
          <p:cNvPicPr>
            <a:picLocks noChangeAspect="1"/>
          </p:cNvPicPr>
          <p:nvPr/>
        </p:nvPicPr>
        <p:blipFill>
          <a:blip r:embed="rId4"/>
          <a:stretch>
            <a:fillRect/>
          </a:stretch>
        </p:blipFill>
        <p:spPr>
          <a:xfrm>
            <a:off x="877824" y="292608"/>
            <a:ext cx="137160" cy="137160"/>
          </a:xfrm>
          <a:prstGeom prst="rect">
            <a:avLst/>
          </a:prstGeom>
        </p:spPr>
      </p:pic>
      <p:sp>
        <p:nvSpPr>
          <p:cNvPr id="11" name="Text 7"/>
          <p:cNvSpPr txBox="1"/>
          <p:nvPr/>
        </p:nvSpPr>
        <p:spPr>
          <a:xfrm>
            <a:off x="731520"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Confluence</a:t>
            </a:r>
            <a:endParaRPr lang="en-US" sz="580" dirty="0"/>
          </a:p>
        </p:txBody>
      </p:sp>
      <p:pic>
        <p:nvPicPr>
          <p:cNvPr id="12" name="Image 2" descr="preencoded.png"/>
          <p:cNvPicPr>
            <a:picLocks noChangeAspect="1"/>
          </p:cNvPicPr>
          <p:nvPr/>
        </p:nvPicPr>
        <p:blipFill>
          <a:blip r:embed="rId5"/>
          <a:stretch>
            <a:fillRect/>
          </a:stretch>
        </p:blipFill>
        <p:spPr>
          <a:xfrm>
            <a:off x="1408176" y="292608"/>
            <a:ext cx="137160" cy="137160"/>
          </a:xfrm>
          <a:prstGeom prst="rect">
            <a:avLst/>
          </a:prstGeom>
        </p:spPr>
      </p:pic>
      <p:sp>
        <p:nvSpPr>
          <p:cNvPr id="13" name="Text 8"/>
          <p:cNvSpPr txBox="1"/>
          <p:nvPr/>
        </p:nvSpPr>
        <p:spPr>
          <a:xfrm>
            <a:off x="1261872"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Salesforce</a:t>
            </a:r>
            <a:endParaRPr lang="en-US" sz="580" dirty="0"/>
          </a:p>
        </p:txBody>
      </p:sp>
      <p:pic>
        <p:nvPicPr>
          <p:cNvPr id="14" name="Image 3" descr="preencoded.png"/>
          <p:cNvPicPr>
            <a:picLocks noChangeAspect="1"/>
          </p:cNvPicPr>
          <p:nvPr/>
        </p:nvPicPr>
        <p:blipFill>
          <a:blip r:embed="rId6"/>
          <a:stretch>
            <a:fillRect/>
          </a:stretch>
        </p:blipFill>
        <p:spPr>
          <a:xfrm>
            <a:off x="1938528" y="292608"/>
            <a:ext cx="137160" cy="137160"/>
          </a:xfrm>
          <a:prstGeom prst="rect">
            <a:avLst/>
          </a:prstGeom>
        </p:spPr>
      </p:pic>
      <p:sp>
        <p:nvSpPr>
          <p:cNvPr id="15" name="Text 9"/>
          <p:cNvSpPr txBox="1"/>
          <p:nvPr/>
        </p:nvSpPr>
        <p:spPr>
          <a:xfrm>
            <a:off x="1792224"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Git</a:t>
            </a:r>
            <a:endParaRPr lang="en-US" sz="580" dirty="0"/>
          </a:p>
        </p:txBody>
      </p:sp>
      <p:pic>
        <p:nvPicPr>
          <p:cNvPr id="16" name="Image 4" descr="preencoded.png"/>
          <p:cNvPicPr>
            <a:picLocks noChangeAspect="1"/>
          </p:cNvPicPr>
          <p:nvPr/>
        </p:nvPicPr>
        <p:blipFill>
          <a:blip r:embed="rId7"/>
          <a:stretch>
            <a:fillRect/>
          </a:stretch>
        </p:blipFill>
        <p:spPr>
          <a:xfrm>
            <a:off x="2468880" y="292608"/>
            <a:ext cx="137160" cy="137160"/>
          </a:xfrm>
          <a:prstGeom prst="rect">
            <a:avLst/>
          </a:prstGeom>
        </p:spPr>
      </p:pic>
      <p:sp>
        <p:nvSpPr>
          <p:cNvPr id="17" name="Text 10"/>
          <p:cNvSpPr txBox="1"/>
          <p:nvPr/>
        </p:nvSpPr>
        <p:spPr>
          <a:xfrm>
            <a:off x="2322576"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Copado</a:t>
            </a:r>
            <a:endParaRPr lang="en-US" sz="580" dirty="0"/>
          </a:p>
        </p:txBody>
      </p:sp>
      <p:pic>
        <p:nvPicPr>
          <p:cNvPr id="18" name="Image 5" descr="preencoded.png"/>
          <p:cNvPicPr>
            <a:picLocks noChangeAspect="1"/>
          </p:cNvPicPr>
          <p:nvPr/>
        </p:nvPicPr>
        <p:blipFill>
          <a:blip r:embed="rId8"/>
          <a:stretch>
            <a:fillRect/>
          </a:stretch>
        </p:blipFill>
        <p:spPr>
          <a:xfrm>
            <a:off x="2999232" y="292608"/>
            <a:ext cx="137160" cy="137160"/>
          </a:xfrm>
          <a:prstGeom prst="rect">
            <a:avLst/>
          </a:prstGeom>
        </p:spPr>
      </p:pic>
      <p:sp>
        <p:nvSpPr>
          <p:cNvPr id="19" name="Text 11"/>
          <p:cNvSpPr txBox="1"/>
          <p:nvPr/>
        </p:nvSpPr>
        <p:spPr>
          <a:xfrm>
            <a:off x="2852928" y="438912"/>
            <a:ext cx="438912" cy="118872"/>
          </a:xfrm>
          <a:prstGeom prst="rect">
            <a:avLst/>
          </a:prstGeom>
          <a:noFill/>
          <a:ln/>
        </p:spPr>
        <p:txBody>
          <a:bodyPr wrap="square" lIns="0" tIns="0" rIns="0" bIns="0" rtlCol="0" anchor="ctr"/>
          <a:lstStyle/>
          <a:p>
            <a:pPr marL="0" indent="0" algn="ctr">
              <a:buNone/>
            </a:pPr>
            <a:r>
              <a:rPr lang="en-US" sz="580" dirty="0">
                <a:solidFill>
                  <a:srgbClr val="12233B"/>
                </a:solidFill>
                <a:latin typeface="Trenda IG Text" pitchFamily="34" charset="0"/>
                <a:ea typeface="Trenda IG Text" pitchFamily="34" charset="-122"/>
                <a:cs typeface="Trenda IG Text" pitchFamily="34" charset="-120"/>
              </a:rPr>
              <a:t>Drive</a:t>
            </a:r>
            <a:endParaRPr lang="en-US" sz="580" dirty="0"/>
          </a:p>
        </p:txBody>
      </p:sp>
      <p:sp>
        <p:nvSpPr>
          <p:cNvPr id="20" name="Text 12"/>
          <p:cNvSpPr txBox="1"/>
          <p:nvPr/>
        </p:nvSpPr>
        <p:spPr>
          <a:xfrm>
            <a:off x="274320"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read-only · hashed · provenance-tagged</a:t>
            </a:r>
            <a:endParaRPr lang="en-US" sz="600" dirty="0"/>
          </a:p>
        </p:txBody>
      </p:sp>
      <p:sp>
        <p:nvSpPr>
          <p:cNvPr id="21" name="Shape 13"/>
          <p:cNvSpPr/>
          <p:nvPr/>
        </p:nvSpPr>
        <p:spPr>
          <a:xfrm>
            <a:off x="8586216" y="109728"/>
            <a:ext cx="3438144" cy="566928"/>
          </a:xfrm>
          <a:prstGeom prst="roundRect">
            <a:avLst>
              <a:gd name="adj" fmla="val 8065"/>
            </a:avLst>
          </a:prstGeom>
          <a:solidFill>
            <a:srgbClr val="FFFFFF"/>
          </a:solidFill>
          <a:ln w="12700">
            <a:solidFill>
              <a:srgbClr val="DCE4EE"/>
            </a:solidFill>
            <a:prstDash val="solid"/>
          </a:ln>
        </p:spPr>
        <p:txBody>
          <a:bodyPr/>
          <a:lstStyle/>
          <a:p>
            <a:endParaRPr lang="en-IN"/>
          </a:p>
        </p:txBody>
      </p:sp>
      <p:sp>
        <p:nvSpPr>
          <p:cNvPr id="22" name="Text 14"/>
          <p:cNvSpPr txBox="1"/>
          <p:nvPr/>
        </p:nvSpPr>
        <p:spPr>
          <a:xfrm>
            <a:off x="8695944" y="146304"/>
            <a:ext cx="3218688" cy="137160"/>
          </a:xfrm>
          <a:prstGeom prst="rect">
            <a:avLst/>
          </a:prstGeom>
          <a:noFill/>
          <a:ln/>
        </p:spPr>
        <p:txBody>
          <a:bodyPr wrap="square" lIns="0" tIns="0" rIns="0" bIns="0" rtlCol="0" anchor="ctr"/>
          <a:lstStyle/>
          <a:p>
            <a:pPr marL="0" indent="0">
              <a:buNone/>
            </a:pPr>
            <a:r>
              <a:rPr lang="en-US" sz="740" b="0" kern="0" spc="30" dirty="0">
                <a:solidFill>
                  <a:srgbClr val="2E7D32"/>
                </a:solidFill>
                <a:latin typeface="Trenda IG Text Semibold" pitchFamily="34" charset="0"/>
                <a:ea typeface="Trenda IG Text Semibold" pitchFamily="34" charset="-122"/>
                <a:cs typeface="Trenda IG Text Semibold" pitchFamily="34" charset="-120"/>
              </a:rPr>
              <a:t>GOVERNED DELIVERY OUTCOMES</a:t>
            </a:r>
            <a:endParaRPr lang="en-US" sz="740" dirty="0"/>
          </a:p>
        </p:txBody>
      </p:sp>
      <p:sp>
        <p:nvSpPr>
          <p:cNvPr id="23" name="Text 15"/>
          <p:cNvSpPr txBox="1"/>
          <p:nvPr/>
        </p:nvSpPr>
        <p:spPr>
          <a:xfrm>
            <a:off x="8695944" y="292608"/>
            <a:ext cx="3218688" cy="256032"/>
          </a:xfrm>
          <a:prstGeom prst="rect">
            <a:avLst/>
          </a:prstGeom>
          <a:noFill/>
          <a:ln/>
        </p:spPr>
        <p:txBody>
          <a:bodyPr wrap="square" lIns="0" tIns="0" rIns="0" bIns="0" rtlCol="0" anchor="ctr"/>
          <a:lstStyle/>
          <a:p>
            <a:pPr marL="0" indent="0">
              <a:lnSpc>
                <a:spcPct val="95000"/>
              </a:lnSpc>
              <a:buNone/>
            </a:pPr>
            <a:r>
              <a:rPr lang="en-US" sz="680" dirty="0">
                <a:solidFill>
                  <a:srgbClr val="12233B"/>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80" dirty="0"/>
          </a:p>
        </p:txBody>
      </p:sp>
      <p:sp>
        <p:nvSpPr>
          <p:cNvPr id="24" name="Text 16"/>
          <p:cNvSpPr txBox="1"/>
          <p:nvPr/>
        </p:nvSpPr>
        <p:spPr>
          <a:xfrm>
            <a:off x="8695944" y="553212"/>
            <a:ext cx="3218688" cy="118872"/>
          </a:xfrm>
          <a:prstGeom prst="rect">
            <a:avLst/>
          </a:prstGeom>
          <a:noFill/>
          <a:ln/>
        </p:spPr>
        <p:txBody>
          <a:bodyPr wrap="square" lIns="0" tIns="0" rIns="0" bIns="0" rtlCol="0" anchor="ctr"/>
          <a:lstStyle/>
          <a:p>
            <a:pPr marL="0" indent="0">
              <a:buNone/>
            </a:pPr>
            <a:r>
              <a:rPr lang="en-US" sz="600" i="1" dirty="0">
                <a:solidFill>
                  <a:srgbClr val="5C6E85"/>
                </a:solidFill>
                <a:latin typeface="Trenda IG Text" pitchFamily="34" charset="0"/>
                <a:ea typeface="Trenda IG Text" pitchFamily="34" charset="-122"/>
                <a:cs typeface="Trenda IG Text" pitchFamily="34" charset="-120"/>
              </a:rPr>
              <a:t>AI analyzes and builds · humans keep every decision</a:t>
            </a:r>
            <a:endParaRPr lang="en-US" sz="600" dirty="0"/>
          </a:p>
        </p:txBody>
      </p:sp>
      <p:sp>
        <p:nvSpPr>
          <p:cNvPr id="25" name="Shape 17"/>
          <p:cNvSpPr/>
          <p:nvPr/>
        </p:nvSpPr>
        <p:spPr>
          <a:xfrm>
            <a:off x="164592" y="722376"/>
            <a:ext cx="1386459" cy="5111496"/>
          </a:xfrm>
          <a:prstGeom prst="roundRect">
            <a:avLst>
              <a:gd name="adj" fmla="val 3298"/>
            </a:avLst>
          </a:prstGeom>
          <a:solidFill>
            <a:srgbClr val="EAF1FB"/>
          </a:solidFill>
          <a:ln w="9525">
            <a:solidFill>
              <a:srgbClr val="DCE4EE"/>
            </a:solidFill>
            <a:prstDash val="solid"/>
          </a:ln>
        </p:spPr>
        <p:txBody>
          <a:bodyPr/>
          <a:lstStyle/>
          <a:p>
            <a:endParaRPr lang="en-IN"/>
          </a:p>
        </p:txBody>
      </p:sp>
      <p:sp>
        <p:nvSpPr>
          <p:cNvPr id="26" name="Shape 18"/>
          <p:cNvSpPr/>
          <p:nvPr/>
        </p:nvSpPr>
        <p:spPr>
          <a:xfrm>
            <a:off x="164592" y="722376"/>
            <a:ext cx="1386459" cy="621792"/>
          </a:xfrm>
          <a:prstGeom prst="roundRect">
            <a:avLst>
              <a:gd name="adj" fmla="val 7353"/>
            </a:avLst>
          </a:prstGeom>
          <a:solidFill>
            <a:srgbClr val="1B6BC0"/>
          </a:solidFill>
          <a:ln w="12700">
            <a:solidFill>
              <a:srgbClr val="1B6BC0"/>
            </a:solidFill>
            <a:prstDash val="solid"/>
          </a:ln>
        </p:spPr>
        <p:txBody>
          <a:bodyPr/>
          <a:lstStyle/>
          <a:p>
            <a:endParaRPr lang="en-IN"/>
          </a:p>
        </p:txBody>
      </p:sp>
      <p:pic>
        <p:nvPicPr>
          <p:cNvPr id="27" name="Image 6" descr="preencoded.png"/>
          <p:cNvPicPr>
            <a:picLocks noChangeAspect="1"/>
          </p:cNvPicPr>
          <p:nvPr/>
        </p:nvPicPr>
        <p:blipFill>
          <a:blip r:embed="rId9"/>
          <a:stretch>
            <a:fillRect/>
          </a:stretch>
        </p:blipFill>
        <p:spPr>
          <a:xfrm>
            <a:off x="789242" y="754380"/>
            <a:ext cx="137160" cy="137160"/>
          </a:xfrm>
          <a:prstGeom prst="rect">
            <a:avLst/>
          </a:prstGeom>
        </p:spPr>
      </p:pic>
      <p:sp>
        <p:nvSpPr>
          <p:cNvPr id="28" name="Text 19"/>
          <p:cNvSpPr txBox="1"/>
          <p:nvPr/>
        </p:nvSpPr>
        <p:spPr>
          <a:xfrm>
            <a:off x="201168"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1</a:t>
            </a:r>
            <a:endParaRPr lang="en-US" sz="560" dirty="0"/>
          </a:p>
        </p:txBody>
      </p:sp>
      <p:sp>
        <p:nvSpPr>
          <p:cNvPr id="29" name="Text 20"/>
          <p:cNvSpPr txBox="1"/>
          <p:nvPr/>
        </p:nvSpPr>
        <p:spPr>
          <a:xfrm>
            <a:off x="192024"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800" dirty="0"/>
          </a:p>
        </p:txBody>
      </p:sp>
      <p:sp>
        <p:nvSpPr>
          <p:cNvPr id="30" name="Text 21"/>
          <p:cNvSpPr txBox="1"/>
          <p:nvPr/>
        </p:nvSpPr>
        <p:spPr>
          <a:xfrm>
            <a:off x="192024"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Authoritative systems of record</a:t>
            </a:r>
            <a:endParaRPr lang="en-US" sz="520" dirty="0"/>
          </a:p>
        </p:txBody>
      </p:sp>
      <p:sp>
        <p:nvSpPr>
          <p:cNvPr id="31" name="Shape 22"/>
          <p:cNvSpPr/>
          <p:nvPr/>
        </p:nvSpPr>
        <p:spPr>
          <a:xfrm>
            <a:off x="1558366"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32" name="Shape 23"/>
          <p:cNvSpPr/>
          <p:nvPr/>
        </p:nvSpPr>
        <p:spPr>
          <a:xfrm>
            <a:off x="210312"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3" name="Image 7" descr="preencoded.png"/>
          <p:cNvPicPr>
            <a:picLocks noChangeAspect="1"/>
          </p:cNvPicPr>
          <p:nvPr/>
        </p:nvPicPr>
        <p:blipFill>
          <a:blip r:embed="rId3"/>
          <a:stretch>
            <a:fillRect/>
          </a:stretch>
        </p:blipFill>
        <p:spPr>
          <a:xfrm>
            <a:off x="256032" y="1421892"/>
            <a:ext cx="96012" cy="96012"/>
          </a:xfrm>
          <a:prstGeom prst="rect">
            <a:avLst/>
          </a:prstGeom>
        </p:spPr>
      </p:pic>
      <p:sp>
        <p:nvSpPr>
          <p:cNvPr id="34" name="Text 24"/>
          <p:cNvSpPr txBox="1"/>
          <p:nvPr/>
        </p:nvSpPr>
        <p:spPr>
          <a:xfrm>
            <a:off x="379476"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Jira Cloud</a:t>
            </a:r>
            <a:endParaRPr lang="en-US" sz="620" dirty="0"/>
          </a:p>
        </p:txBody>
      </p:sp>
      <p:sp>
        <p:nvSpPr>
          <p:cNvPr id="35" name="Text 25"/>
          <p:cNvSpPr txBox="1"/>
          <p:nvPr/>
        </p:nvSpPr>
        <p:spPr>
          <a:xfrm>
            <a:off x="256032"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 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Epics, components, labels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Kanban &amp; sprint history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Linked issues &amp; defects</a:t>
            </a:r>
            <a:endParaRPr lang="en-US" sz="550" dirty="0"/>
          </a:p>
        </p:txBody>
      </p:sp>
      <p:sp>
        <p:nvSpPr>
          <p:cNvPr id="36" name="Shape 26"/>
          <p:cNvSpPr/>
          <p:nvPr/>
        </p:nvSpPr>
        <p:spPr>
          <a:xfrm>
            <a:off x="210312"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37" name="Image 8" descr="preencoded.png"/>
          <p:cNvPicPr>
            <a:picLocks noChangeAspect="1"/>
          </p:cNvPicPr>
          <p:nvPr/>
        </p:nvPicPr>
        <p:blipFill>
          <a:blip r:embed="rId4"/>
          <a:stretch>
            <a:fillRect/>
          </a:stretch>
        </p:blipFill>
        <p:spPr>
          <a:xfrm>
            <a:off x="256032" y="2091690"/>
            <a:ext cx="96012" cy="96012"/>
          </a:xfrm>
          <a:prstGeom prst="rect">
            <a:avLst/>
          </a:prstGeom>
        </p:spPr>
      </p:pic>
      <p:sp>
        <p:nvSpPr>
          <p:cNvPr id="38" name="Text 27"/>
          <p:cNvSpPr txBox="1"/>
          <p:nvPr/>
        </p:nvSpPr>
        <p:spPr>
          <a:xfrm>
            <a:off x="379476"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Confluence</a:t>
            </a:r>
            <a:endParaRPr lang="en-US" sz="620" dirty="0"/>
          </a:p>
        </p:txBody>
      </p:sp>
      <p:sp>
        <p:nvSpPr>
          <p:cNvPr id="39" name="Text 28"/>
          <p:cNvSpPr txBox="1"/>
          <p:nvPr/>
        </p:nvSpPr>
        <p:spPr>
          <a:xfrm>
            <a:off x="256032"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Functional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Technical design pages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tables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 diagrams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HFN / HPF runbooks</a:t>
            </a:r>
            <a:endParaRPr lang="en-US" sz="550" dirty="0"/>
          </a:p>
        </p:txBody>
      </p:sp>
      <p:sp>
        <p:nvSpPr>
          <p:cNvPr id="40" name="Shape 29"/>
          <p:cNvSpPr/>
          <p:nvPr/>
        </p:nvSpPr>
        <p:spPr>
          <a:xfrm>
            <a:off x="210312"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1" name="Image 9" descr="preencoded.png"/>
          <p:cNvPicPr>
            <a:picLocks noChangeAspect="1"/>
          </p:cNvPicPr>
          <p:nvPr/>
        </p:nvPicPr>
        <p:blipFill>
          <a:blip r:embed="rId5"/>
          <a:stretch>
            <a:fillRect/>
          </a:stretch>
        </p:blipFill>
        <p:spPr>
          <a:xfrm>
            <a:off x="256032" y="2761488"/>
            <a:ext cx="96012" cy="96012"/>
          </a:xfrm>
          <a:prstGeom prst="rect">
            <a:avLst/>
          </a:prstGeom>
        </p:spPr>
      </p:pic>
      <p:sp>
        <p:nvSpPr>
          <p:cNvPr id="42" name="Text 30"/>
          <p:cNvSpPr txBox="1"/>
          <p:nvPr/>
        </p:nvSpPr>
        <p:spPr>
          <a:xfrm>
            <a:off x="379476"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Salesforce</a:t>
            </a:r>
            <a:endParaRPr lang="en-US" sz="620" dirty="0"/>
          </a:p>
        </p:txBody>
      </p:sp>
      <p:sp>
        <p:nvSpPr>
          <p:cNvPr id="43" name="Text 31"/>
          <p:cNvSpPr txBox="1"/>
          <p:nvPr/>
        </p:nvSpPr>
        <p:spPr>
          <a:xfrm>
            <a:off x="256032"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Health Cloud org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HCP / Account, Facility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HPF, HFN, CPA, Fee Sched.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record types, rels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Flows, Apex, LWC, perm sets</a:t>
            </a:r>
            <a:endParaRPr lang="en-US" sz="550" dirty="0"/>
          </a:p>
        </p:txBody>
      </p:sp>
      <p:sp>
        <p:nvSpPr>
          <p:cNvPr id="44" name="Shape 32"/>
          <p:cNvSpPr/>
          <p:nvPr/>
        </p:nvSpPr>
        <p:spPr>
          <a:xfrm>
            <a:off x="210312"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5" name="Image 10" descr="preencoded.png"/>
          <p:cNvPicPr>
            <a:picLocks noChangeAspect="1"/>
          </p:cNvPicPr>
          <p:nvPr/>
        </p:nvPicPr>
        <p:blipFill>
          <a:blip r:embed="rId6"/>
          <a:stretch>
            <a:fillRect/>
          </a:stretch>
        </p:blipFill>
        <p:spPr>
          <a:xfrm>
            <a:off x="256032" y="3431286"/>
            <a:ext cx="96012" cy="96012"/>
          </a:xfrm>
          <a:prstGeom prst="rect">
            <a:avLst/>
          </a:prstGeom>
        </p:spPr>
      </p:pic>
      <p:sp>
        <p:nvSpPr>
          <p:cNvPr id="46" name="Text 33"/>
          <p:cNvSpPr txBox="1"/>
          <p:nvPr/>
        </p:nvSpPr>
        <p:spPr>
          <a:xfrm>
            <a:off x="379476"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Git (SFDX repo)</a:t>
            </a:r>
            <a:endParaRPr lang="en-US" sz="620" dirty="0"/>
          </a:p>
        </p:txBody>
      </p:sp>
      <p:sp>
        <p:nvSpPr>
          <p:cNvPr id="47" name="Text 34"/>
          <p:cNvSpPr txBox="1"/>
          <p:nvPr/>
        </p:nvSpPr>
        <p:spPr>
          <a:xfrm>
            <a:off x="256032"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force-app source tree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classes &amp; triggers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bundles &amp; meta XML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test classes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Commits, branches, tags</a:t>
            </a:r>
            <a:endParaRPr lang="en-US" sz="550" dirty="0"/>
          </a:p>
        </p:txBody>
      </p:sp>
      <p:sp>
        <p:nvSpPr>
          <p:cNvPr id="48" name="Shape 35"/>
          <p:cNvSpPr/>
          <p:nvPr/>
        </p:nvSpPr>
        <p:spPr>
          <a:xfrm>
            <a:off x="210312"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49" name="Image 11" descr="preencoded.png"/>
          <p:cNvPicPr>
            <a:picLocks noChangeAspect="1"/>
          </p:cNvPicPr>
          <p:nvPr/>
        </p:nvPicPr>
        <p:blipFill>
          <a:blip r:embed="rId7"/>
          <a:stretch>
            <a:fillRect/>
          </a:stretch>
        </p:blipFill>
        <p:spPr>
          <a:xfrm>
            <a:off x="256032" y="4101084"/>
            <a:ext cx="96012" cy="96012"/>
          </a:xfrm>
          <a:prstGeom prst="rect">
            <a:avLst/>
          </a:prstGeom>
        </p:spPr>
      </p:pic>
      <p:sp>
        <p:nvSpPr>
          <p:cNvPr id="50" name="Text 36"/>
          <p:cNvSpPr txBox="1"/>
          <p:nvPr/>
        </p:nvSpPr>
        <p:spPr>
          <a:xfrm>
            <a:off x="379476"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Copado</a:t>
            </a:r>
            <a:endParaRPr lang="en-US" sz="620" dirty="0"/>
          </a:p>
        </p:txBody>
      </p:sp>
      <p:sp>
        <p:nvSpPr>
          <p:cNvPr id="51" name="Text 37"/>
          <p:cNvSpPr txBox="1"/>
          <p:nvPr/>
        </p:nvSpPr>
        <p:spPr>
          <a:xfrm>
            <a:off x="256032"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User stories &amp; promotions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testing suites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test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DEV → SIT → UAT → PROD</a:t>
            </a:r>
            <a:endParaRPr lang="en-US" sz="550" dirty="0"/>
          </a:p>
        </p:txBody>
      </p:sp>
      <p:sp>
        <p:nvSpPr>
          <p:cNvPr id="52" name="Shape 38"/>
          <p:cNvSpPr/>
          <p:nvPr/>
        </p:nvSpPr>
        <p:spPr>
          <a:xfrm>
            <a:off x="210312"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53" name="Image 12" descr="preencoded.png"/>
          <p:cNvPicPr>
            <a:picLocks noChangeAspect="1"/>
          </p:cNvPicPr>
          <p:nvPr/>
        </p:nvPicPr>
        <p:blipFill>
          <a:blip r:embed="rId8"/>
          <a:stretch>
            <a:fillRect/>
          </a:stretch>
        </p:blipFill>
        <p:spPr>
          <a:xfrm>
            <a:off x="256032" y="4770882"/>
            <a:ext cx="96012" cy="96012"/>
          </a:xfrm>
          <a:prstGeom prst="rect">
            <a:avLst/>
          </a:prstGeom>
        </p:spPr>
      </p:pic>
      <p:sp>
        <p:nvSpPr>
          <p:cNvPr id="54" name="Text 39"/>
          <p:cNvSpPr txBox="1"/>
          <p:nvPr/>
        </p:nvSpPr>
        <p:spPr>
          <a:xfrm>
            <a:off x="379476"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1B6BC0"/>
                </a:solidFill>
                <a:latin typeface="Trenda IG Text Semibold" pitchFamily="34" charset="0"/>
                <a:ea typeface="Trenda IG Text Semibold" pitchFamily="34" charset="-122"/>
                <a:cs typeface="Trenda IG Text Semibold" pitchFamily="34" charset="-120"/>
              </a:rPr>
              <a:t>Google Drive</a:t>
            </a:r>
            <a:endParaRPr lang="en-US" sz="620" dirty="0"/>
          </a:p>
        </p:txBody>
      </p:sp>
      <p:sp>
        <p:nvSpPr>
          <p:cNvPr id="55" name="Text 40"/>
          <p:cNvSpPr txBox="1"/>
          <p:nvPr/>
        </p:nvSpPr>
        <p:spPr>
          <a:xfrm>
            <a:off x="256032"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Shared delivery documents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&amp; mapping sheets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Evidence exports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Decision &amp; meeting notes</a:t>
            </a:r>
            <a:endParaRPr lang="en-US" sz="550" dirty="0"/>
          </a:p>
        </p:txBody>
      </p:sp>
      <p:sp>
        <p:nvSpPr>
          <p:cNvPr id="56" name="Shape 41"/>
          <p:cNvSpPr/>
          <p:nvPr/>
        </p:nvSpPr>
        <p:spPr>
          <a:xfrm>
            <a:off x="210312" y="5404104"/>
            <a:ext cx="1295019" cy="384048"/>
          </a:xfrm>
          <a:prstGeom prst="roundRect">
            <a:avLst>
              <a:gd name="adj" fmla="val 9524"/>
            </a:avLst>
          </a:prstGeom>
          <a:solidFill>
            <a:srgbClr val="1B6BC0"/>
          </a:solidFill>
          <a:ln w="12700">
            <a:solidFill>
              <a:srgbClr val="1B6BC0"/>
            </a:solidFill>
            <a:prstDash val="solid"/>
          </a:ln>
        </p:spPr>
        <p:txBody>
          <a:bodyPr/>
          <a:lstStyle/>
          <a:p>
            <a:endParaRPr lang="en-IN"/>
          </a:p>
        </p:txBody>
      </p:sp>
      <p:sp>
        <p:nvSpPr>
          <p:cNvPr id="57" name="Text 42"/>
          <p:cNvSpPr txBox="1"/>
          <p:nvPr/>
        </p:nvSpPr>
        <p:spPr>
          <a:xfrm>
            <a:off x="256032"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58" name="Text 43"/>
          <p:cNvSpPr txBox="1"/>
          <p:nvPr/>
        </p:nvSpPr>
        <p:spPr>
          <a:xfrm>
            <a:off x="256032"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520" dirty="0"/>
          </a:p>
        </p:txBody>
      </p:sp>
      <p:sp>
        <p:nvSpPr>
          <p:cNvPr id="59" name="Shape 44"/>
          <p:cNvSpPr/>
          <p:nvPr/>
        </p:nvSpPr>
        <p:spPr>
          <a:xfrm>
            <a:off x="1660779" y="722376"/>
            <a:ext cx="1386459" cy="5111496"/>
          </a:xfrm>
          <a:prstGeom prst="roundRect">
            <a:avLst>
              <a:gd name="adj" fmla="val 3298"/>
            </a:avLst>
          </a:prstGeom>
          <a:solidFill>
            <a:srgbClr val="E5F4F1"/>
          </a:solidFill>
          <a:ln w="9525">
            <a:solidFill>
              <a:srgbClr val="DCE4EE"/>
            </a:solidFill>
            <a:prstDash val="solid"/>
          </a:ln>
        </p:spPr>
        <p:txBody>
          <a:bodyPr/>
          <a:lstStyle/>
          <a:p>
            <a:endParaRPr lang="en-IN"/>
          </a:p>
        </p:txBody>
      </p:sp>
      <p:sp>
        <p:nvSpPr>
          <p:cNvPr id="60" name="Shape 45"/>
          <p:cNvSpPr/>
          <p:nvPr/>
        </p:nvSpPr>
        <p:spPr>
          <a:xfrm>
            <a:off x="1660779" y="722376"/>
            <a:ext cx="1386459" cy="621792"/>
          </a:xfrm>
          <a:prstGeom prst="roundRect">
            <a:avLst>
              <a:gd name="adj" fmla="val 7353"/>
            </a:avLst>
          </a:prstGeom>
          <a:solidFill>
            <a:srgbClr val="0E8A7D"/>
          </a:solidFill>
          <a:ln w="12700">
            <a:solidFill>
              <a:srgbClr val="0E8A7D"/>
            </a:solidFill>
            <a:prstDash val="solid"/>
          </a:ln>
        </p:spPr>
        <p:txBody>
          <a:bodyPr/>
          <a:lstStyle/>
          <a:p>
            <a:endParaRPr lang="en-IN"/>
          </a:p>
        </p:txBody>
      </p:sp>
      <p:pic>
        <p:nvPicPr>
          <p:cNvPr id="61" name="Image 13" descr="preencoded.png"/>
          <p:cNvPicPr>
            <a:picLocks noChangeAspect="1"/>
          </p:cNvPicPr>
          <p:nvPr/>
        </p:nvPicPr>
        <p:blipFill>
          <a:blip r:embed="rId10"/>
          <a:stretch>
            <a:fillRect/>
          </a:stretch>
        </p:blipFill>
        <p:spPr>
          <a:xfrm>
            <a:off x="2285428" y="754380"/>
            <a:ext cx="137160" cy="137160"/>
          </a:xfrm>
          <a:prstGeom prst="rect">
            <a:avLst/>
          </a:prstGeom>
        </p:spPr>
      </p:pic>
      <p:sp>
        <p:nvSpPr>
          <p:cNvPr id="62" name="Text 46"/>
          <p:cNvSpPr txBox="1"/>
          <p:nvPr/>
        </p:nvSpPr>
        <p:spPr>
          <a:xfrm>
            <a:off x="1697355"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2</a:t>
            </a:r>
            <a:endParaRPr lang="en-US" sz="560" dirty="0"/>
          </a:p>
        </p:txBody>
      </p:sp>
      <p:sp>
        <p:nvSpPr>
          <p:cNvPr id="63" name="Text 47"/>
          <p:cNvSpPr txBox="1"/>
          <p:nvPr/>
        </p:nvSpPr>
        <p:spPr>
          <a:xfrm>
            <a:off x="1688211"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Source Connectors</a:t>
            </a:r>
            <a:endParaRPr lang="en-US" sz="800" dirty="0"/>
          </a:p>
        </p:txBody>
      </p:sp>
      <p:sp>
        <p:nvSpPr>
          <p:cNvPr id="64" name="Text 48"/>
          <p:cNvSpPr txBox="1"/>
          <p:nvPr/>
        </p:nvSpPr>
        <p:spPr>
          <a:xfrm>
            <a:off x="1688211"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AI Read Service · read-only</a:t>
            </a:r>
            <a:endParaRPr lang="en-US" sz="520" dirty="0"/>
          </a:p>
        </p:txBody>
      </p:sp>
      <p:sp>
        <p:nvSpPr>
          <p:cNvPr id="65" name="Shape 49"/>
          <p:cNvSpPr/>
          <p:nvPr/>
        </p:nvSpPr>
        <p:spPr>
          <a:xfrm>
            <a:off x="3054553"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66" name="Shape 50"/>
          <p:cNvSpPr/>
          <p:nvPr/>
        </p:nvSpPr>
        <p:spPr>
          <a:xfrm>
            <a:off x="1706499"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67" name="Image 14" descr="preencoded.png"/>
          <p:cNvPicPr>
            <a:picLocks noChangeAspect="1"/>
          </p:cNvPicPr>
          <p:nvPr/>
        </p:nvPicPr>
        <p:blipFill>
          <a:blip r:embed="rId3"/>
          <a:stretch>
            <a:fillRect/>
          </a:stretch>
        </p:blipFill>
        <p:spPr>
          <a:xfrm>
            <a:off x="1752219" y="1421892"/>
            <a:ext cx="96012" cy="96012"/>
          </a:xfrm>
          <a:prstGeom prst="rect">
            <a:avLst/>
          </a:prstGeom>
        </p:spPr>
      </p:pic>
      <p:sp>
        <p:nvSpPr>
          <p:cNvPr id="68" name="Text 51"/>
          <p:cNvSpPr txBox="1"/>
          <p:nvPr/>
        </p:nvSpPr>
        <p:spPr>
          <a:xfrm>
            <a:off x="1875663"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JiraSourceConnector</a:t>
            </a:r>
            <a:endParaRPr lang="en-US" sz="620" dirty="0"/>
          </a:p>
        </p:txBody>
      </p:sp>
      <p:sp>
        <p:nvSpPr>
          <p:cNvPr id="69" name="Text 52"/>
          <p:cNvSpPr txBox="1"/>
          <p:nvPr/>
        </p:nvSpPr>
        <p:spPr>
          <a:xfrm>
            <a:off x="1752219"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(3LO) / API token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scopes only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JQL delta pull (lastSyncAt)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Paging, 429 backoff</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per issue payload</a:t>
            </a:r>
            <a:endParaRPr lang="en-US" sz="550" dirty="0"/>
          </a:p>
        </p:txBody>
      </p:sp>
      <p:sp>
        <p:nvSpPr>
          <p:cNvPr id="70" name="Shape 53"/>
          <p:cNvSpPr/>
          <p:nvPr/>
        </p:nvSpPr>
        <p:spPr>
          <a:xfrm>
            <a:off x="1706499"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1" name="Image 15" descr="preencoded.png"/>
          <p:cNvPicPr>
            <a:picLocks noChangeAspect="1"/>
          </p:cNvPicPr>
          <p:nvPr/>
        </p:nvPicPr>
        <p:blipFill>
          <a:blip r:embed="rId4"/>
          <a:stretch>
            <a:fillRect/>
          </a:stretch>
        </p:blipFill>
        <p:spPr>
          <a:xfrm>
            <a:off x="1752219" y="2091690"/>
            <a:ext cx="96012" cy="96012"/>
          </a:xfrm>
          <a:prstGeom prst="rect">
            <a:avLst/>
          </a:prstGeom>
        </p:spPr>
      </p:pic>
      <p:sp>
        <p:nvSpPr>
          <p:cNvPr id="72" name="Text 54"/>
          <p:cNvSpPr txBox="1"/>
          <p:nvPr/>
        </p:nvSpPr>
        <p:spPr>
          <a:xfrm>
            <a:off x="1875663"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ConfluenceConnector</a:t>
            </a:r>
            <a:endParaRPr lang="en-US" sz="620" dirty="0"/>
          </a:p>
        </p:txBody>
      </p:sp>
      <p:sp>
        <p:nvSpPr>
          <p:cNvPr id="73" name="Text 55"/>
          <p:cNvSpPr txBox="1"/>
          <p:nvPr/>
        </p:nvSpPr>
        <p:spPr>
          <a:xfrm>
            <a:off x="1752219"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PAT / API token auth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Space + label scoped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HTML via body.storage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 + lastUpdated delta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Rate limited · SHA-256</a:t>
            </a:r>
            <a:endParaRPr lang="en-US" sz="550" dirty="0"/>
          </a:p>
        </p:txBody>
      </p:sp>
      <p:sp>
        <p:nvSpPr>
          <p:cNvPr id="74" name="Shape 56"/>
          <p:cNvSpPr/>
          <p:nvPr/>
        </p:nvSpPr>
        <p:spPr>
          <a:xfrm>
            <a:off x="1706499"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5" name="Image 16" descr="preencoded.png"/>
          <p:cNvPicPr>
            <a:picLocks noChangeAspect="1"/>
          </p:cNvPicPr>
          <p:nvPr/>
        </p:nvPicPr>
        <p:blipFill>
          <a:blip r:embed="rId5"/>
          <a:stretch>
            <a:fillRect/>
          </a:stretch>
        </p:blipFill>
        <p:spPr>
          <a:xfrm>
            <a:off x="1752219" y="2761488"/>
            <a:ext cx="96012" cy="96012"/>
          </a:xfrm>
          <a:prstGeom prst="rect">
            <a:avLst/>
          </a:prstGeom>
        </p:spPr>
      </p:pic>
      <p:sp>
        <p:nvSpPr>
          <p:cNvPr id="76" name="Text 57"/>
          <p:cNvSpPr txBox="1"/>
          <p:nvPr/>
        </p:nvSpPr>
        <p:spPr>
          <a:xfrm>
            <a:off x="1875663"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SalesforceConnector</a:t>
            </a:r>
            <a:endParaRPr lang="en-US" sz="620" dirty="0"/>
          </a:p>
        </p:txBody>
      </p:sp>
      <p:sp>
        <p:nvSpPr>
          <p:cNvPr id="77" name="Text 58"/>
          <p:cNvSpPr txBox="1"/>
          <p:nvPr/>
        </p:nvSpPr>
        <p:spPr>
          <a:xfrm>
            <a:off x="1752219"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App JWT bearer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perm set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record-data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Tooling + Metadata API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MetadataComponentDep.</a:t>
            </a:r>
            <a:endParaRPr lang="en-US" sz="550" dirty="0"/>
          </a:p>
        </p:txBody>
      </p:sp>
      <p:sp>
        <p:nvSpPr>
          <p:cNvPr id="78" name="Shape 59"/>
          <p:cNvSpPr/>
          <p:nvPr/>
        </p:nvSpPr>
        <p:spPr>
          <a:xfrm>
            <a:off x="1706499"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79" name="Image 17" descr="preencoded.png"/>
          <p:cNvPicPr>
            <a:picLocks noChangeAspect="1"/>
          </p:cNvPicPr>
          <p:nvPr/>
        </p:nvPicPr>
        <p:blipFill>
          <a:blip r:embed="rId6"/>
          <a:stretch>
            <a:fillRect/>
          </a:stretch>
        </p:blipFill>
        <p:spPr>
          <a:xfrm>
            <a:off x="1752219" y="3431286"/>
            <a:ext cx="96012" cy="96012"/>
          </a:xfrm>
          <a:prstGeom prst="rect">
            <a:avLst/>
          </a:prstGeom>
        </p:spPr>
      </p:pic>
      <p:sp>
        <p:nvSpPr>
          <p:cNvPr id="80" name="Text 60"/>
          <p:cNvSpPr txBox="1"/>
          <p:nvPr/>
        </p:nvSpPr>
        <p:spPr>
          <a:xfrm>
            <a:off x="1875663"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GitSourceConnector</a:t>
            </a:r>
            <a:endParaRPr lang="en-US" sz="620" dirty="0"/>
          </a:p>
        </p:txBody>
      </p:sp>
      <p:sp>
        <p:nvSpPr>
          <p:cNvPr id="81" name="Text 61"/>
          <p:cNvSpPr txBox="1"/>
          <p:nvPr/>
        </p:nvSpPr>
        <p:spPr>
          <a:xfrm>
            <a:off x="1752219"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SSH deploy key / read PAT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Shallow clone + fetch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Branch &amp; tag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Commit SHA, author, date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Per-file SHA-256, no push</a:t>
            </a:r>
            <a:endParaRPr lang="en-US" sz="550" dirty="0"/>
          </a:p>
        </p:txBody>
      </p:sp>
      <p:sp>
        <p:nvSpPr>
          <p:cNvPr id="82" name="Shape 62"/>
          <p:cNvSpPr/>
          <p:nvPr/>
        </p:nvSpPr>
        <p:spPr>
          <a:xfrm>
            <a:off x="1706499"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3" name="Image 18" descr="preencoded.png"/>
          <p:cNvPicPr>
            <a:picLocks noChangeAspect="1"/>
          </p:cNvPicPr>
          <p:nvPr/>
        </p:nvPicPr>
        <p:blipFill>
          <a:blip r:embed="rId7"/>
          <a:stretch>
            <a:fillRect/>
          </a:stretch>
        </p:blipFill>
        <p:spPr>
          <a:xfrm>
            <a:off x="1752219" y="4101084"/>
            <a:ext cx="96012" cy="96012"/>
          </a:xfrm>
          <a:prstGeom prst="rect">
            <a:avLst/>
          </a:prstGeom>
        </p:spPr>
      </p:pic>
      <p:sp>
        <p:nvSpPr>
          <p:cNvPr id="84" name="Text 63"/>
          <p:cNvSpPr txBox="1"/>
          <p:nvPr/>
        </p:nvSpPr>
        <p:spPr>
          <a:xfrm>
            <a:off x="1875663"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CopadoConnector</a:t>
            </a:r>
            <a:endParaRPr lang="en-US" sz="620" dirty="0"/>
          </a:p>
        </p:txBody>
      </p:sp>
      <p:sp>
        <p:nvSpPr>
          <p:cNvPr id="85" name="Text 64"/>
          <p:cNvSpPr txBox="1"/>
          <p:nvPr/>
        </p:nvSpPr>
        <p:spPr>
          <a:xfrm>
            <a:off x="1752219"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client creds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Read-only API user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Stories + promotions pull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 regression runs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Deployment records per env</a:t>
            </a:r>
            <a:endParaRPr lang="en-US" sz="550" dirty="0"/>
          </a:p>
        </p:txBody>
      </p:sp>
      <p:sp>
        <p:nvSpPr>
          <p:cNvPr id="86" name="Shape 65"/>
          <p:cNvSpPr/>
          <p:nvPr/>
        </p:nvSpPr>
        <p:spPr>
          <a:xfrm>
            <a:off x="1706499"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87" name="Image 19" descr="preencoded.png"/>
          <p:cNvPicPr>
            <a:picLocks noChangeAspect="1"/>
          </p:cNvPicPr>
          <p:nvPr/>
        </p:nvPicPr>
        <p:blipFill>
          <a:blip r:embed="rId8"/>
          <a:stretch>
            <a:fillRect/>
          </a:stretch>
        </p:blipFill>
        <p:spPr>
          <a:xfrm>
            <a:off x="1752219" y="4770882"/>
            <a:ext cx="96012" cy="96012"/>
          </a:xfrm>
          <a:prstGeom prst="rect">
            <a:avLst/>
          </a:prstGeom>
        </p:spPr>
      </p:pic>
      <p:sp>
        <p:nvSpPr>
          <p:cNvPr id="88" name="Text 66"/>
          <p:cNvSpPr txBox="1"/>
          <p:nvPr/>
        </p:nvSpPr>
        <p:spPr>
          <a:xfrm>
            <a:off x="1875663"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0E8A7D"/>
                </a:solidFill>
                <a:latin typeface="Trenda IG Text Semibold" pitchFamily="34" charset="0"/>
                <a:ea typeface="Trenda IG Text Semibold" pitchFamily="34" charset="-122"/>
                <a:cs typeface="Trenda IG Text Semibold" pitchFamily="34" charset="-120"/>
              </a:rPr>
              <a:t>GoogleDriveConnector</a:t>
            </a:r>
            <a:endParaRPr lang="en-US" sz="620" dirty="0"/>
          </a:p>
        </p:txBody>
      </p:sp>
      <p:sp>
        <p:nvSpPr>
          <p:cNvPr id="89" name="Text 67"/>
          <p:cNvSpPr txBox="1"/>
          <p:nvPr/>
        </p:nvSpPr>
        <p:spPr>
          <a:xfrm>
            <a:off x="1752219"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OAuth 2.0 service account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Drive API v3, shared drive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files.list + files.export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 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Change-token delta sync</a:t>
            </a:r>
            <a:endParaRPr lang="en-US" sz="550" dirty="0"/>
          </a:p>
        </p:txBody>
      </p:sp>
      <p:sp>
        <p:nvSpPr>
          <p:cNvPr id="90" name="Shape 68"/>
          <p:cNvSpPr/>
          <p:nvPr/>
        </p:nvSpPr>
        <p:spPr>
          <a:xfrm>
            <a:off x="1706499" y="5404104"/>
            <a:ext cx="1295019" cy="384048"/>
          </a:xfrm>
          <a:prstGeom prst="roundRect">
            <a:avLst>
              <a:gd name="adj" fmla="val 9524"/>
            </a:avLst>
          </a:prstGeom>
          <a:solidFill>
            <a:srgbClr val="0E8A7D"/>
          </a:solidFill>
          <a:ln w="12700">
            <a:solidFill>
              <a:srgbClr val="0E8A7D"/>
            </a:solidFill>
            <a:prstDash val="solid"/>
          </a:ln>
        </p:spPr>
        <p:txBody>
          <a:bodyPr/>
          <a:lstStyle/>
          <a:p>
            <a:endParaRPr lang="en-IN"/>
          </a:p>
        </p:txBody>
      </p:sp>
      <p:sp>
        <p:nvSpPr>
          <p:cNvPr id="91" name="Text 69"/>
          <p:cNvSpPr txBox="1"/>
          <p:nvPr/>
        </p:nvSpPr>
        <p:spPr>
          <a:xfrm>
            <a:off x="1752219"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92" name="Text 70"/>
          <p:cNvSpPr txBox="1"/>
          <p:nvPr/>
        </p:nvSpPr>
        <p:spPr>
          <a:xfrm>
            <a:off x="1752219"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Safe, repeatable reads, no writes, no production credentials</a:t>
            </a:r>
            <a:endParaRPr lang="en-US" sz="520" dirty="0"/>
          </a:p>
        </p:txBody>
      </p:sp>
      <p:sp>
        <p:nvSpPr>
          <p:cNvPr id="93" name="Shape 71"/>
          <p:cNvSpPr/>
          <p:nvPr/>
        </p:nvSpPr>
        <p:spPr>
          <a:xfrm>
            <a:off x="3156966" y="722376"/>
            <a:ext cx="1386459" cy="5111496"/>
          </a:xfrm>
          <a:prstGeom prst="roundRect">
            <a:avLst>
              <a:gd name="adj" fmla="val 3298"/>
            </a:avLst>
          </a:prstGeom>
          <a:solidFill>
            <a:srgbClr val="F0EBFA"/>
          </a:solidFill>
          <a:ln w="9525">
            <a:solidFill>
              <a:srgbClr val="DCE4EE"/>
            </a:solidFill>
            <a:prstDash val="solid"/>
          </a:ln>
        </p:spPr>
        <p:txBody>
          <a:bodyPr/>
          <a:lstStyle/>
          <a:p>
            <a:endParaRPr lang="en-IN"/>
          </a:p>
        </p:txBody>
      </p:sp>
      <p:sp>
        <p:nvSpPr>
          <p:cNvPr id="94" name="Shape 72"/>
          <p:cNvSpPr/>
          <p:nvPr/>
        </p:nvSpPr>
        <p:spPr>
          <a:xfrm>
            <a:off x="3156966" y="722376"/>
            <a:ext cx="1386459" cy="621792"/>
          </a:xfrm>
          <a:prstGeom prst="roundRect">
            <a:avLst>
              <a:gd name="adj" fmla="val 7353"/>
            </a:avLst>
          </a:prstGeom>
          <a:solidFill>
            <a:srgbClr val="7A4FC0"/>
          </a:solidFill>
          <a:ln w="12700">
            <a:solidFill>
              <a:srgbClr val="7A4FC0"/>
            </a:solidFill>
            <a:prstDash val="solid"/>
          </a:ln>
        </p:spPr>
        <p:txBody>
          <a:bodyPr/>
          <a:lstStyle/>
          <a:p>
            <a:endParaRPr lang="en-IN"/>
          </a:p>
        </p:txBody>
      </p:sp>
      <p:pic>
        <p:nvPicPr>
          <p:cNvPr id="95" name="Image 20" descr="preencoded.png"/>
          <p:cNvPicPr>
            <a:picLocks noChangeAspect="1"/>
          </p:cNvPicPr>
          <p:nvPr/>
        </p:nvPicPr>
        <p:blipFill>
          <a:blip r:embed="rId11"/>
          <a:stretch>
            <a:fillRect/>
          </a:stretch>
        </p:blipFill>
        <p:spPr>
          <a:xfrm>
            <a:off x="3781616" y="754380"/>
            <a:ext cx="137160" cy="137160"/>
          </a:xfrm>
          <a:prstGeom prst="rect">
            <a:avLst/>
          </a:prstGeom>
        </p:spPr>
      </p:pic>
      <p:sp>
        <p:nvSpPr>
          <p:cNvPr id="96" name="Text 73"/>
          <p:cNvSpPr txBox="1"/>
          <p:nvPr/>
        </p:nvSpPr>
        <p:spPr>
          <a:xfrm>
            <a:off x="3193542"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3</a:t>
            </a:r>
            <a:endParaRPr lang="en-US" sz="560" dirty="0"/>
          </a:p>
        </p:txBody>
      </p:sp>
      <p:sp>
        <p:nvSpPr>
          <p:cNvPr id="97" name="Text 74"/>
          <p:cNvSpPr txBox="1"/>
          <p:nvPr/>
        </p:nvSpPr>
        <p:spPr>
          <a:xfrm>
            <a:off x="3184398"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800" dirty="0"/>
          </a:p>
        </p:txBody>
      </p:sp>
      <p:sp>
        <p:nvSpPr>
          <p:cNvPr id="98" name="Text 75"/>
          <p:cNvSpPr txBox="1"/>
          <p:nvPr/>
        </p:nvSpPr>
        <p:spPr>
          <a:xfrm>
            <a:off x="3184398"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Parse → domain model</a:t>
            </a:r>
            <a:endParaRPr lang="en-US" sz="520" dirty="0"/>
          </a:p>
        </p:txBody>
      </p:sp>
      <p:sp>
        <p:nvSpPr>
          <p:cNvPr id="99" name="Shape 76"/>
          <p:cNvSpPr/>
          <p:nvPr/>
        </p:nvSpPr>
        <p:spPr>
          <a:xfrm>
            <a:off x="4550740"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00" name="Shape 77"/>
          <p:cNvSpPr/>
          <p:nvPr/>
        </p:nvSpPr>
        <p:spPr>
          <a:xfrm>
            <a:off x="3202686"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1" name="Image 21" descr="preencoded.png"/>
          <p:cNvPicPr>
            <a:picLocks noChangeAspect="1"/>
          </p:cNvPicPr>
          <p:nvPr/>
        </p:nvPicPr>
        <p:blipFill>
          <a:blip r:embed="rId3"/>
          <a:stretch>
            <a:fillRect/>
          </a:stretch>
        </p:blipFill>
        <p:spPr>
          <a:xfrm>
            <a:off x="3248406" y="1421892"/>
            <a:ext cx="96012" cy="96012"/>
          </a:xfrm>
          <a:prstGeom prst="rect">
            <a:avLst/>
          </a:prstGeom>
        </p:spPr>
      </p:pic>
      <p:sp>
        <p:nvSpPr>
          <p:cNvPr id="102" name="Text 78"/>
          <p:cNvSpPr txBox="1"/>
          <p:nvPr/>
        </p:nvSpPr>
        <p:spPr>
          <a:xfrm>
            <a:off x="3371850" y="141549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Jira → Requirements</a:t>
            </a:r>
            <a:endParaRPr lang="en-US" sz="620" dirty="0"/>
          </a:p>
        </p:txBody>
      </p:sp>
      <p:sp>
        <p:nvSpPr>
          <p:cNvPr id="103" name="Text 79"/>
          <p:cNvSpPr txBox="1"/>
          <p:nvPr/>
        </p:nvSpPr>
        <p:spPr>
          <a:xfrm>
            <a:off x="3248406"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ADF JSON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Given / When / Then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Capability tagging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key + hash</a:t>
            </a:r>
            <a:endParaRPr lang="en-US" sz="550" dirty="0"/>
          </a:p>
        </p:txBody>
      </p:sp>
      <p:sp>
        <p:nvSpPr>
          <p:cNvPr id="104" name="Shape 80"/>
          <p:cNvSpPr/>
          <p:nvPr/>
        </p:nvSpPr>
        <p:spPr>
          <a:xfrm>
            <a:off x="3202686"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5" name="Image 22" descr="preencoded.png"/>
          <p:cNvPicPr>
            <a:picLocks noChangeAspect="1"/>
          </p:cNvPicPr>
          <p:nvPr/>
        </p:nvPicPr>
        <p:blipFill>
          <a:blip r:embed="rId4"/>
          <a:stretch>
            <a:fillRect/>
          </a:stretch>
        </p:blipFill>
        <p:spPr>
          <a:xfrm>
            <a:off x="3248406" y="2091690"/>
            <a:ext cx="96012" cy="96012"/>
          </a:xfrm>
          <a:prstGeom prst="rect">
            <a:avLst/>
          </a:prstGeom>
        </p:spPr>
      </p:pic>
      <p:sp>
        <p:nvSpPr>
          <p:cNvPr id="106" name="Text 81"/>
          <p:cNvSpPr txBox="1"/>
          <p:nvPr/>
        </p:nvSpPr>
        <p:spPr>
          <a:xfrm>
            <a:off x="3371850" y="2085289"/>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Confluence → Design</a:t>
            </a:r>
            <a:endParaRPr lang="en-US" sz="620" dirty="0"/>
          </a:p>
        </p:txBody>
      </p:sp>
      <p:sp>
        <p:nvSpPr>
          <p:cNvPr id="107" name="Text 82"/>
          <p:cNvSpPr txBox="1"/>
          <p:nvPr/>
        </p:nvSpPr>
        <p:spPr>
          <a:xfrm>
            <a:off x="3248406"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Jsoup HTML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H1–H4</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headers, rows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 sentences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version</a:t>
            </a:r>
            <a:endParaRPr lang="en-US" sz="550" dirty="0"/>
          </a:p>
        </p:txBody>
      </p:sp>
      <p:sp>
        <p:nvSpPr>
          <p:cNvPr id="108" name="Shape 83"/>
          <p:cNvSpPr/>
          <p:nvPr/>
        </p:nvSpPr>
        <p:spPr>
          <a:xfrm>
            <a:off x="3202686"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09" name="Image 23" descr="preencoded.png"/>
          <p:cNvPicPr>
            <a:picLocks noChangeAspect="1"/>
          </p:cNvPicPr>
          <p:nvPr/>
        </p:nvPicPr>
        <p:blipFill>
          <a:blip r:embed="rId5"/>
          <a:stretch>
            <a:fillRect/>
          </a:stretch>
        </p:blipFill>
        <p:spPr>
          <a:xfrm>
            <a:off x="3248406" y="2761488"/>
            <a:ext cx="96012" cy="96012"/>
          </a:xfrm>
          <a:prstGeom prst="rect">
            <a:avLst/>
          </a:prstGeom>
        </p:spPr>
      </p:pic>
      <p:sp>
        <p:nvSpPr>
          <p:cNvPr id="110" name="Text 84"/>
          <p:cNvSpPr txBox="1"/>
          <p:nvPr/>
        </p:nvSpPr>
        <p:spPr>
          <a:xfrm>
            <a:off x="3371850" y="2755087"/>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Salesforce → Metadata</a:t>
            </a:r>
            <a:endParaRPr lang="en-US" sz="620" dirty="0"/>
          </a:p>
        </p:txBody>
      </p:sp>
      <p:sp>
        <p:nvSpPr>
          <p:cNvPr id="111" name="Text 85"/>
          <p:cNvSpPr txBox="1"/>
          <p:nvPr/>
        </p:nvSpPr>
        <p:spPr>
          <a:xfrm>
            <a:off x="3248406"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describe() → objects, fields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XML: elements, rules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SOQL, DML, sObjects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 rule formulas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Dependency API → edges</a:t>
            </a:r>
            <a:endParaRPr lang="en-US" sz="550" dirty="0"/>
          </a:p>
        </p:txBody>
      </p:sp>
      <p:sp>
        <p:nvSpPr>
          <p:cNvPr id="112" name="Shape 86"/>
          <p:cNvSpPr/>
          <p:nvPr/>
        </p:nvSpPr>
        <p:spPr>
          <a:xfrm>
            <a:off x="3202686"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3" name="Image 24" descr="preencoded.png"/>
          <p:cNvPicPr>
            <a:picLocks noChangeAspect="1"/>
          </p:cNvPicPr>
          <p:nvPr/>
        </p:nvPicPr>
        <p:blipFill>
          <a:blip r:embed="rId6"/>
          <a:stretch>
            <a:fillRect/>
          </a:stretch>
        </p:blipFill>
        <p:spPr>
          <a:xfrm>
            <a:off x="3248406" y="3431286"/>
            <a:ext cx="96012" cy="96012"/>
          </a:xfrm>
          <a:prstGeom prst="rect">
            <a:avLst/>
          </a:prstGeom>
        </p:spPr>
      </p:pic>
      <p:sp>
        <p:nvSpPr>
          <p:cNvPr id="114" name="Text 87"/>
          <p:cNvSpPr txBox="1"/>
          <p:nvPr/>
        </p:nvSpPr>
        <p:spPr>
          <a:xfrm>
            <a:off x="3371850" y="3424885"/>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Git → Code</a:t>
            </a:r>
            <a:endParaRPr lang="en-US" sz="620" dirty="0"/>
          </a:p>
        </p:txBody>
      </p:sp>
      <p:sp>
        <p:nvSpPr>
          <p:cNvPr id="115" name="Text 88"/>
          <p:cNvSpPr txBox="1"/>
          <p:nvPr/>
        </p:nvSpPr>
        <p:spPr>
          <a:xfrm>
            <a:off x="3248406"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SFDX source traversal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 parsing (@isTest)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 → covered class map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 + meta XML parsing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path + commit</a:t>
            </a:r>
            <a:endParaRPr lang="en-US" sz="550" dirty="0"/>
          </a:p>
        </p:txBody>
      </p:sp>
      <p:sp>
        <p:nvSpPr>
          <p:cNvPr id="116" name="Shape 89"/>
          <p:cNvSpPr/>
          <p:nvPr/>
        </p:nvSpPr>
        <p:spPr>
          <a:xfrm>
            <a:off x="3202686"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17" name="Image 25" descr="preencoded.png"/>
          <p:cNvPicPr>
            <a:picLocks noChangeAspect="1"/>
          </p:cNvPicPr>
          <p:nvPr/>
        </p:nvPicPr>
        <p:blipFill>
          <a:blip r:embed="rId7"/>
          <a:stretch>
            <a:fillRect/>
          </a:stretch>
        </p:blipFill>
        <p:spPr>
          <a:xfrm>
            <a:off x="3248406" y="4101084"/>
            <a:ext cx="96012" cy="96012"/>
          </a:xfrm>
          <a:prstGeom prst="rect">
            <a:avLst/>
          </a:prstGeom>
        </p:spPr>
      </p:pic>
      <p:sp>
        <p:nvSpPr>
          <p:cNvPr id="118" name="Text 90"/>
          <p:cNvSpPr txBox="1"/>
          <p:nvPr/>
        </p:nvSpPr>
        <p:spPr>
          <a:xfrm>
            <a:off x="3371850" y="4094683"/>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Copado → Releases</a:t>
            </a:r>
            <a:endParaRPr lang="en-US" sz="620" dirty="0"/>
          </a:p>
        </p:txBody>
      </p:sp>
      <p:sp>
        <p:nvSpPr>
          <p:cNvPr id="119" name="Text 91"/>
          <p:cNvSpPr txBox="1"/>
          <p:nvPr/>
        </p:nvSpPr>
        <p:spPr>
          <a:xfrm>
            <a:off x="3248406"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Story → component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Promotion &amp; deployment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Robotic test → 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Regression + evidence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 / stage map</a:t>
            </a:r>
            <a:endParaRPr lang="en-US" sz="550" dirty="0"/>
          </a:p>
        </p:txBody>
      </p:sp>
      <p:sp>
        <p:nvSpPr>
          <p:cNvPr id="120" name="Shape 92"/>
          <p:cNvSpPr/>
          <p:nvPr/>
        </p:nvSpPr>
        <p:spPr>
          <a:xfrm>
            <a:off x="3202686"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pic>
        <p:nvPicPr>
          <p:cNvPr id="121" name="Image 26" descr="preencoded.png"/>
          <p:cNvPicPr>
            <a:picLocks noChangeAspect="1"/>
          </p:cNvPicPr>
          <p:nvPr/>
        </p:nvPicPr>
        <p:blipFill>
          <a:blip r:embed="rId8"/>
          <a:stretch>
            <a:fillRect/>
          </a:stretch>
        </p:blipFill>
        <p:spPr>
          <a:xfrm>
            <a:off x="3248406" y="4770882"/>
            <a:ext cx="96012" cy="96012"/>
          </a:xfrm>
          <a:prstGeom prst="rect">
            <a:avLst/>
          </a:prstGeom>
        </p:spPr>
      </p:pic>
      <p:sp>
        <p:nvSpPr>
          <p:cNvPr id="122" name="Text 93"/>
          <p:cNvSpPr txBox="1"/>
          <p:nvPr/>
        </p:nvSpPr>
        <p:spPr>
          <a:xfrm>
            <a:off x="3371850" y="4764481"/>
            <a:ext cx="1080135" cy="123444"/>
          </a:xfrm>
          <a:prstGeom prst="rect">
            <a:avLst/>
          </a:prstGeom>
          <a:noFill/>
          <a:ln/>
        </p:spPr>
        <p:txBody>
          <a:bodyPr wrap="square" lIns="0" tIns="0" rIns="0" bIns="0" rtlCol="0" anchor="t"/>
          <a:lstStyle/>
          <a:p>
            <a:pPr marL="0" indent="0">
              <a:lnSpc>
                <a:spcPct val="88000"/>
              </a:lnSpc>
              <a:buNone/>
            </a:pPr>
            <a:r>
              <a:rPr lang="en-US" sz="620" b="0" dirty="0">
                <a:solidFill>
                  <a:srgbClr val="7A4FC0"/>
                </a:solidFill>
                <a:latin typeface="Trenda IG Text Semibold" pitchFamily="34" charset="0"/>
                <a:ea typeface="Trenda IG Text Semibold" pitchFamily="34" charset="-122"/>
                <a:cs typeface="Trenda IG Text Semibold" pitchFamily="34" charset="-120"/>
              </a:rPr>
              <a:t>Drive → Documents</a:t>
            </a:r>
            <a:endParaRPr lang="en-US" sz="620" dirty="0"/>
          </a:p>
        </p:txBody>
      </p:sp>
      <p:sp>
        <p:nvSpPr>
          <p:cNvPr id="123" name="Text 94"/>
          <p:cNvSpPr txBox="1"/>
          <p:nvPr/>
        </p:nvSpPr>
        <p:spPr>
          <a:xfrm>
            <a:off x="3248406"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Docs / Sheets text export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Sheet table extraction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Spec → capability mapping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Test-data workbook parse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id + revision</a:t>
            </a:r>
            <a:endParaRPr lang="en-US" sz="550" dirty="0"/>
          </a:p>
        </p:txBody>
      </p:sp>
      <p:sp>
        <p:nvSpPr>
          <p:cNvPr id="124" name="Shape 95"/>
          <p:cNvSpPr/>
          <p:nvPr/>
        </p:nvSpPr>
        <p:spPr>
          <a:xfrm>
            <a:off x="3202686" y="5404104"/>
            <a:ext cx="1295019" cy="384048"/>
          </a:xfrm>
          <a:prstGeom prst="roundRect">
            <a:avLst>
              <a:gd name="adj" fmla="val 9524"/>
            </a:avLst>
          </a:prstGeom>
          <a:solidFill>
            <a:srgbClr val="7A4FC0"/>
          </a:solidFill>
          <a:ln w="12700">
            <a:solidFill>
              <a:srgbClr val="7A4FC0"/>
            </a:solidFill>
            <a:prstDash val="solid"/>
          </a:ln>
        </p:spPr>
        <p:txBody>
          <a:bodyPr/>
          <a:lstStyle/>
          <a:p>
            <a:endParaRPr lang="en-IN"/>
          </a:p>
        </p:txBody>
      </p:sp>
      <p:sp>
        <p:nvSpPr>
          <p:cNvPr id="125" name="Text 96"/>
          <p:cNvSpPr txBox="1"/>
          <p:nvPr/>
        </p:nvSpPr>
        <p:spPr>
          <a:xfrm>
            <a:off x="3248406"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26" name="Text 97"/>
          <p:cNvSpPr txBox="1"/>
          <p:nvPr/>
        </p:nvSpPr>
        <p:spPr>
          <a:xfrm>
            <a:off x="3248406"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520" dirty="0"/>
          </a:p>
        </p:txBody>
      </p:sp>
      <p:sp>
        <p:nvSpPr>
          <p:cNvPr id="127" name="Shape 98"/>
          <p:cNvSpPr/>
          <p:nvPr/>
        </p:nvSpPr>
        <p:spPr>
          <a:xfrm>
            <a:off x="4653153" y="722376"/>
            <a:ext cx="1386459" cy="5111496"/>
          </a:xfrm>
          <a:prstGeom prst="roundRect">
            <a:avLst>
              <a:gd name="adj" fmla="val 3298"/>
            </a:avLst>
          </a:prstGeom>
          <a:solidFill>
            <a:srgbClr val="FBE9F0"/>
          </a:solidFill>
          <a:ln w="9525">
            <a:solidFill>
              <a:srgbClr val="DCE4EE"/>
            </a:solidFill>
            <a:prstDash val="solid"/>
          </a:ln>
        </p:spPr>
        <p:txBody>
          <a:bodyPr/>
          <a:lstStyle/>
          <a:p>
            <a:endParaRPr lang="en-IN"/>
          </a:p>
        </p:txBody>
      </p:sp>
      <p:sp>
        <p:nvSpPr>
          <p:cNvPr id="128" name="Shape 99"/>
          <p:cNvSpPr/>
          <p:nvPr/>
        </p:nvSpPr>
        <p:spPr>
          <a:xfrm>
            <a:off x="4653153" y="722376"/>
            <a:ext cx="1386459" cy="621792"/>
          </a:xfrm>
          <a:prstGeom prst="roundRect">
            <a:avLst>
              <a:gd name="adj" fmla="val 7353"/>
            </a:avLst>
          </a:prstGeom>
          <a:solidFill>
            <a:srgbClr val="C2185B"/>
          </a:solidFill>
          <a:ln w="12700">
            <a:solidFill>
              <a:srgbClr val="C2185B"/>
            </a:solidFill>
            <a:prstDash val="solid"/>
          </a:ln>
        </p:spPr>
        <p:txBody>
          <a:bodyPr/>
          <a:lstStyle/>
          <a:p>
            <a:endParaRPr lang="en-IN"/>
          </a:p>
        </p:txBody>
      </p:sp>
      <p:pic>
        <p:nvPicPr>
          <p:cNvPr id="129" name="Image 27" descr="preencoded.png"/>
          <p:cNvPicPr>
            <a:picLocks noChangeAspect="1"/>
          </p:cNvPicPr>
          <p:nvPr/>
        </p:nvPicPr>
        <p:blipFill>
          <a:blip r:embed="rId12"/>
          <a:stretch>
            <a:fillRect/>
          </a:stretch>
        </p:blipFill>
        <p:spPr>
          <a:xfrm>
            <a:off x="5277802" y="754380"/>
            <a:ext cx="137160" cy="137160"/>
          </a:xfrm>
          <a:prstGeom prst="rect">
            <a:avLst/>
          </a:prstGeom>
        </p:spPr>
      </p:pic>
      <p:sp>
        <p:nvSpPr>
          <p:cNvPr id="130" name="Text 100"/>
          <p:cNvSpPr txBox="1"/>
          <p:nvPr/>
        </p:nvSpPr>
        <p:spPr>
          <a:xfrm>
            <a:off x="4689729"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4</a:t>
            </a:r>
            <a:endParaRPr lang="en-US" sz="560" dirty="0"/>
          </a:p>
        </p:txBody>
      </p:sp>
      <p:sp>
        <p:nvSpPr>
          <p:cNvPr id="131" name="Text 101"/>
          <p:cNvSpPr txBox="1"/>
          <p:nvPr/>
        </p:nvSpPr>
        <p:spPr>
          <a:xfrm>
            <a:off x="4680585"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800" dirty="0"/>
          </a:p>
        </p:txBody>
      </p:sp>
      <p:sp>
        <p:nvSpPr>
          <p:cNvPr id="132" name="Text 102"/>
          <p:cNvSpPr txBox="1"/>
          <p:nvPr/>
        </p:nvSpPr>
        <p:spPr>
          <a:xfrm>
            <a:off x="4680585"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NetworkServicesContext</a:t>
            </a:r>
            <a:endParaRPr lang="en-US" sz="520" dirty="0"/>
          </a:p>
        </p:txBody>
      </p:sp>
      <p:sp>
        <p:nvSpPr>
          <p:cNvPr id="133" name="Shape 103"/>
          <p:cNvSpPr/>
          <p:nvPr/>
        </p:nvSpPr>
        <p:spPr>
          <a:xfrm>
            <a:off x="6046927"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34" name="Shape 104"/>
          <p:cNvSpPr/>
          <p:nvPr/>
        </p:nvSpPr>
        <p:spPr>
          <a:xfrm>
            <a:off x="4698873" y="138988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5" name="Text 105"/>
          <p:cNvSpPr txBox="1"/>
          <p:nvPr/>
        </p:nvSpPr>
        <p:spPr>
          <a:xfrm>
            <a:off x="4744593"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Root object</a:t>
            </a:r>
            <a:endParaRPr lang="en-US" sz="620" dirty="0"/>
          </a:p>
        </p:txBody>
      </p:sp>
      <p:sp>
        <p:nvSpPr>
          <p:cNvPr id="136" name="Text 106"/>
          <p:cNvSpPr txBox="1"/>
          <p:nvPr/>
        </p:nvSpPr>
        <p:spPr>
          <a:xfrm>
            <a:off x="4744593" y="154990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applicationVersion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createdAt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snapshotId (UUID per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a:t>
            </a:r>
            <a:endParaRPr lang="en-US" sz="550" dirty="0"/>
          </a:p>
        </p:txBody>
      </p:sp>
      <p:sp>
        <p:nvSpPr>
          <p:cNvPr id="137" name="Shape 107"/>
          <p:cNvSpPr/>
          <p:nvPr/>
        </p:nvSpPr>
        <p:spPr>
          <a:xfrm>
            <a:off x="4698873" y="2059686"/>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38" name="Text 108"/>
          <p:cNvSpPr txBox="1"/>
          <p:nvPr/>
        </p:nvSpPr>
        <p:spPr>
          <a:xfrm>
            <a:off x="4744593" y="208528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requirements[]</a:t>
            </a:r>
            <a:endParaRPr lang="en-US" sz="620" dirty="0"/>
          </a:p>
        </p:txBody>
      </p:sp>
      <p:sp>
        <p:nvSpPr>
          <p:cNvPr id="139" name="Text 109"/>
          <p:cNvSpPr txBox="1"/>
          <p:nvPr/>
        </p:nvSpPr>
        <p:spPr>
          <a:xfrm>
            <a:off x="4744593" y="2219706"/>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requirementId (Jira key)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title, summary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acceptanceCriteria[]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businessCapability, status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priority, riskTier, links</a:t>
            </a:r>
            <a:endParaRPr lang="en-US" sz="550" dirty="0"/>
          </a:p>
        </p:txBody>
      </p:sp>
      <p:sp>
        <p:nvSpPr>
          <p:cNvPr id="140" name="Shape 110"/>
          <p:cNvSpPr/>
          <p:nvPr/>
        </p:nvSpPr>
        <p:spPr>
          <a:xfrm>
            <a:off x="4698873" y="2729484"/>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1" name="Text 111"/>
          <p:cNvSpPr txBox="1"/>
          <p:nvPr/>
        </p:nvSpPr>
        <p:spPr>
          <a:xfrm>
            <a:off x="4744593" y="27550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documents[]</a:t>
            </a:r>
            <a:endParaRPr lang="en-US" sz="620" dirty="0"/>
          </a:p>
        </p:txBody>
      </p:sp>
      <p:sp>
        <p:nvSpPr>
          <p:cNvPr id="142" name="Text 112"/>
          <p:cNvSpPr txBox="1"/>
          <p:nvPr/>
        </p:nvSpPr>
        <p:spPr>
          <a:xfrm>
            <a:off x="4744593" y="2889504"/>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documentId (page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sections[]: heading, level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tables[], links[]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businessRules[]: ruleText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objectsReferenced[], hash</a:t>
            </a:r>
            <a:endParaRPr lang="en-US" sz="550" dirty="0"/>
          </a:p>
        </p:txBody>
      </p:sp>
      <p:sp>
        <p:nvSpPr>
          <p:cNvPr id="143" name="Shape 113"/>
          <p:cNvSpPr/>
          <p:nvPr/>
        </p:nvSpPr>
        <p:spPr>
          <a:xfrm>
            <a:off x="4698873" y="3399282"/>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4" name="Text 114"/>
          <p:cNvSpPr txBox="1"/>
          <p:nvPr/>
        </p:nvSpPr>
        <p:spPr>
          <a:xfrm>
            <a:off x="4744593"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salesforceObjects[]</a:t>
            </a:r>
            <a:endParaRPr lang="en-US" sz="620" dirty="0"/>
          </a:p>
        </p:txBody>
      </p:sp>
      <p:sp>
        <p:nvSpPr>
          <p:cNvPr id="145" name="Text 115"/>
          <p:cNvSpPr txBox="1"/>
          <p:nvPr/>
        </p:nvSpPr>
        <p:spPr>
          <a:xfrm>
            <a:off x="4744593" y="3559302"/>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objectApiName, label</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recordTypes[]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fields[]: type, formula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relationships[]: lookup, M-D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sharingModel, permSets[]</a:t>
            </a:r>
            <a:endParaRPr lang="en-US" sz="550" dirty="0"/>
          </a:p>
        </p:txBody>
      </p:sp>
      <p:sp>
        <p:nvSpPr>
          <p:cNvPr id="146" name="Shape 116"/>
          <p:cNvSpPr/>
          <p:nvPr/>
        </p:nvSpPr>
        <p:spPr>
          <a:xfrm>
            <a:off x="4698873" y="4069080"/>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47" name="Text 117"/>
          <p:cNvSpPr txBox="1"/>
          <p:nvPr/>
        </p:nvSpPr>
        <p:spPr>
          <a:xfrm>
            <a:off x="4744593" y="4094683"/>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automations[]</a:t>
            </a:r>
            <a:endParaRPr lang="en-US" sz="620" dirty="0"/>
          </a:p>
        </p:txBody>
      </p:sp>
      <p:sp>
        <p:nvSpPr>
          <p:cNvPr id="148" name="Text 118"/>
          <p:cNvSpPr txBox="1"/>
          <p:nvPr/>
        </p:nvSpPr>
        <p:spPr>
          <a:xfrm>
            <a:off x="4744593" y="4229100"/>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componentId, apiName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 | APEX | TRIGGER | VR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objectsTouched[]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dmlOperations, soqlQueries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testCoverage · riskTier</a:t>
            </a:r>
            <a:endParaRPr lang="en-US" sz="550" dirty="0"/>
          </a:p>
        </p:txBody>
      </p:sp>
      <p:sp>
        <p:nvSpPr>
          <p:cNvPr id="149" name="Shape 119"/>
          <p:cNvSpPr/>
          <p:nvPr/>
        </p:nvSpPr>
        <p:spPr>
          <a:xfrm>
            <a:off x="4698873" y="4738878"/>
            <a:ext cx="1295019" cy="628650"/>
          </a:xfrm>
          <a:prstGeom prst="roundRect">
            <a:avLst>
              <a:gd name="adj" fmla="val 5818"/>
            </a:avLst>
          </a:prstGeom>
          <a:solidFill>
            <a:srgbClr val="FFFFFF"/>
          </a:solidFill>
          <a:ln w="9525">
            <a:solidFill>
              <a:srgbClr val="DCE4EE"/>
            </a:solidFill>
            <a:prstDash val="solid"/>
          </a:ln>
        </p:spPr>
        <p:txBody>
          <a:bodyPr/>
          <a:lstStyle/>
          <a:p>
            <a:endParaRPr lang="en-IN"/>
          </a:p>
        </p:txBody>
      </p:sp>
      <p:sp>
        <p:nvSpPr>
          <p:cNvPr id="150" name="Text 120"/>
          <p:cNvSpPr txBox="1"/>
          <p:nvPr/>
        </p:nvSpPr>
        <p:spPr>
          <a:xfrm>
            <a:off x="4744593" y="476448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2185B"/>
                </a:solidFill>
                <a:latin typeface="Trenda IG Text Semibold" pitchFamily="34" charset="0"/>
                <a:ea typeface="Trenda IG Text Semibold" pitchFamily="34" charset="-122"/>
                <a:cs typeface="Trenda IG Text Semibold" pitchFamily="34" charset="-120"/>
              </a:rPr>
              <a:t>Tests &amp; releases</a:t>
            </a:r>
            <a:endParaRPr lang="en-US" sz="620" dirty="0"/>
          </a:p>
        </p:txBody>
      </p:sp>
      <p:sp>
        <p:nvSpPr>
          <p:cNvPr id="151" name="Text 121"/>
          <p:cNvSpPr txBox="1"/>
          <p:nvPr/>
        </p:nvSpPr>
        <p:spPr>
          <a:xfrm>
            <a:off x="4744593" y="4898898"/>
            <a:ext cx="1203579" cy="436626"/>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testAssets[]: robotic + regr.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assertions[], evidenceUri</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releases[]: env,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integrations[]: APDH 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 → Queueable → Pub/Sub</a:t>
            </a:r>
            <a:endParaRPr lang="en-US" sz="550" dirty="0"/>
          </a:p>
        </p:txBody>
      </p:sp>
      <p:sp>
        <p:nvSpPr>
          <p:cNvPr id="152" name="Shape 122"/>
          <p:cNvSpPr/>
          <p:nvPr/>
        </p:nvSpPr>
        <p:spPr>
          <a:xfrm>
            <a:off x="4698873" y="5404104"/>
            <a:ext cx="1295019" cy="384048"/>
          </a:xfrm>
          <a:prstGeom prst="roundRect">
            <a:avLst>
              <a:gd name="adj" fmla="val 9524"/>
            </a:avLst>
          </a:prstGeom>
          <a:solidFill>
            <a:srgbClr val="C2185B"/>
          </a:solidFill>
          <a:ln w="12700">
            <a:solidFill>
              <a:srgbClr val="C2185B"/>
            </a:solidFill>
            <a:prstDash val="solid"/>
          </a:ln>
        </p:spPr>
        <p:txBody>
          <a:bodyPr/>
          <a:lstStyle/>
          <a:p>
            <a:endParaRPr lang="en-IN"/>
          </a:p>
        </p:txBody>
      </p:sp>
      <p:sp>
        <p:nvSpPr>
          <p:cNvPr id="153" name="Text 123"/>
          <p:cNvSpPr txBox="1"/>
          <p:nvPr/>
        </p:nvSpPr>
        <p:spPr>
          <a:xfrm>
            <a:off x="4744593"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54" name="Text 124"/>
          <p:cNvSpPr txBox="1"/>
          <p:nvPr/>
        </p:nvSpPr>
        <p:spPr>
          <a:xfrm>
            <a:off x="4744593"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520" dirty="0"/>
          </a:p>
        </p:txBody>
      </p:sp>
      <p:sp>
        <p:nvSpPr>
          <p:cNvPr id="155" name="Shape 125"/>
          <p:cNvSpPr/>
          <p:nvPr/>
        </p:nvSpPr>
        <p:spPr>
          <a:xfrm>
            <a:off x="6149340" y="722376"/>
            <a:ext cx="1386459" cy="5111496"/>
          </a:xfrm>
          <a:prstGeom prst="roundRect">
            <a:avLst>
              <a:gd name="adj" fmla="val 3298"/>
            </a:avLst>
          </a:prstGeom>
          <a:solidFill>
            <a:srgbClr val="FDF1DE"/>
          </a:solidFill>
          <a:ln w="9525">
            <a:solidFill>
              <a:srgbClr val="DCE4EE"/>
            </a:solidFill>
            <a:prstDash val="solid"/>
          </a:ln>
        </p:spPr>
        <p:txBody>
          <a:bodyPr/>
          <a:lstStyle/>
          <a:p>
            <a:endParaRPr lang="en-IN"/>
          </a:p>
        </p:txBody>
      </p:sp>
      <p:sp>
        <p:nvSpPr>
          <p:cNvPr id="156" name="Shape 126"/>
          <p:cNvSpPr/>
          <p:nvPr/>
        </p:nvSpPr>
        <p:spPr>
          <a:xfrm>
            <a:off x="6149340" y="722376"/>
            <a:ext cx="1386459" cy="621792"/>
          </a:xfrm>
          <a:prstGeom prst="roundRect">
            <a:avLst>
              <a:gd name="adj" fmla="val 7353"/>
            </a:avLst>
          </a:prstGeom>
          <a:solidFill>
            <a:srgbClr val="C77400"/>
          </a:solidFill>
          <a:ln w="12700">
            <a:solidFill>
              <a:srgbClr val="C77400"/>
            </a:solidFill>
            <a:prstDash val="solid"/>
          </a:ln>
        </p:spPr>
        <p:txBody>
          <a:bodyPr/>
          <a:lstStyle/>
          <a:p>
            <a:endParaRPr lang="en-IN"/>
          </a:p>
        </p:txBody>
      </p:sp>
      <p:pic>
        <p:nvPicPr>
          <p:cNvPr id="157" name="Image 28" descr="preencoded.png"/>
          <p:cNvPicPr>
            <a:picLocks noChangeAspect="1"/>
          </p:cNvPicPr>
          <p:nvPr/>
        </p:nvPicPr>
        <p:blipFill>
          <a:blip r:embed="rId13"/>
          <a:stretch>
            <a:fillRect/>
          </a:stretch>
        </p:blipFill>
        <p:spPr>
          <a:xfrm>
            <a:off x="6773989" y="754380"/>
            <a:ext cx="137160" cy="137160"/>
          </a:xfrm>
          <a:prstGeom prst="rect">
            <a:avLst/>
          </a:prstGeom>
        </p:spPr>
      </p:pic>
      <p:sp>
        <p:nvSpPr>
          <p:cNvPr id="158" name="Text 127"/>
          <p:cNvSpPr txBox="1"/>
          <p:nvPr/>
        </p:nvSpPr>
        <p:spPr>
          <a:xfrm>
            <a:off x="6185916"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5</a:t>
            </a:r>
            <a:endParaRPr lang="en-US" sz="560" dirty="0"/>
          </a:p>
        </p:txBody>
      </p:sp>
      <p:sp>
        <p:nvSpPr>
          <p:cNvPr id="159" name="Text 128"/>
          <p:cNvSpPr txBox="1"/>
          <p:nvPr/>
        </p:nvSpPr>
        <p:spPr>
          <a:xfrm>
            <a:off x="6176772"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Storage</a:t>
            </a:r>
            <a:endParaRPr lang="en-US" sz="800" dirty="0"/>
          </a:p>
        </p:txBody>
      </p:sp>
      <p:sp>
        <p:nvSpPr>
          <p:cNvPr id="160" name="Text 129"/>
          <p:cNvSpPr txBox="1"/>
          <p:nvPr/>
        </p:nvSpPr>
        <p:spPr>
          <a:xfrm>
            <a:off x="6176772"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Neutral JSON contract</a:t>
            </a:r>
            <a:endParaRPr lang="en-US" sz="520" dirty="0"/>
          </a:p>
        </p:txBody>
      </p:sp>
      <p:sp>
        <p:nvSpPr>
          <p:cNvPr id="161" name="Shape 130"/>
          <p:cNvSpPr/>
          <p:nvPr/>
        </p:nvSpPr>
        <p:spPr>
          <a:xfrm>
            <a:off x="7543114"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62" name="Shape 131"/>
          <p:cNvSpPr/>
          <p:nvPr/>
        </p:nvSpPr>
        <p:spPr>
          <a:xfrm>
            <a:off x="6195060" y="1389888"/>
            <a:ext cx="1295019" cy="2045056"/>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63" name="Text 132"/>
          <p:cNvSpPr txBox="1"/>
          <p:nvPr/>
        </p:nvSpPr>
        <p:spPr>
          <a:xfrm>
            <a:off x="6240780"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context.json (excerpt)</a:t>
            </a:r>
            <a:endParaRPr lang="en-US" sz="620" dirty="0"/>
          </a:p>
        </p:txBody>
      </p:sp>
      <p:sp>
        <p:nvSpPr>
          <p:cNvPr id="164" name="Text 133"/>
          <p:cNvSpPr txBox="1"/>
          <p:nvPr/>
        </p:nvSpPr>
        <p:spPr>
          <a:xfrm>
            <a:off x="6240780" y="1549908"/>
            <a:ext cx="1203579" cy="1853032"/>
          </a:xfrm>
          <a:prstGeom prst="rect">
            <a:avLst/>
          </a:prstGeom>
          <a:noFill/>
          <a:ln/>
        </p:spPr>
        <p:txBody>
          <a:bodyPr wrap="square" lIns="0" tIns="0" rIns="0" bIns="0" rtlCol="0" anchor="t"/>
          <a:lstStyle/>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"snapshotId": "b7f1c2e4",</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"nodes":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"id": "</a:t>
            </a:r>
            <a:r>
              <a:rPr lang="en-US" sz="540" dirty="0" err="1">
                <a:solidFill>
                  <a:srgbClr val="12233B"/>
                </a:solidFill>
                <a:latin typeface="Courier New" pitchFamily="34" charset="0"/>
                <a:ea typeface="Courier New" pitchFamily="34" charset="-122"/>
                <a:cs typeface="Courier New" pitchFamily="34" charset="-120"/>
              </a:rPr>
              <a:t>sobj:HFN</a:t>
            </a:r>
            <a:r>
              <a:rPr lang="en-US" sz="540" dirty="0">
                <a:solidFill>
                  <a:srgbClr val="12233B"/>
                </a:solidFill>
                <a:latin typeface="Courier New" pitchFamily="34" charset="0"/>
                <a:ea typeface="Courier New" pitchFamily="34" charset="-122"/>
                <a:cs typeface="Courier New" pitchFamily="34" charset="-120"/>
              </a:rPr>
              <a:t>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 "SOBJECT",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"properties":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"fieldCount": 148,</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"testCoverage": 81,</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"riskTier": "HIGH"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"sourceReferences":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"artifactPath":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"objects/HFN__c.xml",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"artifactHash":</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"sha256:9f2b...c41d"}]}],</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"relationships":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"type":</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"FLOW_UPDATES_SOBJECT",</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"from": "flow:HFN_Gen",</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"to": "sobj:HFN__c",</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"origin": "FACTUAL",</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  "confidence": 1.0 }]</a:t>
            </a:r>
            <a:endParaRPr lang="en-US" sz="540" dirty="0"/>
          </a:p>
          <a:p>
            <a:pPr marL="0" indent="0">
              <a:lnSpc>
                <a:spcPct val="95000"/>
              </a:lnSpc>
              <a:buNone/>
            </a:pPr>
            <a:r>
              <a:rPr lang="en-US" sz="540" dirty="0">
                <a:solidFill>
                  <a:srgbClr val="12233B"/>
                </a:solidFill>
                <a:latin typeface="Courier New" pitchFamily="34" charset="0"/>
                <a:ea typeface="Courier New" pitchFamily="34" charset="-122"/>
                <a:cs typeface="Courier New" pitchFamily="34" charset="-120"/>
              </a:rPr>
              <a:t>}</a:t>
            </a:r>
            <a:endParaRPr lang="en-US" sz="540" dirty="0"/>
          </a:p>
        </p:txBody>
      </p:sp>
      <p:sp>
        <p:nvSpPr>
          <p:cNvPr id="165" name="Shape 134"/>
          <p:cNvSpPr/>
          <p:nvPr/>
        </p:nvSpPr>
        <p:spPr>
          <a:xfrm>
            <a:off x="6195060" y="3476092"/>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6" name="Text 135"/>
          <p:cNvSpPr txBox="1"/>
          <p:nvPr/>
        </p:nvSpPr>
        <p:spPr>
          <a:xfrm>
            <a:off x="6240780" y="350169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What the file holds</a:t>
            </a:r>
            <a:endParaRPr lang="en-US" sz="620" dirty="0"/>
          </a:p>
        </p:txBody>
      </p:sp>
      <p:sp>
        <p:nvSpPr>
          <p:cNvPr id="167" name="Text 136"/>
          <p:cNvSpPr txBox="1"/>
          <p:nvPr/>
        </p:nvSpPr>
        <p:spPr>
          <a:xfrm>
            <a:off x="6240780" y="3636112"/>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node with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typed relationship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on each element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source references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One snapshot per sync run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Vendor-neutral, portable</a:t>
            </a:r>
            <a:endParaRPr lang="en-US" sz="550" dirty="0"/>
          </a:p>
        </p:txBody>
      </p:sp>
      <p:sp>
        <p:nvSpPr>
          <p:cNvPr id="168" name="Shape 137"/>
          <p:cNvSpPr/>
          <p:nvPr/>
        </p:nvSpPr>
        <p:spPr>
          <a:xfrm>
            <a:off x="6195060" y="4442384"/>
            <a:ext cx="1295019" cy="925144"/>
          </a:xfrm>
          <a:prstGeom prst="roundRect">
            <a:avLst>
              <a:gd name="adj" fmla="val 3954"/>
            </a:avLst>
          </a:prstGeom>
          <a:solidFill>
            <a:srgbClr val="FFFFFF"/>
          </a:solidFill>
          <a:ln w="9525">
            <a:solidFill>
              <a:srgbClr val="DCE4EE"/>
            </a:solidFill>
            <a:prstDash val="solid"/>
          </a:ln>
        </p:spPr>
        <p:txBody>
          <a:bodyPr/>
          <a:lstStyle/>
          <a:p>
            <a:endParaRPr lang="en-IN"/>
          </a:p>
        </p:txBody>
      </p:sp>
      <p:sp>
        <p:nvSpPr>
          <p:cNvPr id="169" name="Text 138"/>
          <p:cNvSpPr txBox="1"/>
          <p:nvPr/>
        </p:nvSpPr>
        <p:spPr>
          <a:xfrm>
            <a:off x="6240780" y="4467987"/>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77400"/>
                </a:solidFill>
                <a:latin typeface="Trenda IG Text Semibold" pitchFamily="34" charset="0"/>
                <a:ea typeface="Trenda IG Text Semibold" pitchFamily="34" charset="-122"/>
                <a:cs typeface="Trenda IG Text Semibold" pitchFamily="34" charset="-120"/>
              </a:rPr>
              <a:t>Storage rules</a:t>
            </a:r>
            <a:endParaRPr lang="en-US" sz="620" dirty="0"/>
          </a:p>
        </p:txBody>
      </p:sp>
      <p:sp>
        <p:nvSpPr>
          <p:cNvPr id="170" name="Text 139"/>
          <p:cNvSpPr txBox="1"/>
          <p:nvPr/>
        </p:nvSpPr>
        <p:spPr>
          <a:xfrm>
            <a:off x="6240780" y="4602404"/>
            <a:ext cx="1203579" cy="733120"/>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Rebuilt on each sync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Never written back to source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Versioned per snapshotId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SHA-256 change detection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Metadata + sanitized 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Encrypted at rest</a:t>
            </a:r>
            <a:endParaRPr lang="en-US" sz="550" dirty="0"/>
          </a:p>
        </p:txBody>
      </p:sp>
      <p:sp>
        <p:nvSpPr>
          <p:cNvPr id="171" name="Shape 140"/>
          <p:cNvSpPr/>
          <p:nvPr/>
        </p:nvSpPr>
        <p:spPr>
          <a:xfrm>
            <a:off x="6195060" y="5404104"/>
            <a:ext cx="1295019" cy="384048"/>
          </a:xfrm>
          <a:prstGeom prst="roundRect">
            <a:avLst>
              <a:gd name="adj" fmla="val 9524"/>
            </a:avLst>
          </a:prstGeom>
          <a:solidFill>
            <a:srgbClr val="C77400"/>
          </a:solidFill>
          <a:ln w="12700">
            <a:solidFill>
              <a:srgbClr val="C77400"/>
            </a:solidFill>
            <a:prstDash val="solid"/>
          </a:ln>
        </p:spPr>
        <p:txBody>
          <a:bodyPr/>
          <a:lstStyle/>
          <a:p>
            <a:endParaRPr lang="en-IN"/>
          </a:p>
        </p:txBody>
      </p:sp>
      <p:sp>
        <p:nvSpPr>
          <p:cNvPr id="172" name="Text 141"/>
          <p:cNvSpPr txBox="1"/>
          <p:nvPr/>
        </p:nvSpPr>
        <p:spPr>
          <a:xfrm>
            <a:off x="6240780"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73" name="Text 142"/>
          <p:cNvSpPr txBox="1"/>
          <p:nvPr/>
        </p:nvSpPr>
        <p:spPr>
          <a:xfrm>
            <a:off x="6240780"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A portable snapshot any tool or engine can consume</a:t>
            </a:r>
            <a:endParaRPr lang="en-US" sz="520" dirty="0"/>
          </a:p>
        </p:txBody>
      </p:sp>
      <p:sp>
        <p:nvSpPr>
          <p:cNvPr id="174" name="Shape 143"/>
          <p:cNvSpPr/>
          <p:nvPr/>
        </p:nvSpPr>
        <p:spPr>
          <a:xfrm>
            <a:off x="7645527" y="722376"/>
            <a:ext cx="1386459" cy="5111496"/>
          </a:xfrm>
          <a:prstGeom prst="roundRect">
            <a:avLst>
              <a:gd name="adj" fmla="val 3298"/>
            </a:avLst>
          </a:prstGeom>
          <a:solidFill>
            <a:srgbClr val="FBEAEA"/>
          </a:solidFill>
          <a:ln w="9525">
            <a:solidFill>
              <a:srgbClr val="DCE4EE"/>
            </a:solidFill>
            <a:prstDash val="solid"/>
          </a:ln>
        </p:spPr>
        <p:txBody>
          <a:bodyPr/>
          <a:lstStyle/>
          <a:p>
            <a:endParaRPr lang="en-IN"/>
          </a:p>
        </p:txBody>
      </p:sp>
      <p:sp>
        <p:nvSpPr>
          <p:cNvPr id="175" name="Shape 144"/>
          <p:cNvSpPr/>
          <p:nvPr/>
        </p:nvSpPr>
        <p:spPr>
          <a:xfrm>
            <a:off x="7645527" y="722376"/>
            <a:ext cx="1386459" cy="621792"/>
          </a:xfrm>
          <a:prstGeom prst="roundRect">
            <a:avLst>
              <a:gd name="adj" fmla="val 7353"/>
            </a:avLst>
          </a:prstGeom>
          <a:solidFill>
            <a:srgbClr val="C62828"/>
          </a:solidFill>
          <a:ln w="12700">
            <a:solidFill>
              <a:srgbClr val="C62828"/>
            </a:solidFill>
            <a:prstDash val="solid"/>
          </a:ln>
        </p:spPr>
        <p:txBody>
          <a:bodyPr/>
          <a:lstStyle/>
          <a:p>
            <a:endParaRPr lang="en-IN"/>
          </a:p>
        </p:txBody>
      </p:sp>
      <p:pic>
        <p:nvPicPr>
          <p:cNvPr id="176" name="Image 29" descr="preencoded.png"/>
          <p:cNvPicPr>
            <a:picLocks noChangeAspect="1"/>
          </p:cNvPicPr>
          <p:nvPr/>
        </p:nvPicPr>
        <p:blipFill>
          <a:blip r:embed="rId14"/>
          <a:stretch>
            <a:fillRect/>
          </a:stretch>
        </p:blipFill>
        <p:spPr>
          <a:xfrm>
            <a:off x="8270177" y="754380"/>
            <a:ext cx="137160" cy="137160"/>
          </a:xfrm>
          <a:prstGeom prst="rect">
            <a:avLst/>
          </a:prstGeom>
        </p:spPr>
      </p:pic>
      <p:sp>
        <p:nvSpPr>
          <p:cNvPr id="177" name="Text 145"/>
          <p:cNvSpPr txBox="1"/>
          <p:nvPr/>
        </p:nvSpPr>
        <p:spPr>
          <a:xfrm>
            <a:off x="7682103"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6</a:t>
            </a:r>
            <a:endParaRPr lang="en-US" sz="560" dirty="0"/>
          </a:p>
        </p:txBody>
      </p:sp>
      <p:sp>
        <p:nvSpPr>
          <p:cNvPr id="178" name="Text 146"/>
          <p:cNvSpPr txBox="1"/>
          <p:nvPr/>
        </p:nvSpPr>
        <p:spPr>
          <a:xfrm>
            <a:off x="7672959"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Graph Exporter</a:t>
            </a:r>
            <a:endParaRPr lang="en-US" sz="800" dirty="0"/>
          </a:p>
        </p:txBody>
      </p:sp>
      <p:sp>
        <p:nvSpPr>
          <p:cNvPr id="179" name="Text 147"/>
          <p:cNvSpPr txBox="1"/>
          <p:nvPr/>
        </p:nvSpPr>
        <p:spPr>
          <a:xfrm>
            <a:off x="7672959"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Context → graph export</a:t>
            </a:r>
            <a:endParaRPr lang="en-US" sz="520" dirty="0"/>
          </a:p>
        </p:txBody>
      </p:sp>
      <p:sp>
        <p:nvSpPr>
          <p:cNvPr id="180" name="Shape 148"/>
          <p:cNvSpPr/>
          <p:nvPr/>
        </p:nvSpPr>
        <p:spPr>
          <a:xfrm>
            <a:off x="9039301"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181" name="Shape 149"/>
          <p:cNvSpPr/>
          <p:nvPr/>
        </p:nvSpPr>
        <p:spPr>
          <a:xfrm>
            <a:off x="7691247" y="1389888"/>
            <a:ext cx="1295019" cy="1756921"/>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2" name="Text 150"/>
          <p:cNvSpPr txBox="1"/>
          <p:nvPr/>
        </p:nvSpPr>
        <p:spPr>
          <a:xfrm>
            <a:off x="7736967"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Node types</a:t>
            </a:r>
            <a:endParaRPr lang="en-US" sz="620" dirty="0"/>
          </a:p>
        </p:txBody>
      </p:sp>
      <p:sp>
        <p:nvSpPr>
          <p:cNvPr id="183" name="Text 151"/>
          <p:cNvSpPr txBox="1"/>
          <p:nvPr/>
        </p:nvSpPr>
        <p:spPr>
          <a:xfrm>
            <a:off x="7736967" y="1549908"/>
            <a:ext cx="1203579" cy="1564897"/>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APPLICATION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DESIGN_DOCUMENT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BUSINESS_RULE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APEX_CLASS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APEX_TRIGGER</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VALIDATION_RULE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LWC_COMPONENT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REPOSITORY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COMPONENT_FILE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ENVIRONMENT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INTEGRATION_EVENT</a:t>
            </a:r>
            <a:endParaRPr lang="en-US" sz="550" dirty="0"/>
          </a:p>
        </p:txBody>
      </p:sp>
      <p:sp>
        <p:nvSpPr>
          <p:cNvPr id="184" name="Shape 152"/>
          <p:cNvSpPr/>
          <p:nvPr/>
        </p:nvSpPr>
        <p:spPr>
          <a:xfrm>
            <a:off x="7691247" y="3187957"/>
            <a:ext cx="1295019" cy="1515972"/>
          </a:xfrm>
          <a:prstGeom prst="roundRect">
            <a:avLst>
              <a:gd name="adj" fmla="val 2824"/>
            </a:avLst>
          </a:prstGeom>
          <a:solidFill>
            <a:srgbClr val="FFFFFF"/>
          </a:solidFill>
          <a:ln w="9525">
            <a:solidFill>
              <a:srgbClr val="DCE4EE"/>
            </a:solidFill>
            <a:prstDash val="solid"/>
          </a:ln>
        </p:spPr>
        <p:txBody>
          <a:bodyPr/>
          <a:lstStyle/>
          <a:p>
            <a:endParaRPr lang="en-IN"/>
          </a:p>
        </p:txBody>
      </p:sp>
      <p:sp>
        <p:nvSpPr>
          <p:cNvPr id="185" name="Text 153"/>
          <p:cNvSpPr txBox="1"/>
          <p:nvPr/>
        </p:nvSpPr>
        <p:spPr>
          <a:xfrm>
            <a:off x="7736967" y="3213560"/>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Relationship types</a:t>
            </a:r>
            <a:endParaRPr lang="en-US" sz="620" dirty="0"/>
          </a:p>
        </p:txBody>
      </p:sp>
      <p:sp>
        <p:nvSpPr>
          <p:cNvPr id="186" name="Text 154"/>
          <p:cNvSpPr txBox="1"/>
          <p:nvPr/>
        </p:nvSpPr>
        <p:spPr>
          <a:xfrm>
            <a:off x="7736967" y="3347977"/>
            <a:ext cx="1203579" cy="132394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REQ_TARGETS_CAPABILITY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REQ_SPECIFIED_BY_DOC</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DOCUMENT_HAS_SECTION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SECTION_DEFINES_RULE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RULE_CONSTRAINS_SOBJECT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SOBJECT_HAS_FIELD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SOBJECT_RELATES_TO_SOBJ</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FLOW_UPDATES_SOBJECT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APEX_REFERENCES_SOBJECT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TRIGGER_FIRES_ON_SOBJECT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COMP_DEPENDS_ON_COMP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TEST_COVERS_COMPONENT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REQ_IMPLEMENTED_BY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RELEASE_DEPLOYS_COMP</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COMP_PUBLISHES_EVENT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REQ_REUSES_COMPONENT</a:t>
            </a:r>
            <a:endParaRPr lang="en-US" sz="550" dirty="0"/>
          </a:p>
        </p:txBody>
      </p:sp>
      <p:sp>
        <p:nvSpPr>
          <p:cNvPr id="187" name="Shape 155"/>
          <p:cNvSpPr/>
          <p:nvPr/>
        </p:nvSpPr>
        <p:spPr>
          <a:xfrm>
            <a:off x="7691247" y="4745076"/>
            <a:ext cx="1295019" cy="622452"/>
          </a:xfrm>
          <a:prstGeom prst="roundRect">
            <a:avLst>
              <a:gd name="adj" fmla="val 5876"/>
            </a:avLst>
          </a:prstGeom>
          <a:solidFill>
            <a:srgbClr val="FFFFFF"/>
          </a:solidFill>
          <a:ln w="9525">
            <a:solidFill>
              <a:srgbClr val="DCE4EE"/>
            </a:solidFill>
            <a:prstDash val="solid"/>
          </a:ln>
        </p:spPr>
        <p:txBody>
          <a:bodyPr/>
          <a:lstStyle/>
          <a:p>
            <a:endParaRPr lang="en-IN"/>
          </a:p>
        </p:txBody>
      </p:sp>
      <p:sp>
        <p:nvSpPr>
          <p:cNvPr id="188" name="Text 156"/>
          <p:cNvSpPr txBox="1"/>
          <p:nvPr/>
        </p:nvSpPr>
        <p:spPr>
          <a:xfrm>
            <a:off x="7736967" y="4770679"/>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C62828"/>
                </a:solidFill>
                <a:latin typeface="Trenda IG Text Semibold" pitchFamily="34" charset="0"/>
                <a:ea typeface="Trenda IG Text Semibold" pitchFamily="34" charset="-122"/>
                <a:cs typeface="Trenda IG Text Semibold" pitchFamily="34" charset="-120"/>
              </a:rPr>
              <a:t>Properties preserved</a:t>
            </a:r>
            <a:endParaRPr lang="en-US" sz="620" dirty="0"/>
          </a:p>
        </p:txBody>
      </p:sp>
      <p:sp>
        <p:nvSpPr>
          <p:cNvPr id="189" name="Text 157"/>
          <p:cNvSpPr txBox="1"/>
          <p:nvPr/>
        </p:nvSpPr>
        <p:spPr>
          <a:xfrm>
            <a:off x="7736967" y="4905096"/>
            <a:ext cx="1203579" cy="430428"/>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All domain metadata</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Provenance + derivation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Source refs, exact location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Confidence 1.0 / inferred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 tier per component</a:t>
            </a:r>
            <a:endParaRPr lang="en-US" sz="550" dirty="0"/>
          </a:p>
        </p:txBody>
      </p:sp>
      <p:sp>
        <p:nvSpPr>
          <p:cNvPr id="190" name="Shape 158"/>
          <p:cNvSpPr/>
          <p:nvPr/>
        </p:nvSpPr>
        <p:spPr>
          <a:xfrm>
            <a:off x="7691247" y="5404104"/>
            <a:ext cx="1295019" cy="384048"/>
          </a:xfrm>
          <a:prstGeom prst="roundRect">
            <a:avLst>
              <a:gd name="adj" fmla="val 9524"/>
            </a:avLst>
          </a:prstGeom>
          <a:solidFill>
            <a:srgbClr val="C62828"/>
          </a:solidFill>
          <a:ln w="12700">
            <a:solidFill>
              <a:srgbClr val="C62828"/>
            </a:solidFill>
            <a:prstDash val="solid"/>
          </a:ln>
        </p:spPr>
        <p:txBody>
          <a:bodyPr/>
          <a:lstStyle/>
          <a:p>
            <a:endParaRPr lang="en-IN"/>
          </a:p>
        </p:txBody>
      </p:sp>
      <p:sp>
        <p:nvSpPr>
          <p:cNvPr id="191" name="Text 159"/>
          <p:cNvSpPr txBox="1"/>
          <p:nvPr/>
        </p:nvSpPr>
        <p:spPr>
          <a:xfrm>
            <a:off x="7736967"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192" name="Text 160"/>
          <p:cNvSpPr txBox="1"/>
          <p:nvPr/>
        </p:nvSpPr>
        <p:spPr>
          <a:xfrm>
            <a:off x="7736967"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Dependencies made explicit as a typed, queryable graph</a:t>
            </a:r>
            <a:endParaRPr lang="en-US" sz="520" dirty="0"/>
          </a:p>
        </p:txBody>
      </p:sp>
      <p:sp>
        <p:nvSpPr>
          <p:cNvPr id="193" name="Shape 161"/>
          <p:cNvSpPr/>
          <p:nvPr/>
        </p:nvSpPr>
        <p:spPr>
          <a:xfrm>
            <a:off x="9141714" y="722376"/>
            <a:ext cx="1386459" cy="5111496"/>
          </a:xfrm>
          <a:prstGeom prst="roundRect">
            <a:avLst>
              <a:gd name="adj" fmla="val 3298"/>
            </a:avLst>
          </a:prstGeom>
          <a:solidFill>
            <a:srgbClr val="E9F3EA"/>
          </a:solidFill>
          <a:ln w="9525">
            <a:solidFill>
              <a:srgbClr val="DCE4EE"/>
            </a:solidFill>
            <a:prstDash val="solid"/>
          </a:ln>
        </p:spPr>
        <p:txBody>
          <a:bodyPr/>
          <a:lstStyle/>
          <a:p>
            <a:endParaRPr lang="en-IN"/>
          </a:p>
        </p:txBody>
      </p:sp>
      <p:sp>
        <p:nvSpPr>
          <p:cNvPr id="194" name="Shape 162"/>
          <p:cNvSpPr/>
          <p:nvPr/>
        </p:nvSpPr>
        <p:spPr>
          <a:xfrm>
            <a:off x="9141714" y="722376"/>
            <a:ext cx="1386459" cy="621792"/>
          </a:xfrm>
          <a:prstGeom prst="roundRect">
            <a:avLst>
              <a:gd name="adj" fmla="val 7353"/>
            </a:avLst>
          </a:prstGeom>
          <a:solidFill>
            <a:srgbClr val="2E7D32"/>
          </a:solidFill>
          <a:ln w="12700">
            <a:solidFill>
              <a:srgbClr val="2E7D32"/>
            </a:solidFill>
            <a:prstDash val="solid"/>
          </a:ln>
        </p:spPr>
        <p:txBody>
          <a:bodyPr/>
          <a:lstStyle/>
          <a:p>
            <a:endParaRPr lang="en-IN"/>
          </a:p>
        </p:txBody>
      </p:sp>
      <p:pic>
        <p:nvPicPr>
          <p:cNvPr id="195" name="Image 30" descr="preencoded.png"/>
          <p:cNvPicPr>
            <a:picLocks noChangeAspect="1"/>
          </p:cNvPicPr>
          <p:nvPr/>
        </p:nvPicPr>
        <p:blipFill>
          <a:blip r:embed="rId15"/>
          <a:stretch>
            <a:fillRect/>
          </a:stretch>
        </p:blipFill>
        <p:spPr>
          <a:xfrm>
            <a:off x="9766364" y="754380"/>
            <a:ext cx="137160" cy="137160"/>
          </a:xfrm>
          <a:prstGeom prst="rect">
            <a:avLst/>
          </a:prstGeom>
        </p:spPr>
      </p:pic>
      <p:sp>
        <p:nvSpPr>
          <p:cNvPr id="196" name="Text 163"/>
          <p:cNvSpPr txBox="1"/>
          <p:nvPr/>
        </p:nvSpPr>
        <p:spPr>
          <a:xfrm>
            <a:off x="9178290"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7</a:t>
            </a:r>
            <a:endParaRPr lang="en-US" sz="560" dirty="0"/>
          </a:p>
        </p:txBody>
      </p:sp>
      <p:sp>
        <p:nvSpPr>
          <p:cNvPr id="197" name="Text 164"/>
          <p:cNvSpPr txBox="1"/>
          <p:nvPr/>
        </p:nvSpPr>
        <p:spPr>
          <a:xfrm>
            <a:off x="9169146"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Semantica ContextGraph</a:t>
            </a:r>
            <a:endParaRPr lang="en-US" sz="800" dirty="0"/>
          </a:p>
        </p:txBody>
      </p:sp>
      <p:sp>
        <p:nvSpPr>
          <p:cNvPr id="198" name="Text 165"/>
          <p:cNvSpPr txBox="1"/>
          <p:nvPr/>
        </p:nvSpPr>
        <p:spPr>
          <a:xfrm>
            <a:off x="9169146"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In-memory knowledge graph</a:t>
            </a:r>
            <a:endParaRPr lang="en-US" sz="520" dirty="0"/>
          </a:p>
        </p:txBody>
      </p:sp>
      <p:sp>
        <p:nvSpPr>
          <p:cNvPr id="199" name="Shape 166"/>
          <p:cNvSpPr/>
          <p:nvPr/>
        </p:nvSpPr>
        <p:spPr>
          <a:xfrm>
            <a:off x="10535488" y="992124"/>
            <a:ext cx="95098" cy="91440"/>
          </a:xfrm>
          <a:prstGeom prst="rightArrow">
            <a:avLst/>
          </a:prstGeom>
          <a:solidFill>
            <a:srgbClr val="9AA7B5"/>
          </a:solidFill>
          <a:ln w="12700">
            <a:solidFill>
              <a:srgbClr val="9AA7B5"/>
            </a:solidFill>
            <a:prstDash val="solid"/>
          </a:ln>
        </p:spPr>
        <p:txBody>
          <a:bodyPr/>
          <a:lstStyle/>
          <a:p>
            <a:endParaRPr lang="en-IN"/>
          </a:p>
        </p:txBody>
      </p:sp>
      <p:sp>
        <p:nvSpPr>
          <p:cNvPr id="200" name="Shape 167"/>
          <p:cNvSpPr/>
          <p:nvPr/>
        </p:nvSpPr>
        <p:spPr>
          <a:xfrm>
            <a:off x="9187434"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1" name="Text 168"/>
          <p:cNvSpPr txBox="1"/>
          <p:nvPr/>
        </p:nvSpPr>
        <p:spPr>
          <a:xfrm>
            <a:off x="9233154"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data structure</a:t>
            </a:r>
            <a:endParaRPr lang="en-US" sz="620" dirty="0"/>
          </a:p>
        </p:txBody>
      </p:sp>
      <p:sp>
        <p:nvSpPr>
          <p:cNvPr id="202" name="Text 169"/>
          <p:cNvSpPr txBox="1"/>
          <p:nvPr/>
        </p:nvSpPr>
        <p:spPr>
          <a:xfrm>
            <a:off x="9233154"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In-memory directed graph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nodes + properties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Typed edges + weights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Adjacency index per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O(1) node access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indexes for scans</a:t>
            </a:r>
            <a:endParaRPr lang="en-US" sz="550" dirty="0"/>
          </a:p>
        </p:txBody>
      </p:sp>
      <p:sp>
        <p:nvSpPr>
          <p:cNvPr id="203" name="Shape 170"/>
          <p:cNvSpPr/>
          <p:nvPr/>
        </p:nvSpPr>
        <p:spPr>
          <a:xfrm>
            <a:off x="9187434"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4" name="Text 171"/>
          <p:cNvSpPr txBox="1"/>
          <p:nvPr/>
        </p:nvSpPr>
        <p:spPr>
          <a:xfrm>
            <a:off x="9233154"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Graph operations</a:t>
            </a:r>
            <a:endParaRPr lang="en-US" sz="620" dirty="0"/>
          </a:p>
        </p:txBody>
      </p:sp>
      <p:sp>
        <p:nvSpPr>
          <p:cNvPr id="205" name="Text 172"/>
          <p:cNvSpPr txBox="1"/>
          <p:nvPr/>
        </p:nvSpPr>
        <p:spPr>
          <a:xfrm>
            <a:off x="9233154"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add_node(id, type, props)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add_edge(src, tgt, 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find_nodes(node_type)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find_edges(edge_type)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has_node · retract</a:t>
            </a:r>
            <a:endParaRPr lang="en-US" sz="550" dirty="0"/>
          </a:p>
        </p:txBody>
      </p:sp>
      <p:sp>
        <p:nvSpPr>
          <p:cNvPr id="206" name="Shape 173"/>
          <p:cNvSpPr/>
          <p:nvPr/>
        </p:nvSpPr>
        <p:spPr>
          <a:xfrm>
            <a:off x="9187434"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07" name="Text 174"/>
          <p:cNvSpPr txBox="1"/>
          <p:nvPr/>
        </p:nvSpPr>
        <p:spPr>
          <a:xfrm>
            <a:off x="9233154"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Delivery analysis</a:t>
            </a:r>
            <a:endParaRPr lang="en-US" sz="620" dirty="0"/>
          </a:p>
        </p:txBody>
      </p:sp>
      <p:sp>
        <p:nvSpPr>
          <p:cNvPr id="208" name="Text 175"/>
          <p:cNvSpPr txBox="1"/>
          <p:nvPr/>
        </p:nvSpPr>
        <p:spPr>
          <a:xfrm>
            <a:off x="9233154"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blast_radius(node,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reuse_candidates(capab.)</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risk_tier(components)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downstream_events → APDH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coverage_gap(component)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a:t>
            </a:r>
            <a:endParaRPr lang="en-US" sz="550" dirty="0"/>
          </a:p>
        </p:txBody>
      </p:sp>
      <p:sp>
        <p:nvSpPr>
          <p:cNvPr id="209" name="Shape 176"/>
          <p:cNvSpPr/>
          <p:nvPr/>
        </p:nvSpPr>
        <p:spPr>
          <a:xfrm>
            <a:off x="9187434"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10" name="Text 177"/>
          <p:cNvSpPr txBox="1"/>
          <p:nvPr/>
        </p:nvSpPr>
        <p:spPr>
          <a:xfrm>
            <a:off x="9233154"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2E7D32"/>
                </a:solidFill>
                <a:latin typeface="Trenda IG Text Semibold" pitchFamily="34" charset="0"/>
                <a:ea typeface="Trenda IG Text Semibold" pitchFamily="34" charset="-122"/>
                <a:cs typeface="Trenda IG Text Semibold" pitchFamily="34" charset="-120"/>
              </a:rPr>
              <a:t>Analytics &amp; provenance</a:t>
            </a:r>
            <a:endParaRPr lang="en-US" sz="620" dirty="0"/>
          </a:p>
        </p:txBody>
      </p:sp>
      <p:sp>
        <p:nvSpPr>
          <p:cNvPr id="211" name="Text 178"/>
          <p:cNvSpPr txBox="1"/>
          <p:nvPr/>
        </p:nvSpPr>
        <p:spPr>
          <a:xfrm>
            <a:off x="9233154"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stats(): counts, density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Type distributions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Connected 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save / load_from_file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Snapshot diffing</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Query &lt; 0.01s · 1M+ nodes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get_lineage, trace_source</a:t>
            </a:r>
            <a:endParaRPr lang="en-US" sz="550" dirty="0"/>
          </a:p>
        </p:txBody>
      </p:sp>
      <p:sp>
        <p:nvSpPr>
          <p:cNvPr id="212" name="Shape 179"/>
          <p:cNvSpPr/>
          <p:nvPr/>
        </p:nvSpPr>
        <p:spPr>
          <a:xfrm>
            <a:off x="9187434" y="5404104"/>
            <a:ext cx="1295019" cy="384048"/>
          </a:xfrm>
          <a:prstGeom prst="roundRect">
            <a:avLst>
              <a:gd name="adj" fmla="val 9524"/>
            </a:avLst>
          </a:prstGeom>
          <a:solidFill>
            <a:srgbClr val="2E7D32"/>
          </a:solidFill>
          <a:ln w="12700">
            <a:solidFill>
              <a:srgbClr val="2E7D32"/>
            </a:solidFill>
            <a:prstDash val="solid"/>
          </a:ln>
        </p:spPr>
        <p:txBody>
          <a:bodyPr/>
          <a:lstStyle/>
          <a:p>
            <a:endParaRPr lang="en-IN"/>
          </a:p>
        </p:txBody>
      </p:sp>
      <p:sp>
        <p:nvSpPr>
          <p:cNvPr id="213" name="Text 180"/>
          <p:cNvSpPr txBox="1"/>
          <p:nvPr/>
        </p:nvSpPr>
        <p:spPr>
          <a:xfrm>
            <a:off x="9233154"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14" name="Text 181"/>
          <p:cNvSpPr txBox="1"/>
          <p:nvPr/>
        </p:nvSpPr>
        <p:spPr>
          <a:xfrm>
            <a:off x="9233154"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Blast radius, reuse and risk answered in under 0.01s</a:t>
            </a:r>
            <a:endParaRPr lang="en-US" sz="520" dirty="0"/>
          </a:p>
        </p:txBody>
      </p:sp>
      <p:sp>
        <p:nvSpPr>
          <p:cNvPr id="215" name="Shape 182"/>
          <p:cNvSpPr/>
          <p:nvPr/>
        </p:nvSpPr>
        <p:spPr>
          <a:xfrm>
            <a:off x="10637901" y="722376"/>
            <a:ext cx="1386459" cy="5111496"/>
          </a:xfrm>
          <a:prstGeom prst="roundRect">
            <a:avLst>
              <a:gd name="adj" fmla="val 3298"/>
            </a:avLst>
          </a:prstGeom>
          <a:solidFill>
            <a:srgbClr val="E3F2F4"/>
          </a:solidFill>
          <a:ln w="9525">
            <a:solidFill>
              <a:srgbClr val="DCE4EE"/>
            </a:solidFill>
            <a:prstDash val="solid"/>
          </a:ln>
        </p:spPr>
        <p:txBody>
          <a:bodyPr/>
          <a:lstStyle/>
          <a:p>
            <a:endParaRPr lang="en-IN"/>
          </a:p>
        </p:txBody>
      </p:sp>
      <p:sp>
        <p:nvSpPr>
          <p:cNvPr id="216" name="Shape 183"/>
          <p:cNvSpPr/>
          <p:nvPr/>
        </p:nvSpPr>
        <p:spPr>
          <a:xfrm>
            <a:off x="10637901" y="722376"/>
            <a:ext cx="1386459" cy="621792"/>
          </a:xfrm>
          <a:prstGeom prst="roundRect">
            <a:avLst>
              <a:gd name="adj" fmla="val 7353"/>
            </a:avLst>
          </a:prstGeom>
          <a:solidFill>
            <a:srgbClr val="00757F"/>
          </a:solidFill>
          <a:ln w="12700">
            <a:solidFill>
              <a:srgbClr val="00757F"/>
            </a:solidFill>
            <a:prstDash val="solid"/>
          </a:ln>
        </p:spPr>
        <p:txBody>
          <a:bodyPr/>
          <a:lstStyle/>
          <a:p>
            <a:endParaRPr lang="en-IN"/>
          </a:p>
        </p:txBody>
      </p:sp>
      <p:pic>
        <p:nvPicPr>
          <p:cNvPr id="217" name="Image 31" descr="preencoded.png"/>
          <p:cNvPicPr>
            <a:picLocks noChangeAspect="1"/>
          </p:cNvPicPr>
          <p:nvPr/>
        </p:nvPicPr>
        <p:blipFill>
          <a:blip r:embed="rId16"/>
          <a:stretch>
            <a:fillRect/>
          </a:stretch>
        </p:blipFill>
        <p:spPr>
          <a:xfrm>
            <a:off x="11262551" y="754380"/>
            <a:ext cx="137160" cy="137160"/>
          </a:xfrm>
          <a:prstGeom prst="rect">
            <a:avLst/>
          </a:prstGeom>
        </p:spPr>
      </p:pic>
      <p:sp>
        <p:nvSpPr>
          <p:cNvPr id="218" name="Text 184"/>
          <p:cNvSpPr txBox="1"/>
          <p:nvPr/>
        </p:nvSpPr>
        <p:spPr>
          <a:xfrm>
            <a:off x="10674477" y="900684"/>
            <a:ext cx="1313307" cy="100584"/>
          </a:xfrm>
          <a:prstGeom prst="rect">
            <a:avLst/>
          </a:prstGeom>
          <a:noFill/>
          <a:ln/>
        </p:spPr>
        <p:txBody>
          <a:bodyPr wrap="square" lIns="0" tIns="0" rIns="0" bIns="0" rtlCol="0" anchor="ctr"/>
          <a:lstStyle/>
          <a:p>
            <a:pPr marL="0" indent="0" algn="ctr">
              <a:buNone/>
            </a:pPr>
            <a:r>
              <a:rPr lang="en-US" sz="560" b="0" kern="0" spc="50" dirty="0">
                <a:solidFill>
                  <a:srgbClr val="FFFFFF"/>
                </a:solidFill>
                <a:latin typeface="Trenda IG Text Semibold" pitchFamily="34" charset="0"/>
                <a:ea typeface="Trenda IG Text Semibold" pitchFamily="34" charset="-122"/>
                <a:cs typeface="Trenda IG Text Semibold" pitchFamily="34" charset="-120"/>
              </a:rPr>
              <a:t>LAYER 8</a:t>
            </a:r>
            <a:endParaRPr lang="en-US" sz="560" dirty="0"/>
          </a:p>
        </p:txBody>
      </p:sp>
      <p:sp>
        <p:nvSpPr>
          <p:cNvPr id="219" name="Text 185"/>
          <p:cNvSpPr txBox="1"/>
          <p:nvPr/>
        </p:nvSpPr>
        <p:spPr>
          <a:xfrm>
            <a:off x="10665333" y="1001268"/>
            <a:ext cx="1331595" cy="210312"/>
          </a:xfrm>
          <a:prstGeom prst="rect">
            <a:avLst/>
          </a:prstGeom>
          <a:noFill/>
          <a:ln/>
        </p:spPr>
        <p:txBody>
          <a:bodyPr wrap="square" lIns="0" tIns="0" rIns="0" bIns="0" rtlCol="0" anchor="t"/>
          <a:lstStyle/>
          <a:p>
            <a:pPr marL="0" indent="0" algn="ctr">
              <a:buNone/>
            </a:pPr>
            <a:r>
              <a:rPr lang="en-US" sz="800" b="0" dirty="0">
                <a:solidFill>
                  <a:srgbClr val="FFFFFF"/>
                </a:solidFill>
                <a:latin typeface="Trenda IG Text Semibold" pitchFamily="34" charset="0"/>
                <a:ea typeface="Trenda IG Text Semibold" pitchFamily="34" charset="-122"/>
                <a:cs typeface="Trenda IG Text Semibold" pitchFamily="34" charset="-120"/>
              </a:rPr>
              <a:t>Adapter API + Codex</a:t>
            </a:r>
            <a:endParaRPr lang="en-US" sz="800" dirty="0"/>
          </a:p>
        </p:txBody>
      </p:sp>
      <p:sp>
        <p:nvSpPr>
          <p:cNvPr id="220" name="Text 186"/>
          <p:cNvSpPr txBox="1"/>
          <p:nvPr/>
        </p:nvSpPr>
        <p:spPr>
          <a:xfrm>
            <a:off x="10665333" y="1211580"/>
            <a:ext cx="1331595" cy="118872"/>
          </a:xfrm>
          <a:prstGeom prst="rect">
            <a:avLst/>
          </a:prstGeom>
          <a:noFill/>
          <a:ln/>
        </p:spPr>
        <p:txBody>
          <a:bodyPr wrap="square" lIns="0" tIns="0" rIns="0" bIns="0" rtlCol="0" anchor="ctr"/>
          <a:lstStyle/>
          <a:p>
            <a:pPr marL="0" indent="0" algn="ctr">
              <a:buNone/>
            </a:pPr>
            <a:r>
              <a:rPr lang="en-US" sz="520" i="1" dirty="0">
                <a:solidFill>
                  <a:srgbClr val="FFFFFF"/>
                </a:solidFill>
                <a:latin typeface="Trenda IG Text" pitchFamily="34" charset="0"/>
                <a:ea typeface="Trenda IG Text" pitchFamily="34" charset="-122"/>
                <a:cs typeface="Trenda IG Text" pitchFamily="34" charset="-120"/>
              </a:rPr>
              <a:t>SemanticaGraphAdapter → Codex</a:t>
            </a:r>
            <a:endParaRPr lang="en-US" sz="520" dirty="0"/>
          </a:p>
        </p:txBody>
      </p:sp>
      <p:sp>
        <p:nvSpPr>
          <p:cNvPr id="221" name="Shape 187"/>
          <p:cNvSpPr/>
          <p:nvPr/>
        </p:nvSpPr>
        <p:spPr>
          <a:xfrm>
            <a:off x="10683621" y="1389888"/>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2" name="Text 188"/>
          <p:cNvSpPr txBox="1"/>
          <p:nvPr/>
        </p:nvSpPr>
        <p:spPr>
          <a:xfrm>
            <a:off x="10729341" y="1415491"/>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Core query methods</a:t>
            </a:r>
            <a:endParaRPr lang="en-US" sz="620" dirty="0"/>
          </a:p>
        </p:txBody>
      </p:sp>
      <p:sp>
        <p:nvSpPr>
          <p:cNvPr id="223" name="Text 189"/>
          <p:cNvSpPr txBox="1"/>
          <p:nvPr/>
        </p:nvSpPr>
        <p:spPr>
          <a:xfrm>
            <a:off x="10729341" y="1549908"/>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load_from_json(path)</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get_node(node_id)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get_nodes_by_type(type)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get_outgoing_edges(id)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get_incoming_edges(id)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get_neighbors(id,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find_path(from, to, hops)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get_graph_stats()</a:t>
            </a:r>
            <a:endParaRPr lang="en-US" sz="550" dirty="0"/>
          </a:p>
        </p:txBody>
      </p:sp>
      <p:sp>
        <p:nvSpPr>
          <p:cNvPr id="224" name="Shape 190"/>
          <p:cNvSpPr/>
          <p:nvPr/>
        </p:nvSpPr>
        <p:spPr>
          <a:xfrm>
            <a:off x="10683621" y="2394585"/>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5" name="Text 191"/>
          <p:cNvSpPr txBox="1"/>
          <p:nvPr/>
        </p:nvSpPr>
        <p:spPr>
          <a:xfrm>
            <a:off x="10729341" y="2420188"/>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Delivery methods</a:t>
            </a:r>
            <a:endParaRPr lang="en-US" sz="620" dirty="0"/>
          </a:p>
        </p:txBody>
      </p:sp>
      <p:sp>
        <p:nvSpPr>
          <p:cNvPr id="226" name="Text 192"/>
          <p:cNvSpPr txBox="1"/>
          <p:nvPr/>
        </p:nvSpPr>
        <p:spPr>
          <a:xfrm>
            <a:off x="10729341" y="2554605"/>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analyze_impact(requirement)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find_reuse(capability)</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classify_risk(components)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trace_downstream_events()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coverage_report()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build_context_slice()</a:t>
            </a:r>
            <a:endParaRPr lang="en-US" sz="550" dirty="0"/>
          </a:p>
        </p:txBody>
      </p:sp>
      <p:sp>
        <p:nvSpPr>
          <p:cNvPr id="227" name="Shape 193"/>
          <p:cNvSpPr/>
          <p:nvPr/>
        </p:nvSpPr>
        <p:spPr>
          <a:xfrm>
            <a:off x="10683621" y="3399282"/>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28" name="Text 194"/>
          <p:cNvSpPr txBox="1"/>
          <p:nvPr/>
        </p:nvSpPr>
        <p:spPr>
          <a:xfrm>
            <a:off x="10729341" y="3424885"/>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Codex tool surface</a:t>
            </a:r>
            <a:endParaRPr lang="en-US" sz="620" dirty="0"/>
          </a:p>
        </p:txBody>
      </p:sp>
      <p:sp>
        <p:nvSpPr>
          <p:cNvPr id="229" name="Text 195"/>
          <p:cNvSpPr txBox="1"/>
          <p:nvPr/>
        </p:nvSpPr>
        <p:spPr>
          <a:xfrm>
            <a:off x="10729341" y="3559302"/>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graph.query · graph.impact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graph.reuse · graph.prov</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git.read_file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sf.describe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jira.read · copado.status</a:t>
            </a:r>
            <a:endParaRPr lang="en-US" sz="550" dirty="0"/>
          </a:p>
        </p:txBody>
      </p:sp>
      <p:sp>
        <p:nvSpPr>
          <p:cNvPr id="230" name="Shape 196"/>
          <p:cNvSpPr/>
          <p:nvPr/>
        </p:nvSpPr>
        <p:spPr>
          <a:xfrm>
            <a:off x="10683621" y="4403979"/>
            <a:ext cx="1295019" cy="963549"/>
          </a:xfrm>
          <a:prstGeom prst="roundRect">
            <a:avLst>
              <a:gd name="adj" fmla="val 3796"/>
            </a:avLst>
          </a:prstGeom>
          <a:solidFill>
            <a:srgbClr val="FFFFFF"/>
          </a:solidFill>
          <a:ln w="9525">
            <a:solidFill>
              <a:srgbClr val="DCE4EE"/>
            </a:solidFill>
            <a:prstDash val="solid"/>
          </a:ln>
        </p:spPr>
        <p:txBody>
          <a:bodyPr/>
          <a:lstStyle/>
          <a:p>
            <a:endParaRPr lang="en-IN"/>
          </a:p>
        </p:txBody>
      </p:sp>
      <p:sp>
        <p:nvSpPr>
          <p:cNvPr id="231" name="Text 197"/>
          <p:cNvSpPr txBox="1"/>
          <p:nvPr/>
        </p:nvSpPr>
        <p:spPr>
          <a:xfrm>
            <a:off x="10729341" y="4429582"/>
            <a:ext cx="1203579" cy="123444"/>
          </a:xfrm>
          <a:prstGeom prst="rect">
            <a:avLst/>
          </a:prstGeom>
          <a:noFill/>
          <a:ln/>
        </p:spPr>
        <p:txBody>
          <a:bodyPr wrap="square" lIns="0" tIns="0" rIns="0" bIns="0" rtlCol="0" anchor="t"/>
          <a:lstStyle/>
          <a:p>
            <a:pPr marL="0" indent="0">
              <a:lnSpc>
                <a:spcPct val="88000"/>
              </a:lnSpc>
              <a:buNone/>
            </a:pPr>
            <a:r>
              <a:rPr lang="en-US" sz="620" b="0" dirty="0">
                <a:solidFill>
                  <a:srgbClr val="00757F"/>
                </a:solidFill>
                <a:latin typeface="Trenda IG Text Semibold" pitchFamily="34" charset="0"/>
                <a:ea typeface="Trenda IG Text Semibold" pitchFamily="34" charset="-122"/>
                <a:cs typeface="Trenda IG Text Semibold" pitchFamily="34" charset="-120"/>
              </a:rPr>
              <a:t>Output contract</a:t>
            </a:r>
            <a:endParaRPr lang="en-US" sz="620" dirty="0"/>
          </a:p>
        </p:txBody>
      </p:sp>
      <p:sp>
        <p:nvSpPr>
          <p:cNvPr id="232" name="Text 198"/>
          <p:cNvSpPr txBox="1"/>
          <p:nvPr/>
        </p:nvSpPr>
        <p:spPr>
          <a:xfrm>
            <a:off x="10729341" y="4563999"/>
            <a:ext cx="1203579" cy="771525"/>
          </a:xfrm>
          <a:prstGeom prst="rect">
            <a:avLst/>
          </a:prstGeom>
          <a:noFill/>
          <a:ln/>
        </p:spPr>
        <p:txBody>
          <a:bodyPr wrap="square" lIns="0" tIns="0" rIns="0" bIns="0" rtlCol="0" anchor="t"/>
          <a:lstStyle/>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Bounded graph slice</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No invented dependencies</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Every claim cites a node id</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ImpactAnalysis · ChangePlan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GeneratedArtifacts, TestPlan</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RiskAssessment</a:t>
            </a:r>
            <a:endParaRPr lang="en-US" sz="550" dirty="0"/>
          </a:p>
          <a:p>
            <a:pPr marL="76200" indent="-76200">
              <a:lnSpc>
                <a:spcPct val="88000"/>
              </a:lnSpc>
              <a:buSzPct val="100000"/>
              <a:buChar char="•"/>
            </a:pPr>
            <a:r>
              <a:rPr lang="en-US" sz="550" dirty="0">
                <a:solidFill>
                  <a:srgbClr val="12233B"/>
                </a:solidFill>
                <a:latin typeface="Trenda IG Text" pitchFamily="34" charset="0"/>
                <a:ea typeface="Trenda IG Text" pitchFamily="34" charset="-122"/>
                <a:cs typeface="Trenda IG Text" pitchFamily="34" charset="-120"/>
              </a:rPr>
              <a:t>Write: DEV + branch only</a:t>
            </a:r>
            <a:endParaRPr lang="en-US" sz="550" dirty="0"/>
          </a:p>
        </p:txBody>
      </p:sp>
      <p:sp>
        <p:nvSpPr>
          <p:cNvPr id="233" name="Shape 199"/>
          <p:cNvSpPr/>
          <p:nvPr/>
        </p:nvSpPr>
        <p:spPr>
          <a:xfrm>
            <a:off x="10683621" y="5404104"/>
            <a:ext cx="1295019" cy="384048"/>
          </a:xfrm>
          <a:prstGeom prst="roundRect">
            <a:avLst>
              <a:gd name="adj" fmla="val 9524"/>
            </a:avLst>
          </a:prstGeom>
          <a:solidFill>
            <a:srgbClr val="00757F"/>
          </a:solidFill>
          <a:ln w="12700">
            <a:solidFill>
              <a:srgbClr val="00757F"/>
            </a:solidFill>
            <a:prstDash val="solid"/>
          </a:ln>
        </p:spPr>
        <p:txBody>
          <a:bodyPr/>
          <a:lstStyle/>
          <a:p>
            <a:endParaRPr lang="en-IN"/>
          </a:p>
        </p:txBody>
      </p:sp>
      <p:sp>
        <p:nvSpPr>
          <p:cNvPr id="234" name="Text 200"/>
          <p:cNvSpPr txBox="1"/>
          <p:nvPr/>
        </p:nvSpPr>
        <p:spPr>
          <a:xfrm>
            <a:off x="10729341" y="5436108"/>
            <a:ext cx="1203579" cy="100584"/>
          </a:xfrm>
          <a:prstGeom prst="rect">
            <a:avLst/>
          </a:prstGeom>
          <a:noFill/>
          <a:ln/>
        </p:spPr>
        <p:txBody>
          <a:bodyPr wrap="square" lIns="0" tIns="0" rIns="0" bIns="0" rtlCol="0" anchor="ctr"/>
          <a:lstStyle/>
          <a:p>
            <a:pPr marL="0" indent="0">
              <a:buNone/>
            </a:pPr>
            <a:r>
              <a:rPr lang="en-US" sz="480" b="0" kern="0" spc="40"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80" dirty="0"/>
          </a:p>
        </p:txBody>
      </p:sp>
      <p:sp>
        <p:nvSpPr>
          <p:cNvPr id="235" name="Text 201"/>
          <p:cNvSpPr txBox="1"/>
          <p:nvPr/>
        </p:nvSpPr>
        <p:spPr>
          <a:xfrm>
            <a:off x="10729341" y="5545836"/>
            <a:ext cx="1203579" cy="214884"/>
          </a:xfrm>
          <a:prstGeom prst="rect">
            <a:avLst/>
          </a:prstGeom>
          <a:noFill/>
          <a:ln/>
        </p:spPr>
        <p:txBody>
          <a:bodyPr wrap="square" lIns="0" tIns="0" rIns="0" bIns="0" rtlCol="0" anchor="t"/>
          <a:lstStyle/>
          <a:p>
            <a:pPr marL="0" indent="0">
              <a:lnSpc>
                <a:spcPct val="92000"/>
              </a:lnSpc>
              <a:buNone/>
            </a:pPr>
            <a:r>
              <a:rPr lang="en-US" sz="520" dirty="0">
                <a:solidFill>
                  <a:srgbClr val="FFFFFF"/>
                </a:solidFill>
                <a:latin typeface="Trenda IG Text" pitchFamily="34" charset="0"/>
                <a:ea typeface="Trenda IG Text" pitchFamily="34" charset="-122"/>
                <a:cs typeface="Trenda IG Text" pitchFamily="34" charset="-120"/>
              </a:rPr>
              <a:t>Codex reasons on verified facts, never invented ones</a:t>
            </a:r>
            <a:endParaRPr lang="en-US" sz="520" dirty="0"/>
          </a:p>
        </p:txBody>
      </p:sp>
      <p:sp>
        <p:nvSpPr>
          <p:cNvPr id="236" name="Shape 202"/>
          <p:cNvSpPr/>
          <p:nvPr/>
        </p:nvSpPr>
        <p:spPr>
          <a:xfrm>
            <a:off x="984123"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7" name="Text 203"/>
          <p:cNvSpPr txBox="1"/>
          <p:nvPr/>
        </p:nvSpPr>
        <p:spPr>
          <a:xfrm>
            <a:off x="1029843"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E8A7D"/>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REST v3 · OAuth 2.0 · JWT bearer · SSH key · API token</a:t>
            </a:r>
            <a:endParaRPr lang="en-US" sz="540" dirty="0"/>
          </a:p>
        </p:txBody>
      </p:sp>
      <p:sp>
        <p:nvSpPr>
          <p:cNvPr id="238" name="Shape 204"/>
          <p:cNvSpPr/>
          <p:nvPr/>
        </p:nvSpPr>
        <p:spPr>
          <a:xfrm>
            <a:off x="2480310"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39" name="Text 205"/>
          <p:cNvSpPr txBox="1"/>
          <p:nvPr/>
        </p:nvSpPr>
        <p:spPr>
          <a:xfrm>
            <a:off x="2526030"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7A4FC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SourceArtifact: bytes + metadata + SHA-256</a:t>
            </a:r>
            <a:endParaRPr lang="en-US" sz="540" dirty="0"/>
          </a:p>
        </p:txBody>
      </p:sp>
      <p:sp>
        <p:nvSpPr>
          <p:cNvPr id="240" name="Shape 206"/>
          <p:cNvSpPr/>
          <p:nvPr/>
        </p:nvSpPr>
        <p:spPr>
          <a:xfrm>
            <a:off x="3976497"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1" name="Text 207"/>
          <p:cNvSpPr txBox="1"/>
          <p:nvPr/>
        </p:nvSpPr>
        <p:spPr>
          <a:xfrm>
            <a:off x="4022217"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2185B"/>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Typed domain objects + provenance</a:t>
            </a:r>
            <a:endParaRPr lang="en-US" sz="540" dirty="0"/>
          </a:p>
        </p:txBody>
      </p:sp>
      <p:sp>
        <p:nvSpPr>
          <p:cNvPr id="242" name="Shape 208"/>
          <p:cNvSpPr/>
          <p:nvPr/>
        </p:nvSpPr>
        <p:spPr>
          <a:xfrm>
            <a:off x="5472684"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3" name="Text 209"/>
          <p:cNvSpPr txBox="1"/>
          <p:nvPr/>
        </p:nvSpPr>
        <p:spPr>
          <a:xfrm>
            <a:off x="5518404"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77400"/>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persisted as vendor-neutral JSON</a:t>
            </a:r>
            <a:endParaRPr lang="en-US" sz="540" dirty="0"/>
          </a:p>
        </p:txBody>
      </p:sp>
      <p:sp>
        <p:nvSpPr>
          <p:cNvPr id="244" name="Shape 210"/>
          <p:cNvSpPr/>
          <p:nvPr/>
        </p:nvSpPr>
        <p:spPr>
          <a:xfrm>
            <a:off x="6968871"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5" name="Text 211"/>
          <p:cNvSpPr txBox="1"/>
          <p:nvPr/>
        </p:nvSpPr>
        <p:spPr>
          <a:xfrm>
            <a:off x="7014591"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C62828"/>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export(NetworkServicesContext) → nodes + edges</a:t>
            </a:r>
            <a:endParaRPr lang="en-US" sz="540" dirty="0"/>
          </a:p>
        </p:txBody>
      </p:sp>
      <p:sp>
        <p:nvSpPr>
          <p:cNvPr id="246" name="Shape 212"/>
          <p:cNvSpPr/>
          <p:nvPr/>
        </p:nvSpPr>
        <p:spPr>
          <a:xfrm>
            <a:off x="8465058"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7" name="Text 213"/>
          <p:cNvSpPr txBox="1"/>
          <p:nvPr/>
        </p:nvSpPr>
        <p:spPr>
          <a:xfrm>
            <a:off x="8510778"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2E7D32"/>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loaded into the in-memory graph</a:t>
            </a:r>
            <a:endParaRPr lang="en-US" sz="540" dirty="0"/>
          </a:p>
        </p:txBody>
      </p:sp>
      <p:sp>
        <p:nvSpPr>
          <p:cNvPr id="248" name="Shape 214"/>
          <p:cNvSpPr/>
          <p:nvPr/>
        </p:nvSpPr>
        <p:spPr>
          <a:xfrm>
            <a:off x="9961245" y="5870448"/>
            <a:ext cx="1243584" cy="274320"/>
          </a:xfrm>
          <a:prstGeom prst="roundRect">
            <a:avLst>
              <a:gd name="adj" fmla="val 13333"/>
            </a:avLst>
          </a:prstGeom>
          <a:solidFill>
            <a:srgbClr val="FFFFFF"/>
          </a:solidFill>
          <a:ln w="9525">
            <a:solidFill>
              <a:srgbClr val="B9C4D0"/>
            </a:solidFill>
            <a:prstDash val="solid"/>
          </a:ln>
        </p:spPr>
        <p:txBody>
          <a:bodyPr/>
          <a:lstStyle/>
          <a:p>
            <a:endParaRPr lang="en-IN"/>
          </a:p>
        </p:txBody>
      </p:sp>
      <p:sp>
        <p:nvSpPr>
          <p:cNvPr id="249" name="Text 215"/>
          <p:cNvSpPr txBox="1"/>
          <p:nvPr/>
        </p:nvSpPr>
        <p:spPr>
          <a:xfrm>
            <a:off x="10006965" y="5893308"/>
            <a:ext cx="1152144" cy="228600"/>
          </a:xfrm>
          <a:prstGeom prst="rect">
            <a:avLst/>
          </a:prstGeom>
          <a:noFill/>
          <a:ln/>
        </p:spPr>
        <p:txBody>
          <a:bodyPr wrap="square" lIns="0" tIns="0" rIns="0" bIns="0" rtlCol="0" anchor="ctr"/>
          <a:lstStyle/>
          <a:p>
            <a:pPr marL="0" indent="0" algn="ctr">
              <a:lnSpc>
                <a:spcPct val="90000"/>
              </a:lnSpc>
              <a:buNone/>
            </a:pPr>
            <a:r>
              <a:rPr lang="en-US" sz="540" b="0" dirty="0">
                <a:solidFill>
                  <a:srgbClr val="00757F"/>
                </a:solidFill>
                <a:latin typeface="Trenda IG Text Semibold" pitchFamily="34" charset="0"/>
                <a:ea typeface="Trenda IG Text Semibold" pitchFamily="34" charset="-122"/>
                <a:cs typeface="Trenda IG Text Semibold" pitchFamily="34" charset="-120"/>
              </a:rPr>
              <a:t>▶  </a:t>
            </a:r>
            <a:r>
              <a:rPr lang="en-US" sz="540" dirty="0">
                <a:solidFill>
                  <a:srgbClr val="12233B"/>
                </a:solidFill>
                <a:latin typeface="Trenda IG Text" pitchFamily="34" charset="0"/>
                <a:ea typeface="Trenda IG Text" pitchFamily="34" charset="-122"/>
                <a:cs typeface="Trenda IG Text" pitchFamily="34" charset="-120"/>
              </a:rPr>
              <a:t>adapter API: typed graph queries</a:t>
            </a:r>
            <a:endParaRPr lang="en-US" sz="540" dirty="0"/>
          </a:p>
        </p:txBody>
      </p:sp>
      <p:sp>
        <p:nvSpPr>
          <p:cNvPr id="250" name="Text 216"/>
          <p:cNvSpPr txBox="1"/>
          <p:nvPr/>
        </p:nvSpPr>
        <p:spPr>
          <a:xfrm>
            <a:off x="164592" y="5870448"/>
            <a:ext cx="786384" cy="274320"/>
          </a:xfrm>
          <a:prstGeom prst="rect">
            <a:avLst/>
          </a:prstGeom>
          <a:noFill/>
          <a:ln/>
        </p:spPr>
        <p:txBody>
          <a:bodyPr wrap="square" lIns="0" tIns="0" rIns="0" bIns="0" rtlCol="0" anchor="ctr"/>
          <a:lstStyle/>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HANDOFF</a:t>
            </a:r>
            <a:endParaRPr lang="en-US" sz="500" dirty="0"/>
          </a:p>
          <a:p>
            <a:pPr marL="0" indent="0">
              <a:lnSpc>
                <a:spcPct val="90000"/>
              </a:lnSpc>
              <a:buNone/>
            </a:pPr>
            <a:r>
              <a:rPr lang="en-US" sz="500" b="0" dirty="0">
                <a:solidFill>
                  <a:srgbClr val="5C6E85"/>
                </a:solidFill>
                <a:latin typeface="Trenda IG Text Semibold" pitchFamily="34" charset="0"/>
                <a:ea typeface="Trenda IG Text Semibold" pitchFamily="34" charset="-122"/>
                <a:cs typeface="Trenda IG Text Semibold" pitchFamily="34" charset="-120"/>
              </a:rPr>
              <a:t>BETWEEN LAYERS</a:t>
            </a:r>
            <a:endParaRPr lang="en-US" sz="500" dirty="0"/>
          </a:p>
        </p:txBody>
      </p:sp>
      <p:sp>
        <p:nvSpPr>
          <p:cNvPr id="251" name="Shape 217"/>
          <p:cNvSpPr/>
          <p:nvPr/>
        </p:nvSpPr>
        <p:spPr>
          <a:xfrm>
            <a:off x="164592"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2" name="Image 32" descr="preencoded.png"/>
          <p:cNvPicPr>
            <a:picLocks noChangeAspect="1"/>
          </p:cNvPicPr>
          <p:nvPr/>
        </p:nvPicPr>
        <p:blipFill>
          <a:blip r:embed="rId17"/>
          <a:stretch>
            <a:fillRect/>
          </a:stretch>
        </p:blipFill>
        <p:spPr>
          <a:xfrm>
            <a:off x="246888" y="6240780"/>
            <a:ext cx="128016" cy="128016"/>
          </a:xfrm>
          <a:prstGeom prst="rect">
            <a:avLst/>
          </a:prstGeom>
        </p:spPr>
      </p:pic>
      <p:sp>
        <p:nvSpPr>
          <p:cNvPr id="253" name="Text 218"/>
          <p:cNvSpPr txBox="1"/>
          <p:nvPr/>
        </p:nvSpPr>
        <p:spPr>
          <a:xfrm>
            <a:off x="420624" y="6231636"/>
            <a:ext cx="2521458" cy="146304"/>
          </a:xfrm>
          <a:prstGeom prst="rect">
            <a:avLst/>
          </a:prstGeom>
          <a:noFill/>
          <a:ln/>
        </p:spPr>
        <p:txBody>
          <a:bodyPr wrap="square" lIns="0" tIns="0" rIns="0" bIns="0" rtlCol="0" anchor="ctr"/>
          <a:lstStyle/>
          <a:p>
            <a:pPr marL="0" indent="0">
              <a:buNone/>
            </a:pPr>
            <a:r>
              <a:rPr lang="en-US" sz="700" b="0" dirty="0">
                <a:solidFill>
                  <a:srgbClr val="7A4FC0"/>
                </a:solidFill>
                <a:latin typeface="Trenda IG Text Semibold" pitchFamily="34" charset="0"/>
                <a:ea typeface="Trenda IG Text Semibold" pitchFamily="34" charset="-122"/>
                <a:cs typeface="Trenda IG Text Semibold" pitchFamily="34" charset="-120"/>
              </a:rPr>
              <a:t>Provenance &amp; authority</a:t>
            </a:r>
            <a:endParaRPr lang="en-US" sz="700" dirty="0"/>
          </a:p>
        </p:txBody>
      </p:sp>
      <p:sp>
        <p:nvSpPr>
          <p:cNvPr id="254" name="Text 219"/>
          <p:cNvSpPr txBox="1"/>
          <p:nvPr/>
        </p:nvSpPr>
        <p:spPr>
          <a:xfrm>
            <a:off x="246888"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60" dirty="0"/>
          </a:p>
        </p:txBody>
      </p:sp>
      <p:sp>
        <p:nvSpPr>
          <p:cNvPr id="255" name="Shape 220"/>
          <p:cNvSpPr/>
          <p:nvPr/>
        </p:nvSpPr>
        <p:spPr>
          <a:xfrm>
            <a:off x="3161538"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56" name="Image 33" descr="preencoded.png"/>
          <p:cNvPicPr>
            <a:picLocks noChangeAspect="1"/>
          </p:cNvPicPr>
          <p:nvPr/>
        </p:nvPicPr>
        <p:blipFill>
          <a:blip r:embed="rId18"/>
          <a:stretch>
            <a:fillRect/>
          </a:stretch>
        </p:blipFill>
        <p:spPr>
          <a:xfrm>
            <a:off x="3243834" y="6240780"/>
            <a:ext cx="128016" cy="128016"/>
          </a:xfrm>
          <a:prstGeom prst="rect">
            <a:avLst/>
          </a:prstGeom>
        </p:spPr>
      </p:pic>
      <p:sp>
        <p:nvSpPr>
          <p:cNvPr id="257" name="Text 221"/>
          <p:cNvSpPr txBox="1"/>
          <p:nvPr/>
        </p:nvSpPr>
        <p:spPr>
          <a:xfrm>
            <a:off x="3417570" y="6231636"/>
            <a:ext cx="2521458" cy="146304"/>
          </a:xfrm>
          <a:prstGeom prst="rect">
            <a:avLst/>
          </a:prstGeom>
          <a:noFill/>
          <a:ln/>
        </p:spPr>
        <p:txBody>
          <a:bodyPr wrap="square" lIns="0" tIns="0" rIns="0" bIns="0" rtlCol="0" anchor="ctr"/>
          <a:lstStyle/>
          <a:p>
            <a:pPr marL="0" indent="0">
              <a:buNone/>
            </a:pPr>
            <a:r>
              <a:rPr lang="en-US" sz="700" b="0" dirty="0">
                <a:solidFill>
                  <a:srgbClr val="0E8A7D"/>
                </a:solidFill>
                <a:latin typeface="Trenda IG Text Semibold" pitchFamily="34" charset="0"/>
                <a:ea typeface="Trenda IG Text Semibold" pitchFamily="34" charset="-122"/>
                <a:cs typeface="Trenda IG Text Semibold" pitchFamily="34" charset="-120"/>
              </a:rPr>
              <a:t>Security &amp; access: three identities</a:t>
            </a:r>
            <a:endParaRPr lang="en-US" sz="700" dirty="0"/>
          </a:p>
        </p:txBody>
      </p:sp>
      <p:sp>
        <p:nvSpPr>
          <p:cNvPr id="258" name="Text 222"/>
          <p:cNvSpPr txBox="1"/>
          <p:nvPr/>
        </p:nvSpPr>
        <p:spPr>
          <a:xfrm>
            <a:off x="3243834"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60" dirty="0"/>
          </a:p>
        </p:txBody>
      </p:sp>
      <p:sp>
        <p:nvSpPr>
          <p:cNvPr id="259" name="Shape 223"/>
          <p:cNvSpPr/>
          <p:nvPr/>
        </p:nvSpPr>
        <p:spPr>
          <a:xfrm>
            <a:off x="6158484"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0" name="Image 34" descr="preencoded.png"/>
          <p:cNvPicPr>
            <a:picLocks noChangeAspect="1"/>
          </p:cNvPicPr>
          <p:nvPr/>
        </p:nvPicPr>
        <p:blipFill>
          <a:blip r:embed="rId19"/>
          <a:stretch>
            <a:fillRect/>
          </a:stretch>
        </p:blipFill>
        <p:spPr>
          <a:xfrm>
            <a:off x="6240780" y="6240780"/>
            <a:ext cx="128016" cy="128016"/>
          </a:xfrm>
          <a:prstGeom prst="rect">
            <a:avLst/>
          </a:prstGeom>
        </p:spPr>
      </p:pic>
      <p:sp>
        <p:nvSpPr>
          <p:cNvPr id="261" name="Text 224"/>
          <p:cNvSpPr txBox="1"/>
          <p:nvPr/>
        </p:nvSpPr>
        <p:spPr>
          <a:xfrm>
            <a:off x="6414516" y="6231636"/>
            <a:ext cx="2521458" cy="146304"/>
          </a:xfrm>
          <a:prstGeom prst="rect">
            <a:avLst/>
          </a:prstGeom>
          <a:noFill/>
          <a:ln/>
        </p:spPr>
        <p:txBody>
          <a:bodyPr wrap="square" lIns="0" tIns="0" rIns="0" bIns="0" rtlCol="0" anchor="ctr"/>
          <a:lstStyle/>
          <a:p>
            <a:pPr marL="0" indent="0">
              <a:buNone/>
            </a:pPr>
            <a:r>
              <a:rPr lang="en-US" sz="700"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700" dirty="0"/>
          </a:p>
        </p:txBody>
      </p:sp>
      <p:sp>
        <p:nvSpPr>
          <p:cNvPr id="262" name="Text 225"/>
          <p:cNvSpPr txBox="1"/>
          <p:nvPr/>
        </p:nvSpPr>
        <p:spPr>
          <a:xfrm>
            <a:off x="6240780"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60" dirty="0"/>
          </a:p>
        </p:txBody>
      </p:sp>
      <p:sp>
        <p:nvSpPr>
          <p:cNvPr id="263" name="Shape 226"/>
          <p:cNvSpPr/>
          <p:nvPr/>
        </p:nvSpPr>
        <p:spPr>
          <a:xfrm>
            <a:off x="9155430" y="6190488"/>
            <a:ext cx="2868930" cy="594360"/>
          </a:xfrm>
          <a:prstGeom prst="roundRect">
            <a:avLst>
              <a:gd name="adj" fmla="val 7692"/>
            </a:avLst>
          </a:prstGeom>
          <a:solidFill>
            <a:srgbClr val="FFFFFF"/>
          </a:solidFill>
          <a:ln w="12700">
            <a:solidFill>
              <a:srgbClr val="DCE4EE"/>
            </a:solidFill>
            <a:prstDash val="solid"/>
          </a:ln>
        </p:spPr>
        <p:txBody>
          <a:bodyPr/>
          <a:lstStyle/>
          <a:p>
            <a:endParaRPr lang="en-IN"/>
          </a:p>
        </p:txBody>
      </p:sp>
      <p:pic>
        <p:nvPicPr>
          <p:cNvPr id="264" name="Image 35" descr="preencoded.png"/>
          <p:cNvPicPr>
            <a:picLocks noChangeAspect="1"/>
          </p:cNvPicPr>
          <p:nvPr/>
        </p:nvPicPr>
        <p:blipFill>
          <a:blip r:embed="rId20"/>
          <a:stretch>
            <a:fillRect/>
          </a:stretch>
        </p:blipFill>
        <p:spPr>
          <a:xfrm>
            <a:off x="9237726" y="6240780"/>
            <a:ext cx="128016" cy="128016"/>
          </a:xfrm>
          <a:prstGeom prst="rect">
            <a:avLst/>
          </a:prstGeom>
        </p:spPr>
      </p:pic>
      <p:sp>
        <p:nvSpPr>
          <p:cNvPr id="265" name="Text 227"/>
          <p:cNvSpPr txBox="1"/>
          <p:nvPr/>
        </p:nvSpPr>
        <p:spPr>
          <a:xfrm>
            <a:off x="9411462" y="6231636"/>
            <a:ext cx="2521458" cy="146304"/>
          </a:xfrm>
          <a:prstGeom prst="rect">
            <a:avLst/>
          </a:prstGeom>
          <a:noFill/>
          <a:ln/>
        </p:spPr>
        <p:txBody>
          <a:bodyPr wrap="square" lIns="0" tIns="0" rIns="0" bIns="0" rtlCol="0" anchor="ctr"/>
          <a:lstStyle/>
          <a:p>
            <a:pPr marL="0" indent="0">
              <a:buNone/>
            </a:pPr>
            <a:r>
              <a:rPr lang="en-US" sz="700" b="0" dirty="0">
                <a:solidFill>
                  <a:srgbClr val="2E7D32"/>
                </a:solidFill>
                <a:latin typeface="Trenda IG Text Semibold" pitchFamily="34" charset="0"/>
                <a:ea typeface="Trenda IG Text Semibold" pitchFamily="34" charset="-122"/>
                <a:cs typeface="Trenda IG Text Semibold" pitchFamily="34" charset="-120"/>
              </a:rPr>
              <a:t>Governed delivery &amp; POC</a:t>
            </a:r>
            <a:endParaRPr lang="en-US" sz="700" dirty="0"/>
          </a:p>
        </p:txBody>
      </p:sp>
      <p:sp>
        <p:nvSpPr>
          <p:cNvPr id="266" name="Text 228"/>
          <p:cNvSpPr txBox="1"/>
          <p:nvPr/>
        </p:nvSpPr>
        <p:spPr>
          <a:xfrm>
            <a:off x="9237726" y="6396228"/>
            <a:ext cx="2704338" cy="356616"/>
          </a:xfrm>
          <a:prstGeom prst="rect">
            <a:avLst/>
          </a:prstGeom>
          <a:noFill/>
          <a:ln/>
        </p:spPr>
        <p:txBody>
          <a:bodyPr wrap="square" lIns="0" tIns="0" rIns="0" bIns="0" rtlCol="0" anchor="t"/>
          <a:lstStyle/>
          <a:p>
            <a:pPr marL="0" indent="0">
              <a:lnSpc>
                <a:spcPct val="90000"/>
              </a:lnSpc>
              <a:buNone/>
            </a:pPr>
            <a:r>
              <a:rPr lang="en-US" sz="560" dirty="0">
                <a:solidFill>
                  <a:srgbClr val="12233B"/>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100584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 · NUDGE POD · DATA CLOUD + MARKETING CLOUD</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Launching a campaign: 90 days manual vs 15-20 days with MAD</a:t>
            </a:r>
            <a:endParaRPr lang="en-US" sz="2200" dirty="0"/>
          </a:p>
        </p:txBody>
      </p:sp>
      <p:sp>
        <p:nvSpPr>
          <p:cNvPr id="4" name="Text 2"/>
          <p:cNvSpPr txBox="1"/>
          <p:nvPr/>
        </p:nvSpPr>
        <p:spPr>
          <a:xfrm>
            <a:off x="411480" y="804672"/>
            <a:ext cx="11338560" cy="237744"/>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Mapped to how Ascension builds campaigns today (CHF nudge, PCP referral, MAWV). Same 7 agents, Marketing Cloud skills.</a:t>
            </a:r>
            <a:endParaRPr lang="en-US" sz="1050" dirty="0"/>
          </a:p>
        </p:txBody>
      </p:sp>
      <p:sp>
        <p:nvSpPr>
          <p:cNvPr id="5" name="Shape 3"/>
          <p:cNvSpPr/>
          <p:nvPr/>
        </p:nvSpPr>
        <p:spPr>
          <a:xfrm>
            <a:off x="411480" y="1207008"/>
            <a:ext cx="5577840" cy="4279392"/>
          </a:xfrm>
          <a:prstGeom prst="rect">
            <a:avLst/>
          </a:prstGeom>
          <a:solidFill>
            <a:srgbClr val="FFFFFF"/>
          </a:solidFill>
          <a:ln w="9525">
            <a:solidFill>
              <a:srgbClr val="DCE4EE"/>
            </a:solidFill>
            <a:prstDash val="solid"/>
          </a:ln>
        </p:spPr>
        <p:txBody>
          <a:bodyPr/>
          <a:lstStyle/>
          <a:p>
            <a:endParaRPr lang="en-IN"/>
          </a:p>
        </p:txBody>
      </p:sp>
      <p:sp>
        <p:nvSpPr>
          <p:cNvPr id="6" name="Shape 4"/>
          <p:cNvSpPr/>
          <p:nvPr/>
        </p:nvSpPr>
        <p:spPr>
          <a:xfrm>
            <a:off x="411480" y="1207008"/>
            <a:ext cx="5577840" cy="310896"/>
          </a:xfrm>
          <a:prstGeom prst="rect">
            <a:avLst/>
          </a:prstGeom>
          <a:solidFill>
            <a:srgbClr val="5C6E85"/>
          </a:solidFill>
          <a:ln w="12700">
            <a:solidFill>
              <a:srgbClr val="5C6E85"/>
            </a:solidFill>
            <a:prstDash val="solid"/>
          </a:ln>
        </p:spPr>
        <p:txBody>
          <a:bodyPr/>
          <a:lstStyle/>
          <a:p>
            <a:endParaRPr lang="en-IN"/>
          </a:p>
        </p:txBody>
      </p:sp>
      <p:sp>
        <p:nvSpPr>
          <p:cNvPr id="7" name="Text 5"/>
          <p:cNvSpPr/>
          <p:nvPr/>
        </p:nvSpPr>
        <p:spPr>
          <a:xfrm>
            <a:off x="548640" y="1207008"/>
            <a:ext cx="53035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Today · manual delivery</a:t>
            </a:r>
            <a:endParaRPr lang="en-US" sz="1000" dirty="0"/>
          </a:p>
        </p:txBody>
      </p:sp>
      <p:sp>
        <p:nvSpPr>
          <p:cNvPr id="8" name="Text 6"/>
          <p:cNvSpPr txBox="1"/>
          <p:nvPr/>
        </p:nvSpPr>
        <p:spPr>
          <a:xfrm>
            <a:off x="594360" y="1591056"/>
            <a:ext cx="2743200" cy="384048"/>
          </a:xfrm>
          <a:prstGeom prst="rect">
            <a:avLst/>
          </a:prstGeom>
          <a:noFill/>
          <a:ln/>
        </p:spPr>
        <p:txBody>
          <a:bodyPr wrap="square" lIns="0" tIns="0" rIns="0" bIns="0" rtlCol="0" anchor="ctr"/>
          <a:lstStyle/>
          <a:p>
            <a:pPr marL="0" indent="0">
              <a:buNone/>
            </a:pPr>
            <a:r>
              <a:rPr lang="en-US" sz="2400" b="1" dirty="0">
                <a:solidFill>
                  <a:srgbClr val="12233B"/>
                </a:solidFill>
                <a:latin typeface="Trenda IG Display" pitchFamily="34" charset="0"/>
                <a:ea typeface="Trenda IG Display" pitchFamily="34" charset="-122"/>
                <a:cs typeface="Trenda IG Display" pitchFamily="34" charset="-120"/>
              </a:rPr>
              <a:t>~90 days</a:t>
            </a:r>
            <a:endParaRPr lang="en-US" sz="2400" dirty="0"/>
          </a:p>
        </p:txBody>
      </p:sp>
      <p:sp>
        <p:nvSpPr>
          <p:cNvPr id="9" name="Text 7"/>
          <p:cNvSpPr txBox="1"/>
          <p:nvPr/>
        </p:nvSpPr>
        <p:spPr>
          <a:xfrm>
            <a:off x="594360" y="1975104"/>
            <a:ext cx="4389120" cy="182880"/>
          </a:xfrm>
          <a:prstGeom prst="rect">
            <a:avLst/>
          </a:prstGeom>
          <a:noFill/>
          <a:ln/>
        </p:spPr>
        <p:txBody>
          <a:bodyPr wrap="square" lIns="0" tIns="0" rIns="0" bIns="0" rtlCol="0" anchor="ctr"/>
          <a:lstStyle/>
          <a:p>
            <a:pPr marL="0" indent="0">
              <a:buNone/>
            </a:pPr>
            <a:r>
              <a:rPr lang="en-US" sz="850" dirty="0">
                <a:solidFill>
                  <a:srgbClr val="5C6E85"/>
                </a:solidFill>
                <a:latin typeface="Trenda IG Text" pitchFamily="34" charset="0"/>
                <a:ea typeface="Trenda IG Text" pitchFamily="34" charset="-122"/>
                <a:cs typeface="Trenda IG Text" pitchFamily="34" charset="-120"/>
              </a:rPr>
              <a:t>9 sequential steps; CHF (Congestive Heart Failure) runbook alone: 200+ manual steps</a:t>
            </a:r>
            <a:endParaRPr lang="en-US" sz="850" dirty="0"/>
          </a:p>
        </p:txBody>
      </p:sp>
      <p:sp>
        <p:nvSpPr>
          <p:cNvPr id="10" name="Shape 8"/>
          <p:cNvSpPr/>
          <p:nvPr/>
        </p:nvSpPr>
        <p:spPr>
          <a:xfrm>
            <a:off x="3703320" y="2359152"/>
            <a:ext cx="0" cy="2944368"/>
          </a:xfrm>
          <a:prstGeom prst="line">
            <a:avLst/>
          </a:prstGeom>
          <a:noFill/>
          <a:ln w="6350">
            <a:solidFill>
              <a:srgbClr val="C7D2DE"/>
            </a:solidFill>
            <a:prstDash val="dash"/>
          </a:ln>
        </p:spPr>
        <p:txBody>
          <a:bodyPr/>
          <a:lstStyle/>
          <a:p>
            <a:endParaRPr lang="en-IN"/>
          </a:p>
        </p:txBody>
      </p:sp>
      <p:sp>
        <p:nvSpPr>
          <p:cNvPr id="11" name="Text 9"/>
          <p:cNvSpPr txBox="1"/>
          <p:nvPr/>
        </p:nvSpPr>
        <p:spPr>
          <a:xfrm>
            <a:off x="342900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Day 0</a:t>
            </a:r>
            <a:endParaRPr lang="en-US" sz="700" dirty="0"/>
          </a:p>
        </p:txBody>
      </p:sp>
      <p:sp>
        <p:nvSpPr>
          <p:cNvPr id="12" name="Shape 10"/>
          <p:cNvSpPr/>
          <p:nvPr/>
        </p:nvSpPr>
        <p:spPr>
          <a:xfrm>
            <a:off x="4297680" y="2359152"/>
            <a:ext cx="0" cy="2944368"/>
          </a:xfrm>
          <a:prstGeom prst="line">
            <a:avLst/>
          </a:prstGeom>
          <a:noFill/>
          <a:ln w="6350">
            <a:solidFill>
              <a:srgbClr val="C7D2DE"/>
            </a:solidFill>
            <a:prstDash val="dash"/>
          </a:ln>
        </p:spPr>
        <p:txBody>
          <a:bodyPr/>
          <a:lstStyle/>
          <a:p>
            <a:endParaRPr lang="en-IN"/>
          </a:p>
        </p:txBody>
      </p:sp>
      <p:sp>
        <p:nvSpPr>
          <p:cNvPr id="13" name="Text 11"/>
          <p:cNvSpPr txBox="1"/>
          <p:nvPr/>
        </p:nvSpPr>
        <p:spPr>
          <a:xfrm>
            <a:off x="402336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Day 30</a:t>
            </a:r>
            <a:endParaRPr lang="en-US" sz="700" dirty="0"/>
          </a:p>
        </p:txBody>
      </p:sp>
      <p:sp>
        <p:nvSpPr>
          <p:cNvPr id="14" name="Shape 12"/>
          <p:cNvSpPr/>
          <p:nvPr/>
        </p:nvSpPr>
        <p:spPr>
          <a:xfrm>
            <a:off x="4892040" y="2359152"/>
            <a:ext cx="0" cy="2944368"/>
          </a:xfrm>
          <a:prstGeom prst="line">
            <a:avLst/>
          </a:prstGeom>
          <a:noFill/>
          <a:ln w="6350">
            <a:solidFill>
              <a:srgbClr val="C7D2DE"/>
            </a:solidFill>
            <a:prstDash val="dash"/>
          </a:ln>
        </p:spPr>
        <p:txBody>
          <a:bodyPr/>
          <a:lstStyle/>
          <a:p>
            <a:endParaRPr lang="en-IN"/>
          </a:p>
        </p:txBody>
      </p:sp>
      <p:sp>
        <p:nvSpPr>
          <p:cNvPr id="15" name="Text 13"/>
          <p:cNvSpPr txBox="1"/>
          <p:nvPr/>
        </p:nvSpPr>
        <p:spPr>
          <a:xfrm>
            <a:off x="461772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Day 60</a:t>
            </a:r>
            <a:endParaRPr lang="en-US" sz="700" dirty="0"/>
          </a:p>
        </p:txBody>
      </p:sp>
      <p:sp>
        <p:nvSpPr>
          <p:cNvPr id="16" name="Shape 14"/>
          <p:cNvSpPr/>
          <p:nvPr/>
        </p:nvSpPr>
        <p:spPr>
          <a:xfrm>
            <a:off x="5486400" y="2359152"/>
            <a:ext cx="0" cy="2944368"/>
          </a:xfrm>
          <a:prstGeom prst="line">
            <a:avLst/>
          </a:prstGeom>
          <a:noFill/>
          <a:ln w="6350">
            <a:solidFill>
              <a:srgbClr val="C7D2DE"/>
            </a:solidFill>
            <a:prstDash val="dash"/>
          </a:ln>
        </p:spPr>
        <p:txBody>
          <a:bodyPr/>
          <a:lstStyle/>
          <a:p>
            <a:endParaRPr lang="en-IN"/>
          </a:p>
        </p:txBody>
      </p:sp>
      <p:sp>
        <p:nvSpPr>
          <p:cNvPr id="17" name="Text 15"/>
          <p:cNvSpPr txBox="1"/>
          <p:nvPr/>
        </p:nvSpPr>
        <p:spPr>
          <a:xfrm>
            <a:off x="521208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Day 90</a:t>
            </a:r>
            <a:endParaRPr lang="en-US" sz="700" dirty="0"/>
          </a:p>
        </p:txBody>
      </p:sp>
      <p:sp>
        <p:nvSpPr>
          <p:cNvPr id="18" name="Shape 16"/>
          <p:cNvSpPr/>
          <p:nvPr/>
        </p:nvSpPr>
        <p:spPr>
          <a:xfrm>
            <a:off x="594360" y="2441448"/>
            <a:ext cx="201168" cy="201168"/>
          </a:xfrm>
          <a:prstGeom prst="ellipse">
            <a:avLst/>
          </a:prstGeom>
          <a:solidFill>
            <a:srgbClr val="E6EBF2"/>
          </a:solidFill>
          <a:ln w="12700">
            <a:solidFill>
              <a:srgbClr val="C7D2DE"/>
            </a:solidFill>
            <a:prstDash val="solid"/>
          </a:ln>
        </p:spPr>
        <p:txBody>
          <a:bodyPr/>
          <a:lstStyle/>
          <a:p>
            <a:endParaRPr lang="en-IN"/>
          </a:p>
        </p:txBody>
      </p:sp>
      <p:sp>
        <p:nvSpPr>
          <p:cNvPr id="19" name="Text 17"/>
          <p:cNvSpPr txBox="1"/>
          <p:nvPr/>
        </p:nvSpPr>
        <p:spPr>
          <a:xfrm>
            <a:off x="594360" y="2441448"/>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1</a:t>
            </a:r>
            <a:endParaRPr lang="en-US" sz="800" dirty="0"/>
          </a:p>
        </p:txBody>
      </p:sp>
      <p:sp>
        <p:nvSpPr>
          <p:cNvPr id="20" name="Text 18"/>
          <p:cNvSpPr txBox="1"/>
          <p:nvPr/>
        </p:nvSpPr>
        <p:spPr>
          <a:xfrm>
            <a:off x="886968" y="2395728"/>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Discovery &amp; PRD</a:t>
            </a:r>
            <a:endParaRPr lang="en-US" sz="900" dirty="0"/>
          </a:p>
        </p:txBody>
      </p:sp>
      <p:sp>
        <p:nvSpPr>
          <p:cNvPr id="21" name="Text 19"/>
          <p:cNvSpPr txBox="1"/>
          <p:nvPr/>
        </p:nvSpPr>
        <p:spPr>
          <a:xfrm>
            <a:off x="886968" y="2542032"/>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Ministry scope, audience, KPIs, holdout group design</a:t>
            </a:r>
            <a:endParaRPr lang="en-US" sz="750" dirty="0"/>
          </a:p>
        </p:txBody>
      </p:sp>
      <p:sp>
        <p:nvSpPr>
          <p:cNvPr id="22" name="Shape 20"/>
          <p:cNvSpPr/>
          <p:nvPr/>
        </p:nvSpPr>
        <p:spPr>
          <a:xfrm>
            <a:off x="3703320" y="2459736"/>
            <a:ext cx="19812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23" name="Text 21"/>
          <p:cNvSpPr txBox="1"/>
          <p:nvPr/>
        </p:nvSpPr>
        <p:spPr>
          <a:xfrm>
            <a:off x="5550408" y="2432304"/>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10d</a:t>
            </a:r>
            <a:endParaRPr lang="en-US" sz="850" dirty="0"/>
          </a:p>
        </p:txBody>
      </p:sp>
      <p:sp>
        <p:nvSpPr>
          <p:cNvPr id="24" name="Shape 22"/>
          <p:cNvSpPr/>
          <p:nvPr/>
        </p:nvSpPr>
        <p:spPr>
          <a:xfrm>
            <a:off x="594360" y="2770632"/>
            <a:ext cx="201168" cy="201168"/>
          </a:xfrm>
          <a:prstGeom prst="ellipse">
            <a:avLst/>
          </a:prstGeom>
          <a:solidFill>
            <a:srgbClr val="E6EBF2"/>
          </a:solidFill>
          <a:ln w="12700">
            <a:solidFill>
              <a:srgbClr val="C7D2DE"/>
            </a:solidFill>
            <a:prstDash val="solid"/>
          </a:ln>
        </p:spPr>
        <p:txBody>
          <a:bodyPr/>
          <a:lstStyle/>
          <a:p>
            <a:endParaRPr lang="en-IN"/>
          </a:p>
        </p:txBody>
      </p:sp>
      <p:sp>
        <p:nvSpPr>
          <p:cNvPr id="25" name="Text 23"/>
          <p:cNvSpPr txBox="1"/>
          <p:nvPr/>
        </p:nvSpPr>
        <p:spPr>
          <a:xfrm>
            <a:off x="594360" y="2770632"/>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2</a:t>
            </a:r>
            <a:endParaRPr lang="en-US" sz="800" dirty="0"/>
          </a:p>
        </p:txBody>
      </p:sp>
      <p:sp>
        <p:nvSpPr>
          <p:cNvPr id="26" name="Text 24"/>
          <p:cNvSpPr txBox="1"/>
          <p:nvPr/>
        </p:nvSpPr>
        <p:spPr>
          <a:xfrm>
            <a:off x="886968" y="2724912"/>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ADSI data readiness</a:t>
            </a:r>
            <a:endParaRPr lang="en-US" sz="900" dirty="0"/>
          </a:p>
        </p:txBody>
      </p:sp>
      <p:sp>
        <p:nvSpPr>
          <p:cNvPr id="27" name="Text 25"/>
          <p:cNvSpPr txBox="1"/>
          <p:nvPr/>
        </p:nvSpPr>
        <p:spPr>
          <a:xfrm>
            <a:off x="886968" y="2871216"/>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BigQuery tables, field mapping, EUID and consent checks</a:t>
            </a:r>
            <a:endParaRPr lang="en-US" sz="750" dirty="0"/>
          </a:p>
        </p:txBody>
      </p:sp>
      <p:sp>
        <p:nvSpPr>
          <p:cNvPr id="28" name="Shape 26"/>
          <p:cNvSpPr/>
          <p:nvPr/>
        </p:nvSpPr>
        <p:spPr>
          <a:xfrm>
            <a:off x="3901440" y="2788920"/>
            <a:ext cx="19812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29" name="Text 27"/>
          <p:cNvSpPr txBox="1"/>
          <p:nvPr/>
        </p:nvSpPr>
        <p:spPr>
          <a:xfrm>
            <a:off x="5550408" y="2761488"/>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10d</a:t>
            </a:r>
            <a:endParaRPr lang="en-US" sz="850" dirty="0"/>
          </a:p>
        </p:txBody>
      </p:sp>
      <p:sp>
        <p:nvSpPr>
          <p:cNvPr id="30" name="Shape 28"/>
          <p:cNvSpPr/>
          <p:nvPr/>
        </p:nvSpPr>
        <p:spPr>
          <a:xfrm>
            <a:off x="594360" y="3099816"/>
            <a:ext cx="201168" cy="201168"/>
          </a:xfrm>
          <a:prstGeom prst="ellipse">
            <a:avLst/>
          </a:prstGeom>
          <a:solidFill>
            <a:srgbClr val="E6EBF2"/>
          </a:solidFill>
          <a:ln w="12700">
            <a:solidFill>
              <a:srgbClr val="C7D2DE"/>
            </a:solidFill>
            <a:prstDash val="solid"/>
          </a:ln>
        </p:spPr>
        <p:txBody>
          <a:bodyPr/>
          <a:lstStyle/>
          <a:p>
            <a:endParaRPr lang="en-IN"/>
          </a:p>
        </p:txBody>
      </p:sp>
      <p:sp>
        <p:nvSpPr>
          <p:cNvPr id="31" name="Text 29"/>
          <p:cNvSpPr txBox="1"/>
          <p:nvPr/>
        </p:nvSpPr>
        <p:spPr>
          <a:xfrm>
            <a:off x="594360" y="3099816"/>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3</a:t>
            </a:r>
            <a:endParaRPr lang="en-US" sz="800" dirty="0"/>
          </a:p>
        </p:txBody>
      </p:sp>
      <p:sp>
        <p:nvSpPr>
          <p:cNvPr id="32" name="Text 30"/>
          <p:cNvSpPr txBox="1"/>
          <p:nvPr/>
        </p:nvSpPr>
        <p:spPr>
          <a:xfrm>
            <a:off x="886968" y="3054096"/>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Data Cloud ingestion</a:t>
            </a:r>
            <a:endParaRPr lang="en-US" sz="900" dirty="0"/>
          </a:p>
        </p:txBody>
      </p:sp>
      <p:sp>
        <p:nvSpPr>
          <p:cNvPr id="33" name="Text 31"/>
          <p:cNvSpPr txBox="1"/>
          <p:nvPr/>
        </p:nvSpPr>
        <p:spPr>
          <a:xfrm>
            <a:off x="886968" y="3200400"/>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Stream, batch transform, DMO, Unified Individual links</a:t>
            </a:r>
            <a:endParaRPr lang="en-US" sz="750" dirty="0"/>
          </a:p>
        </p:txBody>
      </p:sp>
      <p:sp>
        <p:nvSpPr>
          <p:cNvPr id="34" name="Shape 32"/>
          <p:cNvSpPr/>
          <p:nvPr/>
        </p:nvSpPr>
        <p:spPr>
          <a:xfrm>
            <a:off x="4099560" y="3118104"/>
            <a:ext cx="237744"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35" name="Text 33"/>
          <p:cNvSpPr txBox="1"/>
          <p:nvPr/>
        </p:nvSpPr>
        <p:spPr>
          <a:xfrm>
            <a:off x="5550408" y="3090672"/>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12d</a:t>
            </a:r>
            <a:endParaRPr lang="en-US" sz="850" dirty="0"/>
          </a:p>
        </p:txBody>
      </p:sp>
      <p:sp>
        <p:nvSpPr>
          <p:cNvPr id="36" name="Shape 34"/>
          <p:cNvSpPr/>
          <p:nvPr/>
        </p:nvSpPr>
        <p:spPr>
          <a:xfrm>
            <a:off x="594360" y="3429000"/>
            <a:ext cx="201168" cy="201168"/>
          </a:xfrm>
          <a:prstGeom prst="ellipse">
            <a:avLst/>
          </a:prstGeom>
          <a:solidFill>
            <a:srgbClr val="E6EBF2"/>
          </a:solidFill>
          <a:ln w="12700">
            <a:solidFill>
              <a:srgbClr val="C7D2DE"/>
            </a:solidFill>
            <a:prstDash val="solid"/>
          </a:ln>
        </p:spPr>
        <p:txBody>
          <a:bodyPr/>
          <a:lstStyle/>
          <a:p>
            <a:endParaRPr lang="en-IN"/>
          </a:p>
        </p:txBody>
      </p:sp>
      <p:sp>
        <p:nvSpPr>
          <p:cNvPr id="37" name="Text 35"/>
          <p:cNvSpPr txBox="1"/>
          <p:nvPr/>
        </p:nvSpPr>
        <p:spPr>
          <a:xfrm>
            <a:off x="594360" y="3429000"/>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4</a:t>
            </a:r>
            <a:endParaRPr lang="en-US" sz="800" dirty="0"/>
          </a:p>
        </p:txBody>
      </p:sp>
      <p:sp>
        <p:nvSpPr>
          <p:cNvPr id="38" name="Text 36"/>
          <p:cNvSpPr txBox="1"/>
          <p:nvPr/>
        </p:nvSpPr>
        <p:spPr>
          <a:xfrm>
            <a:off x="886968" y="3383280"/>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Segment &amp; activation</a:t>
            </a:r>
            <a:endParaRPr lang="en-US" sz="900" dirty="0"/>
          </a:p>
        </p:txBody>
      </p:sp>
      <p:sp>
        <p:nvSpPr>
          <p:cNvPr id="39" name="Text 37"/>
          <p:cNvSpPr txBox="1"/>
          <p:nvPr/>
        </p:nvSpPr>
        <p:spPr>
          <a:xfrm>
            <a:off x="886968" y="3529584"/>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Positive consent, age filters, activation to SFMC DE</a:t>
            </a:r>
            <a:endParaRPr lang="en-US" sz="750" dirty="0"/>
          </a:p>
        </p:txBody>
      </p:sp>
      <p:sp>
        <p:nvSpPr>
          <p:cNvPr id="40" name="Shape 38"/>
          <p:cNvSpPr/>
          <p:nvPr/>
        </p:nvSpPr>
        <p:spPr>
          <a:xfrm>
            <a:off x="4337304" y="3447288"/>
            <a:ext cx="158496"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41" name="Text 39"/>
          <p:cNvSpPr txBox="1"/>
          <p:nvPr/>
        </p:nvSpPr>
        <p:spPr>
          <a:xfrm>
            <a:off x="5550408" y="3419856"/>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8d</a:t>
            </a:r>
            <a:endParaRPr lang="en-US" sz="850" dirty="0"/>
          </a:p>
        </p:txBody>
      </p:sp>
      <p:sp>
        <p:nvSpPr>
          <p:cNvPr id="42" name="Shape 40"/>
          <p:cNvSpPr/>
          <p:nvPr/>
        </p:nvSpPr>
        <p:spPr>
          <a:xfrm>
            <a:off x="594360" y="3758184"/>
            <a:ext cx="201168" cy="201168"/>
          </a:xfrm>
          <a:prstGeom prst="ellipse">
            <a:avLst/>
          </a:prstGeom>
          <a:solidFill>
            <a:srgbClr val="E6EBF2"/>
          </a:solidFill>
          <a:ln w="12700">
            <a:solidFill>
              <a:srgbClr val="C7D2DE"/>
            </a:solidFill>
            <a:prstDash val="solid"/>
          </a:ln>
        </p:spPr>
        <p:txBody>
          <a:bodyPr/>
          <a:lstStyle/>
          <a:p>
            <a:endParaRPr lang="en-IN"/>
          </a:p>
        </p:txBody>
      </p:sp>
      <p:sp>
        <p:nvSpPr>
          <p:cNvPr id="43" name="Text 41"/>
          <p:cNvSpPr txBox="1"/>
          <p:nvPr/>
        </p:nvSpPr>
        <p:spPr>
          <a:xfrm>
            <a:off x="594360" y="3758184"/>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5</a:t>
            </a:r>
            <a:endParaRPr lang="en-US" sz="800" dirty="0"/>
          </a:p>
        </p:txBody>
      </p:sp>
      <p:sp>
        <p:nvSpPr>
          <p:cNvPr id="44" name="Text 42"/>
          <p:cNvSpPr txBox="1"/>
          <p:nvPr/>
        </p:nvSpPr>
        <p:spPr>
          <a:xfrm>
            <a:off x="886968" y="3712464"/>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SFMC data prep</a:t>
            </a:r>
            <a:endParaRPr lang="en-US" sz="900" dirty="0"/>
          </a:p>
        </p:txBody>
      </p:sp>
      <p:sp>
        <p:nvSpPr>
          <p:cNvPr id="45" name="Text 43"/>
          <p:cNvSpPr txBox="1"/>
          <p:nvPr/>
        </p:nvSpPr>
        <p:spPr>
          <a:xfrm>
            <a:off x="886968" y="3858768"/>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JSON parsing SQL, messaging DE, Skip_Journey suppression</a:t>
            </a:r>
            <a:endParaRPr lang="en-US" sz="750" dirty="0"/>
          </a:p>
        </p:txBody>
      </p:sp>
      <p:sp>
        <p:nvSpPr>
          <p:cNvPr id="46" name="Shape 44"/>
          <p:cNvSpPr/>
          <p:nvPr/>
        </p:nvSpPr>
        <p:spPr>
          <a:xfrm>
            <a:off x="4495800" y="3776472"/>
            <a:ext cx="158496"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47" name="Text 45"/>
          <p:cNvSpPr txBox="1"/>
          <p:nvPr/>
        </p:nvSpPr>
        <p:spPr>
          <a:xfrm>
            <a:off x="5550408" y="3749040"/>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8d</a:t>
            </a:r>
            <a:endParaRPr lang="en-US" sz="850" dirty="0"/>
          </a:p>
        </p:txBody>
      </p:sp>
      <p:sp>
        <p:nvSpPr>
          <p:cNvPr id="48" name="Shape 46"/>
          <p:cNvSpPr/>
          <p:nvPr/>
        </p:nvSpPr>
        <p:spPr>
          <a:xfrm>
            <a:off x="594360" y="4087368"/>
            <a:ext cx="201168" cy="201168"/>
          </a:xfrm>
          <a:prstGeom prst="ellipse">
            <a:avLst/>
          </a:prstGeom>
          <a:solidFill>
            <a:srgbClr val="E6EBF2"/>
          </a:solidFill>
          <a:ln w="12700">
            <a:solidFill>
              <a:srgbClr val="C7D2DE"/>
            </a:solidFill>
            <a:prstDash val="solid"/>
          </a:ln>
        </p:spPr>
        <p:txBody>
          <a:bodyPr/>
          <a:lstStyle/>
          <a:p>
            <a:endParaRPr lang="en-IN"/>
          </a:p>
        </p:txBody>
      </p:sp>
      <p:sp>
        <p:nvSpPr>
          <p:cNvPr id="49" name="Text 47"/>
          <p:cNvSpPr txBox="1"/>
          <p:nvPr/>
        </p:nvSpPr>
        <p:spPr>
          <a:xfrm>
            <a:off x="594360" y="4087368"/>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6</a:t>
            </a:r>
            <a:endParaRPr lang="en-US" sz="800" dirty="0"/>
          </a:p>
        </p:txBody>
      </p:sp>
      <p:sp>
        <p:nvSpPr>
          <p:cNvPr id="50" name="Text 48"/>
          <p:cNvSpPr txBox="1"/>
          <p:nvPr/>
        </p:nvSpPr>
        <p:spPr>
          <a:xfrm>
            <a:off x="886968" y="4041648"/>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Content &amp; legal approval</a:t>
            </a:r>
            <a:endParaRPr lang="en-US" sz="900" dirty="0"/>
          </a:p>
        </p:txBody>
      </p:sp>
      <p:sp>
        <p:nvSpPr>
          <p:cNvPr id="51" name="Text 49"/>
          <p:cNvSpPr txBox="1"/>
          <p:nvPr/>
        </p:nvSpPr>
        <p:spPr>
          <a:xfrm>
            <a:off x="886968" y="4187952"/>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Copy, AMPscript, STOP / DONE keywords, legal sign-off</a:t>
            </a:r>
            <a:endParaRPr lang="en-US" sz="750" dirty="0"/>
          </a:p>
        </p:txBody>
      </p:sp>
      <p:sp>
        <p:nvSpPr>
          <p:cNvPr id="52" name="Shape 50"/>
          <p:cNvSpPr/>
          <p:nvPr/>
        </p:nvSpPr>
        <p:spPr>
          <a:xfrm>
            <a:off x="4654296" y="4105656"/>
            <a:ext cx="277368"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53" name="Text 51"/>
          <p:cNvSpPr txBox="1"/>
          <p:nvPr/>
        </p:nvSpPr>
        <p:spPr>
          <a:xfrm>
            <a:off x="5550408" y="4078224"/>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14d</a:t>
            </a:r>
            <a:endParaRPr lang="en-US" sz="850" dirty="0"/>
          </a:p>
        </p:txBody>
      </p:sp>
      <p:sp>
        <p:nvSpPr>
          <p:cNvPr id="54" name="Shape 52"/>
          <p:cNvSpPr/>
          <p:nvPr/>
        </p:nvSpPr>
        <p:spPr>
          <a:xfrm>
            <a:off x="594360" y="4416552"/>
            <a:ext cx="201168" cy="201168"/>
          </a:xfrm>
          <a:prstGeom prst="ellipse">
            <a:avLst/>
          </a:prstGeom>
          <a:solidFill>
            <a:srgbClr val="E6EBF2"/>
          </a:solidFill>
          <a:ln w="12700">
            <a:solidFill>
              <a:srgbClr val="C7D2DE"/>
            </a:solidFill>
            <a:prstDash val="solid"/>
          </a:ln>
        </p:spPr>
        <p:txBody>
          <a:bodyPr/>
          <a:lstStyle/>
          <a:p>
            <a:endParaRPr lang="en-IN"/>
          </a:p>
        </p:txBody>
      </p:sp>
      <p:sp>
        <p:nvSpPr>
          <p:cNvPr id="55" name="Text 53"/>
          <p:cNvSpPr txBox="1"/>
          <p:nvPr/>
        </p:nvSpPr>
        <p:spPr>
          <a:xfrm>
            <a:off x="594360" y="4416552"/>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7</a:t>
            </a:r>
            <a:endParaRPr lang="en-US" sz="800" dirty="0"/>
          </a:p>
        </p:txBody>
      </p:sp>
      <p:sp>
        <p:nvSpPr>
          <p:cNvPr id="56" name="Text 54"/>
          <p:cNvSpPr txBox="1"/>
          <p:nvPr/>
        </p:nvSpPr>
        <p:spPr>
          <a:xfrm>
            <a:off x="886968" y="4370832"/>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Journey Builder build</a:t>
            </a:r>
            <a:endParaRPr lang="en-US" sz="900" dirty="0"/>
          </a:p>
        </p:txBody>
      </p:sp>
      <p:sp>
        <p:nvSpPr>
          <p:cNvPr id="57" name="Text 55"/>
          <p:cNvSpPr txBox="1"/>
          <p:nvPr/>
        </p:nvSpPr>
        <p:spPr>
          <a:xfrm>
            <a:off x="886968" y="4517136"/>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Entry DE, App &gt; SMS &gt; Email splits, CloudPages, surveys</a:t>
            </a:r>
            <a:endParaRPr lang="en-US" sz="750" dirty="0"/>
          </a:p>
        </p:txBody>
      </p:sp>
      <p:sp>
        <p:nvSpPr>
          <p:cNvPr id="58" name="Shape 56"/>
          <p:cNvSpPr/>
          <p:nvPr/>
        </p:nvSpPr>
        <p:spPr>
          <a:xfrm>
            <a:off x="4931664" y="4434840"/>
            <a:ext cx="158496"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59" name="Text 57"/>
          <p:cNvSpPr txBox="1"/>
          <p:nvPr/>
        </p:nvSpPr>
        <p:spPr>
          <a:xfrm>
            <a:off x="5550408" y="4407408"/>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8d</a:t>
            </a:r>
            <a:endParaRPr lang="en-US" sz="850" dirty="0"/>
          </a:p>
        </p:txBody>
      </p:sp>
      <p:sp>
        <p:nvSpPr>
          <p:cNvPr id="60" name="Shape 58"/>
          <p:cNvSpPr/>
          <p:nvPr/>
        </p:nvSpPr>
        <p:spPr>
          <a:xfrm>
            <a:off x="594360" y="4745736"/>
            <a:ext cx="201168" cy="201168"/>
          </a:xfrm>
          <a:prstGeom prst="ellipse">
            <a:avLst/>
          </a:prstGeom>
          <a:solidFill>
            <a:srgbClr val="E6EBF2"/>
          </a:solidFill>
          <a:ln w="12700">
            <a:solidFill>
              <a:srgbClr val="C7D2DE"/>
            </a:solidFill>
            <a:prstDash val="solid"/>
          </a:ln>
        </p:spPr>
        <p:txBody>
          <a:bodyPr/>
          <a:lstStyle/>
          <a:p>
            <a:endParaRPr lang="en-IN"/>
          </a:p>
        </p:txBody>
      </p:sp>
      <p:sp>
        <p:nvSpPr>
          <p:cNvPr id="61" name="Text 59"/>
          <p:cNvSpPr txBox="1"/>
          <p:nvPr/>
        </p:nvSpPr>
        <p:spPr>
          <a:xfrm>
            <a:off x="594360" y="4745736"/>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8</a:t>
            </a:r>
            <a:endParaRPr lang="en-US" sz="800" dirty="0"/>
          </a:p>
        </p:txBody>
      </p:sp>
      <p:sp>
        <p:nvSpPr>
          <p:cNvPr id="62" name="Text 60"/>
          <p:cNvSpPr txBox="1"/>
          <p:nvPr/>
        </p:nvSpPr>
        <p:spPr>
          <a:xfrm>
            <a:off x="886968" y="4700016"/>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Testing &amp; UAT</a:t>
            </a:r>
            <a:endParaRPr lang="en-US" sz="900" dirty="0"/>
          </a:p>
        </p:txBody>
      </p:sp>
      <p:sp>
        <p:nvSpPr>
          <p:cNvPr id="63" name="Text 61"/>
          <p:cNvSpPr txBox="1"/>
          <p:nvPr/>
        </p:nvSpPr>
        <p:spPr>
          <a:xfrm>
            <a:off x="886968" y="4846320"/>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Scenario tests in Sandbox BU, seed sends, UAT sign-off</a:t>
            </a:r>
            <a:endParaRPr lang="en-US" sz="750" dirty="0"/>
          </a:p>
        </p:txBody>
      </p:sp>
      <p:sp>
        <p:nvSpPr>
          <p:cNvPr id="64" name="Shape 62"/>
          <p:cNvSpPr/>
          <p:nvPr/>
        </p:nvSpPr>
        <p:spPr>
          <a:xfrm>
            <a:off x="5090160" y="4764024"/>
            <a:ext cx="237744"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65" name="Text 63"/>
          <p:cNvSpPr txBox="1"/>
          <p:nvPr/>
        </p:nvSpPr>
        <p:spPr>
          <a:xfrm>
            <a:off x="5550408" y="4736592"/>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12d</a:t>
            </a:r>
            <a:endParaRPr lang="en-US" sz="850" dirty="0"/>
          </a:p>
        </p:txBody>
      </p:sp>
      <p:sp>
        <p:nvSpPr>
          <p:cNvPr id="66" name="Shape 64"/>
          <p:cNvSpPr/>
          <p:nvPr/>
        </p:nvSpPr>
        <p:spPr>
          <a:xfrm>
            <a:off x="594360" y="5074920"/>
            <a:ext cx="201168" cy="201168"/>
          </a:xfrm>
          <a:prstGeom prst="ellipse">
            <a:avLst/>
          </a:prstGeom>
          <a:solidFill>
            <a:srgbClr val="E6EBF2"/>
          </a:solidFill>
          <a:ln w="12700">
            <a:solidFill>
              <a:srgbClr val="C7D2DE"/>
            </a:solidFill>
            <a:prstDash val="solid"/>
          </a:ln>
        </p:spPr>
        <p:txBody>
          <a:bodyPr/>
          <a:lstStyle/>
          <a:p>
            <a:endParaRPr lang="en-IN"/>
          </a:p>
        </p:txBody>
      </p:sp>
      <p:sp>
        <p:nvSpPr>
          <p:cNvPr id="67" name="Text 65"/>
          <p:cNvSpPr txBox="1"/>
          <p:nvPr/>
        </p:nvSpPr>
        <p:spPr>
          <a:xfrm>
            <a:off x="594360" y="5074920"/>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9</a:t>
            </a:r>
            <a:endParaRPr lang="en-US" sz="800" dirty="0"/>
          </a:p>
        </p:txBody>
      </p:sp>
      <p:sp>
        <p:nvSpPr>
          <p:cNvPr id="68" name="Text 66"/>
          <p:cNvSpPr txBox="1"/>
          <p:nvPr/>
        </p:nvSpPr>
        <p:spPr>
          <a:xfrm>
            <a:off x="886968" y="5029200"/>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Deploy &amp; go-live</a:t>
            </a:r>
            <a:endParaRPr lang="en-US" sz="900" dirty="0"/>
          </a:p>
        </p:txBody>
      </p:sp>
      <p:sp>
        <p:nvSpPr>
          <p:cNvPr id="69" name="Text 67"/>
          <p:cNvSpPr txBox="1"/>
          <p:nvPr/>
        </p:nvSpPr>
        <p:spPr>
          <a:xfrm>
            <a:off x="886968" y="5175504"/>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Data Kit, Package Manager, Copado, manual fixes, smoke test</a:t>
            </a:r>
            <a:endParaRPr lang="en-US" sz="750" dirty="0"/>
          </a:p>
        </p:txBody>
      </p:sp>
      <p:sp>
        <p:nvSpPr>
          <p:cNvPr id="70" name="Shape 68"/>
          <p:cNvSpPr/>
          <p:nvPr/>
        </p:nvSpPr>
        <p:spPr>
          <a:xfrm>
            <a:off x="5327904" y="5093208"/>
            <a:ext cx="158496"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71" name="Text 69"/>
          <p:cNvSpPr txBox="1"/>
          <p:nvPr/>
        </p:nvSpPr>
        <p:spPr>
          <a:xfrm>
            <a:off x="5550408" y="5065776"/>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8d</a:t>
            </a:r>
            <a:endParaRPr lang="en-US" sz="850" dirty="0"/>
          </a:p>
        </p:txBody>
      </p:sp>
      <p:sp>
        <p:nvSpPr>
          <p:cNvPr id="72" name="Shape 70"/>
          <p:cNvSpPr/>
          <p:nvPr/>
        </p:nvSpPr>
        <p:spPr>
          <a:xfrm>
            <a:off x="6199632" y="1207008"/>
            <a:ext cx="5577840" cy="4279392"/>
          </a:xfrm>
          <a:prstGeom prst="rect">
            <a:avLst/>
          </a:prstGeom>
          <a:solidFill>
            <a:srgbClr val="FFFFFF"/>
          </a:solidFill>
          <a:ln w="9525">
            <a:solidFill>
              <a:srgbClr val="DCE4EE"/>
            </a:solidFill>
            <a:prstDash val="solid"/>
          </a:ln>
        </p:spPr>
        <p:txBody>
          <a:bodyPr/>
          <a:lstStyle/>
          <a:p>
            <a:endParaRPr lang="en-IN"/>
          </a:p>
        </p:txBody>
      </p:sp>
      <p:sp>
        <p:nvSpPr>
          <p:cNvPr id="73" name="Shape 71"/>
          <p:cNvSpPr/>
          <p:nvPr/>
        </p:nvSpPr>
        <p:spPr>
          <a:xfrm>
            <a:off x="6199632" y="1207008"/>
            <a:ext cx="5577840" cy="310896"/>
          </a:xfrm>
          <a:prstGeom prst="rect">
            <a:avLst/>
          </a:prstGeom>
          <a:solidFill>
            <a:srgbClr val="00757F"/>
          </a:solidFill>
          <a:ln w="12700">
            <a:solidFill>
              <a:srgbClr val="00757F"/>
            </a:solidFill>
            <a:prstDash val="solid"/>
          </a:ln>
        </p:spPr>
        <p:txBody>
          <a:bodyPr/>
          <a:lstStyle/>
          <a:p>
            <a:endParaRPr lang="en-IN"/>
          </a:p>
        </p:txBody>
      </p:sp>
      <p:sp>
        <p:nvSpPr>
          <p:cNvPr id="74" name="Text 72"/>
          <p:cNvSpPr/>
          <p:nvPr/>
        </p:nvSpPr>
        <p:spPr>
          <a:xfrm>
            <a:off x="6336792" y="1207008"/>
            <a:ext cx="53035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Proposed · knowledge-graph AI multi-agent delivery (MAD)</a:t>
            </a:r>
            <a:endParaRPr lang="en-US" sz="1000" dirty="0"/>
          </a:p>
        </p:txBody>
      </p:sp>
      <p:sp>
        <p:nvSpPr>
          <p:cNvPr id="75" name="Text 73"/>
          <p:cNvSpPr txBox="1"/>
          <p:nvPr/>
        </p:nvSpPr>
        <p:spPr>
          <a:xfrm>
            <a:off x="6382512" y="1591056"/>
            <a:ext cx="2743200" cy="384048"/>
          </a:xfrm>
          <a:prstGeom prst="rect">
            <a:avLst/>
          </a:prstGeom>
          <a:noFill/>
          <a:ln/>
        </p:spPr>
        <p:txBody>
          <a:bodyPr wrap="square" lIns="0" tIns="0" rIns="0" bIns="0" rtlCol="0" anchor="ctr"/>
          <a:lstStyle/>
          <a:p>
            <a:pPr marL="0" indent="0">
              <a:buNone/>
            </a:pPr>
            <a:r>
              <a:rPr lang="en-US" sz="2400" b="1" dirty="0">
                <a:solidFill>
                  <a:srgbClr val="00757F"/>
                </a:solidFill>
                <a:latin typeface="Trenda IG Display" pitchFamily="34" charset="0"/>
                <a:ea typeface="Trenda IG Display" pitchFamily="34" charset="-122"/>
                <a:cs typeface="Trenda IG Display" pitchFamily="34" charset="-120"/>
              </a:rPr>
              <a:t>15-20 days</a:t>
            </a:r>
            <a:endParaRPr lang="en-US" sz="2400" dirty="0"/>
          </a:p>
        </p:txBody>
      </p:sp>
      <p:sp>
        <p:nvSpPr>
          <p:cNvPr id="76" name="Text 74"/>
          <p:cNvSpPr txBox="1"/>
          <p:nvPr/>
        </p:nvSpPr>
        <p:spPr>
          <a:xfrm>
            <a:off x="6382512" y="1975104"/>
            <a:ext cx="4389120" cy="182880"/>
          </a:xfrm>
          <a:prstGeom prst="rect">
            <a:avLst/>
          </a:prstGeom>
          <a:noFill/>
          <a:ln/>
        </p:spPr>
        <p:txBody>
          <a:bodyPr wrap="square" lIns="0" tIns="0" rIns="0" bIns="0" rtlCol="0" anchor="ctr"/>
          <a:lstStyle/>
          <a:p>
            <a:pPr marL="0" indent="0">
              <a:buNone/>
            </a:pPr>
            <a:r>
              <a:rPr lang="en-US" sz="850" dirty="0">
                <a:solidFill>
                  <a:srgbClr val="5C6E85"/>
                </a:solidFill>
                <a:latin typeface="Trenda IG Text" pitchFamily="34" charset="0"/>
                <a:ea typeface="Trenda IG Text" pitchFamily="34" charset="-122"/>
                <a:cs typeface="Trenda IG Text" pitchFamily="34" charset="-120"/>
              </a:rPr>
              <a:t>~17-day critical path; review runs alongside the build</a:t>
            </a:r>
            <a:endParaRPr lang="en-US" sz="850" dirty="0"/>
          </a:p>
        </p:txBody>
      </p:sp>
      <p:sp>
        <p:nvSpPr>
          <p:cNvPr id="77" name="Text 75"/>
          <p:cNvSpPr/>
          <p:nvPr/>
        </p:nvSpPr>
        <p:spPr>
          <a:xfrm>
            <a:off x="9445752" y="1664208"/>
            <a:ext cx="2148840" cy="237744"/>
          </a:xfrm>
          <a:prstGeom prst="roundRect">
            <a:avLst>
              <a:gd name="adj" fmla="val 38462"/>
            </a:avLst>
          </a:prstGeom>
          <a:solidFill>
            <a:srgbClr val="E3F2F4"/>
          </a:solidFill>
          <a:ln w="9525">
            <a:solidFill>
              <a:srgbClr val="00757F"/>
            </a:solidFill>
          </a:ln>
        </p:spPr>
        <p:txBody>
          <a:bodyPr wrap="square" lIns="0" tIns="0" rIns="0" bIns="0" rtlCol="0" anchor="ctr"/>
          <a:lstStyle/>
          <a:p>
            <a:pPr marL="0" indent="0" algn="ctr">
              <a:buNone/>
            </a:pPr>
            <a:r>
              <a:rPr lang="en-US" sz="750" b="1" kern="0" spc="100" dirty="0">
                <a:solidFill>
                  <a:srgbClr val="00757F"/>
                </a:solidFill>
                <a:latin typeface="Trenda IG Text" pitchFamily="34" charset="0"/>
                <a:ea typeface="Trenda IG Text" pitchFamily="34" charset="-122"/>
                <a:cs typeface="Trenda IG Text" pitchFamily="34" charset="-120"/>
              </a:rPr>
              <a:t>MARKETING CLOUD SKILLS</a:t>
            </a:r>
            <a:endParaRPr lang="en-US" sz="750" dirty="0"/>
          </a:p>
        </p:txBody>
      </p:sp>
      <p:sp>
        <p:nvSpPr>
          <p:cNvPr id="78" name="Shape 76"/>
          <p:cNvSpPr/>
          <p:nvPr/>
        </p:nvSpPr>
        <p:spPr>
          <a:xfrm>
            <a:off x="10040112" y="2359152"/>
            <a:ext cx="0" cy="2945282"/>
          </a:xfrm>
          <a:prstGeom prst="line">
            <a:avLst/>
          </a:prstGeom>
          <a:noFill/>
          <a:ln w="6350">
            <a:solidFill>
              <a:srgbClr val="C7D2DE"/>
            </a:solidFill>
            <a:prstDash val="dash"/>
          </a:ln>
        </p:spPr>
        <p:txBody>
          <a:bodyPr/>
          <a:lstStyle/>
          <a:p>
            <a:endParaRPr lang="en-IN"/>
          </a:p>
        </p:txBody>
      </p:sp>
      <p:sp>
        <p:nvSpPr>
          <p:cNvPr id="79" name="Text 77"/>
          <p:cNvSpPr txBox="1"/>
          <p:nvPr/>
        </p:nvSpPr>
        <p:spPr>
          <a:xfrm>
            <a:off x="976579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Day 0</a:t>
            </a:r>
            <a:endParaRPr lang="en-US" sz="700" dirty="0"/>
          </a:p>
        </p:txBody>
      </p:sp>
      <p:sp>
        <p:nvSpPr>
          <p:cNvPr id="80" name="Shape 78"/>
          <p:cNvSpPr/>
          <p:nvPr/>
        </p:nvSpPr>
        <p:spPr>
          <a:xfrm>
            <a:off x="10337292" y="2359152"/>
            <a:ext cx="0" cy="2945282"/>
          </a:xfrm>
          <a:prstGeom prst="line">
            <a:avLst/>
          </a:prstGeom>
          <a:noFill/>
          <a:ln w="6350">
            <a:solidFill>
              <a:srgbClr val="C7D2DE"/>
            </a:solidFill>
            <a:prstDash val="dash"/>
          </a:ln>
        </p:spPr>
        <p:txBody>
          <a:bodyPr/>
          <a:lstStyle/>
          <a:p>
            <a:endParaRPr lang="en-IN"/>
          </a:p>
        </p:txBody>
      </p:sp>
      <p:sp>
        <p:nvSpPr>
          <p:cNvPr id="81" name="Text 79"/>
          <p:cNvSpPr txBox="1"/>
          <p:nvPr/>
        </p:nvSpPr>
        <p:spPr>
          <a:xfrm>
            <a:off x="1006297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5</a:t>
            </a:r>
            <a:endParaRPr lang="en-US" sz="700" dirty="0"/>
          </a:p>
        </p:txBody>
      </p:sp>
      <p:sp>
        <p:nvSpPr>
          <p:cNvPr id="82" name="Shape 80"/>
          <p:cNvSpPr/>
          <p:nvPr/>
        </p:nvSpPr>
        <p:spPr>
          <a:xfrm>
            <a:off x="10634472" y="2359152"/>
            <a:ext cx="0" cy="2945282"/>
          </a:xfrm>
          <a:prstGeom prst="line">
            <a:avLst/>
          </a:prstGeom>
          <a:noFill/>
          <a:ln w="6350">
            <a:solidFill>
              <a:srgbClr val="C7D2DE"/>
            </a:solidFill>
            <a:prstDash val="dash"/>
          </a:ln>
        </p:spPr>
        <p:txBody>
          <a:bodyPr/>
          <a:lstStyle/>
          <a:p>
            <a:endParaRPr lang="en-IN"/>
          </a:p>
        </p:txBody>
      </p:sp>
      <p:sp>
        <p:nvSpPr>
          <p:cNvPr id="83" name="Text 81"/>
          <p:cNvSpPr txBox="1"/>
          <p:nvPr/>
        </p:nvSpPr>
        <p:spPr>
          <a:xfrm>
            <a:off x="1036015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10</a:t>
            </a:r>
            <a:endParaRPr lang="en-US" sz="700" dirty="0"/>
          </a:p>
        </p:txBody>
      </p:sp>
      <p:sp>
        <p:nvSpPr>
          <p:cNvPr id="84" name="Shape 82"/>
          <p:cNvSpPr/>
          <p:nvPr/>
        </p:nvSpPr>
        <p:spPr>
          <a:xfrm>
            <a:off x="10931652" y="2359152"/>
            <a:ext cx="0" cy="2945282"/>
          </a:xfrm>
          <a:prstGeom prst="line">
            <a:avLst/>
          </a:prstGeom>
          <a:noFill/>
          <a:ln w="6350">
            <a:solidFill>
              <a:srgbClr val="C7D2DE"/>
            </a:solidFill>
            <a:prstDash val="dash"/>
          </a:ln>
        </p:spPr>
        <p:txBody>
          <a:bodyPr/>
          <a:lstStyle/>
          <a:p>
            <a:endParaRPr lang="en-IN"/>
          </a:p>
        </p:txBody>
      </p:sp>
      <p:sp>
        <p:nvSpPr>
          <p:cNvPr id="85" name="Text 83"/>
          <p:cNvSpPr txBox="1"/>
          <p:nvPr/>
        </p:nvSpPr>
        <p:spPr>
          <a:xfrm>
            <a:off x="1065733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15</a:t>
            </a:r>
            <a:endParaRPr lang="en-US" sz="700" dirty="0"/>
          </a:p>
        </p:txBody>
      </p:sp>
      <p:sp>
        <p:nvSpPr>
          <p:cNvPr id="86" name="Shape 84"/>
          <p:cNvSpPr/>
          <p:nvPr/>
        </p:nvSpPr>
        <p:spPr>
          <a:xfrm>
            <a:off x="11228832" y="2359152"/>
            <a:ext cx="0" cy="2945282"/>
          </a:xfrm>
          <a:prstGeom prst="line">
            <a:avLst/>
          </a:prstGeom>
          <a:noFill/>
          <a:ln w="6350">
            <a:solidFill>
              <a:srgbClr val="C7D2DE"/>
            </a:solidFill>
            <a:prstDash val="dash"/>
          </a:ln>
        </p:spPr>
        <p:txBody>
          <a:bodyPr/>
          <a:lstStyle/>
          <a:p>
            <a:endParaRPr lang="en-IN"/>
          </a:p>
        </p:txBody>
      </p:sp>
      <p:sp>
        <p:nvSpPr>
          <p:cNvPr id="87" name="Text 85"/>
          <p:cNvSpPr txBox="1"/>
          <p:nvPr/>
        </p:nvSpPr>
        <p:spPr>
          <a:xfrm>
            <a:off x="1095451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20</a:t>
            </a:r>
            <a:endParaRPr lang="en-US" sz="700" dirty="0"/>
          </a:p>
        </p:txBody>
      </p:sp>
      <p:sp>
        <p:nvSpPr>
          <p:cNvPr id="88" name="Shape 86"/>
          <p:cNvSpPr/>
          <p:nvPr/>
        </p:nvSpPr>
        <p:spPr>
          <a:xfrm>
            <a:off x="6382512" y="2478024"/>
            <a:ext cx="201168" cy="201168"/>
          </a:xfrm>
          <a:prstGeom prst="ellipse">
            <a:avLst/>
          </a:prstGeom>
          <a:solidFill>
            <a:srgbClr val="00757F"/>
          </a:solidFill>
          <a:ln w="12700">
            <a:solidFill>
              <a:srgbClr val="00757F"/>
            </a:solidFill>
            <a:prstDash val="solid"/>
          </a:ln>
        </p:spPr>
        <p:txBody>
          <a:bodyPr/>
          <a:lstStyle/>
          <a:p>
            <a:endParaRPr lang="en-IN"/>
          </a:p>
        </p:txBody>
      </p:sp>
      <p:sp>
        <p:nvSpPr>
          <p:cNvPr id="89" name="Text 87"/>
          <p:cNvSpPr txBox="1"/>
          <p:nvPr/>
        </p:nvSpPr>
        <p:spPr>
          <a:xfrm>
            <a:off x="6382512" y="24780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1</a:t>
            </a:r>
            <a:endParaRPr lang="en-US" sz="800" dirty="0"/>
          </a:p>
        </p:txBody>
      </p:sp>
      <p:sp>
        <p:nvSpPr>
          <p:cNvPr id="90" name="Text 88"/>
          <p:cNvSpPr txBox="1"/>
          <p:nvPr/>
        </p:nvSpPr>
        <p:spPr>
          <a:xfrm>
            <a:off x="6675120" y="2432304"/>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Orchestrator</a:t>
            </a:r>
            <a:endParaRPr lang="en-US" sz="900" dirty="0"/>
          </a:p>
        </p:txBody>
      </p:sp>
      <p:sp>
        <p:nvSpPr>
          <p:cNvPr id="91" name="Text 89"/>
          <p:cNvSpPr txBox="1"/>
          <p:nvPr/>
        </p:nvSpPr>
        <p:spPr>
          <a:xfrm>
            <a:off x="6675120" y="2578608"/>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Plans the work, routes agents, enforces gates</a:t>
            </a:r>
            <a:endParaRPr lang="en-US" sz="750" dirty="0"/>
          </a:p>
        </p:txBody>
      </p:sp>
      <p:sp>
        <p:nvSpPr>
          <p:cNvPr id="92" name="Text 90"/>
          <p:cNvSpPr/>
          <p:nvPr/>
        </p:nvSpPr>
        <p:spPr>
          <a:xfrm>
            <a:off x="9244584" y="2487168"/>
            <a:ext cx="713232" cy="182880"/>
          </a:xfrm>
          <a:prstGeom prst="roundRect">
            <a:avLst>
              <a:gd name="adj" fmla="val 40000"/>
            </a:avLst>
          </a:prstGeom>
          <a:solidFill>
            <a:srgbClr val="FFFFFF"/>
          </a:solidFill>
          <a:ln w="9525">
            <a:solidFill>
              <a:srgbClr val="00757F"/>
            </a:solidFill>
          </a:ln>
        </p:spPr>
        <p:txBody>
          <a:bodyPr wrap="square" lIns="0" tIns="0" rIns="0" bIns="0" rtlCol="0" anchor="ctr"/>
          <a:lstStyle/>
          <a:p>
            <a:pPr marL="0" indent="0" algn="ctr">
              <a:buNone/>
            </a:pPr>
            <a:r>
              <a:rPr lang="en-US" sz="700" b="1" dirty="0">
                <a:solidFill>
                  <a:srgbClr val="00757F"/>
                </a:solidFill>
                <a:latin typeface="Trenda IG Text" pitchFamily="34" charset="0"/>
                <a:ea typeface="Trenda IG Text" pitchFamily="34" charset="-122"/>
                <a:cs typeface="Trenda IG Text" pitchFamily="34" charset="-120"/>
              </a:rPr>
              <a:t>Coordinates</a:t>
            </a:r>
            <a:endParaRPr lang="en-US" sz="700" dirty="0"/>
          </a:p>
        </p:txBody>
      </p:sp>
      <p:sp>
        <p:nvSpPr>
          <p:cNvPr id="93" name="Shape 91"/>
          <p:cNvSpPr/>
          <p:nvPr/>
        </p:nvSpPr>
        <p:spPr>
          <a:xfrm>
            <a:off x="10040112" y="2496312"/>
            <a:ext cx="1010412" cy="155448"/>
          </a:xfrm>
          <a:prstGeom prst="roundRect">
            <a:avLst>
              <a:gd name="adj" fmla="val 29412"/>
            </a:avLst>
          </a:prstGeom>
          <a:solidFill>
            <a:srgbClr val="E3F2F4"/>
          </a:solidFill>
          <a:ln w="9525">
            <a:solidFill>
              <a:srgbClr val="00757F"/>
            </a:solidFill>
            <a:prstDash val="solid"/>
          </a:ln>
        </p:spPr>
        <p:txBody>
          <a:bodyPr/>
          <a:lstStyle/>
          <a:p>
            <a:endParaRPr lang="en-IN"/>
          </a:p>
        </p:txBody>
      </p:sp>
      <p:sp>
        <p:nvSpPr>
          <p:cNvPr id="94" name="Text 92"/>
          <p:cNvSpPr txBox="1"/>
          <p:nvPr/>
        </p:nvSpPr>
        <p:spPr>
          <a:xfrm>
            <a:off x="11292840" y="2468880"/>
            <a:ext cx="384048" cy="201168"/>
          </a:xfrm>
          <a:prstGeom prst="rect">
            <a:avLst/>
          </a:prstGeom>
          <a:noFill/>
          <a:ln/>
        </p:spPr>
        <p:txBody>
          <a:bodyPr wrap="square" lIns="0" tIns="0" rIns="0" bIns="0" rtlCol="0" anchor="ctr"/>
          <a:lstStyle/>
          <a:p>
            <a:pPr marL="0" indent="0">
              <a:buNone/>
            </a:pPr>
            <a:endParaRPr lang="en-US" sz="850" dirty="0"/>
          </a:p>
        </p:txBody>
      </p:sp>
      <p:sp>
        <p:nvSpPr>
          <p:cNvPr id="95" name="Shape 93"/>
          <p:cNvSpPr/>
          <p:nvPr/>
        </p:nvSpPr>
        <p:spPr>
          <a:xfrm>
            <a:off x="6382512" y="2901391"/>
            <a:ext cx="201168" cy="201168"/>
          </a:xfrm>
          <a:prstGeom prst="ellipse">
            <a:avLst/>
          </a:prstGeom>
          <a:solidFill>
            <a:srgbClr val="C77400"/>
          </a:solidFill>
          <a:ln w="12700">
            <a:solidFill>
              <a:srgbClr val="C77400"/>
            </a:solidFill>
            <a:prstDash val="solid"/>
          </a:ln>
        </p:spPr>
        <p:txBody>
          <a:bodyPr/>
          <a:lstStyle/>
          <a:p>
            <a:endParaRPr lang="en-IN"/>
          </a:p>
        </p:txBody>
      </p:sp>
      <p:sp>
        <p:nvSpPr>
          <p:cNvPr id="96" name="Text 94"/>
          <p:cNvSpPr txBox="1"/>
          <p:nvPr/>
        </p:nvSpPr>
        <p:spPr>
          <a:xfrm>
            <a:off x="6382512" y="2901391"/>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2</a:t>
            </a:r>
            <a:endParaRPr lang="en-US" sz="800" dirty="0"/>
          </a:p>
        </p:txBody>
      </p:sp>
      <p:sp>
        <p:nvSpPr>
          <p:cNvPr id="97" name="Text 95"/>
          <p:cNvSpPr txBox="1"/>
          <p:nvPr/>
        </p:nvSpPr>
        <p:spPr>
          <a:xfrm>
            <a:off x="6675120" y="2855671"/>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Requirements Agent</a:t>
            </a:r>
            <a:endParaRPr lang="en-US" sz="900" dirty="0"/>
          </a:p>
        </p:txBody>
      </p:sp>
      <p:sp>
        <p:nvSpPr>
          <p:cNvPr id="98" name="Text 96"/>
          <p:cNvSpPr txBox="1"/>
          <p:nvPr/>
        </p:nvSpPr>
        <p:spPr>
          <a:xfrm>
            <a:off x="6675120" y="3001975"/>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Jira + Confluence; PRD, audience rules, KPIs</a:t>
            </a:r>
            <a:endParaRPr lang="en-US" sz="750" dirty="0"/>
          </a:p>
        </p:txBody>
      </p:sp>
      <p:sp>
        <p:nvSpPr>
          <p:cNvPr id="99" name="Text 97"/>
          <p:cNvSpPr/>
          <p:nvPr/>
        </p:nvSpPr>
        <p:spPr>
          <a:xfrm>
            <a:off x="9244584" y="2910535"/>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00" name="Shape 98"/>
          <p:cNvSpPr/>
          <p:nvPr/>
        </p:nvSpPr>
        <p:spPr>
          <a:xfrm>
            <a:off x="10040112" y="2919679"/>
            <a:ext cx="118872" cy="155448"/>
          </a:xfrm>
          <a:prstGeom prst="roundRect">
            <a:avLst>
              <a:gd name="adj" fmla="val 38462"/>
            </a:avLst>
          </a:prstGeom>
          <a:solidFill>
            <a:srgbClr val="C77400"/>
          </a:solidFill>
          <a:ln w="12700">
            <a:solidFill>
              <a:srgbClr val="C77400"/>
            </a:solidFill>
            <a:prstDash val="solid"/>
          </a:ln>
        </p:spPr>
        <p:txBody>
          <a:bodyPr/>
          <a:lstStyle/>
          <a:p>
            <a:endParaRPr lang="en-IN"/>
          </a:p>
        </p:txBody>
      </p:sp>
      <p:sp>
        <p:nvSpPr>
          <p:cNvPr id="101" name="Text 99"/>
          <p:cNvSpPr txBox="1"/>
          <p:nvPr/>
        </p:nvSpPr>
        <p:spPr>
          <a:xfrm>
            <a:off x="11292840" y="2892247"/>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2d</a:t>
            </a:r>
            <a:endParaRPr lang="en-US" sz="850" dirty="0"/>
          </a:p>
        </p:txBody>
      </p:sp>
      <p:sp>
        <p:nvSpPr>
          <p:cNvPr id="102" name="Shape 100"/>
          <p:cNvSpPr/>
          <p:nvPr/>
        </p:nvSpPr>
        <p:spPr>
          <a:xfrm>
            <a:off x="6382512" y="3324758"/>
            <a:ext cx="201168" cy="201168"/>
          </a:xfrm>
          <a:prstGeom prst="ellipse">
            <a:avLst/>
          </a:prstGeom>
          <a:solidFill>
            <a:srgbClr val="C77400"/>
          </a:solidFill>
          <a:ln w="12700">
            <a:solidFill>
              <a:srgbClr val="C77400"/>
            </a:solidFill>
            <a:prstDash val="solid"/>
          </a:ln>
        </p:spPr>
        <p:txBody>
          <a:bodyPr/>
          <a:lstStyle/>
          <a:p>
            <a:endParaRPr lang="en-IN"/>
          </a:p>
        </p:txBody>
      </p:sp>
      <p:sp>
        <p:nvSpPr>
          <p:cNvPr id="103" name="Text 101"/>
          <p:cNvSpPr txBox="1"/>
          <p:nvPr/>
        </p:nvSpPr>
        <p:spPr>
          <a:xfrm>
            <a:off x="6382512" y="332475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3</a:t>
            </a:r>
            <a:endParaRPr lang="en-US" sz="800" dirty="0"/>
          </a:p>
        </p:txBody>
      </p:sp>
      <p:sp>
        <p:nvSpPr>
          <p:cNvPr id="104" name="Text 102"/>
          <p:cNvSpPr txBox="1"/>
          <p:nvPr/>
        </p:nvSpPr>
        <p:spPr>
          <a:xfrm>
            <a:off x="6675120" y="3279038"/>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Architect Agent</a:t>
            </a:r>
            <a:endParaRPr lang="en-US" sz="900" dirty="0"/>
          </a:p>
        </p:txBody>
      </p:sp>
      <p:sp>
        <p:nvSpPr>
          <p:cNvPr id="105" name="Text 103"/>
          <p:cNvSpPr txBox="1"/>
          <p:nvPr/>
        </p:nvSpPr>
        <p:spPr>
          <a:xfrm>
            <a:off x="6675120" y="3425342"/>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Graph impact and reuse: data, consent, channels</a:t>
            </a:r>
            <a:endParaRPr lang="en-US" sz="750" dirty="0"/>
          </a:p>
        </p:txBody>
      </p:sp>
      <p:sp>
        <p:nvSpPr>
          <p:cNvPr id="106" name="Text 104"/>
          <p:cNvSpPr/>
          <p:nvPr/>
        </p:nvSpPr>
        <p:spPr>
          <a:xfrm>
            <a:off x="9244584" y="3333902"/>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07" name="Shape 105"/>
          <p:cNvSpPr/>
          <p:nvPr/>
        </p:nvSpPr>
        <p:spPr>
          <a:xfrm>
            <a:off x="10158984" y="3343046"/>
            <a:ext cx="118872" cy="155448"/>
          </a:xfrm>
          <a:prstGeom prst="roundRect">
            <a:avLst>
              <a:gd name="adj" fmla="val 38462"/>
            </a:avLst>
          </a:prstGeom>
          <a:solidFill>
            <a:srgbClr val="C77400"/>
          </a:solidFill>
          <a:ln w="12700">
            <a:solidFill>
              <a:srgbClr val="C77400"/>
            </a:solidFill>
            <a:prstDash val="solid"/>
          </a:ln>
        </p:spPr>
        <p:txBody>
          <a:bodyPr/>
          <a:lstStyle/>
          <a:p>
            <a:endParaRPr lang="en-IN"/>
          </a:p>
        </p:txBody>
      </p:sp>
      <p:sp>
        <p:nvSpPr>
          <p:cNvPr id="108" name="Text 106"/>
          <p:cNvSpPr txBox="1"/>
          <p:nvPr/>
        </p:nvSpPr>
        <p:spPr>
          <a:xfrm>
            <a:off x="11292840" y="3315614"/>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2d</a:t>
            </a:r>
            <a:endParaRPr lang="en-US" sz="850" dirty="0"/>
          </a:p>
        </p:txBody>
      </p:sp>
      <p:sp>
        <p:nvSpPr>
          <p:cNvPr id="109" name="Shape 107"/>
          <p:cNvSpPr/>
          <p:nvPr/>
        </p:nvSpPr>
        <p:spPr>
          <a:xfrm>
            <a:off x="6382512" y="3748126"/>
            <a:ext cx="201168" cy="201168"/>
          </a:xfrm>
          <a:prstGeom prst="ellipse">
            <a:avLst/>
          </a:prstGeom>
          <a:solidFill>
            <a:srgbClr val="2E7D32"/>
          </a:solidFill>
          <a:ln w="12700">
            <a:solidFill>
              <a:srgbClr val="2E7D32"/>
            </a:solidFill>
            <a:prstDash val="solid"/>
          </a:ln>
        </p:spPr>
        <p:txBody>
          <a:bodyPr/>
          <a:lstStyle/>
          <a:p>
            <a:endParaRPr lang="en-IN"/>
          </a:p>
        </p:txBody>
      </p:sp>
      <p:sp>
        <p:nvSpPr>
          <p:cNvPr id="110" name="Text 108"/>
          <p:cNvSpPr txBox="1"/>
          <p:nvPr/>
        </p:nvSpPr>
        <p:spPr>
          <a:xfrm>
            <a:off x="6382512" y="374812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4</a:t>
            </a:r>
            <a:endParaRPr lang="en-US" sz="800" dirty="0"/>
          </a:p>
        </p:txBody>
      </p:sp>
      <p:sp>
        <p:nvSpPr>
          <p:cNvPr id="111" name="Text 109"/>
          <p:cNvSpPr txBox="1"/>
          <p:nvPr/>
        </p:nvSpPr>
        <p:spPr>
          <a:xfrm>
            <a:off x="6675120" y="3702406"/>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Developer Agent</a:t>
            </a:r>
            <a:endParaRPr lang="en-US" sz="900" dirty="0"/>
          </a:p>
        </p:txBody>
      </p:sp>
      <p:sp>
        <p:nvSpPr>
          <p:cNvPr id="112" name="Text 110"/>
          <p:cNvSpPr txBox="1"/>
          <p:nvPr/>
        </p:nvSpPr>
        <p:spPr>
          <a:xfrm>
            <a:off x="6675120" y="3848710"/>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Data Cloud, segment, SFMC DEs, SQL, journey</a:t>
            </a:r>
            <a:endParaRPr lang="en-US" sz="750" dirty="0"/>
          </a:p>
        </p:txBody>
      </p:sp>
      <p:sp>
        <p:nvSpPr>
          <p:cNvPr id="113" name="Text 111"/>
          <p:cNvSpPr/>
          <p:nvPr/>
        </p:nvSpPr>
        <p:spPr>
          <a:xfrm>
            <a:off x="9244584" y="3757270"/>
            <a:ext cx="713232"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114" name="Shape 112"/>
          <p:cNvSpPr/>
          <p:nvPr/>
        </p:nvSpPr>
        <p:spPr>
          <a:xfrm>
            <a:off x="10277856" y="3766414"/>
            <a:ext cx="475488" cy="155448"/>
          </a:xfrm>
          <a:prstGeom prst="roundRect">
            <a:avLst>
              <a:gd name="adj" fmla="val 29412"/>
            </a:avLst>
          </a:prstGeom>
          <a:solidFill>
            <a:srgbClr val="2E7D32"/>
          </a:solidFill>
          <a:ln w="12700">
            <a:solidFill>
              <a:srgbClr val="2E7D32"/>
            </a:solidFill>
            <a:prstDash val="solid"/>
          </a:ln>
        </p:spPr>
        <p:txBody>
          <a:bodyPr/>
          <a:lstStyle/>
          <a:p>
            <a:endParaRPr lang="en-IN"/>
          </a:p>
        </p:txBody>
      </p:sp>
      <p:sp>
        <p:nvSpPr>
          <p:cNvPr id="115" name="Text 113"/>
          <p:cNvSpPr txBox="1"/>
          <p:nvPr/>
        </p:nvSpPr>
        <p:spPr>
          <a:xfrm>
            <a:off x="11292840" y="3738982"/>
            <a:ext cx="384048" cy="201168"/>
          </a:xfrm>
          <a:prstGeom prst="rect">
            <a:avLst/>
          </a:prstGeom>
          <a:noFill/>
          <a:ln/>
        </p:spPr>
        <p:txBody>
          <a:bodyPr wrap="square" lIns="0" tIns="0" rIns="0" bIns="0" rtlCol="0" anchor="ctr"/>
          <a:lstStyle/>
          <a:p>
            <a:pPr marL="0" indent="0">
              <a:buNone/>
            </a:pPr>
            <a:r>
              <a:rPr lang="en-US" sz="850" b="1" dirty="0">
                <a:solidFill>
                  <a:srgbClr val="2E7D32"/>
                </a:solidFill>
                <a:latin typeface="Trenda IG Text" pitchFamily="34" charset="0"/>
                <a:ea typeface="Trenda IG Text" pitchFamily="34" charset="-122"/>
                <a:cs typeface="Trenda IG Text" pitchFamily="34" charset="-120"/>
              </a:rPr>
              <a:t>8d</a:t>
            </a:r>
            <a:endParaRPr lang="en-US" sz="850" dirty="0"/>
          </a:p>
        </p:txBody>
      </p:sp>
      <p:sp>
        <p:nvSpPr>
          <p:cNvPr id="116" name="Shape 114"/>
          <p:cNvSpPr/>
          <p:nvPr/>
        </p:nvSpPr>
        <p:spPr>
          <a:xfrm>
            <a:off x="6382512" y="4171493"/>
            <a:ext cx="201168" cy="201168"/>
          </a:xfrm>
          <a:prstGeom prst="ellipse">
            <a:avLst/>
          </a:prstGeom>
          <a:solidFill>
            <a:srgbClr val="C77400"/>
          </a:solidFill>
          <a:ln w="12700">
            <a:solidFill>
              <a:srgbClr val="C77400"/>
            </a:solidFill>
            <a:prstDash val="solid"/>
          </a:ln>
        </p:spPr>
        <p:txBody>
          <a:bodyPr/>
          <a:lstStyle/>
          <a:p>
            <a:endParaRPr lang="en-IN"/>
          </a:p>
        </p:txBody>
      </p:sp>
      <p:sp>
        <p:nvSpPr>
          <p:cNvPr id="117" name="Text 115"/>
          <p:cNvSpPr txBox="1"/>
          <p:nvPr/>
        </p:nvSpPr>
        <p:spPr>
          <a:xfrm>
            <a:off x="6382512" y="4171493"/>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5</a:t>
            </a:r>
            <a:endParaRPr lang="en-US" sz="800" dirty="0"/>
          </a:p>
        </p:txBody>
      </p:sp>
      <p:sp>
        <p:nvSpPr>
          <p:cNvPr id="118" name="Text 116"/>
          <p:cNvSpPr txBox="1"/>
          <p:nvPr/>
        </p:nvSpPr>
        <p:spPr>
          <a:xfrm>
            <a:off x="6675120" y="4125773"/>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Review Agent</a:t>
            </a:r>
            <a:endParaRPr lang="en-US" sz="900" dirty="0"/>
          </a:p>
        </p:txBody>
      </p:sp>
      <p:sp>
        <p:nvSpPr>
          <p:cNvPr id="119" name="Text 117"/>
          <p:cNvSpPr txBox="1"/>
          <p:nvPr/>
        </p:nvSpPr>
        <p:spPr>
          <a:xfrm>
            <a:off x="6675120" y="4272077"/>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Standards and consent; legal / clinical approve</a:t>
            </a:r>
            <a:endParaRPr lang="en-US" sz="750" dirty="0"/>
          </a:p>
        </p:txBody>
      </p:sp>
      <p:sp>
        <p:nvSpPr>
          <p:cNvPr id="120" name="Text 118"/>
          <p:cNvSpPr/>
          <p:nvPr/>
        </p:nvSpPr>
        <p:spPr>
          <a:xfrm>
            <a:off x="9244584" y="4180637"/>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21" name="Shape 119"/>
          <p:cNvSpPr/>
          <p:nvPr/>
        </p:nvSpPr>
        <p:spPr>
          <a:xfrm>
            <a:off x="10277856" y="4189781"/>
            <a:ext cx="416052"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122" name="Text 120"/>
          <p:cNvSpPr txBox="1"/>
          <p:nvPr/>
        </p:nvSpPr>
        <p:spPr>
          <a:xfrm>
            <a:off x="11292840" y="4162349"/>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7d</a:t>
            </a:r>
            <a:endParaRPr lang="en-US" sz="850" dirty="0"/>
          </a:p>
        </p:txBody>
      </p:sp>
      <p:sp>
        <p:nvSpPr>
          <p:cNvPr id="123" name="Shape 121"/>
          <p:cNvSpPr/>
          <p:nvPr/>
        </p:nvSpPr>
        <p:spPr>
          <a:xfrm>
            <a:off x="6382512" y="4594860"/>
            <a:ext cx="201168" cy="201168"/>
          </a:xfrm>
          <a:prstGeom prst="ellipse">
            <a:avLst/>
          </a:prstGeom>
          <a:solidFill>
            <a:srgbClr val="C77400"/>
          </a:solidFill>
          <a:ln w="12700">
            <a:solidFill>
              <a:srgbClr val="C77400"/>
            </a:solidFill>
            <a:prstDash val="solid"/>
          </a:ln>
        </p:spPr>
        <p:txBody>
          <a:bodyPr/>
          <a:lstStyle/>
          <a:p>
            <a:endParaRPr lang="en-IN"/>
          </a:p>
        </p:txBody>
      </p:sp>
      <p:sp>
        <p:nvSpPr>
          <p:cNvPr id="124" name="Text 122"/>
          <p:cNvSpPr txBox="1"/>
          <p:nvPr/>
        </p:nvSpPr>
        <p:spPr>
          <a:xfrm>
            <a:off x="6382512" y="45948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6</a:t>
            </a:r>
            <a:endParaRPr lang="en-US" sz="800" dirty="0"/>
          </a:p>
        </p:txBody>
      </p:sp>
      <p:sp>
        <p:nvSpPr>
          <p:cNvPr id="125" name="Text 123"/>
          <p:cNvSpPr txBox="1"/>
          <p:nvPr/>
        </p:nvSpPr>
        <p:spPr>
          <a:xfrm>
            <a:off x="6675120" y="4549140"/>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Test Agent</a:t>
            </a:r>
            <a:endParaRPr lang="en-US" sz="900" dirty="0"/>
          </a:p>
        </p:txBody>
      </p:sp>
      <p:sp>
        <p:nvSpPr>
          <p:cNvPr id="126" name="Text 124"/>
          <p:cNvSpPr txBox="1"/>
          <p:nvPr/>
        </p:nvSpPr>
        <p:spPr>
          <a:xfrm>
            <a:off x="6675120" y="4695444"/>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Zephyr cases, Copado tests, every variant; UAT</a:t>
            </a:r>
            <a:endParaRPr lang="en-US" sz="750" dirty="0"/>
          </a:p>
        </p:txBody>
      </p:sp>
      <p:sp>
        <p:nvSpPr>
          <p:cNvPr id="127" name="Text 125"/>
          <p:cNvSpPr/>
          <p:nvPr/>
        </p:nvSpPr>
        <p:spPr>
          <a:xfrm>
            <a:off x="9244584" y="4604004"/>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28" name="Shape 126"/>
          <p:cNvSpPr/>
          <p:nvPr/>
        </p:nvSpPr>
        <p:spPr>
          <a:xfrm>
            <a:off x="10753344" y="4613148"/>
            <a:ext cx="178308"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129" name="Text 127"/>
          <p:cNvSpPr txBox="1"/>
          <p:nvPr/>
        </p:nvSpPr>
        <p:spPr>
          <a:xfrm>
            <a:off x="11292840" y="4585716"/>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3d</a:t>
            </a:r>
            <a:endParaRPr lang="en-US" sz="850" dirty="0"/>
          </a:p>
        </p:txBody>
      </p:sp>
      <p:sp>
        <p:nvSpPr>
          <p:cNvPr id="130" name="Shape 128"/>
          <p:cNvSpPr/>
          <p:nvPr/>
        </p:nvSpPr>
        <p:spPr>
          <a:xfrm>
            <a:off x="6382512" y="5018227"/>
            <a:ext cx="201168" cy="201168"/>
          </a:xfrm>
          <a:prstGeom prst="ellipse">
            <a:avLst/>
          </a:prstGeom>
          <a:solidFill>
            <a:srgbClr val="2E7D32"/>
          </a:solidFill>
          <a:ln w="12700">
            <a:solidFill>
              <a:srgbClr val="2E7D32"/>
            </a:solidFill>
            <a:prstDash val="solid"/>
          </a:ln>
        </p:spPr>
        <p:txBody>
          <a:bodyPr/>
          <a:lstStyle/>
          <a:p>
            <a:endParaRPr lang="en-IN"/>
          </a:p>
        </p:txBody>
      </p:sp>
      <p:sp>
        <p:nvSpPr>
          <p:cNvPr id="131" name="Text 129"/>
          <p:cNvSpPr txBox="1"/>
          <p:nvPr/>
        </p:nvSpPr>
        <p:spPr>
          <a:xfrm>
            <a:off x="6382512" y="5018227"/>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7</a:t>
            </a:r>
            <a:endParaRPr lang="en-US" sz="800" dirty="0"/>
          </a:p>
        </p:txBody>
      </p:sp>
      <p:sp>
        <p:nvSpPr>
          <p:cNvPr id="132" name="Text 130"/>
          <p:cNvSpPr txBox="1"/>
          <p:nvPr/>
        </p:nvSpPr>
        <p:spPr>
          <a:xfrm>
            <a:off x="6675120" y="4972507"/>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Release Agent</a:t>
            </a:r>
            <a:endParaRPr lang="en-US" sz="900" dirty="0"/>
          </a:p>
        </p:txBody>
      </p:sp>
      <p:sp>
        <p:nvSpPr>
          <p:cNvPr id="133" name="Text 131"/>
          <p:cNvSpPr txBox="1"/>
          <p:nvPr/>
        </p:nvSpPr>
        <p:spPr>
          <a:xfrm>
            <a:off x="6675120" y="5118811"/>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Data Kit, Copado to lower envs, smoke checklist</a:t>
            </a:r>
            <a:endParaRPr lang="en-US" sz="750" dirty="0"/>
          </a:p>
        </p:txBody>
      </p:sp>
      <p:sp>
        <p:nvSpPr>
          <p:cNvPr id="134" name="Text 132"/>
          <p:cNvSpPr/>
          <p:nvPr/>
        </p:nvSpPr>
        <p:spPr>
          <a:xfrm>
            <a:off x="9244584" y="5027371"/>
            <a:ext cx="713232"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135" name="Shape 133"/>
          <p:cNvSpPr/>
          <p:nvPr/>
        </p:nvSpPr>
        <p:spPr>
          <a:xfrm>
            <a:off x="10931652" y="5036515"/>
            <a:ext cx="118872" cy="155448"/>
          </a:xfrm>
          <a:prstGeom prst="roundRect">
            <a:avLst>
              <a:gd name="adj" fmla="val 38462"/>
            </a:avLst>
          </a:prstGeom>
          <a:solidFill>
            <a:srgbClr val="2E7D32"/>
          </a:solidFill>
          <a:ln w="12700">
            <a:solidFill>
              <a:srgbClr val="2E7D32"/>
            </a:solidFill>
            <a:prstDash val="solid"/>
          </a:ln>
        </p:spPr>
        <p:txBody>
          <a:bodyPr/>
          <a:lstStyle/>
          <a:p>
            <a:endParaRPr lang="en-IN"/>
          </a:p>
        </p:txBody>
      </p:sp>
      <p:sp>
        <p:nvSpPr>
          <p:cNvPr id="136" name="Text 134"/>
          <p:cNvSpPr txBox="1"/>
          <p:nvPr/>
        </p:nvSpPr>
        <p:spPr>
          <a:xfrm>
            <a:off x="11292840" y="5009083"/>
            <a:ext cx="384048" cy="201168"/>
          </a:xfrm>
          <a:prstGeom prst="rect">
            <a:avLst/>
          </a:prstGeom>
          <a:noFill/>
          <a:ln/>
        </p:spPr>
        <p:txBody>
          <a:bodyPr wrap="square" lIns="0" tIns="0" rIns="0" bIns="0" rtlCol="0" anchor="ctr"/>
          <a:lstStyle/>
          <a:p>
            <a:pPr marL="0" indent="0">
              <a:buNone/>
            </a:pPr>
            <a:r>
              <a:rPr lang="en-US" sz="850" b="1" dirty="0">
                <a:solidFill>
                  <a:srgbClr val="2E7D32"/>
                </a:solidFill>
                <a:latin typeface="Trenda IG Text" pitchFamily="34" charset="0"/>
                <a:ea typeface="Trenda IG Text" pitchFamily="34" charset="-122"/>
                <a:cs typeface="Trenda IG Text" pitchFamily="34" charset="-120"/>
              </a:rPr>
              <a:t>2d</a:t>
            </a:r>
            <a:endParaRPr lang="en-US" sz="850" dirty="0"/>
          </a:p>
        </p:txBody>
      </p:sp>
      <p:sp>
        <p:nvSpPr>
          <p:cNvPr id="137" name="Shape 135"/>
          <p:cNvSpPr/>
          <p:nvPr/>
        </p:nvSpPr>
        <p:spPr>
          <a:xfrm>
            <a:off x="6007608" y="3246120"/>
            <a:ext cx="182880" cy="274320"/>
          </a:xfrm>
          <a:prstGeom prst="rightArrow">
            <a:avLst/>
          </a:prstGeom>
          <a:solidFill>
            <a:srgbClr val="00757F"/>
          </a:solidFill>
          <a:ln w="12700">
            <a:solidFill>
              <a:srgbClr val="00757F"/>
            </a:solidFill>
            <a:prstDash val="solid"/>
          </a:ln>
        </p:spPr>
        <p:txBody>
          <a:bodyPr/>
          <a:lstStyle/>
          <a:p>
            <a:endParaRPr lang="en-IN"/>
          </a:p>
        </p:txBody>
      </p:sp>
      <p:sp>
        <p:nvSpPr>
          <p:cNvPr id="138" name="Shape 136"/>
          <p:cNvSpPr/>
          <p:nvPr/>
        </p:nvSpPr>
        <p:spPr>
          <a:xfrm>
            <a:off x="411480"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39" name="Shape 137"/>
          <p:cNvSpPr/>
          <p:nvPr/>
        </p:nvSpPr>
        <p:spPr>
          <a:xfrm>
            <a:off x="411480"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40" name="Text 138"/>
          <p:cNvSpPr txBox="1"/>
          <p:nvPr/>
        </p:nvSpPr>
        <p:spPr>
          <a:xfrm>
            <a:off x="576072"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~80%</a:t>
            </a:r>
            <a:endParaRPr lang="en-US" sz="1800" dirty="0"/>
          </a:p>
        </p:txBody>
      </p:sp>
      <p:sp>
        <p:nvSpPr>
          <p:cNvPr id="141" name="Text 139"/>
          <p:cNvSpPr txBox="1"/>
          <p:nvPr/>
        </p:nvSpPr>
        <p:spPr>
          <a:xfrm>
            <a:off x="1783080"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faster to launch</a:t>
            </a:r>
            <a:endParaRPr lang="en-US" sz="850" dirty="0"/>
          </a:p>
        </p:txBody>
      </p:sp>
      <p:sp>
        <p:nvSpPr>
          <p:cNvPr id="142" name="Text 140"/>
          <p:cNvSpPr txBox="1"/>
          <p:nvPr/>
        </p:nvSpPr>
        <p:spPr>
          <a:xfrm>
            <a:off x="576072"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90 to 15-20 days, recorded averages</a:t>
            </a:r>
            <a:endParaRPr lang="en-US" sz="750" dirty="0"/>
          </a:p>
        </p:txBody>
      </p:sp>
      <p:sp>
        <p:nvSpPr>
          <p:cNvPr id="143" name="Shape 141"/>
          <p:cNvSpPr/>
          <p:nvPr/>
        </p:nvSpPr>
        <p:spPr>
          <a:xfrm>
            <a:off x="3285439"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44" name="Shape 142"/>
          <p:cNvSpPr/>
          <p:nvPr/>
        </p:nvSpPr>
        <p:spPr>
          <a:xfrm>
            <a:off x="3285439"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45" name="Text 143"/>
          <p:cNvSpPr txBox="1"/>
          <p:nvPr/>
        </p:nvSpPr>
        <p:spPr>
          <a:xfrm>
            <a:off x="3450031"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7 agents</a:t>
            </a:r>
            <a:endParaRPr lang="en-US" sz="1800" dirty="0"/>
          </a:p>
        </p:txBody>
      </p:sp>
      <p:sp>
        <p:nvSpPr>
          <p:cNvPr id="146" name="Text 144"/>
          <p:cNvSpPr txBox="1"/>
          <p:nvPr/>
        </p:nvSpPr>
        <p:spPr>
          <a:xfrm>
            <a:off x="4657039"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common to every pod</a:t>
            </a:r>
            <a:endParaRPr lang="en-US" sz="850" dirty="0"/>
          </a:p>
        </p:txBody>
      </p:sp>
      <p:sp>
        <p:nvSpPr>
          <p:cNvPr id="147" name="Text 145"/>
          <p:cNvSpPr txBox="1"/>
          <p:nvPr/>
        </p:nvSpPr>
        <p:spPr>
          <a:xfrm>
            <a:off x="3450031"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AI builds; people approve at 4 gates</a:t>
            </a:r>
            <a:endParaRPr lang="en-US" sz="750" dirty="0"/>
          </a:p>
        </p:txBody>
      </p:sp>
      <p:sp>
        <p:nvSpPr>
          <p:cNvPr id="148" name="Shape 146"/>
          <p:cNvSpPr/>
          <p:nvPr/>
        </p:nvSpPr>
        <p:spPr>
          <a:xfrm>
            <a:off x="6159398"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49" name="Shape 147"/>
          <p:cNvSpPr/>
          <p:nvPr/>
        </p:nvSpPr>
        <p:spPr>
          <a:xfrm>
            <a:off x="6159398"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50" name="Text 148"/>
          <p:cNvSpPr txBox="1"/>
          <p:nvPr/>
        </p:nvSpPr>
        <p:spPr>
          <a:xfrm>
            <a:off x="6323990"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2-3x</a:t>
            </a:r>
            <a:endParaRPr lang="en-US" sz="1800" dirty="0"/>
          </a:p>
        </p:txBody>
      </p:sp>
      <p:sp>
        <p:nvSpPr>
          <p:cNvPr id="151" name="Text 149"/>
          <p:cNvSpPr txBox="1"/>
          <p:nvPr/>
        </p:nvSpPr>
        <p:spPr>
          <a:xfrm>
            <a:off x="7530998"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campaigns per quarter</a:t>
            </a:r>
            <a:endParaRPr lang="en-US" sz="850" dirty="0"/>
          </a:p>
        </p:txBody>
      </p:sp>
      <p:sp>
        <p:nvSpPr>
          <p:cNvPr id="152" name="Text 150"/>
          <p:cNvSpPr txBox="1"/>
          <p:nvPr/>
        </p:nvSpPr>
        <p:spPr>
          <a:xfrm>
            <a:off x="6323990"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Same squad; approvals still set the pace</a:t>
            </a:r>
            <a:endParaRPr lang="en-US" sz="750" dirty="0"/>
          </a:p>
        </p:txBody>
      </p:sp>
      <p:sp>
        <p:nvSpPr>
          <p:cNvPr id="153" name="Shape 151"/>
          <p:cNvSpPr/>
          <p:nvPr/>
        </p:nvSpPr>
        <p:spPr>
          <a:xfrm>
            <a:off x="9033358"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54" name="Shape 152"/>
          <p:cNvSpPr/>
          <p:nvPr/>
        </p:nvSpPr>
        <p:spPr>
          <a:xfrm>
            <a:off x="9033358"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55" name="Text 153"/>
          <p:cNvSpPr txBox="1"/>
          <p:nvPr/>
        </p:nvSpPr>
        <p:spPr>
          <a:xfrm>
            <a:off x="9197950"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75-85%</a:t>
            </a:r>
            <a:endParaRPr lang="en-US" sz="1800" dirty="0"/>
          </a:p>
        </p:txBody>
      </p:sp>
      <p:sp>
        <p:nvSpPr>
          <p:cNvPr id="156" name="Text 154"/>
          <p:cNvSpPr txBox="1"/>
          <p:nvPr/>
        </p:nvSpPr>
        <p:spPr>
          <a:xfrm>
            <a:off x="10404958"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faster test-case prep</a:t>
            </a:r>
            <a:endParaRPr lang="en-US" sz="850" dirty="0"/>
          </a:p>
        </p:txBody>
      </p:sp>
      <p:sp>
        <p:nvSpPr>
          <p:cNvPr id="157" name="Text 155"/>
          <p:cNvSpPr txBox="1"/>
          <p:nvPr/>
        </p:nvSpPr>
        <p:spPr>
          <a:xfrm>
            <a:off x="9197950"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Measured with QA agents; people review</a:t>
            </a:r>
            <a:endParaRPr lang="en-US" sz="750" dirty="0"/>
          </a:p>
        </p:txBody>
      </p:sp>
      <p:sp>
        <p:nvSpPr>
          <p:cNvPr id="158" name="Text 156"/>
          <p:cNvSpPr txBox="1"/>
          <p:nvPr/>
        </p:nvSpPr>
        <p:spPr>
          <a:xfrm>
            <a:off x="411480" y="6455664"/>
            <a:ext cx="11338560" cy="310896"/>
          </a:xfrm>
          <a:prstGeom prst="rect">
            <a:avLst/>
          </a:prstGeom>
          <a:noFill/>
          <a:ln/>
        </p:spPr>
        <p:txBody>
          <a:bodyPr wrap="square" lIns="0" tIns="0" rIns="0" bIns="0" rtlCol="0" anchor="t"/>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Sources: CHF Post-Discharge Nudge manual steps and Dev-to-Prod deployment, SFMC Development &amp; Deployment Standard, Demand Martech Data Cloud setup, MAWV campaign pages, Agentifying Ascension Ways of Working (90 to 15-20 days, QA 75-85%). 2-3x campaigns is a planning estimate.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100584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 · NETWORK SERVICES POD · HEALTH CLOUD</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Onboarding a new market: 9 months manual vs 10-12 weeks with MAD</a:t>
            </a:r>
            <a:endParaRPr lang="en-US" sz="2200" dirty="0"/>
          </a:p>
        </p:txBody>
      </p:sp>
      <p:sp>
        <p:nvSpPr>
          <p:cNvPr id="4" name="Text 2"/>
          <p:cNvSpPr txBox="1"/>
          <p:nvPr/>
        </p:nvSpPr>
        <p:spPr>
          <a:xfrm>
            <a:off x="411480" y="804672"/>
            <a:ext cx="11338560" cy="237744"/>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Based on Texas CIN (Clinically Integrated Network) onboarding to Enterprise Health Cloud. Same 7 agents, Health Cloud skills.</a:t>
            </a:r>
            <a:endParaRPr lang="en-US" sz="1050" dirty="0"/>
          </a:p>
        </p:txBody>
      </p:sp>
      <p:sp>
        <p:nvSpPr>
          <p:cNvPr id="5" name="Shape 3"/>
          <p:cNvSpPr/>
          <p:nvPr/>
        </p:nvSpPr>
        <p:spPr>
          <a:xfrm>
            <a:off x="411480" y="1207008"/>
            <a:ext cx="5577840" cy="4279392"/>
          </a:xfrm>
          <a:prstGeom prst="rect">
            <a:avLst/>
          </a:prstGeom>
          <a:solidFill>
            <a:srgbClr val="FFFFFF"/>
          </a:solidFill>
          <a:ln w="9525">
            <a:solidFill>
              <a:srgbClr val="DCE4EE"/>
            </a:solidFill>
            <a:prstDash val="solid"/>
          </a:ln>
        </p:spPr>
        <p:txBody>
          <a:bodyPr/>
          <a:lstStyle/>
          <a:p>
            <a:endParaRPr lang="en-IN"/>
          </a:p>
        </p:txBody>
      </p:sp>
      <p:sp>
        <p:nvSpPr>
          <p:cNvPr id="6" name="Shape 4"/>
          <p:cNvSpPr/>
          <p:nvPr/>
        </p:nvSpPr>
        <p:spPr>
          <a:xfrm>
            <a:off x="411480" y="1207008"/>
            <a:ext cx="5577840" cy="310896"/>
          </a:xfrm>
          <a:prstGeom prst="rect">
            <a:avLst/>
          </a:prstGeom>
          <a:solidFill>
            <a:srgbClr val="5C6E85"/>
          </a:solidFill>
          <a:ln w="12700">
            <a:solidFill>
              <a:srgbClr val="5C6E85"/>
            </a:solidFill>
            <a:prstDash val="solid"/>
          </a:ln>
        </p:spPr>
        <p:txBody>
          <a:bodyPr/>
          <a:lstStyle/>
          <a:p>
            <a:endParaRPr lang="en-IN"/>
          </a:p>
        </p:txBody>
      </p:sp>
      <p:sp>
        <p:nvSpPr>
          <p:cNvPr id="7" name="Text 5"/>
          <p:cNvSpPr/>
          <p:nvPr/>
        </p:nvSpPr>
        <p:spPr>
          <a:xfrm>
            <a:off x="548640" y="1207008"/>
            <a:ext cx="53035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Today · Texas CIN, manual delivery</a:t>
            </a:r>
            <a:endParaRPr lang="en-US" sz="1000" dirty="0"/>
          </a:p>
        </p:txBody>
      </p:sp>
      <p:sp>
        <p:nvSpPr>
          <p:cNvPr id="8" name="Text 6"/>
          <p:cNvSpPr txBox="1"/>
          <p:nvPr/>
        </p:nvSpPr>
        <p:spPr>
          <a:xfrm>
            <a:off x="594360" y="1591056"/>
            <a:ext cx="2743200" cy="384048"/>
          </a:xfrm>
          <a:prstGeom prst="rect">
            <a:avLst/>
          </a:prstGeom>
          <a:noFill/>
          <a:ln/>
        </p:spPr>
        <p:txBody>
          <a:bodyPr wrap="square" lIns="0" tIns="0" rIns="0" bIns="0" rtlCol="0" anchor="ctr"/>
          <a:lstStyle/>
          <a:p>
            <a:pPr marL="0" indent="0">
              <a:buNone/>
            </a:pPr>
            <a:r>
              <a:rPr lang="en-US" sz="2400" b="1" dirty="0">
                <a:solidFill>
                  <a:srgbClr val="12233B"/>
                </a:solidFill>
                <a:latin typeface="Trenda IG Display" pitchFamily="34" charset="0"/>
                <a:ea typeface="Trenda IG Display" pitchFamily="34" charset="-122"/>
                <a:cs typeface="Trenda IG Display" pitchFamily="34" charset="-120"/>
              </a:rPr>
              <a:t>~9 months</a:t>
            </a:r>
            <a:endParaRPr lang="en-US" sz="2400" dirty="0"/>
          </a:p>
        </p:txBody>
      </p:sp>
      <p:sp>
        <p:nvSpPr>
          <p:cNvPr id="9" name="Text 7"/>
          <p:cNvSpPr txBox="1"/>
          <p:nvPr/>
        </p:nvSpPr>
        <p:spPr>
          <a:xfrm>
            <a:off x="594360" y="1975104"/>
            <a:ext cx="4389120" cy="182880"/>
          </a:xfrm>
          <a:prstGeom prst="rect">
            <a:avLst/>
          </a:prstGeom>
          <a:noFill/>
          <a:ln/>
        </p:spPr>
        <p:txBody>
          <a:bodyPr wrap="square" lIns="0" tIns="0" rIns="0" bIns="0" rtlCol="0" anchor="ctr"/>
          <a:lstStyle/>
          <a:p>
            <a:pPr marL="0" indent="0">
              <a:buNone/>
            </a:pPr>
            <a:r>
              <a:rPr lang="en-US" sz="850" dirty="0">
                <a:solidFill>
                  <a:srgbClr val="5C6E85"/>
                </a:solidFill>
                <a:latin typeface="Trenda IG Text" pitchFamily="34" charset="0"/>
                <a:ea typeface="Trenda IG Text" pitchFamily="34" charset="-122"/>
                <a:cs typeface="Trenda IG Text" pitchFamily="34" charset="-120"/>
              </a:rPr>
              <a:t>~3 months requirements + ~6 months design and build</a:t>
            </a:r>
            <a:endParaRPr lang="en-US" sz="850" dirty="0"/>
          </a:p>
        </p:txBody>
      </p:sp>
      <p:sp>
        <p:nvSpPr>
          <p:cNvPr id="10" name="Shape 8"/>
          <p:cNvSpPr/>
          <p:nvPr/>
        </p:nvSpPr>
        <p:spPr>
          <a:xfrm>
            <a:off x="3703320" y="2359152"/>
            <a:ext cx="0" cy="2944368"/>
          </a:xfrm>
          <a:prstGeom prst="line">
            <a:avLst/>
          </a:prstGeom>
          <a:noFill/>
          <a:ln w="6350">
            <a:solidFill>
              <a:srgbClr val="C7D2DE"/>
            </a:solidFill>
            <a:prstDash val="dash"/>
          </a:ln>
        </p:spPr>
        <p:txBody>
          <a:bodyPr/>
          <a:lstStyle/>
          <a:p>
            <a:endParaRPr lang="en-IN"/>
          </a:p>
        </p:txBody>
      </p:sp>
      <p:sp>
        <p:nvSpPr>
          <p:cNvPr id="11" name="Text 9"/>
          <p:cNvSpPr txBox="1"/>
          <p:nvPr/>
        </p:nvSpPr>
        <p:spPr>
          <a:xfrm>
            <a:off x="342900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Month 0</a:t>
            </a:r>
            <a:endParaRPr lang="en-US" sz="700" dirty="0"/>
          </a:p>
        </p:txBody>
      </p:sp>
      <p:sp>
        <p:nvSpPr>
          <p:cNvPr id="12" name="Shape 10"/>
          <p:cNvSpPr/>
          <p:nvPr/>
        </p:nvSpPr>
        <p:spPr>
          <a:xfrm>
            <a:off x="4297680" y="2359152"/>
            <a:ext cx="0" cy="2944368"/>
          </a:xfrm>
          <a:prstGeom prst="line">
            <a:avLst/>
          </a:prstGeom>
          <a:noFill/>
          <a:ln w="6350">
            <a:solidFill>
              <a:srgbClr val="C7D2DE"/>
            </a:solidFill>
            <a:prstDash val="dash"/>
          </a:ln>
        </p:spPr>
        <p:txBody>
          <a:bodyPr/>
          <a:lstStyle/>
          <a:p>
            <a:endParaRPr lang="en-IN"/>
          </a:p>
        </p:txBody>
      </p:sp>
      <p:sp>
        <p:nvSpPr>
          <p:cNvPr id="13" name="Text 11"/>
          <p:cNvSpPr txBox="1"/>
          <p:nvPr/>
        </p:nvSpPr>
        <p:spPr>
          <a:xfrm>
            <a:off x="402336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Month 3</a:t>
            </a:r>
            <a:endParaRPr lang="en-US" sz="700" dirty="0"/>
          </a:p>
        </p:txBody>
      </p:sp>
      <p:sp>
        <p:nvSpPr>
          <p:cNvPr id="14" name="Shape 12"/>
          <p:cNvSpPr/>
          <p:nvPr/>
        </p:nvSpPr>
        <p:spPr>
          <a:xfrm>
            <a:off x="4892040" y="2359152"/>
            <a:ext cx="0" cy="2944368"/>
          </a:xfrm>
          <a:prstGeom prst="line">
            <a:avLst/>
          </a:prstGeom>
          <a:noFill/>
          <a:ln w="6350">
            <a:solidFill>
              <a:srgbClr val="C7D2DE"/>
            </a:solidFill>
            <a:prstDash val="dash"/>
          </a:ln>
        </p:spPr>
        <p:txBody>
          <a:bodyPr/>
          <a:lstStyle/>
          <a:p>
            <a:endParaRPr lang="en-IN"/>
          </a:p>
        </p:txBody>
      </p:sp>
      <p:sp>
        <p:nvSpPr>
          <p:cNvPr id="15" name="Text 13"/>
          <p:cNvSpPr txBox="1"/>
          <p:nvPr/>
        </p:nvSpPr>
        <p:spPr>
          <a:xfrm>
            <a:off x="461772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Month 6</a:t>
            </a:r>
            <a:endParaRPr lang="en-US" sz="700" dirty="0"/>
          </a:p>
        </p:txBody>
      </p:sp>
      <p:sp>
        <p:nvSpPr>
          <p:cNvPr id="16" name="Shape 14"/>
          <p:cNvSpPr/>
          <p:nvPr/>
        </p:nvSpPr>
        <p:spPr>
          <a:xfrm>
            <a:off x="5486400" y="2359152"/>
            <a:ext cx="0" cy="2944368"/>
          </a:xfrm>
          <a:prstGeom prst="line">
            <a:avLst/>
          </a:prstGeom>
          <a:noFill/>
          <a:ln w="6350">
            <a:solidFill>
              <a:srgbClr val="C7D2DE"/>
            </a:solidFill>
            <a:prstDash val="dash"/>
          </a:ln>
        </p:spPr>
        <p:txBody>
          <a:bodyPr/>
          <a:lstStyle/>
          <a:p>
            <a:endParaRPr lang="en-IN"/>
          </a:p>
        </p:txBody>
      </p:sp>
      <p:sp>
        <p:nvSpPr>
          <p:cNvPr id="17" name="Text 15"/>
          <p:cNvSpPr txBox="1"/>
          <p:nvPr/>
        </p:nvSpPr>
        <p:spPr>
          <a:xfrm>
            <a:off x="5212080"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Month 9</a:t>
            </a:r>
            <a:endParaRPr lang="en-US" sz="700" dirty="0"/>
          </a:p>
        </p:txBody>
      </p:sp>
      <p:sp>
        <p:nvSpPr>
          <p:cNvPr id="18" name="Shape 16"/>
          <p:cNvSpPr/>
          <p:nvPr/>
        </p:nvSpPr>
        <p:spPr>
          <a:xfrm>
            <a:off x="594360" y="2441448"/>
            <a:ext cx="201168" cy="201168"/>
          </a:xfrm>
          <a:prstGeom prst="ellipse">
            <a:avLst/>
          </a:prstGeom>
          <a:solidFill>
            <a:srgbClr val="E6EBF2"/>
          </a:solidFill>
          <a:ln w="12700">
            <a:solidFill>
              <a:srgbClr val="C7D2DE"/>
            </a:solidFill>
            <a:prstDash val="solid"/>
          </a:ln>
        </p:spPr>
        <p:txBody>
          <a:bodyPr/>
          <a:lstStyle/>
          <a:p>
            <a:endParaRPr lang="en-IN"/>
          </a:p>
        </p:txBody>
      </p:sp>
      <p:sp>
        <p:nvSpPr>
          <p:cNvPr id="19" name="Text 17"/>
          <p:cNvSpPr txBox="1"/>
          <p:nvPr/>
        </p:nvSpPr>
        <p:spPr>
          <a:xfrm>
            <a:off x="594360" y="2441448"/>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1</a:t>
            </a:r>
            <a:endParaRPr lang="en-US" sz="800" dirty="0"/>
          </a:p>
        </p:txBody>
      </p:sp>
      <p:sp>
        <p:nvSpPr>
          <p:cNvPr id="20" name="Text 18"/>
          <p:cNvSpPr txBox="1"/>
          <p:nvPr/>
        </p:nvSpPr>
        <p:spPr>
          <a:xfrm>
            <a:off x="886968" y="2395728"/>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Discovery workshops</a:t>
            </a:r>
            <a:endParaRPr lang="en-US" sz="900" dirty="0"/>
          </a:p>
        </p:txBody>
      </p:sp>
      <p:sp>
        <p:nvSpPr>
          <p:cNvPr id="21" name="Text 19"/>
          <p:cNvSpPr txBox="1"/>
          <p:nvPr/>
        </p:nvSpPr>
        <p:spPr>
          <a:xfrm>
            <a:off x="886968" y="2542032"/>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REDCap intake, Excel rosters, HubSpot, email approvals</a:t>
            </a:r>
            <a:endParaRPr lang="en-US" sz="750" dirty="0"/>
          </a:p>
        </p:txBody>
      </p:sp>
      <p:sp>
        <p:nvSpPr>
          <p:cNvPr id="22" name="Shape 20"/>
          <p:cNvSpPr/>
          <p:nvPr/>
        </p:nvSpPr>
        <p:spPr>
          <a:xfrm>
            <a:off x="3703320" y="2459736"/>
            <a:ext cx="32004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23" name="Text 21"/>
          <p:cNvSpPr txBox="1"/>
          <p:nvPr/>
        </p:nvSpPr>
        <p:spPr>
          <a:xfrm>
            <a:off x="5550408" y="2432304"/>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7w</a:t>
            </a:r>
            <a:endParaRPr lang="en-US" sz="850" dirty="0"/>
          </a:p>
        </p:txBody>
      </p:sp>
      <p:sp>
        <p:nvSpPr>
          <p:cNvPr id="24" name="Shape 22"/>
          <p:cNvSpPr/>
          <p:nvPr/>
        </p:nvSpPr>
        <p:spPr>
          <a:xfrm>
            <a:off x="594360" y="2770632"/>
            <a:ext cx="201168" cy="201168"/>
          </a:xfrm>
          <a:prstGeom prst="ellipse">
            <a:avLst/>
          </a:prstGeom>
          <a:solidFill>
            <a:srgbClr val="E6EBF2"/>
          </a:solidFill>
          <a:ln w="12700">
            <a:solidFill>
              <a:srgbClr val="C7D2DE"/>
            </a:solidFill>
            <a:prstDash val="solid"/>
          </a:ln>
        </p:spPr>
        <p:txBody>
          <a:bodyPr/>
          <a:lstStyle/>
          <a:p>
            <a:endParaRPr lang="en-IN"/>
          </a:p>
        </p:txBody>
      </p:sp>
      <p:sp>
        <p:nvSpPr>
          <p:cNvPr id="25" name="Text 23"/>
          <p:cNvSpPr txBox="1"/>
          <p:nvPr/>
        </p:nvSpPr>
        <p:spPr>
          <a:xfrm>
            <a:off x="594360" y="2770632"/>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2</a:t>
            </a:r>
            <a:endParaRPr lang="en-US" sz="800" dirty="0"/>
          </a:p>
        </p:txBody>
      </p:sp>
      <p:sp>
        <p:nvSpPr>
          <p:cNvPr id="26" name="Text 24"/>
          <p:cNvSpPr txBox="1"/>
          <p:nvPr/>
        </p:nvSpPr>
        <p:spPr>
          <a:xfrm>
            <a:off x="886968" y="2724912"/>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Requirements &amp; PRD</a:t>
            </a:r>
            <a:endParaRPr lang="en-US" sz="900" dirty="0"/>
          </a:p>
        </p:txBody>
      </p:sp>
      <p:sp>
        <p:nvSpPr>
          <p:cNvPr id="27" name="Text 25"/>
          <p:cNvSpPr txBox="1"/>
          <p:nvPr/>
        </p:nvSpPr>
        <p:spPr>
          <a:xfrm>
            <a:off x="886968" y="2871216"/>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4 phases, MVP, M&amp;C / Board flow, payer roster rules</a:t>
            </a:r>
            <a:endParaRPr lang="en-US" sz="750" dirty="0"/>
          </a:p>
        </p:txBody>
      </p:sp>
      <p:sp>
        <p:nvSpPr>
          <p:cNvPr id="28" name="Shape 26"/>
          <p:cNvSpPr/>
          <p:nvPr/>
        </p:nvSpPr>
        <p:spPr>
          <a:xfrm>
            <a:off x="4023360" y="2788920"/>
            <a:ext cx="27432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29" name="Text 27"/>
          <p:cNvSpPr txBox="1"/>
          <p:nvPr/>
        </p:nvSpPr>
        <p:spPr>
          <a:xfrm>
            <a:off x="5550408" y="2761488"/>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6w</a:t>
            </a:r>
            <a:endParaRPr lang="en-US" sz="850" dirty="0"/>
          </a:p>
        </p:txBody>
      </p:sp>
      <p:sp>
        <p:nvSpPr>
          <p:cNvPr id="30" name="Shape 28"/>
          <p:cNvSpPr/>
          <p:nvPr/>
        </p:nvSpPr>
        <p:spPr>
          <a:xfrm>
            <a:off x="594360" y="3099816"/>
            <a:ext cx="201168" cy="201168"/>
          </a:xfrm>
          <a:prstGeom prst="ellipse">
            <a:avLst/>
          </a:prstGeom>
          <a:solidFill>
            <a:srgbClr val="E6EBF2"/>
          </a:solidFill>
          <a:ln w="12700">
            <a:solidFill>
              <a:srgbClr val="C7D2DE"/>
            </a:solidFill>
            <a:prstDash val="solid"/>
          </a:ln>
        </p:spPr>
        <p:txBody>
          <a:bodyPr/>
          <a:lstStyle/>
          <a:p>
            <a:endParaRPr lang="en-IN"/>
          </a:p>
        </p:txBody>
      </p:sp>
      <p:sp>
        <p:nvSpPr>
          <p:cNvPr id="31" name="Text 29"/>
          <p:cNvSpPr txBox="1"/>
          <p:nvPr/>
        </p:nvSpPr>
        <p:spPr>
          <a:xfrm>
            <a:off x="594360" y="3099816"/>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3</a:t>
            </a:r>
            <a:endParaRPr lang="en-US" sz="800" dirty="0"/>
          </a:p>
        </p:txBody>
      </p:sp>
      <p:sp>
        <p:nvSpPr>
          <p:cNvPr id="32" name="Text 30"/>
          <p:cNvSpPr txBox="1"/>
          <p:nvPr/>
        </p:nvSpPr>
        <p:spPr>
          <a:xfrm>
            <a:off x="886968" y="3054096"/>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Data mapping</a:t>
            </a:r>
            <a:endParaRPr lang="en-US" sz="900" dirty="0"/>
          </a:p>
        </p:txBody>
      </p:sp>
      <p:sp>
        <p:nvSpPr>
          <p:cNvPr id="33" name="Text 31"/>
          <p:cNvSpPr txBox="1"/>
          <p:nvPr/>
        </p:nvSpPr>
        <p:spPr>
          <a:xfrm>
            <a:off x="886968" y="3200400"/>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Texas Excel / REDCap to Enterprise objects, TIN level</a:t>
            </a:r>
            <a:endParaRPr lang="en-US" sz="750" dirty="0"/>
          </a:p>
        </p:txBody>
      </p:sp>
      <p:sp>
        <p:nvSpPr>
          <p:cNvPr id="34" name="Shape 32"/>
          <p:cNvSpPr/>
          <p:nvPr/>
        </p:nvSpPr>
        <p:spPr>
          <a:xfrm>
            <a:off x="4297680" y="3118104"/>
            <a:ext cx="18288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35" name="Text 33"/>
          <p:cNvSpPr txBox="1"/>
          <p:nvPr/>
        </p:nvSpPr>
        <p:spPr>
          <a:xfrm>
            <a:off x="5550408" y="3090672"/>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4w</a:t>
            </a:r>
            <a:endParaRPr lang="en-US" sz="850" dirty="0"/>
          </a:p>
        </p:txBody>
      </p:sp>
      <p:sp>
        <p:nvSpPr>
          <p:cNvPr id="36" name="Shape 34"/>
          <p:cNvSpPr/>
          <p:nvPr/>
        </p:nvSpPr>
        <p:spPr>
          <a:xfrm>
            <a:off x="594360" y="3429000"/>
            <a:ext cx="201168" cy="201168"/>
          </a:xfrm>
          <a:prstGeom prst="ellipse">
            <a:avLst/>
          </a:prstGeom>
          <a:solidFill>
            <a:srgbClr val="E6EBF2"/>
          </a:solidFill>
          <a:ln w="12700">
            <a:solidFill>
              <a:srgbClr val="C7D2DE"/>
            </a:solidFill>
            <a:prstDash val="solid"/>
          </a:ln>
        </p:spPr>
        <p:txBody>
          <a:bodyPr/>
          <a:lstStyle/>
          <a:p>
            <a:endParaRPr lang="en-IN"/>
          </a:p>
        </p:txBody>
      </p:sp>
      <p:sp>
        <p:nvSpPr>
          <p:cNvPr id="37" name="Text 35"/>
          <p:cNvSpPr txBox="1"/>
          <p:nvPr/>
        </p:nvSpPr>
        <p:spPr>
          <a:xfrm>
            <a:off x="594360" y="3429000"/>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4</a:t>
            </a:r>
            <a:endParaRPr lang="en-US" sz="800" dirty="0"/>
          </a:p>
        </p:txBody>
      </p:sp>
      <p:sp>
        <p:nvSpPr>
          <p:cNvPr id="38" name="Text 36"/>
          <p:cNvSpPr txBox="1"/>
          <p:nvPr/>
        </p:nvSpPr>
        <p:spPr>
          <a:xfrm>
            <a:off x="886968" y="3383280"/>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Solution design</a:t>
            </a:r>
            <a:endParaRPr lang="en-US" sz="900" dirty="0"/>
          </a:p>
        </p:txBody>
      </p:sp>
      <p:sp>
        <p:nvSpPr>
          <p:cNvPr id="39" name="Text 37"/>
          <p:cNvSpPr txBox="1"/>
          <p:nvPr/>
        </p:nvSpPr>
        <p:spPr>
          <a:xfrm>
            <a:off x="886968" y="3529584"/>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Shell Account, TX-CIN record type, sharing, cascade</a:t>
            </a:r>
            <a:endParaRPr lang="en-US" sz="750" dirty="0"/>
          </a:p>
        </p:txBody>
      </p:sp>
      <p:sp>
        <p:nvSpPr>
          <p:cNvPr id="40" name="Shape 38"/>
          <p:cNvSpPr/>
          <p:nvPr/>
        </p:nvSpPr>
        <p:spPr>
          <a:xfrm>
            <a:off x="4480560" y="3447288"/>
            <a:ext cx="18288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41" name="Text 39"/>
          <p:cNvSpPr txBox="1"/>
          <p:nvPr/>
        </p:nvSpPr>
        <p:spPr>
          <a:xfrm>
            <a:off x="5550408" y="3419856"/>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4w</a:t>
            </a:r>
            <a:endParaRPr lang="en-US" sz="850" dirty="0"/>
          </a:p>
        </p:txBody>
      </p:sp>
      <p:sp>
        <p:nvSpPr>
          <p:cNvPr id="42" name="Shape 40"/>
          <p:cNvSpPr/>
          <p:nvPr/>
        </p:nvSpPr>
        <p:spPr>
          <a:xfrm>
            <a:off x="594360" y="3758184"/>
            <a:ext cx="201168" cy="201168"/>
          </a:xfrm>
          <a:prstGeom prst="ellipse">
            <a:avLst/>
          </a:prstGeom>
          <a:solidFill>
            <a:srgbClr val="E6EBF2"/>
          </a:solidFill>
          <a:ln w="12700">
            <a:solidFill>
              <a:srgbClr val="C7D2DE"/>
            </a:solidFill>
            <a:prstDash val="solid"/>
          </a:ln>
        </p:spPr>
        <p:txBody>
          <a:bodyPr/>
          <a:lstStyle/>
          <a:p>
            <a:endParaRPr lang="en-IN"/>
          </a:p>
        </p:txBody>
      </p:sp>
      <p:sp>
        <p:nvSpPr>
          <p:cNvPr id="43" name="Text 41"/>
          <p:cNvSpPr txBox="1"/>
          <p:nvPr/>
        </p:nvSpPr>
        <p:spPr>
          <a:xfrm>
            <a:off x="594360" y="3758184"/>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5</a:t>
            </a:r>
            <a:endParaRPr lang="en-US" sz="800" dirty="0"/>
          </a:p>
        </p:txBody>
      </p:sp>
      <p:sp>
        <p:nvSpPr>
          <p:cNvPr id="44" name="Text 42"/>
          <p:cNvSpPr txBox="1"/>
          <p:nvPr/>
        </p:nvSpPr>
        <p:spPr>
          <a:xfrm>
            <a:off x="886968" y="3712464"/>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Security &amp; access build</a:t>
            </a:r>
            <a:endParaRPr lang="en-US" sz="900" dirty="0"/>
          </a:p>
        </p:txBody>
      </p:sp>
      <p:sp>
        <p:nvSpPr>
          <p:cNvPr id="45" name="Text 43"/>
          <p:cNvSpPr txBox="1"/>
          <p:nvPr/>
        </p:nvSpPr>
        <p:spPr>
          <a:xfrm>
            <a:off x="886968" y="3858768"/>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NS Market field, public groups, 6 permission sets</a:t>
            </a:r>
            <a:endParaRPr lang="en-US" sz="750" dirty="0"/>
          </a:p>
        </p:txBody>
      </p:sp>
      <p:sp>
        <p:nvSpPr>
          <p:cNvPr id="46" name="Shape 44"/>
          <p:cNvSpPr/>
          <p:nvPr/>
        </p:nvSpPr>
        <p:spPr>
          <a:xfrm>
            <a:off x="4663440" y="3776472"/>
            <a:ext cx="137160" cy="155448"/>
          </a:xfrm>
          <a:prstGeom prst="roundRect">
            <a:avLst>
              <a:gd name="adj" fmla="val 33333"/>
            </a:avLst>
          </a:prstGeom>
          <a:solidFill>
            <a:srgbClr val="9AA9BC"/>
          </a:solidFill>
          <a:ln w="12700">
            <a:solidFill>
              <a:srgbClr val="9AA9BC"/>
            </a:solidFill>
            <a:prstDash val="solid"/>
          </a:ln>
        </p:spPr>
        <p:txBody>
          <a:bodyPr/>
          <a:lstStyle/>
          <a:p>
            <a:endParaRPr lang="en-IN"/>
          </a:p>
        </p:txBody>
      </p:sp>
      <p:sp>
        <p:nvSpPr>
          <p:cNvPr id="47" name="Text 45"/>
          <p:cNvSpPr txBox="1"/>
          <p:nvPr/>
        </p:nvSpPr>
        <p:spPr>
          <a:xfrm>
            <a:off x="5550408" y="3749040"/>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3w</a:t>
            </a:r>
            <a:endParaRPr lang="en-US" sz="850" dirty="0"/>
          </a:p>
        </p:txBody>
      </p:sp>
      <p:sp>
        <p:nvSpPr>
          <p:cNvPr id="48" name="Shape 46"/>
          <p:cNvSpPr/>
          <p:nvPr/>
        </p:nvSpPr>
        <p:spPr>
          <a:xfrm>
            <a:off x="594360" y="4087368"/>
            <a:ext cx="201168" cy="201168"/>
          </a:xfrm>
          <a:prstGeom prst="ellipse">
            <a:avLst/>
          </a:prstGeom>
          <a:solidFill>
            <a:srgbClr val="E6EBF2"/>
          </a:solidFill>
          <a:ln w="12700">
            <a:solidFill>
              <a:srgbClr val="C7D2DE"/>
            </a:solidFill>
            <a:prstDash val="solid"/>
          </a:ln>
        </p:spPr>
        <p:txBody>
          <a:bodyPr/>
          <a:lstStyle/>
          <a:p>
            <a:endParaRPr lang="en-IN"/>
          </a:p>
        </p:txBody>
      </p:sp>
      <p:sp>
        <p:nvSpPr>
          <p:cNvPr id="49" name="Text 47"/>
          <p:cNvSpPr txBox="1"/>
          <p:nvPr/>
        </p:nvSpPr>
        <p:spPr>
          <a:xfrm>
            <a:off x="594360" y="4087368"/>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6</a:t>
            </a:r>
            <a:endParaRPr lang="en-US" sz="800" dirty="0"/>
          </a:p>
        </p:txBody>
      </p:sp>
      <p:sp>
        <p:nvSpPr>
          <p:cNvPr id="50" name="Text 48"/>
          <p:cNvSpPr txBox="1"/>
          <p:nvPr/>
        </p:nvSpPr>
        <p:spPr>
          <a:xfrm>
            <a:off x="886968" y="4041648"/>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Automation build</a:t>
            </a:r>
            <a:endParaRPr lang="en-US" sz="900" dirty="0"/>
          </a:p>
        </p:txBody>
      </p:sp>
      <p:sp>
        <p:nvSpPr>
          <p:cNvPr id="51" name="Text 49"/>
          <p:cNvSpPr txBox="1"/>
          <p:nvPr/>
        </p:nvSpPr>
        <p:spPr>
          <a:xfrm>
            <a:off x="886968" y="4187952"/>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Lead conversion, cascade from child account, HFN / CPA</a:t>
            </a:r>
            <a:endParaRPr lang="en-US" sz="750" dirty="0"/>
          </a:p>
        </p:txBody>
      </p:sp>
      <p:sp>
        <p:nvSpPr>
          <p:cNvPr id="52" name="Shape 50"/>
          <p:cNvSpPr/>
          <p:nvPr/>
        </p:nvSpPr>
        <p:spPr>
          <a:xfrm>
            <a:off x="4800600" y="4105656"/>
            <a:ext cx="27432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53" name="Text 51"/>
          <p:cNvSpPr txBox="1"/>
          <p:nvPr/>
        </p:nvSpPr>
        <p:spPr>
          <a:xfrm>
            <a:off x="5550408" y="4078224"/>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6w</a:t>
            </a:r>
            <a:endParaRPr lang="en-US" sz="850" dirty="0"/>
          </a:p>
        </p:txBody>
      </p:sp>
      <p:sp>
        <p:nvSpPr>
          <p:cNvPr id="54" name="Shape 52"/>
          <p:cNvSpPr/>
          <p:nvPr/>
        </p:nvSpPr>
        <p:spPr>
          <a:xfrm>
            <a:off x="594360" y="4416552"/>
            <a:ext cx="201168" cy="201168"/>
          </a:xfrm>
          <a:prstGeom prst="ellipse">
            <a:avLst/>
          </a:prstGeom>
          <a:solidFill>
            <a:srgbClr val="E6EBF2"/>
          </a:solidFill>
          <a:ln w="12700">
            <a:solidFill>
              <a:srgbClr val="C7D2DE"/>
            </a:solidFill>
            <a:prstDash val="solid"/>
          </a:ln>
        </p:spPr>
        <p:txBody>
          <a:bodyPr/>
          <a:lstStyle/>
          <a:p>
            <a:endParaRPr lang="en-IN"/>
          </a:p>
        </p:txBody>
      </p:sp>
      <p:sp>
        <p:nvSpPr>
          <p:cNvPr id="55" name="Text 53"/>
          <p:cNvSpPr txBox="1"/>
          <p:nvPr/>
        </p:nvSpPr>
        <p:spPr>
          <a:xfrm>
            <a:off x="594360" y="4416552"/>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7</a:t>
            </a:r>
            <a:endParaRPr lang="en-US" sz="800" dirty="0"/>
          </a:p>
        </p:txBody>
      </p:sp>
      <p:sp>
        <p:nvSpPr>
          <p:cNvPr id="56" name="Text 54"/>
          <p:cNvSpPr txBox="1"/>
          <p:nvPr/>
        </p:nvSpPr>
        <p:spPr>
          <a:xfrm>
            <a:off x="886968" y="4370832"/>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Contracting &amp; documents</a:t>
            </a:r>
            <a:endParaRPr lang="en-US" sz="900" dirty="0"/>
          </a:p>
        </p:txBody>
      </p:sp>
      <p:sp>
        <p:nvSpPr>
          <p:cNvPr id="57" name="Text 55"/>
          <p:cNvSpPr txBox="1"/>
          <p:nvPr/>
        </p:nvSpPr>
        <p:spPr>
          <a:xfrm>
            <a:off x="886968" y="4517136"/>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DocuSign templates, TIN-level CPA, approvals</a:t>
            </a:r>
            <a:endParaRPr lang="en-US" sz="750" dirty="0"/>
          </a:p>
        </p:txBody>
      </p:sp>
      <p:sp>
        <p:nvSpPr>
          <p:cNvPr id="58" name="Shape 56"/>
          <p:cNvSpPr/>
          <p:nvPr/>
        </p:nvSpPr>
        <p:spPr>
          <a:xfrm>
            <a:off x="5074920" y="4434840"/>
            <a:ext cx="91440" cy="155448"/>
          </a:xfrm>
          <a:prstGeom prst="roundRect">
            <a:avLst>
              <a:gd name="adj" fmla="val 50000"/>
            </a:avLst>
          </a:prstGeom>
          <a:solidFill>
            <a:srgbClr val="9AA9BC"/>
          </a:solidFill>
          <a:ln w="12700">
            <a:solidFill>
              <a:srgbClr val="9AA9BC"/>
            </a:solidFill>
            <a:prstDash val="solid"/>
          </a:ln>
        </p:spPr>
        <p:txBody>
          <a:bodyPr/>
          <a:lstStyle/>
          <a:p>
            <a:endParaRPr lang="en-IN"/>
          </a:p>
        </p:txBody>
      </p:sp>
      <p:sp>
        <p:nvSpPr>
          <p:cNvPr id="59" name="Text 57"/>
          <p:cNvSpPr txBox="1"/>
          <p:nvPr/>
        </p:nvSpPr>
        <p:spPr>
          <a:xfrm>
            <a:off x="5550408" y="4407408"/>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2w</a:t>
            </a:r>
            <a:endParaRPr lang="en-US" sz="850" dirty="0"/>
          </a:p>
        </p:txBody>
      </p:sp>
      <p:sp>
        <p:nvSpPr>
          <p:cNvPr id="60" name="Shape 58"/>
          <p:cNvSpPr/>
          <p:nvPr/>
        </p:nvSpPr>
        <p:spPr>
          <a:xfrm>
            <a:off x="594360" y="4745736"/>
            <a:ext cx="201168" cy="201168"/>
          </a:xfrm>
          <a:prstGeom prst="ellipse">
            <a:avLst/>
          </a:prstGeom>
          <a:solidFill>
            <a:srgbClr val="E6EBF2"/>
          </a:solidFill>
          <a:ln w="12700">
            <a:solidFill>
              <a:srgbClr val="C7D2DE"/>
            </a:solidFill>
            <a:prstDash val="solid"/>
          </a:ln>
        </p:spPr>
        <p:txBody>
          <a:bodyPr/>
          <a:lstStyle/>
          <a:p>
            <a:endParaRPr lang="en-IN"/>
          </a:p>
        </p:txBody>
      </p:sp>
      <p:sp>
        <p:nvSpPr>
          <p:cNvPr id="61" name="Text 59"/>
          <p:cNvSpPr txBox="1"/>
          <p:nvPr/>
        </p:nvSpPr>
        <p:spPr>
          <a:xfrm>
            <a:off x="594360" y="4745736"/>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8</a:t>
            </a:r>
            <a:endParaRPr lang="en-US" sz="800" dirty="0"/>
          </a:p>
        </p:txBody>
      </p:sp>
      <p:sp>
        <p:nvSpPr>
          <p:cNvPr id="62" name="Text 60"/>
          <p:cNvSpPr txBox="1"/>
          <p:nvPr/>
        </p:nvSpPr>
        <p:spPr>
          <a:xfrm>
            <a:off x="886968" y="4700016"/>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Data migration &amp; UAT</a:t>
            </a:r>
            <a:endParaRPr lang="en-US" sz="900" dirty="0"/>
          </a:p>
        </p:txBody>
      </p:sp>
      <p:sp>
        <p:nvSpPr>
          <p:cNvPr id="63" name="Text 61"/>
          <p:cNvSpPr txBox="1"/>
          <p:nvPr/>
        </p:nvSpPr>
        <p:spPr>
          <a:xfrm>
            <a:off x="886968" y="4846320"/>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Load and reconcile data, National regression, UAT</a:t>
            </a:r>
            <a:endParaRPr lang="en-US" sz="750" dirty="0"/>
          </a:p>
        </p:txBody>
      </p:sp>
      <p:sp>
        <p:nvSpPr>
          <p:cNvPr id="64" name="Shape 62"/>
          <p:cNvSpPr/>
          <p:nvPr/>
        </p:nvSpPr>
        <p:spPr>
          <a:xfrm>
            <a:off x="5166360" y="4764024"/>
            <a:ext cx="228600" cy="155448"/>
          </a:xfrm>
          <a:prstGeom prst="roundRect">
            <a:avLst>
              <a:gd name="adj" fmla="val 29412"/>
            </a:avLst>
          </a:prstGeom>
          <a:solidFill>
            <a:srgbClr val="9AA9BC"/>
          </a:solidFill>
          <a:ln w="12700">
            <a:solidFill>
              <a:srgbClr val="9AA9BC"/>
            </a:solidFill>
            <a:prstDash val="solid"/>
          </a:ln>
        </p:spPr>
        <p:txBody>
          <a:bodyPr/>
          <a:lstStyle/>
          <a:p>
            <a:endParaRPr lang="en-IN"/>
          </a:p>
        </p:txBody>
      </p:sp>
      <p:sp>
        <p:nvSpPr>
          <p:cNvPr id="65" name="Text 63"/>
          <p:cNvSpPr txBox="1"/>
          <p:nvPr/>
        </p:nvSpPr>
        <p:spPr>
          <a:xfrm>
            <a:off x="5550408" y="4736592"/>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5w</a:t>
            </a:r>
            <a:endParaRPr lang="en-US" sz="850" dirty="0"/>
          </a:p>
        </p:txBody>
      </p:sp>
      <p:sp>
        <p:nvSpPr>
          <p:cNvPr id="66" name="Shape 64"/>
          <p:cNvSpPr/>
          <p:nvPr/>
        </p:nvSpPr>
        <p:spPr>
          <a:xfrm>
            <a:off x="594360" y="5074920"/>
            <a:ext cx="201168" cy="201168"/>
          </a:xfrm>
          <a:prstGeom prst="ellipse">
            <a:avLst/>
          </a:prstGeom>
          <a:solidFill>
            <a:srgbClr val="E6EBF2"/>
          </a:solidFill>
          <a:ln w="12700">
            <a:solidFill>
              <a:srgbClr val="C7D2DE"/>
            </a:solidFill>
            <a:prstDash val="solid"/>
          </a:ln>
        </p:spPr>
        <p:txBody>
          <a:bodyPr/>
          <a:lstStyle/>
          <a:p>
            <a:endParaRPr lang="en-IN"/>
          </a:p>
        </p:txBody>
      </p:sp>
      <p:sp>
        <p:nvSpPr>
          <p:cNvPr id="67" name="Text 65"/>
          <p:cNvSpPr txBox="1"/>
          <p:nvPr/>
        </p:nvSpPr>
        <p:spPr>
          <a:xfrm>
            <a:off x="594360" y="5074920"/>
            <a:ext cx="201168" cy="201168"/>
          </a:xfrm>
          <a:prstGeom prst="rect">
            <a:avLst/>
          </a:prstGeom>
          <a:noFill/>
          <a:ln/>
        </p:spPr>
        <p:txBody>
          <a:bodyPr wrap="square" lIns="0" tIns="0" rIns="0" bIns="0" rtlCol="0" anchor="ctr"/>
          <a:lstStyle/>
          <a:p>
            <a:pPr marL="0" indent="0" algn="ctr">
              <a:buNone/>
            </a:pPr>
            <a:r>
              <a:rPr lang="en-US" sz="800" b="1" dirty="0">
                <a:solidFill>
                  <a:srgbClr val="5C6E85"/>
                </a:solidFill>
                <a:latin typeface="Trenda IG Text" pitchFamily="34" charset="0"/>
                <a:ea typeface="Trenda IG Text" pitchFamily="34" charset="-122"/>
                <a:cs typeface="Trenda IG Text" pitchFamily="34" charset="-120"/>
              </a:rPr>
              <a:t>9</a:t>
            </a:r>
            <a:endParaRPr lang="en-US" sz="800" dirty="0"/>
          </a:p>
        </p:txBody>
      </p:sp>
      <p:sp>
        <p:nvSpPr>
          <p:cNvPr id="68" name="Text 66"/>
          <p:cNvSpPr txBox="1"/>
          <p:nvPr/>
        </p:nvSpPr>
        <p:spPr>
          <a:xfrm>
            <a:off x="886968" y="5029200"/>
            <a:ext cx="274320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Deploy &amp; go-live</a:t>
            </a:r>
            <a:endParaRPr lang="en-US" sz="900" dirty="0"/>
          </a:p>
        </p:txBody>
      </p:sp>
      <p:sp>
        <p:nvSpPr>
          <p:cNvPr id="69" name="Text 67"/>
          <p:cNvSpPr txBox="1"/>
          <p:nvPr/>
        </p:nvSpPr>
        <p:spPr>
          <a:xfrm>
            <a:off x="886968" y="5175504"/>
            <a:ext cx="274320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Copado release, access assignment, training, hypercare</a:t>
            </a:r>
            <a:endParaRPr lang="en-US" sz="750" dirty="0"/>
          </a:p>
        </p:txBody>
      </p:sp>
      <p:sp>
        <p:nvSpPr>
          <p:cNvPr id="70" name="Shape 68"/>
          <p:cNvSpPr/>
          <p:nvPr/>
        </p:nvSpPr>
        <p:spPr>
          <a:xfrm>
            <a:off x="5394960" y="5093208"/>
            <a:ext cx="91440" cy="155448"/>
          </a:xfrm>
          <a:prstGeom prst="roundRect">
            <a:avLst>
              <a:gd name="adj" fmla="val 50000"/>
            </a:avLst>
          </a:prstGeom>
          <a:solidFill>
            <a:srgbClr val="9AA9BC"/>
          </a:solidFill>
          <a:ln w="12700">
            <a:solidFill>
              <a:srgbClr val="9AA9BC"/>
            </a:solidFill>
            <a:prstDash val="solid"/>
          </a:ln>
        </p:spPr>
        <p:txBody>
          <a:bodyPr/>
          <a:lstStyle/>
          <a:p>
            <a:endParaRPr lang="en-IN"/>
          </a:p>
        </p:txBody>
      </p:sp>
      <p:sp>
        <p:nvSpPr>
          <p:cNvPr id="71" name="Text 69"/>
          <p:cNvSpPr txBox="1"/>
          <p:nvPr/>
        </p:nvSpPr>
        <p:spPr>
          <a:xfrm>
            <a:off x="5550408" y="5065776"/>
            <a:ext cx="384048" cy="201168"/>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2w</a:t>
            </a:r>
            <a:endParaRPr lang="en-US" sz="850" dirty="0"/>
          </a:p>
        </p:txBody>
      </p:sp>
      <p:sp>
        <p:nvSpPr>
          <p:cNvPr id="72" name="Shape 70"/>
          <p:cNvSpPr/>
          <p:nvPr/>
        </p:nvSpPr>
        <p:spPr>
          <a:xfrm>
            <a:off x="6199632" y="1207008"/>
            <a:ext cx="5577840" cy="4279392"/>
          </a:xfrm>
          <a:prstGeom prst="rect">
            <a:avLst/>
          </a:prstGeom>
          <a:solidFill>
            <a:srgbClr val="FFFFFF"/>
          </a:solidFill>
          <a:ln w="9525">
            <a:solidFill>
              <a:srgbClr val="DCE4EE"/>
            </a:solidFill>
            <a:prstDash val="solid"/>
          </a:ln>
        </p:spPr>
        <p:txBody>
          <a:bodyPr/>
          <a:lstStyle/>
          <a:p>
            <a:endParaRPr lang="en-IN"/>
          </a:p>
        </p:txBody>
      </p:sp>
      <p:sp>
        <p:nvSpPr>
          <p:cNvPr id="73" name="Shape 71"/>
          <p:cNvSpPr/>
          <p:nvPr/>
        </p:nvSpPr>
        <p:spPr>
          <a:xfrm>
            <a:off x="6199632" y="1207008"/>
            <a:ext cx="5577840" cy="310896"/>
          </a:xfrm>
          <a:prstGeom prst="rect">
            <a:avLst/>
          </a:prstGeom>
          <a:solidFill>
            <a:srgbClr val="00757F"/>
          </a:solidFill>
          <a:ln w="12700">
            <a:solidFill>
              <a:srgbClr val="00757F"/>
            </a:solidFill>
            <a:prstDash val="solid"/>
          </a:ln>
        </p:spPr>
        <p:txBody>
          <a:bodyPr/>
          <a:lstStyle/>
          <a:p>
            <a:endParaRPr lang="en-IN"/>
          </a:p>
        </p:txBody>
      </p:sp>
      <p:sp>
        <p:nvSpPr>
          <p:cNvPr id="74" name="Text 72"/>
          <p:cNvSpPr/>
          <p:nvPr/>
        </p:nvSpPr>
        <p:spPr>
          <a:xfrm>
            <a:off x="6336792" y="1207008"/>
            <a:ext cx="530352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Proposed · knowledge-graph AI multi-agent delivery (MAD)</a:t>
            </a:r>
            <a:endParaRPr lang="en-US" sz="1000" dirty="0"/>
          </a:p>
        </p:txBody>
      </p:sp>
      <p:sp>
        <p:nvSpPr>
          <p:cNvPr id="75" name="Text 73"/>
          <p:cNvSpPr txBox="1"/>
          <p:nvPr/>
        </p:nvSpPr>
        <p:spPr>
          <a:xfrm>
            <a:off x="6382512" y="1591056"/>
            <a:ext cx="2743200" cy="384048"/>
          </a:xfrm>
          <a:prstGeom prst="rect">
            <a:avLst/>
          </a:prstGeom>
          <a:noFill/>
          <a:ln/>
        </p:spPr>
        <p:txBody>
          <a:bodyPr wrap="square" lIns="0" tIns="0" rIns="0" bIns="0" rtlCol="0" anchor="ctr"/>
          <a:lstStyle/>
          <a:p>
            <a:pPr marL="0" indent="0">
              <a:buNone/>
            </a:pPr>
            <a:r>
              <a:rPr lang="en-US" sz="2400" b="1" dirty="0">
                <a:solidFill>
                  <a:srgbClr val="00757F"/>
                </a:solidFill>
                <a:latin typeface="Trenda IG Display" pitchFamily="34" charset="0"/>
                <a:ea typeface="Trenda IG Display" pitchFamily="34" charset="-122"/>
                <a:cs typeface="Trenda IG Display" pitchFamily="34" charset="-120"/>
              </a:rPr>
              <a:t>10-12 weeks</a:t>
            </a:r>
            <a:endParaRPr lang="en-US" sz="2400" dirty="0"/>
          </a:p>
        </p:txBody>
      </p:sp>
      <p:sp>
        <p:nvSpPr>
          <p:cNvPr id="76" name="Text 74"/>
          <p:cNvSpPr txBox="1"/>
          <p:nvPr/>
        </p:nvSpPr>
        <p:spPr>
          <a:xfrm>
            <a:off x="6382512" y="1975104"/>
            <a:ext cx="4389120" cy="182880"/>
          </a:xfrm>
          <a:prstGeom prst="rect">
            <a:avLst/>
          </a:prstGeom>
          <a:noFill/>
          <a:ln/>
        </p:spPr>
        <p:txBody>
          <a:bodyPr wrap="square" lIns="0" tIns="0" rIns="0" bIns="0" rtlCol="0" anchor="ctr"/>
          <a:lstStyle/>
          <a:p>
            <a:pPr marL="0" indent="0">
              <a:buNone/>
            </a:pPr>
            <a:r>
              <a:rPr lang="en-US" sz="850" dirty="0">
                <a:solidFill>
                  <a:srgbClr val="5C6E85"/>
                </a:solidFill>
                <a:latin typeface="Trenda IG Text" pitchFamily="34" charset="0"/>
                <a:ea typeface="Trenda IG Text" pitchFamily="34" charset="-122"/>
                <a:cs typeface="Trenda IG Text" pitchFamily="34" charset="-120"/>
              </a:rPr>
              <a:t>~12-week critical path; build and review run in parallel</a:t>
            </a:r>
            <a:endParaRPr lang="en-US" sz="850" dirty="0"/>
          </a:p>
        </p:txBody>
      </p:sp>
      <p:sp>
        <p:nvSpPr>
          <p:cNvPr id="77" name="Text 75"/>
          <p:cNvSpPr/>
          <p:nvPr/>
        </p:nvSpPr>
        <p:spPr>
          <a:xfrm>
            <a:off x="9445752" y="1664208"/>
            <a:ext cx="2148840" cy="237744"/>
          </a:xfrm>
          <a:prstGeom prst="roundRect">
            <a:avLst>
              <a:gd name="adj" fmla="val 38462"/>
            </a:avLst>
          </a:prstGeom>
          <a:solidFill>
            <a:srgbClr val="E3F2F4"/>
          </a:solidFill>
          <a:ln w="9525">
            <a:solidFill>
              <a:srgbClr val="00757F"/>
            </a:solidFill>
          </a:ln>
        </p:spPr>
        <p:txBody>
          <a:bodyPr wrap="square" lIns="0" tIns="0" rIns="0" bIns="0" rtlCol="0" anchor="ctr"/>
          <a:lstStyle/>
          <a:p>
            <a:pPr marL="0" indent="0" algn="ctr">
              <a:buNone/>
            </a:pPr>
            <a:r>
              <a:rPr lang="en-US" sz="750" b="1" kern="0" spc="100" dirty="0">
                <a:solidFill>
                  <a:srgbClr val="00757F"/>
                </a:solidFill>
                <a:latin typeface="Trenda IG Text" pitchFamily="34" charset="0"/>
                <a:ea typeface="Trenda IG Text" pitchFamily="34" charset="-122"/>
                <a:cs typeface="Trenda IG Text" pitchFamily="34" charset="-120"/>
              </a:rPr>
              <a:t>HEALTH CLOUD SKILLS</a:t>
            </a:r>
            <a:endParaRPr lang="en-US" sz="750" dirty="0"/>
          </a:p>
        </p:txBody>
      </p:sp>
      <p:sp>
        <p:nvSpPr>
          <p:cNvPr id="78" name="Shape 76"/>
          <p:cNvSpPr/>
          <p:nvPr/>
        </p:nvSpPr>
        <p:spPr>
          <a:xfrm>
            <a:off x="10040112" y="2359152"/>
            <a:ext cx="0" cy="2945282"/>
          </a:xfrm>
          <a:prstGeom prst="line">
            <a:avLst/>
          </a:prstGeom>
          <a:noFill/>
          <a:ln w="6350">
            <a:solidFill>
              <a:srgbClr val="C7D2DE"/>
            </a:solidFill>
            <a:prstDash val="dash"/>
          </a:ln>
        </p:spPr>
        <p:txBody>
          <a:bodyPr/>
          <a:lstStyle/>
          <a:p>
            <a:endParaRPr lang="en-IN"/>
          </a:p>
        </p:txBody>
      </p:sp>
      <p:sp>
        <p:nvSpPr>
          <p:cNvPr id="79" name="Text 77"/>
          <p:cNvSpPr txBox="1"/>
          <p:nvPr/>
        </p:nvSpPr>
        <p:spPr>
          <a:xfrm>
            <a:off x="976579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Week 0</a:t>
            </a:r>
            <a:endParaRPr lang="en-US" sz="700" dirty="0"/>
          </a:p>
        </p:txBody>
      </p:sp>
      <p:sp>
        <p:nvSpPr>
          <p:cNvPr id="80" name="Shape 78"/>
          <p:cNvSpPr/>
          <p:nvPr/>
        </p:nvSpPr>
        <p:spPr>
          <a:xfrm>
            <a:off x="10436352" y="2359152"/>
            <a:ext cx="0" cy="2945282"/>
          </a:xfrm>
          <a:prstGeom prst="line">
            <a:avLst/>
          </a:prstGeom>
          <a:noFill/>
          <a:ln w="6350">
            <a:solidFill>
              <a:srgbClr val="C7D2DE"/>
            </a:solidFill>
            <a:prstDash val="dash"/>
          </a:ln>
        </p:spPr>
        <p:txBody>
          <a:bodyPr/>
          <a:lstStyle/>
          <a:p>
            <a:endParaRPr lang="en-IN"/>
          </a:p>
        </p:txBody>
      </p:sp>
      <p:sp>
        <p:nvSpPr>
          <p:cNvPr id="81" name="Text 79"/>
          <p:cNvSpPr txBox="1"/>
          <p:nvPr/>
        </p:nvSpPr>
        <p:spPr>
          <a:xfrm>
            <a:off x="1016203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4</a:t>
            </a:r>
            <a:endParaRPr lang="en-US" sz="700" dirty="0"/>
          </a:p>
        </p:txBody>
      </p:sp>
      <p:sp>
        <p:nvSpPr>
          <p:cNvPr id="82" name="Shape 80"/>
          <p:cNvSpPr/>
          <p:nvPr/>
        </p:nvSpPr>
        <p:spPr>
          <a:xfrm>
            <a:off x="10832592" y="2359152"/>
            <a:ext cx="0" cy="2945282"/>
          </a:xfrm>
          <a:prstGeom prst="line">
            <a:avLst/>
          </a:prstGeom>
          <a:noFill/>
          <a:ln w="6350">
            <a:solidFill>
              <a:srgbClr val="C7D2DE"/>
            </a:solidFill>
            <a:prstDash val="dash"/>
          </a:ln>
        </p:spPr>
        <p:txBody>
          <a:bodyPr/>
          <a:lstStyle/>
          <a:p>
            <a:endParaRPr lang="en-IN"/>
          </a:p>
        </p:txBody>
      </p:sp>
      <p:sp>
        <p:nvSpPr>
          <p:cNvPr id="83" name="Text 81"/>
          <p:cNvSpPr txBox="1"/>
          <p:nvPr/>
        </p:nvSpPr>
        <p:spPr>
          <a:xfrm>
            <a:off x="1055827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8</a:t>
            </a:r>
            <a:endParaRPr lang="en-US" sz="700" dirty="0"/>
          </a:p>
        </p:txBody>
      </p:sp>
      <p:sp>
        <p:nvSpPr>
          <p:cNvPr id="84" name="Shape 82"/>
          <p:cNvSpPr/>
          <p:nvPr/>
        </p:nvSpPr>
        <p:spPr>
          <a:xfrm>
            <a:off x="11228832" y="2359152"/>
            <a:ext cx="0" cy="2945282"/>
          </a:xfrm>
          <a:prstGeom prst="line">
            <a:avLst/>
          </a:prstGeom>
          <a:noFill/>
          <a:ln w="6350">
            <a:solidFill>
              <a:srgbClr val="C7D2DE"/>
            </a:solidFill>
            <a:prstDash val="dash"/>
          </a:ln>
        </p:spPr>
        <p:txBody>
          <a:bodyPr/>
          <a:lstStyle/>
          <a:p>
            <a:endParaRPr lang="en-IN"/>
          </a:p>
        </p:txBody>
      </p:sp>
      <p:sp>
        <p:nvSpPr>
          <p:cNvPr id="85" name="Text 83"/>
          <p:cNvSpPr txBox="1"/>
          <p:nvPr/>
        </p:nvSpPr>
        <p:spPr>
          <a:xfrm>
            <a:off x="10954512" y="2167128"/>
            <a:ext cx="548640" cy="164592"/>
          </a:xfrm>
          <a:prstGeom prst="rect">
            <a:avLst/>
          </a:prstGeom>
          <a:noFill/>
          <a:ln/>
        </p:spPr>
        <p:txBody>
          <a:bodyPr wrap="square" lIns="0" tIns="0" rIns="0" bIns="0" rtlCol="0" anchor="ctr"/>
          <a:lstStyle/>
          <a:p>
            <a:pPr marL="0" indent="0" algn="ctr">
              <a:buNone/>
            </a:pPr>
            <a:r>
              <a:rPr lang="en-US" sz="700" dirty="0">
                <a:solidFill>
                  <a:srgbClr val="5C6E85"/>
                </a:solidFill>
                <a:latin typeface="Trenda IG Text" pitchFamily="34" charset="0"/>
                <a:ea typeface="Trenda IG Text" pitchFamily="34" charset="-122"/>
                <a:cs typeface="Trenda IG Text" pitchFamily="34" charset="-120"/>
              </a:rPr>
              <a:t>12</a:t>
            </a:r>
            <a:endParaRPr lang="en-US" sz="700" dirty="0"/>
          </a:p>
        </p:txBody>
      </p:sp>
      <p:sp>
        <p:nvSpPr>
          <p:cNvPr id="86" name="Shape 84"/>
          <p:cNvSpPr/>
          <p:nvPr/>
        </p:nvSpPr>
        <p:spPr>
          <a:xfrm>
            <a:off x="6382512" y="2478024"/>
            <a:ext cx="201168" cy="201168"/>
          </a:xfrm>
          <a:prstGeom prst="ellipse">
            <a:avLst/>
          </a:prstGeom>
          <a:solidFill>
            <a:srgbClr val="00757F"/>
          </a:solidFill>
          <a:ln w="12700">
            <a:solidFill>
              <a:srgbClr val="00757F"/>
            </a:solidFill>
            <a:prstDash val="solid"/>
          </a:ln>
        </p:spPr>
        <p:txBody>
          <a:bodyPr/>
          <a:lstStyle/>
          <a:p>
            <a:endParaRPr lang="en-IN"/>
          </a:p>
        </p:txBody>
      </p:sp>
      <p:sp>
        <p:nvSpPr>
          <p:cNvPr id="87" name="Text 85"/>
          <p:cNvSpPr txBox="1"/>
          <p:nvPr/>
        </p:nvSpPr>
        <p:spPr>
          <a:xfrm>
            <a:off x="6382512" y="24780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1</a:t>
            </a:r>
            <a:endParaRPr lang="en-US" sz="800" dirty="0"/>
          </a:p>
        </p:txBody>
      </p:sp>
      <p:sp>
        <p:nvSpPr>
          <p:cNvPr id="88" name="Text 86"/>
          <p:cNvSpPr txBox="1"/>
          <p:nvPr/>
        </p:nvSpPr>
        <p:spPr>
          <a:xfrm>
            <a:off x="6675120" y="2432304"/>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Orchestrator</a:t>
            </a:r>
            <a:endParaRPr lang="en-US" sz="900" dirty="0"/>
          </a:p>
        </p:txBody>
      </p:sp>
      <p:sp>
        <p:nvSpPr>
          <p:cNvPr id="89" name="Text 87"/>
          <p:cNvSpPr txBox="1"/>
          <p:nvPr/>
        </p:nvSpPr>
        <p:spPr>
          <a:xfrm>
            <a:off x="6675120" y="2578608"/>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Plans the onboarding, routes agents, enforces gates</a:t>
            </a:r>
            <a:endParaRPr lang="en-US" sz="750" dirty="0"/>
          </a:p>
        </p:txBody>
      </p:sp>
      <p:sp>
        <p:nvSpPr>
          <p:cNvPr id="90" name="Text 88"/>
          <p:cNvSpPr/>
          <p:nvPr/>
        </p:nvSpPr>
        <p:spPr>
          <a:xfrm>
            <a:off x="9244584" y="2487168"/>
            <a:ext cx="713232" cy="182880"/>
          </a:xfrm>
          <a:prstGeom prst="roundRect">
            <a:avLst>
              <a:gd name="adj" fmla="val 40000"/>
            </a:avLst>
          </a:prstGeom>
          <a:solidFill>
            <a:srgbClr val="FFFFFF"/>
          </a:solidFill>
          <a:ln w="9525">
            <a:solidFill>
              <a:srgbClr val="00757F"/>
            </a:solidFill>
          </a:ln>
        </p:spPr>
        <p:txBody>
          <a:bodyPr wrap="square" lIns="0" tIns="0" rIns="0" bIns="0" rtlCol="0" anchor="ctr"/>
          <a:lstStyle/>
          <a:p>
            <a:pPr marL="0" indent="0" algn="ctr">
              <a:buNone/>
            </a:pPr>
            <a:r>
              <a:rPr lang="en-US" sz="700" b="1" dirty="0">
                <a:solidFill>
                  <a:srgbClr val="00757F"/>
                </a:solidFill>
                <a:latin typeface="Trenda IG Text" pitchFamily="34" charset="0"/>
                <a:ea typeface="Trenda IG Text" pitchFamily="34" charset="-122"/>
                <a:cs typeface="Trenda IG Text" pitchFamily="34" charset="-120"/>
              </a:rPr>
              <a:t>Coordinates</a:t>
            </a:r>
            <a:endParaRPr lang="en-US" sz="700" dirty="0"/>
          </a:p>
        </p:txBody>
      </p:sp>
      <p:sp>
        <p:nvSpPr>
          <p:cNvPr id="91" name="Shape 89"/>
          <p:cNvSpPr/>
          <p:nvPr/>
        </p:nvSpPr>
        <p:spPr>
          <a:xfrm>
            <a:off x="10040112" y="2496312"/>
            <a:ext cx="1188720" cy="155448"/>
          </a:xfrm>
          <a:prstGeom prst="roundRect">
            <a:avLst>
              <a:gd name="adj" fmla="val 29412"/>
            </a:avLst>
          </a:prstGeom>
          <a:solidFill>
            <a:srgbClr val="E3F2F4"/>
          </a:solidFill>
          <a:ln w="9525">
            <a:solidFill>
              <a:srgbClr val="00757F"/>
            </a:solidFill>
            <a:prstDash val="solid"/>
          </a:ln>
        </p:spPr>
        <p:txBody>
          <a:bodyPr/>
          <a:lstStyle/>
          <a:p>
            <a:endParaRPr lang="en-IN"/>
          </a:p>
        </p:txBody>
      </p:sp>
      <p:sp>
        <p:nvSpPr>
          <p:cNvPr id="92" name="Text 90"/>
          <p:cNvSpPr txBox="1"/>
          <p:nvPr/>
        </p:nvSpPr>
        <p:spPr>
          <a:xfrm>
            <a:off x="11292840" y="2468880"/>
            <a:ext cx="384048" cy="201168"/>
          </a:xfrm>
          <a:prstGeom prst="rect">
            <a:avLst/>
          </a:prstGeom>
          <a:noFill/>
          <a:ln/>
        </p:spPr>
        <p:txBody>
          <a:bodyPr wrap="square" lIns="0" tIns="0" rIns="0" bIns="0" rtlCol="0" anchor="ctr"/>
          <a:lstStyle/>
          <a:p>
            <a:pPr marL="0" indent="0">
              <a:buNone/>
            </a:pPr>
            <a:endParaRPr lang="en-US" sz="850" dirty="0"/>
          </a:p>
        </p:txBody>
      </p:sp>
      <p:sp>
        <p:nvSpPr>
          <p:cNvPr id="93" name="Shape 91"/>
          <p:cNvSpPr/>
          <p:nvPr/>
        </p:nvSpPr>
        <p:spPr>
          <a:xfrm>
            <a:off x="6382512" y="2901391"/>
            <a:ext cx="201168" cy="201168"/>
          </a:xfrm>
          <a:prstGeom prst="ellipse">
            <a:avLst/>
          </a:prstGeom>
          <a:solidFill>
            <a:srgbClr val="C77400"/>
          </a:solidFill>
          <a:ln w="12700">
            <a:solidFill>
              <a:srgbClr val="C77400"/>
            </a:solidFill>
            <a:prstDash val="solid"/>
          </a:ln>
        </p:spPr>
        <p:txBody>
          <a:bodyPr/>
          <a:lstStyle/>
          <a:p>
            <a:endParaRPr lang="en-IN"/>
          </a:p>
        </p:txBody>
      </p:sp>
      <p:sp>
        <p:nvSpPr>
          <p:cNvPr id="94" name="Text 92"/>
          <p:cNvSpPr txBox="1"/>
          <p:nvPr/>
        </p:nvSpPr>
        <p:spPr>
          <a:xfrm>
            <a:off x="6382512" y="2901391"/>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2</a:t>
            </a:r>
            <a:endParaRPr lang="en-US" sz="800" dirty="0"/>
          </a:p>
        </p:txBody>
      </p:sp>
      <p:sp>
        <p:nvSpPr>
          <p:cNvPr id="95" name="Text 93"/>
          <p:cNvSpPr txBox="1"/>
          <p:nvPr/>
        </p:nvSpPr>
        <p:spPr>
          <a:xfrm>
            <a:off x="6675120" y="2855671"/>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Requirements Agent</a:t>
            </a:r>
            <a:endParaRPr lang="en-US" sz="900" dirty="0"/>
          </a:p>
        </p:txBody>
      </p:sp>
      <p:sp>
        <p:nvSpPr>
          <p:cNvPr id="96" name="Text 94"/>
          <p:cNvSpPr txBox="1"/>
          <p:nvPr/>
        </p:nvSpPr>
        <p:spPr>
          <a:xfrm>
            <a:off x="6675120" y="3001975"/>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Jira + Confluence; REDCap, rosters, HubSpot; PRD</a:t>
            </a:r>
            <a:endParaRPr lang="en-US" sz="750" dirty="0"/>
          </a:p>
        </p:txBody>
      </p:sp>
      <p:sp>
        <p:nvSpPr>
          <p:cNvPr id="97" name="Text 95"/>
          <p:cNvSpPr/>
          <p:nvPr/>
        </p:nvSpPr>
        <p:spPr>
          <a:xfrm>
            <a:off x="9244584" y="2910535"/>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98" name="Shape 96"/>
          <p:cNvSpPr/>
          <p:nvPr/>
        </p:nvSpPr>
        <p:spPr>
          <a:xfrm>
            <a:off x="10040112" y="2919679"/>
            <a:ext cx="396240"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99" name="Text 97"/>
          <p:cNvSpPr txBox="1"/>
          <p:nvPr/>
        </p:nvSpPr>
        <p:spPr>
          <a:xfrm>
            <a:off x="11292840" y="2892247"/>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4w</a:t>
            </a:r>
            <a:endParaRPr lang="en-US" sz="850" dirty="0"/>
          </a:p>
        </p:txBody>
      </p:sp>
      <p:sp>
        <p:nvSpPr>
          <p:cNvPr id="100" name="Shape 98"/>
          <p:cNvSpPr/>
          <p:nvPr/>
        </p:nvSpPr>
        <p:spPr>
          <a:xfrm>
            <a:off x="6382512" y="3324758"/>
            <a:ext cx="201168" cy="201168"/>
          </a:xfrm>
          <a:prstGeom prst="ellipse">
            <a:avLst/>
          </a:prstGeom>
          <a:solidFill>
            <a:srgbClr val="C77400"/>
          </a:solidFill>
          <a:ln w="12700">
            <a:solidFill>
              <a:srgbClr val="C77400"/>
            </a:solidFill>
            <a:prstDash val="solid"/>
          </a:ln>
        </p:spPr>
        <p:txBody>
          <a:bodyPr/>
          <a:lstStyle/>
          <a:p>
            <a:endParaRPr lang="en-IN"/>
          </a:p>
        </p:txBody>
      </p:sp>
      <p:sp>
        <p:nvSpPr>
          <p:cNvPr id="101" name="Text 99"/>
          <p:cNvSpPr txBox="1"/>
          <p:nvPr/>
        </p:nvSpPr>
        <p:spPr>
          <a:xfrm>
            <a:off x="6382512" y="332475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3</a:t>
            </a:r>
            <a:endParaRPr lang="en-US" sz="800" dirty="0"/>
          </a:p>
        </p:txBody>
      </p:sp>
      <p:sp>
        <p:nvSpPr>
          <p:cNvPr id="102" name="Text 100"/>
          <p:cNvSpPr txBox="1"/>
          <p:nvPr/>
        </p:nvSpPr>
        <p:spPr>
          <a:xfrm>
            <a:off x="6675120" y="3279038"/>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Architect Agent</a:t>
            </a:r>
            <a:endParaRPr lang="en-US" sz="900" dirty="0"/>
          </a:p>
        </p:txBody>
      </p:sp>
      <p:sp>
        <p:nvSpPr>
          <p:cNvPr id="103" name="Text 101"/>
          <p:cNvSpPr txBox="1"/>
          <p:nvPr/>
        </p:nvSpPr>
        <p:spPr>
          <a:xfrm>
            <a:off x="6675120" y="3425342"/>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Reuses market pattern; impact on National flows</a:t>
            </a:r>
            <a:endParaRPr lang="en-US" sz="750" dirty="0"/>
          </a:p>
        </p:txBody>
      </p:sp>
      <p:sp>
        <p:nvSpPr>
          <p:cNvPr id="104" name="Text 102"/>
          <p:cNvSpPr/>
          <p:nvPr/>
        </p:nvSpPr>
        <p:spPr>
          <a:xfrm>
            <a:off x="9244584" y="3333902"/>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05" name="Shape 103"/>
          <p:cNvSpPr/>
          <p:nvPr/>
        </p:nvSpPr>
        <p:spPr>
          <a:xfrm>
            <a:off x="10337292" y="3343046"/>
            <a:ext cx="198120"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106" name="Text 104"/>
          <p:cNvSpPr txBox="1"/>
          <p:nvPr/>
        </p:nvSpPr>
        <p:spPr>
          <a:xfrm>
            <a:off x="11292840" y="3315614"/>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2w</a:t>
            </a:r>
            <a:endParaRPr lang="en-US" sz="850" dirty="0"/>
          </a:p>
        </p:txBody>
      </p:sp>
      <p:sp>
        <p:nvSpPr>
          <p:cNvPr id="107" name="Shape 105"/>
          <p:cNvSpPr/>
          <p:nvPr/>
        </p:nvSpPr>
        <p:spPr>
          <a:xfrm>
            <a:off x="6382512" y="3748126"/>
            <a:ext cx="201168" cy="201168"/>
          </a:xfrm>
          <a:prstGeom prst="ellipse">
            <a:avLst/>
          </a:prstGeom>
          <a:solidFill>
            <a:srgbClr val="2E7D32"/>
          </a:solidFill>
          <a:ln w="12700">
            <a:solidFill>
              <a:srgbClr val="2E7D32"/>
            </a:solidFill>
            <a:prstDash val="solid"/>
          </a:ln>
        </p:spPr>
        <p:txBody>
          <a:bodyPr/>
          <a:lstStyle/>
          <a:p>
            <a:endParaRPr lang="en-IN"/>
          </a:p>
        </p:txBody>
      </p:sp>
      <p:sp>
        <p:nvSpPr>
          <p:cNvPr id="108" name="Text 106"/>
          <p:cNvSpPr txBox="1"/>
          <p:nvPr/>
        </p:nvSpPr>
        <p:spPr>
          <a:xfrm>
            <a:off x="6382512" y="374812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4</a:t>
            </a:r>
            <a:endParaRPr lang="en-US" sz="800" dirty="0"/>
          </a:p>
        </p:txBody>
      </p:sp>
      <p:sp>
        <p:nvSpPr>
          <p:cNvPr id="109" name="Text 107"/>
          <p:cNvSpPr txBox="1"/>
          <p:nvPr/>
        </p:nvSpPr>
        <p:spPr>
          <a:xfrm>
            <a:off x="6675120" y="3702406"/>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Developer Agent</a:t>
            </a:r>
            <a:endParaRPr lang="en-US" sz="900" dirty="0"/>
          </a:p>
        </p:txBody>
      </p:sp>
      <p:sp>
        <p:nvSpPr>
          <p:cNvPr id="110" name="Text 108"/>
          <p:cNvSpPr txBox="1"/>
          <p:nvPr/>
        </p:nvSpPr>
        <p:spPr>
          <a:xfrm>
            <a:off x="6675120" y="3848710"/>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Record type, sharing, flows, Apex, DocuSign, loads</a:t>
            </a:r>
            <a:endParaRPr lang="en-US" sz="750" dirty="0"/>
          </a:p>
        </p:txBody>
      </p:sp>
      <p:sp>
        <p:nvSpPr>
          <p:cNvPr id="111" name="Text 109"/>
          <p:cNvSpPr/>
          <p:nvPr/>
        </p:nvSpPr>
        <p:spPr>
          <a:xfrm>
            <a:off x="9244584" y="3757270"/>
            <a:ext cx="713232"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112" name="Shape 110"/>
          <p:cNvSpPr/>
          <p:nvPr/>
        </p:nvSpPr>
        <p:spPr>
          <a:xfrm>
            <a:off x="10535412" y="3766414"/>
            <a:ext cx="396240" cy="155448"/>
          </a:xfrm>
          <a:prstGeom prst="roundRect">
            <a:avLst>
              <a:gd name="adj" fmla="val 29412"/>
            </a:avLst>
          </a:prstGeom>
          <a:solidFill>
            <a:srgbClr val="2E7D32"/>
          </a:solidFill>
          <a:ln w="12700">
            <a:solidFill>
              <a:srgbClr val="2E7D32"/>
            </a:solidFill>
            <a:prstDash val="solid"/>
          </a:ln>
        </p:spPr>
        <p:txBody>
          <a:bodyPr/>
          <a:lstStyle/>
          <a:p>
            <a:endParaRPr lang="en-IN"/>
          </a:p>
        </p:txBody>
      </p:sp>
      <p:sp>
        <p:nvSpPr>
          <p:cNvPr id="113" name="Text 111"/>
          <p:cNvSpPr txBox="1"/>
          <p:nvPr/>
        </p:nvSpPr>
        <p:spPr>
          <a:xfrm>
            <a:off x="11292840" y="3738982"/>
            <a:ext cx="384048" cy="201168"/>
          </a:xfrm>
          <a:prstGeom prst="rect">
            <a:avLst/>
          </a:prstGeom>
          <a:noFill/>
          <a:ln/>
        </p:spPr>
        <p:txBody>
          <a:bodyPr wrap="square" lIns="0" tIns="0" rIns="0" bIns="0" rtlCol="0" anchor="ctr"/>
          <a:lstStyle/>
          <a:p>
            <a:pPr marL="0" indent="0">
              <a:buNone/>
            </a:pPr>
            <a:r>
              <a:rPr lang="en-US" sz="850" b="1" dirty="0">
                <a:solidFill>
                  <a:srgbClr val="2E7D32"/>
                </a:solidFill>
                <a:latin typeface="Trenda IG Text" pitchFamily="34" charset="0"/>
                <a:ea typeface="Trenda IG Text" pitchFamily="34" charset="-122"/>
                <a:cs typeface="Trenda IG Text" pitchFamily="34" charset="-120"/>
              </a:rPr>
              <a:t>4w</a:t>
            </a:r>
            <a:endParaRPr lang="en-US" sz="850" dirty="0"/>
          </a:p>
        </p:txBody>
      </p:sp>
      <p:sp>
        <p:nvSpPr>
          <p:cNvPr id="114" name="Shape 112"/>
          <p:cNvSpPr/>
          <p:nvPr/>
        </p:nvSpPr>
        <p:spPr>
          <a:xfrm>
            <a:off x="6382512" y="4171493"/>
            <a:ext cx="201168" cy="201168"/>
          </a:xfrm>
          <a:prstGeom prst="ellipse">
            <a:avLst/>
          </a:prstGeom>
          <a:solidFill>
            <a:srgbClr val="C77400"/>
          </a:solidFill>
          <a:ln w="12700">
            <a:solidFill>
              <a:srgbClr val="C77400"/>
            </a:solidFill>
            <a:prstDash val="solid"/>
          </a:ln>
        </p:spPr>
        <p:txBody>
          <a:bodyPr/>
          <a:lstStyle/>
          <a:p>
            <a:endParaRPr lang="en-IN"/>
          </a:p>
        </p:txBody>
      </p:sp>
      <p:sp>
        <p:nvSpPr>
          <p:cNvPr id="115" name="Text 113"/>
          <p:cNvSpPr txBox="1"/>
          <p:nvPr/>
        </p:nvSpPr>
        <p:spPr>
          <a:xfrm>
            <a:off x="6382512" y="4171493"/>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5</a:t>
            </a:r>
            <a:endParaRPr lang="en-US" sz="800" dirty="0"/>
          </a:p>
        </p:txBody>
      </p:sp>
      <p:sp>
        <p:nvSpPr>
          <p:cNvPr id="116" name="Text 114"/>
          <p:cNvSpPr txBox="1"/>
          <p:nvPr/>
        </p:nvSpPr>
        <p:spPr>
          <a:xfrm>
            <a:off x="6675120" y="4125773"/>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Review Agent</a:t>
            </a:r>
            <a:endParaRPr lang="en-US" sz="900" dirty="0"/>
          </a:p>
        </p:txBody>
      </p:sp>
      <p:sp>
        <p:nvSpPr>
          <p:cNvPr id="117" name="Text 115"/>
          <p:cNvSpPr txBox="1"/>
          <p:nvPr/>
        </p:nvSpPr>
        <p:spPr>
          <a:xfrm>
            <a:off x="6675120" y="4272077"/>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Code, security, sharing; tech lead approves</a:t>
            </a:r>
            <a:endParaRPr lang="en-US" sz="750" dirty="0"/>
          </a:p>
        </p:txBody>
      </p:sp>
      <p:sp>
        <p:nvSpPr>
          <p:cNvPr id="118" name="Text 116"/>
          <p:cNvSpPr/>
          <p:nvPr/>
        </p:nvSpPr>
        <p:spPr>
          <a:xfrm>
            <a:off x="9244584" y="4180637"/>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19" name="Shape 117"/>
          <p:cNvSpPr/>
          <p:nvPr/>
        </p:nvSpPr>
        <p:spPr>
          <a:xfrm>
            <a:off x="10634472" y="4189781"/>
            <a:ext cx="297180"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120" name="Text 118"/>
          <p:cNvSpPr txBox="1"/>
          <p:nvPr/>
        </p:nvSpPr>
        <p:spPr>
          <a:xfrm>
            <a:off x="11292840" y="4162349"/>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3w</a:t>
            </a:r>
            <a:endParaRPr lang="en-US" sz="850" dirty="0"/>
          </a:p>
        </p:txBody>
      </p:sp>
      <p:sp>
        <p:nvSpPr>
          <p:cNvPr id="121" name="Shape 119"/>
          <p:cNvSpPr/>
          <p:nvPr/>
        </p:nvSpPr>
        <p:spPr>
          <a:xfrm>
            <a:off x="6382512" y="4594860"/>
            <a:ext cx="201168" cy="201168"/>
          </a:xfrm>
          <a:prstGeom prst="ellipse">
            <a:avLst/>
          </a:prstGeom>
          <a:solidFill>
            <a:srgbClr val="C77400"/>
          </a:solidFill>
          <a:ln w="12700">
            <a:solidFill>
              <a:srgbClr val="C77400"/>
            </a:solidFill>
            <a:prstDash val="solid"/>
          </a:ln>
        </p:spPr>
        <p:txBody>
          <a:bodyPr/>
          <a:lstStyle/>
          <a:p>
            <a:endParaRPr lang="en-IN"/>
          </a:p>
        </p:txBody>
      </p:sp>
      <p:sp>
        <p:nvSpPr>
          <p:cNvPr id="122" name="Text 120"/>
          <p:cNvSpPr txBox="1"/>
          <p:nvPr/>
        </p:nvSpPr>
        <p:spPr>
          <a:xfrm>
            <a:off x="6382512" y="45948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6</a:t>
            </a:r>
            <a:endParaRPr lang="en-US" sz="800" dirty="0"/>
          </a:p>
        </p:txBody>
      </p:sp>
      <p:sp>
        <p:nvSpPr>
          <p:cNvPr id="123" name="Text 121"/>
          <p:cNvSpPr txBox="1"/>
          <p:nvPr/>
        </p:nvSpPr>
        <p:spPr>
          <a:xfrm>
            <a:off x="6675120" y="4549140"/>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Test Agent</a:t>
            </a:r>
            <a:endParaRPr lang="en-US" sz="900" dirty="0"/>
          </a:p>
        </p:txBody>
      </p:sp>
      <p:sp>
        <p:nvSpPr>
          <p:cNvPr id="124" name="Text 122"/>
          <p:cNvSpPr txBox="1"/>
          <p:nvPr/>
        </p:nvSpPr>
        <p:spPr>
          <a:xfrm>
            <a:off x="6675120" y="4695444"/>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Zephyr cases, Copado regression; people sign UAT</a:t>
            </a:r>
            <a:endParaRPr lang="en-US" sz="750" dirty="0"/>
          </a:p>
        </p:txBody>
      </p:sp>
      <p:sp>
        <p:nvSpPr>
          <p:cNvPr id="125" name="Text 123"/>
          <p:cNvSpPr/>
          <p:nvPr/>
        </p:nvSpPr>
        <p:spPr>
          <a:xfrm>
            <a:off x="9244584" y="4604004"/>
            <a:ext cx="713232" cy="182880"/>
          </a:xfrm>
          <a:prstGeom prst="roundRect">
            <a:avLst>
              <a:gd name="adj" fmla="val 40000"/>
            </a:avLst>
          </a:prstGeom>
          <a:solidFill>
            <a:srgbClr val="FFFFFF"/>
          </a:solidFill>
          <a:ln w="9525">
            <a:solidFill>
              <a:srgbClr val="C77400"/>
            </a:solidFill>
          </a:ln>
        </p:spPr>
        <p:txBody>
          <a:bodyPr wrap="square" lIns="0" tIns="0" rIns="0" bIns="0" rtlCol="0" anchor="ctr"/>
          <a:lstStyle/>
          <a:p>
            <a:pPr marL="0" indent="0" algn="ctr">
              <a:buNone/>
            </a:pPr>
            <a:r>
              <a:rPr lang="en-US" sz="700" b="1" dirty="0">
                <a:solidFill>
                  <a:srgbClr val="C77400"/>
                </a:solidFill>
                <a:latin typeface="Trenda IG Text" pitchFamily="34" charset="0"/>
                <a:ea typeface="Trenda IG Text" pitchFamily="34" charset="-122"/>
                <a:cs typeface="Trenda IG Text" pitchFamily="34" charset="-120"/>
              </a:rPr>
              <a:t>Human gate</a:t>
            </a:r>
            <a:endParaRPr lang="en-US" sz="700" dirty="0"/>
          </a:p>
        </p:txBody>
      </p:sp>
      <p:sp>
        <p:nvSpPr>
          <p:cNvPr id="126" name="Shape 124"/>
          <p:cNvSpPr/>
          <p:nvPr/>
        </p:nvSpPr>
        <p:spPr>
          <a:xfrm>
            <a:off x="10832592" y="4613148"/>
            <a:ext cx="297180" cy="155448"/>
          </a:xfrm>
          <a:prstGeom prst="roundRect">
            <a:avLst>
              <a:gd name="adj" fmla="val 29412"/>
            </a:avLst>
          </a:prstGeom>
          <a:solidFill>
            <a:srgbClr val="C77400"/>
          </a:solidFill>
          <a:ln w="12700">
            <a:solidFill>
              <a:srgbClr val="C77400"/>
            </a:solidFill>
            <a:prstDash val="solid"/>
          </a:ln>
        </p:spPr>
        <p:txBody>
          <a:bodyPr/>
          <a:lstStyle/>
          <a:p>
            <a:endParaRPr lang="en-IN"/>
          </a:p>
        </p:txBody>
      </p:sp>
      <p:sp>
        <p:nvSpPr>
          <p:cNvPr id="127" name="Text 125"/>
          <p:cNvSpPr txBox="1"/>
          <p:nvPr/>
        </p:nvSpPr>
        <p:spPr>
          <a:xfrm>
            <a:off x="11292840" y="4585716"/>
            <a:ext cx="384048" cy="201168"/>
          </a:xfrm>
          <a:prstGeom prst="rect">
            <a:avLst/>
          </a:prstGeom>
          <a:noFill/>
          <a:ln/>
        </p:spPr>
        <p:txBody>
          <a:bodyPr wrap="square" lIns="0" tIns="0" rIns="0" bIns="0" rtlCol="0" anchor="ctr"/>
          <a:lstStyle/>
          <a:p>
            <a:pPr marL="0" indent="0">
              <a:buNone/>
            </a:pPr>
            <a:r>
              <a:rPr lang="en-US" sz="850" b="1" dirty="0">
                <a:solidFill>
                  <a:srgbClr val="C77400"/>
                </a:solidFill>
                <a:latin typeface="Trenda IG Text" pitchFamily="34" charset="0"/>
                <a:ea typeface="Trenda IG Text" pitchFamily="34" charset="-122"/>
                <a:cs typeface="Trenda IG Text" pitchFamily="34" charset="-120"/>
              </a:rPr>
              <a:t>3w</a:t>
            </a:r>
            <a:endParaRPr lang="en-US" sz="850" dirty="0"/>
          </a:p>
        </p:txBody>
      </p:sp>
      <p:sp>
        <p:nvSpPr>
          <p:cNvPr id="128" name="Shape 126"/>
          <p:cNvSpPr/>
          <p:nvPr/>
        </p:nvSpPr>
        <p:spPr>
          <a:xfrm>
            <a:off x="6382512" y="5018227"/>
            <a:ext cx="201168" cy="201168"/>
          </a:xfrm>
          <a:prstGeom prst="ellipse">
            <a:avLst/>
          </a:prstGeom>
          <a:solidFill>
            <a:srgbClr val="2E7D32"/>
          </a:solidFill>
          <a:ln w="12700">
            <a:solidFill>
              <a:srgbClr val="2E7D32"/>
            </a:solidFill>
            <a:prstDash val="solid"/>
          </a:ln>
        </p:spPr>
        <p:txBody>
          <a:bodyPr/>
          <a:lstStyle/>
          <a:p>
            <a:endParaRPr lang="en-IN"/>
          </a:p>
        </p:txBody>
      </p:sp>
      <p:sp>
        <p:nvSpPr>
          <p:cNvPr id="129" name="Text 127"/>
          <p:cNvSpPr txBox="1"/>
          <p:nvPr/>
        </p:nvSpPr>
        <p:spPr>
          <a:xfrm>
            <a:off x="6382512" y="5018227"/>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7</a:t>
            </a:r>
            <a:endParaRPr lang="en-US" sz="800" dirty="0"/>
          </a:p>
        </p:txBody>
      </p:sp>
      <p:sp>
        <p:nvSpPr>
          <p:cNvPr id="130" name="Text 128"/>
          <p:cNvSpPr txBox="1"/>
          <p:nvPr/>
        </p:nvSpPr>
        <p:spPr>
          <a:xfrm>
            <a:off x="6675120" y="4972507"/>
            <a:ext cx="2560320" cy="155448"/>
          </a:xfrm>
          <a:prstGeom prst="rect">
            <a:avLst/>
          </a:prstGeom>
          <a:noFill/>
          <a:ln/>
        </p:spPr>
        <p:txBody>
          <a:bodyPr wrap="square" lIns="0" tIns="0" rIns="0" bIns="0" rtlCol="0" anchor="ctr"/>
          <a:lstStyle/>
          <a:p>
            <a:pPr marL="0" indent="0">
              <a:buNone/>
            </a:pPr>
            <a:r>
              <a:rPr lang="en-US" sz="900" b="1" dirty="0">
                <a:solidFill>
                  <a:srgbClr val="12233B"/>
                </a:solidFill>
                <a:latin typeface="Trenda IG Text" pitchFamily="34" charset="0"/>
                <a:ea typeface="Trenda IG Text" pitchFamily="34" charset="-122"/>
                <a:cs typeface="Trenda IG Text" pitchFamily="34" charset="-120"/>
              </a:rPr>
              <a:t>Release Agent</a:t>
            </a:r>
            <a:endParaRPr lang="en-US" sz="900" dirty="0"/>
          </a:p>
        </p:txBody>
      </p:sp>
      <p:sp>
        <p:nvSpPr>
          <p:cNvPr id="131" name="Text 129"/>
          <p:cNvSpPr txBox="1"/>
          <p:nvPr/>
        </p:nvSpPr>
        <p:spPr>
          <a:xfrm>
            <a:off x="6675120" y="5118811"/>
            <a:ext cx="2560320" cy="155448"/>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Copado to SIT / UAT; CAB approves production</a:t>
            </a:r>
            <a:endParaRPr lang="en-US" sz="750" dirty="0"/>
          </a:p>
        </p:txBody>
      </p:sp>
      <p:sp>
        <p:nvSpPr>
          <p:cNvPr id="132" name="Text 130"/>
          <p:cNvSpPr/>
          <p:nvPr/>
        </p:nvSpPr>
        <p:spPr>
          <a:xfrm>
            <a:off x="9244584" y="5027371"/>
            <a:ext cx="713232" cy="182880"/>
          </a:xfrm>
          <a:prstGeom prst="roundRect">
            <a:avLst>
              <a:gd name="adj" fmla="val 40000"/>
            </a:avLst>
          </a:prstGeom>
          <a:solidFill>
            <a:srgbClr val="FFFFFF"/>
          </a:solidFill>
          <a:ln w="9525">
            <a:solidFill>
              <a:srgbClr val="2E7D32"/>
            </a:solidFill>
          </a:ln>
        </p:spPr>
        <p:txBody>
          <a:bodyPr wrap="square" lIns="0" tIns="0" rIns="0" bIns="0" rtlCol="0" anchor="ctr"/>
          <a:lstStyle/>
          <a:p>
            <a:pPr marL="0" indent="0" algn="ctr">
              <a:buNone/>
            </a:pPr>
            <a:r>
              <a:rPr lang="en-US" sz="700" b="1" dirty="0">
                <a:solidFill>
                  <a:srgbClr val="2E7D32"/>
                </a:solidFill>
                <a:latin typeface="Trenda IG Text" pitchFamily="34" charset="0"/>
                <a:ea typeface="Trenda IG Text" pitchFamily="34" charset="-122"/>
                <a:cs typeface="Trenda IG Text" pitchFamily="34" charset="-120"/>
              </a:rPr>
              <a:t>AI-led</a:t>
            </a:r>
            <a:endParaRPr lang="en-US" sz="700" dirty="0"/>
          </a:p>
        </p:txBody>
      </p:sp>
      <p:sp>
        <p:nvSpPr>
          <p:cNvPr id="133" name="Shape 131"/>
          <p:cNvSpPr/>
          <p:nvPr/>
        </p:nvSpPr>
        <p:spPr>
          <a:xfrm>
            <a:off x="11129772" y="5036515"/>
            <a:ext cx="99060" cy="155448"/>
          </a:xfrm>
          <a:prstGeom prst="roundRect">
            <a:avLst>
              <a:gd name="adj" fmla="val 46154"/>
            </a:avLst>
          </a:prstGeom>
          <a:solidFill>
            <a:srgbClr val="2E7D32"/>
          </a:solidFill>
          <a:ln w="12700">
            <a:solidFill>
              <a:srgbClr val="2E7D32"/>
            </a:solidFill>
            <a:prstDash val="solid"/>
          </a:ln>
        </p:spPr>
        <p:txBody>
          <a:bodyPr/>
          <a:lstStyle/>
          <a:p>
            <a:endParaRPr lang="en-IN"/>
          </a:p>
        </p:txBody>
      </p:sp>
      <p:sp>
        <p:nvSpPr>
          <p:cNvPr id="134" name="Text 132"/>
          <p:cNvSpPr txBox="1"/>
          <p:nvPr/>
        </p:nvSpPr>
        <p:spPr>
          <a:xfrm>
            <a:off x="11292840" y="5009083"/>
            <a:ext cx="384048" cy="201168"/>
          </a:xfrm>
          <a:prstGeom prst="rect">
            <a:avLst/>
          </a:prstGeom>
          <a:noFill/>
          <a:ln/>
        </p:spPr>
        <p:txBody>
          <a:bodyPr wrap="square" lIns="0" tIns="0" rIns="0" bIns="0" rtlCol="0" anchor="ctr"/>
          <a:lstStyle/>
          <a:p>
            <a:pPr marL="0" indent="0">
              <a:buNone/>
            </a:pPr>
            <a:r>
              <a:rPr lang="en-US" sz="850" b="1" dirty="0">
                <a:solidFill>
                  <a:srgbClr val="2E7D32"/>
                </a:solidFill>
                <a:latin typeface="Trenda IG Text" pitchFamily="34" charset="0"/>
                <a:ea typeface="Trenda IG Text" pitchFamily="34" charset="-122"/>
                <a:cs typeface="Trenda IG Text" pitchFamily="34" charset="-120"/>
              </a:rPr>
              <a:t>1w</a:t>
            </a:r>
            <a:endParaRPr lang="en-US" sz="850" dirty="0"/>
          </a:p>
        </p:txBody>
      </p:sp>
      <p:sp>
        <p:nvSpPr>
          <p:cNvPr id="135" name="Shape 133"/>
          <p:cNvSpPr/>
          <p:nvPr/>
        </p:nvSpPr>
        <p:spPr>
          <a:xfrm>
            <a:off x="6007608" y="3246120"/>
            <a:ext cx="182880" cy="274320"/>
          </a:xfrm>
          <a:prstGeom prst="rightArrow">
            <a:avLst/>
          </a:prstGeom>
          <a:solidFill>
            <a:srgbClr val="00757F"/>
          </a:solidFill>
          <a:ln w="12700">
            <a:solidFill>
              <a:srgbClr val="00757F"/>
            </a:solidFill>
            <a:prstDash val="solid"/>
          </a:ln>
        </p:spPr>
        <p:txBody>
          <a:bodyPr/>
          <a:lstStyle/>
          <a:p>
            <a:endParaRPr lang="en-IN"/>
          </a:p>
        </p:txBody>
      </p:sp>
      <p:sp>
        <p:nvSpPr>
          <p:cNvPr id="136" name="Shape 134"/>
          <p:cNvSpPr/>
          <p:nvPr/>
        </p:nvSpPr>
        <p:spPr>
          <a:xfrm>
            <a:off x="411480"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37" name="Shape 135"/>
          <p:cNvSpPr/>
          <p:nvPr/>
        </p:nvSpPr>
        <p:spPr>
          <a:xfrm>
            <a:off x="411480"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38" name="Text 136"/>
          <p:cNvSpPr txBox="1"/>
          <p:nvPr/>
        </p:nvSpPr>
        <p:spPr>
          <a:xfrm>
            <a:off x="576072"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~70%</a:t>
            </a:r>
            <a:endParaRPr lang="en-US" sz="1800" dirty="0"/>
          </a:p>
        </p:txBody>
      </p:sp>
      <p:sp>
        <p:nvSpPr>
          <p:cNvPr id="139" name="Text 137"/>
          <p:cNvSpPr txBox="1"/>
          <p:nvPr/>
        </p:nvSpPr>
        <p:spPr>
          <a:xfrm>
            <a:off x="1783080"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faster market onboarding</a:t>
            </a:r>
            <a:endParaRPr lang="en-US" sz="850" dirty="0"/>
          </a:p>
        </p:txBody>
      </p:sp>
      <p:sp>
        <p:nvSpPr>
          <p:cNvPr id="140" name="Text 138"/>
          <p:cNvSpPr txBox="1"/>
          <p:nvPr/>
        </p:nvSpPr>
        <p:spPr>
          <a:xfrm>
            <a:off x="576072"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~9 months to 10-12 weeks (estimate)</a:t>
            </a:r>
            <a:endParaRPr lang="en-US" sz="750" dirty="0"/>
          </a:p>
        </p:txBody>
      </p:sp>
      <p:sp>
        <p:nvSpPr>
          <p:cNvPr id="141" name="Shape 139"/>
          <p:cNvSpPr/>
          <p:nvPr/>
        </p:nvSpPr>
        <p:spPr>
          <a:xfrm>
            <a:off x="3285439"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42" name="Shape 140"/>
          <p:cNvSpPr/>
          <p:nvPr/>
        </p:nvSpPr>
        <p:spPr>
          <a:xfrm>
            <a:off x="3285439"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43" name="Text 141"/>
          <p:cNvSpPr txBox="1"/>
          <p:nvPr/>
        </p:nvSpPr>
        <p:spPr>
          <a:xfrm>
            <a:off x="3450031"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2-4 days</a:t>
            </a:r>
            <a:endParaRPr lang="en-US" sz="1800" dirty="0"/>
          </a:p>
        </p:txBody>
      </p:sp>
      <p:sp>
        <p:nvSpPr>
          <p:cNvPr id="144" name="Text 142"/>
          <p:cNvSpPr txBox="1"/>
          <p:nvPr/>
        </p:nvSpPr>
        <p:spPr>
          <a:xfrm>
            <a:off x="4657039"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per enhancement today</a:t>
            </a:r>
            <a:endParaRPr lang="en-US" sz="850" dirty="0"/>
          </a:p>
        </p:txBody>
      </p:sp>
      <p:sp>
        <p:nvSpPr>
          <p:cNvPr id="145" name="Text 143"/>
          <p:cNvSpPr txBox="1"/>
          <p:nvPr/>
        </p:nvSpPr>
        <p:spPr>
          <a:xfrm>
            <a:off x="3450031"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Was 1-2 weeks; measured with agents</a:t>
            </a:r>
            <a:endParaRPr lang="en-US" sz="750" dirty="0"/>
          </a:p>
        </p:txBody>
      </p:sp>
      <p:sp>
        <p:nvSpPr>
          <p:cNvPr id="146" name="Shape 144"/>
          <p:cNvSpPr/>
          <p:nvPr/>
        </p:nvSpPr>
        <p:spPr>
          <a:xfrm>
            <a:off x="6159398"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47" name="Shape 145"/>
          <p:cNvSpPr/>
          <p:nvPr/>
        </p:nvSpPr>
        <p:spPr>
          <a:xfrm>
            <a:off x="6159398"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48" name="Text 146"/>
          <p:cNvSpPr txBox="1"/>
          <p:nvPr/>
        </p:nvSpPr>
        <p:spPr>
          <a:xfrm>
            <a:off x="6323990"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6-8 wks</a:t>
            </a:r>
            <a:endParaRPr lang="en-US" sz="1800" dirty="0"/>
          </a:p>
        </p:txBody>
      </p:sp>
      <p:sp>
        <p:nvSpPr>
          <p:cNvPr id="149" name="Text 147"/>
          <p:cNvSpPr txBox="1"/>
          <p:nvPr/>
        </p:nvSpPr>
        <p:spPr>
          <a:xfrm>
            <a:off x="7530998"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for the next market</a:t>
            </a:r>
            <a:endParaRPr lang="en-US" sz="850" dirty="0"/>
          </a:p>
        </p:txBody>
      </p:sp>
      <p:sp>
        <p:nvSpPr>
          <p:cNvPr id="150" name="Text 148"/>
          <p:cNvSpPr txBox="1"/>
          <p:nvPr/>
        </p:nvSpPr>
        <p:spPr>
          <a:xfrm>
            <a:off x="6323990"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Texas Seton reuses the TX CIN pattern</a:t>
            </a:r>
            <a:endParaRPr lang="en-US" sz="750" dirty="0"/>
          </a:p>
        </p:txBody>
      </p:sp>
      <p:sp>
        <p:nvSpPr>
          <p:cNvPr id="151" name="Shape 149"/>
          <p:cNvSpPr/>
          <p:nvPr/>
        </p:nvSpPr>
        <p:spPr>
          <a:xfrm>
            <a:off x="9033358" y="5623560"/>
            <a:ext cx="2743200" cy="777240"/>
          </a:xfrm>
          <a:prstGeom prst="rect">
            <a:avLst/>
          </a:prstGeom>
          <a:solidFill>
            <a:srgbClr val="FFFFFF"/>
          </a:solidFill>
          <a:ln w="9525">
            <a:solidFill>
              <a:srgbClr val="DCE4EE"/>
            </a:solidFill>
            <a:prstDash val="solid"/>
          </a:ln>
        </p:spPr>
        <p:txBody>
          <a:bodyPr/>
          <a:lstStyle/>
          <a:p>
            <a:endParaRPr lang="en-IN"/>
          </a:p>
        </p:txBody>
      </p:sp>
      <p:sp>
        <p:nvSpPr>
          <p:cNvPr id="152" name="Shape 150"/>
          <p:cNvSpPr/>
          <p:nvPr/>
        </p:nvSpPr>
        <p:spPr>
          <a:xfrm>
            <a:off x="9033358" y="5623560"/>
            <a:ext cx="54864" cy="777240"/>
          </a:xfrm>
          <a:prstGeom prst="rect">
            <a:avLst/>
          </a:prstGeom>
          <a:solidFill>
            <a:srgbClr val="00757F"/>
          </a:solidFill>
          <a:ln w="12700">
            <a:solidFill>
              <a:srgbClr val="00757F"/>
            </a:solidFill>
            <a:prstDash val="solid"/>
          </a:ln>
        </p:spPr>
        <p:txBody>
          <a:bodyPr/>
          <a:lstStyle/>
          <a:p>
            <a:endParaRPr lang="en-IN"/>
          </a:p>
        </p:txBody>
      </p:sp>
      <p:sp>
        <p:nvSpPr>
          <p:cNvPr id="153" name="Text 151"/>
          <p:cNvSpPr txBox="1"/>
          <p:nvPr/>
        </p:nvSpPr>
        <p:spPr>
          <a:xfrm>
            <a:off x="9197950" y="5715000"/>
            <a:ext cx="1234440" cy="365760"/>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7 agents</a:t>
            </a:r>
            <a:endParaRPr lang="en-US" sz="1800" dirty="0"/>
          </a:p>
        </p:txBody>
      </p:sp>
      <p:sp>
        <p:nvSpPr>
          <p:cNvPr id="154" name="Text 152"/>
          <p:cNvSpPr txBox="1"/>
          <p:nvPr/>
        </p:nvSpPr>
        <p:spPr>
          <a:xfrm>
            <a:off x="10404958" y="5733288"/>
            <a:ext cx="128016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same as Marketing Cloud</a:t>
            </a:r>
            <a:endParaRPr lang="en-US" sz="850" dirty="0"/>
          </a:p>
        </p:txBody>
      </p:sp>
      <p:sp>
        <p:nvSpPr>
          <p:cNvPr id="155" name="Text 153"/>
          <p:cNvSpPr txBox="1"/>
          <p:nvPr/>
        </p:nvSpPr>
        <p:spPr>
          <a:xfrm>
            <a:off x="9197950" y="6108192"/>
            <a:ext cx="2468880" cy="219456"/>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Built once, reused by every pod</a:t>
            </a:r>
            <a:endParaRPr lang="en-US" sz="750" dirty="0"/>
          </a:p>
        </p:txBody>
      </p:sp>
      <p:sp>
        <p:nvSpPr>
          <p:cNvPr id="156" name="Text 154"/>
          <p:cNvSpPr txBox="1"/>
          <p:nvPr/>
        </p:nvSpPr>
        <p:spPr>
          <a:xfrm>
            <a:off x="411480" y="6455664"/>
            <a:ext cx="11338560" cy="310896"/>
          </a:xfrm>
          <a:prstGeom prst="rect">
            <a:avLst/>
          </a:prstGeom>
          <a:noFill/>
          <a:ln/>
        </p:spPr>
        <p:txBody>
          <a:bodyPr wrap="square" lIns="0" tIns="0" rIns="0" bIns="0" rtlCol="0" anchor="t"/>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Sources: Texas CIN Project PRD, Texas CIN Market Onboarding design, Shell Account Structure, Permission Set Consolidation, Lead Conversion Workflow, Agentifying Ascension Ways of Working (1-2 weeks to 2-4 days). Manual timeline per Pod 5 delivery. Onboarding figures are planning estimates; validate on Texas Seton.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11480" y="201168"/>
            <a:ext cx="82296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 · OPERATIONAL EFFICIENCY</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Operational efficiency: people supervise, agents build, around the clock</a:t>
            </a:r>
            <a:endParaRPr lang="en-US" sz="2200" dirty="0"/>
          </a:p>
        </p:txBody>
      </p:sp>
      <p:sp>
        <p:nvSpPr>
          <p:cNvPr id="4" name="Text 2"/>
          <p:cNvSpPr txBox="1"/>
          <p:nvPr/>
        </p:nvSpPr>
        <p:spPr>
          <a:xfrm>
            <a:off x="411480" y="804672"/>
            <a:ext cx="11338560" cy="274320"/>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Today every pod carries its own full delivery stack. With MAD, lean pods share one agent platform that runs on one set of Ascension standards, around the clock.</a:t>
            </a:r>
            <a:endParaRPr lang="en-US" sz="1050" dirty="0"/>
          </a:p>
        </p:txBody>
      </p:sp>
      <p:sp>
        <p:nvSpPr>
          <p:cNvPr id="5" name="Text 3"/>
          <p:cNvSpPr txBox="1"/>
          <p:nvPr/>
        </p:nvSpPr>
        <p:spPr>
          <a:xfrm>
            <a:off x="1737360" y="1243584"/>
            <a:ext cx="2788920" cy="182880"/>
          </a:xfrm>
          <a:prstGeom prst="rect">
            <a:avLst/>
          </a:prstGeom>
          <a:noFill/>
          <a:ln/>
        </p:spPr>
        <p:txBody>
          <a:bodyPr wrap="square" lIns="0" tIns="0" rIns="0" bIns="0" rtlCol="0" anchor="ctr"/>
          <a:lstStyle/>
          <a:p>
            <a:pPr marL="0" indent="0">
              <a:buNone/>
            </a:pPr>
            <a:r>
              <a:rPr lang="en-US" sz="800" b="1" kern="0" spc="200" dirty="0">
                <a:solidFill>
                  <a:srgbClr val="5C6E85"/>
                </a:solidFill>
                <a:latin typeface="Trenda IG Text" pitchFamily="34" charset="0"/>
                <a:ea typeface="Trenda IG Text" pitchFamily="34" charset="-122"/>
                <a:cs typeface="Trenda IG Text" pitchFamily="34" charset="-120"/>
              </a:rPr>
              <a:t>TODAY</a:t>
            </a:r>
            <a:endParaRPr lang="en-US" sz="800" dirty="0"/>
          </a:p>
        </p:txBody>
      </p:sp>
      <p:sp>
        <p:nvSpPr>
          <p:cNvPr id="6" name="Text 4"/>
          <p:cNvSpPr txBox="1"/>
          <p:nvPr/>
        </p:nvSpPr>
        <p:spPr>
          <a:xfrm>
            <a:off x="4846320" y="1243584"/>
            <a:ext cx="3154680" cy="182880"/>
          </a:xfrm>
          <a:prstGeom prst="rect">
            <a:avLst/>
          </a:prstGeom>
          <a:noFill/>
          <a:ln/>
        </p:spPr>
        <p:txBody>
          <a:bodyPr wrap="square" lIns="0" tIns="0" rIns="0" bIns="0" rtlCol="0" anchor="ctr"/>
          <a:lstStyle/>
          <a:p>
            <a:pPr marL="0" indent="0">
              <a:buNone/>
            </a:pPr>
            <a:r>
              <a:rPr lang="en-US" sz="800" b="1" kern="0" spc="200" dirty="0">
                <a:solidFill>
                  <a:srgbClr val="00757F"/>
                </a:solidFill>
                <a:latin typeface="Trenda IG Text" pitchFamily="34" charset="0"/>
                <a:ea typeface="Trenda IG Text" pitchFamily="34" charset="-122"/>
                <a:cs typeface="Trenda IG Text" pitchFamily="34" charset="-120"/>
              </a:rPr>
              <a:t>WITH MAD</a:t>
            </a:r>
            <a:endParaRPr lang="en-US" sz="800" dirty="0"/>
          </a:p>
        </p:txBody>
      </p:sp>
      <p:sp>
        <p:nvSpPr>
          <p:cNvPr id="7" name="Shape 5"/>
          <p:cNvSpPr/>
          <p:nvPr/>
        </p:nvSpPr>
        <p:spPr>
          <a:xfrm>
            <a:off x="411480" y="1481328"/>
            <a:ext cx="1234440" cy="530352"/>
          </a:xfrm>
          <a:prstGeom prst="rect">
            <a:avLst/>
          </a:prstGeom>
          <a:solidFill>
            <a:srgbClr val="12233B"/>
          </a:solidFill>
          <a:ln w="12700">
            <a:solidFill>
              <a:srgbClr val="12233B"/>
            </a:solidFill>
            <a:prstDash val="solid"/>
          </a:ln>
        </p:spPr>
        <p:txBody>
          <a:bodyPr/>
          <a:lstStyle/>
          <a:p>
            <a:endParaRPr lang="en-IN"/>
          </a:p>
        </p:txBody>
      </p:sp>
      <p:sp>
        <p:nvSpPr>
          <p:cNvPr id="8" name="Text 6"/>
          <p:cNvSpPr txBox="1"/>
          <p:nvPr/>
        </p:nvSpPr>
        <p:spPr>
          <a:xfrm>
            <a:off x="502920" y="1481328"/>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Productivity</a:t>
            </a:r>
            <a:endParaRPr lang="en-US" sz="950" dirty="0"/>
          </a:p>
        </p:txBody>
      </p:sp>
      <p:sp>
        <p:nvSpPr>
          <p:cNvPr id="9" name="Shape 7"/>
          <p:cNvSpPr/>
          <p:nvPr/>
        </p:nvSpPr>
        <p:spPr>
          <a:xfrm>
            <a:off x="1737360" y="1481328"/>
            <a:ext cx="2788920" cy="530352"/>
          </a:xfrm>
          <a:prstGeom prst="rect">
            <a:avLst/>
          </a:prstGeom>
          <a:solidFill>
            <a:srgbClr val="EEF2F7"/>
          </a:solidFill>
          <a:ln w="9525">
            <a:solidFill>
              <a:srgbClr val="EEF2F7"/>
            </a:solidFill>
            <a:prstDash val="solid"/>
          </a:ln>
        </p:spPr>
        <p:txBody>
          <a:bodyPr/>
          <a:lstStyle/>
          <a:p>
            <a:endParaRPr lang="en-IN"/>
          </a:p>
        </p:txBody>
      </p:sp>
      <p:sp>
        <p:nvSpPr>
          <p:cNvPr id="10" name="Text 8"/>
          <p:cNvSpPr txBox="1"/>
          <p:nvPr/>
        </p:nvSpPr>
        <p:spPr>
          <a:xfrm>
            <a:off x="1847088" y="1481328"/>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Work moves one hand-off at a time, inside office hours; US and Hyderabad overlap for only a few hours.</a:t>
            </a:r>
            <a:endParaRPr lang="en-US" sz="780" dirty="0"/>
          </a:p>
        </p:txBody>
      </p:sp>
      <p:sp>
        <p:nvSpPr>
          <p:cNvPr id="11" name="Shape 9"/>
          <p:cNvSpPr/>
          <p:nvPr/>
        </p:nvSpPr>
        <p:spPr>
          <a:xfrm>
            <a:off x="4590288" y="1655064"/>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12" name="Shape 10"/>
          <p:cNvSpPr/>
          <p:nvPr/>
        </p:nvSpPr>
        <p:spPr>
          <a:xfrm>
            <a:off x="4846320" y="1481328"/>
            <a:ext cx="3154680" cy="530352"/>
          </a:xfrm>
          <a:prstGeom prst="rect">
            <a:avLst/>
          </a:prstGeom>
          <a:solidFill>
            <a:srgbClr val="E3F2F4"/>
          </a:solidFill>
          <a:ln w="9525">
            <a:solidFill>
              <a:srgbClr val="E3F2F4"/>
            </a:solidFill>
            <a:prstDash val="solid"/>
          </a:ln>
        </p:spPr>
        <p:txBody>
          <a:bodyPr/>
          <a:lstStyle/>
          <a:p>
            <a:endParaRPr lang="en-IN"/>
          </a:p>
        </p:txBody>
      </p:sp>
      <p:sp>
        <p:nvSpPr>
          <p:cNvPr id="13" name="Text 11"/>
          <p:cNvSpPr txBox="1"/>
          <p:nvPr/>
        </p:nvSpPr>
        <p:spPr>
          <a:xfrm>
            <a:off x="4956048" y="1517904"/>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Agents refine stories, draft code and tests overnight; people review and approve in the morning.</a:t>
            </a:r>
            <a:endParaRPr lang="en-US" sz="780" dirty="0"/>
          </a:p>
        </p:txBody>
      </p:sp>
      <p:sp>
        <p:nvSpPr>
          <p:cNvPr id="14" name="Text 12"/>
          <p:cNvSpPr txBox="1"/>
          <p:nvPr/>
        </p:nvSpPr>
        <p:spPr>
          <a:xfrm>
            <a:off x="4956048" y="1810512"/>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Orchestrator · Developer</a:t>
            </a:r>
            <a:endParaRPr lang="en-US" sz="680" dirty="0"/>
          </a:p>
        </p:txBody>
      </p:sp>
      <p:sp>
        <p:nvSpPr>
          <p:cNvPr id="15" name="Shape 13"/>
          <p:cNvSpPr/>
          <p:nvPr/>
        </p:nvSpPr>
        <p:spPr>
          <a:xfrm>
            <a:off x="411480" y="2084832"/>
            <a:ext cx="1234440" cy="530352"/>
          </a:xfrm>
          <a:prstGeom prst="rect">
            <a:avLst/>
          </a:prstGeom>
          <a:solidFill>
            <a:srgbClr val="12233B"/>
          </a:solidFill>
          <a:ln w="12700">
            <a:solidFill>
              <a:srgbClr val="12233B"/>
            </a:solidFill>
            <a:prstDash val="solid"/>
          </a:ln>
        </p:spPr>
        <p:txBody>
          <a:bodyPr/>
          <a:lstStyle/>
          <a:p>
            <a:endParaRPr lang="en-IN"/>
          </a:p>
        </p:txBody>
      </p:sp>
      <p:sp>
        <p:nvSpPr>
          <p:cNvPr id="16" name="Text 14"/>
          <p:cNvSpPr txBox="1"/>
          <p:nvPr/>
        </p:nvSpPr>
        <p:spPr>
          <a:xfrm>
            <a:off x="502920" y="2084832"/>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Scalability</a:t>
            </a:r>
            <a:endParaRPr lang="en-US" sz="950" dirty="0"/>
          </a:p>
        </p:txBody>
      </p:sp>
      <p:sp>
        <p:nvSpPr>
          <p:cNvPr id="17" name="Shape 15"/>
          <p:cNvSpPr/>
          <p:nvPr/>
        </p:nvSpPr>
        <p:spPr>
          <a:xfrm>
            <a:off x="1737360" y="2084832"/>
            <a:ext cx="2788920" cy="530352"/>
          </a:xfrm>
          <a:prstGeom prst="rect">
            <a:avLst/>
          </a:prstGeom>
          <a:solidFill>
            <a:srgbClr val="EEF2F7"/>
          </a:solidFill>
          <a:ln w="9525">
            <a:solidFill>
              <a:srgbClr val="EEF2F7"/>
            </a:solidFill>
            <a:prstDash val="solid"/>
          </a:ln>
        </p:spPr>
        <p:txBody>
          <a:bodyPr/>
          <a:lstStyle/>
          <a:p>
            <a:endParaRPr lang="en-IN"/>
          </a:p>
        </p:txBody>
      </p:sp>
      <p:sp>
        <p:nvSpPr>
          <p:cNvPr id="18" name="Text 16"/>
          <p:cNvSpPr txBox="1"/>
          <p:nvPr/>
        </p:nvSpPr>
        <p:spPr>
          <a:xfrm>
            <a:off x="1847088" y="2084832"/>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More scope means hiring; a new developer needs 4-6 weeks to learn the org and the pod.</a:t>
            </a:r>
            <a:endParaRPr lang="en-US" sz="780" dirty="0"/>
          </a:p>
        </p:txBody>
      </p:sp>
      <p:sp>
        <p:nvSpPr>
          <p:cNvPr id="19" name="Shape 17"/>
          <p:cNvSpPr/>
          <p:nvPr/>
        </p:nvSpPr>
        <p:spPr>
          <a:xfrm>
            <a:off x="4590288" y="2258568"/>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20" name="Shape 18"/>
          <p:cNvSpPr/>
          <p:nvPr/>
        </p:nvSpPr>
        <p:spPr>
          <a:xfrm>
            <a:off x="4846320" y="2084832"/>
            <a:ext cx="3154680" cy="530352"/>
          </a:xfrm>
          <a:prstGeom prst="rect">
            <a:avLst/>
          </a:prstGeom>
          <a:solidFill>
            <a:srgbClr val="E3F2F4"/>
          </a:solidFill>
          <a:ln w="9525">
            <a:solidFill>
              <a:srgbClr val="E3F2F4"/>
            </a:solidFill>
            <a:prstDash val="solid"/>
          </a:ln>
        </p:spPr>
        <p:txBody>
          <a:bodyPr/>
          <a:lstStyle/>
          <a:p>
            <a:endParaRPr lang="en-IN"/>
          </a:p>
        </p:txBody>
      </p:sp>
      <p:sp>
        <p:nvSpPr>
          <p:cNvPr id="21" name="Text 19"/>
          <p:cNvSpPr txBox="1"/>
          <p:nvPr/>
        </p:nvSpPr>
        <p:spPr>
          <a:xfrm>
            <a:off x="4956048" y="2121408"/>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Scale by adding agent capacity. New people ask the graph and are productive in about a week.</a:t>
            </a:r>
            <a:endParaRPr lang="en-US" sz="780" dirty="0"/>
          </a:p>
        </p:txBody>
      </p:sp>
      <p:sp>
        <p:nvSpPr>
          <p:cNvPr id="22" name="Text 20"/>
          <p:cNvSpPr txBox="1"/>
          <p:nvPr/>
        </p:nvSpPr>
        <p:spPr>
          <a:xfrm>
            <a:off x="4956048" y="2414016"/>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Knowledge graph</a:t>
            </a:r>
            <a:endParaRPr lang="en-US" sz="680" dirty="0"/>
          </a:p>
        </p:txBody>
      </p:sp>
      <p:sp>
        <p:nvSpPr>
          <p:cNvPr id="23" name="Shape 21"/>
          <p:cNvSpPr/>
          <p:nvPr/>
        </p:nvSpPr>
        <p:spPr>
          <a:xfrm>
            <a:off x="411480" y="2688336"/>
            <a:ext cx="1234440" cy="530352"/>
          </a:xfrm>
          <a:prstGeom prst="rect">
            <a:avLst/>
          </a:prstGeom>
          <a:solidFill>
            <a:srgbClr val="12233B"/>
          </a:solidFill>
          <a:ln w="12700">
            <a:solidFill>
              <a:srgbClr val="12233B"/>
            </a:solidFill>
            <a:prstDash val="solid"/>
          </a:ln>
        </p:spPr>
        <p:txBody>
          <a:bodyPr/>
          <a:lstStyle/>
          <a:p>
            <a:endParaRPr lang="en-IN"/>
          </a:p>
        </p:txBody>
      </p:sp>
      <p:sp>
        <p:nvSpPr>
          <p:cNvPr id="24" name="Text 22"/>
          <p:cNvSpPr txBox="1"/>
          <p:nvPr/>
        </p:nvSpPr>
        <p:spPr>
          <a:xfrm>
            <a:off x="502920" y="2688336"/>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Best practice</a:t>
            </a:r>
            <a:endParaRPr lang="en-US" sz="950" dirty="0"/>
          </a:p>
        </p:txBody>
      </p:sp>
      <p:sp>
        <p:nvSpPr>
          <p:cNvPr id="25" name="Shape 23"/>
          <p:cNvSpPr/>
          <p:nvPr/>
        </p:nvSpPr>
        <p:spPr>
          <a:xfrm>
            <a:off x="1737360" y="2688336"/>
            <a:ext cx="2788920" cy="530352"/>
          </a:xfrm>
          <a:prstGeom prst="rect">
            <a:avLst/>
          </a:prstGeom>
          <a:solidFill>
            <a:srgbClr val="EEF2F7"/>
          </a:solidFill>
          <a:ln w="9525">
            <a:solidFill>
              <a:srgbClr val="EEF2F7"/>
            </a:solidFill>
            <a:prstDash val="solid"/>
          </a:ln>
        </p:spPr>
        <p:txBody>
          <a:bodyPr/>
          <a:lstStyle/>
          <a:p>
            <a:endParaRPr lang="en-IN"/>
          </a:p>
        </p:txBody>
      </p:sp>
      <p:sp>
        <p:nvSpPr>
          <p:cNvPr id="26" name="Text 24"/>
          <p:cNvSpPr txBox="1"/>
          <p:nvPr/>
        </p:nvSpPr>
        <p:spPr>
          <a:xfrm>
            <a:off x="1847088" y="2688336"/>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Each pod applies standards its own way; review quality depends on who is free.</a:t>
            </a:r>
            <a:endParaRPr lang="en-US" sz="780" dirty="0"/>
          </a:p>
        </p:txBody>
      </p:sp>
      <p:sp>
        <p:nvSpPr>
          <p:cNvPr id="27" name="Shape 25"/>
          <p:cNvSpPr/>
          <p:nvPr/>
        </p:nvSpPr>
        <p:spPr>
          <a:xfrm>
            <a:off x="4590288" y="2862072"/>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28" name="Shape 26"/>
          <p:cNvSpPr/>
          <p:nvPr/>
        </p:nvSpPr>
        <p:spPr>
          <a:xfrm>
            <a:off x="4846320" y="2688336"/>
            <a:ext cx="3154680" cy="530352"/>
          </a:xfrm>
          <a:prstGeom prst="rect">
            <a:avLst/>
          </a:prstGeom>
          <a:solidFill>
            <a:srgbClr val="E3F2F4"/>
          </a:solidFill>
          <a:ln w="9525">
            <a:solidFill>
              <a:srgbClr val="E3F2F4"/>
            </a:solidFill>
            <a:prstDash val="solid"/>
          </a:ln>
        </p:spPr>
        <p:txBody>
          <a:bodyPr/>
          <a:lstStyle/>
          <a:p>
            <a:endParaRPr lang="en-IN"/>
          </a:p>
        </p:txBody>
      </p:sp>
      <p:sp>
        <p:nvSpPr>
          <p:cNvPr id="29" name="Text 27"/>
          <p:cNvSpPr txBox="1"/>
          <p:nvPr/>
        </p:nvSpPr>
        <p:spPr>
          <a:xfrm>
            <a:off x="4956048" y="2724912"/>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Ascension standards encoded once and applied the same way to every change in every pod.</a:t>
            </a:r>
            <a:endParaRPr lang="en-US" sz="780" dirty="0"/>
          </a:p>
        </p:txBody>
      </p:sp>
      <p:sp>
        <p:nvSpPr>
          <p:cNvPr id="30" name="Text 28"/>
          <p:cNvSpPr txBox="1"/>
          <p:nvPr/>
        </p:nvSpPr>
        <p:spPr>
          <a:xfrm>
            <a:off x="4956048" y="3017520"/>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Review Agent</a:t>
            </a:r>
            <a:endParaRPr lang="en-US" sz="680" dirty="0"/>
          </a:p>
        </p:txBody>
      </p:sp>
      <p:sp>
        <p:nvSpPr>
          <p:cNvPr id="31" name="Shape 29"/>
          <p:cNvSpPr/>
          <p:nvPr/>
        </p:nvSpPr>
        <p:spPr>
          <a:xfrm>
            <a:off x="411480" y="3291840"/>
            <a:ext cx="1234440" cy="530352"/>
          </a:xfrm>
          <a:prstGeom prst="rect">
            <a:avLst/>
          </a:prstGeom>
          <a:solidFill>
            <a:srgbClr val="12233B"/>
          </a:solidFill>
          <a:ln w="12700">
            <a:solidFill>
              <a:srgbClr val="12233B"/>
            </a:solidFill>
            <a:prstDash val="solid"/>
          </a:ln>
        </p:spPr>
        <p:txBody>
          <a:bodyPr/>
          <a:lstStyle/>
          <a:p>
            <a:endParaRPr lang="en-IN"/>
          </a:p>
        </p:txBody>
      </p:sp>
      <p:sp>
        <p:nvSpPr>
          <p:cNvPr id="32" name="Text 30"/>
          <p:cNvSpPr txBox="1"/>
          <p:nvPr/>
        </p:nvSpPr>
        <p:spPr>
          <a:xfrm>
            <a:off x="502920" y="3291840"/>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Security</a:t>
            </a:r>
            <a:endParaRPr lang="en-US" sz="950" dirty="0"/>
          </a:p>
        </p:txBody>
      </p:sp>
      <p:sp>
        <p:nvSpPr>
          <p:cNvPr id="33" name="Shape 31"/>
          <p:cNvSpPr/>
          <p:nvPr/>
        </p:nvSpPr>
        <p:spPr>
          <a:xfrm>
            <a:off x="1737360" y="3291840"/>
            <a:ext cx="2788920" cy="530352"/>
          </a:xfrm>
          <a:prstGeom prst="rect">
            <a:avLst/>
          </a:prstGeom>
          <a:solidFill>
            <a:srgbClr val="EEF2F7"/>
          </a:solidFill>
          <a:ln w="9525">
            <a:solidFill>
              <a:srgbClr val="EEF2F7"/>
            </a:solidFill>
            <a:prstDash val="solid"/>
          </a:ln>
        </p:spPr>
        <p:txBody>
          <a:bodyPr/>
          <a:lstStyle/>
          <a:p>
            <a:endParaRPr lang="en-IN"/>
          </a:p>
        </p:txBody>
      </p:sp>
      <p:sp>
        <p:nvSpPr>
          <p:cNvPr id="34" name="Text 32"/>
          <p:cNvSpPr txBox="1"/>
          <p:nvPr/>
        </p:nvSpPr>
        <p:spPr>
          <a:xfrm>
            <a:off x="1847088" y="3291840"/>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Access and sharing issues surface late; permission sets sprawl (Modify All, View All).</a:t>
            </a:r>
            <a:endParaRPr lang="en-US" sz="780" dirty="0"/>
          </a:p>
        </p:txBody>
      </p:sp>
      <p:sp>
        <p:nvSpPr>
          <p:cNvPr id="35" name="Shape 33"/>
          <p:cNvSpPr/>
          <p:nvPr/>
        </p:nvSpPr>
        <p:spPr>
          <a:xfrm>
            <a:off x="4590288" y="3465576"/>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36" name="Shape 34"/>
          <p:cNvSpPr/>
          <p:nvPr/>
        </p:nvSpPr>
        <p:spPr>
          <a:xfrm>
            <a:off x="4846320" y="3291840"/>
            <a:ext cx="3154680" cy="530352"/>
          </a:xfrm>
          <a:prstGeom prst="rect">
            <a:avLst/>
          </a:prstGeom>
          <a:solidFill>
            <a:srgbClr val="E3F2F4"/>
          </a:solidFill>
          <a:ln w="9525">
            <a:solidFill>
              <a:srgbClr val="E3F2F4"/>
            </a:solidFill>
            <a:prstDash val="solid"/>
          </a:ln>
        </p:spPr>
        <p:txBody>
          <a:bodyPr/>
          <a:lstStyle/>
          <a:p>
            <a:endParaRPr lang="en-IN"/>
          </a:p>
        </p:txBody>
      </p:sp>
      <p:sp>
        <p:nvSpPr>
          <p:cNvPr id="37" name="Text 35"/>
          <p:cNvSpPr txBox="1"/>
          <p:nvPr/>
        </p:nvSpPr>
        <p:spPr>
          <a:xfrm>
            <a:off x="4956048" y="3328416"/>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Least privilege, sharing and PHI checks on every change; no agent holds production credentials.</a:t>
            </a:r>
            <a:endParaRPr lang="en-US" sz="780" dirty="0"/>
          </a:p>
        </p:txBody>
      </p:sp>
      <p:sp>
        <p:nvSpPr>
          <p:cNvPr id="38" name="Text 36"/>
          <p:cNvSpPr txBox="1"/>
          <p:nvPr/>
        </p:nvSpPr>
        <p:spPr>
          <a:xfrm>
            <a:off x="4956048" y="3621024"/>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Review Agent</a:t>
            </a:r>
            <a:endParaRPr lang="en-US" sz="680" dirty="0"/>
          </a:p>
        </p:txBody>
      </p:sp>
      <p:sp>
        <p:nvSpPr>
          <p:cNvPr id="39" name="Shape 37"/>
          <p:cNvSpPr/>
          <p:nvPr/>
        </p:nvSpPr>
        <p:spPr>
          <a:xfrm>
            <a:off x="411480" y="3895344"/>
            <a:ext cx="1234440" cy="530352"/>
          </a:xfrm>
          <a:prstGeom prst="rect">
            <a:avLst/>
          </a:prstGeom>
          <a:solidFill>
            <a:srgbClr val="12233B"/>
          </a:solidFill>
          <a:ln w="12700">
            <a:solidFill>
              <a:srgbClr val="12233B"/>
            </a:solidFill>
            <a:prstDash val="solid"/>
          </a:ln>
        </p:spPr>
        <p:txBody>
          <a:bodyPr/>
          <a:lstStyle/>
          <a:p>
            <a:endParaRPr lang="en-IN"/>
          </a:p>
        </p:txBody>
      </p:sp>
      <p:sp>
        <p:nvSpPr>
          <p:cNvPr id="40" name="Text 38"/>
          <p:cNvSpPr txBox="1"/>
          <p:nvPr/>
        </p:nvSpPr>
        <p:spPr>
          <a:xfrm>
            <a:off x="502920" y="3895344"/>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Tech debt</a:t>
            </a:r>
            <a:endParaRPr lang="en-US" sz="950" dirty="0"/>
          </a:p>
        </p:txBody>
      </p:sp>
      <p:sp>
        <p:nvSpPr>
          <p:cNvPr id="41" name="Shape 39"/>
          <p:cNvSpPr/>
          <p:nvPr/>
        </p:nvSpPr>
        <p:spPr>
          <a:xfrm>
            <a:off x="1737360" y="3895344"/>
            <a:ext cx="2788920" cy="530352"/>
          </a:xfrm>
          <a:prstGeom prst="rect">
            <a:avLst/>
          </a:prstGeom>
          <a:solidFill>
            <a:srgbClr val="EEF2F7"/>
          </a:solidFill>
          <a:ln w="9525">
            <a:solidFill>
              <a:srgbClr val="EEF2F7"/>
            </a:solidFill>
            <a:prstDash val="solid"/>
          </a:ln>
        </p:spPr>
        <p:txBody>
          <a:bodyPr/>
          <a:lstStyle/>
          <a:p>
            <a:endParaRPr lang="en-IN"/>
          </a:p>
        </p:txBody>
      </p:sp>
      <p:sp>
        <p:nvSpPr>
          <p:cNvPr id="42" name="Text 40"/>
          <p:cNvSpPr txBox="1"/>
          <p:nvPr/>
        </p:nvSpPr>
        <p:spPr>
          <a:xfrm>
            <a:off x="1847088" y="3895344"/>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Debt grows quietly: overlapping flows, duplicate logic, unused fields, hardcoded IDs.</a:t>
            </a:r>
            <a:endParaRPr lang="en-US" sz="780" dirty="0"/>
          </a:p>
        </p:txBody>
      </p:sp>
      <p:sp>
        <p:nvSpPr>
          <p:cNvPr id="43" name="Shape 41"/>
          <p:cNvSpPr/>
          <p:nvPr/>
        </p:nvSpPr>
        <p:spPr>
          <a:xfrm>
            <a:off x="4590288" y="4069080"/>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44" name="Shape 42"/>
          <p:cNvSpPr/>
          <p:nvPr/>
        </p:nvSpPr>
        <p:spPr>
          <a:xfrm>
            <a:off x="4846320" y="3895344"/>
            <a:ext cx="3154680" cy="530352"/>
          </a:xfrm>
          <a:prstGeom prst="rect">
            <a:avLst/>
          </a:prstGeom>
          <a:solidFill>
            <a:srgbClr val="E3F2F4"/>
          </a:solidFill>
          <a:ln w="9525">
            <a:solidFill>
              <a:srgbClr val="E3F2F4"/>
            </a:solidFill>
            <a:prstDash val="solid"/>
          </a:ln>
        </p:spPr>
        <p:txBody>
          <a:bodyPr/>
          <a:lstStyle/>
          <a:p>
            <a:endParaRPr lang="en-IN"/>
          </a:p>
        </p:txBody>
      </p:sp>
      <p:sp>
        <p:nvSpPr>
          <p:cNvPr id="45" name="Text 43"/>
          <p:cNvSpPr txBox="1"/>
          <p:nvPr/>
        </p:nvSpPr>
        <p:spPr>
          <a:xfrm>
            <a:off x="4956048" y="3931920"/>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Agents scan the org nightly and raise ready-to-review clean-up changes in spare capacity.</a:t>
            </a:r>
            <a:endParaRPr lang="en-US" sz="780" dirty="0"/>
          </a:p>
        </p:txBody>
      </p:sp>
      <p:sp>
        <p:nvSpPr>
          <p:cNvPr id="46" name="Text 44"/>
          <p:cNvSpPr txBox="1"/>
          <p:nvPr/>
        </p:nvSpPr>
        <p:spPr>
          <a:xfrm>
            <a:off x="4956048" y="4224528"/>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Architect · Developer</a:t>
            </a:r>
            <a:endParaRPr lang="en-US" sz="680" dirty="0"/>
          </a:p>
        </p:txBody>
      </p:sp>
      <p:sp>
        <p:nvSpPr>
          <p:cNvPr id="47" name="Shape 45"/>
          <p:cNvSpPr/>
          <p:nvPr/>
        </p:nvSpPr>
        <p:spPr>
          <a:xfrm>
            <a:off x="411480" y="4498848"/>
            <a:ext cx="1234440" cy="530352"/>
          </a:xfrm>
          <a:prstGeom prst="rect">
            <a:avLst/>
          </a:prstGeom>
          <a:solidFill>
            <a:srgbClr val="12233B"/>
          </a:solidFill>
          <a:ln w="12700">
            <a:solidFill>
              <a:srgbClr val="12233B"/>
            </a:solidFill>
            <a:prstDash val="solid"/>
          </a:ln>
        </p:spPr>
        <p:txBody>
          <a:bodyPr/>
          <a:lstStyle/>
          <a:p>
            <a:endParaRPr lang="en-IN"/>
          </a:p>
        </p:txBody>
      </p:sp>
      <p:sp>
        <p:nvSpPr>
          <p:cNvPr id="48" name="Text 46"/>
          <p:cNvSpPr txBox="1"/>
          <p:nvPr/>
        </p:nvSpPr>
        <p:spPr>
          <a:xfrm>
            <a:off x="502920" y="4498848"/>
            <a:ext cx="1097280" cy="530352"/>
          </a:xfrm>
          <a:prstGeom prst="rect">
            <a:avLst/>
          </a:prstGeom>
          <a:noFill/>
          <a:ln/>
        </p:spPr>
        <p:txBody>
          <a:bodyPr wrap="square" lIns="0" tIns="0" rIns="0" bIns="0" rtlCol="0" anchor="ctr"/>
          <a:lstStyle/>
          <a:p>
            <a:pPr marL="0" indent="0">
              <a:buNone/>
            </a:pPr>
            <a:r>
              <a:rPr lang="en-US" sz="950" b="1" dirty="0">
                <a:solidFill>
                  <a:srgbClr val="FFFFFF"/>
                </a:solidFill>
                <a:latin typeface="Trenda IG Text" pitchFamily="34" charset="0"/>
                <a:ea typeface="Trenda IG Text" pitchFamily="34" charset="-122"/>
                <a:cs typeface="Trenda IG Text" pitchFamily="34" charset="-120"/>
              </a:rPr>
              <a:t>Run &amp; support</a:t>
            </a:r>
            <a:endParaRPr lang="en-US" sz="950" dirty="0"/>
          </a:p>
        </p:txBody>
      </p:sp>
      <p:sp>
        <p:nvSpPr>
          <p:cNvPr id="49" name="Shape 47"/>
          <p:cNvSpPr/>
          <p:nvPr/>
        </p:nvSpPr>
        <p:spPr>
          <a:xfrm>
            <a:off x="1737360" y="4498848"/>
            <a:ext cx="2788920" cy="530352"/>
          </a:xfrm>
          <a:prstGeom prst="rect">
            <a:avLst/>
          </a:prstGeom>
          <a:solidFill>
            <a:srgbClr val="EEF2F7"/>
          </a:solidFill>
          <a:ln w="9525">
            <a:solidFill>
              <a:srgbClr val="EEF2F7"/>
            </a:solidFill>
            <a:prstDash val="solid"/>
          </a:ln>
        </p:spPr>
        <p:txBody>
          <a:bodyPr/>
          <a:lstStyle/>
          <a:p>
            <a:endParaRPr lang="en-IN"/>
          </a:p>
        </p:txBody>
      </p:sp>
      <p:sp>
        <p:nvSpPr>
          <p:cNvPr id="50" name="Text 48"/>
          <p:cNvSpPr txBox="1"/>
          <p:nvPr/>
        </p:nvSpPr>
        <p:spPr>
          <a:xfrm>
            <a:off x="1847088" y="4498848"/>
            <a:ext cx="2587752" cy="530352"/>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Incidents start with "who changed what?" and take hours of cross-pod triage.</a:t>
            </a:r>
            <a:endParaRPr lang="en-US" sz="780" dirty="0"/>
          </a:p>
        </p:txBody>
      </p:sp>
      <p:sp>
        <p:nvSpPr>
          <p:cNvPr id="51" name="Shape 49"/>
          <p:cNvSpPr/>
          <p:nvPr/>
        </p:nvSpPr>
        <p:spPr>
          <a:xfrm>
            <a:off x="4590288" y="4672584"/>
            <a:ext cx="182880" cy="182880"/>
          </a:xfrm>
          <a:prstGeom prst="rightArrow">
            <a:avLst/>
          </a:prstGeom>
          <a:solidFill>
            <a:srgbClr val="00757F"/>
          </a:solidFill>
          <a:ln w="12700">
            <a:solidFill>
              <a:srgbClr val="00757F"/>
            </a:solidFill>
            <a:prstDash val="solid"/>
          </a:ln>
        </p:spPr>
        <p:txBody>
          <a:bodyPr/>
          <a:lstStyle/>
          <a:p>
            <a:endParaRPr lang="en-IN"/>
          </a:p>
        </p:txBody>
      </p:sp>
      <p:sp>
        <p:nvSpPr>
          <p:cNvPr id="52" name="Shape 50"/>
          <p:cNvSpPr/>
          <p:nvPr/>
        </p:nvSpPr>
        <p:spPr>
          <a:xfrm>
            <a:off x="4846320" y="4498848"/>
            <a:ext cx="3154680" cy="530352"/>
          </a:xfrm>
          <a:prstGeom prst="rect">
            <a:avLst/>
          </a:prstGeom>
          <a:solidFill>
            <a:srgbClr val="E3F2F4"/>
          </a:solidFill>
          <a:ln w="9525">
            <a:solidFill>
              <a:srgbClr val="E3F2F4"/>
            </a:solidFill>
            <a:prstDash val="solid"/>
          </a:ln>
        </p:spPr>
        <p:txBody>
          <a:bodyPr/>
          <a:lstStyle/>
          <a:p>
            <a:endParaRPr lang="en-IN"/>
          </a:p>
        </p:txBody>
      </p:sp>
      <p:sp>
        <p:nvSpPr>
          <p:cNvPr id="53" name="Text 51"/>
          <p:cNvSpPr txBox="1"/>
          <p:nvPr/>
        </p:nvSpPr>
        <p:spPr>
          <a:xfrm>
            <a:off x="4956048" y="4535424"/>
            <a:ext cx="2953512" cy="274320"/>
          </a:xfrm>
          <a:prstGeom prst="rect">
            <a:avLst/>
          </a:prstGeom>
          <a:noFill/>
          <a:ln/>
        </p:spPr>
        <p:txBody>
          <a:bodyPr wrap="square" lIns="0" tIns="0" rIns="0" bIns="0" rtlCol="0" anchor="ctr"/>
          <a:lstStyle/>
          <a:p>
            <a:pPr marL="0" indent="0">
              <a:buNone/>
            </a:pPr>
            <a:r>
              <a:rPr lang="en-US" sz="780" dirty="0">
                <a:solidFill>
                  <a:srgbClr val="12233B"/>
                </a:solidFill>
                <a:latin typeface="Trenda IG Text" pitchFamily="34" charset="0"/>
                <a:ea typeface="Trenda IG Text" pitchFamily="34" charset="-122"/>
                <a:cs typeface="Trenda IG Text" pitchFamily="34" charset="-120"/>
              </a:rPr>
              <a:t>Support traces an incident to component, owning pod and last change in minutes.</a:t>
            </a:r>
            <a:endParaRPr lang="en-US" sz="780" dirty="0"/>
          </a:p>
        </p:txBody>
      </p:sp>
      <p:sp>
        <p:nvSpPr>
          <p:cNvPr id="54" name="Text 52"/>
          <p:cNvSpPr txBox="1"/>
          <p:nvPr/>
        </p:nvSpPr>
        <p:spPr>
          <a:xfrm>
            <a:off x="4956048" y="4828032"/>
            <a:ext cx="2953512" cy="164592"/>
          </a:xfrm>
          <a:prstGeom prst="rect">
            <a:avLst/>
          </a:prstGeom>
          <a:noFill/>
          <a:ln/>
        </p:spPr>
        <p:txBody>
          <a:bodyPr wrap="square" lIns="0" tIns="0" rIns="0" bIns="0" rtlCol="0" anchor="ctr"/>
          <a:lstStyle/>
          <a:p>
            <a:pPr marL="0" indent="0">
              <a:buNone/>
            </a:pPr>
            <a:r>
              <a:rPr lang="en-US" sz="680" b="1" dirty="0">
                <a:solidFill>
                  <a:srgbClr val="00757F"/>
                </a:solidFill>
                <a:latin typeface="Trenda IG Text" pitchFamily="34" charset="0"/>
                <a:ea typeface="Trenda IG Text" pitchFamily="34" charset="-122"/>
                <a:cs typeface="Trenda IG Text" pitchFamily="34" charset="-120"/>
              </a:rPr>
              <a:t>Orchestrator + graph</a:t>
            </a:r>
            <a:endParaRPr lang="en-US" sz="680" dirty="0"/>
          </a:p>
        </p:txBody>
      </p:sp>
      <p:sp>
        <p:nvSpPr>
          <p:cNvPr id="55" name="Shape 53"/>
          <p:cNvSpPr/>
          <p:nvPr/>
        </p:nvSpPr>
        <p:spPr>
          <a:xfrm>
            <a:off x="8229600" y="1243584"/>
            <a:ext cx="3547872" cy="3785616"/>
          </a:xfrm>
          <a:prstGeom prst="rect">
            <a:avLst/>
          </a:prstGeom>
          <a:solidFill>
            <a:srgbClr val="FFFFFF"/>
          </a:solidFill>
          <a:ln w="9525">
            <a:solidFill>
              <a:srgbClr val="DCE4EE"/>
            </a:solidFill>
            <a:prstDash val="solid"/>
          </a:ln>
        </p:spPr>
        <p:txBody>
          <a:bodyPr/>
          <a:lstStyle/>
          <a:p>
            <a:endParaRPr lang="en-IN"/>
          </a:p>
        </p:txBody>
      </p:sp>
      <p:sp>
        <p:nvSpPr>
          <p:cNvPr id="56" name="Shape 54"/>
          <p:cNvSpPr/>
          <p:nvPr/>
        </p:nvSpPr>
        <p:spPr>
          <a:xfrm>
            <a:off x="8229600" y="1243584"/>
            <a:ext cx="3547872" cy="310896"/>
          </a:xfrm>
          <a:prstGeom prst="rect">
            <a:avLst/>
          </a:prstGeom>
          <a:solidFill>
            <a:srgbClr val="C2185B"/>
          </a:solidFill>
          <a:ln w="12700">
            <a:solidFill>
              <a:srgbClr val="C2185B"/>
            </a:solidFill>
            <a:prstDash val="solid"/>
          </a:ln>
        </p:spPr>
        <p:txBody>
          <a:bodyPr/>
          <a:lstStyle/>
          <a:p>
            <a:endParaRPr lang="en-IN"/>
          </a:p>
        </p:txBody>
      </p:sp>
      <p:sp>
        <p:nvSpPr>
          <p:cNvPr id="57" name="Text 55"/>
          <p:cNvSpPr/>
          <p:nvPr/>
        </p:nvSpPr>
        <p:spPr>
          <a:xfrm>
            <a:off x="8366760" y="1243584"/>
            <a:ext cx="3273552"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Operating model shift</a:t>
            </a:r>
            <a:endParaRPr lang="en-US" sz="1000" dirty="0"/>
          </a:p>
        </p:txBody>
      </p:sp>
      <p:sp>
        <p:nvSpPr>
          <p:cNvPr id="58" name="Text 56"/>
          <p:cNvSpPr txBox="1"/>
          <p:nvPr/>
        </p:nvSpPr>
        <p:spPr>
          <a:xfrm>
            <a:off x="8385048" y="1655064"/>
            <a:ext cx="3273552" cy="164592"/>
          </a:xfrm>
          <a:prstGeom prst="rect">
            <a:avLst/>
          </a:prstGeom>
          <a:noFill/>
          <a:ln/>
        </p:spPr>
        <p:txBody>
          <a:bodyPr wrap="square" lIns="0" tIns="0" rIns="0" bIns="0" rtlCol="0" anchor="ctr"/>
          <a:lstStyle/>
          <a:p>
            <a:pPr marL="0" indent="0">
              <a:buNone/>
            </a:pPr>
            <a:r>
              <a:rPr lang="en-US" sz="700" b="1" kern="0" spc="100" dirty="0">
                <a:solidFill>
                  <a:srgbClr val="5C6E85"/>
                </a:solidFill>
                <a:latin typeface="Trenda IG Text" pitchFamily="34" charset="0"/>
                <a:ea typeface="Trenda IG Text" pitchFamily="34" charset="-122"/>
                <a:cs typeface="Trenda IG Text" pitchFamily="34" charset="-120"/>
              </a:rPr>
              <a:t>TODAY · EVERY POD, FULL STACK</a:t>
            </a:r>
            <a:endParaRPr lang="en-US" sz="700" dirty="0"/>
          </a:p>
        </p:txBody>
      </p:sp>
      <p:sp>
        <p:nvSpPr>
          <p:cNvPr id="59" name="Shape 57"/>
          <p:cNvSpPr/>
          <p:nvPr/>
        </p:nvSpPr>
        <p:spPr>
          <a:xfrm>
            <a:off x="8385048" y="1847088"/>
            <a:ext cx="1005840" cy="658368"/>
          </a:xfrm>
          <a:prstGeom prst="rect">
            <a:avLst/>
          </a:prstGeom>
          <a:solidFill>
            <a:srgbClr val="EEF2F7"/>
          </a:solidFill>
          <a:ln w="9525">
            <a:solidFill>
              <a:srgbClr val="C7D2DE"/>
            </a:solidFill>
            <a:prstDash val="solid"/>
          </a:ln>
        </p:spPr>
        <p:txBody>
          <a:bodyPr/>
          <a:lstStyle/>
          <a:p>
            <a:endParaRPr lang="en-IN"/>
          </a:p>
        </p:txBody>
      </p:sp>
      <p:sp>
        <p:nvSpPr>
          <p:cNvPr id="60" name="Text 58"/>
          <p:cNvSpPr txBox="1"/>
          <p:nvPr/>
        </p:nvSpPr>
        <p:spPr>
          <a:xfrm>
            <a:off x="8458200" y="1874520"/>
            <a:ext cx="868680" cy="146304"/>
          </a:xfrm>
          <a:prstGeom prst="rect">
            <a:avLst/>
          </a:prstGeom>
          <a:noFill/>
          <a:ln/>
        </p:spPr>
        <p:txBody>
          <a:bodyPr wrap="square" lIns="0" tIns="0" rIns="0" bIns="0" rtlCol="0" anchor="ctr"/>
          <a:lstStyle/>
          <a:p>
            <a:pPr marL="0" indent="0">
              <a:buNone/>
            </a:pPr>
            <a:r>
              <a:rPr lang="en-US" sz="750" b="1" dirty="0">
                <a:solidFill>
                  <a:srgbClr val="12233B"/>
                </a:solidFill>
                <a:latin typeface="Trenda IG Text" pitchFamily="34" charset="0"/>
                <a:ea typeface="Trenda IG Text" pitchFamily="34" charset="-122"/>
                <a:cs typeface="Trenda IG Text" pitchFamily="34" charset="-120"/>
              </a:rPr>
              <a:t>Pod A</a:t>
            </a:r>
            <a:endParaRPr lang="en-US" sz="750" dirty="0"/>
          </a:p>
        </p:txBody>
      </p:sp>
      <p:sp>
        <p:nvSpPr>
          <p:cNvPr id="61" name="Text 59"/>
          <p:cNvSpPr txBox="1"/>
          <p:nvPr/>
        </p:nvSpPr>
        <p:spPr>
          <a:xfrm>
            <a:off x="8458200" y="2029968"/>
            <a:ext cx="868680" cy="438912"/>
          </a:xfrm>
          <a:prstGeom prst="rect">
            <a:avLst/>
          </a:prstGeom>
          <a:noFill/>
          <a:ln/>
        </p:spPr>
        <p:txBody>
          <a:bodyPr wrap="square" lIns="0" tIns="0" rIns="0" bIns="0" rtlCol="0" anchor="t"/>
          <a:lstStyle/>
          <a:p>
            <a:pPr marL="0" indent="0">
              <a:buNone/>
            </a:pPr>
            <a:r>
              <a:rPr lang="en-US" sz="650" dirty="0">
                <a:solidFill>
                  <a:srgbClr val="5C6E85"/>
                </a:solidFill>
                <a:latin typeface="Trenda IG Text" pitchFamily="34" charset="0"/>
                <a:ea typeface="Trenda IG Text" pitchFamily="34" charset="-122"/>
                <a:cs typeface="Trenda IG Text" pitchFamily="34" charset="-120"/>
              </a:rPr>
              <a:t>BA · Devs · QA · Release · Support</a:t>
            </a:r>
            <a:endParaRPr lang="en-US" sz="650" dirty="0"/>
          </a:p>
        </p:txBody>
      </p:sp>
      <p:sp>
        <p:nvSpPr>
          <p:cNvPr id="62" name="Shape 60"/>
          <p:cNvSpPr/>
          <p:nvPr/>
        </p:nvSpPr>
        <p:spPr>
          <a:xfrm>
            <a:off x="9482328" y="1847088"/>
            <a:ext cx="1005840" cy="658368"/>
          </a:xfrm>
          <a:prstGeom prst="rect">
            <a:avLst/>
          </a:prstGeom>
          <a:solidFill>
            <a:srgbClr val="EEF2F7"/>
          </a:solidFill>
          <a:ln w="9525">
            <a:solidFill>
              <a:srgbClr val="C7D2DE"/>
            </a:solidFill>
            <a:prstDash val="solid"/>
          </a:ln>
        </p:spPr>
        <p:txBody>
          <a:bodyPr/>
          <a:lstStyle/>
          <a:p>
            <a:endParaRPr lang="en-IN"/>
          </a:p>
        </p:txBody>
      </p:sp>
      <p:sp>
        <p:nvSpPr>
          <p:cNvPr id="63" name="Text 61"/>
          <p:cNvSpPr txBox="1"/>
          <p:nvPr/>
        </p:nvSpPr>
        <p:spPr>
          <a:xfrm>
            <a:off x="9555480" y="1874520"/>
            <a:ext cx="868680" cy="146304"/>
          </a:xfrm>
          <a:prstGeom prst="rect">
            <a:avLst/>
          </a:prstGeom>
          <a:noFill/>
          <a:ln/>
        </p:spPr>
        <p:txBody>
          <a:bodyPr wrap="square" lIns="0" tIns="0" rIns="0" bIns="0" rtlCol="0" anchor="ctr"/>
          <a:lstStyle/>
          <a:p>
            <a:pPr marL="0" indent="0">
              <a:buNone/>
            </a:pPr>
            <a:r>
              <a:rPr lang="en-US" sz="750" b="1" dirty="0">
                <a:solidFill>
                  <a:srgbClr val="12233B"/>
                </a:solidFill>
                <a:latin typeface="Trenda IG Text" pitchFamily="34" charset="0"/>
                <a:ea typeface="Trenda IG Text" pitchFamily="34" charset="-122"/>
                <a:cs typeface="Trenda IG Text" pitchFamily="34" charset="-120"/>
              </a:rPr>
              <a:t>Pod B</a:t>
            </a:r>
            <a:endParaRPr lang="en-US" sz="750" dirty="0"/>
          </a:p>
        </p:txBody>
      </p:sp>
      <p:sp>
        <p:nvSpPr>
          <p:cNvPr id="64" name="Text 62"/>
          <p:cNvSpPr txBox="1"/>
          <p:nvPr/>
        </p:nvSpPr>
        <p:spPr>
          <a:xfrm>
            <a:off x="9555480" y="2029968"/>
            <a:ext cx="868680" cy="438912"/>
          </a:xfrm>
          <a:prstGeom prst="rect">
            <a:avLst/>
          </a:prstGeom>
          <a:noFill/>
          <a:ln/>
        </p:spPr>
        <p:txBody>
          <a:bodyPr wrap="square" lIns="0" tIns="0" rIns="0" bIns="0" rtlCol="0" anchor="t"/>
          <a:lstStyle/>
          <a:p>
            <a:pPr marL="0" indent="0">
              <a:buNone/>
            </a:pPr>
            <a:r>
              <a:rPr lang="en-US" sz="650" dirty="0">
                <a:solidFill>
                  <a:srgbClr val="5C6E85"/>
                </a:solidFill>
                <a:latin typeface="Trenda IG Text" pitchFamily="34" charset="0"/>
                <a:ea typeface="Trenda IG Text" pitchFamily="34" charset="-122"/>
                <a:cs typeface="Trenda IG Text" pitchFamily="34" charset="-120"/>
              </a:rPr>
              <a:t>BA · Devs · QA · Release · Support</a:t>
            </a:r>
            <a:endParaRPr lang="en-US" sz="650" dirty="0"/>
          </a:p>
        </p:txBody>
      </p:sp>
      <p:sp>
        <p:nvSpPr>
          <p:cNvPr id="65" name="Shape 63"/>
          <p:cNvSpPr/>
          <p:nvPr/>
        </p:nvSpPr>
        <p:spPr>
          <a:xfrm>
            <a:off x="10579608" y="1847088"/>
            <a:ext cx="1005840" cy="658368"/>
          </a:xfrm>
          <a:prstGeom prst="rect">
            <a:avLst/>
          </a:prstGeom>
          <a:solidFill>
            <a:srgbClr val="EEF2F7"/>
          </a:solidFill>
          <a:ln w="9525">
            <a:solidFill>
              <a:srgbClr val="C7D2DE"/>
            </a:solidFill>
            <a:prstDash val="solid"/>
          </a:ln>
        </p:spPr>
        <p:txBody>
          <a:bodyPr/>
          <a:lstStyle/>
          <a:p>
            <a:endParaRPr lang="en-IN"/>
          </a:p>
        </p:txBody>
      </p:sp>
      <p:sp>
        <p:nvSpPr>
          <p:cNvPr id="66" name="Text 64"/>
          <p:cNvSpPr txBox="1"/>
          <p:nvPr/>
        </p:nvSpPr>
        <p:spPr>
          <a:xfrm>
            <a:off x="10652760" y="1874520"/>
            <a:ext cx="868680" cy="146304"/>
          </a:xfrm>
          <a:prstGeom prst="rect">
            <a:avLst/>
          </a:prstGeom>
          <a:noFill/>
          <a:ln/>
        </p:spPr>
        <p:txBody>
          <a:bodyPr wrap="square" lIns="0" tIns="0" rIns="0" bIns="0" rtlCol="0" anchor="ctr"/>
          <a:lstStyle/>
          <a:p>
            <a:pPr marL="0" indent="0">
              <a:buNone/>
            </a:pPr>
            <a:r>
              <a:rPr lang="en-US" sz="750" b="1" dirty="0">
                <a:solidFill>
                  <a:srgbClr val="12233B"/>
                </a:solidFill>
                <a:latin typeface="Trenda IG Text" pitchFamily="34" charset="0"/>
                <a:ea typeface="Trenda IG Text" pitchFamily="34" charset="-122"/>
                <a:cs typeface="Trenda IG Text" pitchFamily="34" charset="-120"/>
              </a:rPr>
              <a:t>Pod C</a:t>
            </a:r>
            <a:endParaRPr lang="en-US" sz="750" dirty="0"/>
          </a:p>
        </p:txBody>
      </p:sp>
      <p:sp>
        <p:nvSpPr>
          <p:cNvPr id="67" name="Text 65"/>
          <p:cNvSpPr txBox="1"/>
          <p:nvPr/>
        </p:nvSpPr>
        <p:spPr>
          <a:xfrm>
            <a:off x="10652760" y="2029968"/>
            <a:ext cx="868680" cy="438912"/>
          </a:xfrm>
          <a:prstGeom prst="rect">
            <a:avLst/>
          </a:prstGeom>
          <a:noFill/>
          <a:ln/>
        </p:spPr>
        <p:txBody>
          <a:bodyPr wrap="square" lIns="0" tIns="0" rIns="0" bIns="0" rtlCol="0" anchor="t"/>
          <a:lstStyle/>
          <a:p>
            <a:pPr marL="0" indent="0">
              <a:buNone/>
            </a:pPr>
            <a:r>
              <a:rPr lang="en-US" sz="650" dirty="0">
                <a:solidFill>
                  <a:srgbClr val="5C6E85"/>
                </a:solidFill>
                <a:latin typeface="Trenda IG Text" pitchFamily="34" charset="0"/>
                <a:ea typeface="Trenda IG Text" pitchFamily="34" charset="-122"/>
                <a:cs typeface="Trenda IG Text" pitchFamily="34" charset="-120"/>
              </a:rPr>
              <a:t>BA · Devs · QA · Release · Support</a:t>
            </a:r>
            <a:endParaRPr lang="en-US" sz="650" dirty="0"/>
          </a:p>
        </p:txBody>
      </p:sp>
      <p:sp>
        <p:nvSpPr>
          <p:cNvPr id="68" name="Text 66"/>
          <p:cNvSpPr txBox="1"/>
          <p:nvPr/>
        </p:nvSpPr>
        <p:spPr>
          <a:xfrm>
            <a:off x="8385048" y="2551176"/>
            <a:ext cx="3273552" cy="182880"/>
          </a:xfrm>
          <a:prstGeom prst="rect">
            <a:avLst/>
          </a:prstGeom>
          <a:noFill/>
          <a:ln/>
        </p:spPr>
        <p:txBody>
          <a:bodyPr wrap="square" lIns="0" tIns="0" rIns="0" bIns="0" rtlCol="0" anchor="ctr"/>
          <a:lstStyle/>
          <a:p>
            <a:pPr marL="0" indent="0">
              <a:buNone/>
            </a:pPr>
            <a:r>
              <a:rPr lang="en-US" sz="720" i="1" dirty="0">
                <a:solidFill>
                  <a:srgbClr val="5C6E85"/>
                </a:solidFill>
                <a:latin typeface="Trenda IG Text" pitchFamily="34" charset="0"/>
                <a:ea typeface="Trenda IG Text" pitchFamily="34" charset="-122"/>
                <a:cs typeface="Trenda IG Text" pitchFamily="34" charset="-120"/>
              </a:rPr>
              <a:t>Same skills repeated in every pod; knowledge lives in people.</a:t>
            </a:r>
            <a:endParaRPr lang="en-US" sz="720" dirty="0"/>
          </a:p>
        </p:txBody>
      </p:sp>
      <p:sp>
        <p:nvSpPr>
          <p:cNvPr id="69" name="Text 67"/>
          <p:cNvSpPr txBox="1"/>
          <p:nvPr/>
        </p:nvSpPr>
        <p:spPr>
          <a:xfrm>
            <a:off x="8385048" y="2843784"/>
            <a:ext cx="3273552" cy="164592"/>
          </a:xfrm>
          <a:prstGeom prst="rect">
            <a:avLst/>
          </a:prstGeom>
          <a:noFill/>
          <a:ln/>
        </p:spPr>
        <p:txBody>
          <a:bodyPr wrap="square" lIns="0" tIns="0" rIns="0" bIns="0" rtlCol="0" anchor="ctr"/>
          <a:lstStyle/>
          <a:p>
            <a:pPr marL="0" indent="0">
              <a:buNone/>
            </a:pPr>
            <a:r>
              <a:rPr lang="en-US" sz="700" b="1" kern="0" spc="100" dirty="0">
                <a:solidFill>
                  <a:srgbClr val="00757F"/>
                </a:solidFill>
                <a:latin typeface="Trenda IG Text" pitchFamily="34" charset="0"/>
                <a:ea typeface="Trenda IG Text" pitchFamily="34" charset="-122"/>
                <a:cs typeface="Trenda IG Text" pitchFamily="34" charset="-120"/>
              </a:rPr>
              <a:t>WITH MAD · LEAN PODS ON ONE PLATFORM</a:t>
            </a:r>
            <a:endParaRPr lang="en-US" sz="700" dirty="0"/>
          </a:p>
        </p:txBody>
      </p:sp>
      <p:sp>
        <p:nvSpPr>
          <p:cNvPr id="70" name="Shape 68"/>
          <p:cNvSpPr/>
          <p:nvPr/>
        </p:nvSpPr>
        <p:spPr>
          <a:xfrm>
            <a:off x="8385048" y="3035808"/>
            <a:ext cx="1005840" cy="502920"/>
          </a:xfrm>
          <a:prstGeom prst="rect">
            <a:avLst/>
          </a:prstGeom>
          <a:solidFill>
            <a:srgbClr val="E3F2F4"/>
          </a:solidFill>
          <a:ln w="9525">
            <a:solidFill>
              <a:srgbClr val="00757F"/>
            </a:solidFill>
            <a:prstDash val="solid"/>
          </a:ln>
        </p:spPr>
        <p:txBody>
          <a:bodyPr/>
          <a:lstStyle/>
          <a:p>
            <a:endParaRPr lang="en-IN"/>
          </a:p>
        </p:txBody>
      </p:sp>
      <p:sp>
        <p:nvSpPr>
          <p:cNvPr id="71" name="Text 69"/>
          <p:cNvSpPr txBox="1"/>
          <p:nvPr/>
        </p:nvSpPr>
        <p:spPr>
          <a:xfrm>
            <a:off x="8458200" y="3063240"/>
            <a:ext cx="868680" cy="146304"/>
          </a:xfrm>
          <a:prstGeom prst="rect">
            <a:avLst/>
          </a:prstGeom>
          <a:noFill/>
          <a:ln/>
        </p:spPr>
        <p:txBody>
          <a:bodyPr wrap="square" lIns="0" tIns="0" rIns="0" bIns="0" rtlCol="0" anchor="ctr"/>
          <a:lstStyle/>
          <a:p>
            <a:pPr marL="0" indent="0">
              <a:buNone/>
            </a:pPr>
            <a:r>
              <a:rPr lang="en-US" sz="750" b="1" dirty="0">
                <a:solidFill>
                  <a:srgbClr val="00757F"/>
                </a:solidFill>
                <a:latin typeface="Trenda IG Text" pitchFamily="34" charset="0"/>
                <a:ea typeface="Trenda IG Text" pitchFamily="34" charset="-122"/>
                <a:cs typeface="Trenda IG Text" pitchFamily="34" charset="-120"/>
              </a:rPr>
              <a:t>Pod A</a:t>
            </a:r>
            <a:endParaRPr lang="en-US" sz="750" dirty="0"/>
          </a:p>
        </p:txBody>
      </p:sp>
      <p:sp>
        <p:nvSpPr>
          <p:cNvPr id="72" name="Text 70"/>
          <p:cNvSpPr txBox="1"/>
          <p:nvPr/>
        </p:nvSpPr>
        <p:spPr>
          <a:xfrm>
            <a:off x="8458200" y="3218688"/>
            <a:ext cx="868680" cy="292608"/>
          </a:xfrm>
          <a:prstGeom prst="rect">
            <a:avLst/>
          </a:prstGeom>
          <a:noFill/>
          <a:ln/>
        </p:spPr>
        <p:txBody>
          <a:bodyPr wrap="square" lIns="0" tIns="0" rIns="0" bIns="0" rtlCol="0" anchor="t"/>
          <a:lstStyle/>
          <a:p>
            <a:pPr marL="0" indent="0">
              <a:buNone/>
            </a:pPr>
            <a:r>
              <a:rPr lang="en-US" sz="650" dirty="0">
                <a:solidFill>
                  <a:srgbClr val="12233B"/>
                </a:solidFill>
                <a:latin typeface="Trenda IG Text" pitchFamily="34" charset="0"/>
                <a:ea typeface="Trenda IG Text" pitchFamily="34" charset="-122"/>
                <a:cs typeface="Trenda IG Text" pitchFamily="34" charset="-120"/>
              </a:rPr>
              <a:t>Owner · Lead · 2-4 engineers</a:t>
            </a:r>
            <a:endParaRPr lang="en-US" sz="650" dirty="0"/>
          </a:p>
        </p:txBody>
      </p:sp>
      <p:sp>
        <p:nvSpPr>
          <p:cNvPr id="73" name="Shape 71"/>
          <p:cNvSpPr/>
          <p:nvPr/>
        </p:nvSpPr>
        <p:spPr>
          <a:xfrm>
            <a:off x="9482328" y="3035808"/>
            <a:ext cx="1005840" cy="502920"/>
          </a:xfrm>
          <a:prstGeom prst="rect">
            <a:avLst/>
          </a:prstGeom>
          <a:solidFill>
            <a:srgbClr val="E3F2F4"/>
          </a:solidFill>
          <a:ln w="9525">
            <a:solidFill>
              <a:srgbClr val="00757F"/>
            </a:solidFill>
            <a:prstDash val="solid"/>
          </a:ln>
        </p:spPr>
        <p:txBody>
          <a:bodyPr/>
          <a:lstStyle/>
          <a:p>
            <a:endParaRPr lang="en-IN"/>
          </a:p>
        </p:txBody>
      </p:sp>
      <p:sp>
        <p:nvSpPr>
          <p:cNvPr id="74" name="Text 72"/>
          <p:cNvSpPr txBox="1"/>
          <p:nvPr/>
        </p:nvSpPr>
        <p:spPr>
          <a:xfrm>
            <a:off x="9555480" y="3063240"/>
            <a:ext cx="868680" cy="146304"/>
          </a:xfrm>
          <a:prstGeom prst="rect">
            <a:avLst/>
          </a:prstGeom>
          <a:noFill/>
          <a:ln/>
        </p:spPr>
        <p:txBody>
          <a:bodyPr wrap="square" lIns="0" tIns="0" rIns="0" bIns="0" rtlCol="0" anchor="ctr"/>
          <a:lstStyle/>
          <a:p>
            <a:pPr marL="0" indent="0">
              <a:buNone/>
            </a:pPr>
            <a:r>
              <a:rPr lang="en-US" sz="750" b="1" dirty="0">
                <a:solidFill>
                  <a:srgbClr val="00757F"/>
                </a:solidFill>
                <a:latin typeface="Trenda IG Text" pitchFamily="34" charset="0"/>
                <a:ea typeface="Trenda IG Text" pitchFamily="34" charset="-122"/>
                <a:cs typeface="Trenda IG Text" pitchFamily="34" charset="-120"/>
              </a:rPr>
              <a:t>Pod B</a:t>
            </a:r>
            <a:endParaRPr lang="en-US" sz="750" dirty="0"/>
          </a:p>
        </p:txBody>
      </p:sp>
      <p:sp>
        <p:nvSpPr>
          <p:cNvPr id="75" name="Text 73"/>
          <p:cNvSpPr txBox="1"/>
          <p:nvPr/>
        </p:nvSpPr>
        <p:spPr>
          <a:xfrm>
            <a:off x="9555480" y="3218688"/>
            <a:ext cx="868680" cy="292608"/>
          </a:xfrm>
          <a:prstGeom prst="rect">
            <a:avLst/>
          </a:prstGeom>
          <a:noFill/>
          <a:ln/>
        </p:spPr>
        <p:txBody>
          <a:bodyPr wrap="square" lIns="0" tIns="0" rIns="0" bIns="0" rtlCol="0" anchor="t"/>
          <a:lstStyle/>
          <a:p>
            <a:pPr marL="0" indent="0">
              <a:buNone/>
            </a:pPr>
            <a:r>
              <a:rPr lang="en-US" sz="650" dirty="0">
                <a:solidFill>
                  <a:srgbClr val="12233B"/>
                </a:solidFill>
                <a:latin typeface="Trenda IG Text" pitchFamily="34" charset="0"/>
                <a:ea typeface="Trenda IG Text" pitchFamily="34" charset="-122"/>
                <a:cs typeface="Trenda IG Text" pitchFamily="34" charset="-120"/>
              </a:rPr>
              <a:t>Owner · Lead · 2-4 engineers</a:t>
            </a:r>
            <a:endParaRPr lang="en-US" sz="650" dirty="0"/>
          </a:p>
        </p:txBody>
      </p:sp>
      <p:sp>
        <p:nvSpPr>
          <p:cNvPr id="76" name="Shape 74"/>
          <p:cNvSpPr/>
          <p:nvPr/>
        </p:nvSpPr>
        <p:spPr>
          <a:xfrm>
            <a:off x="10579608" y="3035808"/>
            <a:ext cx="1005840" cy="502920"/>
          </a:xfrm>
          <a:prstGeom prst="rect">
            <a:avLst/>
          </a:prstGeom>
          <a:solidFill>
            <a:srgbClr val="E3F2F4"/>
          </a:solidFill>
          <a:ln w="9525">
            <a:solidFill>
              <a:srgbClr val="00757F"/>
            </a:solidFill>
            <a:prstDash val="solid"/>
          </a:ln>
        </p:spPr>
        <p:txBody>
          <a:bodyPr/>
          <a:lstStyle/>
          <a:p>
            <a:endParaRPr lang="en-IN"/>
          </a:p>
        </p:txBody>
      </p:sp>
      <p:sp>
        <p:nvSpPr>
          <p:cNvPr id="77" name="Text 75"/>
          <p:cNvSpPr txBox="1"/>
          <p:nvPr/>
        </p:nvSpPr>
        <p:spPr>
          <a:xfrm>
            <a:off x="10652760" y="3063240"/>
            <a:ext cx="868680" cy="146304"/>
          </a:xfrm>
          <a:prstGeom prst="rect">
            <a:avLst/>
          </a:prstGeom>
          <a:noFill/>
          <a:ln/>
        </p:spPr>
        <p:txBody>
          <a:bodyPr wrap="square" lIns="0" tIns="0" rIns="0" bIns="0" rtlCol="0" anchor="ctr"/>
          <a:lstStyle/>
          <a:p>
            <a:pPr marL="0" indent="0">
              <a:buNone/>
            </a:pPr>
            <a:r>
              <a:rPr lang="en-US" sz="750" b="1" dirty="0">
                <a:solidFill>
                  <a:srgbClr val="00757F"/>
                </a:solidFill>
                <a:latin typeface="Trenda IG Text" pitchFamily="34" charset="0"/>
                <a:ea typeface="Trenda IG Text" pitchFamily="34" charset="-122"/>
                <a:cs typeface="Trenda IG Text" pitchFamily="34" charset="-120"/>
              </a:rPr>
              <a:t>Pod C</a:t>
            </a:r>
            <a:endParaRPr lang="en-US" sz="750" dirty="0"/>
          </a:p>
        </p:txBody>
      </p:sp>
      <p:sp>
        <p:nvSpPr>
          <p:cNvPr id="78" name="Text 76"/>
          <p:cNvSpPr txBox="1"/>
          <p:nvPr/>
        </p:nvSpPr>
        <p:spPr>
          <a:xfrm>
            <a:off x="10652760" y="3218688"/>
            <a:ext cx="868680" cy="292608"/>
          </a:xfrm>
          <a:prstGeom prst="rect">
            <a:avLst/>
          </a:prstGeom>
          <a:noFill/>
          <a:ln/>
        </p:spPr>
        <p:txBody>
          <a:bodyPr wrap="square" lIns="0" tIns="0" rIns="0" bIns="0" rtlCol="0" anchor="t"/>
          <a:lstStyle/>
          <a:p>
            <a:pPr marL="0" indent="0">
              <a:buNone/>
            </a:pPr>
            <a:r>
              <a:rPr lang="en-US" sz="650" dirty="0">
                <a:solidFill>
                  <a:srgbClr val="12233B"/>
                </a:solidFill>
                <a:latin typeface="Trenda IG Text" pitchFamily="34" charset="0"/>
                <a:ea typeface="Trenda IG Text" pitchFamily="34" charset="-122"/>
                <a:cs typeface="Trenda IG Text" pitchFamily="34" charset="-120"/>
              </a:rPr>
              <a:t>Owner · Lead · 2-4 engineers</a:t>
            </a:r>
            <a:endParaRPr lang="en-US" sz="650" dirty="0"/>
          </a:p>
        </p:txBody>
      </p:sp>
      <p:sp>
        <p:nvSpPr>
          <p:cNvPr id="79" name="Shape 77"/>
          <p:cNvSpPr/>
          <p:nvPr/>
        </p:nvSpPr>
        <p:spPr>
          <a:xfrm>
            <a:off x="8385048" y="3602736"/>
            <a:ext cx="3200400" cy="457200"/>
          </a:xfrm>
          <a:prstGeom prst="rect">
            <a:avLst/>
          </a:prstGeom>
          <a:solidFill>
            <a:srgbClr val="00757F"/>
          </a:solidFill>
          <a:ln w="12700">
            <a:solidFill>
              <a:srgbClr val="00757F"/>
            </a:solidFill>
            <a:prstDash val="solid"/>
          </a:ln>
        </p:spPr>
        <p:txBody>
          <a:bodyPr/>
          <a:lstStyle/>
          <a:p>
            <a:endParaRPr lang="en-IN"/>
          </a:p>
        </p:txBody>
      </p:sp>
      <p:sp>
        <p:nvSpPr>
          <p:cNvPr id="80" name="Text 78"/>
          <p:cNvSpPr txBox="1"/>
          <p:nvPr/>
        </p:nvSpPr>
        <p:spPr>
          <a:xfrm>
            <a:off x="8476488" y="3602736"/>
            <a:ext cx="3017520" cy="228600"/>
          </a:xfrm>
          <a:prstGeom prst="rect">
            <a:avLst/>
          </a:prstGeom>
          <a:noFill/>
          <a:ln/>
        </p:spPr>
        <p:txBody>
          <a:bodyPr wrap="square" lIns="0" tIns="0" rIns="0" bIns="0" rtlCol="0" anchor="ctr"/>
          <a:lstStyle/>
          <a:p>
            <a:pPr marL="0" indent="0">
              <a:buNone/>
            </a:pPr>
            <a:r>
              <a:rPr lang="en-US" sz="760" b="1" dirty="0">
                <a:solidFill>
                  <a:srgbClr val="FFFFFF"/>
                </a:solidFill>
                <a:latin typeface="Trenda IG Text" pitchFamily="34" charset="0"/>
                <a:ea typeface="Trenda IG Text" pitchFamily="34" charset="-122"/>
                <a:cs typeface="Trenda IG Text" pitchFamily="34" charset="-120"/>
              </a:rPr>
              <a:t>Shared MAD platform: 7 agents · knowledge graph · standards</a:t>
            </a:r>
            <a:endParaRPr lang="en-US" sz="760" dirty="0"/>
          </a:p>
        </p:txBody>
      </p:sp>
      <p:sp>
        <p:nvSpPr>
          <p:cNvPr id="81" name="Text 79"/>
          <p:cNvSpPr txBox="1"/>
          <p:nvPr/>
        </p:nvSpPr>
        <p:spPr>
          <a:xfrm>
            <a:off x="8476488" y="3822192"/>
            <a:ext cx="3017520" cy="201168"/>
          </a:xfrm>
          <a:prstGeom prst="rect">
            <a:avLst/>
          </a:prstGeom>
          <a:noFill/>
          <a:ln/>
        </p:spPr>
        <p:txBody>
          <a:bodyPr wrap="square" lIns="0" tIns="0" rIns="0" bIns="0" rtlCol="0" anchor="ctr"/>
          <a:lstStyle/>
          <a:p>
            <a:pPr marL="0" indent="0">
              <a:buNone/>
            </a:pPr>
            <a:r>
              <a:rPr lang="en-US" sz="700" dirty="0">
                <a:solidFill>
                  <a:srgbClr val="FFFFFF"/>
                </a:solidFill>
                <a:latin typeface="Trenda IG Text" pitchFamily="34" charset="0"/>
                <a:ea typeface="Trenda IG Text" pitchFamily="34" charset="-122"/>
                <a:cs typeface="Trenda IG Text" pitchFamily="34" charset="-120"/>
              </a:rPr>
              <a:t>Run by a small platform team (CoE) for every pod</a:t>
            </a:r>
            <a:endParaRPr lang="en-US" sz="700" dirty="0"/>
          </a:p>
        </p:txBody>
      </p:sp>
      <p:sp>
        <p:nvSpPr>
          <p:cNvPr id="82" name="Shape 80"/>
          <p:cNvSpPr/>
          <p:nvPr/>
        </p:nvSpPr>
        <p:spPr>
          <a:xfrm>
            <a:off x="8385048" y="4169664"/>
            <a:ext cx="3200400" cy="621792"/>
          </a:xfrm>
          <a:prstGeom prst="rect">
            <a:avLst/>
          </a:prstGeom>
          <a:solidFill>
            <a:srgbClr val="FBE9F0"/>
          </a:solidFill>
          <a:ln w="12700">
            <a:solidFill>
              <a:srgbClr val="FBE9F0"/>
            </a:solidFill>
            <a:prstDash val="solid"/>
          </a:ln>
        </p:spPr>
        <p:txBody>
          <a:bodyPr/>
          <a:lstStyle/>
          <a:p>
            <a:endParaRPr lang="en-IN"/>
          </a:p>
        </p:txBody>
      </p:sp>
      <p:sp>
        <p:nvSpPr>
          <p:cNvPr id="83" name="Text 81"/>
          <p:cNvSpPr txBox="1"/>
          <p:nvPr/>
        </p:nvSpPr>
        <p:spPr>
          <a:xfrm>
            <a:off x="8476488" y="4215384"/>
            <a:ext cx="3017520" cy="146304"/>
          </a:xfrm>
          <a:prstGeom prst="rect">
            <a:avLst/>
          </a:prstGeom>
          <a:noFill/>
          <a:ln/>
        </p:spPr>
        <p:txBody>
          <a:bodyPr wrap="square" lIns="0" tIns="0" rIns="0" bIns="0" rtlCol="0" anchor="ctr"/>
          <a:lstStyle/>
          <a:p>
            <a:pPr marL="0" indent="0">
              <a:buNone/>
            </a:pPr>
            <a:r>
              <a:rPr lang="en-US" sz="680" b="1" kern="0" spc="100" dirty="0">
                <a:solidFill>
                  <a:srgbClr val="C2185B"/>
                </a:solidFill>
                <a:latin typeface="Trenda IG Text" pitchFamily="34" charset="0"/>
                <a:ea typeface="Trenda IG Text" pitchFamily="34" charset="-122"/>
                <a:cs typeface="Trenda IG Text" pitchFamily="34" charset="-120"/>
              </a:rPr>
              <a:t>THE BOLD VERSION</a:t>
            </a:r>
            <a:endParaRPr lang="en-US" sz="680" dirty="0"/>
          </a:p>
        </p:txBody>
      </p:sp>
      <p:sp>
        <p:nvSpPr>
          <p:cNvPr id="84" name="Text 82"/>
          <p:cNvSpPr txBox="1"/>
          <p:nvPr/>
        </p:nvSpPr>
        <p:spPr>
          <a:xfrm>
            <a:off x="8476488" y="4370832"/>
            <a:ext cx="3017520" cy="402336"/>
          </a:xfrm>
          <a:prstGeom prst="rect">
            <a:avLst/>
          </a:prstGeom>
          <a:noFill/>
          <a:ln/>
        </p:spPr>
        <p:txBody>
          <a:bodyPr wrap="square" lIns="0" tIns="0" rIns="0" bIns="0" rtlCol="0" anchor="t"/>
          <a:lstStyle/>
          <a:p>
            <a:pPr marL="0" indent="0">
              <a:buNone/>
            </a:pPr>
            <a:r>
              <a:rPr lang="en-US" sz="760" dirty="0">
                <a:solidFill>
                  <a:srgbClr val="12233B"/>
                </a:solidFill>
                <a:latin typeface="Trenda IG Text" pitchFamily="34" charset="0"/>
                <a:ea typeface="Trenda IG Text" pitchFamily="34" charset="-122"/>
                <a:cs typeface="Trenda IG Text" pitchFamily="34" charset="-120"/>
              </a:rPr>
              <a:t>A new pod goes live on MAD in 2 weeks, not 2 months: connect its sources to the graph and switch on the agents.</a:t>
            </a:r>
            <a:endParaRPr lang="en-US" sz="760" dirty="0"/>
          </a:p>
        </p:txBody>
      </p:sp>
      <p:sp>
        <p:nvSpPr>
          <p:cNvPr id="85" name="Text 83"/>
          <p:cNvSpPr txBox="1"/>
          <p:nvPr/>
        </p:nvSpPr>
        <p:spPr>
          <a:xfrm>
            <a:off x="411480" y="5486400"/>
            <a:ext cx="7315200" cy="164592"/>
          </a:xfrm>
          <a:prstGeom prst="rect">
            <a:avLst/>
          </a:prstGeom>
          <a:noFill/>
          <a:ln/>
        </p:spPr>
        <p:txBody>
          <a:bodyPr wrap="square" lIns="0" tIns="0" rIns="0" bIns="0" rtlCol="0" anchor="ctr"/>
          <a:lstStyle/>
          <a:p>
            <a:pPr marL="0" indent="0">
              <a:buNone/>
            </a:pPr>
            <a:r>
              <a:rPr lang="en-US" sz="750" b="1" kern="0" spc="200" dirty="0">
                <a:solidFill>
                  <a:srgbClr val="00757F"/>
                </a:solidFill>
                <a:latin typeface="Trenda IG Text" pitchFamily="34" charset="0"/>
                <a:ea typeface="Trenda IG Text" pitchFamily="34" charset="-122"/>
                <a:cs typeface="Trenda IG Text" pitchFamily="34" charset="-120"/>
              </a:rPr>
              <a:t>TARGETS FOR THE PILOT</a:t>
            </a:r>
            <a:endParaRPr lang="en-US" sz="750" dirty="0"/>
          </a:p>
        </p:txBody>
      </p:sp>
      <p:sp>
        <p:nvSpPr>
          <p:cNvPr id="86" name="Shape 84"/>
          <p:cNvSpPr/>
          <p:nvPr/>
        </p:nvSpPr>
        <p:spPr>
          <a:xfrm>
            <a:off x="411480"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87" name="Shape 85"/>
          <p:cNvSpPr/>
          <p:nvPr/>
        </p:nvSpPr>
        <p:spPr>
          <a:xfrm>
            <a:off x="411480"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88" name="Text 86"/>
          <p:cNvSpPr txBox="1"/>
          <p:nvPr/>
        </p:nvSpPr>
        <p:spPr>
          <a:xfrm>
            <a:off x="576072"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~20 h</a:t>
            </a:r>
            <a:endParaRPr lang="en-US" sz="1700" dirty="0"/>
          </a:p>
        </p:txBody>
      </p:sp>
      <p:sp>
        <p:nvSpPr>
          <p:cNvPr id="89" name="Text 87"/>
          <p:cNvSpPr txBox="1"/>
          <p:nvPr/>
        </p:nvSpPr>
        <p:spPr>
          <a:xfrm>
            <a:off x="1783080"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delivery per day</a:t>
            </a:r>
            <a:endParaRPr lang="en-US" sz="830" dirty="0"/>
          </a:p>
        </p:txBody>
      </p:sp>
      <p:sp>
        <p:nvSpPr>
          <p:cNvPr id="90" name="Text 88"/>
          <p:cNvSpPr txBox="1"/>
          <p:nvPr/>
        </p:nvSpPr>
        <p:spPr>
          <a:xfrm>
            <a:off x="576072"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Agents work overnight; people review by day</a:t>
            </a:r>
            <a:endParaRPr lang="en-US" sz="730" dirty="0"/>
          </a:p>
        </p:txBody>
      </p:sp>
      <p:sp>
        <p:nvSpPr>
          <p:cNvPr id="91" name="Shape 89"/>
          <p:cNvSpPr/>
          <p:nvPr/>
        </p:nvSpPr>
        <p:spPr>
          <a:xfrm>
            <a:off x="3285439"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92" name="Shape 90"/>
          <p:cNvSpPr/>
          <p:nvPr/>
        </p:nvSpPr>
        <p:spPr>
          <a:xfrm>
            <a:off x="3285439"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93" name="Text 91"/>
          <p:cNvSpPr txBox="1"/>
          <p:nvPr/>
        </p:nvSpPr>
        <p:spPr>
          <a:xfrm>
            <a:off x="3450031"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~1 week</a:t>
            </a:r>
            <a:endParaRPr lang="en-US" sz="1700" dirty="0"/>
          </a:p>
        </p:txBody>
      </p:sp>
      <p:sp>
        <p:nvSpPr>
          <p:cNvPr id="94" name="Text 92"/>
          <p:cNvSpPr txBox="1"/>
          <p:nvPr/>
        </p:nvSpPr>
        <p:spPr>
          <a:xfrm>
            <a:off x="4657039"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to productive</a:t>
            </a:r>
            <a:endParaRPr lang="en-US" sz="830" dirty="0"/>
          </a:p>
        </p:txBody>
      </p:sp>
      <p:sp>
        <p:nvSpPr>
          <p:cNvPr id="95" name="Text 93"/>
          <p:cNvSpPr txBox="1"/>
          <p:nvPr/>
        </p:nvSpPr>
        <p:spPr>
          <a:xfrm>
            <a:off x="3450031"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New engineer, down from 4-6 weeks</a:t>
            </a:r>
            <a:endParaRPr lang="en-US" sz="730" dirty="0"/>
          </a:p>
        </p:txBody>
      </p:sp>
      <p:sp>
        <p:nvSpPr>
          <p:cNvPr id="96" name="Shape 94"/>
          <p:cNvSpPr/>
          <p:nvPr/>
        </p:nvSpPr>
        <p:spPr>
          <a:xfrm>
            <a:off x="6159398"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97" name="Shape 95"/>
          <p:cNvSpPr/>
          <p:nvPr/>
        </p:nvSpPr>
        <p:spPr>
          <a:xfrm>
            <a:off x="6159398"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98" name="Text 96"/>
          <p:cNvSpPr txBox="1"/>
          <p:nvPr/>
        </p:nvSpPr>
        <p:spPr>
          <a:xfrm>
            <a:off x="6323990"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100%</a:t>
            </a:r>
            <a:endParaRPr lang="en-US" sz="1700" dirty="0"/>
          </a:p>
        </p:txBody>
      </p:sp>
      <p:sp>
        <p:nvSpPr>
          <p:cNvPr id="99" name="Text 97"/>
          <p:cNvSpPr txBox="1"/>
          <p:nvPr/>
        </p:nvSpPr>
        <p:spPr>
          <a:xfrm>
            <a:off x="7530998"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changes checked</a:t>
            </a:r>
            <a:endParaRPr lang="en-US" sz="830" dirty="0"/>
          </a:p>
        </p:txBody>
      </p:sp>
      <p:sp>
        <p:nvSpPr>
          <p:cNvPr id="100" name="Text 98"/>
          <p:cNvSpPr txBox="1"/>
          <p:nvPr/>
        </p:nvSpPr>
        <p:spPr>
          <a:xfrm>
            <a:off x="6323990"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Same standards, every pod, every change</a:t>
            </a:r>
            <a:endParaRPr lang="en-US" sz="730" dirty="0"/>
          </a:p>
        </p:txBody>
      </p:sp>
      <p:sp>
        <p:nvSpPr>
          <p:cNvPr id="101" name="Shape 99"/>
          <p:cNvSpPr/>
          <p:nvPr/>
        </p:nvSpPr>
        <p:spPr>
          <a:xfrm>
            <a:off x="9033358"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102" name="Shape 100"/>
          <p:cNvSpPr/>
          <p:nvPr/>
        </p:nvSpPr>
        <p:spPr>
          <a:xfrm>
            <a:off x="9033358"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103" name="Text 101"/>
          <p:cNvSpPr txBox="1"/>
          <p:nvPr/>
        </p:nvSpPr>
        <p:spPr>
          <a:xfrm>
            <a:off x="9197950"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-50%</a:t>
            </a:r>
            <a:endParaRPr lang="en-US" sz="1700" dirty="0"/>
          </a:p>
        </p:txBody>
      </p:sp>
      <p:sp>
        <p:nvSpPr>
          <p:cNvPr id="104" name="Text 102"/>
          <p:cNvSpPr txBox="1"/>
          <p:nvPr/>
        </p:nvSpPr>
        <p:spPr>
          <a:xfrm>
            <a:off x="10404958"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incident triage time</a:t>
            </a:r>
            <a:endParaRPr lang="en-US" sz="830" dirty="0"/>
          </a:p>
        </p:txBody>
      </p:sp>
      <p:sp>
        <p:nvSpPr>
          <p:cNvPr id="105" name="Text 103"/>
          <p:cNvSpPr txBox="1"/>
          <p:nvPr/>
        </p:nvSpPr>
        <p:spPr>
          <a:xfrm>
            <a:off x="9197950"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Graph shows component, pod, last change</a:t>
            </a:r>
            <a:endParaRPr lang="en-US" sz="730" dirty="0"/>
          </a:p>
        </p:txBody>
      </p:sp>
      <p:sp>
        <p:nvSpPr>
          <p:cNvPr id="106" name="Text 104"/>
          <p:cNvSpPr txBox="1"/>
          <p:nvPr/>
        </p:nvSpPr>
        <p:spPr>
          <a:xfrm>
            <a:off x="411480" y="6492240"/>
            <a:ext cx="11338560" cy="182880"/>
          </a:xfrm>
          <a:prstGeom prst="rect">
            <a:avLst/>
          </a:prstGeom>
          <a:noFill/>
          <a:ln/>
        </p:spPr>
        <p:txBody>
          <a:bodyPr wrap="square" lIns="0" tIns="0" rIns="0" bIns="0" rtlCol="0" anchor="ctr"/>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Builds on the Engineering Context Knowledge Graph and the agents already in use for UI, backend and QA. Figures are pilot targets, to be baselined per pod.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11480" y="201168"/>
            <a:ext cx="82296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 · CHANGE MANAGEMENT</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Change management: no pod can break another pod without knowing first</a:t>
            </a:r>
            <a:endParaRPr lang="en-US" sz="2200" dirty="0"/>
          </a:p>
        </p:txBody>
      </p:sp>
      <p:sp>
        <p:nvSpPr>
          <p:cNvPr id="4" name="Text 2"/>
          <p:cNvSpPr txBox="1"/>
          <p:nvPr/>
        </p:nvSpPr>
        <p:spPr>
          <a:xfrm>
            <a:off x="411480" y="804672"/>
            <a:ext cx="11338560" cy="274320"/>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The extra piece MAD adds: a dedicated Change Guardian Agent that sits across every pod, between each change and the shared org. Nothing reaches the org without passing it.</a:t>
            </a:r>
            <a:endParaRPr lang="en-US" sz="1050" dirty="0"/>
          </a:p>
        </p:txBody>
      </p:sp>
      <p:sp>
        <p:nvSpPr>
          <p:cNvPr id="5" name="Shape 3"/>
          <p:cNvSpPr/>
          <p:nvPr/>
        </p:nvSpPr>
        <p:spPr>
          <a:xfrm>
            <a:off x="411480" y="1243584"/>
            <a:ext cx="3246120" cy="4224528"/>
          </a:xfrm>
          <a:prstGeom prst="rect">
            <a:avLst/>
          </a:prstGeom>
          <a:solidFill>
            <a:srgbClr val="FFFFFF"/>
          </a:solidFill>
          <a:ln w="9525">
            <a:solidFill>
              <a:srgbClr val="DCE4EE"/>
            </a:solidFill>
            <a:prstDash val="solid"/>
          </a:ln>
        </p:spPr>
        <p:txBody>
          <a:bodyPr/>
          <a:lstStyle/>
          <a:p>
            <a:endParaRPr lang="en-IN"/>
          </a:p>
        </p:txBody>
      </p:sp>
      <p:sp>
        <p:nvSpPr>
          <p:cNvPr id="6" name="Shape 4"/>
          <p:cNvSpPr/>
          <p:nvPr/>
        </p:nvSpPr>
        <p:spPr>
          <a:xfrm>
            <a:off x="411480" y="1243584"/>
            <a:ext cx="3246120" cy="310896"/>
          </a:xfrm>
          <a:prstGeom prst="rect">
            <a:avLst/>
          </a:prstGeom>
          <a:solidFill>
            <a:srgbClr val="5C6E85"/>
          </a:solidFill>
          <a:ln w="12700">
            <a:solidFill>
              <a:srgbClr val="5C6E85"/>
            </a:solidFill>
            <a:prstDash val="solid"/>
          </a:ln>
        </p:spPr>
        <p:txBody>
          <a:bodyPr/>
          <a:lstStyle/>
          <a:p>
            <a:endParaRPr lang="en-IN"/>
          </a:p>
        </p:txBody>
      </p:sp>
      <p:sp>
        <p:nvSpPr>
          <p:cNvPr id="7" name="Text 5"/>
          <p:cNvSpPr/>
          <p:nvPr/>
        </p:nvSpPr>
        <p:spPr>
          <a:xfrm>
            <a:off x="548640" y="1243584"/>
            <a:ext cx="2971800" cy="310896"/>
          </a:xfrm>
          <a:prstGeom prst="rect">
            <a:avLst/>
          </a:prstGeom>
          <a:noFill/>
          <a:ln/>
        </p:spPr>
        <p:txBody>
          <a:bodyPr wrap="square" lIns="0" tIns="0" rIns="0" bIns="0" rtlCol="0" anchor="ctr"/>
          <a:lstStyle/>
          <a:p>
            <a:pPr marL="0" indent="0">
              <a:buNone/>
            </a:pPr>
            <a:r>
              <a:rPr lang="en-US" sz="1000" b="1" dirty="0">
                <a:solidFill>
                  <a:srgbClr val="FFFFFF"/>
                </a:solidFill>
                <a:latin typeface="Trenda IG Text" pitchFamily="34" charset="0"/>
                <a:ea typeface="Trenda IG Text" pitchFamily="34" charset="-122"/>
                <a:cs typeface="Trenda IG Text" pitchFamily="34" charset="-120"/>
              </a:rPr>
              <a:t>Today · changes judged in isolation</a:t>
            </a:r>
            <a:endParaRPr lang="en-US" sz="1000" dirty="0"/>
          </a:p>
        </p:txBody>
      </p:sp>
      <p:sp>
        <p:nvSpPr>
          <p:cNvPr id="8" name="Shape 6"/>
          <p:cNvSpPr/>
          <p:nvPr/>
        </p:nvSpPr>
        <p:spPr>
          <a:xfrm>
            <a:off x="1074420" y="2002536"/>
            <a:ext cx="960120" cy="658368"/>
          </a:xfrm>
          <a:prstGeom prst="line">
            <a:avLst/>
          </a:prstGeom>
          <a:noFill/>
          <a:ln w="6350">
            <a:solidFill>
              <a:srgbClr val="C7D2DE"/>
            </a:solidFill>
            <a:prstDash val="solid"/>
          </a:ln>
        </p:spPr>
        <p:txBody>
          <a:bodyPr/>
          <a:lstStyle/>
          <a:p>
            <a:endParaRPr lang="en-IN"/>
          </a:p>
        </p:txBody>
      </p:sp>
      <p:sp>
        <p:nvSpPr>
          <p:cNvPr id="9" name="Text 7"/>
          <p:cNvSpPr/>
          <p:nvPr/>
        </p:nvSpPr>
        <p:spPr>
          <a:xfrm>
            <a:off x="662940" y="1911096"/>
            <a:ext cx="822960" cy="182880"/>
          </a:xfrm>
          <a:prstGeom prst="roundRect">
            <a:avLst>
              <a:gd name="adj" fmla="val 30000"/>
            </a:avLst>
          </a:prstGeom>
          <a:solidFill>
            <a:srgbClr val="FFFFFF"/>
          </a:solidFill>
          <a:ln w="9525">
            <a:solidFill>
              <a:srgbClr val="C7D2DE"/>
            </a:solidFill>
          </a:ln>
        </p:spPr>
        <p:txBody>
          <a:bodyPr wrap="square" lIns="0" tIns="0" rIns="0" bIns="0" rtlCol="0" anchor="ctr"/>
          <a:lstStyle/>
          <a:p>
            <a:pPr marL="0" indent="0" algn="ctr">
              <a:buNone/>
            </a:pPr>
            <a:r>
              <a:rPr lang="en-US" sz="630" b="1" dirty="0">
                <a:solidFill>
                  <a:srgbClr val="12233B"/>
                </a:solidFill>
                <a:latin typeface="Trenda IG Text" pitchFamily="34" charset="0"/>
                <a:ea typeface="Trenda IG Text" pitchFamily="34" charset="-122"/>
                <a:cs typeface="Trenda IG Text" pitchFamily="34" charset="-120"/>
              </a:rPr>
              <a:t>Network Svcs</a:t>
            </a:r>
            <a:endParaRPr lang="en-US" sz="630" dirty="0"/>
          </a:p>
        </p:txBody>
      </p:sp>
      <p:sp>
        <p:nvSpPr>
          <p:cNvPr id="10" name="Shape 8"/>
          <p:cNvSpPr/>
          <p:nvPr/>
        </p:nvSpPr>
        <p:spPr>
          <a:xfrm flipV="1">
            <a:off x="2034540" y="2002536"/>
            <a:ext cx="960120" cy="658368"/>
          </a:xfrm>
          <a:prstGeom prst="line">
            <a:avLst/>
          </a:prstGeom>
          <a:noFill/>
          <a:ln w="12700">
            <a:solidFill>
              <a:srgbClr val="C62828"/>
            </a:solidFill>
            <a:prstDash val="dash"/>
          </a:ln>
        </p:spPr>
        <p:txBody>
          <a:bodyPr/>
          <a:lstStyle/>
          <a:p>
            <a:endParaRPr lang="en-IN"/>
          </a:p>
        </p:txBody>
      </p:sp>
      <p:sp>
        <p:nvSpPr>
          <p:cNvPr id="11" name="Text 9"/>
          <p:cNvSpPr/>
          <p:nvPr/>
        </p:nvSpPr>
        <p:spPr>
          <a:xfrm>
            <a:off x="2583180" y="1911096"/>
            <a:ext cx="822960" cy="182880"/>
          </a:xfrm>
          <a:prstGeom prst="roundRect">
            <a:avLst>
              <a:gd name="adj" fmla="val 30000"/>
            </a:avLst>
          </a:prstGeom>
          <a:solidFill>
            <a:srgbClr val="FDECEC"/>
          </a:solidFill>
          <a:ln w="9525">
            <a:solidFill>
              <a:srgbClr val="C62828"/>
            </a:solidFill>
          </a:ln>
        </p:spPr>
        <p:txBody>
          <a:bodyPr wrap="square" lIns="0" tIns="0" rIns="0" bIns="0" rtlCol="0" anchor="ctr"/>
          <a:lstStyle/>
          <a:p>
            <a:pPr marL="0" indent="0" algn="ctr">
              <a:buNone/>
            </a:pPr>
            <a:r>
              <a:rPr lang="en-US" sz="630" b="1" dirty="0">
                <a:solidFill>
                  <a:srgbClr val="C62828"/>
                </a:solidFill>
                <a:latin typeface="Trenda IG Text" pitchFamily="34" charset="0"/>
                <a:ea typeface="Trenda IG Text" pitchFamily="34" charset="-122"/>
                <a:cs typeface="Trenda IG Text" pitchFamily="34" charset="-120"/>
              </a:rPr>
              <a:t>Clinical Transf.</a:t>
            </a:r>
            <a:endParaRPr lang="en-US" sz="630" dirty="0"/>
          </a:p>
        </p:txBody>
      </p:sp>
      <p:sp>
        <p:nvSpPr>
          <p:cNvPr id="12" name="Shape 10"/>
          <p:cNvSpPr/>
          <p:nvPr/>
        </p:nvSpPr>
        <p:spPr>
          <a:xfrm flipV="1">
            <a:off x="2034540" y="2615184"/>
            <a:ext cx="1161288" cy="45720"/>
          </a:xfrm>
          <a:prstGeom prst="line">
            <a:avLst/>
          </a:prstGeom>
          <a:noFill/>
          <a:ln w="12700">
            <a:solidFill>
              <a:srgbClr val="C62828"/>
            </a:solidFill>
            <a:prstDash val="dash"/>
          </a:ln>
        </p:spPr>
        <p:txBody>
          <a:bodyPr/>
          <a:lstStyle/>
          <a:p>
            <a:endParaRPr lang="en-IN"/>
          </a:p>
        </p:txBody>
      </p:sp>
      <p:sp>
        <p:nvSpPr>
          <p:cNvPr id="13" name="Text 11"/>
          <p:cNvSpPr/>
          <p:nvPr/>
        </p:nvSpPr>
        <p:spPr>
          <a:xfrm>
            <a:off x="2784348" y="2523744"/>
            <a:ext cx="822960" cy="182880"/>
          </a:xfrm>
          <a:prstGeom prst="roundRect">
            <a:avLst>
              <a:gd name="adj" fmla="val 30000"/>
            </a:avLst>
          </a:prstGeom>
          <a:solidFill>
            <a:srgbClr val="FDECEC"/>
          </a:solidFill>
          <a:ln w="9525">
            <a:solidFill>
              <a:srgbClr val="C62828"/>
            </a:solidFill>
          </a:ln>
        </p:spPr>
        <p:txBody>
          <a:bodyPr wrap="square" lIns="0" tIns="0" rIns="0" bIns="0" rtlCol="0" anchor="ctr"/>
          <a:lstStyle/>
          <a:p>
            <a:pPr marL="0" indent="0" algn="ctr">
              <a:buNone/>
            </a:pPr>
            <a:r>
              <a:rPr lang="en-US" sz="630" b="1" dirty="0">
                <a:solidFill>
                  <a:srgbClr val="C62828"/>
                </a:solidFill>
                <a:latin typeface="Trenda IG Text" pitchFamily="34" charset="0"/>
                <a:ea typeface="Trenda IG Text" pitchFamily="34" charset="-122"/>
                <a:cs typeface="Trenda IG Text" pitchFamily="34" charset="-120"/>
              </a:rPr>
              <a:t>Contact Center</a:t>
            </a:r>
            <a:endParaRPr lang="en-US" sz="630" dirty="0"/>
          </a:p>
        </p:txBody>
      </p:sp>
      <p:sp>
        <p:nvSpPr>
          <p:cNvPr id="14" name="Shape 12"/>
          <p:cNvSpPr/>
          <p:nvPr/>
        </p:nvSpPr>
        <p:spPr>
          <a:xfrm>
            <a:off x="2034540" y="2660904"/>
            <a:ext cx="960120" cy="548640"/>
          </a:xfrm>
          <a:prstGeom prst="line">
            <a:avLst/>
          </a:prstGeom>
          <a:noFill/>
          <a:ln w="6350">
            <a:solidFill>
              <a:srgbClr val="C7D2DE"/>
            </a:solidFill>
            <a:prstDash val="solid"/>
          </a:ln>
        </p:spPr>
        <p:txBody>
          <a:bodyPr/>
          <a:lstStyle/>
          <a:p>
            <a:endParaRPr lang="en-IN"/>
          </a:p>
        </p:txBody>
      </p:sp>
      <p:sp>
        <p:nvSpPr>
          <p:cNvPr id="15" name="Text 13"/>
          <p:cNvSpPr/>
          <p:nvPr/>
        </p:nvSpPr>
        <p:spPr>
          <a:xfrm>
            <a:off x="2583180" y="3118104"/>
            <a:ext cx="822960" cy="182880"/>
          </a:xfrm>
          <a:prstGeom prst="roundRect">
            <a:avLst>
              <a:gd name="adj" fmla="val 30000"/>
            </a:avLst>
          </a:prstGeom>
          <a:solidFill>
            <a:srgbClr val="FFFFFF"/>
          </a:solidFill>
          <a:ln w="9525">
            <a:solidFill>
              <a:srgbClr val="C7D2DE"/>
            </a:solidFill>
          </a:ln>
        </p:spPr>
        <p:txBody>
          <a:bodyPr wrap="square" lIns="0" tIns="0" rIns="0" bIns="0" rtlCol="0" anchor="ctr"/>
          <a:lstStyle/>
          <a:p>
            <a:pPr marL="0" indent="0" algn="ctr">
              <a:buNone/>
            </a:pPr>
            <a:r>
              <a:rPr lang="en-US" sz="630" b="1" dirty="0">
                <a:solidFill>
                  <a:srgbClr val="12233B"/>
                </a:solidFill>
                <a:latin typeface="Trenda IG Text" pitchFamily="34" charset="0"/>
                <a:ea typeface="Trenda IG Text" pitchFamily="34" charset="-122"/>
                <a:cs typeface="Trenda IG Text" pitchFamily="34" charset="-120"/>
              </a:rPr>
              <a:t>ARx</a:t>
            </a:r>
            <a:endParaRPr lang="en-US" sz="630" dirty="0"/>
          </a:p>
        </p:txBody>
      </p:sp>
      <p:sp>
        <p:nvSpPr>
          <p:cNvPr id="16" name="Shape 14"/>
          <p:cNvSpPr/>
          <p:nvPr/>
        </p:nvSpPr>
        <p:spPr>
          <a:xfrm flipV="1">
            <a:off x="1074420" y="2660904"/>
            <a:ext cx="960120" cy="548640"/>
          </a:xfrm>
          <a:prstGeom prst="line">
            <a:avLst/>
          </a:prstGeom>
          <a:noFill/>
          <a:ln w="12700">
            <a:solidFill>
              <a:srgbClr val="C62828"/>
            </a:solidFill>
            <a:prstDash val="dash"/>
          </a:ln>
        </p:spPr>
        <p:txBody>
          <a:bodyPr/>
          <a:lstStyle/>
          <a:p>
            <a:endParaRPr lang="en-IN"/>
          </a:p>
        </p:txBody>
      </p:sp>
      <p:sp>
        <p:nvSpPr>
          <p:cNvPr id="17" name="Text 15"/>
          <p:cNvSpPr/>
          <p:nvPr/>
        </p:nvSpPr>
        <p:spPr>
          <a:xfrm>
            <a:off x="662940" y="3118104"/>
            <a:ext cx="822960" cy="182880"/>
          </a:xfrm>
          <a:prstGeom prst="roundRect">
            <a:avLst>
              <a:gd name="adj" fmla="val 30000"/>
            </a:avLst>
          </a:prstGeom>
          <a:solidFill>
            <a:srgbClr val="FDECEC"/>
          </a:solidFill>
          <a:ln w="9525">
            <a:solidFill>
              <a:srgbClr val="C62828"/>
            </a:solidFill>
          </a:ln>
        </p:spPr>
        <p:txBody>
          <a:bodyPr wrap="square" lIns="0" tIns="0" rIns="0" bIns="0" rtlCol="0" anchor="ctr"/>
          <a:lstStyle/>
          <a:p>
            <a:pPr marL="0" indent="0" algn="ctr">
              <a:buNone/>
            </a:pPr>
            <a:r>
              <a:rPr lang="en-US" sz="630" b="1" dirty="0">
                <a:solidFill>
                  <a:srgbClr val="C62828"/>
                </a:solidFill>
                <a:latin typeface="Trenda IG Text" pitchFamily="34" charset="0"/>
                <a:ea typeface="Trenda IG Text" pitchFamily="34" charset="-122"/>
                <a:cs typeface="Trenda IG Text" pitchFamily="34" charset="-120"/>
              </a:rPr>
              <a:t>Member</a:t>
            </a:r>
            <a:endParaRPr lang="en-US" sz="630" dirty="0"/>
          </a:p>
        </p:txBody>
      </p:sp>
      <p:sp>
        <p:nvSpPr>
          <p:cNvPr id="18" name="Shape 16"/>
          <p:cNvSpPr/>
          <p:nvPr/>
        </p:nvSpPr>
        <p:spPr>
          <a:xfrm>
            <a:off x="873252" y="2615184"/>
            <a:ext cx="1161288" cy="45720"/>
          </a:xfrm>
          <a:prstGeom prst="line">
            <a:avLst/>
          </a:prstGeom>
          <a:noFill/>
          <a:ln w="6350">
            <a:solidFill>
              <a:srgbClr val="C7D2DE"/>
            </a:solidFill>
            <a:prstDash val="solid"/>
          </a:ln>
        </p:spPr>
        <p:txBody>
          <a:bodyPr/>
          <a:lstStyle/>
          <a:p>
            <a:endParaRPr lang="en-IN"/>
          </a:p>
        </p:txBody>
      </p:sp>
      <p:sp>
        <p:nvSpPr>
          <p:cNvPr id="19" name="Text 17"/>
          <p:cNvSpPr/>
          <p:nvPr/>
        </p:nvSpPr>
        <p:spPr>
          <a:xfrm>
            <a:off x="461772" y="2523744"/>
            <a:ext cx="822960" cy="182880"/>
          </a:xfrm>
          <a:prstGeom prst="roundRect">
            <a:avLst>
              <a:gd name="adj" fmla="val 30000"/>
            </a:avLst>
          </a:prstGeom>
          <a:solidFill>
            <a:srgbClr val="FFFFFF"/>
          </a:solidFill>
          <a:ln w="9525">
            <a:solidFill>
              <a:srgbClr val="C7D2DE"/>
            </a:solidFill>
          </a:ln>
        </p:spPr>
        <p:txBody>
          <a:bodyPr wrap="square" lIns="0" tIns="0" rIns="0" bIns="0" rtlCol="0" anchor="ctr"/>
          <a:lstStyle/>
          <a:p>
            <a:pPr marL="0" indent="0" algn="ctr">
              <a:buNone/>
            </a:pPr>
            <a:r>
              <a:rPr lang="en-US" sz="630" b="1" dirty="0">
                <a:solidFill>
                  <a:srgbClr val="12233B"/>
                </a:solidFill>
                <a:latin typeface="Trenda IG Text" pitchFamily="34" charset="0"/>
                <a:ea typeface="Trenda IG Text" pitchFamily="34" charset="-122"/>
                <a:cs typeface="Trenda IG Text" pitchFamily="34" charset="-120"/>
              </a:rPr>
              <a:t>Service Rec.</a:t>
            </a:r>
            <a:endParaRPr lang="en-US" sz="630" dirty="0"/>
          </a:p>
        </p:txBody>
      </p:sp>
      <p:sp>
        <p:nvSpPr>
          <p:cNvPr id="20" name="Shape 18"/>
          <p:cNvSpPr/>
          <p:nvPr/>
        </p:nvSpPr>
        <p:spPr>
          <a:xfrm>
            <a:off x="1504188" y="2359152"/>
            <a:ext cx="1060704" cy="603504"/>
          </a:xfrm>
          <a:prstGeom prst="ellipse">
            <a:avLst/>
          </a:prstGeom>
          <a:solidFill>
            <a:srgbClr val="EEF2F7"/>
          </a:solidFill>
          <a:ln w="9525">
            <a:solidFill>
              <a:srgbClr val="C7D2DE"/>
            </a:solidFill>
            <a:prstDash val="solid"/>
          </a:ln>
        </p:spPr>
        <p:txBody>
          <a:bodyPr/>
          <a:lstStyle/>
          <a:p>
            <a:endParaRPr lang="en-IN"/>
          </a:p>
        </p:txBody>
      </p:sp>
      <p:sp>
        <p:nvSpPr>
          <p:cNvPr id="21" name="Text 19"/>
          <p:cNvSpPr txBox="1"/>
          <p:nvPr/>
        </p:nvSpPr>
        <p:spPr>
          <a:xfrm>
            <a:off x="1522476" y="2404872"/>
            <a:ext cx="1024128" cy="512064"/>
          </a:xfrm>
          <a:prstGeom prst="rect">
            <a:avLst/>
          </a:prstGeom>
          <a:noFill/>
          <a:ln/>
        </p:spPr>
        <p:txBody>
          <a:bodyPr wrap="square" lIns="0" tIns="0" rIns="0" bIns="0" rtlCol="0" anchor="ctr"/>
          <a:lstStyle/>
          <a:p>
            <a:pPr marL="0" indent="0" algn="ctr">
              <a:buNone/>
            </a:pPr>
            <a:r>
              <a:rPr lang="en-US" sz="650" b="1" dirty="0">
                <a:solidFill>
                  <a:srgbClr val="12233B"/>
                </a:solidFill>
                <a:latin typeface="Trenda IG Text" pitchFamily="34" charset="0"/>
                <a:ea typeface="Trenda IG Text" pitchFamily="34" charset="-122"/>
                <a:cs typeface="Trenda IG Text" pitchFamily="34" charset="-120"/>
              </a:rPr>
              <a:t>Shared org</a:t>
            </a:r>
            <a:endParaRPr lang="en-US" sz="650" dirty="0"/>
          </a:p>
          <a:p>
            <a:pPr marL="0" indent="0" algn="ctr">
              <a:buNone/>
            </a:pPr>
            <a:r>
              <a:rPr lang="en-US" sz="650" b="1" dirty="0">
                <a:solidFill>
                  <a:srgbClr val="12233B"/>
                </a:solidFill>
                <a:latin typeface="Trenda IG Text" pitchFamily="34" charset="0"/>
                <a:ea typeface="Trenda IG Text" pitchFamily="34" charset="-122"/>
                <a:cs typeface="Trenda IG Text" pitchFamily="34" charset="-120"/>
              </a:rPr>
              <a:t>Account · common Apex · flows</a:t>
            </a:r>
            <a:endParaRPr lang="en-US" sz="650" dirty="0"/>
          </a:p>
        </p:txBody>
      </p:sp>
      <p:sp>
        <p:nvSpPr>
          <p:cNvPr id="22" name="Text 20"/>
          <p:cNvSpPr/>
          <p:nvPr/>
        </p:nvSpPr>
        <p:spPr>
          <a:xfrm>
            <a:off x="1623060" y="1673352"/>
            <a:ext cx="822960" cy="182880"/>
          </a:xfrm>
          <a:prstGeom prst="roundRect">
            <a:avLst>
              <a:gd name="adj" fmla="val 30000"/>
            </a:avLst>
          </a:prstGeom>
          <a:solidFill>
            <a:srgbClr val="C62828"/>
          </a:solidFill>
          <a:ln>
            <a:solidFill>
              <a:srgbClr val="C62828"/>
            </a:solidFill>
          </a:ln>
        </p:spPr>
        <p:txBody>
          <a:bodyPr wrap="square" lIns="0" tIns="0" rIns="0" bIns="0" rtlCol="0" anchor="ctr"/>
          <a:lstStyle/>
          <a:p>
            <a:pPr marL="0" indent="0" algn="ctr">
              <a:buNone/>
            </a:pPr>
            <a:r>
              <a:rPr lang="en-US" sz="680" b="1" dirty="0">
                <a:solidFill>
                  <a:srgbClr val="FFFFFF"/>
                </a:solidFill>
                <a:latin typeface="Trenda IG Text" pitchFamily="34" charset="0"/>
                <a:ea typeface="Trenda IG Text" pitchFamily="34" charset="-122"/>
                <a:cs typeface="Trenda IG Text" pitchFamily="34" charset="-120"/>
              </a:rPr>
              <a:t>Pod change</a:t>
            </a:r>
            <a:endParaRPr lang="en-US" sz="680" dirty="0"/>
          </a:p>
        </p:txBody>
      </p:sp>
      <p:sp>
        <p:nvSpPr>
          <p:cNvPr id="23" name="Shape 21"/>
          <p:cNvSpPr/>
          <p:nvPr/>
        </p:nvSpPr>
        <p:spPr>
          <a:xfrm>
            <a:off x="2034540" y="1856232"/>
            <a:ext cx="0" cy="502920"/>
          </a:xfrm>
          <a:prstGeom prst="line">
            <a:avLst/>
          </a:prstGeom>
          <a:noFill/>
          <a:ln w="15875">
            <a:solidFill>
              <a:srgbClr val="C62828"/>
            </a:solidFill>
            <a:prstDash val="solid"/>
            <a:tailEnd type="triangle"/>
          </a:ln>
        </p:spPr>
        <p:txBody>
          <a:bodyPr/>
          <a:lstStyle/>
          <a:p>
            <a:endParaRPr lang="en-IN"/>
          </a:p>
        </p:txBody>
      </p:sp>
      <p:sp>
        <p:nvSpPr>
          <p:cNvPr id="24" name="Text 22"/>
          <p:cNvSpPr txBox="1"/>
          <p:nvPr/>
        </p:nvSpPr>
        <p:spPr>
          <a:xfrm>
            <a:off x="530352" y="3529584"/>
            <a:ext cx="3017520" cy="1828800"/>
          </a:xfrm>
          <a:prstGeom prst="rect">
            <a:avLst/>
          </a:prstGeom>
          <a:noFill/>
          <a:ln/>
        </p:spPr>
        <p:txBody>
          <a:bodyPr wrap="square" lIns="0" tIns="0" rIns="0" bIns="0" rtlCol="0" anchor="t"/>
          <a:lstStyle/>
          <a:p>
            <a:pPr marL="342900" indent="-342900">
              <a:spcAft>
                <a:spcPts val="400"/>
              </a:spcAft>
              <a:buSzPct val="100000"/>
              <a:buChar char="•"/>
            </a:pPr>
            <a:r>
              <a:rPr lang="en-US" sz="860" dirty="0">
                <a:solidFill>
                  <a:srgbClr val="12233B"/>
                </a:solidFill>
                <a:latin typeface="Trenda IG Text" pitchFamily="34" charset="0"/>
                <a:ea typeface="Trenda IG Text" pitchFamily="34" charset="-122"/>
                <a:cs typeface="Trenda IG Text" pitchFamily="34" charset="-120"/>
              </a:rPr>
              <a:t>Copado moves the code but does not know which other pods depend on it.</a:t>
            </a:r>
            <a:endParaRPr lang="en-US" sz="860" dirty="0"/>
          </a:p>
          <a:p>
            <a:pPr marL="342900" indent="-342900">
              <a:spcAft>
                <a:spcPts val="400"/>
              </a:spcAft>
              <a:buSzPct val="100000"/>
              <a:buChar char="•"/>
            </a:pPr>
            <a:r>
              <a:rPr lang="en-US" sz="860" dirty="0">
                <a:solidFill>
                  <a:srgbClr val="12233B"/>
                </a:solidFill>
                <a:latin typeface="Trenda IG Text" pitchFamily="34" charset="0"/>
                <a:ea typeface="Trenda IG Text" pitchFamily="34" charset="-122"/>
                <a:cs typeface="Trenda IG Text" pitchFamily="34" charset="-120"/>
              </a:rPr>
              <a:t>A flow without a record-type filter, or an edit to a common class, reaches every pod using that object.</a:t>
            </a:r>
            <a:endParaRPr lang="en-US" sz="860" dirty="0"/>
          </a:p>
          <a:p>
            <a:pPr marL="342900" indent="-342900">
              <a:spcAft>
                <a:spcPts val="400"/>
              </a:spcAft>
              <a:buSzPct val="100000"/>
              <a:buChar char="•"/>
            </a:pPr>
            <a:r>
              <a:rPr lang="en-US" sz="860" dirty="0">
                <a:solidFill>
                  <a:srgbClr val="12233B"/>
                </a:solidFill>
                <a:latin typeface="Trenda IG Text" pitchFamily="34" charset="0"/>
                <a:ea typeface="Trenda IG Text" pitchFamily="34" charset="-122"/>
                <a:cs typeface="Trenda IG Text" pitchFamily="34" charset="-120"/>
              </a:rPr>
              <a:t>Impact surfaces late: in another pod’s UAT, or after go-live.</a:t>
            </a:r>
            <a:endParaRPr lang="en-US" sz="860" dirty="0"/>
          </a:p>
          <a:p>
            <a:pPr marL="342900" indent="-342900">
              <a:spcAft>
                <a:spcPts val="400"/>
              </a:spcAft>
              <a:buSzPct val="100000"/>
              <a:buChar char="•"/>
            </a:pPr>
            <a:r>
              <a:rPr lang="en-US" sz="860" dirty="0">
                <a:solidFill>
                  <a:srgbClr val="12233B"/>
                </a:solidFill>
                <a:latin typeface="Trenda IG Text" pitchFamily="34" charset="0"/>
                <a:ea typeface="Trenda IG Text" pitchFamily="34" charset="-122"/>
                <a:cs typeface="Trenda IG Text" pitchFamily="34" charset="-120"/>
              </a:rPr>
              <a:t>Direct edits in an org can go unnoticed until something breaks.</a:t>
            </a:r>
            <a:endParaRPr lang="en-US" sz="860" dirty="0"/>
          </a:p>
        </p:txBody>
      </p:sp>
      <p:sp>
        <p:nvSpPr>
          <p:cNvPr id="25" name="Shape 23"/>
          <p:cNvSpPr/>
          <p:nvPr/>
        </p:nvSpPr>
        <p:spPr>
          <a:xfrm>
            <a:off x="3794760" y="1243584"/>
            <a:ext cx="7982712" cy="4224528"/>
          </a:xfrm>
          <a:prstGeom prst="rect">
            <a:avLst/>
          </a:prstGeom>
          <a:solidFill>
            <a:srgbClr val="FFFFFF"/>
          </a:solidFill>
          <a:ln w="19050">
            <a:solidFill>
              <a:srgbClr val="C2185B"/>
            </a:solidFill>
            <a:prstDash val="solid"/>
          </a:ln>
        </p:spPr>
        <p:txBody>
          <a:bodyPr/>
          <a:lstStyle/>
          <a:p>
            <a:endParaRPr lang="en-IN"/>
          </a:p>
        </p:txBody>
      </p:sp>
      <p:sp>
        <p:nvSpPr>
          <p:cNvPr id="26" name="Shape 24"/>
          <p:cNvSpPr/>
          <p:nvPr/>
        </p:nvSpPr>
        <p:spPr>
          <a:xfrm>
            <a:off x="3794760" y="1243584"/>
            <a:ext cx="7982712" cy="329184"/>
          </a:xfrm>
          <a:prstGeom prst="rect">
            <a:avLst/>
          </a:prstGeom>
          <a:solidFill>
            <a:srgbClr val="C2185B"/>
          </a:solidFill>
          <a:ln w="12700">
            <a:solidFill>
              <a:srgbClr val="C2185B"/>
            </a:solidFill>
            <a:prstDash val="solid"/>
          </a:ln>
        </p:spPr>
        <p:txBody>
          <a:bodyPr/>
          <a:lstStyle/>
          <a:p>
            <a:endParaRPr lang="en-IN"/>
          </a:p>
        </p:txBody>
      </p:sp>
      <p:sp>
        <p:nvSpPr>
          <p:cNvPr id="27" name="Text 25"/>
          <p:cNvSpPr/>
          <p:nvPr/>
        </p:nvSpPr>
        <p:spPr>
          <a:xfrm>
            <a:off x="3904488" y="1307592"/>
            <a:ext cx="411480" cy="201168"/>
          </a:xfrm>
          <a:prstGeom prst="roundRect">
            <a:avLst>
              <a:gd name="adj" fmla="val 27273"/>
            </a:avLst>
          </a:prstGeom>
          <a:solidFill>
            <a:srgbClr val="FFFFFF"/>
          </a:solidFill>
          <a:ln>
            <a:solidFill>
              <a:srgbClr val="FFFFFF"/>
            </a:solidFill>
          </a:ln>
        </p:spPr>
        <p:txBody>
          <a:bodyPr wrap="square" lIns="0" tIns="0" rIns="0" bIns="0" rtlCol="0" anchor="ctr"/>
          <a:lstStyle/>
          <a:p>
            <a:pPr marL="0" indent="0" algn="ctr">
              <a:buNone/>
            </a:pPr>
            <a:r>
              <a:rPr lang="en-US" sz="750" b="1" dirty="0">
                <a:solidFill>
                  <a:srgbClr val="C2185B"/>
                </a:solidFill>
                <a:latin typeface="Trenda IG Text" pitchFamily="34" charset="0"/>
                <a:ea typeface="Trenda IG Text" pitchFamily="34" charset="-122"/>
                <a:cs typeface="Trenda IG Text" pitchFamily="34" charset="-120"/>
              </a:rPr>
              <a:t>NEW</a:t>
            </a:r>
            <a:endParaRPr lang="en-US" sz="750" dirty="0"/>
          </a:p>
        </p:txBody>
      </p:sp>
      <p:sp>
        <p:nvSpPr>
          <p:cNvPr id="28" name="Text 26"/>
          <p:cNvSpPr txBox="1"/>
          <p:nvPr/>
        </p:nvSpPr>
        <p:spPr>
          <a:xfrm>
            <a:off x="4407408" y="1243584"/>
            <a:ext cx="7251192" cy="329184"/>
          </a:xfrm>
          <a:prstGeom prst="rect">
            <a:avLst/>
          </a:prstGeom>
          <a:noFill/>
          <a:ln/>
        </p:spPr>
        <p:txBody>
          <a:bodyPr wrap="square" lIns="0" tIns="0" rIns="0" bIns="0" rtlCol="0" anchor="ctr"/>
          <a:lstStyle/>
          <a:p>
            <a:pPr marL="0" indent="0">
              <a:buNone/>
            </a:pPr>
            <a:r>
              <a:rPr lang="en-US" sz="1050" b="1" dirty="0">
                <a:solidFill>
                  <a:srgbClr val="FFFFFF"/>
                </a:solidFill>
                <a:latin typeface="Trenda IG Text" pitchFamily="34" charset="0"/>
                <a:ea typeface="Trenda IG Text" pitchFamily="34" charset="-122"/>
                <a:cs typeface="Trenda IG Text" pitchFamily="34" charset="-120"/>
              </a:rPr>
              <a:t>Change Guardian Agent · one agent that governs every change, across every pod</a:t>
            </a:r>
            <a:endParaRPr lang="en-US" sz="1050" dirty="0"/>
          </a:p>
        </p:txBody>
      </p:sp>
      <p:sp>
        <p:nvSpPr>
          <p:cNvPr id="29" name="Text 27"/>
          <p:cNvSpPr txBox="1"/>
          <p:nvPr/>
        </p:nvSpPr>
        <p:spPr>
          <a:xfrm>
            <a:off x="3950208" y="1682496"/>
            <a:ext cx="2743200" cy="146304"/>
          </a:xfrm>
          <a:prstGeom prst="rect">
            <a:avLst/>
          </a:prstGeom>
          <a:noFill/>
          <a:ln/>
        </p:spPr>
        <p:txBody>
          <a:bodyPr wrap="square" lIns="0" tIns="0" rIns="0" bIns="0" rtlCol="0" anchor="ctr"/>
          <a:lstStyle/>
          <a:p>
            <a:pPr marL="0" indent="0">
              <a:buNone/>
            </a:pPr>
            <a:r>
              <a:rPr lang="en-US" sz="700" b="1" kern="0" spc="200" dirty="0">
                <a:solidFill>
                  <a:srgbClr val="C2185B"/>
                </a:solidFill>
                <a:latin typeface="Trenda IG Text" pitchFamily="34" charset="0"/>
                <a:ea typeface="Trenda IG Text" pitchFamily="34" charset="-122"/>
                <a:cs typeface="Trenda IG Text" pitchFamily="34" charset="-120"/>
              </a:rPr>
              <a:t>HOW IT DECIDES</a:t>
            </a:r>
            <a:endParaRPr lang="en-US" sz="700" dirty="0"/>
          </a:p>
        </p:txBody>
      </p:sp>
      <p:sp>
        <p:nvSpPr>
          <p:cNvPr id="30" name="Shape 28"/>
          <p:cNvSpPr/>
          <p:nvPr/>
        </p:nvSpPr>
        <p:spPr>
          <a:xfrm>
            <a:off x="3950208" y="1883664"/>
            <a:ext cx="2103120" cy="301752"/>
          </a:xfrm>
          <a:prstGeom prst="rect">
            <a:avLst/>
          </a:prstGeom>
          <a:solidFill>
            <a:srgbClr val="EEF2F7"/>
          </a:solidFill>
          <a:ln w="9525">
            <a:solidFill>
              <a:srgbClr val="C7D2DE"/>
            </a:solidFill>
            <a:prstDash val="solid"/>
          </a:ln>
        </p:spPr>
        <p:txBody>
          <a:bodyPr/>
          <a:lstStyle/>
          <a:p>
            <a:endParaRPr lang="en-IN"/>
          </a:p>
        </p:txBody>
      </p:sp>
      <p:sp>
        <p:nvSpPr>
          <p:cNvPr id="31" name="Text 29"/>
          <p:cNvSpPr txBox="1"/>
          <p:nvPr/>
        </p:nvSpPr>
        <p:spPr>
          <a:xfrm>
            <a:off x="4023360" y="1901952"/>
            <a:ext cx="2011680" cy="137160"/>
          </a:xfrm>
          <a:prstGeom prst="rect">
            <a:avLst/>
          </a:prstGeom>
          <a:noFill/>
          <a:ln/>
        </p:spPr>
        <p:txBody>
          <a:bodyPr wrap="square" lIns="0" tIns="0" rIns="0" bIns="0" rtlCol="0" anchor="ctr"/>
          <a:lstStyle/>
          <a:p>
            <a:pPr marL="0" indent="0">
              <a:buNone/>
            </a:pPr>
            <a:r>
              <a:rPr lang="en-US" sz="760" b="1" dirty="0">
                <a:solidFill>
                  <a:srgbClr val="12233B"/>
                </a:solidFill>
                <a:latin typeface="Trenda IG Text" pitchFamily="34" charset="0"/>
                <a:ea typeface="Trenda IG Text" pitchFamily="34" charset="-122"/>
                <a:cs typeface="Trenda IG Text" pitchFamily="34" charset="-120"/>
              </a:rPr>
              <a:t>The change</a:t>
            </a:r>
            <a:endParaRPr lang="en-US" sz="760" dirty="0"/>
          </a:p>
        </p:txBody>
      </p:sp>
      <p:sp>
        <p:nvSpPr>
          <p:cNvPr id="32" name="Text 30"/>
          <p:cNvSpPr txBox="1"/>
          <p:nvPr/>
        </p:nvSpPr>
        <p:spPr>
          <a:xfrm>
            <a:off x="4023360" y="2039112"/>
            <a:ext cx="2011680" cy="128016"/>
          </a:xfrm>
          <a:prstGeom prst="rect">
            <a:avLst/>
          </a:prstGeom>
          <a:noFill/>
          <a:ln/>
        </p:spPr>
        <p:txBody>
          <a:bodyPr wrap="square" lIns="0" tIns="0" rIns="0" bIns="0" rtlCol="0" anchor="ctr"/>
          <a:lstStyle/>
          <a:p>
            <a:pPr marL="0" indent="0">
              <a:buNone/>
            </a:pPr>
            <a:r>
              <a:rPr lang="en-US" sz="660" dirty="0">
                <a:solidFill>
                  <a:srgbClr val="5C6E85"/>
                </a:solidFill>
                <a:latin typeface="Trenda IG Text" pitchFamily="34" charset="0"/>
                <a:ea typeface="Trenda IG Text" pitchFamily="34" charset="-122"/>
                <a:cs typeface="Trenda IG Text" pitchFamily="34" charset="-120"/>
              </a:rPr>
              <a:t>Code diff and metadata from the commit</a:t>
            </a:r>
            <a:endParaRPr lang="en-US" sz="660" dirty="0"/>
          </a:p>
        </p:txBody>
      </p:sp>
      <p:sp>
        <p:nvSpPr>
          <p:cNvPr id="33" name="Shape 31"/>
          <p:cNvSpPr/>
          <p:nvPr/>
        </p:nvSpPr>
        <p:spPr>
          <a:xfrm>
            <a:off x="3950208" y="2231136"/>
            <a:ext cx="2103120" cy="301752"/>
          </a:xfrm>
          <a:prstGeom prst="rect">
            <a:avLst/>
          </a:prstGeom>
          <a:solidFill>
            <a:srgbClr val="EEF2F7"/>
          </a:solidFill>
          <a:ln w="9525">
            <a:solidFill>
              <a:srgbClr val="C7D2DE"/>
            </a:solidFill>
            <a:prstDash val="solid"/>
          </a:ln>
        </p:spPr>
        <p:txBody>
          <a:bodyPr/>
          <a:lstStyle/>
          <a:p>
            <a:endParaRPr lang="en-IN"/>
          </a:p>
        </p:txBody>
      </p:sp>
      <p:sp>
        <p:nvSpPr>
          <p:cNvPr id="34" name="Text 32"/>
          <p:cNvSpPr txBox="1"/>
          <p:nvPr/>
        </p:nvSpPr>
        <p:spPr>
          <a:xfrm>
            <a:off x="4023360" y="2249424"/>
            <a:ext cx="2011680" cy="137160"/>
          </a:xfrm>
          <a:prstGeom prst="rect">
            <a:avLst/>
          </a:prstGeom>
          <a:noFill/>
          <a:ln/>
        </p:spPr>
        <p:txBody>
          <a:bodyPr wrap="square" lIns="0" tIns="0" rIns="0" bIns="0" rtlCol="0" anchor="ctr"/>
          <a:lstStyle/>
          <a:p>
            <a:pPr marL="0" indent="0">
              <a:buNone/>
            </a:pPr>
            <a:r>
              <a:rPr lang="en-US" sz="760" b="1" dirty="0">
                <a:solidFill>
                  <a:srgbClr val="1B6BC0"/>
                </a:solidFill>
                <a:latin typeface="Trenda IG Text" pitchFamily="34" charset="0"/>
                <a:ea typeface="Trenda IG Text" pitchFamily="34" charset="-122"/>
                <a:cs typeface="Trenda IG Text" pitchFamily="34" charset="-120"/>
              </a:rPr>
              <a:t>Ownership map</a:t>
            </a:r>
            <a:endParaRPr lang="en-US" sz="760" dirty="0"/>
          </a:p>
        </p:txBody>
      </p:sp>
      <p:sp>
        <p:nvSpPr>
          <p:cNvPr id="35" name="Text 33"/>
          <p:cNvSpPr txBox="1"/>
          <p:nvPr/>
        </p:nvSpPr>
        <p:spPr>
          <a:xfrm>
            <a:off x="4023360" y="2386584"/>
            <a:ext cx="2011680" cy="128016"/>
          </a:xfrm>
          <a:prstGeom prst="rect">
            <a:avLst/>
          </a:prstGeom>
          <a:noFill/>
          <a:ln/>
        </p:spPr>
        <p:txBody>
          <a:bodyPr wrap="square" lIns="0" tIns="0" rIns="0" bIns="0" rtlCol="0" anchor="ctr"/>
          <a:lstStyle/>
          <a:p>
            <a:pPr marL="0" indent="0">
              <a:buNone/>
            </a:pPr>
            <a:r>
              <a:rPr lang="en-US" sz="660" dirty="0">
                <a:solidFill>
                  <a:srgbClr val="5C6E85"/>
                </a:solidFill>
                <a:latin typeface="Trenda IG Text" pitchFamily="34" charset="0"/>
                <a:ea typeface="Trenda IG Text" pitchFamily="34" charset="-122"/>
                <a:cs typeface="Trenda IG Text" pitchFamily="34" charset="-120"/>
              </a:rPr>
              <a:t>Who owns and who uses each component</a:t>
            </a:r>
            <a:endParaRPr lang="en-US" sz="660" dirty="0"/>
          </a:p>
        </p:txBody>
      </p:sp>
      <p:sp>
        <p:nvSpPr>
          <p:cNvPr id="36" name="Shape 34"/>
          <p:cNvSpPr/>
          <p:nvPr/>
        </p:nvSpPr>
        <p:spPr>
          <a:xfrm>
            <a:off x="3950208" y="2578608"/>
            <a:ext cx="2103120" cy="301752"/>
          </a:xfrm>
          <a:prstGeom prst="rect">
            <a:avLst/>
          </a:prstGeom>
          <a:solidFill>
            <a:srgbClr val="EEF2F7"/>
          </a:solidFill>
          <a:ln w="9525">
            <a:solidFill>
              <a:srgbClr val="C7D2DE"/>
            </a:solidFill>
            <a:prstDash val="solid"/>
          </a:ln>
        </p:spPr>
        <p:txBody>
          <a:bodyPr/>
          <a:lstStyle/>
          <a:p>
            <a:endParaRPr lang="en-IN"/>
          </a:p>
        </p:txBody>
      </p:sp>
      <p:sp>
        <p:nvSpPr>
          <p:cNvPr id="37" name="Text 35"/>
          <p:cNvSpPr txBox="1"/>
          <p:nvPr/>
        </p:nvSpPr>
        <p:spPr>
          <a:xfrm>
            <a:off x="4023360" y="2596896"/>
            <a:ext cx="2011680" cy="137160"/>
          </a:xfrm>
          <a:prstGeom prst="rect">
            <a:avLst/>
          </a:prstGeom>
          <a:noFill/>
          <a:ln/>
        </p:spPr>
        <p:txBody>
          <a:bodyPr wrap="square" lIns="0" tIns="0" rIns="0" bIns="0" rtlCol="0" anchor="ctr"/>
          <a:lstStyle/>
          <a:p>
            <a:pPr marL="0" indent="0">
              <a:buNone/>
            </a:pPr>
            <a:r>
              <a:rPr lang="en-US" sz="760" b="1" dirty="0">
                <a:solidFill>
                  <a:srgbClr val="00757F"/>
                </a:solidFill>
                <a:latin typeface="Trenda IG Text" pitchFamily="34" charset="0"/>
                <a:ea typeface="Trenda IG Text" pitchFamily="34" charset="-122"/>
                <a:cs typeface="Trenda IG Text" pitchFamily="34" charset="-120"/>
              </a:rPr>
              <a:t>Guardrail rulebook</a:t>
            </a:r>
            <a:endParaRPr lang="en-US" sz="760" dirty="0"/>
          </a:p>
        </p:txBody>
      </p:sp>
      <p:sp>
        <p:nvSpPr>
          <p:cNvPr id="38" name="Text 36"/>
          <p:cNvSpPr txBox="1"/>
          <p:nvPr/>
        </p:nvSpPr>
        <p:spPr>
          <a:xfrm>
            <a:off x="4023360" y="2734056"/>
            <a:ext cx="2011680" cy="128016"/>
          </a:xfrm>
          <a:prstGeom prst="rect">
            <a:avLst/>
          </a:prstGeom>
          <a:noFill/>
          <a:ln/>
        </p:spPr>
        <p:txBody>
          <a:bodyPr wrap="square" lIns="0" tIns="0" rIns="0" bIns="0" rtlCol="0" anchor="ctr"/>
          <a:lstStyle/>
          <a:p>
            <a:pPr marL="0" indent="0">
              <a:buNone/>
            </a:pPr>
            <a:r>
              <a:rPr lang="en-US" sz="660" dirty="0">
                <a:solidFill>
                  <a:srgbClr val="5C6E85"/>
                </a:solidFill>
                <a:latin typeface="Trenda IG Text" pitchFamily="34" charset="0"/>
                <a:ea typeface="Trenda IG Text" pitchFamily="34" charset="-122"/>
                <a:cs typeface="Trenda IG Text" pitchFamily="34" charset="-120"/>
              </a:rPr>
              <a:t>Ascension rules, written as code</a:t>
            </a:r>
            <a:endParaRPr lang="en-US" sz="660" dirty="0"/>
          </a:p>
        </p:txBody>
      </p:sp>
      <p:sp>
        <p:nvSpPr>
          <p:cNvPr id="39" name="Shape 37"/>
          <p:cNvSpPr/>
          <p:nvPr/>
        </p:nvSpPr>
        <p:spPr>
          <a:xfrm>
            <a:off x="6108192" y="2286000"/>
            <a:ext cx="201168" cy="201168"/>
          </a:xfrm>
          <a:prstGeom prst="rightArrow">
            <a:avLst/>
          </a:prstGeom>
          <a:solidFill>
            <a:srgbClr val="C2185B"/>
          </a:solidFill>
          <a:ln w="12700">
            <a:solidFill>
              <a:srgbClr val="C2185B"/>
            </a:solidFill>
            <a:prstDash val="solid"/>
          </a:ln>
        </p:spPr>
        <p:txBody>
          <a:bodyPr/>
          <a:lstStyle/>
          <a:p>
            <a:endParaRPr lang="en-IN"/>
          </a:p>
        </p:txBody>
      </p:sp>
      <p:sp>
        <p:nvSpPr>
          <p:cNvPr id="40" name="Shape 38"/>
          <p:cNvSpPr/>
          <p:nvPr/>
        </p:nvSpPr>
        <p:spPr>
          <a:xfrm>
            <a:off x="6108192" y="2286000"/>
            <a:ext cx="201168" cy="201168"/>
          </a:xfrm>
          <a:prstGeom prst="rightArrow">
            <a:avLst/>
          </a:prstGeom>
          <a:solidFill>
            <a:srgbClr val="C2185B"/>
          </a:solidFill>
          <a:ln w="12700">
            <a:solidFill>
              <a:srgbClr val="C2185B"/>
            </a:solidFill>
            <a:prstDash val="solid"/>
          </a:ln>
        </p:spPr>
        <p:txBody>
          <a:bodyPr/>
          <a:lstStyle/>
          <a:p>
            <a:endParaRPr lang="en-IN"/>
          </a:p>
        </p:txBody>
      </p:sp>
      <p:sp>
        <p:nvSpPr>
          <p:cNvPr id="41" name="Shape 39"/>
          <p:cNvSpPr/>
          <p:nvPr/>
        </p:nvSpPr>
        <p:spPr>
          <a:xfrm>
            <a:off x="6355080" y="1929384"/>
            <a:ext cx="1554480" cy="914400"/>
          </a:xfrm>
          <a:prstGeom prst="rect">
            <a:avLst/>
          </a:prstGeom>
          <a:solidFill>
            <a:srgbClr val="C2185B"/>
          </a:solidFill>
          <a:ln w="12700">
            <a:solidFill>
              <a:srgbClr val="C2185B"/>
            </a:solidFill>
            <a:prstDash val="solid"/>
          </a:ln>
        </p:spPr>
        <p:txBody>
          <a:bodyPr/>
          <a:lstStyle/>
          <a:p>
            <a:endParaRPr lang="en-IN"/>
          </a:p>
        </p:txBody>
      </p:sp>
      <p:sp>
        <p:nvSpPr>
          <p:cNvPr id="42" name="Text 40"/>
          <p:cNvSpPr txBox="1"/>
          <p:nvPr/>
        </p:nvSpPr>
        <p:spPr>
          <a:xfrm>
            <a:off x="6400800" y="2039112"/>
            <a:ext cx="14630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Trenda IG Text" pitchFamily="34" charset="0"/>
                <a:ea typeface="Trenda IG Text" pitchFamily="34" charset="-122"/>
                <a:cs typeface="Trenda IG Text" pitchFamily="34" charset="-120"/>
              </a:rPr>
              <a:t>Change Guardian Agent</a:t>
            </a:r>
            <a:endParaRPr lang="en-US" sz="950" dirty="0"/>
          </a:p>
        </p:txBody>
      </p:sp>
      <p:sp>
        <p:nvSpPr>
          <p:cNvPr id="43" name="Text 41"/>
          <p:cNvSpPr txBox="1"/>
          <p:nvPr/>
        </p:nvSpPr>
        <p:spPr>
          <a:xfrm>
            <a:off x="6428232" y="2386584"/>
            <a:ext cx="1408176" cy="384048"/>
          </a:xfrm>
          <a:prstGeom prst="rect">
            <a:avLst/>
          </a:prstGeom>
          <a:noFill/>
          <a:ln/>
        </p:spPr>
        <p:txBody>
          <a:bodyPr wrap="square" lIns="0" tIns="0" rIns="0" bIns="0" rtlCol="0" anchor="t"/>
          <a:lstStyle/>
          <a:p>
            <a:pPr marL="0" indent="0" algn="ctr">
              <a:buNone/>
            </a:pPr>
            <a:r>
              <a:rPr lang="en-US" sz="680" dirty="0">
                <a:solidFill>
                  <a:srgbClr val="FFFFFF"/>
                </a:solidFill>
                <a:latin typeface="Trenda IG Text" pitchFamily="34" charset="0"/>
                <a:ea typeface="Trenda IG Text" pitchFamily="34" charset="-122"/>
                <a:cs typeface="Trenda IG Text" pitchFamily="34" charset="-120"/>
              </a:rPr>
              <a:t>Reads the graph, checks every rule, decides in minutes</a:t>
            </a:r>
            <a:endParaRPr lang="en-US" sz="680" dirty="0"/>
          </a:p>
        </p:txBody>
      </p:sp>
      <p:sp>
        <p:nvSpPr>
          <p:cNvPr id="44" name="Shape 42"/>
          <p:cNvSpPr/>
          <p:nvPr/>
        </p:nvSpPr>
        <p:spPr>
          <a:xfrm flipV="1">
            <a:off x="7909560" y="2034540"/>
            <a:ext cx="274320" cy="352044"/>
          </a:xfrm>
          <a:prstGeom prst="line">
            <a:avLst/>
          </a:prstGeom>
          <a:noFill/>
          <a:ln w="11430">
            <a:solidFill>
              <a:srgbClr val="2E7D32"/>
            </a:solidFill>
            <a:prstDash val="solid"/>
            <a:tailEnd type="triangle"/>
          </a:ln>
        </p:spPr>
        <p:txBody>
          <a:bodyPr/>
          <a:lstStyle/>
          <a:p>
            <a:endParaRPr lang="en-IN"/>
          </a:p>
        </p:txBody>
      </p:sp>
      <p:sp>
        <p:nvSpPr>
          <p:cNvPr id="45" name="Shape 43"/>
          <p:cNvSpPr/>
          <p:nvPr/>
        </p:nvSpPr>
        <p:spPr>
          <a:xfrm>
            <a:off x="8183880" y="1883664"/>
            <a:ext cx="3438144" cy="301752"/>
          </a:xfrm>
          <a:prstGeom prst="rect">
            <a:avLst/>
          </a:prstGeom>
          <a:solidFill>
            <a:srgbClr val="E8F3E9"/>
          </a:solidFill>
          <a:ln w="9525">
            <a:solidFill>
              <a:srgbClr val="2E7D32"/>
            </a:solidFill>
            <a:prstDash val="solid"/>
          </a:ln>
        </p:spPr>
        <p:txBody>
          <a:bodyPr/>
          <a:lstStyle/>
          <a:p>
            <a:endParaRPr lang="en-IN"/>
          </a:p>
        </p:txBody>
      </p:sp>
      <p:sp>
        <p:nvSpPr>
          <p:cNvPr id="46" name="Text 44"/>
          <p:cNvSpPr txBox="1"/>
          <p:nvPr/>
        </p:nvSpPr>
        <p:spPr>
          <a:xfrm>
            <a:off x="8275320" y="1883664"/>
            <a:ext cx="1051560" cy="301752"/>
          </a:xfrm>
          <a:prstGeom prst="rect">
            <a:avLst/>
          </a:prstGeom>
          <a:noFill/>
          <a:ln/>
        </p:spPr>
        <p:txBody>
          <a:bodyPr wrap="square" lIns="0" tIns="0" rIns="0" bIns="0" rtlCol="0" anchor="ctr"/>
          <a:lstStyle/>
          <a:p>
            <a:pPr marL="0" indent="0">
              <a:buNone/>
            </a:pPr>
            <a:r>
              <a:rPr lang="en-US" sz="760" b="1" dirty="0">
                <a:solidFill>
                  <a:srgbClr val="2E7D32"/>
                </a:solidFill>
                <a:latin typeface="Trenda IG Text" pitchFamily="34" charset="0"/>
                <a:ea typeface="Trenda IG Text" pitchFamily="34" charset="-122"/>
                <a:cs typeface="Trenda IG Text" pitchFamily="34" charset="-120"/>
              </a:rPr>
              <a:t>PASS</a:t>
            </a:r>
            <a:endParaRPr lang="en-US" sz="760" dirty="0"/>
          </a:p>
        </p:txBody>
      </p:sp>
      <p:sp>
        <p:nvSpPr>
          <p:cNvPr id="47" name="Text 45"/>
          <p:cNvSpPr txBox="1"/>
          <p:nvPr/>
        </p:nvSpPr>
        <p:spPr>
          <a:xfrm>
            <a:off x="9326880" y="1883664"/>
            <a:ext cx="2267712" cy="301752"/>
          </a:xfrm>
          <a:prstGeom prst="rect">
            <a:avLst/>
          </a:prstGeom>
          <a:noFill/>
          <a:ln/>
        </p:spPr>
        <p:txBody>
          <a:bodyPr wrap="square" lIns="0" tIns="0" rIns="0" bIns="0" rtlCol="0" anchor="ctr"/>
          <a:lstStyle/>
          <a:p>
            <a:pPr marL="0" indent="0">
              <a:buNone/>
            </a:pPr>
            <a:r>
              <a:rPr lang="en-US" sz="700" dirty="0">
                <a:solidFill>
                  <a:srgbClr val="12233B"/>
                </a:solidFill>
                <a:latin typeface="Trenda IG Text" pitchFamily="34" charset="0"/>
                <a:ea typeface="Trenda IG Text" pitchFamily="34" charset="-122"/>
                <a:cs typeface="Trenda IG Text" pitchFamily="34" charset="-120"/>
              </a:rPr>
              <a:t>Moves on with its change passport</a:t>
            </a:r>
            <a:endParaRPr lang="en-US" sz="700" dirty="0"/>
          </a:p>
        </p:txBody>
      </p:sp>
      <p:sp>
        <p:nvSpPr>
          <p:cNvPr id="48" name="Shape 46"/>
          <p:cNvSpPr/>
          <p:nvPr/>
        </p:nvSpPr>
        <p:spPr>
          <a:xfrm flipV="1">
            <a:off x="7909560" y="2382012"/>
            <a:ext cx="274320" cy="9144"/>
          </a:xfrm>
          <a:prstGeom prst="line">
            <a:avLst/>
          </a:prstGeom>
          <a:noFill/>
          <a:ln w="11430">
            <a:solidFill>
              <a:srgbClr val="C77400"/>
            </a:solidFill>
            <a:prstDash val="solid"/>
            <a:tailEnd type="triangle"/>
          </a:ln>
        </p:spPr>
        <p:txBody>
          <a:bodyPr/>
          <a:lstStyle/>
          <a:p>
            <a:endParaRPr lang="en-IN"/>
          </a:p>
        </p:txBody>
      </p:sp>
      <p:sp>
        <p:nvSpPr>
          <p:cNvPr id="49" name="Shape 47"/>
          <p:cNvSpPr/>
          <p:nvPr/>
        </p:nvSpPr>
        <p:spPr>
          <a:xfrm>
            <a:off x="8183880" y="2231136"/>
            <a:ext cx="3438144" cy="301752"/>
          </a:xfrm>
          <a:prstGeom prst="rect">
            <a:avLst/>
          </a:prstGeom>
          <a:solidFill>
            <a:srgbClr val="FBF1E3"/>
          </a:solidFill>
          <a:ln w="9525">
            <a:solidFill>
              <a:srgbClr val="C77400"/>
            </a:solidFill>
            <a:prstDash val="solid"/>
          </a:ln>
        </p:spPr>
        <p:txBody>
          <a:bodyPr/>
          <a:lstStyle/>
          <a:p>
            <a:endParaRPr lang="en-IN"/>
          </a:p>
        </p:txBody>
      </p:sp>
      <p:sp>
        <p:nvSpPr>
          <p:cNvPr id="50" name="Text 48"/>
          <p:cNvSpPr txBox="1"/>
          <p:nvPr/>
        </p:nvSpPr>
        <p:spPr>
          <a:xfrm>
            <a:off x="8275320" y="2231136"/>
            <a:ext cx="1051560" cy="301752"/>
          </a:xfrm>
          <a:prstGeom prst="rect">
            <a:avLst/>
          </a:prstGeom>
          <a:noFill/>
          <a:ln/>
        </p:spPr>
        <p:txBody>
          <a:bodyPr wrap="square" lIns="0" tIns="0" rIns="0" bIns="0" rtlCol="0" anchor="ctr"/>
          <a:lstStyle/>
          <a:p>
            <a:pPr marL="0" indent="0">
              <a:buNone/>
            </a:pPr>
            <a:r>
              <a:rPr lang="en-US" sz="760" b="1" dirty="0">
                <a:solidFill>
                  <a:srgbClr val="C77400"/>
                </a:solidFill>
                <a:latin typeface="Trenda IG Text" pitchFamily="34" charset="0"/>
                <a:ea typeface="Trenda IG Text" pitchFamily="34" charset="-122"/>
                <a:cs typeface="Trenda IG Text" pitchFamily="34" charset="-120"/>
              </a:rPr>
              <a:t>NEEDS APPROVAL</a:t>
            </a:r>
            <a:endParaRPr lang="en-US" sz="760" dirty="0"/>
          </a:p>
        </p:txBody>
      </p:sp>
      <p:sp>
        <p:nvSpPr>
          <p:cNvPr id="51" name="Text 49"/>
          <p:cNvSpPr txBox="1"/>
          <p:nvPr/>
        </p:nvSpPr>
        <p:spPr>
          <a:xfrm>
            <a:off x="9326880" y="2231136"/>
            <a:ext cx="2267712" cy="301752"/>
          </a:xfrm>
          <a:prstGeom prst="rect">
            <a:avLst/>
          </a:prstGeom>
          <a:noFill/>
          <a:ln/>
        </p:spPr>
        <p:txBody>
          <a:bodyPr wrap="square" lIns="0" tIns="0" rIns="0" bIns="0" rtlCol="0" anchor="ctr"/>
          <a:lstStyle/>
          <a:p>
            <a:pPr marL="0" indent="0">
              <a:buNone/>
            </a:pPr>
            <a:r>
              <a:rPr lang="en-US" sz="700" dirty="0">
                <a:solidFill>
                  <a:srgbClr val="12233B"/>
                </a:solidFill>
                <a:latin typeface="Trenda IG Text" pitchFamily="34" charset="0"/>
                <a:ea typeface="Trenda IG Text" pitchFamily="34" charset="-122"/>
                <a:cs typeface="Trenda IG Text" pitchFamily="34" charset="-120"/>
              </a:rPr>
              <a:t>Affected pod leads must sign first</a:t>
            </a:r>
            <a:endParaRPr lang="en-US" sz="700" dirty="0"/>
          </a:p>
        </p:txBody>
      </p:sp>
      <p:sp>
        <p:nvSpPr>
          <p:cNvPr id="52" name="Shape 50"/>
          <p:cNvSpPr/>
          <p:nvPr/>
        </p:nvSpPr>
        <p:spPr>
          <a:xfrm>
            <a:off x="7909560" y="2386584"/>
            <a:ext cx="274320" cy="342900"/>
          </a:xfrm>
          <a:prstGeom prst="line">
            <a:avLst/>
          </a:prstGeom>
          <a:noFill/>
          <a:ln w="11430">
            <a:solidFill>
              <a:srgbClr val="C62828"/>
            </a:solidFill>
            <a:prstDash val="solid"/>
            <a:tailEnd type="triangle"/>
          </a:ln>
        </p:spPr>
        <p:txBody>
          <a:bodyPr/>
          <a:lstStyle/>
          <a:p>
            <a:endParaRPr lang="en-IN"/>
          </a:p>
        </p:txBody>
      </p:sp>
      <p:sp>
        <p:nvSpPr>
          <p:cNvPr id="53" name="Shape 51"/>
          <p:cNvSpPr/>
          <p:nvPr/>
        </p:nvSpPr>
        <p:spPr>
          <a:xfrm>
            <a:off x="8183880" y="2578608"/>
            <a:ext cx="3438144" cy="301752"/>
          </a:xfrm>
          <a:prstGeom prst="rect">
            <a:avLst/>
          </a:prstGeom>
          <a:solidFill>
            <a:srgbClr val="FDECEC"/>
          </a:solidFill>
          <a:ln w="9525">
            <a:solidFill>
              <a:srgbClr val="C62828"/>
            </a:solidFill>
            <a:prstDash val="solid"/>
          </a:ln>
        </p:spPr>
        <p:txBody>
          <a:bodyPr/>
          <a:lstStyle/>
          <a:p>
            <a:endParaRPr lang="en-IN"/>
          </a:p>
        </p:txBody>
      </p:sp>
      <p:sp>
        <p:nvSpPr>
          <p:cNvPr id="54" name="Text 52"/>
          <p:cNvSpPr txBox="1"/>
          <p:nvPr/>
        </p:nvSpPr>
        <p:spPr>
          <a:xfrm>
            <a:off x="8275320" y="2578608"/>
            <a:ext cx="1051560" cy="301752"/>
          </a:xfrm>
          <a:prstGeom prst="rect">
            <a:avLst/>
          </a:prstGeom>
          <a:noFill/>
          <a:ln/>
        </p:spPr>
        <p:txBody>
          <a:bodyPr wrap="square" lIns="0" tIns="0" rIns="0" bIns="0" rtlCol="0" anchor="ctr"/>
          <a:lstStyle/>
          <a:p>
            <a:pPr marL="0" indent="0">
              <a:buNone/>
            </a:pPr>
            <a:r>
              <a:rPr lang="en-US" sz="760" b="1" dirty="0">
                <a:solidFill>
                  <a:srgbClr val="C62828"/>
                </a:solidFill>
                <a:latin typeface="Trenda IG Text" pitchFamily="34" charset="0"/>
                <a:ea typeface="Trenda IG Text" pitchFamily="34" charset="-122"/>
                <a:cs typeface="Trenda IG Text" pitchFamily="34" charset="-120"/>
              </a:rPr>
              <a:t>BLOCK + FIX</a:t>
            </a:r>
            <a:endParaRPr lang="en-US" sz="760" dirty="0"/>
          </a:p>
        </p:txBody>
      </p:sp>
      <p:sp>
        <p:nvSpPr>
          <p:cNvPr id="55" name="Text 53"/>
          <p:cNvSpPr txBox="1"/>
          <p:nvPr/>
        </p:nvSpPr>
        <p:spPr>
          <a:xfrm>
            <a:off x="9326880" y="2578608"/>
            <a:ext cx="2267712" cy="301752"/>
          </a:xfrm>
          <a:prstGeom prst="rect">
            <a:avLst/>
          </a:prstGeom>
          <a:noFill/>
          <a:ln/>
        </p:spPr>
        <p:txBody>
          <a:bodyPr wrap="square" lIns="0" tIns="0" rIns="0" bIns="0" rtlCol="0" anchor="ctr"/>
          <a:lstStyle/>
          <a:p>
            <a:pPr marL="0" indent="0">
              <a:buNone/>
            </a:pPr>
            <a:r>
              <a:rPr lang="en-US" sz="700" dirty="0">
                <a:solidFill>
                  <a:srgbClr val="12233B"/>
                </a:solidFill>
                <a:latin typeface="Trenda IG Text" pitchFamily="34" charset="0"/>
                <a:ea typeface="Trenda IG Text" pitchFamily="34" charset="-122"/>
                <a:cs typeface="Trenda IG Text" pitchFamily="34" charset="-120"/>
              </a:rPr>
              <a:t>Reason given; Developer Agent drafts the fix</a:t>
            </a:r>
            <a:endParaRPr lang="en-US" sz="700" dirty="0"/>
          </a:p>
        </p:txBody>
      </p:sp>
      <p:sp>
        <p:nvSpPr>
          <p:cNvPr id="56" name="Shape 54"/>
          <p:cNvSpPr/>
          <p:nvPr/>
        </p:nvSpPr>
        <p:spPr>
          <a:xfrm>
            <a:off x="3950208" y="2926080"/>
            <a:ext cx="7671816" cy="0"/>
          </a:xfrm>
          <a:prstGeom prst="line">
            <a:avLst/>
          </a:prstGeom>
          <a:noFill/>
          <a:ln w="9525">
            <a:solidFill>
              <a:srgbClr val="DCE4EE"/>
            </a:solidFill>
            <a:prstDash val="solid"/>
          </a:ln>
        </p:spPr>
        <p:txBody>
          <a:bodyPr/>
          <a:lstStyle/>
          <a:p>
            <a:endParaRPr lang="en-IN"/>
          </a:p>
        </p:txBody>
      </p:sp>
      <p:sp>
        <p:nvSpPr>
          <p:cNvPr id="57" name="Text 55"/>
          <p:cNvSpPr txBox="1"/>
          <p:nvPr/>
        </p:nvSpPr>
        <p:spPr>
          <a:xfrm>
            <a:off x="3950208" y="2980944"/>
            <a:ext cx="5486400" cy="146304"/>
          </a:xfrm>
          <a:prstGeom prst="rect">
            <a:avLst/>
          </a:prstGeom>
          <a:noFill/>
          <a:ln/>
        </p:spPr>
        <p:txBody>
          <a:bodyPr wrap="square" lIns="0" tIns="0" rIns="0" bIns="0" rtlCol="0" anchor="ctr"/>
          <a:lstStyle/>
          <a:p>
            <a:pPr marL="0" indent="0">
              <a:buNone/>
            </a:pPr>
            <a:r>
              <a:rPr lang="en-US" sz="700" b="1" kern="0" spc="200" dirty="0">
                <a:solidFill>
                  <a:srgbClr val="C2185B"/>
                </a:solidFill>
                <a:latin typeface="Trenda IG Text" pitchFamily="34" charset="0"/>
                <a:ea typeface="Trenda IG Text" pitchFamily="34" charset="-122"/>
                <a:cs typeface="Trenda IG Text" pitchFamily="34" charset="-120"/>
              </a:rPr>
              <a:t>WHERE IT CHECKS · CHECKPOINTS NO CHANGE CAN SKIP</a:t>
            </a:r>
            <a:endParaRPr lang="en-US" sz="700" dirty="0"/>
          </a:p>
        </p:txBody>
      </p:sp>
      <p:sp>
        <p:nvSpPr>
          <p:cNvPr id="58" name="Shape 56"/>
          <p:cNvSpPr/>
          <p:nvPr/>
        </p:nvSpPr>
        <p:spPr>
          <a:xfrm>
            <a:off x="3950208" y="3182112"/>
            <a:ext cx="1849374" cy="914400"/>
          </a:xfrm>
          <a:prstGeom prst="rect">
            <a:avLst/>
          </a:prstGeom>
          <a:solidFill>
            <a:srgbClr val="FFFFFF"/>
          </a:solidFill>
          <a:ln w="9525">
            <a:solidFill>
              <a:srgbClr val="C7D2DE"/>
            </a:solidFill>
            <a:prstDash val="solid"/>
          </a:ln>
        </p:spPr>
        <p:txBody>
          <a:bodyPr/>
          <a:lstStyle/>
          <a:p>
            <a:endParaRPr lang="en-IN"/>
          </a:p>
        </p:txBody>
      </p:sp>
      <p:sp>
        <p:nvSpPr>
          <p:cNvPr id="59" name="Shape 57"/>
          <p:cNvSpPr/>
          <p:nvPr/>
        </p:nvSpPr>
        <p:spPr>
          <a:xfrm>
            <a:off x="4023360" y="3255264"/>
            <a:ext cx="219456" cy="219456"/>
          </a:xfrm>
          <a:prstGeom prst="ellipse">
            <a:avLst/>
          </a:prstGeom>
          <a:solidFill>
            <a:srgbClr val="C2185B"/>
          </a:solidFill>
          <a:ln w="12700">
            <a:solidFill>
              <a:srgbClr val="C2185B"/>
            </a:solidFill>
            <a:prstDash val="solid"/>
          </a:ln>
        </p:spPr>
        <p:txBody>
          <a:bodyPr/>
          <a:lstStyle/>
          <a:p>
            <a:endParaRPr lang="en-IN"/>
          </a:p>
        </p:txBody>
      </p:sp>
      <p:sp>
        <p:nvSpPr>
          <p:cNvPr id="60" name="Text 58"/>
          <p:cNvSpPr txBox="1"/>
          <p:nvPr/>
        </p:nvSpPr>
        <p:spPr>
          <a:xfrm>
            <a:off x="4023360" y="3255264"/>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1</a:t>
            </a:r>
            <a:endParaRPr lang="en-US" sz="800" dirty="0"/>
          </a:p>
        </p:txBody>
      </p:sp>
      <p:sp>
        <p:nvSpPr>
          <p:cNvPr id="61" name="Text 59"/>
          <p:cNvSpPr txBox="1"/>
          <p:nvPr/>
        </p:nvSpPr>
        <p:spPr>
          <a:xfrm>
            <a:off x="4297680" y="3236976"/>
            <a:ext cx="1437894" cy="146304"/>
          </a:xfrm>
          <a:prstGeom prst="rect">
            <a:avLst/>
          </a:prstGeom>
          <a:noFill/>
          <a:ln/>
        </p:spPr>
        <p:txBody>
          <a:bodyPr wrap="square" lIns="0" tIns="0" rIns="0" bIns="0" rtlCol="0" anchor="ctr"/>
          <a:lstStyle/>
          <a:p>
            <a:pPr marL="0" indent="0">
              <a:buNone/>
            </a:pPr>
            <a:r>
              <a:rPr lang="en-US" sz="820" b="1" dirty="0">
                <a:solidFill>
                  <a:srgbClr val="12233B"/>
                </a:solidFill>
                <a:latin typeface="Trenda IG Text" pitchFamily="34" charset="0"/>
                <a:ea typeface="Trenda IG Text" pitchFamily="34" charset="-122"/>
                <a:cs typeface="Trenda IG Text" pitchFamily="34" charset="-120"/>
              </a:rPr>
              <a:t>Story intake</a:t>
            </a:r>
            <a:endParaRPr lang="en-US" sz="820" dirty="0"/>
          </a:p>
        </p:txBody>
      </p:sp>
      <p:sp>
        <p:nvSpPr>
          <p:cNvPr id="62" name="Text 60"/>
          <p:cNvSpPr txBox="1"/>
          <p:nvPr/>
        </p:nvSpPr>
        <p:spPr>
          <a:xfrm>
            <a:off x="4297680" y="3374136"/>
            <a:ext cx="1437894" cy="128016"/>
          </a:xfrm>
          <a:prstGeom prst="rect">
            <a:avLst/>
          </a:prstGeom>
          <a:noFill/>
          <a:ln/>
        </p:spPr>
        <p:txBody>
          <a:bodyPr wrap="square" lIns="0" tIns="0" rIns="0" bIns="0" rtlCol="0" anchor="ctr"/>
          <a:lstStyle/>
          <a:p>
            <a:pPr marL="0" indent="0">
              <a:buNone/>
            </a:pPr>
            <a:r>
              <a:rPr lang="en-US" sz="660" b="1" dirty="0">
                <a:solidFill>
                  <a:srgbClr val="C2185B"/>
                </a:solidFill>
                <a:latin typeface="Trenda IG Text" pitchFamily="34" charset="0"/>
                <a:ea typeface="Trenda IG Text" pitchFamily="34" charset="-122"/>
                <a:cs typeface="Trenda IG Text" pitchFamily="34" charset="-120"/>
              </a:rPr>
              <a:t>Before build</a:t>
            </a:r>
            <a:endParaRPr lang="en-US" sz="660" dirty="0"/>
          </a:p>
        </p:txBody>
      </p:sp>
      <p:sp>
        <p:nvSpPr>
          <p:cNvPr id="63" name="Text 61"/>
          <p:cNvSpPr txBox="1"/>
          <p:nvPr/>
        </p:nvSpPr>
        <p:spPr>
          <a:xfrm>
            <a:off x="4023360" y="3566160"/>
            <a:ext cx="1703070" cy="502920"/>
          </a:xfrm>
          <a:prstGeom prst="rect">
            <a:avLst/>
          </a:prstGeom>
          <a:noFill/>
          <a:ln/>
        </p:spPr>
        <p:txBody>
          <a:bodyPr wrap="square" lIns="0" tIns="0" rIns="0" bIns="0" rtlCol="0" anchor="t"/>
          <a:lstStyle/>
          <a:p>
            <a:pPr marL="0" indent="0">
              <a:buNone/>
            </a:pPr>
            <a:r>
              <a:rPr lang="en-US" sz="690" dirty="0">
                <a:solidFill>
                  <a:srgbClr val="12233B"/>
                </a:solidFill>
                <a:latin typeface="Trenda IG Text" pitchFamily="34" charset="0"/>
                <a:ea typeface="Trenda IG Text" pitchFamily="34" charset="-122"/>
                <a:cs typeface="Trenda IG Text" pitchFamily="34" charset="-120"/>
              </a:rPr>
              <a:t>Runs the blast radius, names every affected pod and adds their leads as approvers.</a:t>
            </a:r>
            <a:endParaRPr lang="en-US" sz="690" dirty="0"/>
          </a:p>
        </p:txBody>
      </p:sp>
      <p:sp>
        <p:nvSpPr>
          <p:cNvPr id="64" name="Shape 62"/>
          <p:cNvSpPr/>
          <p:nvPr/>
        </p:nvSpPr>
        <p:spPr>
          <a:xfrm>
            <a:off x="5891022" y="3182112"/>
            <a:ext cx="1849374" cy="914400"/>
          </a:xfrm>
          <a:prstGeom prst="rect">
            <a:avLst/>
          </a:prstGeom>
          <a:solidFill>
            <a:srgbClr val="FFFFFF"/>
          </a:solidFill>
          <a:ln w="9525">
            <a:solidFill>
              <a:srgbClr val="C7D2DE"/>
            </a:solidFill>
            <a:prstDash val="solid"/>
          </a:ln>
        </p:spPr>
        <p:txBody>
          <a:bodyPr/>
          <a:lstStyle/>
          <a:p>
            <a:endParaRPr lang="en-IN"/>
          </a:p>
        </p:txBody>
      </p:sp>
      <p:sp>
        <p:nvSpPr>
          <p:cNvPr id="65" name="Shape 63"/>
          <p:cNvSpPr/>
          <p:nvPr/>
        </p:nvSpPr>
        <p:spPr>
          <a:xfrm>
            <a:off x="5964174" y="3255264"/>
            <a:ext cx="219456" cy="219456"/>
          </a:xfrm>
          <a:prstGeom prst="ellipse">
            <a:avLst/>
          </a:prstGeom>
          <a:solidFill>
            <a:srgbClr val="C2185B"/>
          </a:solidFill>
          <a:ln w="12700">
            <a:solidFill>
              <a:srgbClr val="C2185B"/>
            </a:solidFill>
            <a:prstDash val="solid"/>
          </a:ln>
        </p:spPr>
        <p:txBody>
          <a:bodyPr/>
          <a:lstStyle/>
          <a:p>
            <a:endParaRPr lang="en-IN"/>
          </a:p>
        </p:txBody>
      </p:sp>
      <p:sp>
        <p:nvSpPr>
          <p:cNvPr id="66" name="Text 64"/>
          <p:cNvSpPr txBox="1"/>
          <p:nvPr/>
        </p:nvSpPr>
        <p:spPr>
          <a:xfrm>
            <a:off x="5964174" y="3255264"/>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2</a:t>
            </a:r>
            <a:endParaRPr lang="en-US" sz="800" dirty="0"/>
          </a:p>
        </p:txBody>
      </p:sp>
      <p:sp>
        <p:nvSpPr>
          <p:cNvPr id="67" name="Text 65"/>
          <p:cNvSpPr txBox="1"/>
          <p:nvPr/>
        </p:nvSpPr>
        <p:spPr>
          <a:xfrm>
            <a:off x="6238494" y="3236976"/>
            <a:ext cx="1437894" cy="146304"/>
          </a:xfrm>
          <a:prstGeom prst="rect">
            <a:avLst/>
          </a:prstGeom>
          <a:noFill/>
          <a:ln/>
        </p:spPr>
        <p:txBody>
          <a:bodyPr wrap="square" lIns="0" tIns="0" rIns="0" bIns="0" rtlCol="0" anchor="ctr"/>
          <a:lstStyle/>
          <a:p>
            <a:pPr marL="0" indent="0">
              <a:buNone/>
            </a:pPr>
            <a:r>
              <a:rPr lang="en-US" sz="820" b="1" dirty="0">
                <a:solidFill>
                  <a:srgbClr val="12233B"/>
                </a:solidFill>
                <a:latin typeface="Trenda IG Text" pitchFamily="34" charset="0"/>
                <a:ea typeface="Trenda IG Text" pitchFamily="34" charset="-122"/>
                <a:cs typeface="Trenda IG Text" pitchFamily="34" charset="-120"/>
              </a:rPr>
              <a:t>Every commit</a:t>
            </a:r>
            <a:endParaRPr lang="en-US" sz="820" dirty="0"/>
          </a:p>
        </p:txBody>
      </p:sp>
      <p:sp>
        <p:nvSpPr>
          <p:cNvPr id="68" name="Text 66"/>
          <p:cNvSpPr txBox="1"/>
          <p:nvPr/>
        </p:nvSpPr>
        <p:spPr>
          <a:xfrm>
            <a:off x="6238494" y="3374136"/>
            <a:ext cx="1437894" cy="128016"/>
          </a:xfrm>
          <a:prstGeom prst="rect">
            <a:avLst/>
          </a:prstGeom>
          <a:noFill/>
          <a:ln/>
        </p:spPr>
        <p:txBody>
          <a:bodyPr wrap="square" lIns="0" tIns="0" rIns="0" bIns="0" rtlCol="0" anchor="ctr"/>
          <a:lstStyle/>
          <a:p>
            <a:pPr marL="0" indent="0">
              <a:buNone/>
            </a:pPr>
            <a:r>
              <a:rPr lang="en-US" sz="660" b="1" dirty="0">
                <a:solidFill>
                  <a:srgbClr val="C2185B"/>
                </a:solidFill>
                <a:latin typeface="Trenda IG Text" pitchFamily="34" charset="0"/>
                <a:ea typeface="Trenda IG Text" pitchFamily="34" charset="-122"/>
                <a:cs typeface="Trenda IG Text" pitchFamily="34" charset="-120"/>
              </a:rPr>
              <a:t>Before merge</a:t>
            </a:r>
            <a:endParaRPr lang="en-US" sz="660" dirty="0"/>
          </a:p>
        </p:txBody>
      </p:sp>
      <p:sp>
        <p:nvSpPr>
          <p:cNvPr id="69" name="Text 67"/>
          <p:cNvSpPr txBox="1"/>
          <p:nvPr/>
        </p:nvSpPr>
        <p:spPr>
          <a:xfrm>
            <a:off x="5964174" y="3566160"/>
            <a:ext cx="1703070" cy="502920"/>
          </a:xfrm>
          <a:prstGeom prst="rect">
            <a:avLst/>
          </a:prstGeom>
          <a:noFill/>
          <a:ln/>
        </p:spPr>
        <p:txBody>
          <a:bodyPr wrap="square" lIns="0" tIns="0" rIns="0" bIns="0" rtlCol="0" anchor="t"/>
          <a:lstStyle/>
          <a:p>
            <a:pPr marL="0" indent="0">
              <a:buNone/>
            </a:pPr>
            <a:r>
              <a:rPr lang="en-US" sz="690" dirty="0">
                <a:solidFill>
                  <a:srgbClr val="12233B"/>
                </a:solidFill>
                <a:latin typeface="Trenda IG Text" pitchFamily="34" charset="0"/>
                <a:ea typeface="Trenda IG Text" pitchFamily="34" charset="-122"/>
                <a:cs typeface="Trenda IG Text" pitchFamily="34" charset="-120"/>
              </a:rPr>
              <a:t>Checks the diff against the rulebook. Blocking, not advisory.</a:t>
            </a:r>
            <a:endParaRPr lang="en-US" sz="690" dirty="0"/>
          </a:p>
        </p:txBody>
      </p:sp>
      <p:sp>
        <p:nvSpPr>
          <p:cNvPr id="70" name="Shape 68"/>
          <p:cNvSpPr/>
          <p:nvPr/>
        </p:nvSpPr>
        <p:spPr>
          <a:xfrm>
            <a:off x="7831836" y="3182112"/>
            <a:ext cx="1849374" cy="914400"/>
          </a:xfrm>
          <a:prstGeom prst="rect">
            <a:avLst/>
          </a:prstGeom>
          <a:solidFill>
            <a:srgbClr val="FFFFFF"/>
          </a:solidFill>
          <a:ln w="9525">
            <a:solidFill>
              <a:srgbClr val="C7D2DE"/>
            </a:solidFill>
            <a:prstDash val="solid"/>
          </a:ln>
        </p:spPr>
        <p:txBody>
          <a:bodyPr/>
          <a:lstStyle/>
          <a:p>
            <a:endParaRPr lang="en-IN"/>
          </a:p>
        </p:txBody>
      </p:sp>
      <p:sp>
        <p:nvSpPr>
          <p:cNvPr id="71" name="Shape 69"/>
          <p:cNvSpPr/>
          <p:nvPr/>
        </p:nvSpPr>
        <p:spPr>
          <a:xfrm>
            <a:off x="7904988" y="3255264"/>
            <a:ext cx="219456" cy="219456"/>
          </a:xfrm>
          <a:prstGeom prst="ellipse">
            <a:avLst/>
          </a:prstGeom>
          <a:solidFill>
            <a:srgbClr val="C2185B"/>
          </a:solidFill>
          <a:ln w="12700">
            <a:solidFill>
              <a:srgbClr val="C2185B"/>
            </a:solidFill>
            <a:prstDash val="solid"/>
          </a:ln>
        </p:spPr>
        <p:txBody>
          <a:bodyPr/>
          <a:lstStyle/>
          <a:p>
            <a:endParaRPr lang="en-IN"/>
          </a:p>
        </p:txBody>
      </p:sp>
      <p:sp>
        <p:nvSpPr>
          <p:cNvPr id="72" name="Text 70"/>
          <p:cNvSpPr txBox="1"/>
          <p:nvPr/>
        </p:nvSpPr>
        <p:spPr>
          <a:xfrm>
            <a:off x="7904988" y="3255264"/>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3</a:t>
            </a:r>
            <a:endParaRPr lang="en-US" sz="800" dirty="0"/>
          </a:p>
        </p:txBody>
      </p:sp>
      <p:sp>
        <p:nvSpPr>
          <p:cNvPr id="73" name="Text 71"/>
          <p:cNvSpPr txBox="1"/>
          <p:nvPr/>
        </p:nvSpPr>
        <p:spPr>
          <a:xfrm>
            <a:off x="8179308" y="3236976"/>
            <a:ext cx="1437894" cy="146304"/>
          </a:xfrm>
          <a:prstGeom prst="rect">
            <a:avLst/>
          </a:prstGeom>
          <a:noFill/>
          <a:ln/>
        </p:spPr>
        <p:txBody>
          <a:bodyPr wrap="square" lIns="0" tIns="0" rIns="0" bIns="0" rtlCol="0" anchor="ctr"/>
          <a:lstStyle/>
          <a:p>
            <a:pPr marL="0" indent="0">
              <a:buNone/>
            </a:pPr>
            <a:r>
              <a:rPr lang="en-US" sz="820" b="1" dirty="0">
                <a:solidFill>
                  <a:srgbClr val="12233B"/>
                </a:solidFill>
                <a:latin typeface="Trenda IG Text" pitchFamily="34" charset="0"/>
                <a:ea typeface="Trenda IG Text" pitchFamily="34" charset="-122"/>
                <a:cs typeface="Trenda IG Text" pitchFamily="34" charset="-120"/>
              </a:rPr>
              <a:t>Copado promotion</a:t>
            </a:r>
            <a:endParaRPr lang="en-US" sz="820" dirty="0"/>
          </a:p>
        </p:txBody>
      </p:sp>
      <p:sp>
        <p:nvSpPr>
          <p:cNvPr id="74" name="Text 72"/>
          <p:cNvSpPr txBox="1"/>
          <p:nvPr/>
        </p:nvSpPr>
        <p:spPr>
          <a:xfrm>
            <a:off x="8179308" y="3374136"/>
            <a:ext cx="1437894" cy="128016"/>
          </a:xfrm>
          <a:prstGeom prst="rect">
            <a:avLst/>
          </a:prstGeom>
          <a:noFill/>
          <a:ln/>
        </p:spPr>
        <p:txBody>
          <a:bodyPr wrap="square" lIns="0" tIns="0" rIns="0" bIns="0" rtlCol="0" anchor="ctr"/>
          <a:lstStyle/>
          <a:p>
            <a:pPr marL="0" indent="0">
              <a:buNone/>
            </a:pPr>
            <a:r>
              <a:rPr lang="en-US" sz="660" b="1" dirty="0">
                <a:solidFill>
                  <a:srgbClr val="C2185B"/>
                </a:solidFill>
                <a:latin typeface="Trenda IG Text" pitchFamily="34" charset="0"/>
                <a:ea typeface="Trenda IG Text" pitchFamily="34" charset="-122"/>
                <a:cs typeface="Trenda IG Text" pitchFamily="34" charset="-120"/>
              </a:rPr>
              <a:t>Before SIT / UAT</a:t>
            </a:r>
            <a:endParaRPr lang="en-US" sz="660" dirty="0"/>
          </a:p>
        </p:txBody>
      </p:sp>
      <p:sp>
        <p:nvSpPr>
          <p:cNvPr id="75" name="Text 73"/>
          <p:cNvSpPr txBox="1"/>
          <p:nvPr/>
        </p:nvSpPr>
        <p:spPr>
          <a:xfrm>
            <a:off x="7904988" y="3566160"/>
            <a:ext cx="1703070" cy="502920"/>
          </a:xfrm>
          <a:prstGeom prst="rect">
            <a:avLst/>
          </a:prstGeom>
          <a:noFill/>
          <a:ln/>
        </p:spPr>
        <p:txBody>
          <a:bodyPr wrap="square" lIns="0" tIns="0" rIns="0" bIns="0" rtlCol="0" anchor="t"/>
          <a:lstStyle/>
          <a:p>
            <a:pPr marL="0" indent="0">
              <a:buNone/>
            </a:pPr>
            <a:r>
              <a:rPr lang="en-US" sz="690" dirty="0">
                <a:solidFill>
                  <a:srgbClr val="12233B"/>
                </a:solidFill>
                <a:latin typeface="Trenda IG Text" pitchFamily="34" charset="0"/>
                <a:ea typeface="Trenda IG Text" pitchFamily="34" charset="-122"/>
                <a:cs typeface="Trenda IG Text" pitchFamily="34" charset="-120"/>
              </a:rPr>
              <a:t>Impact tests for each affected pod must pass. No passport, no promotion.</a:t>
            </a:r>
            <a:endParaRPr lang="en-US" sz="690" dirty="0"/>
          </a:p>
        </p:txBody>
      </p:sp>
      <p:sp>
        <p:nvSpPr>
          <p:cNvPr id="76" name="Shape 74"/>
          <p:cNvSpPr/>
          <p:nvPr/>
        </p:nvSpPr>
        <p:spPr>
          <a:xfrm>
            <a:off x="9772650" y="3182112"/>
            <a:ext cx="1849374" cy="914400"/>
          </a:xfrm>
          <a:prstGeom prst="rect">
            <a:avLst/>
          </a:prstGeom>
          <a:solidFill>
            <a:srgbClr val="EAF1FB"/>
          </a:solidFill>
          <a:ln w="9525">
            <a:solidFill>
              <a:srgbClr val="1B6BC0"/>
            </a:solidFill>
            <a:prstDash val="solid"/>
          </a:ln>
        </p:spPr>
        <p:txBody>
          <a:bodyPr/>
          <a:lstStyle/>
          <a:p>
            <a:endParaRPr lang="en-IN"/>
          </a:p>
        </p:txBody>
      </p:sp>
      <p:sp>
        <p:nvSpPr>
          <p:cNvPr id="77" name="Shape 75"/>
          <p:cNvSpPr/>
          <p:nvPr/>
        </p:nvSpPr>
        <p:spPr>
          <a:xfrm>
            <a:off x="9845802" y="3255264"/>
            <a:ext cx="219456" cy="219456"/>
          </a:xfrm>
          <a:prstGeom prst="ellipse">
            <a:avLst/>
          </a:prstGeom>
          <a:solidFill>
            <a:srgbClr val="1B6BC0"/>
          </a:solidFill>
          <a:ln w="12700">
            <a:solidFill>
              <a:srgbClr val="1B6BC0"/>
            </a:solidFill>
            <a:prstDash val="solid"/>
          </a:ln>
        </p:spPr>
        <p:txBody>
          <a:bodyPr/>
          <a:lstStyle/>
          <a:p>
            <a:endParaRPr lang="en-IN"/>
          </a:p>
        </p:txBody>
      </p:sp>
      <p:sp>
        <p:nvSpPr>
          <p:cNvPr id="78" name="Text 76"/>
          <p:cNvSpPr txBox="1"/>
          <p:nvPr/>
        </p:nvSpPr>
        <p:spPr>
          <a:xfrm>
            <a:off x="9845802" y="3255264"/>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nda IG Text" pitchFamily="34" charset="0"/>
                <a:ea typeface="Trenda IG Text" pitchFamily="34" charset="-122"/>
                <a:cs typeface="Trenda IG Text" pitchFamily="34" charset="-120"/>
              </a:rPr>
              <a:t>∞</a:t>
            </a:r>
            <a:endParaRPr lang="en-US" sz="800" dirty="0"/>
          </a:p>
        </p:txBody>
      </p:sp>
      <p:sp>
        <p:nvSpPr>
          <p:cNvPr id="79" name="Text 77"/>
          <p:cNvSpPr txBox="1"/>
          <p:nvPr/>
        </p:nvSpPr>
        <p:spPr>
          <a:xfrm>
            <a:off x="10120122" y="3236976"/>
            <a:ext cx="1437894" cy="146304"/>
          </a:xfrm>
          <a:prstGeom prst="rect">
            <a:avLst/>
          </a:prstGeom>
          <a:noFill/>
          <a:ln/>
        </p:spPr>
        <p:txBody>
          <a:bodyPr wrap="square" lIns="0" tIns="0" rIns="0" bIns="0" rtlCol="0" anchor="ctr"/>
          <a:lstStyle/>
          <a:p>
            <a:pPr marL="0" indent="0">
              <a:buNone/>
            </a:pPr>
            <a:r>
              <a:rPr lang="en-US" sz="820" b="1" dirty="0">
                <a:solidFill>
                  <a:srgbClr val="12233B"/>
                </a:solidFill>
                <a:latin typeface="Trenda IG Text" pitchFamily="34" charset="0"/>
                <a:ea typeface="Trenda IG Text" pitchFamily="34" charset="-122"/>
                <a:cs typeface="Trenda IG Text" pitchFamily="34" charset="-120"/>
              </a:rPr>
              <a:t>Always on</a:t>
            </a:r>
            <a:endParaRPr lang="en-US" sz="820" dirty="0"/>
          </a:p>
        </p:txBody>
      </p:sp>
      <p:sp>
        <p:nvSpPr>
          <p:cNvPr id="80" name="Text 78"/>
          <p:cNvSpPr txBox="1"/>
          <p:nvPr/>
        </p:nvSpPr>
        <p:spPr>
          <a:xfrm>
            <a:off x="10120122" y="3374136"/>
            <a:ext cx="1437894" cy="128016"/>
          </a:xfrm>
          <a:prstGeom prst="rect">
            <a:avLst/>
          </a:prstGeom>
          <a:noFill/>
          <a:ln/>
        </p:spPr>
        <p:txBody>
          <a:bodyPr wrap="square" lIns="0" tIns="0" rIns="0" bIns="0" rtlCol="0" anchor="ctr"/>
          <a:lstStyle/>
          <a:p>
            <a:pPr marL="0" indent="0">
              <a:buNone/>
            </a:pPr>
            <a:r>
              <a:rPr lang="en-US" sz="660" b="1" dirty="0">
                <a:solidFill>
                  <a:srgbClr val="1B6BC0"/>
                </a:solidFill>
                <a:latin typeface="Trenda IG Text" pitchFamily="34" charset="0"/>
                <a:ea typeface="Trenda IG Text" pitchFamily="34" charset="-122"/>
                <a:cs typeface="Trenda IG Text" pitchFamily="34" charset="-120"/>
              </a:rPr>
              <a:t>Every night</a:t>
            </a:r>
            <a:endParaRPr lang="en-US" sz="660" dirty="0"/>
          </a:p>
        </p:txBody>
      </p:sp>
      <p:sp>
        <p:nvSpPr>
          <p:cNvPr id="81" name="Text 79"/>
          <p:cNvSpPr txBox="1"/>
          <p:nvPr/>
        </p:nvSpPr>
        <p:spPr>
          <a:xfrm>
            <a:off x="9845802" y="3566160"/>
            <a:ext cx="1703070" cy="502920"/>
          </a:xfrm>
          <a:prstGeom prst="rect">
            <a:avLst/>
          </a:prstGeom>
          <a:noFill/>
          <a:ln/>
        </p:spPr>
        <p:txBody>
          <a:bodyPr wrap="square" lIns="0" tIns="0" rIns="0" bIns="0" rtlCol="0" anchor="t"/>
          <a:lstStyle/>
          <a:p>
            <a:pPr marL="0" indent="0">
              <a:buNone/>
            </a:pPr>
            <a:r>
              <a:rPr lang="en-US" sz="690" dirty="0">
                <a:solidFill>
                  <a:srgbClr val="12233B"/>
                </a:solidFill>
                <a:latin typeface="Trenda IG Text" pitchFamily="34" charset="0"/>
                <a:ea typeface="Trenda IG Text" pitchFamily="34" charset="-122"/>
                <a:cs typeface="Trenda IG Text" pitchFamily="34" charset="-120"/>
              </a:rPr>
              <a:t>Compares every org with Git and the graph; edits outside the pipeline flagged in 24 h.</a:t>
            </a:r>
            <a:endParaRPr lang="en-US" sz="690" dirty="0"/>
          </a:p>
        </p:txBody>
      </p:sp>
      <p:sp>
        <p:nvSpPr>
          <p:cNvPr id="82" name="Shape 80"/>
          <p:cNvSpPr/>
          <p:nvPr/>
        </p:nvSpPr>
        <p:spPr>
          <a:xfrm>
            <a:off x="3950208" y="4151376"/>
            <a:ext cx="7671816" cy="0"/>
          </a:xfrm>
          <a:prstGeom prst="line">
            <a:avLst/>
          </a:prstGeom>
          <a:noFill/>
          <a:ln w="9525">
            <a:solidFill>
              <a:srgbClr val="DCE4EE"/>
            </a:solidFill>
            <a:prstDash val="solid"/>
          </a:ln>
        </p:spPr>
        <p:txBody>
          <a:bodyPr/>
          <a:lstStyle/>
          <a:p>
            <a:endParaRPr lang="en-IN"/>
          </a:p>
        </p:txBody>
      </p:sp>
      <p:sp>
        <p:nvSpPr>
          <p:cNvPr id="83" name="Text 81"/>
          <p:cNvSpPr txBox="1"/>
          <p:nvPr/>
        </p:nvSpPr>
        <p:spPr>
          <a:xfrm>
            <a:off x="3950208" y="4206240"/>
            <a:ext cx="5486400" cy="146304"/>
          </a:xfrm>
          <a:prstGeom prst="rect">
            <a:avLst/>
          </a:prstGeom>
          <a:noFill/>
          <a:ln/>
        </p:spPr>
        <p:txBody>
          <a:bodyPr wrap="square" lIns="0" tIns="0" rIns="0" bIns="0" rtlCol="0" anchor="ctr"/>
          <a:lstStyle/>
          <a:p>
            <a:pPr marL="0" indent="0">
              <a:buNone/>
            </a:pPr>
            <a:r>
              <a:rPr lang="en-US" sz="700" b="1" kern="0" spc="200" dirty="0">
                <a:solidFill>
                  <a:srgbClr val="C2185B"/>
                </a:solidFill>
                <a:latin typeface="Trenda IG Text" pitchFamily="34" charset="0"/>
                <a:ea typeface="Trenda IG Text" pitchFamily="34" charset="-122"/>
                <a:cs typeface="Trenda IG Text" pitchFamily="34" charset="-120"/>
              </a:rPr>
              <a:t>GUARDRAIL RULEBOOK · EXAMPLES THAT BLOCK A CHANGE</a:t>
            </a:r>
            <a:endParaRPr lang="en-US" sz="700" dirty="0"/>
          </a:p>
        </p:txBody>
      </p:sp>
      <p:sp>
        <p:nvSpPr>
          <p:cNvPr id="84" name="Text 82"/>
          <p:cNvSpPr txBox="1"/>
          <p:nvPr/>
        </p:nvSpPr>
        <p:spPr>
          <a:xfrm>
            <a:off x="3950208" y="4389120"/>
            <a:ext cx="2514600" cy="777240"/>
          </a:xfrm>
          <a:prstGeom prst="rect">
            <a:avLst/>
          </a:prstGeom>
          <a:noFill/>
          <a:ln/>
        </p:spPr>
        <p:txBody>
          <a:bodyPr wrap="square" lIns="0" tIns="0" rIns="0" bIns="0" rtlCol="0" anchor="t"/>
          <a:lstStyle/>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Record-triggered flow on a shared object without record-type entry criteria</a:t>
            </a:r>
            <a:endParaRPr lang="en-US" sz="690" dirty="0"/>
          </a:p>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Edit to a shared Apex class without tests for every pod that uses it</a:t>
            </a:r>
            <a:endParaRPr lang="en-US" sz="690" dirty="0"/>
          </a:p>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New field, validation rule or picklist value on a shared object without owner-pod sign-off</a:t>
            </a:r>
            <a:endParaRPr lang="en-US" sz="690" dirty="0"/>
          </a:p>
        </p:txBody>
      </p:sp>
      <p:sp>
        <p:nvSpPr>
          <p:cNvPr id="85" name="Text 83"/>
          <p:cNvSpPr txBox="1"/>
          <p:nvPr/>
        </p:nvSpPr>
        <p:spPr>
          <a:xfrm>
            <a:off x="6537960" y="4389120"/>
            <a:ext cx="2514600" cy="777240"/>
          </a:xfrm>
          <a:prstGeom prst="rect">
            <a:avLst/>
          </a:prstGeom>
          <a:noFill/>
          <a:ln/>
        </p:spPr>
        <p:txBody>
          <a:bodyPr wrap="square" lIns="0" tIns="0" rIns="0" bIns="0" rtlCol="0" anchor="t"/>
          <a:lstStyle/>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Hardcoded IDs, or SOQL / DML inside loops</a:t>
            </a:r>
            <a:endParaRPr lang="en-US" sz="690" dirty="0"/>
          </a:p>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Modify All or View All in a permission set; sharing change without security review</a:t>
            </a:r>
            <a:endParaRPr lang="en-US" sz="690" dirty="0"/>
          </a:p>
          <a:p>
            <a:pPr marL="342900" indent="-342900">
              <a:spcAft>
                <a:spcPts val="200"/>
              </a:spcAft>
              <a:buSzPct val="100000"/>
              <a:buChar char="■"/>
            </a:pPr>
            <a:r>
              <a:rPr lang="en-US" sz="690" dirty="0">
                <a:solidFill>
                  <a:srgbClr val="12233B"/>
                </a:solidFill>
                <a:latin typeface="Trenda IG Text" pitchFamily="34" charset="0"/>
                <a:ea typeface="Trenda IG Text" pitchFamily="34" charset="-122"/>
                <a:cs typeface="Trenda IG Text" pitchFamily="34" charset="-120"/>
              </a:rPr>
              <a:t>Any change that did not come through the pipeline</a:t>
            </a:r>
            <a:endParaRPr lang="en-US" sz="690" dirty="0"/>
          </a:p>
        </p:txBody>
      </p:sp>
      <p:sp>
        <p:nvSpPr>
          <p:cNvPr id="86" name="Shape 84"/>
          <p:cNvSpPr/>
          <p:nvPr/>
        </p:nvSpPr>
        <p:spPr>
          <a:xfrm>
            <a:off x="9171432" y="4224528"/>
            <a:ext cx="2450592" cy="960120"/>
          </a:xfrm>
          <a:prstGeom prst="rect">
            <a:avLst/>
          </a:prstGeom>
          <a:solidFill>
            <a:srgbClr val="FBE9F0"/>
          </a:solidFill>
          <a:ln w="12700">
            <a:solidFill>
              <a:srgbClr val="FBE9F0"/>
            </a:solidFill>
            <a:prstDash val="solid"/>
          </a:ln>
        </p:spPr>
        <p:txBody>
          <a:bodyPr/>
          <a:lstStyle/>
          <a:p>
            <a:endParaRPr lang="en-IN"/>
          </a:p>
        </p:txBody>
      </p:sp>
      <p:sp>
        <p:nvSpPr>
          <p:cNvPr id="87" name="Text 85"/>
          <p:cNvSpPr txBox="1"/>
          <p:nvPr/>
        </p:nvSpPr>
        <p:spPr>
          <a:xfrm>
            <a:off x="9262872" y="4270248"/>
            <a:ext cx="2267712" cy="137160"/>
          </a:xfrm>
          <a:prstGeom prst="rect">
            <a:avLst/>
          </a:prstGeom>
          <a:noFill/>
          <a:ln/>
        </p:spPr>
        <p:txBody>
          <a:bodyPr wrap="square" lIns="0" tIns="0" rIns="0" bIns="0" rtlCol="0" anchor="ctr"/>
          <a:lstStyle/>
          <a:p>
            <a:pPr marL="0" indent="0">
              <a:buNone/>
            </a:pPr>
            <a:r>
              <a:rPr lang="en-US" sz="660" b="1" kern="0" spc="100" dirty="0">
                <a:solidFill>
                  <a:srgbClr val="C2185B"/>
                </a:solidFill>
                <a:latin typeface="Trenda IG Text" pitchFamily="34" charset="0"/>
                <a:ea typeface="Trenda IG Text" pitchFamily="34" charset="-122"/>
                <a:cs typeface="Trenda IG Text" pitchFamily="34" charset="-120"/>
              </a:rPr>
              <a:t>THE BOLD VERSION</a:t>
            </a:r>
            <a:endParaRPr lang="en-US" sz="660" dirty="0"/>
          </a:p>
        </p:txBody>
      </p:sp>
      <p:sp>
        <p:nvSpPr>
          <p:cNvPr id="88" name="Text 86"/>
          <p:cNvSpPr txBox="1"/>
          <p:nvPr/>
        </p:nvSpPr>
        <p:spPr>
          <a:xfrm>
            <a:off x="9262872" y="4425696"/>
            <a:ext cx="2267712" cy="731520"/>
          </a:xfrm>
          <a:prstGeom prst="rect">
            <a:avLst/>
          </a:prstGeom>
          <a:noFill/>
          <a:ln/>
        </p:spPr>
        <p:txBody>
          <a:bodyPr wrap="square" lIns="0" tIns="0" rIns="0" bIns="0" rtlCol="0" anchor="t"/>
          <a:lstStyle/>
          <a:p>
            <a:pPr marL="0" indent="0">
              <a:buNone/>
            </a:pPr>
            <a:r>
              <a:rPr lang="en-US" sz="720" dirty="0">
                <a:solidFill>
                  <a:srgbClr val="12233B"/>
                </a:solidFill>
                <a:latin typeface="Trenda IG Text" pitchFamily="34" charset="0"/>
                <a:ea typeface="Trenda IG Text" pitchFamily="34" charset="-122"/>
                <a:cs typeface="Trenda IG Text" pitchFamily="34" charset="-120"/>
              </a:rPr>
              <a:t>A self-governing org: clean, low-risk changes pass as standard changes. CAB sees only high-risk, cross-pod changes, with the evidence already assembled.</a:t>
            </a:r>
            <a:endParaRPr lang="en-US" sz="720" dirty="0"/>
          </a:p>
        </p:txBody>
      </p:sp>
      <p:sp>
        <p:nvSpPr>
          <p:cNvPr id="89" name="Text 87"/>
          <p:cNvSpPr txBox="1"/>
          <p:nvPr/>
        </p:nvSpPr>
        <p:spPr>
          <a:xfrm>
            <a:off x="411480" y="5486400"/>
            <a:ext cx="7315200" cy="164592"/>
          </a:xfrm>
          <a:prstGeom prst="rect">
            <a:avLst/>
          </a:prstGeom>
          <a:noFill/>
          <a:ln/>
        </p:spPr>
        <p:txBody>
          <a:bodyPr wrap="square" lIns="0" tIns="0" rIns="0" bIns="0" rtlCol="0" anchor="ctr"/>
          <a:lstStyle/>
          <a:p>
            <a:pPr marL="0" indent="0">
              <a:buNone/>
            </a:pPr>
            <a:r>
              <a:rPr lang="en-US" sz="750" b="1" kern="0" spc="200" dirty="0">
                <a:solidFill>
                  <a:srgbClr val="00757F"/>
                </a:solidFill>
                <a:latin typeface="Trenda IG Text" pitchFamily="34" charset="0"/>
                <a:ea typeface="Trenda IG Text" pitchFamily="34" charset="-122"/>
                <a:cs typeface="Trenda IG Text" pitchFamily="34" charset="-120"/>
              </a:rPr>
              <a:t>TARGETS FOR THE PILOT</a:t>
            </a:r>
            <a:endParaRPr lang="en-US" sz="750" dirty="0"/>
          </a:p>
        </p:txBody>
      </p:sp>
      <p:sp>
        <p:nvSpPr>
          <p:cNvPr id="90" name="Shape 88"/>
          <p:cNvSpPr/>
          <p:nvPr/>
        </p:nvSpPr>
        <p:spPr>
          <a:xfrm>
            <a:off x="411480"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91" name="Shape 89"/>
          <p:cNvSpPr/>
          <p:nvPr/>
        </p:nvSpPr>
        <p:spPr>
          <a:xfrm>
            <a:off x="411480"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92" name="Text 90"/>
          <p:cNvSpPr txBox="1"/>
          <p:nvPr/>
        </p:nvSpPr>
        <p:spPr>
          <a:xfrm>
            <a:off x="576072"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Pre-build</a:t>
            </a:r>
            <a:endParaRPr lang="en-US" sz="1700" dirty="0"/>
          </a:p>
        </p:txBody>
      </p:sp>
      <p:sp>
        <p:nvSpPr>
          <p:cNvPr id="93" name="Text 91"/>
          <p:cNvSpPr txBox="1"/>
          <p:nvPr/>
        </p:nvSpPr>
        <p:spPr>
          <a:xfrm>
            <a:off x="1783080"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cross-pod impact known</a:t>
            </a:r>
            <a:endParaRPr lang="en-US" sz="830" dirty="0"/>
          </a:p>
        </p:txBody>
      </p:sp>
      <p:sp>
        <p:nvSpPr>
          <p:cNvPr id="94" name="Text 92"/>
          <p:cNvSpPr txBox="1"/>
          <p:nvPr/>
        </p:nvSpPr>
        <p:spPr>
          <a:xfrm>
            <a:off x="576072"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Instead of in another pod’s UAT</a:t>
            </a:r>
            <a:endParaRPr lang="en-US" sz="730" dirty="0"/>
          </a:p>
        </p:txBody>
      </p:sp>
      <p:sp>
        <p:nvSpPr>
          <p:cNvPr id="95" name="Shape 93"/>
          <p:cNvSpPr/>
          <p:nvPr/>
        </p:nvSpPr>
        <p:spPr>
          <a:xfrm>
            <a:off x="3285439"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96" name="Shape 94"/>
          <p:cNvSpPr/>
          <p:nvPr/>
        </p:nvSpPr>
        <p:spPr>
          <a:xfrm>
            <a:off x="3285439"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97" name="Text 95"/>
          <p:cNvSpPr txBox="1"/>
          <p:nvPr/>
        </p:nvSpPr>
        <p:spPr>
          <a:xfrm>
            <a:off x="3450031"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100%</a:t>
            </a:r>
            <a:endParaRPr lang="en-US" sz="1700" dirty="0"/>
          </a:p>
        </p:txBody>
      </p:sp>
      <p:sp>
        <p:nvSpPr>
          <p:cNvPr id="98" name="Text 96"/>
          <p:cNvSpPr txBox="1"/>
          <p:nvPr/>
        </p:nvSpPr>
        <p:spPr>
          <a:xfrm>
            <a:off x="4657039"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changes checked by the Guardian</a:t>
            </a:r>
            <a:endParaRPr lang="en-US" sz="830" dirty="0"/>
          </a:p>
        </p:txBody>
      </p:sp>
      <p:sp>
        <p:nvSpPr>
          <p:cNvPr id="99" name="Text 97"/>
          <p:cNvSpPr txBox="1"/>
          <p:nvPr/>
        </p:nvSpPr>
        <p:spPr>
          <a:xfrm>
            <a:off x="3450031"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At intake, commit and promotion</a:t>
            </a:r>
            <a:endParaRPr lang="en-US" sz="730" dirty="0"/>
          </a:p>
        </p:txBody>
      </p:sp>
      <p:sp>
        <p:nvSpPr>
          <p:cNvPr id="100" name="Shape 98"/>
          <p:cNvSpPr/>
          <p:nvPr/>
        </p:nvSpPr>
        <p:spPr>
          <a:xfrm>
            <a:off x="6159398"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101" name="Shape 99"/>
          <p:cNvSpPr/>
          <p:nvPr/>
        </p:nvSpPr>
        <p:spPr>
          <a:xfrm>
            <a:off x="6159398"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102" name="Text 100"/>
          <p:cNvSpPr txBox="1"/>
          <p:nvPr/>
        </p:nvSpPr>
        <p:spPr>
          <a:xfrm>
            <a:off x="6323990"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&lt; 24 h</a:t>
            </a:r>
            <a:endParaRPr lang="en-US" sz="1700" dirty="0"/>
          </a:p>
        </p:txBody>
      </p:sp>
      <p:sp>
        <p:nvSpPr>
          <p:cNvPr id="103" name="Text 101"/>
          <p:cNvSpPr txBox="1"/>
          <p:nvPr/>
        </p:nvSpPr>
        <p:spPr>
          <a:xfrm>
            <a:off x="7530998"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to catch out-of-pipeline edits</a:t>
            </a:r>
            <a:endParaRPr lang="en-US" sz="830" dirty="0"/>
          </a:p>
        </p:txBody>
      </p:sp>
      <p:sp>
        <p:nvSpPr>
          <p:cNvPr id="104" name="Text 102"/>
          <p:cNvSpPr txBox="1"/>
          <p:nvPr/>
        </p:nvSpPr>
        <p:spPr>
          <a:xfrm>
            <a:off x="6323990"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Nightly drift watch on every org</a:t>
            </a:r>
            <a:endParaRPr lang="en-US" sz="730" dirty="0"/>
          </a:p>
        </p:txBody>
      </p:sp>
      <p:sp>
        <p:nvSpPr>
          <p:cNvPr id="105" name="Shape 103"/>
          <p:cNvSpPr/>
          <p:nvPr/>
        </p:nvSpPr>
        <p:spPr>
          <a:xfrm>
            <a:off x="9033358" y="5687568"/>
            <a:ext cx="2743200" cy="713232"/>
          </a:xfrm>
          <a:prstGeom prst="rect">
            <a:avLst/>
          </a:prstGeom>
          <a:solidFill>
            <a:srgbClr val="FFFFFF"/>
          </a:solidFill>
          <a:ln w="9525">
            <a:solidFill>
              <a:srgbClr val="DCE4EE"/>
            </a:solidFill>
            <a:prstDash val="solid"/>
          </a:ln>
        </p:spPr>
        <p:txBody>
          <a:bodyPr/>
          <a:lstStyle/>
          <a:p>
            <a:endParaRPr lang="en-IN"/>
          </a:p>
        </p:txBody>
      </p:sp>
      <p:sp>
        <p:nvSpPr>
          <p:cNvPr id="106" name="Shape 104"/>
          <p:cNvSpPr/>
          <p:nvPr/>
        </p:nvSpPr>
        <p:spPr>
          <a:xfrm>
            <a:off x="9033358" y="5687568"/>
            <a:ext cx="54864" cy="713232"/>
          </a:xfrm>
          <a:prstGeom prst="rect">
            <a:avLst/>
          </a:prstGeom>
          <a:solidFill>
            <a:srgbClr val="00757F"/>
          </a:solidFill>
          <a:ln w="12700">
            <a:solidFill>
              <a:srgbClr val="00757F"/>
            </a:solidFill>
            <a:prstDash val="solid"/>
          </a:ln>
        </p:spPr>
        <p:txBody>
          <a:bodyPr/>
          <a:lstStyle/>
          <a:p>
            <a:endParaRPr lang="en-IN"/>
          </a:p>
        </p:txBody>
      </p:sp>
      <p:sp>
        <p:nvSpPr>
          <p:cNvPr id="107" name="Text 105"/>
          <p:cNvSpPr txBox="1"/>
          <p:nvPr/>
        </p:nvSpPr>
        <p:spPr>
          <a:xfrm>
            <a:off x="9197950" y="5760720"/>
            <a:ext cx="1234440" cy="347472"/>
          </a:xfrm>
          <a:prstGeom prst="rect">
            <a:avLst/>
          </a:prstGeom>
          <a:noFill/>
          <a:ln/>
        </p:spPr>
        <p:txBody>
          <a:bodyPr wrap="square" lIns="0" tIns="0" rIns="0" bIns="0" rtlCol="0" anchor="ctr"/>
          <a:lstStyle/>
          <a:p>
            <a:pPr marL="0" indent="0">
              <a:buNone/>
            </a:pPr>
            <a:r>
              <a:rPr lang="en-US" sz="1700" b="1" dirty="0">
                <a:solidFill>
                  <a:srgbClr val="00757F"/>
                </a:solidFill>
                <a:latin typeface="Trenda IG Display" pitchFamily="34" charset="0"/>
                <a:ea typeface="Trenda IG Display" pitchFamily="34" charset="-122"/>
                <a:cs typeface="Trenda IG Display" pitchFamily="34" charset="-120"/>
              </a:rPr>
              <a:t>Minutes</a:t>
            </a:r>
            <a:endParaRPr lang="en-US" sz="1700" dirty="0"/>
          </a:p>
        </p:txBody>
      </p:sp>
      <p:sp>
        <p:nvSpPr>
          <p:cNvPr id="108" name="Text 106"/>
          <p:cNvSpPr txBox="1"/>
          <p:nvPr/>
        </p:nvSpPr>
        <p:spPr>
          <a:xfrm>
            <a:off x="10404958" y="5760720"/>
            <a:ext cx="1325880" cy="347472"/>
          </a:xfrm>
          <a:prstGeom prst="rect">
            <a:avLst/>
          </a:prstGeom>
          <a:noFill/>
          <a:ln/>
        </p:spPr>
        <p:txBody>
          <a:bodyPr wrap="square" lIns="0" tIns="0" rIns="0" bIns="0" rtlCol="0" anchor="ctr"/>
          <a:lstStyle/>
          <a:p>
            <a:pPr marL="0" indent="0">
              <a:buNone/>
            </a:pPr>
            <a:r>
              <a:rPr lang="en-US" sz="830" b="1" dirty="0">
                <a:solidFill>
                  <a:srgbClr val="12233B"/>
                </a:solidFill>
                <a:latin typeface="Trenda IG Text" pitchFamily="34" charset="0"/>
                <a:ea typeface="Trenda IG Text" pitchFamily="34" charset="-122"/>
                <a:cs typeface="Trenda IG Text" pitchFamily="34" charset="-120"/>
              </a:rPr>
              <a:t>to assemble CAB evidence</a:t>
            </a:r>
            <a:endParaRPr lang="en-US" sz="830" dirty="0"/>
          </a:p>
        </p:txBody>
      </p:sp>
      <p:sp>
        <p:nvSpPr>
          <p:cNvPr id="109" name="Text 107"/>
          <p:cNvSpPr txBox="1"/>
          <p:nvPr/>
        </p:nvSpPr>
        <p:spPr>
          <a:xfrm>
            <a:off x="9197950" y="6144768"/>
            <a:ext cx="2514600" cy="182880"/>
          </a:xfrm>
          <a:prstGeom prst="rect">
            <a:avLst/>
          </a:prstGeom>
          <a:noFill/>
          <a:ln/>
        </p:spPr>
        <p:txBody>
          <a:bodyPr wrap="square" lIns="0" tIns="0" rIns="0" bIns="0" rtlCol="0" anchor="ctr"/>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Change passport, not manual collation</a:t>
            </a:r>
            <a:endParaRPr lang="en-US" sz="730" dirty="0"/>
          </a:p>
        </p:txBody>
      </p:sp>
      <p:sp>
        <p:nvSpPr>
          <p:cNvPr id="110" name="Text 108"/>
          <p:cNvSpPr txBox="1"/>
          <p:nvPr/>
        </p:nvSpPr>
        <p:spPr>
          <a:xfrm>
            <a:off x="411480" y="6492240"/>
            <a:ext cx="11338560" cy="182880"/>
          </a:xfrm>
          <a:prstGeom prst="rect">
            <a:avLst/>
          </a:prstGeom>
          <a:noFill/>
          <a:ln/>
        </p:spPr>
        <p:txBody>
          <a:bodyPr wrap="square" lIns="0" tIns="0" rIns="0" bIns="0" rtlCol="0" anchor="ctr"/>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Builds on capabilities already designed in the knowledge graph: blast_radius, classify_risk with risk-tier approver routing, provenance on every fact. Figures are pilot targets.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marL="0" indent="0">
              <a:buNone/>
            </a:pPr>
            <a:r>
              <a:rPr lang="en-US" sz="800" b="1" kern="0" spc="300" dirty="0">
                <a:solidFill>
                  <a:srgbClr val="00757F"/>
                </a:solidFill>
                <a:latin typeface="Trenda IG Text" pitchFamily="34" charset="0"/>
                <a:ea typeface="Trenda IG Text" pitchFamily="34" charset="-122"/>
                <a:cs typeface="Trenda IG Text" pitchFamily="34" charset="-120"/>
              </a:rPr>
              <a:t>ASCENSION MAD APPROACH</a:t>
            </a:r>
            <a:endParaRPr lang="en-US" sz="800" dirty="0"/>
          </a:p>
        </p:txBody>
      </p:sp>
      <p:sp>
        <p:nvSpPr>
          <p:cNvPr id="3" name="Text 1"/>
          <p:cNvSpPr txBox="1"/>
          <p:nvPr/>
        </p:nvSpPr>
        <p:spPr>
          <a:xfrm>
            <a:off x="411480" y="384048"/>
            <a:ext cx="11338560" cy="411480"/>
          </a:xfrm>
          <a:prstGeom prst="rect">
            <a:avLst/>
          </a:prstGeom>
          <a:noFill/>
          <a:ln/>
        </p:spPr>
        <p:txBody>
          <a:bodyPr wrap="square" lIns="0" tIns="0" rIns="0" bIns="0" rtlCol="0" anchor="ctr"/>
          <a:lstStyle/>
          <a:p>
            <a:pPr marL="0" indent="0">
              <a:buNone/>
            </a:pPr>
            <a:r>
              <a:rPr lang="en-US" sz="2200" b="1" dirty="0">
                <a:solidFill>
                  <a:srgbClr val="12233B"/>
                </a:solidFill>
                <a:latin typeface="Trenda IG Display" pitchFamily="34" charset="0"/>
                <a:ea typeface="Trenda IG Display" pitchFamily="34" charset="-122"/>
                <a:cs typeface="Trenda IG Display" pitchFamily="34" charset="-120"/>
              </a:rPr>
              <a:t>Business outcomes: measured so far, and what we commit to per pod</a:t>
            </a:r>
            <a:endParaRPr lang="en-US" sz="2200" dirty="0"/>
          </a:p>
        </p:txBody>
      </p:sp>
      <p:sp>
        <p:nvSpPr>
          <p:cNvPr id="4" name="Text 2"/>
          <p:cNvSpPr txBox="1"/>
          <p:nvPr/>
        </p:nvSpPr>
        <p:spPr>
          <a:xfrm>
            <a:off x="411480" y="804672"/>
            <a:ext cx="11338560" cy="237744"/>
          </a:xfrm>
          <a:prstGeom prst="rect">
            <a:avLst/>
          </a:prstGeom>
          <a:noFill/>
          <a:ln/>
        </p:spPr>
        <p:txBody>
          <a:bodyPr wrap="square" lIns="0" tIns="0" rIns="0" bIns="0" rtlCol="0" anchor="ctr"/>
          <a:lstStyle/>
          <a:p>
            <a:pPr marL="0" indent="0">
              <a:buNone/>
            </a:pPr>
            <a:r>
              <a:rPr lang="en-US" sz="1050" dirty="0">
                <a:solidFill>
                  <a:srgbClr val="5C6E85"/>
                </a:solidFill>
                <a:latin typeface="Trenda IG Text" pitchFamily="34" charset="0"/>
                <a:ea typeface="Trenda IG Text" pitchFamily="34" charset="-122"/>
                <a:cs typeface="Trenda IG Text" pitchFamily="34" charset="-120"/>
              </a:rPr>
              <a:t>We keep measured cycle-time results separate from planned pod-level savings, which are deliberately lower because approvals, workshops, UAT and CAB do not shrink.</a:t>
            </a:r>
            <a:endParaRPr lang="en-US" sz="1050" dirty="0"/>
          </a:p>
        </p:txBody>
      </p:sp>
      <p:sp>
        <p:nvSpPr>
          <p:cNvPr id="5" name="Text 3"/>
          <p:cNvSpPr txBox="1"/>
          <p:nvPr/>
        </p:nvSpPr>
        <p:spPr>
          <a:xfrm>
            <a:off x="411480" y="1188720"/>
            <a:ext cx="7315200" cy="164592"/>
          </a:xfrm>
          <a:prstGeom prst="rect">
            <a:avLst/>
          </a:prstGeom>
          <a:noFill/>
          <a:ln/>
        </p:spPr>
        <p:txBody>
          <a:bodyPr wrap="square" lIns="0" tIns="0" rIns="0" bIns="0" rtlCol="0" anchor="ctr"/>
          <a:lstStyle/>
          <a:p>
            <a:pPr marL="0" indent="0">
              <a:buNone/>
            </a:pPr>
            <a:r>
              <a:rPr lang="en-US" sz="750" b="1" kern="0" spc="200" dirty="0">
                <a:solidFill>
                  <a:srgbClr val="1B6BC0"/>
                </a:solidFill>
                <a:latin typeface="Trenda IG Text" pitchFamily="34" charset="0"/>
                <a:ea typeface="Trenda IG Text" pitchFamily="34" charset="-122"/>
                <a:cs typeface="Trenda IG Text" pitchFamily="34" charset="-120"/>
              </a:rPr>
              <a:t>MEASURED TO DATE · AGENT-ASSISTED DELIVERY</a:t>
            </a:r>
            <a:endParaRPr lang="en-US" sz="750" dirty="0"/>
          </a:p>
        </p:txBody>
      </p:sp>
      <p:sp>
        <p:nvSpPr>
          <p:cNvPr id="6" name="Shape 4"/>
          <p:cNvSpPr/>
          <p:nvPr/>
        </p:nvSpPr>
        <p:spPr>
          <a:xfrm>
            <a:off x="411480" y="1389888"/>
            <a:ext cx="3685032" cy="749808"/>
          </a:xfrm>
          <a:prstGeom prst="rect">
            <a:avLst/>
          </a:prstGeom>
          <a:solidFill>
            <a:srgbClr val="FFFFFF"/>
          </a:solidFill>
          <a:ln w="9525">
            <a:solidFill>
              <a:srgbClr val="DCE4EE"/>
            </a:solidFill>
            <a:prstDash val="solid"/>
          </a:ln>
        </p:spPr>
        <p:txBody>
          <a:bodyPr/>
          <a:lstStyle/>
          <a:p>
            <a:endParaRPr lang="en-IN"/>
          </a:p>
        </p:txBody>
      </p:sp>
      <p:sp>
        <p:nvSpPr>
          <p:cNvPr id="7" name="Shape 5"/>
          <p:cNvSpPr/>
          <p:nvPr/>
        </p:nvSpPr>
        <p:spPr>
          <a:xfrm>
            <a:off x="411480" y="1389888"/>
            <a:ext cx="54864" cy="749808"/>
          </a:xfrm>
          <a:prstGeom prst="rect">
            <a:avLst/>
          </a:prstGeom>
          <a:solidFill>
            <a:srgbClr val="1B6BC0"/>
          </a:solidFill>
          <a:ln w="12700">
            <a:solidFill>
              <a:srgbClr val="1B6BC0"/>
            </a:solidFill>
            <a:prstDash val="solid"/>
          </a:ln>
        </p:spPr>
        <p:txBody>
          <a:bodyPr/>
          <a:lstStyle/>
          <a:p>
            <a:endParaRPr lang="en-IN"/>
          </a:p>
        </p:txBody>
      </p:sp>
      <p:sp>
        <p:nvSpPr>
          <p:cNvPr id="8" name="Text 6"/>
          <p:cNvSpPr txBox="1"/>
          <p:nvPr/>
        </p:nvSpPr>
        <p:spPr>
          <a:xfrm>
            <a:off x="594360" y="1481328"/>
            <a:ext cx="2011680" cy="329184"/>
          </a:xfrm>
          <a:prstGeom prst="rect">
            <a:avLst/>
          </a:prstGeom>
          <a:noFill/>
          <a:ln/>
        </p:spPr>
        <p:txBody>
          <a:bodyPr wrap="square" lIns="0" tIns="0" rIns="0" bIns="0" rtlCol="0" anchor="ctr"/>
          <a:lstStyle/>
          <a:p>
            <a:pPr marL="0" indent="0">
              <a:buNone/>
            </a:pPr>
            <a:r>
              <a:rPr lang="en-US" sz="1600" b="1" dirty="0">
                <a:solidFill>
                  <a:srgbClr val="1B6BC0"/>
                </a:solidFill>
                <a:latin typeface="Trenda IG Display" pitchFamily="34" charset="0"/>
                <a:ea typeface="Trenda IG Display" pitchFamily="34" charset="-122"/>
                <a:cs typeface="Trenda IG Display" pitchFamily="34" charset="-120"/>
              </a:rPr>
              <a:t>1-2 wks → 2-4 days</a:t>
            </a:r>
            <a:endParaRPr lang="en-US" sz="1600" dirty="0"/>
          </a:p>
        </p:txBody>
      </p:sp>
      <p:sp>
        <p:nvSpPr>
          <p:cNvPr id="9" name="Text 7"/>
          <p:cNvSpPr txBox="1"/>
          <p:nvPr/>
        </p:nvSpPr>
        <p:spPr>
          <a:xfrm>
            <a:off x="2606040" y="1481328"/>
            <a:ext cx="137160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Health Cloud implementation</a:t>
            </a:r>
            <a:endParaRPr lang="en-US" sz="850" dirty="0"/>
          </a:p>
        </p:txBody>
      </p:sp>
      <p:sp>
        <p:nvSpPr>
          <p:cNvPr id="10" name="Text 8"/>
          <p:cNvSpPr txBox="1"/>
          <p:nvPr/>
        </p:nvSpPr>
        <p:spPr>
          <a:xfrm>
            <a:off x="594360" y="1865376"/>
            <a:ext cx="3383280" cy="182880"/>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Per change, latest agent-assisted approach</a:t>
            </a:r>
            <a:endParaRPr lang="en-US" sz="750" dirty="0"/>
          </a:p>
        </p:txBody>
      </p:sp>
      <p:sp>
        <p:nvSpPr>
          <p:cNvPr id="11" name="Shape 9"/>
          <p:cNvSpPr/>
          <p:nvPr/>
        </p:nvSpPr>
        <p:spPr>
          <a:xfrm>
            <a:off x="4251960" y="1389888"/>
            <a:ext cx="3685032" cy="749808"/>
          </a:xfrm>
          <a:prstGeom prst="rect">
            <a:avLst/>
          </a:prstGeom>
          <a:solidFill>
            <a:srgbClr val="FFFFFF"/>
          </a:solidFill>
          <a:ln w="9525">
            <a:solidFill>
              <a:srgbClr val="DCE4EE"/>
            </a:solidFill>
            <a:prstDash val="solid"/>
          </a:ln>
        </p:spPr>
        <p:txBody>
          <a:bodyPr/>
          <a:lstStyle/>
          <a:p>
            <a:endParaRPr lang="en-IN"/>
          </a:p>
        </p:txBody>
      </p:sp>
      <p:sp>
        <p:nvSpPr>
          <p:cNvPr id="12" name="Shape 10"/>
          <p:cNvSpPr/>
          <p:nvPr/>
        </p:nvSpPr>
        <p:spPr>
          <a:xfrm>
            <a:off x="4251960" y="1389888"/>
            <a:ext cx="54864" cy="749808"/>
          </a:xfrm>
          <a:prstGeom prst="rect">
            <a:avLst/>
          </a:prstGeom>
          <a:solidFill>
            <a:srgbClr val="1B6BC0"/>
          </a:solidFill>
          <a:ln w="12700">
            <a:solidFill>
              <a:srgbClr val="1B6BC0"/>
            </a:solidFill>
            <a:prstDash val="solid"/>
          </a:ln>
        </p:spPr>
        <p:txBody>
          <a:bodyPr/>
          <a:lstStyle/>
          <a:p>
            <a:endParaRPr lang="en-IN"/>
          </a:p>
        </p:txBody>
      </p:sp>
      <p:sp>
        <p:nvSpPr>
          <p:cNvPr id="13" name="Text 11"/>
          <p:cNvSpPr txBox="1"/>
          <p:nvPr/>
        </p:nvSpPr>
        <p:spPr>
          <a:xfrm>
            <a:off x="4434840" y="1481328"/>
            <a:ext cx="2011680" cy="329184"/>
          </a:xfrm>
          <a:prstGeom prst="rect">
            <a:avLst/>
          </a:prstGeom>
          <a:noFill/>
          <a:ln/>
        </p:spPr>
        <p:txBody>
          <a:bodyPr wrap="square" lIns="0" tIns="0" rIns="0" bIns="0" rtlCol="0" anchor="ctr"/>
          <a:lstStyle/>
          <a:p>
            <a:pPr marL="0" indent="0">
              <a:buNone/>
            </a:pPr>
            <a:r>
              <a:rPr lang="en-US" sz="1600" b="1" dirty="0">
                <a:solidFill>
                  <a:srgbClr val="1B6BC0"/>
                </a:solidFill>
                <a:latin typeface="Trenda IG Display" pitchFamily="34" charset="0"/>
                <a:ea typeface="Trenda IG Display" pitchFamily="34" charset="-122"/>
                <a:cs typeface="Trenda IG Display" pitchFamily="34" charset="-120"/>
              </a:rPr>
              <a:t>90 → 15-20 days</a:t>
            </a:r>
            <a:endParaRPr lang="en-US" sz="1600" dirty="0"/>
          </a:p>
        </p:txBody>
      </p:sp>
      <p:sp>
        <p:nvSpPr>
          <p:cNvPr id="14" name="Text 12"/>
          <p:cNvSpPr txBox="1"/>
          <p:nvPr/>
        </p:nvSpPr>
        <p:spPr>
          <a:xfrm>
            <a:off x="6446520" y="1481328"/>
            <a:ext cx="137160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Marketing Cloud campaign</a:t>
            </a:r>
            <a:endParaRPr lang="en-US" sz="850" dirty="0"/>
          </a:p>
        </p:txBody>
      </p:sp>
      <p:sp>
        <p:nvSpPr>
          <p:cNvPr id="15" name="Text 13"/>
          <p:cNvSpPr txBox="1"/>
          <p:nvPr/>
        </p:nvSpPr>
        <p:spPr>
          <a:xfrm>
            <a:off x="4434840" y="1865376"/>
            <a:ext cx="3383280" cy="182880"/>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~80% lower recorded completion time</a:t>
            </a:r>
            <a:endParaRPr lang="en-US" sz="750" dirty="0"/>
          </a:p>
        </p:txBody>
      </p:sp>
      <p:sp>
        <p:nvSpPr>
          <p:cNvPr id="16" name="Shape 14"/>
          <p:cNvSpPr/>
          <p:nvPr/>
        </p:nvSpPr>
        <p:spPr>
          <a:xfrm>
            <a:off x="8092440" y="1389888"/>
            <a:ext cx="3685032" cy="749808"/>
          </a:xfrm>
          <a:prstGeom prst="rect">
            <a:avLst/>
          </a:prstGeom>
          <a:solidFill>
            <a:srgbClr val="FFFFFF"/>
          </a:solidFill>
          <a:ln w="9525">
            <a:solidFill>
              <a:srgbClr val="DCE4EE"/>
            </a:solidFill>
            <a:prstDash val="solid"/>
          </a:ln>
        </p:spPr>
        <p:txBody>
          <a:bodyPr/>
          <a:lstStyle/>
          <a:p>
            <a:endParaRPr lang="en-IN"/>
          </a:p>
        </p:txBody>
      </p:sp>
      <p:sp>
        <p:nvSpPr>
          <p:cNvPr id="17" name="Shape 15"/>
          <p:cNvSpPr/>
          <p:nvPr/>
        </p:nvSpPr>
        <p:spPr>
          <a:xfrm>
            <a:off x="8092440" y="1389888"/>
            <a:ext cx="54864" cy="749808"/>
          </a:xfrm>
          <a:prstGeom prst="rect">
            <a:avLst/>
          </a:prstGeom>
          <a:solidFill>
            <a:srgbClr val="1B6BC0"/>
          </a:solidFill>
          <a:ln w="12700">
            <a:solidFill>
              <a:srgbClr val="1B6BC0"/>
            </a:solidFill>
            <a:prstDash val="solid"/>
          </a:ln>
        </p:spPr>
        <p:txBody>
          <a:bodyPr/>
          <a:lstStyle/>
          <a:p>
            <a:endParaRPr lang="en-IN"/>
          </a:p>
        </p:txBody>
      </p:sp>
      <p:sp>
        <p:nvSpPr>
          <p:cNvPr id="18" name="Text 16"/>
          <p:cNvSpPr txBox="1"/>
          <p:nvPr/>
        </p:nvSpPr>
        <p:spPr>
          <a:xfrm>
            <a:off x="8275320" y="1481328"/>
            <a:ext cx="2011680" cy="329184"/>
          </a:xfrm>
          <a:prstGeom prst="rect">
            <a:avLst/>
          </a:prstGeom>
          <a:noFill/>
          <a:ln/>
        </p:spPr>
        <p:txBody>
          <a:bodyPr wrap="square" lIns="0" tIns="0" rIns="0" bIns="0" rtlCol="0" anchor="ctr"/>
          <a:lstStyle/>
          <a:p>
            <a:pPr marL="0" indent="0">
              <a:buNone/>
            </a:pPr>
            <a:r>
              <a:rPr lang="en-US" sz="1600" b="1" dirty="0">
                <a:solidFill>
                  <a:srgbClr val="1B6BC0"/>
                </a:solidFill>
                <a:latin typeface="Trenda IG Display" pitchFamily="34" charset="0"/>
                <a:ea typeface="Trenda IG Display" pitchFamily="34" charset="-122"/>
                <a:cs typeface="Trenda IG Display" pitchFamily="34" charset="-120"/>
              </a:rPr>
              <a:t>75-85%</a:t>
            </a:r>
            <a:endParaRPr lang="en-US" sz="1600" dirty="0"/>
          </a:p>
        </p:txBody>
      </p:sp>
      <p:sp>
        <p:nvSpPr>
          <p:cNvPr id="19" name="Text 17"/>
          <p:cNvSpPr txBox="1"/>
          <p:nvPr/>
        </p:nvSpPr>
        <p:spPr>
          <a:xfrm>
            <a:off x="10287000" y="1481328"/>
            <a:ext cx="1371600" cy="329184"/>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faster test-case preparation</a:t>
            </a:r>
            <a:endParaRPr lang="en-US" sz="850" dirty="0"/>
          </a:p>
        </p:txBody>
      </p:sp>
      <p:sp>
        <p:nvSpPr>
          <p:cNvPr id="20" name="Text 18"/>
          <p:cNvSpPr txBox="1"/>
          <p:nvPr/>
        </p:nvSpPr>
        <p:spPr>
          <a:xfrm>
            <a:off x="8275320" y="1865376"/>
            <a:ext cx="3383280" cy="182880"/>
          </a:xfrm>
          <a:prstGeom prst="rect">
            <a:avLst/>
          </a:prstGeom>
          <a:noFill/>
          <a:ln/>
        </p:spPr>
        <p:txBody>
          <a:bodyPr wrap="square" lIns="0" tIns="0" rIns="0" bIns="0" rtlCol="0" anchor="ctr"/>
          <a:lstStyle/>
          <a:p>
            <a:pPr marL="0" indent="0">
              <a:buNone/>
            </a:pPr>
            <a:r>
              <a:rPr lang="en-US" sz="750" dirty="0">
                <a:solidFill>
                  <a:srgbClr val="5C6E85"/>
                </a:solidFill>
                <a:latin typeface="Trenda IG Text" pitchFamily="34" charset="0"/>
                <a:ea typeface="Trenda IG Text" pitchFamily="34" charset="-122"/>
                <a:cs typeface="Trenda IG Text" pitchFamily="34" charset="-120"/>
              </a:rPr>
              <a:t>People review every generated case</a:t>
            </a:r>
            <a:endParaRPr lang="en-US" sz="750" dirty="0"/>
          </a:p>
        </p:txBody>
      </p:sp>
      <p:sp>
        <p:nvSpPr>
          <p:cNvPr id="21" name="Text 19"/>
          <p:cNvSpPr txBox="1"/>
          <p:nvPr/>
        </p:nvSpPr>
        <p:spPr>
          <a:xfrm>
            <a:off x="411480" y="2286000"/>
            <a:ext cx="7315200" cy="164592"/>
          </a:xfrm>
          <a:prstGeom prst="rect">
            <a:avLst/>
          </a:prstGeom>
          <a:noFill/>
          <a:ln/>
        </p:spPr>
        <p:txBody>
          <a:bodyPr wrap="square" lIns="0" tIns="0" rIns="0" bIns="0" rtlCol="0" anchor="ctr"/>
          <a:lstStyle/>
          <a:p>
            <a:pPr marL="0" indent="0">
              <a:buNone/>
            </a:pPr>
            <a:r>
              <a:rPr lang="en-US" sz="750" b="1" kern="0" spc="200" dirty="0">
                <a:solidFill>
                  <a:srgbClr val="00757F"/>
                </a:solidFill>
                <a:latin typeface="Trenda IG Text" pitchFamily="34" charset="0"/>
                <a:ea typeface="Trenda IG Text" pitchFamily="34" charset="-122"/>
                <a:cs typeface="Trenda IG Text" pitchFamily="34" charset="-120"/>
              </a:rPr>
              <a:t>PLANNED STEADY STATE · PER POD, NET OF PLATFORM COST</a:t>
            </a:r>
            <a:endParaRPr lang="en-US" sz="750" dirty="0"/>
          </a:p>
        </p:txBody>
      </p:sp>
      <p:sp>
        <p:nvSpPr>
          <p:cNvPr id="22" name="Shape 20"/>
          <p:cNvSpPr/>
          <p:nvPr/>
        </p:nvSpPr>
        <p:spPr>
          <a:xfrm>
            <a:off x="411480" y="2487168"/>
            <a:ext cx="2743200" cy="868680"/>
          </a:xfrm>
          <a:prstGeom prst="rect">
            <a:avLst/>
          </a:prstGeom>
          <a:solidFill>
            <a:srgbClr val="FFFFFF"/>
          </a:solidFill>
          <a:ln w="9525">
            <a:solidFill>
              <a:srgbClr val="DCE4EE"/>
            </a:solidFill>
            <a:prstDash val="solid"/>
          </a:ln>
        </p:spPr>
        <p:txBody>
          <a:bodyPr/>
          <a:lstStyle/>
          <a:p>
            <a:endParaRPr lang="en-IN"/>
          </a:p>
        </p:txBody>
      </p:sp>
      <p:sp>
        <p:nvSpPr>
          <p:cNvPr id="23" name="Shape 21"/>
          <p:cNvSpPr/>
          <p:nvPr/>
        </p:nvSpPr>
        <p:spPr>
          <a:xfrm>
            <a:off x="411480" y="2487168"/>
            <a:ext cx="54864" cy="868680"/>
          </a:xfrm>
          <a:prstGeom prst="rect">
            <a:avLst/>
          </a:prstGeom>
          <a:solidFill>
            <a:srgbClr val="00757F"/>
          </a:solidFill>
          <a:ln w="12700">
            <a:solidFill>
              <a:srgbClr val="00757F"/>
            </a:solidFill>
            <a:prstDash val="solid"/>
          </a:ln>
        </p:spPr>
        <p:txBody>
          <a:bodyPr/>
          <a:lstStyle/>
          <a:p>
            <a:endParaRPr lang="en-IN"/>
          </a:p>
        </p:txBody>
      </p:sp>
      <p:sp>
        <p:nvSpPr>
          <p:cNvPr id="24" name="Text 22"/>
          <p:cNvSpPr txBox="1"/>
          <p:nvPr/>
        </p:nvSpPr>
        <p:spPr>
          <a:xfrm>
            <a:off x="594360" y="2578608"/>
            <a:ext cx="1143000" cy="347472"/>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30-40%</a:t>
            </a:r>
            <a:endParaRPr lang="en-US" sz="1800" dirty="0"/>
          </a:p>
        </p:txBody>
      </p:sp>
      <p:sp>
        <p:nvSpPr>
          <p:cNvPr id="25" name="Text 23"/>
          <p:cNvSpPr txBox="1"/>
          <p:nvPr/>
        </p:nvSpPr>
        <p:spPr>
          <a:xfrm>
            <a:off x="1737360" y="2578608"/>
            <a:ext cx="1325880" cy="347472"/>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less effort per change</a:t>
            </a:r>
            <a:endParaRPr lang="en-US" sz="850" dirty="0"/>
          </a:p>
        </p:txBody>
      </p:sp>
      <p:sp>
        <p:nvSpPr>
          <p:cNvPr id="26" name="Text 24"/>
          <p:cNvSpPr txBox="1"/>
          <p:nvPr/>
        </p:nvSpPr>
        <p:spPr>
          <a:xfrm>
            <a:off x="594360" y="2971800"/>
            <a:ext cx="2468880" cy="329184"/>
          </a:xfrm>
          <a:prstGeom prst="rect">
            <a:avLst/>
          </a:prstGeom>
          <a:noFill/>
          <a:ln/>
        </p:spPr>
        <p:txBody>
          <a:bodyPr wrap="square" lIns="0" tIns="0" rIns="0" bIns="0" rtlCol="0" anchor="t"/>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Build and test about half; analysis and design about a third; ceremonies unchanged</a:t>
            </a:r>
            <a:endParaRPr lang="en-US" sz="730" dirty="0"/>
          </a:p>
        </p:txBody>
      </p:sp>
      <p:sp>
        <p:nvSpPr>
          <p:cNvPr id="27" name="Shape 25"/>
          <p:cNvSpPr/>
          <p:nvPr/>
        </p:nvSpPr>
        <p:spPr>
          <a:xfrm>
            <a:off x="3285439" y="2487168"/>
            <a:ext cx="2743200" cy="868680"/>
          </a:xfrm>
          <a:prstGeom prst="rect">
            <a:avLst/>
          </a:prstGeom>
          <a:solidFill>
            <a:srgbClr val="FFFFFF"/>
          </a:solidFill>
          <a:ln w="9525">
            <a:solidFill>
              <a:srgbClr val="DCE4EE"/>
            </a:solidFill>
            <a:prstDash val="solid"/>
          </a:ln>
        </p:spPr>
        <p:txBody>
          <a:bodyPr/>
          <a:lstStyle/>
          <a:p>
            <a:endParaRPr lang="en-IN"/>
          </a:p>
        </p:txBody>
      </p:sp>
      <p:sp>
        <p:nvSpPr>
          <p:cNvPr id="28" name="Shape 26"/>
          <p:cNvSpPr/>
          <p:nvPr/>
        </p:nvSpPr>
        <p:spPr>
          <a:xfrm>
            <a:off x="3285439" y="2487168"/>
            <a:ext cx="54864" cy="868680"/>
          </a:xfrm>
          <a:prstGeom prst="rect">
            <a:avLst/>
          </a:prstGeom>
          <a:solidFill>
            <a:srgbClr val="00757F"/>
          </a:solidFill>
          <a:ln w="12700">
            <a:solidFill>
              <a:srgbClr val="00757F"/>
            </a:solidFill>
            <a:prstDash val="solid"/>
          </a:ln>
        </p:spPr>
        <p:txBody>
          <a:bodyPr/>
          <a:lstStyle/>
          <a:p>
            <a:endParaRPr lang="en-IN"/>
          </a:p>
        </p:txBody>
      </p:sp>
      <p:sp>
        <p:nvSpPr>
          <p:cNvPr id="29" name="Text 27"/>
          <p:cNvSpPr txBox="1"/>
          <p:nvPr/>
        </p:nvSpPr>
        <p:spPr>
          <a:xfrm>
            <a:off x="3468319" y="2578608"/>
            <a:ext cx="1143000" cy="347472"/>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1.4-1.6x</a:t>
            </a:r>
            <a:endParaRPr lang="en-US" sz="1800" dirty="0"/>
          </a:p>
        </p:txBody>
      </p:sp>
      <p:sp>
        <p:nvSpPr>
          <p:cNvPr id="30" name="Text 28"/>
          <p:cNvSpPr txBox="1"/>
          <p:nvPr/>
        </p:nvSpPr>
        <p:spPr>
          <a:xfrm>
            <a:off x="4611319" y="2578608"/>
            <a:ext cx="1325880" cy="347472"/>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output per pod</a:t>
            </a:r>
            <a:endParaRPr lang="en-US" sz="850" dirty="0"/>
          </a:p>
        </p:txBody>
      </p:sp>
      <p:sp>
        <p:nvSpPr>
          <p:cNvPr id="31" name="Text 29"/>
          <p:cNvSpPr txBox="1"/>
          <p:nvPr/>
        </p:nvSpPr>
        <p:spPr>
          <a:xfrm>
            <a:off x="3468319" y="2971800"/>
            <a:ext cx="2468880" cy="329184"/>
          </a:xfrm>
          <a:prstGeom prst="rect">
            <a:avLst/>
          </a:prstGeom>
          <a:noFill/>
          <a:ln/>
        </p:spPr>
        <p:txBody>
          <a:bodyPr wrap="square" lIns="0" tIns="0" rIns="0" bIns="0" rtlCol="0" anchor="t"/>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Same team clears more backlog, campaigns or markets</a:t>
            </a:r>
            <a:endParaRPr lang="en-US" sz="730" dirty="0"/>
          </a:p>
        </p:txBody>
      </p:sp>
      <p:sp>
        <p:nvSpPr>
          <p:cNvPr id="32" name="Shape 30"/>
          <p:cNvSpPr/>
          <p:nvPr/>
        </p:nvSpPr>
        <p:spPr>
          <a:xfrm>
            <a:off x="6159398" y="2487168"/>
            <a:ext cx="2743200" cy="868680"/>
          </a:xfrm>
          <a:prstGeom prst="rect">
            <a:avLst/>
          </a:prstGeom>
          <a:solidFill>
            <a:srgbClr val="FFFFFF"/>
          </a:solidFill>
          <a:ln w="9525">
            <a:solidFill>
              <a:srgbClr val="DCE4EE"/>
            </a:solidFill>
            <a:prstDash val="solid"/>
          </a:ln>
        </p:spPr>
        <p:txBody>
          <a:bodyPr/>
          <a:lstStyle/>
          <a:p>
            <a:endParaRPr lang="en-IN"/>
          </a:p>
        </p:txBody>
      </p:sp>
      <p:sp>
        <p:nvSpPr>
          <p:cNvPr id="33" name="Shape 31"/>
          <p:cNvSpPr/>
          <p:nvPr/>
        </p:nvSpPr>
        <p:spPr>
          <a:xfrm>
            <a:off x="6159398" y="2487168"/>
            <a:ext cx="54864" cy="868680"/>
          </a:xfrm>
          <a:prstGeom prst="rect">
            <a:avLst/>
          </a:prstGeom>
          <a:solidFill>
            <a:srgbClr val="00757F"/>
          </a:solidFill>
          <a:ln w="12700">
            <a:solidFill>
              <a:srgbClr val="00757F"/>
            </a:solidFill>
            <a:prstDash val="solid"/>
          </a:ln>
        </p:spPr>
        <p:txBody>
          <a:bodyPr/>
          <a:lstStyle/>
          <a:p>
            <a:endParaRPr lang="en-IN"/>
          </a:p>
        </p:txBody>
      </p:sp>
      <p:sp>
        <p:nvSpPr>
          <p:cNvPr id="34" name="Text 32"/>
          <p:cNvSpPr txBox="1"/>
          <p:nvPr/>
        </p:nvSpPr>
        <p:spPr>
          <a:xfrm>
            <a:off x="6342278" y="2578608"/>
            <a:ext cx="1143000" cy="347472"/>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20-30%</a:t>
            </a:r>
            <a:endParaRPr lang="en-US" sz="1800" dirty="0"/>
          </a:p>
        </p:txBody>
      </p:sp>
      <p:sp>
        <p:nvSpPr>
          <p:cNvPr id="35" name="Text 33"/>
          <p:cNvSpPr txBox="1"/>
          <p:nvPr/>
        </p:nvSpPr>
        <p:spPr>
          <a:xfrm>
            <a:off x="7485278" y="2578608"/>
            <a:ext cx="1325880" cy="347472"/>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smaller team for same scope</a:t>
            </a:r>
            <a:endParaRPr lang="en-US" sz="850" dirty="0"/>
          </a:p>
        </p:txBody>
      </p:sp>
      <p:sp>
        <p:nvSpPr>
          <p:cNvPr id="36" name="Text 34"/>
          <p:cNvSpPr txBox="1"/>
          <p:nvPr/>
        </p:nvSpPr>
        <p:spPr>
          <a:xfrm>
            <a:off x="6342278" y="2971800"/>
            <a:ext cx="2468880" cy="329184"/>
          </a:xfrm>
          <a:prstGeom prst="rect">
            <a:avLst/>
          </a:prstGeom>
          <a:noFill/>
          <a:ln/>
        </p:spPr>
        <p:txBody>
          <a:bodyPr wrap="square" lIns="0" tIns="0" rIns="0" bIns="0" rtlCol="0" anchor="t"/>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Example: 8-person pod runs with 6</a:t>
            </a:r>
            <a:endParaRPr lang="en-US" sz="730" dirty="0"/>
          </a:p>
        </p:txBody>
      </p:sp>
      <p:sp>
        <p:nvSpPr>
          <p:cNvPr id="37" name="Shape 35"/>
          <p:cNvSpPr/>
          <p:nvPr/>
        </p:nvSpPr>
        <p:spPr>
          <a:xfrm>
            <a:off x="9033358" y="2487168"/>
            <a:ext cx="2743200" cy="868680"/>
          </a:xfrm>
          <a:prstGeom prst="rect">
            <a:avLst/>
          </a:prstGeom>
          <a:solidFill>
            <a:srgbClr val="FFFFFF"/>
          </a:solidFill>
          <a:ln w="9525">
            <a:solidFill>
              <a:srgbClr val="DCE4EE"/>
            </a:solidFill>
            <a:prstDash val="solid"/>
          </a:ln>
        </p:spPr>
        <p:txBody>
          <a:bodyPr/>
          <a:lstStyle/>
          <a:p>
            <a:endParaRPr lang="en-IN"/>
          </a:p>
        </p:txBody>
      </p:sp>
      <p:sp>
        <p:nvSpPr>
          <p:cNvPr id="38" name="Shape 36"/>
          <p:cNvSpPr/>
          <p:nvPr/>
        </p:nvSpPr>
        <p:spPr>
          <a:xfrm>
            <a:off x="9033358" y="2487168"/>
            <a:ext cx="54864" cy="868680"/>
          </a:xfrm>
          <a:prstGeom prst="rect">
            <a:avLst/>
          </a:prstGeom>
          <a:solidFill>
            <a:srgbClr val="00757F"/>
          </a:solidFill>
          <a:ln w="12700">
            <a:solidFill>
              <a:srgbClr val="00757F"/>
            </a:solidFill>
            <a:prstDash val="solid"/>
          </a:ln>
        </p:spPr>
        <p:txBody>
          <a:bodyPr/>
          <a:lstStyle/>
          <a:p>
            <a:endParaRPr lang="en-IN"/>
          </a:p>
        </p:txBody>
      </p:sp>
      <p:sp>
        <p:nvSpPr>
          <p:cNvPr id="39" name="Text 37"/>
          <p:cNvSpPr txBox="1"/>
          <p:nvPr/>
        </p:nvSpPr>
        <p:spPr>
          <a:xfrm>
            <a:off x="9216238" y="2578608"/>
            <a:ext cx="1143000" cy="347472"/>
          </a:xfrm>
          <a:prstGeom prst="rect">
            <a:avLst/>
          </a:prstGeom>
          <a:noFill/>
          <a:ln/>
        </p:spPr>
        <p:txBody>
          <a:bodyPr wrap="square" lIns="0" tIns="0" rIns="0" bIns="0" rtlCol="0" anchor="ctr"/>
          <a:lstStyle/>
          <a:p>
            <a:pPr marL="0" indent="0">
              <a:buNone/>
            </a:pPr>
            <a:r>
              <a:rPr lang="en-US" sz="1800" b="1" dirty="0">
                <a:solidFill>
                  <a:srgbClr val="00757F"/>
                </a:solidFill>
                <a:latin typeface="Trenda IG Display" pitchFamily="34" charset="0"/>
                <a:ea typeface="Trenda IG Display" pitchFamily="34" charset="-122"/>
                <a:cs typeface="Trenda IG Display" pitchFamily="34" charset="-120"/>
              </a:rPr>
              <a:t>20-25%</a:t>
            </a:r>
            <a:endParaRPr lang="en-US" sz="1800" dirty="0"/>
          </a:p>
        </p:txBody>
      </p:sp>
      <p:sp>
        <p:nvSpPr>
          <p:cNvPr id="40" name="Text 38"/>
          <p:cNvSpPr txBox="1"/>
          <p:nvPr/>
        </p:nvSpPr>
        <p:spPr>
          <a:xfrm>
            <a:off x="10359238" y="2578608"/>
            <a:ext cx="1325880" cy="347472"/>
          </a:xfrm>
          <a:prstGeom prst="rect">
            <a:avLst/>
          </a:prstGeom>
          <a:noFill/>
          <a:ln/>
        </p:spPr>
        <p:txBody>
          <a:bodyPr wrap="square" lIns="0" tIns="0" rIns="0" bIns="0" rtlCol="0" anchor="ctr"/>
          <a:lstStyle/>
          <a:p>
            <a:pPr marL="0" indent="0">
              <a:buNone/>
            </a:pPr>
            <a:r>
              <a:rPr lang="en-US" sz="850" b="1" dirty="0">
                <a:solidFill>
                  <a:srgbClr val="12233B"/>
                </a:solidFill>
                <a:latin typeface="Trenda IG Text" pitchFamily="34" charset="0"/>
                <a:ea typeface="Trenda IG Text" pitchFamily="34" charset="-122"/>
                <a:cs typeface="Trenda IG Text" pitchFamily="34" charset="-120"/>
              </a:rPr>
              <a:t>lower net run cost per pod</a:t>
            </a:r>
            <a:endParaRPr lang="en-US" sz="850" dirty="0"/>
          </a:p>
        </p:txBody>
      </p:sp>
      <p:sp>
        <p:nvSpPr>
          <p:cNvPr id="41" name="Text 39"/>
          <p:cNvSpPr txBox="1"/>
          <p:nvPr/>
        </p:nvSpPr>
        <p:spPr>
          <a:xfrm>
            <a:off x="9216238" y="2971800"/>
            <a:ext cx="2468880" cy="329184"/>
          </a:xfrm>
          <a:prstGeom prst="rect">
            <a:avLst/>
          </a:prstGeom>
          <a:noFill/>
          <a:ln/>
        </p:spPr>
        <p:txBody>
          <a:bodyPr wrap="square" lIns="0" tIns="0" rIns="0" bIns="0" rtlCol="0" anchor="t"/>
          <a:lstStyle/>
          <a:p>
            <a:pPr marL="0" indent="0">
              <a:buNone/>
            </a:pPr>
            <a:r>
              <a:rPr lang="en-US" sz="730" dirty="0">
                <a:solidFill>
                  <a:srgbClr val="5C6E85"/>
                </a:solidFill>
                <a:latin typeface="Trenda IG Text" pitchFamily="34" charset="0"/>
                <a:ea typeface="Trenda IG Text" pitchFamily="34" charset="-122"/>
                <a:cs typeface="Trenda IG Text" pitchFamily="34" charset="-120"/>
              </a:rPr>
              <a:t>After cloud, model usage and agent upkeep</a:t>
            </a:r>
            <a:endParaRPr lang="en-US" sz="73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11480" y="3520440"/>
          <a:ext cx="11365992" cy="1426464"/>
        </p:xfrm>
        <a:graphic>
          <a:graphicData uri="http://schemas.openxmlformats.org/drawingml/2006/table">
            <a:tbl>
              <a:tblPr/>
              <a:tblGrid>
                <a:gridCol w="23774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74320">
                <a:tc>
                  <a:txBody>
                    <a:bodyPr/>
                    <a:lstStyle/>
                    <a:p>
                      <a:pPr marL="0" indent="0">
                        <a:buNone/>
                      </a:pPr>
                      <a:r>
                        <a:rPr lang="en-US" sz="850" b="1" dirty="0">
                          <a:solidFill>
                            <a:srgbClr val="FFFFFF"/>
                          </a:solidFill>
                          <a:latin typeface="Trenda IG Text" pitchFamily="34" charset="0"/>
                          <a:ea typeface="Trenda IG Text" pitchFamily="34" charset="-122"/>
                          <a:cs typeface="Trenda IG Text" pitchFamily="34" charset="-120"/>
                        </a:rPr>
                        <a:t>Pod</a:t>
                      </a:r>
                      <a:endParaRPr lang="en-US" sz="85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2233B"/>
                    </a:solidFill>
                  </a:tcPr>
                </a:tc>
                <a:tc>
                  <a:txBody>
                    <a:bodyPr/>
                    <a:lstStyle/>
                    <a:p>
                      <a:pPr marL="0" indent="0">
                        <a:buNone/>
                      </a:pPr>
                      <a:r>
                        <a:rPr lang="en-US" sz="850" b="1" dirty="0">
                          <a:solidFill>
                            <a:srgbClr val="FFFFFF"/>
                          </a:solidFill>
                          <a:latin typeface="Trenda IG Text" pitchFamily="34" charset="0"/>
                          <a:ea typeface="Trenda IG Text" pitchFamily="34" charset="-122"/>
                          <a:cs typeface="Trenda IG Text" pitchFamily="34" charset="-120"/>
                        </a:rPr>
                        <a:t>Today</a:t>
                      </a:r>
                      <a:endParaRPr lang="en-US" sz="85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2233B"/>
                    </a:solidFill>
                  </a:tcPr>
                </a:tc>
                <a:tc>
                  <a:txBody>
                    <a:bodyPr/>
                    <a:lstStyle/>
                    <a:p>
                      <a:pPr marL="0" indent="0">
                        <a:buNone/>
                      </a:pPr>
                      <a:r>
                        <a:rPr lang="en-US" sz="850" b="1" dirty="0">
                          <a:solidFill>
                            <a:srgbClr val="FFFFFF"/>
                          </a:solidFill>
                          <a:latin typeface="Trenda IG Text" pitchFamily="34" charset="0"/>
                          <a:ea typeface="Trenda IG Text" pitchFamily="34" charset="-122"/>
                          <a:cs typeface="Trenda IG Text" pitchFamily="34" charset="-120"/>
                        </a:rPr>
                        <a:t>With MAD</a:t>
                      </a:r>
                      <a:endParaRPr lang="en-US" sz="85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2233B"/>
                    </a:solidFill>
                  </a:tcPr>
                </a:tc>
                <a:tc>
                  <a:txBody>
                    <a:bodyPr/>
                    <a:lstStyle/>
                    <a:p>
                      <a:pPr marL="0" indent="0">
                        <a:buNone/>
                      </a:pPr>
                      <a:r>
                        <a:rPr lang="en-US" sz="850" b="1" dirty="0">
                          <a:solidFill>
                            <a:srgbClr val="FFFFFF"/>
                          </a:solidFill>
                          <a:latin typeface="Trenda IG Text" pitchFamily="34" charset="0"/>
                          <a:ea typeface="Trenda IG Text" pitchFamily="34" charset="-122"/>
                          <a:cs typeface="Trenda IG Text" pitchFamily="34" charset="-120"/>
                        </a:rPr>
                        <a:t>Team impact</a:t>
                      </a:r>
                      <a:endParaRPr lang="en-US" sz="85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2233B"/>
                    </a:solidFill>
                  </a:tcPr>
                </a:tc>
                <a:tc>
                  <a:txBody>
                    <a:bodyPr/>
                    <a:lstStyle/>
                    <a:p>
                      <a:pPr marL="0" indent="0">
                        <a:buNone/>
                      </a:pPr>
                      <a:r>
                        <a:rPr lang="en-US" sz="850" b="1" dirty="0">
                          <a:solidFill>
                            <a:srgbClr val="FFFFFF"/>
                          </a:solidFill>
                          <a:latin typeface="Trenda IG Text" pitchFamily="34" charset="0"/>
                          <a:ea typeface="Trenda IG Text" pitchFamily="34" charset="-122"/>
                          <a:cs typeface="Trenda IG Text" pitchFamily="34" charset="-120"/>
                        </a:rPr>
                        <a:t>Net cost per pod</a:t>
                      </a:r>
                      <a:endParaRPr lang="en-US" sz="85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2233B"/>
                    </a:solidFill>
                  </a:tcPr>
                </a:tc>
                <a:extLst>
                  <a:ext uri="{0D108BD9-81ED-4DB2-BD59-A6C34878D82A}">
                    <a16:rowId xmlns:a16="http://schemas.microsoft.com/office/drawing/2014/main" val="10000"/>
                  </a:ext>
                </a:extLst>
              </a:tr>
              <a:tr h="384048">
                <a:tc>
                  <a:txBody>
                    <a:bodyPr/>
                    <a:lstStyle/>
                    <a:p>
                      <a:pPr marL="0" indent="0">
                        <a:buNone/>
                      </a:pPr>
                      <a:r>
                        <a:rPr lang="en-US" sz="800" b="1" dirty="0">
                          <a:solidFill>
                            <a:srgbClr val="12233B"/>
                          </a:solidFill>
                          <a:latin typeface="Trenda IG Text" pitchFamily="34" charset="0"/>
                          <a:ea typeface="Trenda IG Text" pitchFamily="34" charset="-122"/>
                          <a:cs typeface="Trenda IG Text" pitchFamily="34" charset="-120"/>
                        </a:rPr>
                        <a:t>Nudge pod · Marketing Cloud</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New campaign ~90 days</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15-20 days; 2-3x campaigns per quarter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Same team, 2-3x campaigns; or same volume with 20-30% fewer people</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b="1" dirty="0">
                          <a:solidFill>
                            <a:srgbClr val="00757F"/>
                          </a:solidFill>
                          <a:latin typeface="Trenda IG Text" pitchFamily="34" charset="0"/>
                          <a:ea typeface="Trenda IG Text" pitchFamily="34" charset="-122"/>
                          <a:cs typeface="Trenda IG Text" pitchFamily="34" charset="-120"/>
                        </a:rPr>
                        <a:t>20-25% lower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800" b="1" dirty="0">
                          <a:solidFill>
                            <a:srgbClr val="12233B"/>
                          </a:solidFill>
                          <a:latin typeface="Trenda IG Text" pitchFamily="34" charset="0"/>
                          <a:ea typeface="Trenda IG Text" pitchFamily="34" charset="-122"/>
                          <a:cs typeface="Trenda IG Text" pitchFamily="34" charset="-120"/>
                        </a:rPr>
                        <a:t>Network Services · Health Cloud</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8FAFD"/>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Change 1-2 weeks; new market ~9 months</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8FAFD"/>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Change 2-4 days; market 10-12 weeks (Texas Seton 6-8)</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8FAFD"/>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Same team takes on new markets without adding people; or 20-30% fewer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8FAFD"/>
                    </a:solidFill>
                  </a:tcPr>
                </a:tc>
                <a:tc>
                  <a:txBody>
                    <a:bodyPr/>
                    <a:lstStyle/>
                    <a:p>
                      <a:pPr marL="0" indent="0">
                        <a:buNone/>
                      </a:pPr>
                      <a:r>
                        <a:rPr lang="en-US" sz="800" b="1" dirty="0">
                          <a:solidFill>
                            <a:srgbClr val="00757F"/>
                          </a:solidFill>
                          <a:latin typeface="Trenda IG Text" pitchFamily="34" charset="0"/>
                          <a:ea typeface="Trenda IG Text" pitchFamily="34" charset="-122"/>
                          <a:cs typeface="Trenda IG Text" pitchFamily="34" charset="-120"/>
                        </a:rPr>
                        <a:t>20-25% lower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8FAFD"/>
                    </a:solidFill>
                  </a:tcPr>
                </a:tc>
                <a:extLst>
                  <a:ext uri="{0D108BD9-81ED-4DB2-BD59-A6C34878D82A}">
                    <a16:rowId xmlns:a16="http://schemas.microsoft.com/office/drawing/2014/main" val="10002"/>
                  </a:ext>
                </a:extLst>
              </a:tr>
              <a:tr h="384048">
                <a:tc>
                  <a:txBody>
                    <a:bodyPr/>
                    <a:lstStyle/>
                    <a:p>
                      <a:pPr marL="0" indent="0">
                        <a:buNone/>
                      </a:pPr>
                      <a:r>
                        <a:rPr lang="en-US" sz="800" b="1" dirty="0">
                          <a:solidFill>
                            <a:srgbClr val="12233B"/>
                          </a:solidFill>
                          <a:latin typeface="Trenda IG Text" pitchFamily="34" charset="0"/>
                          <a:ea typeface="Trenda IG Text" pitchFamily="34" charset="-122"/>
                          <a:cs typeface="Trenda IG Text" pitchFamily="34" charset="-120"/>
                        </a:rPr>
                        <a:t>Other pods · VBC, CT, ARx, Contact Center, SR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Same manual pattern</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Same 7 agents plus pod skills once sources are in the graph</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dirty="0">
                          <a:solidFill>
                            <a:srgbClr val="12233B"/>
                          </a:solidFill>
                          <a:latin typeface="Trenda IG Text" pitchFamily="34" charset="0"/>
                          <a:ea typeface="Trenda IG Text" pitchFamily="34" charset="-122"/>
                          <a:cs typeface="Trenda IG Text" pitchFamily="34" charset="-120"/>
                        </a:rPr>
                        <a:t>10-20% in year 1, 20-30% at steady state</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tc>
                  <a:txBody>
                    <a:bodyPr/>
                    <a:lstStyle/>
                    <a:p>
                      <a:pPr marL="0" indent="0">
                        <a:buNone/>
                      </a:pPr>
                      <a:r>
                        <a:rPr lang="en-US" sz="800" b="1" dirty="0">
                          <a:solidFill>
                            <a:srgbClr val="00757F"/>
                          </a:solidFill>
                          <a:latin typeface="Trenda IG Text" pitchFamily="34" charset="0"/>
                          <a:ea typeface="Trenda IG Text" pitchFamily="34" charset="-122"/>
                          <a:cs typeface="Trenda IG Text" pitchFamily="34" charset="-120"/>
                        </a:rPr>
                        <a:t>15-25% lower</a:t>
                      </a:r>
                      <a:endParaRPr lang="en-US" sz="800" dirty="0">
                        <a:latin typeface="Trenda IG Text" charset="0"/>
                        <a:ea typeface="Trenda IG Text" charset="0"/>
                        <a:cs typeface="Trenda IG Text" charset="0"/>
                      </a:endParaRPr>
                    </a:p>
                  </a:txBody>
                  <a:tcPr marL="76200" marR="76200" marT="38100" marB="38100"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3" name="Shape 40"/>
          <p:cNvSpPr/>
          <p:nvPr/>
        </p:nvSpPr>
        <p:spPr>
          <a:xfrm>
            <a:off x="411480" y="5257800"/>
            <a:ext cx="5596128" cy="1143000"/>
          </a:xfrm>
          <a:prstGeom prst="rect">
            <a:avLst/>
          </a:prstGeom>
          <a:solidFill>
            <a:srgbClr val="FFFFFF"/>
          </a:solidFill>
          <a:ln w="9525">
            <a:solidFill>
              <a:srgbClr val="DCE4EE"/>
            </a:solidFill>
            <a:prstDash val="solid"/>
          </a:ln>
        </p:spPr>
        <p:txBody>
          <a:bodyPr/>
          <a:lstStyle/>
          <a:p>
            <a:endParaRPr lang="en-IN"/>
          </a:p>
        </p:txBody>
      </p:sp>
      <p:sp>
        <p:nvSpPr>
          <p:cNvPr id="44" name="Text 41"/>
          <p:cNvSpPr txBox="1"/>
          <p:nvPr/>
        </p:nvSpPr>
        <p:spPr>
          <a:xfrm>
            <a:off x="566928" y="5349240"/>
            <a:ext cx="5303520" cy="182880"/>
          </a:xfrm>
          <a:prstGeom prst="rect">
            <a:avLst/>
          </a:prstGeom>
          <a:noFill/>
          <a:ln/>
        </p:spPr>
        <p:txBody>
          <a:bodyPr wrap="square" lIns="0" tIns="0" rIns="0" bIns="0" rtlCol="0" anchor="ctr"/>
          <a:lstStyle/>
          <a:p>
            <a:pPr marL="0" indent="0">
              <a:buNone/>
            </a:pPr>
            <a:r>
              <a:rPr lang="en-US" sz="900" b="1" dirty="0">
                <a:solidFill>
                  <a:srgbClr val="C77400"/>
                </a:solidFill>
                <a:latin typeface="Trenda IG Text" pitchFamily="34" charset="0"/>
                <a:ea typeface="Trenda IG Text" pitchFamily="34" charset="-122"/>
                <a:cs typeface="Trenda IG Text" pitchFamily="34" charset="-120"/>
              </a:rPr>
              <a:t>Why the pod numbers are lower than the cycle-time numbers</a:t>
            </a:r>
            <a:endParaRPr lang="en-US" sz="900" dirty="0"/>
          </a:p>
        </p:txBody>
      </p:sp>
      <p:sp>
        <p:nvSpPr>
          <p:cNvPr id="45" name="Text 42"/>
          <p:cNvSpPr txBox="1"/>
          <p:nvPr/>
        </p:nvSpPr>
        <p:spPr>
          <a:xfrm>
            <a:off x="566928" y="5586984"/>
            <a:ext cx="5303520" cy="749808"/>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Workshops, business decisions, legal review, UAT and CAB stay human and take the same time.</a:t>
            </a:r>
            <a:endParaRPr lang="en-US" sz="800" dirty="0"/>
          </a:p>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Year 1 realizes about 60-70% of steady state while each pod is onboarded to the graph.</a:t>
            </a:r>
            <a:endParaRPr lang="en-US" sz="800" dirty="0"/>
          </a:p>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Savings counted only on work the agents actually do; human gates are not removed.</a:t>
            </a:r>
            <a:endParaRPr lang="en-US" sz="800" dirty="0"/>
          </a:p>
        </p:txBody>
      </p:sp>
      <p:sp>
        <p:nvSpPr>
          <p:cNvPr id="46" name="Shape 43"/>
          <p:cNvSpPr/>
          <p:nvPr/>
        </p:nvSpPr>
        <p:spPr>
          <a:xfrm>
            <a:off x="6181344" y="5257800"/>
            <a:ext cx="5596128" cy="1143000"/>
          </a:xfrm>
          <a:prstGeom prst="rect">
            <a:avLst/>
          </a:prstGeom>
          <a:solidFill>
            <a:srgbClr val="FFFFFF"/>
          </a:solidFill>
          <a:ln w="9525">
            <a:solidFill>
              <a:srgbClr val="DCE4EE"/>
            </a:solidFill>
            <a:prstDash val="solid"/>
          </a:ln>
        </p:spPr>
        <p:txBody>
          <a:bodyPr/>
          <a:lstStyle/>
          <a:p>
            <a:endParaRPr lang="en-IN"/>
          </a:p>
        </p:txBody>
      </p:sp>
      <p:sp>
        <p:nvSpPr>
          <p:cNvPr id="47" name="Text 44"/>
          <p:cNvSpPr txBox="1"/>
          <p:nvPr/>
        </p:nvSpPr>
        <p:spPr>
          <a:xfrm>
            <a:off x="6336792" y="5349240"/>
            <a:ext cx="5303520" cy="182880"/>
          </a:xfrm>
          <a:prstGeom prst="rect">
            <a:avLst/>
          </a:prstGeom>
          <a:noFill/>
          <a:ln/>
        </p:spPr>
        <p:txBody>
          <a:bodyPr wrap="square" lIns="0" tIns="0" rIns="0" bIns="0" rtlCol="0" anchor="ctr"/>
          <a:lstStyle/>
          <a:p>
            <a:pPr marL="0" indent="0">
              <a:buNone/>
            </a:pPr>
            <a:r>
              <a:rPr lang="en-US" sz="900" b="1" dirty="0">
                <a:solidFill>
                  <a:srgbClr val="2E7D32"/>
                </a:solidFill>
                <a:latin typeface="Trenda IG Text" pitchFamily="34" charset="0"/>
                <a:ea typeface="Trenda IG Text" pitchFamily="34" charset="-122"/>
                <a:cs typeface="Trenda IG Text" pitchFamily="34" charset="-120"/>
              </a:rPr>
              <a:t>How we prove it</a:t>
            </a:r>
            <a:endParaRPr lang="en-US" sz="900" dirty="0"/>
          </a:p>
        </p:txBody>
      </p:sp>
      <p:sp>
        <p:nvSpPr>
          <p:cNvPr id="48" name="Text 45"/>
          <p:cNvSpPr txBox="1"/>
          <p:nvPr/>
        </p:nvSpPr>
        <p:spPr>
          <a:xfrm>
            <a:off x="6336792" y="5586984"/>
            <a:ext cx="5303520" cy="749808"/>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Baseline each pod first: cycle time, effort hours per story, escaped defects, test coverage.</a:t>
            </a:r>
            <a:endParaRPr lang="en-US" sz="800" dirty="0"/>
          </a:p>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Pilots: one Nudge campaign and the Texas Seton onboarding, measured against the manual baseline.</a:t>
            </a:r>
            <a:endParaRPr lang="en-US" sz="800" dirty="0"/>
          </a:p>
          <a:p>
            <a:pPr marL="342900" indent="-342900">
              <a:spcAft>
                <a:spcPts val="300"/>
              </a:spcAft>
              <a:buSzPct val="100000"/>
              <a:buChar char="•"/>
            </a:pPr>
            <a:r>
              <a:rPr lang="en-US" sz="800" dirty="0">
                <a:solidFill>
                  <a:srgbClr val="12233B"/>
                </a:solidFill>
                <a:latin typeface="Trenda IG Text" pitchFamily="34" charset="0"/>
                <a:ea typeface="Trenda IG Text" pitchFamily="34" charset="-122"/>
                <a:cs typeface="Trenda IG Text" pitchFamily="34" charset="-120"/>
              </a:rPr>
              <a:t>Team changes through redeployment, attrition or more backlog; reviewed quarterly with Ascension.</a:t>
            </a:r>
            <a:endParaRPr lang="en-US" sz="800" dirty="0"/>
          </a:p>
        </p:txBody>
      </p:sp>
      <p:sp>
        <p:nvSpPr>
          <p:cNvPr id="49" name="Text 46"/>
          <p:cNvSpPr txBox="1"/>
          <p:nvPr/>
        </p:nvSpPr>
        <p:spPr>
          <a:xfrm>
            <a:off x="411480" y="6492240"/>
            <a:ext cx="11338560" cy="274320"/>
          </a:xfrm>
          <a:prstGeom prst="rect">
            <a:avLst/>
          </a:prstGeom>
          <a:noFill/>
          <a:ln/>
        </p:spPr>
        <p:txBody>
          <a:bodyPr wrap="square" lIns="0" tIns="0" rIns="0" bIns="0" rtlCol="0" anchor="t"/>
          <a:lstStyle/>
          <a:p>
            <a:pPr marL="0" indent="0">
              <a:buNone/>
            </a:pPr>
            <a:r>
              <a:rPr lang="en-US" sz="700" i="1" dirty="0">
                <a:solidFill>
                  <a:srgbClr val="5C6E85"/>
                </a:solidFill>
                <a:latin typeface="Trenda IG Text" pitchFamily="34" charset="0"/>
                <a:ea typeface="Trenda IG Text" pitchFamily="34" charset="-122"/>
                <a:cs typeface="Trenda IG Text" pitchFamily="34" charset="-120"/>
              </a:rPr>
              <a:t>Measured figures: Agentifying Ascension Ways of Working. Planned figures are conservative estimates using a typical pod effort mix (analysis 15%, design 10%, build 35%, test 25%, release 10%, ceremonies 5%); confirm per pod in the pilots.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1–3 · Per-source pipeline</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For each system of record: what the graph reads, how the connector authenticates and pulls it, and how the ingestor parses it into the domain model.</a:t>
            </a:r>
            <a:endParaRPr lang="en-US" sz="950" dirty="0"/>
          </a:p>
        </p:txBody>
      </p:sp>
      <p:sp>
        <p:nvSpPr>
          <p:cNvPr id="4" name="Shape 2"/>
          <p:cNvSpPr/>
          <p:nvPr/>
        </p:nvSpPr>
        <p:spPr>
          <a:xfrm>
            <a:off x="365760" y="1024128"/>
            <a:ext cx="1787652" cy="5440680"/>
          </a:xfrm>
          <a:prstGeom prst="roundRect">
            <a:avLst>
              <a:gd name="adj" fmla="val 2558"/>
            </a:avLst>
          </a:prstGeom>
          <a:solidFill>
            <a:srgbClr val="EAF1FB"/>
          </a:solidFill>
          <a:ln w="9525">
            <a:solidFill>
              <a:srgbClr val="DCE4EE"/>
            </a:solidFill>
            <a:prstDash val="solid"/>
          </a:ln>
        </p:spPr>
        <p:txBody>
          <a:bodyPr/>
          <a:lstStyle/>
          <a:p>
            <a:endParaRPr lang="en-IN"/>
          </a:p>
        </p:txBody>
      </p:sp>
      <p:sp>
        <p:nvSpPr>
          <p:cNvPr id="5" name="Shape 3"/>
          <p:cNvSpPr/>
          <p:nvPr/>
        </p:nvSpPr>
        <p:spPr>
          <a:xfrm>
            <a:off x="365760" y="1024128"/>
            <a:ext cx="1787652" cy="365760"/>
          </a:xfrm>
          <a:prstGeom prst="roundRect">
            <a:avLst>
              <a:gd name="adj" fmla="val 12500"/>
            </a:avLst>
          </a:prstGeom>
          <a:solidFill>
            <a:srgbClr val="1B6BC0"/>
          </a:solidFill>
          <a:ln w="12700">
            <a:solidFill>
              <a:srgbClr val="1B6BC0"/>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493776" y="1124712"/>
            <a:ext cx="164592" cy="164592"/>
          </a:xfrm>
          <a:prstGeom prst="rect">
            <a:avLst/>
          </a:prstGeom>
        </p:spPr>
      </p:pic>
      <p:sp>
        <p:nvSpPr>
          <p:cNvPr id="7" name="Text 4"/>
          <p:cNvSpPr txBox="1"/>
          <p:nvPr/>
        </p:nvSpPr>
        <p:spPr>
          <a:xfrm>
            <a:off x="420624"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Jira</a:t>
            </a:r>
            <a:endParaRPr lang="en-US" sz="900" dirty="0"/>
          </a:p>
        </p:txBody>
      </p:sp>
      <p:sp>
        <p:nvSpPr>
          <p:cNvPr id="8" name="Shape 5"/>
          <p:cNvSpPr/>
          <p:nvPr/>
        </p:nvSpPr>
        <p:spPr>
          <a:xfrm>
            <a:off x="438912"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9" name="Text 6"/>
          <p:cNvSpPr txBox="1"/>
          <p:nvPr/>
        </p:nvSpPr>
        <p:spPr>
          <a:xfrm>
            <a:off x="493776" y="1517904"/>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10" name="Text 7"/>
          <p:cNvSpPr txBox="1"/>
          <p:nvPr/>
        </p:nvSpPr>
        <p:spPr>
          <a:xfrm>
            <a:off x="493776"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stories &amp; requirements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Acceptance criteria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Epics, components, labels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Kanban &amp; sprint history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Linked issues &amp; defects</a:t>
            </a:r>
            <a:endParaRPr lang="en-US" sz="700" dirty="0"/>
          </a:p>
        </p:txBody>
      </p:sp>
      <p:sp>
        <p:nvSpPr>
          <p:cNvPr id="11" name="Shape 8"/>
          <p:cNvSpPr/>
          <p:nvPr/>
        </p:nvSpPr>
        <p:spPr>
          <a:xfrm>
            <a:off x="438912"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12" name="Text 9"/>
          <p:cNvSpPr txBox="1"/>
          <p:nvPr/>
        </p:nvSpPr>
        <p:spPr>
          <a:xfrm>
            <a:off x="493776" y="2951323"/>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13" name="Text 10"/>
          <p:cNvSpPr txBox="1"/>
          <p:nvPr/>
        </p:nvSpPr>
        <p:spPr>
          <a:xfrm>
            <a:off x="493776"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(3LO) or API token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scopes only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JQL incremental pull (updated &gt;= lastSyncAt)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Cursor pagination (startAt / maxResults=100)</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429 handling: exponential backoff + Retry-After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issue payload</a:t>
            </a:r>
            <a:endParaRPr lang="en-US" sz="700" dirty="0"/>
          </a:p>
        </p:txBody>
      </p:sp>
      <p:sp>
        <p:nvSpPr>
          <p:cNvPr id="14" name="Shape 11"/>
          <p:cNvSpPr/>
          <p:nvPr/>
        </p:nvSpPr>
        <p:spPr>
          <a:xfrm>
            <a:off x="438912"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15" name="Text 12"/>
          <p:cNvSpPr txBox="1"/>
          <p:nvPr/>
        </p:nvSpPr>
        <p:spPr>
          <a:xfrm>
            <a:off x="493776" y="4854434"/>
            <a:ext cx="1531620"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16" name="Text 13"/>
          <p:cNvSpPr txBox="1"/>
          <p:nvPr/>
        </p:nvSpPr>
        <p:spPr>
          <a:xfrm>
            <a:off x="493776"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ADF JSON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statement extraction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Acceptance criteria (Given / When / Then)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Capability tagging from labels &amp; components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graph: blocks, relates, implements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issue key, updated, SHA-256</a:t>
            </a:r>
            <a:endParaRPr lang="en-US" sz="700" dirty="0"/>
          </a:p>
        </p:txBody>
      </p:sp>
      <p:sp>
        <p:nvSpPr>
          <p:cNvPr id="17" name="Shape 14"/>
          <p:cNvSpPr/>
          <p:nvPr/>
        </p:nvSpPr>
        <p:spPr>
          <a:xfrm>
            <a:off x="2299716" y="1024128"/>
            <a:ext cx="1787652" cy="5440680"/>
          </a:xfrm>
          <a:prstGeom prst="roundRect">
            <a:avLst>
              <a:gd name="adj" fmla="val 2558"/>
            </a:avLst>
          </a:prstGeom>
          <a:solidFill>
            <a:srgbClr val="E5F4F1"/>
          </a:solidFill>
          <a:ln w="9525">
            <a:solidFill>
              <a:srgbClr val="DCE4EE"/>
            </a:solidFill>
            <a:prstDash val="solid"/>
          </a:ln>
        </p:spPr>
        <p:txBody>
          <a:bodyPr/>
          <a:lstStyle/>
          <a:p>
            <a:endParaRPr lang="en-IN"/>
          </a:p>
        </p:txBody>
      </p:sp>
      <p:sp>
        <p:nvSpPr>
          <p:cNvPr id="18" name="Shape 15"/>
          <p:cNvSpPr/>
          <p:nvPr/>
        </p:nvSpPr>
        <p:spPr>
          <a:xfrm>
            <a:off x="2299716" y="1024128"/>
            <a:ext cx="1787652" cy="365760"/>
          </a:xfrm>
          <a:prstGeom prst="roundRect">
            <a:avLst>
              <a:gd name="adj" fmla="val 12500"/>
            </a:avLst>
          </a:prstGeom>
          <a:solidFill>
            <a:srgbClr val="0E8A7D"/>
          </a:solidFill>
          <a:ln w="12700">
            <a:solidFill>
              <a:srgbClr val="0E8A7D"/>
            </a:solidFill>
            <a:prstDash val="solid"/>
          </a:ln>
        </p:spPr>
        <p:txBody>
          <a:bodyPr/>
          <a:lstStyle/>
          <a:p>
            <a:endParaRPr lang="en-IN"/>
          </a:p>
        </p:txBody>
      </p:sp>
      <p:pic>
        <p:nvPicPr>
          <p:cNvPr id="19" name="Image 1" descr="preencoded.png"/>
          <p:cNvPicPr>
            <a:picLocks noChangeAspect="1"/>
          </p:cNvPicPr>
          <p:nvPr/>
        </p:nvPicPr>
        <p:blipFill>
          <a:blip r:embed="rId4"/>
          <a:stretch>
            <a:fillRect/>
          </a:stretch>
        </p:blipFill>
        <p:spPr>
          <a:xfrm>
            <a:off x="2427732" y="1124712"/>
            <a:ext cx="164592" cy="164592"/>
          </a:xfrm>
          <a:prstGeom prst="rect">
            <a:avLst/>
          </a:prstGeom>
        </p:spPr>
      </p:pic>
      <p:sp>
        <p:nvSpPr>
          <p:cNvPr id="20" name="Text 16"/>
          <p:cNvSpPr txBox="1"/>
          <p:nvPr/>
        </p:nvSpPr>
        <p:spPr>
          <a:xfrm>
            <a:off x="2354580"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Confluence</a:t>
            </a:r>
            <a:endParaRPr lang="en-US" sz="900" dirty="0"/>
          </a:p>
        </p:txBody>
      </p:sp>
      <p:sp>
        <p:nvSpPr>
          <p:cNvPr id="21" name="Shape 17"/>
          <p:cNvSpPr/>
          <p:nvPr/>
        </p:nvSpPr>
        <p:spPr>
          <a:xfrm>
            <a:off x="2372868"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22" name="Text 18"/>
          <p:cNvSpPr txBox="1"/>
          <p:nvPr/>
        </p:nvSpPr>
        <p:spPr>
          <a:xfrm>
            <a:off x="2427732" y="1517904"/>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23" name="Text 19"/>
          <p:cNvSpPr txBox="1"/>
          <p:nvPr/>
        </p:nvSpPr>
        <p:spPr>
          <a:xfrm>
            <a:off x="2427732"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Functional design pages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Technical design pages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Business-rule tables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Integration diagrams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HFN / HPF &amp; credentialing runbooks</a:t>
            </a:r>
            <a:endParaRPr lang="en-US" sz="700" dirty="0"/>
          </a:p>
        </p:txBody>
      </p:sp>
      <p:sp>
        <p:nvSpPr>
          <p:cNvPr id="24" name="Shape 20"/>
          <p:cNvSpPr/>
          <p:nvPr/>
        </p:nvSpPr>
        <p:spPr>
          <a:xfrm>
            <a:off x="2372868"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25" name="Text 21"/>
          <p:cNvSpPr txBox="1"/>
          <p:nvPr/>
        </p:nvSpPr>
        <p:spPr>
          <a:xfrm>
            <a:off x="2427732" y="2951323"/>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26" name="Text 22"/>
          <p:cNvSpPr txBox="1"/>
          <p:nvPr/>
        </p:nvSpPr>
        <p:spPr>
          <a:xfrm>
            <a:off x="2427732"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PAT / API token authentication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Space + label scoped retrieval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Storage-format HTML (body.storage)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Version + lastUpdated tracking (delta sync)</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Rate limiting (token bucket)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content hashing</a:t>
            </a:r>
            <a:endParaRPr lang="en-US" sz="700" dirty="0"/>
          </a:p>
        </p:txBody>
      </p:sp>
      <p:sp>
        <p:nvSpPr>
          <p:cNvPr id="27" name="Shape 23"/>
          <p:cNvSpPr/>
          <p:nvPr/>
        </p:nvSpPr>
        <p:spPr>
          <a:xfrm>
            <a:off x="2372868"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28" name="Text 24"/>
          <p:cNvSpPr txBox="1"/>
          <p:nvPr/>
        </p:nvSpPr>
        <p:spPr>
          <a:xfrm>
            <a:off x="2427732" y="4854434"/>
            <a:ext cx="1531620" cy="182880"/>
          </a:xfrm>
          <a:prstGeom prst="rect">
            <a:avLst/>
          </a:prstGeom>
          <a:noFill/>
          <a:ln/>
        </p:spPr>
        <p:txBody>
          <a:bodyPr wrap="square" lIns="0" tIns="0" rIns="0" bIns="0" rtlCol="0" anchor="t"/>
          <a:lstStyle/>
          <a:p>
            <a:pPr marL="0" indent="0">
              <a:buNone/>
            </a:pPr>
            <a:r>
              <a:rPr lang="en-US" sz="800" b="0" dirty="0">
                <a:solidFill>
                  <a:srgbClr val="0E8A7D"/>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29" name="Text 25"/>
          <p:cNvSpPr txBox="1"/>
          <p:nvPr/>
        </p:nvSpPr>
        <p:spPr>
          <a:xfrm>
            <a:off x="2427732"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Jsoup HTML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Section extraction: heading hierarchy H1–H4</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Table extraction: headers, rows, rule tables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extraction: Jira keys, Git paths, API names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Business-rule sentence extraction</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page id, version, SHA-256</a:t>
            </a:r>
            <a:endParaRPr lang="en-US" sz="700" dirty="0"/>
          </a:p>
        </p:txBody>
      </p:sp>
      <p:sp>
        <p:nvSpPr>
          <p:cNvPr id="30" name="Shape 26"/>
          <p:cNvSpPr/>
          <p:nvPr/>
        </p:nvSpPr>
        <p:spPr>
          <a:xfrm>
            <a:off x="4233672" y="1024128"/>
            <a:ext cx="1787652" cy="5440680"/>
          </a:xfrm>
          <a:prstGeom prst="roundRect">
            <a:avLst>
              <a:gd name="adj" fmla="val 2558"/>
            </a:avLst>
          </a:prstGeom>
          <a:solidFill>
            <a:srgbClr val="F0EBFA"/>
          </a:solidFill>
          <a:ln w="9525">
            <a:solidFill>
              <a:srgbClr val="DCE4EE"/>
            </a:solidFill>
            <a:prstDash val="solid"/>
          </a:ln>
        </p:spPr>
        <p:txBody>
          <a:bodyPr/>
          <a:lstStyle/>
          <a:p>
            <a:endParaRPr lang="en-IN"/>
          </a:p>
        </p:txBody>
      </p:sp>
      <p:sp>
        <p:nvSpPr>
          <p:cNvPr id="31" name="Shape 27"/>
          <p:cNvSpPr/>
          <p:nvPr/>
        </p:nvSpPr>
        <p:spPr>
          <a:xfrm>
            <a:off x="4233672" y="1024128"/>
            <a:ext cx="1787652" cy="365760"/>
          </a:xfrm>
          <a:prstGeom prst="roundRect">
            <a:avLst>
              <a:gd name="adj" fmla="val 12500"/>
            </a:avLst>
          </a:prstGeom>
          <a:solidFill>
            <a:srgbClr val="7A4FC0"/>
          </a:solidFill>
          <a:ln w="12700">
            <a:solidFill>
              <a:srgbClr val="7A4FC0"/>
            </a:solidFill>
            <a:prstDash val="solid"/>
          </a:ln>
        </p:spPr>
        <p:txBody>
          <a:bodyPr/>
          <a:lstStyle/>
          <a:p>
            <a:endParaRPr lang="en-IN"/>
          </a:p>
        </p:txBody>
      </p:sp>
      <p:pic>
        <p:nvPicPr>
          <p:cNvPr id="32" name="Image 2" descr="preencoded.png"/>
          <p:cNvPicPr>
            <a:picLocks noChangeAspect="1"/>
          </p:cNvPicPr>
          <p:nvPr/>
        </p:nvPicPr>
        <p:blipFill>
          <a:blip r:embed="rId5"/>
          <a:stretch>
            <a:fillRect/>
          </a:stretch>
        </p:blipFill>
        <p:spPr>
          <a:xfrm>
            <a:off x="4361688" y="1124712"/>
            <a:ext cx="164592" cy="164592"/>
          </a:xfrm>
          <a:prstGeom prst="rect">
            <a:avLst/>
          </a:prstGeom>
        </p:spPr>
      </p:pic>
      <p:sp>
        <p:nvSpPr>
          <p:cNvPr id="33" name="Text 28"/>
          <p:cNvSpPr txBox="1"/>
          <p:nvPr/>
        </p:nvSpPr>
        <p:spPr>
          <a:xfrm>
            <a:off x="4288536"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Salesforce</a:t>
            </a:r>
            <a:endParaRPr lang="en-US" sz="900" dirty="0"/>
          </a:p>
        </p:txBody>
      </p:sp>
      <p:sp>
        <p:nvSpPr>
          <p:cNvPr id="34" name="Shape 29"/>
          <p:cNvSpPr/>
          <p:nvPr/>
        </p:nvSpPr>
        <p:spPr>
          <a:xfrm>
            <a:off x="4306824"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35" name="Text 30"/>
          <p:cNvSpPr txBox="1"/>
          <p:nvPr/>
        </p:nvSpPr>
        <p:spPr>
          <a:xfrm>
            <a:off x="4361688" y="1517904"/>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36" name="Text 31"/>
          <p:cNvSpPr txBox="1"/>
          <p:nvPr/>
        </p:nvSpPr>
        <p:spPr>
          <a:xfrm>
            <a:off x="4361688"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HCP / Account, Healthcare Facility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HPF, HFN, CPA / Fee Schedule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Fields, record types, relationships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Flows, validation rules, Apex</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permission sets, sharing</a:t>
            </a:r>
            <a:endParaRPr lang="en-US" sz="700" dirty="0"/>
          </a:p>
        </p:txBody>
      </p:sp>
      <p:sp>
        <p:nvSpPr>
          <p:cNvPr id="37" name="Shape 32"/>
          <p:cNvSpPr/>
          <p:nvPr/>
        </p:nvSpPr>
        <p:spPr>
          <a:xfrm>
            <a:off x="4306824"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38" name="Text 33"/>
          <p:cNvSpPr txBox="1"/>
          <p:nvPr/>
        </p:nvSpPr>
        <p:spPr>
          <a:xfrm>
            <a:off x="4361688" y="2951323"/>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39" name="Text 34"/>
          <p:cNvSpPr txBox="1"/>
          <p:nvPr/>
        </p:nvSpPr>
        <p:spPr>
          <a:xfrm>
            <a:off x="4361688"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Connected App, JWT bearer flow</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permission set, metadata scope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No record-data access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Tooling API + Metadata API retrieve()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MetadataComponentDependency queries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describe() for fields &amp; relationships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component body</a:t>
            </a:r>
            <a:endParaRPr lang="en-US" sz="700" dirty="0"/>
          </a:p>
        </p:txBody>
      </p:sp>
      <p:sp>
        <p:nvSpPr>
          <p:cNvPr id="40" name="Shape 35"/>
          <p:cNvSpPr/>
          <p:nvPr/>
        </p:nvSpPr>
        <p:spPr>
          <a:xfrm>
            <a:off x="4306824"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41" name="Text 36"/>
          <p:cNvSpPr txBox="1"/>
          <p:nvPr/>
        </p:nvSpPr>
        <p:spPr>
          <a:xfrm>
            <a:off x="4361688" y="4854434"/>
            <a:ext cx="1531620" cy="182880"/>
          </a:xfrm>
          <a:prstGeom prst="rect">
            <a:avLst/>
          </a:prstGeom>
          <a:noFill/>
          <a:ln/>
        </p:spPr>
        <p:txBody>
          <a:bodyPr wrap="square" lIns="0" tIns="0" rIns="0" bIns="0" rtlCol="0" anchor="t"/>
          <a:lstStyle/>
          <a:p>
            <a:pPr marL="0" indent="0">
              <a:buNone/>
            </a:pPr>
            <a:r>
              <a:rPr lang="en-US" sz="800" b="0" dirty="0">
                <a:solidFill>
                  <a:srgbClr val="7A4FC0"/>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42" name="Text 37"/>
          <p:cNvSpPr txBox="1"/>
          <p:nvPr/>
        </p:nvSpPr>
        <p:spPr>
          <a:xfrm>
            <a:off x="4361688"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describe() → objects, fields, types, rels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 XML: elements, decisions, record updates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classes, methods, SOQL, DML, sObjects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Triggers: object + before / after events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Validation rule formulas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Dependency API → component edges</a:t>
            </a:r>
            <a:endParaRPr lang="en-US" sz="700" dirty="0"/>
          </a:p>
        </p:txBody>
      </p:sp>
      <p:sp>
        <p:nvSpPr>
          <p:cNvPr id="43" name="Shape 38"/>
          <p:cNvSpPr/>
          <p:nvPr/>
        </p:nvSpPr>
        <p:spPr>
          <a:xfrm>
            <a:off x="6167628" y="1024128"/>
            <a:ext cx="1787652" cy="5440680"/>
          </a:xfrm>
          <a:prstGeom prst="roundRect">
            <a:avLst>
              <a:gd name="adj" fmla="val 2558"/>
            </a:avLst>
          </a:prstGeom>
          <a:solidFill>
            <a:srgbClr val="FBE9F0"/>
          </a:solidFill>
          <a:ln w="9525">
            <a:solidFill>
              <a:srgbClr val="DCE4EE"/>
            </a:solidFill>
            <a:prstDash val="solid"/>
          </a:ln>
        </p:spPr>
        <p:txBody>
          <a:bodyPr/>
          <a:lstStyle/>
          <a:p>
            <a:endParaRPr lang="en-IN"/>
          </a:p>
        </p:txBody>
      </p:sp>
      <p:sp>
        <p:nvSpPr>
          <p:cNvPr id="44" name="Shape 39"/>
          <p:cNvSpPr/>
          <p:nvPr/>
        </p:nvSpPr>
        <p:spPr>
          <a:xfrm>
            <a:off x="6167628" y="1024128"/>
            <a:ext cx="1787652" cy="365760"/>
          </a:xfrm>
          <a:prstGeom prst="roundRect">
            <a:avLst>
              <a:gd name="adj" fmla="val 12500"/>
            </a:avLst>
          </a:prstGeom>
          <a:solidFill>
            <a:srgbClr val="C2185B"/>
          </a:solidFill>
          <a:ln w="12700">
            <a:solidFill>
              <a:srgbClr val="C2185B"/>
            </a:solidFill>
            <a:prstDash val="solid"/>
          </a:ln>
        </p:spPr>
        <p:txBody>
          <a:bodyPr/>
          <a:lstStyle/>
          <a:p>
            <a:endParaRPr lang="en-IN"/>
          </a:p>
        </p:txBody>
      </p:sp>
      <p:pic>
        <p:nvPicPr>
          <p:cNvPr id="45" name="Image 3" descr="preencoded.png"/>
          <p:cNvPicPr>
            <a:picLocks noChangeAspect="1"/>
          </p:cNvPicPr>
          <p:nvPr/>
        </p:nvPicPr>
        <p:blipFill>
          <a:blip r:embed="rId6"/>
          <a:stretch>
            <a:fillRect/>
          </a:stretch>
        </p:blipFill>
        <p:spPr>
          <a:xfrm>
            <a:off x="6295644" y="1124712"/>
            <a:ext cx="164592" cy="164592"/>
          </a:xfrm>
          <a:prstGeom prst="rect">
            <a:avLst/>
          </a:prstGeom>
        </p:spPr>
      </p:pic>
      <p:sp>
        <p:nvSpPr>
          <p:cNvPr id="46" name="Text 40"/>
          <p:cNvSpPr txBox="1"/>
          <p:nvPr/>
        </p:nvSpPr>
        <p:spPr>
          <a:xfrm>
            <a:off x="6222492"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Git</a:t>
            </a:r>
            <a:endParaRPr lang="en-US" sz="900" dirty="0"/>
          </a:p>
        </p:txBody>
      </p:sp>
      <p:sp>
        <p:nvSpPr>
          <p:cNvPr id="47" name="Shape 41"/>
          <p:cNvSpPr/>
          <p:nvPr/>
        </p:nvSpPr>
        <p:spPr>
          <a:xfrm>
            <a:off x="6240780"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48" name="Text 42"/>
          <p:cNvSpPr txBox="1"/>
          <p:nvPr/>
        </p:nvSpPr>
        <p:spPr>
          <a:xfrm>
            <a:off x="6295644" y="1517904"/>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49" name="Text 43"/>
          <p:cNvSpPr txBox="1"/>
          <p:nvPr/>
        </p:nvSpPr>
        <p:spPr>
          <a:xfrm>
            <a:off x="6295644"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force-app source tree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classes &amp; triggers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bundles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test classes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*-meta.xml metadata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Commits, branches, tags, PRs</a:t>
            </a:r>
            <a:endParaRPr lang="en-US" sz="700" dirty="0"/>
          </a:p>
        </p:txBody>
      </p:sp>
      <p:sp>
        <p:nvSpPr>
          <p:cNvPr id="50" name="Shape 44"/>
          <p:cNvSpPr/>
          <p:nvPr/>
        </p:nvSpPr>
        <p:spPr>
          <a:xfrm>
            <a:off x="6240780"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51" name="Text 45"/>
          <p:cNvSpPr txBox="1"/>
          <p:nvPr/>
        </p:nvSpPr>
        <p:spPr>
          <a:xfrm>
            <a:off x="6295644" y="2951323"/>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52" name="Text 46"/>
          <p:cNvSpPr txBox="1"/>
          <p:nvPr/>
        </p:nvSpPr>
        <p:spPr>
          <a:xfrm>
            <a:off x="6295644"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SSH deploy key / read-only fine-grained PAT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Shallow clone + fetch per branch</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Branch &amp; tag traversal for release baselines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Commit SHA, author, timestamp capture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Per-file SHA-256 + git blob SHA cross-check</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No push credentials held by the read service</a:t>
            </a:r>
            <a:endParaRPr lang="en-US" sz="700" dirty="0"/>
          </a:p>
        </p:txBody>
      </p:sp>
      <p:sp>
        <p:nvSpPr>
          <p:cNvPr id="53" name="Shape 47"/>
          <p:cNvSpPr/>
          <p:nvPr/>
        </p:nvSpPr>
        <p:spPr>
          <a:xfrm>
            <a:off x="6240780"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54" name="Text 48"/>
          <p:cNvSpPr txBox="1"/>
          <p:nvPr/>
        </p:nvSpPr>
        <p:spPr>
          <a:xfrm>
            <a:off x="6295644" y="4854434"/>
            <a:ext cx="1531620"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55" name="Text 49"/>
          <p:cNvSpPr txBox="1"/>
          <p:nvPr/>
        </p:nvSpPr>
        <p:spPr>
          <a:xfrm>
            <a:off x="6295644"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SFDX source-format traversal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Apex parsing incl. @isTest / @future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 class → covered class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LWC bundle parsing (js / html / meta)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 XML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repo, branch, path, commit SHA</a:t>
            </a:r>
            <a:endParaRPr lang="en-US" sz="700" dirty="0"/>
          </a:p>
        </p:txBody>
      </p:sp>
      <p:sp>
        <p:nvSpPr>
          <p:cNvPr id="56" name="Shape 50"/>
          <p:cNvSpPr/>
          <p:nvPr/>
        </p:nvSpPr>
        <p:spPr>
          <a:xfrm>
            <a:off x="8101584" y="1024128"/>
            <a:ext cx="1787652" cy="5440680"/>
          </a:xfrm>
          <a:prstGeom prst="roundRect">
            <a:avLst>
              <a:gd name="adj" fmla="val 2558"/>
            </a:avLst>
          </a:prstGeom>
          <a:solidFill>
            <a:srgbClr val="E3F2F4"/>
          </a:solidFill>
          <a:ln w="9525">
            <a:solidFill>
              <a:srgbClr val="DCE4EE"/>
            </a:solidFill>
            <a:prstDash val="solid"/>
          </a:ln>
        </p:spPr>
        <p:txBody>
          <a:bodyPr/>
          <a:lstStyle/>
          <a:p>
            <a:endParaRPr lang="en-IN"/>
          </a:p>
        </p:txBody>
      </p:sp>
      <p:sp>
        <p:nvSpPr>
          <p:cNvPr id="57" name="Shape 51"/>
          <p:cNvSpPr/>
          <p:nvPr/>
        </p:nvSpPr>
        <p:spPr>
          <a:xfrm>
            <a:off x="8101584" y="1024128"/>
            <a:ext cx="1787652" cy="365760"/>
          </a:xfrm>
          <a:prstGeom prst="roundRect">
            <a:avLst>
              <a:gd name="adj" fmla="val 12500"/>
            </a:avLst>
          </a:prstGeom>
          <a:solidFill>
            <a:srgbClr val="00757F"/>
          </a:solidFill>
          <a:ln w="12700">
            <a:solidFill>
              <a:srgbClr val="00757F"/>
            </a:solidFill>
            <a:prstDash val="solid"/>
          </a:ln>
        </p:spPr>
        <p:txBody>
          <a:bodyPr/>
          <a:lstStyle/>
          <a:p>
            <a:endParaRPr lang="en-IN"/>
          </a:p>
        </p:txBody>
      </p:sp>
      <p:pic>
        <p:nvPicPr>
          <p:cNvPr id="58" name="Image 4" descr="preencoded.png"/>
          <p:cNvPicPr>
            <a:picLocks noChangeAspect="1"/>
          </p:cNvPicPr>
          <p:nvPr/>
        </p:nvPicPr>
        <p:blipFill>
          <a:blip r:embed="rId7"/>
          <a:stretch>
            <a:fillRect/>
          </a:stretch>
        </p:blipFill>
        <p:spPr>
          <a:xfrm>
            <a:off x="8229600" y="1124712"/>
            <a:ext cx="164592" cy="164592"/>
          </a:xfrm>
          <a:prstGeom prst="rect">
            <a:avLst/>
          </a:prstGeom>
        </p:spPr>
      </p:pic>
      <p:sp>
        <p:nvSpPr>
          <p:cNvPr id="59" name="Text 52"/>
          <p:cNvSpPr txBox="1"/>
          <p:nvPr/>
        </p:nvSpPr>
        <p:spPr>
          <a:xfrm>
            <a:off x="8156448"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Copado</a:t>
            </a:r>
            <a:endParaRPr lang="en-US" sz="900" dirty="0"/>
          </a:p>
        </p:txBody>
      </p:sp>
      <p:sp>
        <p:nvSpPr>
          <p:cNvPr id="60" name="Shape 53"/>
          <p:cNvSpPr/>
          <p:nvPr/>
        </p:nvSpPr>
        <p:spPr>
          <a:xfrm>
            <a:off x="8174736"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61" name="Text 54"/>
          <p:cNvSpPr txBox="1"/>
          <p:nvPr/>
        </p:nvSpPr>
        <p:spPr>
          <a:xfrm>
            <a:off x="8229600" y="1517904"/>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62" name="Text 55"/>
          <p:cNvSpPr txBox="1"/>
          <p:nvPr/>
        </p:nvSpPr>
        <p:spPr>
          <a:xfrm>
            <a:off x="8229600"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stories &amp; promotions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Deployment records &amp; validation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testing suites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Regression test runs &amp;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Pipeline: DEV · SIT · UAT · PREPROD · PROD</a:t>
            </a:r>
            <a:endParaRPr lang="en-US" sz="700" dirty="0"/>
          </a:p>
        </p:txBody>
      </p:sp>
      <p:sp>
        <p:nvSpPr>
          <p:cNvPr id="63" name="Shape 56"/>
          <p:cNvSpPr/>
          <p:nvPr/>
        </p:nvSpPr>
        <p:spPr>
          <a:xfrm>
            <a:off x="8174736"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64" name="Text 57"/>
          <p:cNvSpPr txBox="1"/>
          <p:nvPr/>
        </p:nvSpPr>
        <p:spPr>
          <a:xfrm>
            <a:off x="8229600" y="2951323"/>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65" name="Text 58"/>
          <p:cNvSpPr txBox="1"/>
          <p:nvPr/>
        </p:nvSpPr>
        <p:spPr>
          <a:xfrm>
            <a:off x="8229600"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client credentials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Read-only API user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story + promotion pull</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 regression test results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Deployment records per environment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Pipeline stage topology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record payload</a:t>
            </a:r>
            <a:endParaRPr lang="en-US" sz="700" dirty="0"/>
          </a:p>
        </p:txBody>
      </p:sp>
      <p:sp>
        <p:nvSpPr>
          <p:cNvPr id="66" name="Shape 59"/>
          <p:cNvSpPr/>
          <p:nvPr/>
        </p:nvSpPr>
        <p:spPr>
          <a:xfrm>
            <a:off x="8174736"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67" name="Text 60"/>
          <p:cNvSpPr txBox="1"/>
          <p:nvPr/>
        </p:nvSpPr>
        <p:spPr>
          <a:xfrm>
            <a:off x="8229600" y="4854434"/>
            <a:ext cx="1531620"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68" name="Text 61"/>
          <p:cNvSpPr txBox="1"/>
          <p:nvPr/>
        </p:nvSpPr>
        <p:spPr>
          <a:xfrm>
            <a:off x="8229600"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User story → component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Promotion &amp; deployment record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Robotic test → component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Regression results: pass / fail + evidence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 outcomes: HFN generated, no dup, APDH event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story id, run id, deployment id</a:t>
            </a:r>
            <a:endParaRPr lang="en-US" sz="700" dirty="0"/>
          </a:p>
        </p:txBody>
      </p:sp>
      <p:sp>
        <p:nvSpPr>
          <p:cNvPr id="69" name="Shape 62"/>
          <p:cNvSpPr/>
          <p:nvPr/>
        </p:nvSpPr>
        <p:spPr>
          <a:xfrm>
            <a:off x="10035540" y="1024128"/>
            <a:ext cx="1787652" cy="5440680"/>
          </a:xfrm>
          <a:prstGeom prst="roundRect">
            <a:avLst>
              <a:gd name="adj" fmla="val 2558"/>
            </a:avLst>
          </a:prstGeom>
          <a:solidFill>
            <a:srgbClr val="E9F3EA"/>
          </a:solidFill>
          <a:ln w="9525">
            <a:solidFill>
              <a:srgbClr val="DCE4EE"/>
            </a:solidFill>
            <a:prstDash val="solid"/>
          </a:ln>
        </p:spPr>
        <p:txBody>
          <a:bodyPr/>
          <a:lstStyle/>
          <a:p>
            <a:endParaRPr lang="en-IN"/>
          </a:p>
        </p:txBody>
      </p:sp>
      <p:sp>
        <p:nvSpPr>
          <p:cNvPr id="70" name="Shape 63"/>
          <p:cNvSpPr/>
          <p:nvPr/>
        </p:nvSpPr>
        <p:spPr>
          <a:xfrm>
            <a:off x="10035540" y="1024128"/>
            <a:ext cx="1787652" cy="365760"/>
          </a:xfrm>
          <a:prstGeom prst="roundRect">
            <a:avLst>
              <a:gd name="adj" fmla="val 12500"/>
            </a:avLst>
          </a:prstGeom>
          <a:solidFill>
            <a:srgbClr val="2E7D32"/>
          </a:solidFill>
          <a:ln w="12700">
            <a:solidFill>
              <a:srgbClr val="2E7D32"/>
            </a:solidFill>
            <a:prstDash val="solid"/>
          </a:ln>
        </p:spPr>
        <p:txBody>
          <a:bodyPr/>
          <a:lstStyle/>
          <a:p>
            <a:endParaRPr lang="en-IN"/>
          </a:p>
        </p:txBody>
      </p:sp>
      <p:pic>
        <p:nvPicPr>
          <p:cNvPr id="71" name="Image 5" descr="preencoded.png"/>
          <p:cNvPicPr>
            <a:picLocks noChangeAspect="1"/>
          </p:cNvPicPr>
          <p:nvPr/>
        </p:nvPicPr>
        <p:blipFill>
          <a:blip r:embed="rId8"/>
          <a:stretch>
            <a:fillRect/>
          </a:stretch>
        </p:blipFill>
        <p:spPr>
          <a:xfrm>
            <a:off x="10163556" y="1124712"/>
            <a:ext cx="164592" cy="164592"/>
          </a:xfrm>
          <a:prstGeom prst="rect">
            <a:avLst/>
          </a:prstGeom>
        </p:spPr>
      </p:pic>
      <p:sp>
        <p:nvSpPr>
          <p:cNvPr id="72" name="Text 64"/>
          <p:cNvSpPr txBox="1"/>
          <p:nvPr/>
        </p:nvSpPr>
        <p:spPr>
          <a:xfrm>
            <a:off x="10090404" y="1024128"/>
            <a:ext cx="1677924"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Google Drive</a:t>
            </a:r>
            <a:endParaRPr lang="en-US" sz="900" dirty="0"/>
          </a:p>
        </p:txBody>
      </p:sp>
      <p:sp>
        <p:nvSpPr>
          <p:cNvPr id="73" name="Shape 65"/>
          <p:cNvSpPr/>
          <p:nvPr/>
        </p:nvSpPr>
        <p:spPr>
          <a:xfrm>
            <a:off x="10108692" y="1463040"/>
            <a:ext cx="1641348" cy="1341979"/>
          </a:xfrm>
          <a:prstGeom prst="roundRect">
            <a:avLst>
              <a:gd name="adj" fmla="val 2726"/>
            </a:avLst>
          </a:prstGeom>
          <a:solidFill>
            <a:srgbClr val="FFFFFF"/>
          </a:solidFill>
          <a:ln w="9525">
            <a:solidFill>
              <a:srgbClr val="DCE4EE"/>
            </a:solidFill>
            <a:prstDash val="solid"/>
          </a:ln>
        </p:spPr>
        <p:txBody>
          <a:bodyPr/>
          <a:lstStyle/>
          <a:p>
            <a:endParaRPr lang="en-IN"/>
          </a:p>
        </p:txBody>
      </p:sp>
      <p:sp>
        <p:nvSpPr>
          <p:cNvPr id="74" name="Text 66"/>
          <p:cNvSpPr txBox="1"/>
          <p:nvPr/>
        </p:nvSpPr>
        <p:spPr>
          <a:xfrm>
            <a:off x="10163556" y="1517904"/>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Source system</a:t>
            </a:r>
            <a:endParaRPr lang="en-US" sz="800" dirty="0"/>
          </a:p>
        </p:txBody>
      </p:sp>
      <p:sp>
        <p:nvSpPr>
          <p:cNvPr id="75" name="Text 67"/>
          <p:cNvSpPr txBox="1"/>
          <p:nvPr/>
        </p:nvSpPr>
        <p:spPr>
          <a:xfrm>
            <a:off x="10163556" y="1709928"/>
            <a:ext cx="1531620" cy="104022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Shared delivery documents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Spec &amp; field-mapping sheets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Test-data workbooks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Evidence exports &amp; sign-offs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Decision &amp; meeting notes</a:t>
            </a:r>
            <a:endParaRPr lang="en-US" sz="700" dirty="0"/>
          </a:p>
        </p:txBody>
      </p:sp>
      <p:sp>
        <p:nvSpPr>
          <p:cNvPr id="76" name="Shape 68"/>
          <p:cNvSpPr/>
          <p:nvPr/>
        </p:nvSpPr>
        <p:spPr>
          <a:xfrm>
            <a:off x="10108692" y="2896459"/>
            <a:ext cx="1641348" cy="1811671"/>
          </a:xfrm>
          <a:prstGeom prst="roundRect">
            <a:avLst>
              <a:gd name="adj" fmla="val 2228"/>
            </a:avLst>
          </a:prstGeom>
          <a:solidFill>
            <a:srgbClr val="FFFFFF"/>
          </a:solidFill>
          <a:ln w="9525">
            <a:solidFill>
              <a:srgbClr val="DCE4EE"/>
            </a:solidFill>
            <a:prstDash val="solid"/>
          </a:ln>
        </p:spPr>
        <p:txBody>
          <a:bodyPr/>
          <a:lstStyle/>
          <a:p>
            <a:endParaRPr lang="en-IN"/>
          </a:p>
        </p:txBody>
      </p:sp>
      <p:sp>
        <p:nvSpPr>
          <p:cNvPr id="77" name="Text 69"/>
          <p:cNvSpPr txBox="1"/>
          <p:nvPr/>
        </p:nvSpPr>
        <p:spPr>
          <a:xfrm>
            <a:off x="10163556" y="2951323"/>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Connector: auth</a:t>
            </a:r>
            <a:endParaRPr lang="en-US" sz="800" dirty="0"/>
          </a:p>
        </p:txBody>
      </p:sp>
      <p:sp>
        <p:nvSpPr>
          <p:cNvPr id="78" name="Text 70"/>
          <p:cNvSpPr txBox="1"/>
          <p:nvPr/>
        </p:nvSpPr>
        <p:spPr>
          <a:xfrm>
            <a:off x="10163556" y="3143347"/>
            <a:ext cx="1531620" cy="15099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OAuth 2.0 service account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Drive API v3, shared-drive scoped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files.list + files.export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Docs / Sheets exported to text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Change-token delta sync</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per file revision</a:t>
            </a:r>
            <a:endParaRPr lang="en-US" sz="700" dirty="0"/>
          </a:p>
        </p:txBody>
      </p:sp>
      <p:sp>
        <p:nvSpPr>
          <p:cNvPr id="79" name="Shape 71"/>
          <p:cNvSpPr/>
          <p:nvPr/>
        </p:nvSpPr>
        <p:spPr>
          <a:xfrm>
            <a:off x="10108692" y="4799570"/>
            <a:ext cx="1641348" cy="1610374"/>
          </a:xfrm>
          <a:prstGeom prst="roundRect">
            <a:avLst>
              <a:gd name="adj" fmla="val 2271"/>
            </a:avLst>
          </a:prstGeom>
          <a:solidFill>
            <a:srgbClr val="FFFFFF"/>
          </a:solidFill>
          <a:ln w="9525">
            <a:solidFill>
              <a:srgbClr val="DCE4EE"/>
            </a:solidFill>
            <a:prstDash val="solid"/>
          </a:ln>
        </p:spPr>
        <p:txBody>
          <a:bodyPr/>
          <a:lstStyle/>
          <a:p>
            <a:endParaRPr lang="en-IN"/>
          </a:p>
        </p:txBody>
      </p:sp>
      <p:sp>
        <p:nvSpPr>
          <p:cNvPr id="80" name="Text 72"/>
          <p:cNvSpPr txBox="1"/>
          <p:nvPr/>
        </p:nvSpPr>
        <p:spPr>
          <a:xfrm>
            <a:off x="10163556" y="4854434"/>
            <a:ext cx="1531620"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Ingestor: parsing</a:t>
            </a:r>
            <a:endParaRPr lang="en-US" sz="800" dirty="0"/>
          </a:p>
        </p:txBody>
      </p:sp>
      <p:sp>
        <p:nvSpPr>
          <p:cNvPr id="81" name="Text 73"/>
          <p:cNvSpPr txBox="1"/>
          <p:nvPr/>
        </p:nvSpPr>
        <p:spPr>
          <a:xfrm>
            <a:off x="10163556" y="5046458"/>
            <a:ext cx="1531620" cy="13086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Docs / Sheets text export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Sheet table extraction (headers, rows)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Spec → business-capability mapping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Test-data workbook parsing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Link extraction: Jira keys, API names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fileId, revision, SHA-256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4–6 · Domain model → JSON storage → graph export</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The unified NetworkServicesContext, the vendor-neutral JSON contract it is stored as, and the node and relationship taxonomy generated from it.</a:t>
            </a:r>
            <a:endParaRPr lang="en-US" sz="950" dirty="0"/>
          </a:p>
        </p:txBody>
      </p:sp>
      <p:sp>
        <p:nvSpPr>
          <p:cNvPr id="4" name="Shape 2"/>
          <p:cNvSpPr/>
          <p:nvPr/>
        </p:nvSpPr>
        <p:spPr>
          <a:xfrm>
            <a:off x="365760" y="1024128"/>
            <a:ext cx="3660648" cy="5440680"/>
          </a:xfrm>
          <a:prstGeom prst="roundRect">
            <a:avLst>
              <a:gd name="adj" fmla="val 1249"/>
            </a:avLst>
          </a:prstGeom>
          <a:solidFill>
            <a:srgbClr val="FBE9F0"/>
          </a:solidFill>
          <a:ln w="9525">
            <a:solidFill>
              <a:srgbClr val="DCE4EE"/>
            </a:solidFill>
            <a:prstDash val="solid"/>
          </a:ln>
        </p:spPr>
        <p:txBody>
          <a:bodyPr/>
          <a:lstStyle/>
          <a:p>
            <a:endParaRPr lang="en-IN"/>
          </a:p>
        </p:txBody>
      </p:sp>
      <p:sp>
        <p:nvSpPr>
          <p:cNvPr id="5" name="Shape 3"/>
          <p:cNvSpPr/>
          <p:nvPr/>
        </p:nvSpPr>
        <p:spPr>
          <a:xfrm>
            <a:off x="365760" y="1024128"/>
            <a:ext cx="3660648" cy="365760"/>
          </a:xfrm>
          <a:prstGeom prst="roundRect">
            <a:avLst>
              <a:gd name="adj" fmla="val 12500"/>
            </a:avLst>
          </a:prstGeom>
          <a:solidFill>
            <a:srgbClr val="C2185B"/>
          </a:solidFill>
          <a:ln w="12700">
            <a:solidFill>
              <a:srgbClr val="C2185B"/>
            </a:solidFill>
            <a:prstDash val="solid"/>
          </a:ln>
        </p:spPr>
        <p:txBody>
          <a:bodyPr/>
          <a:lstStyle/>
          <a:p>
            <a:endParaRPr lang="en-IN"/>
          </a:p>
        </p:txBody>
      </p:sp>
      <p:sp>
        <p:nvSpPr>
          <p:cNvPr id="6" name="Text 4"/>
          <p:cNvSpPr txBox="1"/>
          <p:nvPr/>
        </p:nvSpPr>
        <p:spPr>
          <a:xfrm>
            <a:off x="420624"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4 · NetworkServicesContext</a:t>
            </a:r>
            <a:endParaRPr lang="en-US" sz="900" dirty="0"/>
          </a:p>
        </p:txBody>
      </p:sp>
      <p:sp>
        <p:nvSpPr>
          <p:cNvPr id="7" name="Shape 5"/>
          <p:cNvSpPr/>
          <p:nvPr/>
        </p:nvSpPr>
        <p:spPr>
          <a:xfrm>
            <a:off x="438912" y="1463040"/>
            <a:ext cx="3514344" cy="821553"/>
          </a:xfrm>
          <a:prstGeom prst="roundRect">
            <a:avLst>
              <a:gd name="adj" fmla="val 4452"/>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Root object</a:t>
            </a:r>
            <a:endParaRPr lang="en-US" sz="800" dirty="0"/>
          </a:p>
        </p:txBody>
      </p:sp>
      <p:sp>
        <p:nvSpPr>
          <p:cNvPr id="9" name="Text 7"/>
          <p:cNvSpPr txBox="1"/>
          <p:nvPr/>
        </p:nvSpPr>
        <p:spPr>
          <a:xfrm>
            <a:off x="493776" y="1709928"/>
            <a:ext cx="3404616" cy="51980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applicationName: "NETWORK_SERVICES"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applicationVersion, createdAt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snapshotId: UUID of this sync run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provenance: createdBy, derivationMethod</a:t>
            </a:r>
            <a:endParaRPr lang="en-US" sz="750" dirty="0"/>
          </a:p>
        </p:txBody>
      </p:sp>
      <p:sp>
        <p:nvSpPr>
          <p:cNvPr id="10" name="Shape 8"/>
          <p:cNvSpPr/>
          <p:nvPr/>
        </p:nvSpPr>
        <p:spPr>
          <a:xfrm>
            <a:off x="438912" y="2376033"/>
            <a:ext cx="3514344" cy="1283677"/>
          </a:xfrm>
          <a:prstGeom prst="roundRect">
            <a:avLst>
              <a:gd name="adj" fmla="val 2849"/>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430897"/>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requirements[] · documents[]</a:t>
            </a:r>
            <a:endParaRPr lang="en-US" sz="800" dirty="0"/>
          </a:p>
        </p:txBody>
      </p:sp>
      <p:sp>
        <p:nvSpPr>
          <p:cNvPr id="12" name="Text 10"/>
          <p:cNvSpPr txBox="1"/>
          <p:nvPr/>
        </p:nvSpPr>
        <p:spPr>
          <a:xfrm>
            <a:off x="493776" y="2622921"/>
            <a:ext cx="3404616" cy="98192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requirementId, title, acceptanceCriteria[]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businessCapability, status, riskTier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linkedIssues / documents / components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documentId, sections[] (heading, level, tables, links)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businessRules[] with objectsReferenced[]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sourceMetadata: system, version, contentHash</a:t>
            </a:r>
            <a:endParaRPr lang="en-US" sz="750" dirty="0"/>
          </a:p>
        </p:txBody>
      </p:sp>
      <p:sp>
        <p:nvSpPr>
          <p:cNvPr id="13" name="Shape 11"/>
          <p:cNvSpPr/>
          <p:nvPr/>
        </p:nvSpPr>
        <p:spPr>
          <a:xfrm>
            <a:off x="438912" y="3751150"/>
            <a:ext cx="3514344" cy="1386371"/>
          </a:xfrm>
          <a:prstGeom prst="roundRect">
            <a:avLst>
              <a:gd name="adj" fmla="val 2638"/>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806014"/>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salesforceObjects[] · automations[]</a:t>
            </a:r>
            <a:endParaRPr lang="en-US" sz="800" dirty="0"/>
          </a:p>
        </p:txBody>
      </p:sp>
      <p:sp>
        <p:nvSpPr>
          <p:cNvPr id="15" name="Text 13"/>
          <p:cNvSpPr txBox="1"/>
          <p:nvPr/>
        </p:nvSpPr>
        <p:spPr>
          <a:xfrm>
            <a:off x="493776" y="3998038"/>
            <a:ext cx="3404616" cy="108461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objectApiName, recordTypes[]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fields[]: apiName, type, required, formula, externalId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relationships[]: lookup / master-detail</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type: FLOW | APEX_CLASS | APEX_TRIGGER | VR | LWC</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objectsTouched[], dmlOperations[], soqlQueries[]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referencedComponents[], testCoverage, riskTier</a:t>
            </a:r>
            <a:endParaRPr lang="en-US" sz="750" dirty="0"/>
          </a:p>
        </p:txBody>
      </p:sp>
      <p:sp>
        <p:nvSpPr>
          <p:cNvPr id="16" name="Shape 14"/>
          <p:cNvSpPr/>
          <p:nvPr/>
        </p:nvSpPr>
        <p:spPr>
          <a:xfrm>
            <a:off x="438912" y="5228961"/>
            <a:ext cx="3514344" cy="1180983"/>
          </a:xfrm>
          <a:prstGeom prst="roundRect">
            <a:avLst>
              <a:gd name="adj" fmla="val 3097"/>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5283825"/>
            <a:ext cx="3404616" cy="182880"/>
          </a:xfrm>
          <a:prstGeom prst="rect">
            <a:avLst/>
          </a:prstGeom>
          <a:noFill/>
          <a:ln/>
        </p:spPr>
        <p:txBody>
          <a:bodyPr wrap="square" lIns="0" tIns="0" rIns="0" bIns="0" rtlCol="0" anchor="t"/>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testAssets[] · releases[] · integrations[]</a:t>
            </a:r>
            <a:endParaRPr lang="en-US" sz="800" dirty="0"/>
          </a:p>
        </p:txBody>
      </p:sp>
      <p:sp>
        <p:nvSpPr>
          <p:cNvPr id="18" name="Text 16"/>
          <p:cNvSpPr txBox="1"/>
          <p:nvPr/>
        </p:nvSpPr>
        <p:spPr>
          <a:xfrm>
            <a:off x="493776" y="5475849"/>
            <a:ext cx="3404616" cy="87923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suiteId, caseId, type, assertions[], evidenceUri</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releaseId, environment, componentsDeployed[]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APDH: Salesforce → Queueable Apex → Pub/Sub → APDH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direction OUTBOUND, riskTier HIGH, backWrite false</a:t>
            </a:r>
            <a:endParaRPr lang="en-US" sz="750" dirty="0"/>
          </a:p>
        </p:txBody>
      </p:sp>
      <p:sp>
        <p:nvSpPr>
          <p:cNvPr id="19" name="Shape 17"/>
          <p:cNvSpPr/>
          <p:nvPr/>
        </p:nvSpPr>
        <p:spPr>
          <a:xfrm>
            <a:off x="4264152" y="1024128"/>
            <a:ext cx="3660648" cy="5440680"/>
          </a:xfrm>
          <a:prstGeom prst="roundRect">
            <a:avLst>
              <a:gd name="adj" fmla="val 1249"/>
            </a:avLst>
          </a:prstGeom>
          <a:solidFill>
            <a:srgbClr val="FDF1DE"/>
          </a:solidFill>
          <a:ln w="9525">
            <a:solidFill>
              <a:srgbClr val="DCE4EE"/>
            </a:solidFill>
            <a:prstDash val="solid"/>
          </a:ln>
        </p:spPr>
        <p:txBody>
          <a:bodyPr/>
          <a:lstStyle/>
          <a:p>
            <a:endParaRPr lang="en-IN"/>
          </a:p>
        </p:txBody>
      </p:sp>
      <p:sp>
        <p:nvSpPr>
          <p:cNvPr id="20" name="Shape 18"/>
          <p:cNvSpPr/>
          <p:nvPr/>
        </p:nvSpPr>
        <p:spPr>
          <a:xfrm>
            <a:off x="4264152" y="1024128"/>
            <a:ext cx="3660648" cy="365760"/>
          </a:xfrm>
          <a:prstGeom prst="roundRect">
            <a:avLst>
              <a:gd name="adj" fmla="val 12500"/>
            </a:avLst>
          </a:prstGeom>
          <a:solidFill>
            <a:srgbClr val="C77400"/>
          </a:solidFill>
          <a:ln w="12700">
            <a:solidFill>
              <a:srgbClr val="C77400"/>
            </a:solidFill>
            <a:prstDash val="solid"/>
          </a:ln>
        </p:spPr>
        <p:txBody>
          <a:bodyPr/>
          <a:lstStyle/>
          <a:p>
            <a:endParaRPr lang="en-IN"/>
          </a:p>
        </p:txBody>
      </p:sp>
      <p:sp>
        <p:nvSpPr>
          <p:cNvPr id="21" name="Text 19"/>
          <p:cNvSpPr txBox="1"/>
          <p:nvPr/>
        </p:nvSpPr>
        <p:spPr>
          <a:xfrm>
            <a:off x="4319016"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5 · Graph Storage (JSON)</a:t>
            </a:r>
            <a:endParaRPr lang="en-US" sz="900" dirty="0"/>
          </a:p>
        </p:txBody>
      </p:sp>
      <p:sp>
        <p:nvSpPr>
          <p:cNvPr id="22" name="Shape 20"/>
          <p:cNvSpPr/>
          <p:nvPr/>
        </p:nvSpPr>
        <p:spPr>
          <a:xfrm>
            <a:off x="4337304" y="1463040"/>
            <a:ext cx="3514344" cy="3700811"/>
          </a:xfrm>
          <a:prstGeom prst="roundRect">
            <a:avLst>
              <a:gd name="adj" fmla="val 1041"/>
            </a:avLst>
          </a:prstGeom>
          <a:solidFill>
            <a:srgbClr val="FFFFFF"/>
          </a:solidFill>
          <a:ln w="9525">
            <a:solidFill>
              <a:srgbClr val="DCE4EE"/>
            </a:solidFill>
            <a:prstDash val="solid"/>
          </a:ln>
        </p:spPr>
        <p:txBody>
          <a:bodyPr/>
          <a:lstStyle/>
          <a:p>
            <a:endParaRPr lang="en-IN"/>
          </a:p>
        </p:txBody>
      </p:sp>
      <p:sp>
        <p:nvSpPr>
          <p:cNvPr id="23" name="Text 21"/>
          <p:cNvSpPr txBox="1"/>
          <p:nvPr/>
        </p:nvSpPr>
        <p:spPr>
          <a:xfrm>
            <a:off x="4392168" y="1517904"/>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network-services-context.json</a:t>
            </a:r>
            <a:endParaRPr lang="en-US" sz="800" dirty="0"/>
          </a:p>
        </p:txBody>
      </p:sp>
      <p:sp>
        <p:nvSpPr>
          <p:cNvPr id="24" name="Text 22"/>
          <p:cNvSpPr txBox="1"/>
          <p:nvPr/>
        </p:nvSpPr>
        <p:spPr>
          <a:xfrm>
            <a:off x="4392168" y="1709928"/>
            <a:ext cx="3404616" cy="3399059"/>
          </a:xfrm>
          <a:prstGeom prst="rect">
            <a:avLst/>
          </a:prstGeom>
          <a:noFill/>
          <a:ln/>
        </p:spPr>
        <p:txBody>
          <a:bodyPr wrap="square" lIns="0" tIns="0" rIns="0" bIns="0" rtlCol="0" anchor="t"/>
          <a:lstStyle/>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"version": "1.0",</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"applicationName": "NETWORK_SERVICES",</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"snapshotId": "b7f1c2e4-...",</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"exportedAt": "2026-09-09T14:30:00Z",</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"nodes":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"id": "sobj:HealthcareFacility__c",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"type": "SOBJECT",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"name": "Healthcare Facility",</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"properties":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"fieldCount": 148, "automationCount": 12,</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"testCoverage": 81, "riskTier": "HIGH"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"sourceReferences":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"sourceType": "SALESFORCE_METADATA",</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"artifactId": "01I5f000000XyZa",</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"artifactPath": "objects/...object-meta.xml",</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"artifactHash": "sha256:9f2b...c41d",</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"retrievedAt": "2026-09-09T14:28:11Z"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"provenance": { "createdBy": "ai-read-service",</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"derivationMethod": "AUTOMATED"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"relationships":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"id": "rel:flow-HFN_Gen-&gt;sobj-HFN__c",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"type": "FLOW_UPDATES_SOBJECT",</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"fromNodeId": "flow:HFN_Generation",</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"toNodeId": "sobj:HFN__c",</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"origin": "FACTUAL", "status": "APPROVED",</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"confidence": 1.0,</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"sourceReferences": [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    "metadata": { "operation": "UPDATE" } }]</a:t>
            </a:r>
            <a:endParaRPr lang="en-US" sz="600" dirty="0"/>
          </a:p>
          <a:p>
            <a:pPr marL="0" indent="0">
              <a:lnSpc>
                <a:spcPct val="94000"/>
              </a:lnSpc>
              <a:spcAft>
                <a:spcPts val="100"/>
              </a:spcAft>
              <a:buNone/>
            </a:pPr>
            <a:r>
              <a:rPr lang="en-US" sz="600" dirty="0">
                <a:solidFill>
                  <a:srgbClr val="12233B"/>
                </a:solidFill>
                <a:latin typeface="Courier New" pitchFamily="34" charset="0"/>
                <a:ea typeface="Courier New" pitchFamily="34" charset="-122"/>
                <a:cs typeface="Courier New" pitchFamily="34" charset="-120"/>
              </a:rPr>
              <a:t>}</a:t>
            </a:r>
            <a:endParaRPr lang="en-US" sz="600" dirty="0"/>
          </a:p>
        </p:txBody>
      </p:sp>
      <p:sp>
        <p:nvSpPr>
          <p:cNvPr id="25" name="Shape 23"/>
          <p:cNvSpPr/>
          <p:nvPr/>
        </p:nvSpPr>
        <p:spPr>
          <a:xfrm>
            <a:off x="4337304" y="5255291"/>
            <a:ext cx="3514344" cy="1154653"/>
          </a:xfrm>
          <a:prstGeom prst="roundRect">
            <a:avLst>
              <a:gd name="adj" fmla="val 3168"/>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4392168" y="5310155"/>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Storage rules</a:t>
            </a:r>
            <a:endParaRPr lang="en-US" sz="800" dirty="0"/>
          </a:p>
        </p:txBody>
      </p:sp>
      <p:sp>
        <p:nvSpPr>
          <p:cNvPr id="27" name="Text 25"/>
          <p:cNvSpPr txBox="1"/>
          <p:nvPr/>
        </p:nvSpPr>
        <p:spPr>
          <a:xfrm>
            <a:off x="4392168" y="5502179"/>
            <a:ext cx="3404616" cy="852901"/>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Read-optimized snapshot, rebuilt on each sync, never written back to a source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Versioned per snapshotId; prior snapshots retained for diffing</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SHA-256 change detection: unchanged artifacts are skipped, not re-parsed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Metadata and sanitized test data only, no production provider records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Encrypted at rest; readable only by the AI Read Service and Orchestrator</a:t>
            </a:r>
            <a:endParaRPr lang="en-US" sz="700" dirty="0"/>
          </a:p>
        </p:txBody>
      </p:sp>
      <p:sp>
        <p:nvSpPr>
          <p:cNvPr id="28" name="Shape 26"/>
          <p:cNvSpPr/>
          <p:nvPr/>
        </p:nvSpPr>
        <p:spPr>
          <a:xfrm>
            <a:off x="8162544" y="1024128"/>
            <a:ext cx="3660648" cy="5440680"/>
          </a:xfrm>
          <a:prstGeom prst="roundRect">
            <a:avLst>
              <a:gd name="adj" fmla="val 1249"/>
            </a:avLst>
          </a:prstGeom>
          <a:solidFill>
            <a:srgbClr val="FBEAEA"/>
          </a:solidFill>
          <a:ln w="9525">
            <a:solidFill>
              <a:srgbClr val="DCE4EE"/>
            </a:solidFill>
            <a:prstDash val="solid"/>
          </a:ln>
        </p:spPr>
        <p:txBody>
          <a:bodyPr/>
          <a:lstStyle/>
          <a:p>
            <a:endParaRPr lang="en-IN"/>
          </a:p>
        </p:txBody>
      </p:sp>
      <p:sp>
        <p:nvSpPr>
          <p:cNvPr id="29" name="Shape 27"/>
          <p:cNvSpPr/>
          <p:nvPr/>
        </p:nvSpPr>
        <p:spPr>
          <a:xfrm>
            <a:off x="8162544" y="1024128"/>
            <a:ext cx="3660648" cy="365760"/>
          </a:xfrm>
          <a:prstGeom prst="roundRect">
            <a:avLst>
              <a:gd name="adj" fmla="val 12500"/>
            </a:avLst>
          </a:prstGeom>
          <a:solidFill>
            <a:srgbClr val="C62828"/>
          </a:solidFill>
          <a:ln w="12700">
            <a:solidFill>
              <a:srgbClr val="C62828"/>
            </a:solidFill>
            <a:prstDash val="solid"/>
          </a:ln>
        </p:spPr>
        <p:txBody>
          <a:bodyPr/>
          <a:lstStyle/>
          <a:p>
            <a:endParaRPr lang="en-IN"/>
          </a:p>
        </p:txBody>
      </p:sp>
      <p:sp>
        <p:nvSpPr>
          <p:cNvPr id="30" name="Text 28"/>
          <p:cNvSpPr txBox="1"/>
          <p:nvPr/>
        </p:nvSpPr>
        <p:spPr>
          <a:xfrm>
            <a:off x="8217408"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6 · Graph Exporter</a:t>
            </a:r>
            <a:endParaRPr lang="en-US" sz="900" dirty="0"/>
          </a:p>
        </p:txBody>
      </p:sp>
      <p:sp>
        <p:nvSpPr>
          <p:cNvPr id="31" name="Shape 29"/>
          <p:cNvSpPr/>
          <p:nvPr/>
        </p:nvSpPr>
        <p:spPr>
          <a:xfrm>
            <a:off x="8235696" y="1463040"/>
            <a:ext cx="3514344" cy="1651528"/>
          </a:xfrm>
          <a:prstGeom prst="roundRect">
            <a:avLst>
              <a:gd name="adj" fmla="val 2215"/>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8290560" y="1517904"/>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Node types</a:t>
            </a:r>
            <a:endParaRPr lang="en-US" sz="800" dirty="0"/>
          </a:p>
        </p:txBody>
      </p:sp>
      <p:sp>
        <p:nvSpPr>
          <p:cNvPr id="33" name="Text 31"/>
          <p:cNvSpPr txBox="1"/>
          <p:nvPr/>
        </p:nvSpPr>
        <p:spPr>
          <a:xfrm>
            <a:off x="8290560" y="1709928"/>
            <a:ext cx="3404616" cy="134977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APPLICATION · BUSINESS_CAPABILITY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 (Jira)</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DESIGN_DOCUMENT · DOCUMENT_SECTION (Confluence)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BUSINESS_RULE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 · FIELD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 · APEX_CLASS · APEX_TRIGGER</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VALIDATION_RULE · LWC_COMPONENT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TEST_CASE · REPOSITORY · COMPONENT_FILE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 · ENVIRONMENT · INTEGRATION_EVENT</a:t>
            </a:r>
            <a:endParaRPr lang="en-US" sz="700" dirty="0"/>
          </a:p>
        </p:txBody>
      </p:sp>
      <p:sp>
        <p:nvSpPr>
          <p:cNvPr id="34" name="Shape 32"/>
          <p:cNvSpPr/>
          <p:nvPr/>
        </p:nvSpPr>
        <p:spPr>
          <a:xfrm>
            <a:off x="8235696" y="3206008"/>
            <a:ext cx="3514344" cy="2032650"/>
          </a:xfrm>
          <a:prstGeom prst="roundRect">
            <a:avLst>
              <a:gd name="adj" fmla="val 1799"/>
            </a:avLst>
          </a:prstGeom>
          <a:solidFill>
            <a:srgbClr val="FFFFFF"/>
          </a:solidFill>
          <a:ln w="9525">
            <a:solidFill>
              <a:srgbClr val="DCE4EE"/>
            </a:solidFill>
            <a:prstDash val="solid"/>
          </a:ln>
        </p:spPr>
        <p:txBody>
          <a:bodyPr/>
          <a:lstStyle/>
          <a:p>
            <a:endParaRPr lang="en-IN"/>
          </a:p>
        </p:txBody>
      </p:sp>
      <p:sp>
        <p:nvSpPr>
          <p:cNvPr id="35" name="Text 33"/>
          <p:cNvSpPr txBox="1"/>
          <p:nvPr/>
        </p:nvSpPr>
        <p:spPr>
          <a:xfrm>
            <a:off x="8290560" y="3260872"/>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Relationship types</a:t>
            </a:r>
            <a:endParaRPr lang="en-US" sz="800" dirty="0"/>
          </a:p>
        </p:txBody>
      </p:sp>
      <p:sp>
        <p:nvSpPr>
          <p:cNvPr id="36" name="Text 34"/>
          <p:cNvSpPr txBox="1"/>
          <p:nvPr/>
        </p:nvSpPr>
        <p:spPr>
          <a:xfrm>
            <a:off x="8290560" y="3452896"/>
            <a:ext cx="3404616" cy="1730898"/>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REQUIREMENT_TARGETS_CAPABILITY</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REQUIREMENT_SPECIFIED_BY_DOCUMENT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DOCUMENT_HAS_SECTION · SECTION_DEFINES_RULE</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RULE_CONSTRAINS_SOBJECT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SOBJECT_HAS_FIELD · SOBJECT_RELATES_TO_SOBJECT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FLOW_UPDATES_SOBJECT · APEX_REFERENCES_SOBJECT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TRIGGER_FIRES_ON_SOBJECT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COMPONENT_DEPENDS_ON_COMPONENT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TEST_COVERS_COMPONENT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REQUIREMENT_IMPLEMENTED_BY_COMPONENT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RELEASE_DEPLOYS_COMPONENT</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COMPONENT_PUBLISHES_EVENT (→ APDH)</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REQUIREMENT_REUSES_COMPONENT (inferred)</a:t>
            </a:r>
            <a:endParaRPr lang="en-US" sz="700" dirty="0"/>
          </a:p>
        </p:txBody>
      </p:sp>
      <p:sp>
        <p:nvSpPr>
          <p:cNvPr id="37" name="Shape 35"/>
          <p:cNvSpPr/>
          <p:nvPr/>
        </p:nvSpPr>
        <p:spPr>
          <a:xfrm>
            <a:off x="8235696" y="5330099"/>
            <a:ext cx="3514344" cy="1079845"/>
          </a:xfrm>
          <a:prstGeom prst="roundRect">
            <a:avLst>
              <a:gd name="adj" fmla="val 3387"/>
            </a:avLst>
          </a:prstGeom>
          <a:solidFill>
            <a:srgbClr val="FFFFFF"/>
          </a:solidFill>
          <a:ln w="9525">
            <a:solidFill>
              <a:srgbClr val="DCE4EE"/>
            </a:solidFill>
            <a:prstDash val="solid"/>
          </a:ln>
        </p:spPr>
        <p:txBody>
          <a:bodyPr/>
          <a:lstStyle/>
          <a:p>
            <a:endParaRPr lang="en-IN"/>
          </a:p>
        </p:txBody>
      </p:sp>
      <p:sp>
        <p:nvSpPr>
          <p:cNvPr id="38" name="Text 36"/>
          <p:cNvSpPr txBox="1"/>
          <p:nvPr/>
        </p:nvSpPr>
        <p:spPr>
          <a:xfrm>
            <a:off x="8290560" y="5384963"/>
            <a:ext cx="3404616" cy="182880"/>
          </a:xfrm>
          <a:prstGeom prst="rect">
            <a:avLst/>
          </a:prstGeom>
          <a:noFill/>
          <a:ln/>
        </p:spPr>
        <p:txBody>
          <a:bodyPr wrap="square" lIns="0" tIns="0" rIns="0" bIns="0" rtlCol="0" anchor="t"/>
          <a:lstStyle/>
          <a:p>
            <a:pPr marL="0" indent="0">
              <a:buNone/>
            </a:pPr>
            <a:r>
              <a:rPr lang="en-US" sz="800" b="0" dirty="0">
                <a:solidFill>
                  <a:srgbClr val="C62828"/>
                </a:solidFill>
                <a:latin typeface="Trenda IG Text Semibold" pitchFamily="34" charset="0"/>
                <a:ea typeface="Trenda IG Text Semibold" pitchFamily="34" charset="-122"/>
                <a:cs typeface="Trenda IG Text Semibold" pitchFamily="34" charset="-120"/>
              </a:rPr>
              <a:t>Properties preserved</a:t>
            </a:r>
            <a:endParaRPr lang="en-US" sz="800" dirty="0"/>
          </a:p>
        </p:txBody>
      </p:sp>
      <p:sp>
        <p:nvSpPr>
          <p:cNvPr id="39" name="Text 37"/>
          <p:cNvSpPr txBox="1"/>
          <p:nvPr/>
        </p:nvSpPr>
        <p:spPr>
          <a:xfrm>
            <a:off x="8290560" y="5576987"/>
            <a:ext cx="3404616" cy="7780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All metadata from the domain contexts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Provenance: createdBy, createdAt, derivationMethod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Source references with exact locations</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Confidence: 1.0 factual, &lt; 1.0 inferred</a:t>
            </a:r>
            <a:endParaRPr lang="en-US" sz="700" dirty="0"/>
          </a:p>
          <a:p>
            <a:pPr marL="127000" indent="-127000">
              <a:lnSpc>
                <a:spcPct val="94000"/>
              </a:lnSpc>
              <a:spcAft>
                <a:spcPts val="100"/>
              </a:spcAft>
              <a:buSzPct val="100000"/>
              <a:buChar char="•"/>
            </a:pPr>
            <a:r>
              <a:rPr lang="en-US" sz="700" dirty="0">
                <a:solidFill>
                  <a:srgbClr val="12233B"/>
                </a:solidFill>
                <a:latin typeface="Trenda IG Text" pitchFamily="34" charset="0"/>
                <a:ea typeface="Trenda IG Text" pitchFamily="34" charset="-122"/>
                <a:cs typeface="Trenda IG Text" pitchFamily="34" charset="-120"/>
              </a:rPr>
              <a:t>Risk tier on components and integrations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Layers 7–8 · Graph engine and Codex orchestration</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How the graph is held and queried, and the tool and output contract Codex operates under.</a:t>
            </a:r>
            <a:endParaRPr lang="en-US" sz="950" dirty="0"/>
          </a:p>
        </p:txBody>
      </p:sp>
      <p:sp>
        <p:nvSpPr>
          <p:cNvPr id="4" name="Shape 2"/>
          <p:cNvSpPr/>
          <p:nvPr/>
        </p:nvSpPr>
        <p:spPr>
          <a:xfrm>
            <a:off x="365760" y="1024128"/>
            <a:ext cx="5609844" cy="5440680"/>
          </a:xfrm>
          <a:prstGeom prst="roundRect">
            <a:avLst>
              <a:gd name="adj" fmla="val 840"/>
            </a:avLst>
          </a:prstGeom>
          <a:solidFill>
            <a:srgbClr val="E9F3EA"/>
          </a:solidFill>
          <a:ln w="9525">
            <a:solidFill>
              <a:srgbClr val="DCE4EE"/>
            </a:solidFill>
            <a:prstDash val="solid"/>
          </a:ln>
        </p:spPr>
        <p:txBody>
          <a:bodyPr/>
          <a:lstStyle/>
          <a:p>
            <a:endParaRPr lang="en-IN"/>
          </a:p>
        </p:txBody>
      </p:sp>
      <p:sp>
        <p:nvSpPr>
          <p:cNvPr id="5" name="Shape 3"/>
          <p:cNvSpPr/>
          <p:nvPr/>
        </p:nvSpPr>
        <p:spPr>
          <a:xfrm>
            <a:off x="365760" y="1024128"/>
            <a:ext cx="5609844" cy="365760"/>
          </a:xfrm>
          <a:prstGeom prst="roundRect">
            <a:avLst>
              <a:gd name="adj" fmla="val 12500"/>
            </a:avLst>
          </a:prstGeom>
          <a:solidFill>
            <a:srgbClr val="2E7D32"/>
          </a:solidFill>
          <a:ln w="12700">
            <a:solidFill>
              <a:srgbClr val="2E7D32"/>
            </a:solidFill>
            <a:prstDash val="solid"/>
          </a:ln>
        </p:spPr>
        <p:txBody>
          <a:bodyPr/>
          <a:lstStyle/>
          <a:p>
            <a:endParaRPr lang="en-IN"/>
          </a:p>
        </p:txBody>
      </p:sp>
      <p:sp>
        <p:nvSpPr>
          <p:cNvPr id="6" name="Text 4"/>
          <p:cNvSpPr txBox="1"/>
          <p:nvPr/>
        </p:nvSpPr>
        <p:spPr>
          <a:xfrm>
            <a:off x="420624" y="1024128"/>
            <a:ext cx="5500116"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7 · Semantica ContextGraph</a:t>
            </a:r>
            <a:endParaRPr lang="en-US" sz="900" dirty="0"/>
          </a:p>
        </p:txBody>
      </p:sp>
      <p:sp>
        <p:nvSpPr>
          <p:cNvPr id="7" name="Shape 5"/>
          <p:cNvSpPr/>
          <p:nvPr/>
        </p:nvSpPr>
        <p:spPr>
          <a:xfrm>
            <a:off x="438912" y="1463040"/>
            <a:ext cx="5463540" cy="1038352"/>
          </a:xfrm>
          <a:prstGeom prst="roundRect">
            <a:avLst>
              <a:gd name="adj" fmla="val 3523"/>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Graph data structure</a:t>
            </a:r>
            <a:endParaRPr lang="en-US" sz="800" dirty="0"/>
          </a:p>
        </p:txBody>
      </p:sp>
      <p:sp>
        <p:nvSpPr>
          <p:cNvPr id="9" name="Text 7"/>
          <p:cNvSpPr txBox="1"/>
          <p:nvPr/>
        </p:nvSpPr>
        <p:spPr>
          <a:xfrm>
            <a:off x="493776" y="1709928"/>
            <a:ext cx="5353812" cy="736600"/>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In-memory directed property graph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Nodes with types and properties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Edges with types, weights, metadata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Adjacency indexes per edge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O(1) node access; type indexes</a:t>
            </a:r>
            <a:endParaRPr lang="en-US" sz="750" dirty="0"/>
          </a:p>
        </p:txBody>
      </p:sp>
      <p:sp>
        <p:nvSpPr>
          <p:cNvPr id="10" name="Shape 8"/>
          <p:cNvSpPr/>
          <p:nvPr/>
        </p:nvSpPr>
        <p:spPr>
          <a:xfrm>
            <a:off x="438912" y="2592832"/>
            <a:ext cx="5463540" cy="986434"/>
          </a:xfrm>
          <a:prstGeom prst="roundRect">
            <a:avLst>
              <a:gd name="adj" fmla="val 3708"/>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647696"/>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Graph operations</a:t>
            </a:r>
            <a:endParaRPr lang="en-US" sz="800" dirty="0"/>
          </a:p>
        </p:txBody>
      </p:sp>
      <p:sp>
        <p:nvSpPr>
          <p:cNvPr id="12" name="Text 10"/>
          <p:cNvSpPr txBox="1"/>
          <p:nvPr/>
        </p:nvSpPr>
        <p:spPr>
          <a:xfrm>
            <a:off x="493776" y="2839720"/>
            <a:ext cx="5353812" cy="68468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add_node(id, type, **properties)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add_edge(src, tgt, type, weight, ...)</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find_node(node_id) · has_node(node_id)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find_nodes(node_type=...)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find_edges(edge_type=...)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retract (temporal removal)</a:t>
            </a:r>
            <a:endParaRPr lang="en-US" sz="750" dirty="0"/>
          </a:p>
        </p:txBody>
      </p:sp>
      <p:sp>
        <p:nvSpPr>
          <p:cNvPr id="13" name="Shape 11"/>
          <p:cNvSpPr/>
          <p:nvPr/>
        </p:nvSpPr>
        <p:spPr>
          <a:xfrm>
            <a:off x="438912" y="3670706"/>
            <a:ext cx="5463540" cy="1297940"/>
          </a:xfrm>
          <a:prstGeom prst="roundRect">
            <a:avLst>
              <a:gd name="adj" fmla="val 2818"/>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725570"/>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Delivery-specific analysis</a:t>
            </a:r>
            <a:endParaRPr lang="en-US" sz="800" dirty="0"/>
          </a:p>
        </p:txBody>
      </p:sp>
      <p:sp>
        <p:nvSpPr>
          <p:cNvPr id="15" name="Text 13"/>
          <p:cNvSpPr txBox="1"/>
          <p:nvPr/>
        </p:nvSpPr>
        <p:spPr>
          <a:xfrm>
            <a:off x="493776" y="3917594"/>
            <a:ext cx="5353812" cy="996188"/>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blast_radius(node_id, max_hops): everything reachable from a change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reuse_candidates(capability_id): automation that already implements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risk_tier(component_ids) → LOW | MEDIUM | HIGH | CRITICAL</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downstream_events(component_id): APDH publishing impact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coverage_gap(component_id): components with no covering test</a:t>
            </a:r>
            <a:endParaRPr lang="en-US" sz="750" dirty="0"/>
          </a:p>
        </p:txBody>
      </p:sp>
      <p:sp>
        <p:nvSpPr>
          <p:cNvPr id="16" name="Shape 14"/>
          <p:cNvSpPr/>
          <p:nvPr/>
        </p:nvSpPr>
        <p:spPr>
          <a:xfrm>
            <a:off x="438912" y="5060086"/>
            <a:ext cx="5463540" cy="1349858"/>
          </a:xfrm>
          <a:prstGeom prst="roundRect">
            <a:avLst>
              <a:gd name="adj" fmla="val 2710"/>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5114950"/>
            <a:ext cx="5353812" cy="182880"/>
          </a:xfrm>
          <a:prstGeom prst="rect">
            <a:avLst/>
          </a:prstGeom>
          <a:noFill/>
          <a:ln/>
        </p:spPr>
        <p:txBody>
          <a:bodyPr wrap="square" lIns="0" tIns="0" rIns="0" bIns="0" rtlCol="0" anchor="t"/>
          <a:lstStyle/>
          <a:p>
            <a:pPr marL="0" indent="0">
              <a:buNone/>
            </a:pPr>
            <a:r>
              <a:rPr lang="en-US" sz="800" b="0" dirty="0">
                <a:solidFill>
                  <a:srgbClr val="2E7D32"/>
                </a:solidFill>
                <a:latin typeface="Trenda IG Text Semibold" pitchFamily="34" charset="0"/>
                <a:ea typeface="Trenda IG Text Semibold" pitchFamily="34" charset="-122"/>
                <a:cs typeface="Trenda IG Text Semibold" pitchFamily="34" charset="-120"/>
              </a:rPr>
              <a:t>Analytics · persistence · provenance</a:t>
            </a:r>
            <a:endParaRPr lang="en-US" sz="800" dirty="0"/>
          </a:p>
        </p:txBody>
      </p:sp>
      <p:sp>
        <p:nvSpPr>
          <p:cNvPr id="18" name="Text 16"/>
          <p:cNvSpPr txBox="1"/>
          <p:nvPr/>
        </p:nvSpPr>
        <p:spPr>
          <a:xfrm>
            <a:off x="493776" y="5306974"/>
            <a:ext cx="5353812" cy="10481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stats(): node / edge counts, type distributions, density, components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save_to_file(path) / load_from_file(path); snapshot diffing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Query time &lt; 0.01s · ~1 MB typical · scales to 1M+ nodes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ProvenanceManager: track_entity, track_relationship,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get_lineage(entity_id), trace_source(entity_id)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Bi-directional provenance chains</a:t>
            </a:r>
            <a:endParaRPr lang="en-US" sz="750" dirty="0"/>
          </a:p>
        </p:txBody>
      </p:sp>
      <p:sp>
        <p:nvSpPr>
          <p:cNvPr id="19" name="Shape 17"/>
          <p:cNvSpPr/>
          <p:nvPr/>
        </p:nvSpPr>
        <p:spPr>
          <a:xfrm>
            <a:off x="6213348" y="1024128"/>
            <a:ext cx="5609844" cy="5440680"/>
          </a:xfrm>
          <a:prstGeom prst="roundRect">
            <a:avLst>
              <a:gd name="adj" fmla="val 840"/>
            </a:avLst>
          </a:prstGeom>
          <a:solidFill>
            <a:srgbClr val="E3F2F4"/>
          </a:solidFill>
          <a:ln w="9525">
            <a:solidFill>
              <a:srgbClr val="DCE4EE"/>
            </a:solidFill>
            <a:prstDash val="solid"/>
          </a:ln>
        </p:spPr>
        <p:txBody>
          <a:bodyPr/>
          <a:lstStyle/>
          <a:p>
            <a:endParaRPr lang="en-IN"/>
          </a:p>
        </p:txBody>
      </p:sp>
      <p:sp>
        <p:nvSpPr>
          <p:cNvPr id="20" name="Shape 18"/>
          <p:cNvSpPr/>
          <p:nvPr/>
        </p:nvSpPr>
        <p:spPr>
          <a:xfrm>
            <a:off x="6213348" y="1024128"/>
            <a:ext cx="5609844"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21" name="Text 19"/>
          <p:cNvSpPr txBox="1"/>
          <p:nvPr/>
        </p:nvSpPr>
        <p:spPr>
          <a:xfrm>
            <a:off x="6268212" y="1024128"/>
            <a:ext cx="5500116"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Layer 8 · Adapter API + Codex</a:t>
            </a:r>
            <a:endParaRPr lang="en-US" sz="900" dirty="0"/>
          </a:p>
        </p:txBody>
      </p:sp>
      <p:sp>
        <p:nvSpPr>
          <p:cNvPr id="22" name="Shape 20"/>
          <p:cNvSpPr/>
          <p:nvPr/>
        </p:nvSpPr>
        <p:spPr>
          <a:xfrm>
            <a:off x="6286500" y="1463040"/>
            <a:ext cx="5463540" cy="1249645"/>
          </a:xfrm>
          <a:prstGeom prst="roundRect">
            <a:avLst>
              <a:gd name="adj" fmla="val 2927"/>
            </a:avLst>
          </a:prstGeom>
          <a:solidFill>
            <a:srgbClr val="FFFFFF"/>
          </a:solidFill>
          <a:ln w="9525">
            <a:solidFill>
              <a:srgbClr val="DCE4EE"/>
            </a:solidFill>
            <a:prstDash val="solid"/>
          </a:ln>
        </p:spPr>
        <p:txBody>
          <a:bodyPr/>
          <a:lstStyle/>
          <a:p>
            <a:endParaRPr lang="en-IN"/>
          </a:p>
        </p:txBody>
      </p:sp>
      <p:sp>
        <p:nvSpPr>
          <p:cNvPr id="23" name="Text 21"/>
          <p:cNvSpPr txBox="1"/>
          <p:nvPr/>
        </p:nvSpPr>
        <p:spPr>
          <a:xfrm>
            <a:off x="6341364" y="1517904"/>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Core query methods</a:t>
            </a:r>
            <a:endParaRPr lang="en-US" sz="800" dirty="0"/>
          </a:p>
        </p:txBody>
      </p:sp>
      <p:sp>
        <p:nvSpPr>
          <p:cNvPr id="24" name="Text 22"/>
          <p:cNvSpPr txBox="1"/>
          <p:nvPr/>
        </p:nvSpPr>
        <p:spPr>
          <a:xfrm>
            <a:off x="6341364" y="1709928"/>
            <a:ext cx="5353812" cy="9478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load_from_json(path) → stats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get_node(node_id) → Node | None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get_nodes_by_type(type) → List[Node]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get_outgoing_edges(node_id,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get_incoming_edges(node_id, type?)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get_neighbors(node_id, max_hops, dir)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find_path(from_id, to_id, max_hops)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get_graph_stats() → Dict</a:t>
            </a:r>
            <a:endParaRPr lang="en-US" sz="750" dirty="0"/>
          </a:p>
        </p:txBody>
      </p:sp>
      <p:sp>
        <p:nvSpPr>
          <p:cNvPr id="25" name="Shape 23"/>
          <p:cNvSpPr/>
          <p:nvPr/>
        </p:nvSpPr>
        <p:spPr>
          <a:xfrm>
            <a:off x="6286500" y="2804125"/>
            <a:ext cx="5463540" cy="1086647"/>
          </a:xfrm>
          <a:prstGeom prst="roundRect">
            <a:avLst>
              <a:gd name="adj" fmla="val 3366"/>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6341364" y="2858989"/>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Delivery intelligence methods</a:t>
            </a:r>
            <a:endParaRPr lang="en-US" sz="800" dirty="0"/>
          </a:p>
        </p:txBody>
      </p:sp>
      <p:sp>
        <p:nvSpPr>
          <p:cNvPr id="27" name="Text 25"/>
          <p:cNvSpPr txBox="1"/>
          <p:nvPr/>
        </p:nvSpPr>
        <p:spPr>
          <a:xfrm>
            <a:off x="6341364" y="3051013"/>
            <a:ext cx="5353812" cy="78489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analyze_impact(requirement_id) → ImpactReport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find_reuse(capability_id) → List[Component]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classify_risk(component_ids) → RiskTier + approver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trace_downstream_events(component_id)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coverage_report(component_ids)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build_context_slice(requirement_id)</a:t>
            </a:r>
            <a:endParaRPr lang="en-US" sz="750" dirty="0"/>
          </a:p>
        </p:txBody>
      </p:sp>
      <p:sp>
        <p:nvSpPr>
          <p:cNvPr id="28" name="Shape 26"/>
          <p:cNvSpPr/>
          <p:nvPr/>
        </p:nvSpPr>
        <p:spPr>
          <a:xfrm>
            <a:off x="6286500" y="3982212"/>
            <a:ext cx="5463540" cy="1086647"/>
          </a:xfrm>
          <a:prstGeom prst="roundRect">
            <a:avLst>
              <a:gd name="adj" fmla="val 3366"/>
            </a:avLst>
          </a:prstGeom>
          <a:solidFill>
            <a:srgbClr val="FFFFFF"/>
          </a:solidFill>
          <a:ln w="9525">
            <a:solidFill>
              <a:srgbClr val="DCE4EE"/>
            </a:solidFill>
            <a:prstDash val="solid"/>
          </a:ln>
        </p:spPr>
        <p:txBody>
          <a:bodyPr/>
          <a:lstStyle/>
          <a:p>
            <a:endParaRPr lang="en-IN"/>
          </a:p>
        </p:txBody>
      </p:sp>
      <p:sp>
        <p:nvSpPr>
          <p:cNvPr id="29" name="Text 27"/>
          <p:cNvSpPr txBox="1"/>
          <p:nvPr/>
        </p:nvSpPr>
        <p:spPr>
          <a:xfrm>
            <a:off x="6341364" y="4037076"/>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Codex tool surface</a:t>
            </a:r>
            <a:endParaRPr lang="en-US" sz="800" dirty="0"/>
          </a:p>
        </p:txBody>
      </p:sp>
      <p:sp>
        <p:nvSpPr>
          <p:cNvPr id="30" name="Text 28"/>
          <p:cNvSpPr txBox="1"/>
          <p:nvPr/>
        </p:nvSpPr>
        <p:spPr>
          <a:xfrm>
            <a:off x="6341364" y="4229100"/>
            <a:ext cx="5353812" cy="78489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graph.query · graph.impact · graph.reuse · graph.provenance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git.read_file: exact source of a class, flow or test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sf.describe: object / field / dependency detail on demand</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jira.read · copado.status</a:t>
            </a:r>
            <a:endParaRPr lang="en-US" sz="750" dirty="0"/>
          </a:p>
        </p:txBody>
      </p:sp>
      <p:sp>
        <p:nvSpPr>
          <p:cNvPr id="31" name="Shape 29"/>
          <p:cNvSpPr/>
          <p:nvPr/>
        </p:nvSpPr>
        <p:spPr>
          <a:xfrm>
            <a:off x="6286500" y="5160299"/>
            <a:ext cx="5463540" cy="1249645"/>
          </a:xfrm>
          <a:prstGeom prst="roundRect">
            <a:avLst>
              <a:gd name="adj" fmla="val 2927"/>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6341364" y="5215163"/>
            <a:ext cx="5353812"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Prompting &amp; output contract</a:t>
            </a:r>
            <a:endParaRPr lang="en-US" sz="800" dirty="0"/>
          </a:p>
        </p:txBody>
      </p:sp>
      <p:sp>
        <p:nvSpPr>
          <p:cNvPr id="33" name="Text 31"/>
          <p:cNvSpPr txBox="1"/>
          <p:nvPr/>
        </p:nvSpPr>
        <p:spPr>
          <a:xfrm>
            <a:off x="6341364" y="5407187"/>
            <a:ext cx="5353812" cy="947893"/>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Context is a bounded graph slice, not a raw org dump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Dependencies come from the graph; the model may not invent one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Every claim cites a node id or source reference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Write path: AI Development Service, DEV + branch, post-approval</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365760" y="274320"/>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Where it runs · Google Cloud</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The knowledge graph deploys into the client's existing Google Cloud estate, alongside the Pub/Sub pipeline that already feeds APDH.</a:t>
            </a:r>
            <a:endParaRPr lang="en-US" sz="950" dirty="0"/>
          </a:p>
        </p:txBody>
      </p:sp>
      <p:sp>
        <p:nvSpPr>
          <p:cNvPr id="4" name="Shape 2"/>
          <p:cNvSpPr/>
          <p:nvPr/>
        </p:nvSpPr>
        <p:spPr>
          <a:xfrm>
            <a:off x="365760" y="1024128"/>
            <a:ext cx="3660648" cy="5440680"/>
          </a:xfrm>
          <a:prstGeom prst="roundRect">
            <a:avLst>
              <a:gd name="adj" fmla="val 1249"/>
            </a:avLst>
          </a:prstGeom>
          <a:solidFill>
            <a:srgbClr val="E3F2F4"/>
          </a:solidFill>
          <a:ln w="9525">
            <a:solidFill>
              <a:srgbClr val="DCE4EE"/>
            </a:solidFill>
            <a:prstDash val="solid"/>
          </a:ln>
        </p:spPr>
        <p:txBody>
          <a:bodyPr/>
          <a:lstStyle/>
          <a:p>
            <a:endParaRPr lang="en-IN"/>
          </a:p>
        </p:txBody>
      </p:sp>
      <p:sp>
        <p:nvSpPr>
          <p:cNvPr id="5" name="Shape 3"/>
          <p:cNvSpPr/>
          <p:nvPr/>
        </p:nvSpPr>
        <p:spPr>
          <a:xfrm>
            <a:off x="365760" y="1024128"/>
            <a:ext cx="3660648"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6" name="Text 4"/>
          <p:cNvSpPr txBox="1"/>
          <p:nvPr/>
        </p:nvSpPr>
        <p:spPr>
          <a:xfrm>
            <a:off x="420624"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How it deploys on Google Cloud</a:t>
            </a:r>
            <a:endParaRPr lang="en-US" sz="900" dirty="0"/>
          </a:p>
        </p:txBody>
      </p:sp>
      <p:sp>
        <p:nvSpPr>
          <p:cNvPr id="7" name="Shape 5"/>
          <p:cNvSpPr/>
          <p:nvPr/>
        </p:nvSpPr>
        <p:spPr>
          <a:xfrm>
            <a:off x="438912" y="1463040"/>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8" name="Text 6"/>
          <p:cNvSpPr txBox="1"/>
          <p:nvPr/>
        </p:nvSpPr>
        <p:spPr>
          <a:xfrm>
            <a:off x="493776" y="1517904"/>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Ingestion</a:t>
            </a:r>
            <a:endParaRPr lang="en-US" sz="800" dirty="0"/>
          </a:p>
        </p:txBody>
      </p:sp>
      <p:sp>
        <p:nvSpPr>
          <p:cNvPr id="9" name="Text 7"/>
          <p:cNvSpPr txBox="1"/>
          <p:nvPr/>
        </p:nvSpPr>
        <p:spPr>
          <a:xfrm>
            <a:off x="493776" y="1709928"/>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Run jobs run the six connectors and ingestors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Scheduler triggers each sync on a fixed cadence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Each job writes a SourceArtifact with its SHA-256</a:t>
            </a:r>
            <a:endParaRPr lang="en-US" sz="750" dirty="0"/>
          </a:p>
        </p:txBody>
      </p:sp>
      <p:sp>
        <p:nvSpPr>
          <p:cNvPr id="10" name="Shape 8"/>
          <p:cNvSpPr/>
          <p:nvPr/>
        </p:nvSpPr>
        <p:spPr>
          <a:xfrm>
            <a:off x="438912" y="2489407"/>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11" name="Text 9"/>
          <p:cNvSpPr txBox="1"/>
          <p:nvPr/>
        </p:nvSpPr>
        <p:spPr>
          <a:xfrm>
            <a:off x="493776" y="2544271"/>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Graph service</a:t>
            </a:r>
            <a:endParaRPr lang="en-US" sz="800" dirty="0"/>
          </a:p>
        </p:txBody>
      </p:sp>
      <p:sp>
        <p:nvSpPr>
          <p:cNvPr id="12" name="Text 10"/>
          <p:cNvSpPr txBox="1"/>
          <p:nvPr/>
        </p:nvSpPr>
        <p:spPr>
          <a:xfrm>
            <a:off x="493776" y="2736295"/>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Semantica ContextGraph and the adapter API run as a Cloud Run service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Private ingress only, reached through internal networking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Scales to zero between syncs and queries</a:t>
            </a:r>
            <a:endParaRPr lang="en-US" sz="750" dirty="0"/>
          </a:p>
        </p:txBody>
      </p:sp>
      <p:sp>
        <p:nvSpPr>
          <p:cNvPr id="13" name="Shape 11"/>
          <p:cNvSpPr/>
          <p:nvPr/>
        </p:nvSpPr>
        <p:spPr>
          <a:xfrm>
            <a:off x="438912" y="3515775"/>
            <a:ext cx="3514344" cy="934927"/>
          </a:xfrm>
          <a:prstGeom prst="roundRect">
            <a:avLst>
              <a:gd name="adj" fmla="val 3912"/>
            </a:avLst>
          </a:prstGeom>
          <a:solidFill>
            <a:srgbClr val="FFFFFF"/>
          </a:solidFill>
          <a:ln w="9525">
            <a:solidFill>
              <a:srgbClr val="DCE4EE"/>
            </a:solidFill>
            <a:prstDash val="solid"/>
          </a:ln>
        </p:spPr>
        <p:txBody>
          <a:bodyPr/>
          <a:lstStyle/>
          <a:p>
            <a:endParaRPr lang="en-IN"/>
          </a:p>
        </p:txBody>
      </p:sp>
      <p:sp>
        <p:nvSpPr>
          <p:cNvPr id="14" name="Text 12"/>
          <p:cNvSpPr txBox="1"/>
          <p:nvPr/>
        </p:nvSpPr>
        <p:spPr>
          <a:xfrm>
            <a:off x="493776" y="3570639"/>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Storage and secrets</a:t>
            </a:r>
            <a:endParaRPr lang="en-US" sz="800" dirty="0"/>
          </a:p>
        </p:txBody>
      </p:sp>
      <p:sp>
        <p:nvSpPr>
          <p:cNvPr id="15" name="Text 13"/>
          <p:cNvSpPr txBox="1"/>
          <p:nvPr/>
        </p:nvSpPr>
        <p:spPr>
          <a:xfrm>
            <a:off x="493776" y="3762663"/>
            <a:ext cx="3404616" cy="633175"/>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Storage holds the versioned graph snapshot, encrypted with CMEK</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Object versioning keeps prior snapshots for diffing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Secret Manager holds PATs, the JWT signing key and service-account keys</a:t>
            </a:r>
            <a:endParaRPr lang="en-US" sz="750" dirty="0"/>
          </a:p>
        </p:txBody>
      </p:sp>
      <p:sp>
        <p:nvSpPr>
          <p:cNvPr id="16" name="Shape 14"/>
          <p:cNvSpPr/>
          <p:nvPr/>
        </p:nvSpPr>
        <p:spPr>
          <a:xfrm>
            <a:off x="438912" y="4542142"/>
            <a:ext cx="3514344" cy="981674"/>
          </a:xfrm>
          <a:prstGeom prst="roundRect">
            <a:avLst>
              <a:gd name="adj" fmla="val 3726"/>
            </a:avLst>
          </a:prstGeom>
          <a:solidFill>
            <a:srgbClr val="FFFFFF"/>
          </a:solidFill>
          <a:ln w="9525">
            <a:solidFill>
              <a:srgbClr val="DCE4EE"/>
            </a:solidFill>
            <a:prstDash val="solid"/>
          </a:ln>
        </p:spPr>
        <p:txBody>
          <a:bodyPr/>
          <a:lstStyle/>
          <a:p>
            <a:endParaRPr lang="en-IN"/>
          </a:p>
        </p:txBody>
      </p:sp>
      <p:sp>
        <p:nvSpPr>
          <p:cNvPr id="17" name="Text 15"/>
          <p:cNvSpPr txBox="1"/>
          <p:nvPr/>
        </p:nvSpPr>
        <p:spPr>
          <a:xfrm>
            <a:off x="493776" y="4597006"/>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Identity and audit</a:t>
            </a:r>
            <a:endParaRPr lang="en-US" sz="800" dirty="0"/>
          </a:p>
        </p:txBody>
      </p:sp>
      <p:sp>
        <p:nvSpPr>
          <p:cNvPr id="18" name="Text 16"/>
          <p:cNvSpPr txBox="1"/>
          <p:nvPr/>
        </p:nvSpPr>
        <p:spPr>
          <a:xfrm>
            <a:off x="493776" y="4789030"/>
            <a:ext cx="3404616" cy="67992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BigQuery holds the AI Audit Store, queryable evidence per action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Cloud Logging and Monitoring cover sync health and access</a:t>
            </a:r>
            <a:endParaRPr lang="en-US" sz="750" dirty="0"/>
          </a:p>
        </p:txBody>
      </p:sp>
      <p:sp>
        <p:nvSpPr>
          <p:cNvPr id="19" name="Shape 17"/>
          <p:cNvSpPr/>
          <p:nvPr/>
        </p:nvSpPr>
        <p:spPr>
          <a:xfrm>
            <a:off x="438912" y="5615256"/>
            <a:ext cx="3514344" cy="794688"/>
          </a:xfrm>
          <a:prstGeom prst="roundRect">
            <a:avLst>
              <a:gd name="adj" fmla="val 4603"/>
            </a:avLst>
          </a:prstGeom>
          <a:solidFill>
            <a:srgbClr val="FFFFFF"/>
          </a:solidFill>
          <a:ln w="9525">
            <a:solidFill>
              <a:srgbClr val="DCE4EE"/>
            </a:solidFill>
            <a:prstDash val="solid"/>
          </a:ln>
        </p:spPr>
        <p:txBody>
          <a:bodyPr/>
          <a:lstStyle/>
          <a:p>
            <a:endParaRPr lang="en-IN"/>
          </a:p>
        </p:txBody>
      </p:sp>
      <p:sp>
        <p:nvSpPr>
          <p:cNvPr id="20" name="Text 18"/>
          <p:cNvSpPr txBox="1"/>
          <p:nvPr/>
        </p:nvSpPr>
        <p:spPr>
          <a:xfrm>
            <a:off x="493776" y="5670120"/>
            <a:ext cx="3404616" cy="182880"/>
          </a:xfrm>
          <a:prstGeom prst="rect">
            <a:avLst/>
          </a:prstGeom>
          <a:noFill/>
          <a:ln/>
        </p:spPr>
        <p:txBody>
          <a:bodyPr wrap="square" lIns="0" tIns="0" rIns="0" bIns="0" rtlCol="0" anchor="t"/>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Networking</a:t>
            </a:r>
            <a:endParaRPr lang="en-US" sz="800" dirty="0"/>
          </a:p>
        </p:txBody>
      </p:sp>
      <p:sp>
        <p:nvSpPr>
          <p:cNvPr id="21" name="Text 19"/>
          <p:cNvSpPr txBox="1"/>
          <p:nvPr/>
        </p:nvSpPr>
        <p:spPr>
          <a:xfrm>
            <a:off x="493776" y="5862144"/>
            <a:ext cx="3404616" cy="49293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VPC Service Controls keep the graph inside the perimeter</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public egress; existing Pub/Sub path to APDH is untouched</a:t>
            </a:r>
            <a:endParaRPr lang="en-US" sz="750" dirty="0"/>
          </a:p>
        </p:txBody>
      </p:sp>
      <p:sp>
        <p:nvSpPr>
          <p:cNvPr id="22" name="Shape 20"/>
          <p:cNvSpPr/>
          <p:nvPr/>
        </p:nvSpPr>
        <p:spPr>
          <a:xfrm>
            <a:off x="4264152" y="1024128"/>
            <a:ext cx="3660648" cy="5440680"/>
          </a:xfrm>
          <a:prstGeom prst="roundRect">
            <a:avLst>
              <a:gd name="adj" fmla="val 1249"/>
            </a:avLst>
          </a:prstGeom>
          <a:solidFill>
            <a:srgbClr val="EAF1FB"/>
          </a:solidFill>
          <a:ln w="9525">
            <a:solidFill>
              <a:srgbClr val="DCE4EE"/>
            </a:solidFill>
            <a:prstDash val="solid"/>
          </a:ln>
        </p:spPr>
        <p:txBody>
          <a:bodyPr/>
          <a:lstStyle/>
          <a:p>
            <a:endParaRPr lang="en-IN"/>
          </a:p>
        </p:txBody>
      </p:sp>
      <p:sp>
        <p:nvSpPr>
          <p:cNvPr id="23" name="Shape 21"/>
          <p:cNvSpPr/>
          <p:nvPr/>
        </p:nvSpPr>
        <p:spPr>
          <a:xfrm>
            <a:off x="4264152" y="1024128"/>
            <a:ext cx="3660648" cy="365760"/>
          </a:xfrm>
          <a:prstGeom prst="roundRect">
            <a:avLst>
              <a:gd name="adj" fmla="val 12500"/>
            </a:avLst>
          </a:prstGeom>
          <a:solidFill>
            <a:srgbClr val="1B6BC0"/>
          </a:solidFill>
          <a:ln w="12700">
            <a:solidFill>
              <a:srgbClr val="1B6BC0"/>
            </a:solidFill>
            <a:prstDash val="solid"/>
          </a:ln>
        </p:spPr>
        <p:txBody>
          <a:bodyPr/>
          <a:lstStyle/>
          <a:p>
            <a:endParaRPr lang="en-IN"/>
          </a:p>
        </p:txBody>
      </p:sp>
      <p:sp>
        <p:nvSpPr>
          <p:cNvPr id="24" name="Text 22"/>
          <p:cNvSpPr txBox="1"/>
          <p:nvPr/>
        </p:nvSpPr>
        <p:spPr>
          <a:xfrm>
            <a:off x="4319016"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Why Google Cloud for this client</a:t>
            </a:r>
            <a:endParaRPr lang="en-US" sz="900" dirty="0"/>
          </a:p>
        </p:txBody>
      </p:sp>
      <p:sp>
        <p:nvSpPr>
          <p:cNvPr id="25" name="Shape 23"/>
          <p:cNvSpPr/>
          <p:nvPr/>
        </p:nvSpPr>
        <p:spPr>
          <a:xfrm>
            <a:off x="4337304" y="1463040"/>
            <a:ext cx="3514344" cy="1041169"/>
          </a:xfrm>
          <a:prstGeom prst="roundRect">
            <a:avLst>
              <a:gd name="adj" fmla="val 3513"/>
            </a:avLst>
          </a:prstGeom>
          <a:solidFill>
            <a:srgbClr val="FFFFFF"/>
          </a:solidFill>
          <a:ln w="9525">
            <a:solidFill>
              <a:srgbClr val="DCE4EE"/>
            </a:solidFill>
            <a:prstDash val="solid"/>
          </a:ln>
        </p:spPr>
        <p:txBody>
          <a:bodyPr/>
          <a:lstStyle/>
          <a:p>
            <a:endParaRPr lang="en-IN"/>
          </a:p>
        </p:txBody>
      </p:sp>
      <p:sp>
        <p:nvSpPr>
          <p:cNvPr id="26" name="Text 24"/>
          <p:cNvSpPr txBox="1"/>
          <p:nvPr/>
        </p:nvSpPr>
        <p:spPr>
          <a:xfrm>
            <a:off x="4392168" y="1517904"/>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The pipeline is already there</a:t>
            </a:r>
            <a:endParaRPr lang="en-US" sz="800" dirty="0"/>
          </a:p>
        </p:txBody>
      </p:sp>
      <p:sp>
        <p:nvSpPr>
          <p:cNvPr id="27" name="Text 25"/>
          <p:cNvSpPr txBox="1"/>
          <p:nvPr/>
        </p:nvSpPr>
        <p:spPr>
          <a:xfrm>
            <a:off x="4392168" y="1709928"/>
            <a:ext cx="3404616" cy="73941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Salesforce to Queueable Apex to Google Pub/Sub to APDH already runs on GCP</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Downstream APDH impact can be read without moving data between providers</a:t>
            </a:r>
            <a:endParaRPr lang="en-US" sz="750" dirty="0"/>
          </a:p>
        </p:txBody>
      </p:sp>
      <p:sp>
        <p:nvSpPr>
          <p:cNvPr id="28" name="Shape 26"/>
          <p:cNvSpPr/>
          <p:nvPr/>
        </p:nvSpPr>
        <p:spPr>
          <a:xfrm>
            <a:off x="4337304" y="2595649"/>
            <a:ext cx="3514344" cy="937052"/>
          </a:xfrm>
          <a:prstGeom prst="roundRect">
            <a:avLst>
              <a:gd name="adj" fmla="val 3903"/>
            </a:avLst>
          </a:prstGeom>
          <a:solidFill>
            <a:srgbClr val="FFFFFF"/>
          </a:solidFill>
          <a:ln w="9525">
            <a:solidFill>
              <a:srgbClr val="DCE4EE"/>
            </a:solidFill>
            <a:prstDash val="solid"/>
          </a:ln>
        </p:spPr>
        <p:txBody>
          <a:bodyPr/>
          <a:lstStyle/>
          <a:p>
            <a:endParaRPr lang="en-IN"/>
          </a:p>
        </p:txBody>
      </p:sp>
      <p:sp>
        <p:nvSpPr>
          <p:cNvPr id="29" name="Text 27"/>
          <p:cNvSpPr txBox="1"/>
          <p:nvPr/>
        </p:nvSpPr>
        <p:spPr>
          <a:xfrm>
            <a:off x="4392168" y="2650513"/>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Same identity domain</a:t>
            </a:r>
            <a:endParaRPr lang="en-US" sz="800" dirty="0"/>
          </a:p>
        </p:txBody>
      </p:sp>
      <p:sp>
        <p:nvSpPr>
          <p:cNvPr id="30" name="Text 28"/>
          <p:cNvSpPr txBox="1"/>
          <p:nvPr/>
        </p:nvSpPr>
        <p:spPr>
          <a:xfrm>
            <a:off x="4392168" y="2842537"/>
            <a:ext cx="3404616" cy="635300"/>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Google Drive is already one of the six sources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Service accounts and Workspace identity are an established pattern here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One IAM model to review rather than two</a:t>
            </a:r>
            <a:endParaRPr lang="en-US" sz="750" dirty="0"/>
          </a:p>
        </p:txBody>
      </p:sp>
      <p:sp>
        <p:nvSpPr>
          <p:cNvPr id="31" name="Shape 29"/>
          <p:cNvSpPr/>
          <p:nvPr/>
        </p:nvSpPr>
        <p:spPr>
          <a:xfrm>
            <a:off x="4337304" y="3624141"/>
            <a:ext cx="3514344" cy="989111"/>
          </a:xfrm>
          <a:prstGeom prst="roundRect">
            <a:avLst>
              <a:gd name="adj" fmla="val 3698"/>
            </a:avLst>
          </a:prstGeom>
          <a:solidFill>
            <a:srgbClr val="FFFFFF"/>
          </a:solidFill>
          <a:ln w="9525">
            <a:solidFill>
              <a:srgbClr val="DCE4EE"/>
            </a:solidFill>
            <a:prstDash val="solid"/>
          </a:ln>
        </p:spPr>
        <p:txBody>
          <a:bodyPr/>
          <a:lstStyle/>
          <a:p>
            <a:endParaRPr lang="en-IN"/>
          </a:p>
        </p:txBody>
      </p:sp>
      <p:sp>
        <p:nvSpPr>
          <p:cNvPr id="32" name="Text 30"/>
          <p:cNvSpPr txBox="1"/>
          <p:nvPr/>
        </p:nvSpPr>
        <p:spPr>
          <a:xfrm>
            <a:off x="4392168" y="3679005"/>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Nothing new to approve</a:t>
            </a:r>
            <a:endParaRPr lang="en-US" sz="800" dirty="0"/>
          </a:p>
        </p:txBody>
      </p:sp>
      <p:sp>
        <p:nvSpPr>
          <p:cNvPr id="33" name="Text 31"/>
          <p:cNvSpPr txBox="1"/>
          <p:nvPr/>
        </p:nvSpPr>
        <p:spPr>
          <a:xfrm>
            <a:off x="4392168" y="3871029"/>
            <a:ext cx="3404616" cy="687359"/>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second cloud vendor assessment, no additional BAA</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Reuses the existing landing zone, key management and monitoring</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Security posture is extended, not duplicated</a:t>
            </a:r>
            <a:endParaRPr lang="en-US" sz="750" dirty="0"/>
          </a:p>
        </p:txBody>
      </p:sp>
      <p:sp>
        <p:nvSpPr>
          <p:cNvPr id="34" name="Shape 32"/>
          <p:cNvSpPr/>
          <p:nvPr/>
        </p:nvSpPr>
        <p:spPr>
          <a:xfrm>
            <a:off x="4337304" y="4704692"/>
            <a:ext cx="3514344" cy="884994"/>
          </a:xfrm>
          <a:prstGeom prst="roundRect">
            <a:avLst>
              <a:gd name="adj" fmla="val 4133"/>
            </a:avLst>
          </a:prstGeom>
          <a:solidFill>
            <a:srgbClr val="FFFFFF"/>
          </a:solidFill>
          <a:ln w="9525">
            <a:solidFill>
              <a:srgbClr val="DCE4EE"/>
            </a:solidFill>
            <a:prstDash val="solid"/>
          </a:ln>
        </p:spPr>
        <p:txBody>
          <a:bodyPr/>
          <a:lstStyle/>
          <a:p>
            <a:endParaRPr lang="en-IN"/>
          </a:p>
        </p:txBody>
      </p:sp>
      <p:sp>
        <p:nvSpPr>
          <p:cNvPr id="35" name="Text 33"/>
          <p:cNvSpPr txBox="1"/>
          <p:nvPr/>
        </p:nvSpPr>
        <p:spPr>
          <a:xfrm>
            <a:off x="4392168" y="4759556"/>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Lower operational drag</a:t>
            </a:r>
            <a:endParaRPr lang="en-US" sz="800" dirty="0"/>
          </a:p>
        </p:txBody>
      </p:sp>
      <p:sp>
        <p:nvSpPr>
          <p:cNvPr id="36" name="Text 34"/>
          <p:cNvSpPr txBox="1"/>
          <p:nvPr/>
        </p:nvSpPr>
        <p:spPr>
          <a:xfrm>
            <a:off x="4392168" y="4951580"/>
            <a:ext cx="3404616" cy="583242"/>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 cross-cloud egress between the graph and the existing pipeline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One ops model for the team that already runs this estate</a:t>
            </a:r>
            <a:endParaRPr lang="en-US" sz="750" dirty="0"/>
          </a:p>
        </p:txBody>
      </p:sp>
      <p:sp>
        <p:nvSpPr>
          <p:cNvPr id="37" name="Shape 35"/>
          <p:cNvSpPr/>
          <p:nvPr/>
        </p:nvSpPr>
        <p:spPr>
          <a:xfrm>
            <a:off x="4337304" y="5681126"/>
            <a:ext cx="3514344" cy="728818"/>
          </a:xfrm>
          <a:prstGeom prst="roundRect">
            <a:avLst>
              <a:gd name="adj" fmla="val 5019"/>
            </a:avLst>
          </a:prstGeom>
          <a:solidFill>
            <a:srgbClr val="FFFFFF"/>
          </a:solidFill>
          <a:ln w="9525">
            <a:solidFill>
              <a:srgbClr val="DCE4EE"/>
            </a:solidFill>
            <a:prstDash val="solid"/>
          </a:ln>
        </p:spPr>
        <p:txBody>
          <a:bodyPr/>
          <a:lstStyle/>
          <a:p>
            <a:endParaRPr lang="en-IN"/>
          </a:p>
        </p:txBody>
      </p:sp>
      <p:sp>
        <p:nvSpPr>
          <p:cNvPr id="38" name="Text 36"/>
          <p:cNvSpPr txBox="1"/>
          <p:nvPr/>
        </p:nvSpPr>
        <p:spPr>
          <a:xfrm>
            <a:off x="4392168" y="5735990"/>
            <a:ext cx="3404616" cy="182880"/>
          </a:xfrm>
          <a:prstGeom prst="rect">
            <a:avLst/>
          </a:prstGeom>
          <a:noFill/>
          <a:ln/>
        </p:spPr>
        <p:txBody>
          <a:bodyPr wrap="square" lIns="0" tIns="0" rIns="0" bIns="0" rtlCol="0" anchor="t"/>
          <a:lstStyle/>
          <a:p>
            <a:pPr marL="0" indent="0">
              <a:buNone/>
            </a:pPr>
            <a:r>
              <a:rPr lang="en-US" sz="800" b="0" dirty="0">
                <a:solidFill>
                  <a:srgbClr val="1B6BC0"/>
                </a:solidFill>
                <a:latin typeface="Trenda IG Text Semibold" pitchFamily="34" charset="0"/>
                <a:ea typeface="Trenda IG Text Semibold" pitchFamily="34" charset="-122"/>
                <a:cs typeface="Trenda IG Text Semibold" pitchFamily="34" charset="-120"/>
              </a:rPr>
              <a:t>Scope note</a:t>
            </a:r>
            <a:endParaRPr lang="en-US" sz="800" dirty="0"/>
          </a:p>
        </p:txBody>
      </p:sp>
      <p:sp>
        <p:nvSpPr>
          <p:cNvPr id="39" name="Text 37"/>
          <p:cNvSpPr txBox="1"/>
          <p:nvPr/>
        </p:nvSpPr>
        <p:spPr>
          <a:xfrm>
            <a:off x="4392168" y="5928014"/>
            <a:ext cx="3404616" cy="42706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50" dirty="0"/>
          </a:p>
        </p:txBody>
      </p:sp>
      <p:sp>
        <p:nvSpPr>
          <p:cNvPr id="40" name="Shape 38"/>
          <p:cNvSpPr/>
          <p:nvPr/>
        </p:nvSpPr>
        <p:spPr>
          <a:xfrm>
            <a:off x="8162544" y="1024128"/>
            <a:ext cx="3660648" cy="5440680"/>
          </a:xfrm>
          <a:prstGeom prst="roundRect">
            <a:avLst>
              <a:gd name="adj" fmla="val 1249"/>
            </a:avLst>
          </a:prstGeom>
          <a:solidFill>
            <a:srgbClr val="FDF1DE"/>
          </a:solidFill>
          <a:ln w="9525">
            <a:solidFill>
              <a:srgbClr val="DCE4EE"/>
            </a:solidFill>
            <a:prstDash val="solid"/>
          </a:ln>
        </p:spPr>
        <p:txBody>
          <a:bodyPr/>
          <a:lstStyle/>
          <a:p>
            <a:endParaRPr lang="en-IN"/>
          </a:p>
        </p:txBody>
      </p:sp>
      <p:sp>
        <p:nvSpPr>
          <p:cNvPr id="41" name="Shape 39"/>
          <p:cNvSpPr/>
          <p:nvPr/>
        </p:nvSpPr>
        <p:spPr>
          <a:xfrm>
            <a:off x="8162544" y="1024128"/>
            <a:ext cx="3660648" cy="365760"/>
          </a:xfrm>
          <a:prstGeom prst="roundRect">
            <a:avLst>
              <a:gd name="adj" fmla="val 12500"/>
            </a:avLst>
          </a:prstGeom>
          <a:solidFill>
            <a:srgbClr val="C77400"/>
          </a:solidFill>
          <a:ln w="12700">
            <a:solidFill>
              <a:srgbClr val="C77400"/>
            </a:solidFill>
            <a:prstDash val="solid"/>
          </a:ln>
        </p:spPr>
        <p:txBody>
          <a:bodyPr/>
          <a:lstStyle/>
          <a:p>
            <a:endParaRPr lang="en-IN"/>
          </a:p>
        </p:txBody>
      </p:sp>
      <p:sp>
        <p:nvSpPr>
          <p:cNvPr id="42" name="Text 40"/>
          <p:cNvSpPr txBox="1"/>
          <p:nvPr/>
        </p:nvSpPr>
        <p:spPr>
          <a:xfrm>
            <a:off x="8217408" y="1024128"/>
            <a:ext cx="3550920" cy="365760"/>
          </a:xfrm>
          <a:prstGeom prst="rect">
            <a:avLst/>
          </a:prstGeom>
          <a:noFill/>
          <a:ln/>
        </p:spPr>
        <p:txBody>
          <a:bodyPr wrap="square" lIns="0" tIns="0" rIns="0" bIns="0" rtlCol="0" anchor="ctr"/>
          <a:lstStyle/>
          <a:p>
            <a:pPr marL="0" indent="0" algn="ctr">
              <a:buNone/>
            </a:pPr>
            <a:r>
              <a:rPr lang="en-US" sz="900" b="0" dirty="0">
                <a:solidFill>
                  <a:srgbClr val="FFFFFF"/>
                </a:solidFill>
                <a:latin typeface="Trenda IG Display Bold" pitchFamily="34" charset="0"/>
                <a:ea typeface="Trenda IG Display Bold" pitchFamily="34" charset="-122"/>
                <a:cs typeface="Trenda IG Display Bold" pitchFamily="34" charset="-120"/>
              </a:rPr>
              <a:t>Alternatives</a:t>
            </a:r>
            <a:endParaRPr lang="en-US" sz="900" dirty="0"/>
          </a:p>
        </p:txBody>
      </p:sp>
      <p:sp>
        <p:nvSpPr>
          <p:cNvPr id="43" name="Shape 41"/>
          <p:cNvSpPr/>
          <p:nvPr/>
        </p:nvSpPr>
        <p:spPr>
          <a:xfrm>
            <a:off x="8235696" y="1463040"/>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44" name="Text 42"/>
          <p:cNvSpPr txBox="1"/>
          <p:nvPr/>
        </p:nvSpPr>
        <p:spPr>
          <a:xfrm>
            <a:off x="8290560" y="1517904"/>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S3 is not a like-for-like option</a:t>
            </a:r>
            <a:endParaRPr lang="en-US" sz="800" dirty="0"/>
          </a:p>
        </p:txBody>
      </p:sp>
      <p:sp>
        <p:nvSpPr>
          <p:cNvPr id="45" name="Text 43"/>
          <p:cNvSpPr txBox="1"/>
          <p:nvPr/>
        </p:nvSpPr>
        <p:spPr>
          <a:xfrm>
            <a:off x="8290560" y="1709928"/>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S3 replaces one box, the snapshot store</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50" dirty="0"/>
          </a:p>
        </p:txBody>
      </p:sp>
      <p:sp>
        <p:nvSpPr>
          <p:cNvPr id="46" name="Shape 44"/>
          <p:cNvSpPr/>
          <p:nvPr/>
        </p:nvSpPr>
        <p:spPr>
          <a:xfrm>
            <a:off x="8235696" y="2768138"/>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47" name="Text 45"/>
          <p:cNvSpPr txBox="1"/>
          <p:nvPr/>
        </p:nvSpPr>
        <p:spPr>
          <a:xfrm>
            <a:off x="8290560" y="2823002"/>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What a second cloud would cost</a:t>
            </a:r>
            <a:endParaRPr lang="en-US" sz="800" dirty="0"/>
          </a:p>
        </p:txBody>
      </p:sp>
      <p:sp>
        <p:nvSpPr>
          <p:cNvPr id="48" name="Text 46"/>
          <p:cNvSpPr txBox="1"/>
          <p:nvPr/>
        </p:nvSpPr>
        <p:spPr>
          <a:xfrm>
            <a:off x="8290560" y="3015026"/>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A new vendor and security review before anything is built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Identity federation between two providers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Cross-cloud egress on every sync and query</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Two sets of controls, keys and runbooks to keep aligned</a:t>
            </a:r>
            <a:endParaRPr lang="en-US" sz="750" dirty="0"/>
          </a:p>
        </p:txBody>
      </p:sp>
      <p:sp>
        <p:nvSpPr>
          <p:cNvPr id="49" name="Shape 47"/>
          <p:cNvSpPr/>
          <p:nvPr/>
        </p:nvSpPr>
        <p:spPr>
          <a:xfrm>
            <a:off x="8235696" y="4073236"/>
            <a:ext cx="3514344" cy="1213658"/>
          </a:xfrm>
          <a:prstGeom prst="roundRect">
            <a:avLst>
              <a:gd name="adj" fmla="val 3014"/>
            </a:avLst>
          </a:prstGeom>
          <a:solidFill>
            <a:srgbClr val="FFFFFF"/>
          </a:solidFill>
          <a:ln w="9525">
            <a:solidFill>
              <a:srgbClr val="DCE4EE"/>
            </a:solidFill>
            <a:prstDash val="solid"/>
          </a:ln>
        </p:spPr>
        <p:txBody>
          <a:bodyPr/>
          <a:lstStyle/>
          <a:p>
            <a:endParaRPr lang="en-IN"/>
          </a:p>
        </p:txBody>
      </p:sp>
      <p:sp>
        <p:nvSpPr>
          <p:cNvPr id="50" name="Text 48"/>
          <p:cNvSpPr txBox="1"/>
          <p:nvPr/>
        </p:nvSpPr>
        <p:spPr>
          <a:xfrm>
            <a:off x="8290560" y="4128100"/>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The design stays portable</a:t>
            </a:r>
            <a:endParaRPr lang="en-US" sz="800" dirty="0"/>
          </a:p>
        </p:txBody>
      </p:sp>
      <p:sp>
        <p:nvSpPr>
          <p:cNvPr id="51" name="Text 49"/>
          <p:cNvSpPr txBox="1"/>
          <p:nvPr/>
        </p:nvSpPr>
        <p:spPr>
          <a:xfrm>
            <a:off x="8290560" y="4320124"/>
            <a:ext cx="3404616" cy="911906"/>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snapshot is vendor-neutral JSON, not a proprietary format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The graph service is a container, so it runs anywhere containers run</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Connectors talk to vendor APIs, not to cloud-specific services</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Nothing in the architecture is locked to GCP</a:t>
            </a:r>
            <a:endParaRPr lang="en-US" sz="750" dirty="0"/>
          </a:p>
        </p:txBody>
      </p:sp>
      <p:sp>
        <p:nvSpPr>
          <p:cNvPr id="52" name="Shape 50"/>
          <p:cNvSpPr/>
          <p:nvPr/>
        </p:nvSpPr>
        <p:spPr>
          <a:xfrm>
            <a:off x="8235696" y="5378335"/>
            <a:ext cx="3514344" cy="1031609"/>
          </a:xfrm>
          <a:prstGeom prst="roundRect">
            <a:avLst>
              <a:gd name="adj" fmla="val 3546"/>
            </a:avLst>
          </a:prstGeom>
          <a:solidFill>
            <a:srgbClr val="FFFFFF"/>
          </a:solidFill>
          <a:ln w="9525">
            <a:solidFill>
              <a:srgbClr val="DCE4EE"/>
            </a:solidFill>
            <a:prstDash val="solid"/>
          </a:ln>
        </p:spPr>
        <p:txBody>
          <a:bodyPr/>
          <a:lstStyle/>
          <a:p>
            <a:endParaRPr lang="en-IN"/>
          </a:p>
        </p:txBody>
      </p:sp>
      <p:sp>
        <p:nvSpPr>
          <p:cNvPr id="53" name="Text 51"/>
          <p:cNvSpPr txBox="1"/>
          <p:nvPr/>
        </p:nvSpPr>
        <p:spPr>
          <a:xfrm>
            <a:off x="8290560" y="5433199"/>
            <a:ext cx="3404616" cy="182880"/>
          </a:xfrm>
          <a:prstGeom prst="rect">
            <a:avLst/>
          </a:prstGeom>
          <a:noFill/>
          <a:ln/>
        </p:spPr>
        <p:txBody>
          <a:bodyPr wrap="square" lIns="0" tIns="0" rIns="0" bIns="0" rtlCol="0" anchor="t"/>
          <a:lstStyle/>
          <a:p>
            <a:pPr marL="0" indent="0">
              <a:buNone/>
            </a:pPr>
            <a:r>
              <a:rPr lang="en-US" sz="800" b="0" dirty="0">
                <a:solidFill>
                  <a:srgbClr val="C77400"/>
                </a:solidFill>
                <a:latin typeface="Trenda IG Text Semibold" pitchFamily="34" charset="0"/>
                <a:ea typeface="Trenda IG Text Semibold" pitchFamily="34" charset="-122"/>
                <a:cs typeface="Trenda IG Text Semibold" pitchFamily="34" charset="-120"/>
              </a:rPr>
              <a:t>Recommendation</a:t>
            </a:r>
            <a:endParaRPr lang="en-US" sz="800" dirty="0"/>
          </a:p>
        </p:txBody>
      </p:sp>
      <p:sp>
        <p:nvSpPr>
          <p:cNvPr id="54" name="Text 52"/>
          <p:cNvSpPr txBox="1"/>
          <p:nvPr/>
        </p:nvSpPr>
        <p:spPr>
          <a:xfrm>
            <a:off x="8290560" y="5625223"/>
            <a:ext cx="3404616" cy="729857"/>
          </a:xfrm>
          <a:prstGeom prst="rect">
            <a:avLst/>
          </a:prstGeom>
          <a:noFill/>
          <a:ln/>
        </p:spPr>
        <p:txBody>
          <a:bodyPr wrap="square" lIns="0" tIns="0" rIns="0" bIns="0" rtlCol="0" anchor="t"/>
          <a:lstStyle/>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50" dirty="0"/>
          </a:p>
          <a:p>
            <a:pPr marL="127000" indent="-127000">
              <a:lnSpc>
                <a:spcPct val="94000"/>
              </a:lnSpc>
              <a:spcAft>
                <a:spcPts val="100"/>
              </a:spcAft>
              <a:buSzPct val="100000"/>
              <a:buChar char="•"/>
            </a:pPr>
            <a:r>
              <a:rPr lang="en-US" sz="750" dirty="0">
                <a:solidFill>
                  <a:srgbClr val="12233B"/>
                </a:solidFill>
                <a:latin typeface="Trenda IG Text" pitchFamily="34" charset="0"/>
                <a:ea typeface="Trenda IG Text" pitchFamily="34" charset="-122"/>
                <a:cs typeface="Trenda IG Text" pitchFamily="34" charset="-120"/>
              </a:rPr>
              <a:t>Keep the portability so a later move is a redeploy rather than a rewrite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txBox="1"/>
          <p:nvPr/>
        </p:nvSpPr>
        <p:spPr>
          <a:xfrm>
            <a:off x="365760" y="256032"/>
            <a:ext cx="11457432" cy="347472"/>
          </a:xfrm>
          <a:prstGeom prst="rect">
            <a:avLst/>
          </a:prstGeom>
          <a:noFill/>
          <a:ln/>
        </p:spPr>
        <p:txBody>
          <a:bodyPr wrap="square" lIns="0" tIns="0" rIns="0" bIns="0" rtlCol="0" anchor="ctr"/>
          <a:lstStyle/>
          <a:p>
            <a:pPr marL="0" indent="0">
              <a:buNone/>
            </a:pPr>
            <a:r>
              <a:rPr lang="en-US" sz="2000" b="0" dirty="0">
                <a:solidFill>
                  <a:srgbClr val="0E1B2E"/>
                </a:solidFill>
                <a:latin typeface="Trenda IG Display Bold" pitchFamily="34" charset="0"/>
                <a:ea typeface="Trenda IG Display Bold" pitchFamily="34" charset="-122"/>
                <a:cs typeface="Trenda IG Display Bold" pitchFamily="34" charset="-120"/>
              </a:rPr>
              <a:t>The Engineering Context Knowledge Graph</a:t>
            </a:r>
            <a:endParaRPr lang="en-US" sz="2000" dirty="0"/>
          </a:p>
        </p:txBody>
      </p:sp>
      <p:sp>
        <p:nvSpPr>
          <p:cNvPr id="3" name="Text 1"/>
          <p:cNvSpPr txBox="1"/>
          <p:nvPr/>
        </p:nvSpPr>
        <p:spPr>
          <a:xfrm>
            <a:off x="365760" y="640080"/>
            <a:ext cx="11457432" cy="219456"/>
          </a:xfrm>
          <a:prstGeom prst="rect">
            <a:avLst/>
          </a:prstGeom>
          <a:noFill/>
          <a:ln/>
        </p:spPr>
        <p:txBody>
          <a:bodyPr wrap="square" lIns="0" tIns="0" rIns="0" bIns="0" rtlCol="0" anchor="ctr"/>
          <a:lstStyle/>
          <a:p>
            <a:pPr marL="0" indent="0">
              <a:buNone/>
            </a:pPr>
            <a:r>
              <a:rPr lang="en-US" sz="950" dirty="0">
                <a:solidFill>
                  <a:srgbClr val="5C6E85"/>
                </a:solidFill>
                <a:latin typeface="Trenda IG Display" pitchFamily="34" charset="0"/>
                <a:ea typeface="Trenda IG Display" pitchFamily="34" charset="-122"/>
                <a:cs typeface="Trenda IG Display" pitchFamily="34" charset="-120"/>
              </a:rPr>
              <a:t>Every source contributes facts to one graph. Nothing is copied twice, nothing becomes a new source of truth, and any answer can be traced back to the artifact it came from.</a:t>
            </a:r>
            <a:endParaRPr lang="en-US" sz="950" dirty="0"/>
          </a:p>
        </p:txBody>
      </p:sp>
      <p:sp>
        <p:nvSpPr>
          <p:cNvPr id="4" name="Shape 2"/>
          <p:cNvSpPr/>
          <p:nvPr/>
        </p:nvSpPr>
        <p:spPr>
          <a:xfrm>
            <a:off x="365760" y="1024128"/>
            <a:ext cx="3017520" cy="5440680"/>
          </a:xfrm>
          <a:prstGeom prst="roundRect">
            <a:avLst>
              <a:gd name="adj" fmla="val 1515"/>
            </a:avLst>
          </a:prstGeom>
          <a:solidFill>
            <a:srgbClr val="EAF1FB"/>
          </a:solidFill>
          <a:ln w="9525">
            <a:solidFill>
              <a:srgbClr val="DCE4EE"/>
            </a:solidFill>
            <a:prstDash val="solid"/>
          </a:ln>
        </p:spPr>
        <p:txBody>
          <a:bodyPr/>
          <a:lstStyle/>
          <a:p>
            <a:endParaRPr lang="en-IN"/>
          </a:p>
        </p:txBody>
      </p:sp>
      <p:sp>
        <p:nvSpPr>
          <p:cNvPr id="5" name="Shape 3"/>
          <p:cNvSpPr/>
          <p:nvPr/>
        </p:nvSpPr>
        <p:spPr>
          <a:xfrm>
            <a:off x="365760" y="1024128"/>
            <a:ext cx="3017520" cy="365760"/>
          </a:xfrm>
          <a:prstGeom prst="roundRect">
            <a:avLst>
              <a:gd name="adj" fmla="val 12500"/>
            </a:avLst>
          </a:prstGeom>
          <a:solidFill>
            <a:srgbClr val="1B6BC0"/>
          </a:solidFill>
          <a:ln w="12700">
            <a:solidFill>
              <a:srgbClr val="1B6BC0"/>
            </a:solidFill>
            <a:prstDash val="solid"/>
          </a:ln>
        </p:spPr>
        <p:txBody>
          <a:bodyPr/>
          <a:lstStyle/>
          <a:p>
            <a:endParaRPr lang="en-IN"/>
          </a:p>
        </p:txBody>
      </p:sp>
      <p:sp>
        <p:nvSpPr>
          <p:cNvPr id="6" name="Text 4"/>
          <p:cNvSpPr txBox="1"/>
          <p:nvPr/>
        </p:nvSpPr>
        <p:spPr>
          <a:xfrm>
            <a:off x="365760" y="1024128"/>
            <a:ext cx="3017520"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What goes in</a:t>
            </a:r>
            <a:endParaRPr lang="en-US" sz="950" dirty="0"/>
          </a:p>
        </p:txBody>
      </p:sp>
      <p:sp>
        <p:nvSpPr>
          <p:cNvPr id="7" name="Shape 5"/>
          <p:cNvSpPr/>
          <p:nvPr/>
        </p:nvSpPr>
        <p:spPr>
          <a:xfrm>
            <a:off x="457200" y="149961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548640" y="1591056"/>
            <a:ext cx="146304" cy="146304"/>
          </a:xfrm>
          <a:prstGeom prst="rect">
            <a:avLst/>
          </a:prstGeom>
        </p:spPr>
      </p:pic>
      <p:sp>
        <p:nvSpPr>
          <p:cNvPr id="9" name="Text 6"/>
          <p:cNvSpPr txBox="1"/>
          <p:nvPr/>
        </p:nvSpPr>
        <p:spPr>
          <a:xfrm>
            <a:off x="749808" y="158191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Jira</a:t>
            </a:r>
            <a:endParaRPr lang="en-US" sz="850" dirty="0"/>
          </a:p>
        </p:txBody>
      </p:sp>
      <p:sp>
        <p:nvSpPr>
          <p:cNvPr id="10" name="Text 7"/>
          <p:cNvSpPr txBox="1"/>
          <p:nvPr/>
        </p:nvSpPr>
        <p:spPr>
          <a:xfrm>
            <a:off x="548640" y="177393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Requirements, acceptance criteria, delivery history</a:t>
            </a:r>
            <a:endParaRPr lang="en-US" sz="700" dirty="0"/>
          </a:p>
        </p:txBody>
      </p:sp>
      <p:sp>
        <p:nvSpPr>
          <p:cNvPr id="11" name="Shape 8"/>
          <p:cNvSpPr/>
          <p:nvPr/>
        </p:nvSpPr>
        <p:spPr>
          <a:xfrm>
            <a:off x="457200" y="232257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48640" y="2414016"/>
            <a:ext cx="146304" cy="146304"/>
          </a:xfrm>
          <a:prstGeom prst="rect">
            <a:avLst/>
          </a:prstGeom>
        </p:spPr>
      </p:pic>
      <p:sp>
        <p:nvSpPr>
          <p:cNvPr id="13" name="Text 9"/>
          <p:cNvSpPr txBox="1"/>
          <p:nvPr/>
        </p:nvSpPr>
        <p:spPr>
          <a:xfrm>
            <a:off x="749808" y="240487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Confluence</a:t>
            </a:r>
            <a:endParaRPr lang="en-US" sz="850" dirty="0"/>
          </a:p>
        </p:txBody>
      </p:sp>
      <p:sp>
        <p:nvSpPr>
          <p:cNvPr id="14" name="Text 10"/>
          <p:cNvSpPr txBox="1"/>
          <p:nvPr/>
        </p:nvSpPr>
        <p:spPr>
          <a:xfrm>
            <a:off x="548640" y="259689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Functional &amp; technical design, business-rule tables</a:t>
            </a:r>
            <a:endParaRPr lang="en-US" sz="700" dirty="0"/>
          </a:p>
        </p:txBody>
      </p:sp>
      <p:sp>
        <p:nvSpPr>
          <p:cNvPr id="15" name="Shape 11"/>
          <p:cNvSpPr/>
          <p:nvPr/>
        </p:nvSpPr>
        <p:spPr>
          <a:xfrm>
            <a:off x="457200" y="314553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548640" y="3236976"/>
            <a:ext cx="146304" cy="146304"/>
          </a:xfrm>
          <a:prstGeom prst="rect">
            <a:avLst/>
          </a:prstGeom>
        </p:spPr>
      </p:pic>
      <p:sp>
        <p:nvSpPr>
          <p:cNvPr id="17" name="Text 12"/>
          <p:cNvSpPr txBox="1"/>
          <p:nvPr/>
        </p:nvSpPr>
        <p:spPr>
          <a:xfrm>
            <a:off x="749808" y="322783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Salesforce</a:t>
            </a:r>
            <a:endParaRPr lang="en-US" sz="850" dirty="0"/>
          </a:p>
        </p:txBody>
      </p:sp>
      <p:sp>
        <p:nvSpPr>
          <p:cNvPr id="18" name="Text 13"/>
          <p:cNvSpPr txBox="1"/>
          <p:nvPr/>
        </p:nvSpPr>
        <p:spPr>
          <a:xfrm>
            <a:off x="548640" y="341985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Objects, fields, Flows, Apex, validation rules, dependencies</a:t>
            </a:r>
            <a:endParaRPr lang="en-US" sz="700" dirty="0"/>
          </a:p>
        </p:txBody>
      </p:sp>
      <p:sp>
        <p:nvSpPr>
          <p:cNvPr id="19" name="Shape 14"/>
          <p:cNvSpPr/>
          <p:nvPr/>
        </p:nvSpPr>
        <p:spPr>
          <a:xfrm>
            <a:off x="457200" y="396849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548640" y="4059936"/>
            <a:ext cx="146304" cy="146304"/>
          </a:xfrm>
          <a:prstGeom prst="rect">
            <a:avLst/>
          </a:prstGeom>
        </p:spPr>
      </p:pic>
      <p:sp>
        <p:nvSpPr>
          <p:cNvPr id="21" name="Text 15"/>
          <p:cNvSpPr txBox="1"/>
          <p:nvPr/>
        </p:nvSpPr>
        <p:spPr>
          <a:xfrm>
            <a:off x="749808" y="405079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Git</a:t>
            </a:r>
            <a:endParaRPr lang="en-US" sz="850" dirty="0"/>
          </a:p>
        </p:txBody>
      </p:sp>
      <p:sp>
        <p:nvSpPr>
          <p:cNvPr id="22" name="Text 16"/>
          <p:cNvSpPr txBox="1"/>
          <p:nvPr/>
        </p:nvSpPr>
        <p:spPr>
          <a:xfrm>
            <a:off x="548640" y="424281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Apex classes &amp; triggers, LWC, metadata, unit tests, commit history</a:t>
            </a:r>
            <a:endParaRPr lang="en-US" sz="700" dirty="0"/>
          </a:p>
        </p:txBody>
      </p:sp>
      <p:sp>
        <p:nvSpPr>
          <p:cNvPr id="23" name="Shape 17"/>
          <p:cNvSpPr/>
          <p:nvPr/>
        </p:nvSpPr>
        <p:spPr>
          <a:xfrm>
            <a:off x="457200" y="479145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4" name="Image 4" descr="preencoded.png"/>
          <p:cNvPicPr>
            <a:picLocks noChangeAspect="1"/>
          </p:cNvPicPr>
          <p:nvPr/>
        </p:nvPicPr>
        <p:blipFill>
          <a:blip r:embed="rId7"/>
          <a:stretch>
            <a:fillRect/>
          </a:stretch>
        </p:blipFill>
        <p:spPr>
          <a:xfrm>
            <a:off x="548640" y="4882896"/>
            <a:ext cx="146304" cy="146304"/>
          </a:xfrm>
          <a:prstGeom prst="rect">
            <a:avLst/>
          </a:prstGeom>
        </p:spPr>
      </p:pic>
      <p:sp>
        <p:nvSpPr>
          <p:cNvPr id="25" name="Text 18"/>
          <p:cNvSpPr txBox="1"/>
          <p:nvPr/>
        </p:nvSpPr>
        <p:spPr>
          <a:xfrm>
            <a:off x="749808" y="487375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Copado</a:t>
            </a:r>
            <a:endParaRPr lang="en-US" sz="850" dirty="0"/>
          </a:p>
        </p:txBody>
      </p:sp>
      <p:sp>
        <p:nvSpPr>
          <p:cNvPr id="26" name="Text 19"/>
          <p:cNvSpPr txBox="1"/>
          <p:nvPr/>
        </p:nvSpPr>
        <p:spPr>
          <a:xfrm>
            <a:off x="548640" y="506577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Releases, deployments, robotic testing, regression runs &amp; results</a:t>
            </a:r>
            <a:endParaRPr lang="en-US" sz="700" dirty="0"/>
          </a:p>
        </p:txBody>
      </p:sp>
      <p:sp>
        <p:nvSpPr>
          <p:cNvPr id="27" name="Shape 20"/>
          <p:cNvSpPr/>
          <p:nvPr/>
        </p:nvSpPr>
        <p:spPr>
          <a:xfrm>
            <a:off x="457200" y="5614416"/>
            <a:ext cx="2834640" cy="786384"/>
          </a:xfrm>
          <a:prstGeom prst="roundRect">
            <a:avLst>
              <a:gd name="adj" fmla="val 4651"/>
            </a:avLst>
          </a:prstGeom>
          <a:solidFill>
            <a:srgbClr val="FFFFFF"/>
          </a:solidFill>
          <a:ln w="9525">
            <a:solidFill>
              <a:srgbClr val="DCE4EE"/>
            </a:solidFill>
            <a:prstDash val="solid"/>
          </a:ln>
        </p:spPr>
        <p:txBody>
          <a:bodyPr/>
          <a:lstStyle/>
          <a:p>
            <a:endParaRPr lang="en-IN"/>
          </a:p>
        </p:txBody>
      </p:sp>
      <p:pic>
        <p:nvPicPr>
          <p:cNvPr id="28" name="Image 5" descr="preencoded.png"/>
          <p:cNvPicPr>
            <a:picLocks noChangeAspect="1"/>
          </p:cNvPicPr>
          <p:nvPr/>
        </p:nvPicPr>
        <p:blipFill>
          <a:blip r:embed="rId8"/>
          <a:stretch>
            <a:fillRect/>
          </a:stretch>
        </p:blipFill>
        <p:spPr>
          <a:xfrm>
            <a:off x="548640" y="5705856"/>
            <a:ext cx="146304" cy="146304"/>
          </a:xfrm>
          <a:prstGeom prst="rect">
            <a:avLst/>
          </a:prstGeom>
        </p:spPr>
      </p:pic>
      <p:sp>
        <p:nvSpPr>
          <p:cNvPr id="29" name="Text 21"/>
          <p:cNvSpPr txBox="1"/>
          <p:nvPr/>
        </p:nvSpPr>
        <p:spPr>
          <a:xfrm>
            <a:off x="749808" y="5696712"/>
            <a:ext cx="2514600" cy="164592"/>
          </a:xfrm>
          <a:prstGeom prst="rect">
            <a:avLst/>
          </a:prstGeom>
          <a:noFill/>
          <a:ln/>
        </p:spPr>
        <p:txBody>
          <a:bodyPr wrap="square" lIns="0" tIns="0" rIns="0" bIns="0" rtlCol="0" anchor="ctr"/>
          <a:lstStyle/>
          <a:p>
            <a:pPr marL="0" indent="0">
              <a:buNone/>
            </a:pPr>
            <a:r>
              <a:rPr lang="en-US" sz="850" b="0" dirty="0">
                <a:solidFill>
                  <a:srgbClr val="1B6BC0"/>
                </a:solidFill>
                <a:latin typeface="Trenda IG Text Semibold" pitchFamily="34" charset="0"/>
                <a:ea typeface="Trenda IG Text Semibold" pitchFamily="34" charset="-122"/>
                <a:cs typeface="Trenda IG Text Semibold" pitchFamily="34" charset="-120"/>
              </a:rPr>
              <a:t>Google Drive</a:t>
            </a:r>
            <a:endParaRPr lang="en-US" sz="850" dirty="0"/>
          </a:p>
        </p:txBody>
      </p:sp>
      <p:sp>
        <p:nvSpPr>
          <p:cNvPr id="30" name="Text 22"/>
          <p:cNvSpPr txBox="1"/>
          <p:nvPr/>
        </p:nvSpPr>
        <p:spPr>
          <a:xfrm>
            <a:off x="548640" y="5888736"/>
            <a:ext cx="2670048" cy="457200"/>
          </a:xfrm>
          <a:prstGeom prst="rect">
            <a:avLst/>
          </a:prstGeom>
          <a:noFill/>
          <a:ln/>
        </p:spPr>
        <p:txBody>
          <a:bodyPr wrap="square" lIns="0" tIns="0" rIns="0" bIns="0" rtlCol="0" anchor="t"/>
          <a:lstStyle/>
          <a:p>
            <a:pPr marL="0" indent="0">
              <a:lnSpc>
                <a:spcPct val="95000"/>
              </a:lnSpc>
              <a:buNone/>
            </a:pPr>
            <a:r>
              <a:rPr lang="en-US" sz="700" dirty="0">
                <a:solidFill>
                  <a:srgbClr val="12233B"/>
                </a:solidFill>
                <a:latin typeface="Trenda IG Text" pitchFamily="34" charset="0"/>
                <a:ea typeface="Trenda IG Text" pitchFamily="34" charset="-122"/>
                <a:cs typeface="Trenda IG Text" pitchFamily="34" charset="-120"/>
              </a:rPr>
              <a:t>Spec sheets, field mappings, test-data workbooks, evidence exports</a:t>
            </a:r>
            <a:endParaRPr lang="en-US" sz="700" dirty="0"/>
          </a:p>
        </p:txBody>
      </p:sp>
      <p:sp>
        <p:nvSpPr>
          <p:cNvPr id="31" name="Shape 23"/>
          <p:cNvSpPr/>
          <p:nvPr/>
        </p:nvSpPr>
        <p:spPr>
          <a:xfrm>
            <a:off x="3584448" y="1024128"/>
            <a:ext cx="4974336" cy="5440680"/>
          </a:xfrm>
          <a:prstGeom prst="roundRect">
            <a:avLst>
              <a:gd name="adj" fmla="val 919"/>
            </a:avLst>
          </a:prstGeom>
          <a:solidFill>
            <a:srgbClr val="FFFFFF"/>
          </a:solidFill>
          <a:ln w="9525">
            <a:solidFill>
              <a:srgbClr val="DCE4EE"/>
            </a:solidFill>
            <a:prstDash val="solid"/>
          </a:ln>
        </p:spPr>
        <p:txBody>
          <a:bodyPr/>
          <a:lstStyle/>
          <a:p>
            <a:endParaRPr lang="en-IN"/>
          </a:p>
        </p:txBody>
      </p:sp>
      <p:sp>
        <p:nvSpPr>
          <p:cNvPr id="32" name="Shape 24"/>
          <p:cNvSpPr/>
          <p:nvPr/>
        </p:nvSpPr>
        <p:spPr>
          <a:xfrm>
            <a:off x="3584448" y="1024128"/>
            <a:ext cx="4974336" cy="365760"/>
          </a:xfrm>
          <a:prstGeom prst="roundRect">
            <a:avLst>
              <a:gd name="adj" fmla="val 12500"/>
            </a:avLst>
          </a:prstGeom>
          <a:solidFill>
            <a:srgbClr val="C2185B"/>
          </a:solidFill>
          <a:ln w="12700">
            <a:solidFill>
              <a:srgbClr val="C2185B"/>
            </a:solidFill>
            <a:prstDash val="solid"/>
          </a:ln>
        </p:spPr>
        <p:txBody>
          <a:bodyPr/>
          <a:lstStyle/>
          <a:p>
            <a:endParaRPr lang="en-IN"/>
          </a:p>
        </p:txBody>
      </p:sp>
      <p:sp>
        <p:nvSpPr>
          <p:cNvPr id="33" name="Text 25"/>
          <p:cNvSpPr txBox="1"/>
          <p:nvPr/>
        </p:nvSpPr>
        <p:spPr>
          <a:xfrm>
            <a:off x="3584448" y="1024128"/>
            <a:ext cx="4974336"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One graph, typed nodes, typed relationships</a:t>
            </a:r>
            <a:endParaRPr lang="en-US" sz="950" dirty="0"/>
          </a:p>
        </p:txBody>
      </p:sp>
      <p:sp>
        <p:nvSpPr>
          <p:cNvPr id="34" name="Shape 26"/>
          <p:cNvSpPr/>
          <p:nvPr/>
        </p:nvSpPr>
        <p:spPr>
          <a:xfrm flipV="1">
            <a:off x="6071616" y="2009851"/>
            <a:ext cx="0" cy="888797"/>
          </a:xfrm>
          <a:prstGeom prst="line">
            <a:avLst/>
          </a:prstGeom>
          <a:noFill/>
          <a:ln w="15875">
            <a:solidFill>
              <a:srgbClr val="C7D2DE"/>
            </a:solidFill>
            <a:prstDash val="solid"/>
          </a:ln>
        </p:spPr>
        <p:txBody>
          <a:bodyPr/>
          <a:lstStyle/>
          <a:p>
            <a:endParaRPr lang="en-IN"/>
          </a:p>
        </p:txBody>
      </p:sp>
      <p:sp>
        <p:nvSpPr>
          <p:cNvPr id="35" name="Shape 27"/>
          <p:cNvSpPr/>
          <p:nvPr/>
        </p:nvSpPr>
        <p:spPr>
          <a:xfrm>
            <a:off x="5422392" y="1808683"/>
            <a:ext cx="1298448" cy="402336"/>
          </a:xfrm>
          <a:prstGeom prst="roundRect">
            <a:avLst>
              <a:gd name="adj" fmla="val 13636"/>
            </a:avLst>
          </a:prstGeom>
          <a:solidFill>
            <a:srgbClr val="FFFFFF"/>
          </a:solidFill>
          <a:ln w="15875">
            <a:solidFill>
              <a:srgbClr val="1B6BC0"/>
            </a:solidFill>
            <a:prstDash val="solid"/>
          </a:ln>
        </p:spPr>
        <p:txBody>
          <a:bodyPr/>
          <a:lstStyle/>
          <a:p>
            <a:endParaRPr lang="en-IN"/>
          </a:p>
        </p:txBody>
      </p:sp>
      <p:sp>
        <p:nvSpPr>
          <p:cNvPr id="36" name="Text 28"/>
          <p:cNvSpPr txBox="1"/>
          <p:nvPr/>
        </p:nvSpPr>
        <p:spPr>
          <a:xfrm>
            <a:off x="5458968" y="1808683"/>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1B6BC0"/>
                </a:solidFill>
                <a:latin typeface="Trenda IG Text Semibold" pitchFamily="34" charset="0"/>
                <a:ea typeface="Trenda IG Text Semibold" pitchFamily="34" charset="-122"/>
                <a:cs typeface="Trenda IG Text Semibold" pitchFamily="34" charset="-120"/>
              </a:rPr>
              <a:t>Requirement</a:t>
            </a:r>
            <a:endParaRPr lang="en-US" sz="700" dirty="0"/>
          </a:p>
        </p:txBody>
      </p:sp>
      <p:sp>
        <p:nvSpPr>
          <p:cNvPr id="37" name="Shape 29"/>
          <p:cNvSpPr/>
          <p:nvPr/>
        </p:nvSpPr>
        <p:spPr>
          <a:xfrm flipV="1">
            <a:off x="6071616" y="2454250"/>
            <a:ext cx="1693385" cy="444398"/>
          </a:xfrm>
          <a:prstGeom prst="line">
            <a:avLst/>
          </a:prstGeom>
          <a:noFill/>
          <a:ln w="15875">
            <a:solidFill>
              <a:srgbClr val="C7D2DE"/>
            </a:solidFill>
            <a:prstDash val="solid"/>
          </a:ln>
        </p:spPr>
        <p:txBody>
          <a:bodyPr/>
          <a:lstStyle/>
          <a:p>
            <a:endParaRPr lang="en-IN"/>
          </a:p>
        </p:txBody>
      </p:sp>
      <p:sp>
        <p:nvSpPr>
          <p:cNvPr id="38" name="Shape 30"/>
          <p:cNvSpPr/>
          <p:nvPr/>
        </p:nvSpPr>
        <p:spPr>
          <a:xfrm>
            <a:off x="7115777" y="2253082"/>
            <a:ext cx="1298448" cy="402336"/>
          </a:xfrm>
          <a:prstGeom prst="roundRect">
            <a:avLst>
              <a:gd name="adj" fmla="val 13636"/>
            </a:avLst>
          </a:prstGeom>
          <a:solidFill>
            <a:srgbClr val="FFFFFF"/>
          </a:solidFill>
          <a:ln w="15875">
            <a:solidFill>
              <a:srgbClr val="0E8A7D"/>
            </a:solidFill>
            <a:prstDash val="solid"/>
          </a:ln>
        </p:spPr>
        <p:txBody>
          <a:bodyPr/>
          <a:lstStyle/>
          <a:p>
            <a:endParaRPr lang="en-IN"/>
          </a:p>
        </p:txBody>
      </p:sp>
      <p:sp>
        <p:nvSpPr>
          <p:cNvPr id="39" name="Text 31"/>
          <p:cNvSpPr txBox="1"/>
          <p:nvPr/>
        </p:nvSpPr>
        <p:spPr>
          <a:xfrm>
            <a:off x="7152353" y="2253082"/>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0E8A7D"/>
                </a:solidFill>
                <a:latin typeface="Trenda IG Text Semibold" pitchFamily="34" charset="0"/>
                <a:ea typeface="Trenda IG Text Semibold" pitchFamily="34" charset="-122"/>
                <a:cs typeface="Trenda IG Text Semibold" pitchFamily="34" charset="-120"/>
              </a:rPr>
              <a:t>Design &amp; rules</a:t>
            </a:r>
            <a:endParaRPr lang="en-US" sz="700" dirty="0"/>
          </a:p>
        </p:txBody>
      </p:sp>
      <p:sp>
        <p:nvSpPr>
          <p:cNvPr id="40" name="Shape 32"/>
          <p:cNvSpPr/>
          <p:nvPr/>
        </p:nvSpPr>
        <p:spPr>
          <a:xfrm>
            <a:off x="6071616" y="2898648"/>
            <a:ext cx="1693385" cy="444398"/>
          </a:xfrm>
          <a:prstGeom prst="line">
            <a:avLst/>
          </a:prstGeom>
          <a:noFill/>
          <a:ln w="15875">
            <a:solidFill>
              <a:srgbClr val="C7D2DE"/>
            </a:solidFill>
            <a:prstDash val="solid"/>
          </a:ln>
        </p:spPr>
        <p:txBody>
          <a:bodyPr/>
          <a:lstStyle/>
          <a:p>
            <a:endParaRPr lang="en-IN"/>
          </a:p>
        </p:txBody>
      </p:sp>
      <p:sp>
        <p:nvSpPr>
          <p:cNvPr id="41" name="Shape 33"/>
          <p:cNvSpPr/>
          <p:nvPr/>
        </p:nvSpPr>
        <p:spPr>
          <a:xfrm>
            <a:off x="7115777" y="3141878"/>
            <a:ext cx="1298448" cy="402336"/>
          </a:xfrm>
          <a:prstGeom prst="roundRect">
            <a:avLst>
              <a:gd name="adj" fmla="val 13636"/>
            </a:avLst>
          </a:prstGeom>
          <a:solidFill>
            <a:srgbClr val="FFFFFF"/>
          </a:solidFill>
          <a:ln w="15875">
            <a:solidFill>
              <a:srgbClr val="C2185B"/>
            </a:solidFill>
            <a:prstDash val="solid"/>
          </a:ln>
        </p:spPr>
        <p:txBody>
          <a:bodyPr/>
          <a:lstStyle/>
          <a:p>
            <a:endParaRPr lang="en-IN"/>
          </a:p>
        </p:txBody>
      </p:sp>
      <p:sp>
        <p:nvSpPr>
          <p:cNvPr id="42" name="Text 34"/>
          <p:cNvSpPr txBox="1"/>
          <p:nvPr/>
        </p:nvSpPr>
        <p:spPr>
          <a:xfrm>
            <a:off x="7152353" y="3141878"/>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C2185B"/>
                </a:solidFill>
                <a:latin typeface="Trenda IG Text Semibold" pitchFamily="34" charset="0"/>
                <a:ea typeface="Trenda IG Text Semibold" pitchFamily="34" charset="-122"/>
                <a:cs typeface="Trenda IG Text Semibold" pitchFamily="34" charset="-120"/>
              </a:rPr>
              <a:t>sObject + fields</a:t>
            </a:r>
            <a:endParaRPr lang="en-US" sz="700" dirty="0"/>
          </a:p>
        </p:txBody>
      </p:sp>
      <p:sp>
        <p:nvSpPr>
          <p:cNvPr id="43" name="Shape 35"/>
          <p:cNvSpPr/>
          <p:nvPr/>
        </p:nvSpPr>
        <p:spPr>
          <a:xfrm>
            <a:off x="6071616" y="2898648"/>
            <a:ext cx="0" cy="888797"/>
          </a:xfrm>
          <a:prstGeom prst="line">
            <a:avLst/>
          </a:prstGeom>
          <a:noFill/>
          <a:ln w="15875">
            <a:solidFill>
              <a:srgbClr val="C7D2DE"/>
            </a:solidFill>
            <a:prstDash val="solid"/>
          </a:ln>
        </p:spPr>
        <p:txBody>
          <a:bodyPr/>
          <a:lstStyle/>
          <a:p>
            <a:endParaRPr lang="en-IN"/>
          </a:p>
        </p:txBody>
      </p:sp>
      <p:sp>
        <p:nvSpPr>
          <p:cNvPr id="44" name="Shape 36"/>
          <p:cNvSpPr/>
          <p:nvPr/>
        </p:nvSpPr>
        <p:spPr>
          <a:xfrm>
            <a:off x="5422392" y="3586277"/>
            <a:ext cx="1298448" cy="402336"/>
          </a:xfrm>
          <a:prstGeom prst="roundRect">
            <a:avLst>
              <a:gd name="adj" fmla="val 13636"/>
            </a:avLst>
          </a:prstGeom>
          <a:solidFill>
            <a:srgbClr val="FFFFFF"/>
          </a:solidFill>
          <a:ln w="15875">
            <a:solidFill>
              <a:srgbClr val="C77400"/>
            </a:solidFill>
            <a:prstDash val="solid"/>
          </a:ln>
        </p:spPr>
        <p:txBody>
          <a:bodyPr/>
          <a:lstStyle/>
          <a:p>
            <a:endParaRPr lang="en-IN"/>
          </a:p>
        </p:txBody>
      </p:sp>
      <p:sp>
        <p:nvSpPr>
          <p:cNvPr id="45" name="Text 37"/>
          <p:cNvSpPr txBox="1"/>
          <p:nvPr/>
        </p:nvSpPr>
        <p:spPr>
          <a:xfrm>
            <a:off x="5458968" y="3586277"/>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C77400"/>
                </a:solidFill>
                <a:latin typeface="Trenda IG Text Semibold" pitchFamily="34" charset="0"/>
                <a:ea typeface="Trenda IG Text Semibold" pitchFamily="34" charset="-122"/>
                <a:cs typeface="Trenda IG Text Semibold" pitchFamily="34" charset="-120"/>
              </a:rPr>
              <a:t>Flow / Apex / VR</a:t>
            </a:r>
            <a:endParaRPr lang="en-US" sz="700" dirty="0"/>
          </a:p>
        </p:txBody>
      </p:sp>
      <p:sp>
        <p:nvSpPr>
          <p:cNvPr id="46" name="Shape 38"/>
          <p:cNvSpPr/>
          <p:nvPr/>
        </p:nvSpPr>
        <p:spPr>
          <a:xfrm flipH="1">
            <a:off x="4378231" y="2898648"/>
            <a:ext cx="1693385" cy="444398"/>
          </a:xfrm>
          <a:prstGeom prst="line">
            <a:avLst/>
          </a:prstGeom>
          <a:noFill/>
          <a:ln w="15875">
            <a:solidFill>
              <a:srgbClr val="C7D2DE"/>
            </a:solidFill>
            <a:prstDash val="solid"/>
          </a:ln>
        </p:spPr>
        <p:txBody>
          <a:bodyPr/>
          <a:lstStyle/>
          <a:p>
            <a:endParaRPr lang="en-IN"/>
          </a:p>
        </p:txBody>
      </p:sp>
      <p:sp>
        <p:nvSpPr>
          <p:cNvPr id="47" name="Shape 39"/>
          <p:cNvSpPr/>
          <p:nvPr/>
        </p:nvSpPr>
        <p:spPr>
          <a:xfrm>
            <a:off x="3729007" y="3141878"/>
            <a:ext cx="1298448" cy="402336"/>
          </a:xfrm>
          <a:prstGeom prst="roundRect">
            <a:avLst>
              <a:gd name="adj" fmla="val 13636"/>
            </a:avLst>
          </a:prstGeom>
          <a:solidFill>
            <a:srgbClr val="FFFFFF"/>
          </a:solidFill>
          <a:ln w="15875">
            <a:solidFill>
              <a:srgbClr val="2E7D32"/>
            </a:solidFill>
            <a:prstDash val="solid"/>
          </a:ln>
        </p:spPr>
        <p:txBody>
          <a:bodyPr/>
          <a:lstStyle/>
          <a:p>
            <a:endParaRPr lang="en-IN"/>
          </a:p>
        </p:txBody>
      </p:sp>
      <p:sp>
        <p:nvSpPr>
          <p:cNvPr id="48" name="Text 40"/>
          <p:cNvSpPr txBox="1"/>
          <p:nvPr/>
        </p:nvSpPr>
        <p:spPr>
          <a:xfrm>
            <a:off x="3765583" y="3141878"/>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2E7D32"/>
                </a:solidFill>
                <a:latin typeface="Trenda IG Text Semibold" pitchFamily="34" charset="0"/>
                <a:ea typeface="Trenda IG Text Semibold" pitchFamily="34" charset="-122"/>
                <a:cs typeface="Trenda IG Text Semibold" pitchFamily="34" charset="-120"/>
              </a:rPr>
              <a:t>Test, robotic</a:t>
            </a:r>
            <a:endParaRPr lang="en-US" sz="700" dirty="0"/>
          </a:p>
          <a:p>
            <a:pPr marL="0" indent="0" algn="ctr">
              <a:lnSpc>
                <a:spcPct val="90000"/>
              </a:lnSpc>
              <a:buNone/>
            </a:pPr>
            <a:r>
              <a:rPr lang="en-US" sz="700" b="0" dirty="0">
                <a:solidFill>
                  <a:srgbClr val="2E7D32"/>
                </a:solidFill>
                <a:latin typeface="Trenda IG Text Semibold" pitchFamily="34" charset="0"/>
                <a:ea typeface="Trenda IG Text Semibold" pitchFamily="34" charset="-122"/>
                <a:cs typeface="Trenda IG Text Semibold" pitchFamily="34" charset="-120"/>
              </a:rPr>
              <a:t>&amp; regression</a:t>
            </a:r>
            <a:endParaRPr lang="en-US" sz="700" dirty="0"/>
          </a:p>
        </p:txBody>
      </p:sp>
      <p:sp>
        <p:nvSpPr>
          <p:cNvPr id="49" name="Shape 41"/>
          <p:cNvSpPr/>
          <p:nvPr/>
        </p:nvSpPr>
        <p:spPr>
          <a:xfrm flipH="1" flipV="1">
            <a:off x="4378231" y="2454250"/>
            <a:ext cx="1693385" cy="444398"/>
          </a:xfrm>
          <a:prstGeom prst="line">
            <a:avLst/>
          </a:prstGeom>
          <a:noFill/>
          <a:ln w="15875">
            <a:solidFill>
              <a:srgbClr val="C7D2DE"/>
            </a:solidFill>
            <a:prstDash val="solid"/>
          </a:ln>
        </p:spPr>
        <p:txBody>
          <a:bodyPr/>
          <a:lstStyle/>
          <a:p>
            <a:endParaRPr lang="en-IN"/>
          </a:p>
        </p:txBody>
      </p:sp>
      <p:sp>
        <p:nvSpPr>
          <p:cNvPr id="50" name="Shape 42"/>
          <p:cNvSpPr/>
          <p:nvPr/>
        </p:nvSpPr>
        <p:spPr>
          <a:xfrm>
            <a:off x="3729007" y="2253082"/>
            <a:ext cx="1298448" cy="402336"/>
          </a:xfrm>
          <a:prstGeom prst="roundRect">
            <a:avLst>
              <a:gd name="adj" fmla="val 13636"/>
            </a:avLst>
          </a:prstGeom>
          <a:solidFill>
            <a:srgbClr val="FFFFFF"/>
          </a:solidFill>
          <a:ln w="15875">
            <a:solidFill>
              <a:srgbClr val="00757F"/>
            </a:solidFill>
            <a:prstDash val="solid"/>
          </a:ln>
        </p:spPr>
        <p:txBody>
          <a:bodyPr/>
          <a:lstStyle/>
          <a:p>
            <a:endParaRPr lang="en-IN"/>
          </a:p>
        </p:txBody>
      </p:sp>
      <p:sp>
        <p:nvSpPr>
          <p:cNvPr id="51" name="Text 43"/>
          <p:cNvSpPr txBox="1"/>
          <p:nvPr/>
        </p:nvSpPr>
        <p:spPr>
          <a:xfrm>
            <a:off x="3765583" y="2253082"/>
            <a:ext cx="1225296" cy="402336"/>
          </a:xfrm>
          <a:prstGeom prst="rect">
            <a:avLst/>
          </a:prstGeom>
          <a:noFill/>
          <a:ln/>
        </p:spPr>
        <p:txBody>
          <a:bodyPr wrap="square" lIns="0" tIns="0" rIns="0" bIns="0" rtlCol="0" anchor="ctr"/>
          <a:lstStyle/>
          <a:p>
            <a:pPr marL="0" indent="0" algn="ctr">
              <a:lnSpc>
                <a:spcPct val="90000"/>
              </a:lnSpc>
              <a:buNone/>
            </a:pPr>
            <a:r>
              <a:rPr lang="en-US" sz="700" b="0" dirty="0">
                <a:solidFill>
                  <a:srgbClr val="00757F"/>
                </a:solidFill>
                <a:latin typeface="Trenda IG Text Semibold" pitchFamily="34" charset="0"/>
                <a:ea typeface="Trenda IG Text Semibold" pitchFamily="34" charset="-122"/>
                <a:cs typeface="Trenda IG Text Semibold" pitchFamily="34" charset="-120"/>
              </a:rPr>
              <a:t>Release &amp; env</a:t>
            </a:r>
            <a:endParaRPr lang="en-US" sz="700" dirty="0"/>
          </a:p>
        </p:txBody>
      </p:sp>
      <p:sp>
        <p:nvSpPr>
          <p:cNvPr id="52" name="Shape 44"/>
          <p:cNvSpPr/>
          <p:nvPr/>
        </p:nvSpPr>
        <p:spPr>
          <a:xfrm>
            <a:off x="5321808" y="2514600"/>
            <a:ext cx="1499616" cy="768096"/>
          </a:xfrm>
          <a:prstGeom prst="ellipse">
            <a:avLst/>
          </a:prstGeom>
          <a:solidFill>
            <a:srgbClr val="C2185B"/>
          </a:solidFill>
          <a:ln w="12700">
            <a:solidFill>
              <a:srgbClr val="C2185B"/>
            </a:solidFill>
            <a:prstDash val="solid"/>
          </a:ln>
        </p:spPr>
        <p:txBody>
          <a:bodyPr/>
          <a:lstStyle/>
          <a:p>
            <a:endParaRPr lang="en-IN"/>
          </a:p>
        </p:txBody>
      </p:sp>
      <p:sp>
        <p:nvSpPr>
          <p:cNvPr id="53" name="Text 45"/>
          <p:cNvSpPr txBox="1"/>
          <p:nvPr/>
        </p:nvSpPr>
        <p:spPr>
          <a:xfrm>
            <a:off x="5358384" y="2551176"/>
            <a:ext cx="1426464" cy="694944"/>
          </a:xfrm>
          <a:prstGeom prst="rect">
            <a:avLst/>
          </a:prstGeom>
          <a:noFill/>
          <a:ln/>
        </p:spPr>
        <p:txBody>
          <a:bodyPr wrap="square" lIns="0" tIns="0" rIns="0" bIns="0" rtlCol="0" anchor="ctr"/>
          <a:lstStyle/>
          <a:p>
            <a:pPr marL="0" indent="0" algn="ctr">
              <a:lnSpc>
                <a:spcPct val="90000"/>
              </a:lnSpc>
              <a:buNone/>
            </a:pPr>
            <a:r>
              <a:rPr lang="en-US" sz="950" b="0" dirty="0">
                <a:solidFill>
                  <a:srgbClr val="FFFFFF"/>
                </a:solidFill>
                <a:latin typeface="Trenda IG Display Bold" pitchFamily="34" charset="0"/>
                <a:ea typeface="Trenda IG Display Bold" pitchFamily="34" charset="-122"/>
                <a:cs typeface="Trenda IG Display Bold" pitchFamily="34" charset="-120"/>
              </a:rPr>
              <a:t>Context</a:t>
            </a:r>
            <a:endParaRPr lang="en-US" sz="950" dirty="0"/>
          </a:p>
          <a:p>
            <a:pPr marL="0" indent="0" algn="ctr">
              <a:lnSpc>
                <a:spcPct val="90000"/>
              </a:lnSpc>
              <a:buNone/>
            </a:pPr>
            <a:r>
              <a:rPr lang="en-US" sz="950" b="0" dirty="0">
                <a:solidFill>
                  <a:srgbClr val="FFFFFF"/>
                </a:solidFill>
                <a:latin typeface="Trenda IG Display Bold" pitchFamily="34" charset="0"/>
                <a:ea typeface="Trenda IG Display Bold" pitchFamily="34" charset="-122"/>
                <a:cs typeface="Trenda IG Display Bold" pitchFamily="34" charset="-120"/>
              </a:rPr>
              <a:t>Graph</a:t>
            </a:r>
            <a:endParaRPr lang="en-US" sz="950" dirty="0"/>
          </a:p>
        </p:txBody>
      </p:sp>
      <p:sp>
        <p:nvSpPr>
          <p:cNvPr id="54" name="Text 46"/>
          <p:cNvSpPr txBox="1"/>
          <p:nvPr/>
        </p:nvSpPr>
        <p:spPr>
          <a:xfrm>
            <a:off x="3767328" y="4151376"/>
            <a:ext cx="4608576" cy="164592"/>
          </a:xfrm>
          <a:prstGeom prst="rect">
            <a:avLst/>
          </a:prstGeom>
          <a:noFill/>
          <a:ln/>
        </p:spPr>
        <p:txBody>
          <a:bodyPr wrap="square" lIns="0" tIns="0" rIns="0" bIns="0" rtlCol="0" anchor="ctr"/>
          <a:lstStyle/>
          <a:p>
            <a:pPr marL="0" indent="0" algn="ctr">
              <a:buNone/>
            </a:pPr>
            <a:r>
              <a:rPr lang="en-US" sz="800" b="0" dirty="0">
                <a:solidFill>
                  <a:srgbClr val="C2185B"/>
                </a:solidFill>
                <a:latin typeface="Trenda IG Text Semibold" pitchFamily="34" charset="0"/>
                <a:ea typeface="Trenda IG Text Semibold" pitchFamily="34" charset="-122"/>
                <a:cs typeface="Trenda IG Text Semibold" pitchFamily="34" charset="-120"/>
              </a:rPr>
              <a:t>Every edge is a fact, not a guess</a:t>
            </a:r>
            <a:endParaRPr lang="en-US" sz="800" dirty="0"/>
          </a:p>
        </p:txBody>
      </p:sp>
      <p:sp>
        <p:nvSpPr>
          <p:cNvPr id="55" name="Text 47"/>
          <p:cNvSpPr txBox="1"/>
          <p:nvPr/>
        </p:nvSpPr>
        <p:spPr>
          <a:xfrm>
            <a:off x="3803904" y="4352544"/>
            <a:ext cx="4535424" cy="841248"/>
          </a:xfrm>
          <a:prstGeom prst="rect">
            <a:avLst/>
          </a:prstGeom>
          <a:noFill/>
          <a:ln/>
        </p:spPr>
        <p:txBody>
          <a:bodyPr wrap="square" lIns="0" tIns="0" rIns="0" bIns="0" rtlCol="0" anchor="t"/>
          <a:lstStyle/>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REQUIREMENT_TARGETS_CAPABILITY  ·  SECTION_DEFINES_RULE</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RULE_CONSTRAINS_SOBJECT  ·  SOBJECT_HAS_FIELD</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FLOW_UPDATES_SOBJECT  ·  APEX_REFERENCES_SOBJECT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TRIGGER_FIRES_ON_SOBJECT  ·  COMPONENT_DEPENDS_ON_COMPONENT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TEST_COVERS_COMPONENT  ·  RELEASE_DEPLOYS_COMPONENT</a:t>
            </a:r>
            <a:endParaRPr lang="en-US" sz="700" dirty="0"/>
          </a:p>
          <a:p>
            <a:pPr marL="0" indent="0" algn="ctr">
              <a:lnSpc>
                <a:spcPct val="105000"/>
              </a:lnSpc>
              <a:buNone/>
            </a:pPr>
            <a:r>
              <a:rPr lang="en-US" sz="700" dirty="0">
                <a:solidFill>
                  <a:srgbClr val="12233B"/>
                </a:solidFill>
                <a:latin typeface="Trenda IG Text" pitchFamily="34" charset="0"/>
                <a:ea typeface="Trenda IG Text" pitchFamily="34" charset="-122"/>
                <a:cs typeface="Trenda IG Text" pitchFamily="34" charset="-120"/>
              </a:rPr>
              <a:t>COMPONENT_PUBLISHES_EVENT (→ APDH)  ·  REQUIREMENT_REUSES_COMPONENT</a:t>
            </a:r>
            <a:endParaRPr lang="en-US" sz="700" dirty="0"/>
          </a:p>
        </p:txBody>
      </p:sp>
      <p:sp>
        <p:nvSpPr>
          <p:cNvPr id="56" name="Shape 48"/>
          <p:cNvSpPr/>
          <p:nvPr/>
        </p:nvSpPr>
        <p:spPr>
          <a:xfrm>
            <a:off x="3767328" y="5248656"/>
            <a:ext cx="4608576" cy="1097280"/>
          </a:xfrm>
          <a:prstGeom prst="roundRect">
            <a:avLst>
              <a:gd name="adj" fmla="val 4167"/>
            </a:avLst>
          </a:prstGeom>
          <a:solidFill>
            <a:srgbClr val="FBE9F0"/>
          </a:solidFill>
          <a:ln w="9525">
            <a:solidFill>
              <a:srgbClr val="C2185B"/>
            </a:solidFill>
            <a:prstDash val="solid"/>
          </a:ln>
        </p:spPr>
        <p:txBody>
          <a:bodyPr/>
          <a:lstStyle/>
          <a:p>
            <a:endParaRPr lang="en-IN"/>
          </a:p>
        </p:txBody>
      </p:sp>
      <p:sp>
        <p:nvSpPr>
          <p:cNvPr id="57" name="Text 49"/>
          <p:cNvSpPr txBox="1"/>
          <p:nvPr/>
        </p:nvSpPr>
        <p:spPr>
          <a:xfrm>
            <a:off x="3877056" y="5330952"/>
            <a:ext cx="4389120" cy="164592"/>
          </a:xfrm>
          <a:prstGeom prst="rect">
            <a:avLst/>
          </a:prstGeom>
          <a:noFill/>
          <a:ln/>
        </p:spPr>
        <p:txBody>
          <a:bodyPr wrap="square" lIns="0" tIns="0" rIns="0" bIns="0" rtlCol="0" anchor="ctr"/>
          <a:lstStyle/>
          <a:p>
            <a:pPr marL="0" indent="0">
              <a:buNone/>
            </a:pPr>
            <a:r>
              <a:rPr lang="en-US" sz="800" b="0" dirty="0">
                <a:solidFill>
                  <a:srgbClr val="C2185B"/>
                </a:solidFill>
                <a:latin typeface="Trenda IG Text Semibold" pitchFamily="34" charset="0"/>
                <a:ea typeface="Trenda IG Text Semibold" pitchFamily="34" charset="-122"/>
                <a:cs typeface="Trenda IG Text Semibold" pitchFamily="34" charset="-120"/>
              </a:rPr>
              <a:t>Why a graph and not a document store</a:t>
            </a:r>
            <a:endParaRPr lang="en-US" sz="800" dirty="0"/>
          </a:p>
        </p:txBody>
      </p:sp>
      <p:sp>
        <p:nvSpPr>
          <p:cNvPr id="58" name="Text 50"/>
          <p:cNvSpPr txBox="1"/>
          <p:nvPr/>
        </p:nvSpPr>
        <p:spPr>
          <a:xfrm>
            <a:off x="3877056" y="5532120"/>
            <a:ext cx="4389120" cy="749808"/>
          </a:xfrm>
          <a:prstGeom prst="rect">
            <a:avLst/>
          </a:prstGeom>
          <a:noFill/>
          <a:ln/>
        </p:spPr>
        <p:txBody>
          <a:bodyPr wrap="square" lIns="0" tIns="0" rIns="0" bIns="0" rtlCol="0" anchor="t"/>
          <a:lstStyle/>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50" dirty="0"/>
          </a:p>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50" dirty="0"/>
          </a:p>
          <a:p>
            <a:pPr marL="0" indent="0">
              <a:lnSpc>
                <a:spcPct val="100000"/>
              </a:lnSpc>
              <a:buNone/>
            </a:pPr>
            <a:r>
              <a:rPr lang="en-US" sz="750" dirty="0">
                <a:solidFill>
                  <a:srgbClr val="12233B"/>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50" dirty="0"/>
          </a:p>
        </p:txBody>
      </p:sp>
      <p:sp>
        <p:nvSpPr>
          <p:cNvPr id="59" name="Shape 51"/>
          <p:cNvSpPr/>
          <p:nvPr/>
        </p:nvSpPr>
        <p:spPr>
          <a:xfrm>
            <a:off x="8759952" y="1024128"/>
            <a:ext cx="3063240" cy="5440680"/>
          </a:xfrm>
          <a:prstGeom prst="roundRect">
            <a:avLst>
              <a:gd name="adj" fmla="val 1493"/>
            </a:avLst>
          </a:prstGeom>
          <a:solidFill>
            <a:srgbClr val="E3F2F4"/>
          </a:solidFill>
          <a:ln w="9525">
            <a:solidFill>
              <a:srgbClr val="DCE4EE"/>
            </a:solidFill>
            <a:prstDash val="solid"/>
          </a:ln>
        </p:spPr>
        <p:txBody>
          <a:bodyPr/>
          <a:lstStyle/>
          <a:p>
            <a:endParaRPr lang="en-IN"/>
          </a:p>
        </p:txBody>
      </p:sp>
      <p:sp>
        <p:nvSpPr>
          <p:cNvPr id="60" name="Shape 52"/>
          <p:cNvSpPr/>
          <p:nvPr/>
        </p:nvSpPr>
        <p:spPr>
          <a:xfrm>
            <a:off x="8759952" y="1024128"/>
            <a:ext cx="3063240" cy="365760"/>
          </a:xfrm>
          <a:prstGeom prst="roundRect">
            <a:avLst>
              <a:gd name="adj" fmla="val 12500"/>
            </a:avLst>
          </a:prstGeom>
          <a:solidFill>
            <a:srgbClr val="00757F"/>
          </a:solidFill>
          <a:ln w="12700">
            <a:solidFill>
              <a:srgbClr val="00757F"/>
            </a:solidFill>
            <a:prstDash val="solid"/>
          </a:ln>
        </p:spPr>
        <p:txBody>
          <a:bodyPr/>
          <a:lstStyle/>
          <a:p>
            <a:endParaRPr lang="en-IN"/>
          </a:p>
        </p:txBody>
      </p:sp>
      <p:sp>
        <p:nvSpPr>
          <p:cNvPr id="61" name="Text 53"/>
          <p:cNvSpPr txBox="1"/>
          <p:nvPr/>
        </p:nvSpPr>
        <p:spPr>
          <a:xfrm>
            <a:off x="8759952" y="1024128"/>
            <a:ext cx="3063240" cy="365760"/>
          </a:xfrm>
          <a:prstGeom prst="rect">
            <a:avLst/>
          </a:prstGeom>
          <a:noFill/>
          <a:ln/>
        </p:spPr>
        <p:txBody>
          <a:bodyPr wrap="square" lIns="0" tIns="0" rIns="0" bIns="0" rtlCol="0" anchor="ctr"/>
          <a:lstStyle/>
          <a:p>
            <a:pPr marL="0" indent="0" algn="ctr">
              <a:buNone/>
            </a:pPr>
            <a:r>
              <a:rPr lang="en-US" sz="950" b="0" dirty="0">
                <a:solidFill>
                  <a:srgbClr val="FFFFFF"/>
                </a:solidFill>
                <a:latin typeface="Trenda IG Display Bold" pitchFamily="34" charset="0"/>
                <a:ea typeface="Trenda IG Display Bold" pitchFamily="34" charset="-122"/>
                <a:cs typeface="Trenda IG Display Bold" pitchFamily="34" charset="-120"/>
              </a:rPr>
              <a:t>How Codex uses it</a:t>
            </a:r>
            <a:endParaRPr lang="en-US" sz="950" dirty="0"/>
          </a:p>
        </p:txBody>
      </p:sp>
      <p:sp>
        <p:nvSpPr>
          <p:cNvPr id="62" name="Shape 54"/>
          <p:cNvSpPr/>
          <p:nvPr/>
        </p:nvSpPr>
        <p:spPr>
          <a:xfrm>
            <a:off x="8851392" y="1499616"/>
            <a:ext cx="2880360" cy="1170432"/>
          </a:xfrm>
          <a:prstGeom prst="roundRect">
            <a:avLst>
              <a:gd name="adj" fmla="val 3125"/>
            </a:avLst>
          </a:prstGeom>
          <a:solidFill>
            <a:srgbClr val="FFFFFF"/>
          </a:solidFill>
          <a:ln w="9525">
            <a:solidFill>
              <a:srgbClr val="DCE4EE"/>
            </a:solidFill>
            <a:prstDash val="solid"/>
          </a:ln>
        </p:spPr>
        <p:txBody>
          <a:bodyPr/>
          <a:lstStyle/>
          <a:p>
            <a:endParaRPr lang="en-IN"/>
          </a:p>
        </p:txBody>
      </p:sp>
      <p:sp>
        <p:nvSpPr>
          <p:cNvPr id="63" name="Text 55"/>
          <p:cNvSpPr txBox="1"/>
          <p:nvPr/>
        </p:nvSpPr>
        <p:spPr>
          <a:xfrm>
            <a:off x="8961120" y="1572768"/>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Ask the adapter</a:t>
            </a:r>
            <a:endParaRPr lang="en-US" sz="800" dirty="0"/>
          </a:p>
        </p:txBody>
      </p:sp>
      <p:sp>
        <p:nvSpPr>
          <p:cNvPr id="64" name="Text 56"/>
          <p:cNvSpPr txBox="1"/>
          <p:nvPr/>
        </p:nvSpPr>
        <p:spPr>
          <a:xfrm>
            <a:off x="8961120" y="1764792"/>
            <a:ext cx="2660904" cy="841248"/>
          </a:xfrm>
          <a:prstGeom prst="rect">
            <a:avLst/>
          </a:prstGeom>
          <a:noFill/>
          <a:ln/>
        </p:spPr>
        <p:txBody>
          <a:bodyPr wrap="square" lIns="0" tIns="0" rIns="0" bIns="0" rtlCol="0" anchor="t"/>
          <a:lstStyle/>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analyze_impact("req:NS-1234")</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find_reuse("cap:network-participation")</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blast_radius("sobj:HPF__c", hops=3)</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trace_downstream_events("apex:HFNGen")</a:t>
            </a:r>
            <a:endParaRPr lang="en-US" sz="640" dirty="0"/>
          </a:p>
          <a:p>
            <a:pPr marL="0" indent="0">
              <a:lnSpc>
                <a:spcPct val="98000"/>
              </a:lnSpc>
              <a:buNone/>
            </a:pPr>
            <a:r>
              <a:rPr lang="en-US" sz="640" dirty="0">
                <a:solidFill>
                  <a:srgbClr val="12233B"/>
                </a:solidFill>
                <a:latin typeface="Courier New" pitchFamily="34" charset="0"/>
                <a:ea typeface="Courier New" pitchFamily="34" charset="-122"/>
                <a:cs typeface="Courier New" pitchFamily="34" charset="-120"/>
              </a:rPr>
              <a:t>get_provenance("rule:hfn-active-hpf")</a:t>
            </a:r>
            <a:endParaRPr lang="en-US" sz="640" dirty="0"/>
          </a:p>
        </p:txBody>
      </p:sp>
      <p:sp>
        <p:nvSpPr>
          <p:cNvPr id="65" name="Shape 57"/>
          <p:cNvSpPr/>
          <p:nvPr/>
        </p:nvSpPr>
        <p:spPr>
          <a:xfrm>
            <a:off x="8851392" y="2761488"/>
            <a:ext cx="2880360" cy="1481328"/>
          </a:xfrm>
          <a:prstGeom prst="roundRect">
            <a:avLst>
              <a:gd name="adj" fmla="val 2469"/>
            </a:avLst>
          </a:prstGeom>
          <a:solidFill>
            <a:srgbClr val="FFFFFF"/>
          </a:solidFill>
          <a:ln w="9525">
            <a:solidFill>
              <a:srgbClr val="DCE4EE"/>
            </a:solidFill>
            <a:prstDash val="solid"/>
          </a:ln>
        </p:spPr>
        <p:txBody>
          <a:bodyPr/>
          <a:lstStyle/>
          <a:p>
            <a:endParaRPr lang="en-IN"/>
          </a:p>
        </p:txBody>
      </p:sp>
      <p:sp>
        <p:nvSpPr>
          <p:cNvPr id="66" name="Text 58"/>
          <p:cNvSpPr txBox="1"/>
          <p:nvPr/>
        </p:nvSpPr>
        <p:spPr>
          <a:xfrm>
            <a:off x="8961120" y="2834640"/>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Get back verified facts</a:t>
            </a:r>
            <a:endParaRPr lang="en-US" sz="800" dirty="0"/>
          </a:p>
        </p:txBody>
      </p:sp>
      <p:sp>
        <p:nvSpPr>
          <p:cNvPr id="67" name="Text 59"/>
          <p:cNvSpPr txBox="1"/>
          <p:nvPr/>
        </p:nvSpPr>
        <p:spPr>
          <a:xfrm>
            <a:off x="8961120" y="3026664"/>
            <a:ext cx="2660904" cy="1152144"/>
          </a:xfrm>
          <a:prstGeom prst="rect">
            <a:avLst/>
          </a:prstGeom>
          <a:noFill/>
          <a:ln/>
        </p:spPr>
        <p:txBody>
          <a:bodyPr wrap="square" lIns="0" tIns="0" rIns="0" bIns="0" rtlCol="0" anchor="t"/>
          <a:lstStyle/>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Business capability affected</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Objects, fields and automation touched</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Existing implementation to reuse</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Covering robotic &amp; regression tests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Downstream APDH publishing impact</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Risk tier and the approver it routes to</a:t>
            </a:r>
            <a:endParaRPr lang="en-US" sz="720" dirty="0"/>
          </a:p>
        </p:txBody>
      </p:sp>
      <p:sp>
        <p:nvSpPr>
          <p:cNvPr id="68" name="Shape 60"/>
          <p:cNvSpPr/>
          <p:nvPr/>
        </p:nvSpPr>
        <p:spPr>
          <a:xfrm>
            <a:off x="8851392" y="4334256"/>
            <a:ext cx="2880360" cy="1078992"/>
          </a:xfrm>
          <a:prstGeom prst="roundRect">
            <a:avLst>
              <a:gd name="adj" fmla="val 3390"/>
            </a:avLst>
          </a:prstGeom>
          <a:solidFill>
            <a:srgbClr val="FFFFFF"/>
          </a:solidFill>
          <a:ln w="9525">
            <a:solidFill>
              <a:srgbClr val="DCE4EE"/>
            </a:solidFill>
            <a:prstDash val="solid"/>
          </a:ln>
        </p:spPr>
        <p:txBody>
          <a:bodyPr/>
          <a:lstStyle/>
          <a:p>
            <a:endParaRPr lang="en-IN"/>
          </a:p>
        </p:txBody>
      </p:sp>
      <p:sp>
        <p:nvSpPr>
          <p:cNvPr id="69" name="Text 61"/>
          <p:cNvSpPr txBox="1"/>
          <p:nvPr/>
        </p:nvSpPr>
        <p:spPr>
          <a:xfrm>
            <a:off x="8961120" y="4407408"/>
            <a:ext cx="2660904" cy="164592"/>
          </a:xfrm>
          <a:prstGeom prst="rect">
            <a:avLst/>
          </a:prstGeom>
          <a:noFill/>
          <a:ln/>
        </p:spPr>
        <p:txBody>
          <a:bodyPr wrap="square" lIns="0" tIns="0" rIns="0" bIns="0" rtlCol="0" anchor="ctr"/>
          <a:lstStyle/>
          <a:p>
            <a:pPr marL="0" indent="0">
              <a:buNone/>
            </a:pPr>
            <a:r>
              <a:rPr lang="en-US" sz="800" b="0" dirty="0">
                <a:solidFill>
                  <a:srgbClr val="00757F"/>
                </a:solidFill>
                <a:latin typeface="Trenda IG Text Semibold" pitchFamily="34" charset="0"/>
                <a:ea typeface="Trenda IG Text Semibold" pitchFamily="34" charset="-122"/>
                <a:cs typeface="Trenda IG Text Semibold" pitchFamily="34" charset="-120"/>
              </a:rPr>
              <a:t>Then Codex writes</a:t>
            </a:r>
            <a:endParaRPr lang="en-US" sz="800" dirty="0"/>
          </a:p>
        </p:txBody>
      </p:sp>
      <p:sp>
        <p:nvSpPr>
          <p:cNvPr id="70" name="Text 62"/>
          <p:cNvSpPr txBox="1"/>
          <p:nvPr/>
        </p:nvSpPr>
        <p:spPr>
          <a:xfrm>
            <a:off x="8961120" y="4599432"/>
            <a:ext cx="2660904" cy="749808"/>
          </a:xfrm>
          <a:prstGeom prst="rect">
            <a:avLst/>
          </a:prstGeom>
          <a:noFill/>
          <a:ln/>
        </p:spPr>
        <p:txBody>
          <a:bodyPr wrap="square" lIns="0" tIns="0" rIns="0" bIns="0" rtlCol="0" anchor="t"/>
          <a:lstStyle/>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Apex, Flows, validation rules, metadata</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LWC config and tests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Modifies existing when valid, never duplicates</a:t>
            </a:r>
            <a:endParaRPr lang="en-US" sz="720" dirty="0"/>
          </a:p>
          <a:p>
            <a:pPr marL="101600" indent="-101600">
              <a:lnSpc>
                <a:spcPct val="98000"/>
              </a:lnSpc>
              <a:buSzPct val="100000"/>
              <a:buChar char="•"/>
            </a:pPr>
            <a:r>
              <a:rPr lang="en-US" sz="720" dirty="0">
                <a:solidFill>
                  <a:srgbClr val="12233B"/>
                </a:solidFill>
                <a:latin typeface="Trenda IG Text" pitchFamily="34" charset="0"/>
                <a:ea typeface="Trenda IG Text" pitchFamily="34" charset="-122"/>
                <a:cs typeface="Trenda IG Text" pitchFamily="34" charset="-120"/>
              </a:rPr>
              <a:t>DEV + branch only, after human approval</a:t>
            </a:r>
            <a:endParaRPr lang="en-US" sz="720" dirty="0"/>
          </a:p>
        </p:txBody>
      </p:sp>
      <p:sp>
        <p:nvSpPr>
          <p:cNvPr id="71" name="Shape 63"/>
          <p:cNvSpPr/>
          <p:nvPr/>
        </p:nvSpPr>
        <p:spPr>
          <a:xfrm>
            <a:off x="8851392" y="5504688"/>
            <a:ext cx="2880360" cy="795528"/>
          </a:xfrm>
          <a:prstGeom prst="roundRect">
            <a:avLst>
              <a:gd name="adj" fmla="val 4598"/>
            </a:avLst>
          </a:prstGeom>
          <a:solidFill>
            <a:srgbClr val="00757F"/>
          </a:solidFill>
          <a:ln w="12700">
            <a:solidFill>
              <a:srgbClr val="00757F"/>
            </a:solidFill>
            <a:prstDash val="solid"/>
          </a:ln>
        </p:spPr>
        <p:txBody>
          <a:bodyPr/>
          <a:lstStyle/>
          <a:p>
            <a:endParaRPr lang="en-IN"/>
          </a:p>
        </p:txBody>
      </p:sp>
      <p:sp>
        <p:nvSpPr>
          <p:cNvPr id="72" name="Text 64"/>
          <p:cNvSpPr txBox="1"/>
          <p:nvPr/>
        </p:nvSpPr>
        <p:spPr>
          <a:xfrm>
            <a:off x="8961120" y="5577840"/>
            <a:ext cx="2660904" cy="164592"/>
          </a:xfrm>
          <a:prstGeom prst="rect">
            <a:avLst/>
          </a:prstGeom>
          <a:noFill/>
          <a:ln/>
        </p:spPr>
        <p:txBody>
          <a:bodyPr wrap="square" lIns="0" tIns="0" rIns="0" bIns="0" rtlCol="0" anchor="ctr"/>
          <a:lstStyle/>
          <a:p>
            <a:pPr marL="0" indent="0">
              <a:buNone/>
            </a:pPr>
            <a:r>
              <a:rPr lang="en-US" sz="850" b="0" dirty="0">
                <a:solidFill>
                  <a:srgbClr val="FFFFFF"/>
                </a:solidFill>
                <a:latin typeface="Trenda IG Text Semibold" pitchFamily="34" charset="0"/>
                <a:ea typeface="Trenda IG Text Semibold" pitchFamily="34" charset="-122"/>
                <a:cs typeface="Trenda IG Text Semibold" pitchFamily="34" charset="-120"/>
              </a:rPr>
              <a:t>Retrieval without guesswork</a:t>
            </a:r>
            <a:endParaRPr lang="en-US" sz="850" dirty="0"/>
          </a:p>
        </p:txBody>
      </p:sp>
      <p:sp>
        <p:nvSpPr>
          <p:cNvPr id="73" name="Text 65"/>
          <p:cNvSpPr txBox="1"/>
          <p:nvPr/>
        </p:nvSpPr>
        <p:spPr>
          <a:xfrm>
            <a:off x="8961120" y="5760720"/>
            <a:ext cx="2660904" cy="493776"/>
          </a:xfrm>
          <a:prstGeom prst="rect">
            <a:avLst/>
          </a:prstGeom>
          <a:noFill/>
          <a:ln/>
        </p:spPr>
        <p:txBody>
          <a:bodyPr wrap="square" lIns="0" tIns="0" rIns="0" bIns="0" rtlCol="0" anchor="t"/>
          <a:lstStyle/>
          <a:p>
            <a:pPr marL="0" indent="0">
              <a:lnSpc>
                <a:spcPct val="98000"/>
              </a:lnSpc>
              <a:buNone/>
            </a:pPr>
            <a:r>
              <a:rPr lang="en-US" sz="700" dirty="0">
                <a:solidFill>
                  <a:srgbClr val="FFFFFF"/>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14027</Words>
  <Application>Microsoft Office PowerPoint</Application>
  <PresentationFormat>Widescreen</PresentationFormat>
  <Paragraphs>1586</Paragraphs>
  <Slides>14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Courier New</vt:lpstr>
      <vt:lpstr>Trenda IG Display</vt:lpstr>
      <vt:lpstr>Trenda IG Display Bold</vt:lpstr>
      <vt:lpstr>Trenda IG Text</vt:lpstr>
      <vt:lpstr>Trenda IG Text Light</vt:lpstr>
      <vt:lpstr>Trenda IG Text Semibold</vt:lpstr>
      <vt:lpstr>Office Theme</vt:lpstr>
      <vt:lpstr>Ascension MAD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2</cp:revision>
  <dcterms:created xsi:type="dcterms:W3CDTF">2026-09-09T12:37:24Z</dcterms:created>
  <dcterms:modified xsi:type="dcterms:W3CDTF">2026-10-11T03:44:01Z</dcterms:modified>
</cp:coreProperties>
</file>