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4  |  Codex to Production: one campaign through the harness   (about 3 minutes)</a:t>
            </a:r>
          </a:p>
          <a:p>
            <a:r>
              <a:t>MAIN POINT: the complete governed lifecycle of one change, and every step waits for a human approval.</a:t>
            </a:r>
          </a:p>
          <a:p>
            <a:r>
              <a:t>Advance with Enter, Down arrow, Space or a click. The slide opens on the full design; each click spotlights the next part. Backspace or Up arrow goes back.</a:t>
            </a:r>
          </a:p>
          <a:p/>
          <a:p>
            <a:r>
              <a:t>[OPEN, full diagram] This is the main execution slide. Let's follow one Marketing Cloud campaign: the CHF post-discharge SMS nudge, Jira story VBC-412.</a:t>
            </a:r>
          </a:p>
          <a:p/>
          <a:p>
            <a:r>
              <a:t>[CLICK 1  Start in Salesforce] The marketer starts from the Agentic Harness console in Salesforce, gives the Jira key, picks the Marketing Cloud pod and attaches the design. Through Apex and a Named Credential the request reaches the harness, and Codex runs the delivery skills.</a:t>
            </a:r>
          </a:p>
          <a:p/>
          <a:p>
            <a:r>
              <a:t>[CLICK 2  Context first] Before anything is built, the Requirements Agent checks what already exists: the data extensions, journeys and Data Cloud segments in Salesforce, the Jira history and the Confluence design. The graph is filled by read-only connectors, with sources and snapshots, and the agent gets a bounded slice, never a full org dump.</a:t>
            </a:r>
          </a:p>
          <a:p/>
          <a:p>
            <a:r>
              <a:t>[CLICK 3  Orchestrated] Cloud Workflows coordinates the story. Agent workers handle requirements, design, build, review, test and release, with checkpoints and resumable runs.</a:t>
            </a:r>
          </a:p>
          <a:p/>
          <a:p>
            <a:r>
              <a:t>[CLICK 4  Gateway] Any action on Git, Salesforce, Marketing Cloud or Copado goes through the MCP gateway with the identity allowed for that step. The Change Guardian checks which other pods share the same data extensions, short code and STOP keyword.</a:t>
            </a:r>
          </a:p>
          <a:p/>
          <a:p>
            <a:r>
              <a:t>[CLICK 5  Evals: pass] Every output is scored before it moves on. Look at the EVALS tags along the bottom: each agent step is evaluated and its score updated, run by run. A pass goes to the gate, with the evidence.</a:t>
            </a:r>
          </a:p>
          <a:p/>
          <a:p>
            <a:r>
              <a:t>[CLICK 6  Evals: fail] If a check fails, the result goes back for correction, at most five times, then a named owner takes over.</a:t>
            </a:r>
          </a:p>
          <a:p/>
          <a:p>
            <a:r>
              <a:t>Now the most important part: nothing moves without a person.</a:t>
            </a:r>
          </a:p>
          <a:p/>
          <a:p>
            <a:r>
              <a:t>[CLICK 7  H1] The Requirements Agent posts the brief to the Jira story as a comment. The product owner approves at H1, and only then does design start.</a:t>
            </a:r>
          </a:p>
          <a:p/>
          <a:p>
            <a:r>
              <a:t>[CLICK 8  H2] The Architect Agent drafts the design in Confluence, reusing what exists; the Change Guardian names the affected pods. Architect and pod owners approve at H2.</a:t>
            </a:r>
          </a:p>
          <a:p/>
          <a:p>
            <a:r>
              <a:t>[CLICK 9  H3] The Developer Agent builds in the Marketing Cloud dev business unit; Review and Test Agents check it and the evals score it. Tech lead and security approve at H3.</a:t>
            </a:r>
          </a:p>
          <a:p/>
          <a:p>
            <a:r>
              <a:t>[CLICK 10  06 UAT, then H4] The Release Agent promotes through Copado to SIT and UAT (step 05). In step 06, marketing and clinical owners test every message variant; they sign off at H4.</a:t>
            </a:r>
          </a:p>
          <a:p/>
          <a:p>
            <a:r>
              <a:t>[CLICK 11  CAB] The CAB pack comes from the change passport. CAB approves the release, exactly as today.</a:t>
            </a:r>
          </a:p>
          <a:p/>
          <a:p>
            <a:r>
              <a:t>[CLICK 12  Production] The owning team activates the journey in production. No agent holds a production credential. Step 09 closes the story and resyncs the graph.</a:t>
            </a:r>
          </a:p>
          <a:p/>
          <a:p>
            <a:r>
              <a:t>[CLICK 13  Evidence] Every step and every approval is kept in the change passport, and we report cycle time, defects, rework and cost per change.</a:t>
            </a:r>
          </a:p>
          <a:p/>
          <a:p>
            <a:r>
              <a:t>[CLICK 14  back to the full design] So the whole execution runs on human approval at every step. It is not just automation: it is a controlled, auditable delivery process.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HIGH-LEVEL DESIGN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Codex to Production: one story through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People give their inputs in Salesforce, Codex does the work, the knowledge graph grounds it, evals score every step, and people approve every gate.</a:t>
            </a:r>
          </a:p>
        </p:txBody>
      </p:sp>
      <p:sp>
        <p:nvSpPr>
          <p:cNvPr id="5" name="Shape 4"/>
          <p:cNvSpPr/>
          <p:nvPr/>
        </p:nvSpPr>
        <p:spPr>
          <a:xfrm>
            <a:off x="411480" y="1161288"/>
            <a:ext cx="2029968"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61288"/>
            <a:ext cx="1847088" cy="256032"/>
          </a:xfrm>
          <a:prstGeom prst="rect">
            <a:avLst/>
          </a:prstGeom>
          <a:noFill/>
        </p:spPr>
        <p:txBody>
          <a:bodyPr wrap="square" lIns="0" rIns="0" tIns="0" bIns="0" anchor="ctr">
            <a:spAutoFit/>
          </a:bodyPr>
          <a:lstStyle/>
          <a:p>
            <a:r>
              <a:rPr sz="750" b="1" i="0" spc="150">
                <a:solidFill>
                  <a:srgbClr val="FFFFFF"/>
                </a:solidFill>
                <a:latin typeface="Trenda IG Text"/>
              </a:rPr>
              <a:t>USER + ADLC</a:t>
            </a:r>
            <a:r>
              <a:rPr sz="750" b="0" i="0">
                <a:solidFill>
                  <a:srgbClr val="BFBFBF"/>
                </a:solidFill>
                <a:latin typeface="Trenda IG Text"/>
              </a:rPr>
              <a:t>   in Salesforce</a:t>
            </a:r>
          </a:p>
        </p:txBody>
      </p:sp>
      <p:sp>
        <p:nvSpPr>
          <p:cNvPr id="7" name="Shape 6"/>
          <p:cNvSpPr/>
          <p:nvPr/>
        </p:nvSpPr>
        <p:spPr>
          <a:xfrm>
            <a:off x="411480" y="1417320"/>
            <a:ext cx="2029968"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490472"/>
            <a:ext cx="1847088" cy="365760"/>
          </a:xfrm>
          <a:prstGeom prst="rect">
            <a:avLst/>
          </a:prstGeom>
          <a:noFill/>
        </p:spPr>
        <p:txBody>
          <a:bodyPr wrap="square" lIns="0" rIns="0" tIns="0" bIns="0" anchor="t">
            <a:spAutoFit/>
          </a:bodyPr>
          <a:lstStyle/>
          <a:p>
            <a:r>
              <a:rPr sz="750" b="1" i="0">
                <a:solidFill>
                  <a:srgbClr val="000000"/>
                </a:solidFill>
                <a:latin typeface="Trenda IG Text"/>
              </a:rPr>
              <a:t>People</a:t>
            </a:r>
          </a:p>
          <a:p>
            <a:r>
              <a:rPr sz="630" b="0" i="0">
                <a:solidFill>
                  <a:srgbClr val="595959"/>
                </a:solidFill>
                <a:latin typeface="Trenda IG Text"/>
              </a:rPr>
              <a:t>PM, tech lead, developer, QA; approvers at H1-H4 and CAB</a:t>
            </a:r>
          </a:p>
        </p:txBody>
      </p:sp>
      <p:sp>
        <p:nvSpPr>
          <p:cNvPr id="9" name="Shape 8"/>
          <p:cNvSpPr/>
          <p:nvPr/>
        </p:nvSpPr>
        <p:spPr>
          <a:xfrm>
            <a:off x="502920" y="1810512"/>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10512"/>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1</a:t>
            </a:r>
          </a:p>
        </p:txBody>
      </p:sp>
      <p:sp>
        <p:nvSpPr>
          <p:cNvPr id="11" name="Text 10"/>
          <p:cNvSpPr txBox="1"/>
          <p:nvPr/>
        </p:nvSpPr>
        <p:spPr>
          <a:xfrm>
            <a:off x="713232" y="1810512"/>
            <a:ext cx="1645920" cy="173736"/>
          </a:xfrm>
          <a:prstGeom prst="rect">
            <a:avLst/>
          </a:prstGeom>
          <a:noFill/>
        </p:spPr>
        <p:txBody>
          <a:bodyPr wrap="square" lIns="0" rIns="0" tIns="0" bIns="0" anchor="ctr">
            <a:spAutoFit/>
          </a:bodyPr>
          <a:lstStyle/>
          <a:p>
            <a:r>
              <a:rPr sz="630" b="0" i="0">
                <a:solidFill>
                  <a:srgbClr val="595959"/>
                </a:solidFill>
                <a:latin typeface="Trenda IG Text"/>
              </a:rPr>
              <a:t>gives inputs</a:t>
            </a:r>
          </a:p>
        </p:txBody>
      </p:sp>
      <p:sp>
        <p:nvSpPr>
          <p:cNvPr id="12" name="Shape 11"/>
          <p:cNvSpPr/>
          <p:nvPr/>
        </p:nvSpPr>
        <p:spPr>
          <a:xfrm>
            <a:off x="502920" y="2029968"/>
            <a:ext cx="1847088" cy="932688"/>
          </a:xfrm>
          <a:prstGeom prst="roundRect">
            <a:avLst>
              <a:gd name="adj" fmla="val 6000"/>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lesforce.png"/>
          <p:cNvPicPr>
            <a:picLocks noChangeAspect="1"/>
          </p:cNvPicPr>
          <p:nvPr/>
        </p:nvPicPr>
        <p:blipFill>
          <a:blip r:embed="rId2"/>
          <a:stretch>
            <a:fillRect/>
          </a:stretch>
        </p:blipFill>
        <p:spPr>
          <a:xfrm>
            <a:off x="2093976" y="2093976"/>
            <a:ext cx="182880" cy="182880"/>
          </a:xfrm>
          <a:prstGeom prst="rect">
            <a:avLst/>
          </a:prstGeom>
        </p:spPr>
      </p:pic>
      <p:sp>
        <p:nvSpPr>
          <p:cNvPr id="14" name="Text 12"/>
          <p:cNvSpPr txBox="1"/>
          <p:nvPr/>
        </p:nvSpPr>
        <p:spPr>
          <a:xfrm>
            <a:off x="576072" y="2084832"/>
            <a:ext cx="1463040" cy="84124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Salesforce LWC · Agentic Harness console</a:t>
            </a:r>
          </a:p>
          <a:p>
            <a:pPr>
              <a:spcAft>
                <a:spcPts val="100"/>
              </a:spcAft>
            </a:pPr>
            <a:r>
              <a:rPr sz="630" b="0" i="0">
                <a:solidFill>
                  <a:srgbClr val="2B2B2B"/>
                </a:solidFill>
                <a:latin typeface="Trenda IG Text"/>
              </a:rPr>
              <a:t>Connect to Codex, enter the Jira key or the requirement, pick the pod, attach the design. Approve at each gate and watch every step.</a:t>
            </a:r>
          </a:p>
        </p:txBody>
      </p:sp>
      <p:cxnSp>
        <p:nvCxnSpPr>
          <p:cNvPr id="15" name="Arrow 13"/>
          <p:cNvCxnSpPr/>
          <p:nvPr/>
        </p:nvCxnSpPr>
        <p:spPr>
          <a:xfrm>
            <a:off x="1426464" y="2962656"/>
            <a:ext cx="0" cy="237744"/>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 14"/>
          <p:cNvSpPr txBox="1"/>
          <p:nvPr/>
        </p:nvSpPr>
        <p:spPr>
          <a:xfrm>
            <a:off x="1481328" y="2990088"/>
            <a:ext cx="960120" cy="182880"/>
          </a:xfrm>
          <a:prstGeom prst="rect">
            <a:avLst/>
          </a:prstGeom>
          <a:noFill/>
        </p:spPr>
        <p:txBody>
          <a:bodyPr wrap="square" lIns="0" rIns="0" tIns="0" bIns="0" anchor="ctr">
            <a:spAutoFit/>
          </a:bodyPr>
          <a:lstStyle/>
          <a:p>
            <a:r>
              <a:rPr sz="580" b="0" i="0">
                <a:solidFill>
                  <a:srgbClr val="595959"/>
                </a:solidFill>
                <a:latin typeface="Trenda IG Text"/>
              </a:rPr>
              <a:t>Apex · Named Credential</a:t>
            </a:r>
          </a:p>
        </p:txBody>
      </p:sp>
      <p:sp>
        <p:nvSpPr>
          <p:cNvPr id="17" name="Shape 15"/>
          <p:cNvSpPr/>
          <p:nvPr/>
        </p:nvSpPr>
        <p:spPr>
          <a:xfrm>
            <a:off x="502920" y="3200400"/>
            <a:ext cx="1847088" cy="1024128"/>
          </a:xfrm>
          <a:prstGeom prst="roundRect">
            <a:avLst>
              <a:gd name="adj" fmla="val 6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openai-white.png"/>
          <p:cNvPicPr>
            <a:picLocks noChangeAspect="1"/>
          </p:cNvPicPr>
          <p:nvPr/>
        </p:nvPicPr>
        <p:blipFill>
          <a:blip r:embed="rId3"/>
          <a:stretch>
            <a:fillRect/>
          </a:stretch>
        </p:blipFill>
        <p:spPr>
          <a:xfrm>
            <a:off x="2112264" y="3264408"/>
            <a:ext cx="182880" cy="182880"/>
          </a:xfrm>
          <a:prstGeom prst="rect">
            <a:avLst/>
          </a:prstGeom>
        </p:spPr>
      </p:pic>
      <p:sp>
        <p:nvSpPr>
          <p:cNvPr id="19" name="Text 16"/>
          <p:cNvSpPr txBox="1"/>
          <p:nvPr/>
        </p:nvSpPr>
        <p:spPr>
          <a:xfrm>
            <a:off x="576072" y="3255264"/>
            <a:ext cx="1499616" cy="932688"/>
          </a:xfrm>
          <a:prstGeom prst="rect">
            <a:avLst/>
          </a:prstGeom>
          <a:noFill/>
        </p:spPr>
        <p:txBody>
          <a:bodyPr wrap="square" lIns="0" rIns="0" tIns="0" bIns="0" anchor="t">
            <a:spAutoFit/>
          </a:bodyPr>
          <a:lstStyle/>
          <a:p>
            <a:pPr>
              <a:spcAft>
                <a:spcPts val="100"/>
              </a:spcAft>
            </a:pPr>
            <a:r>
              <a:rPr sz="750" b="1" i="0">
                <a:solidFill>
                  <a:srgbClr val="FFFFFF"/>
                </a:solidFill>
                <a:latin typeface="Trenda IG Text"/>
              </a:rPr>
              <a:t>OpenAI Codex · ADLC skills</a:t>
            </a:r>
          </a:p>
          <a:p>
            <a:pPr>
              <a:spcAft>
                <a:spcPts val="100"/>
              </a:spcAft>
            </a:pPr>
            <a:r>
              <a:rPr sz="630" b="0" i="0">
                <a:solidFill>
                  <a:srgbClr val="D9D9D9"/>
                </a:solidFill>
                <a:latin typeface="Trenda IG Text"/>
              </a:rPr>
              <a:t>Each user signs in to their own Codex Enterprise account (SSO). The run starts from the Jira key; the ADLC skills take it through understand, design, build, verify, promote, release and close.</a:t>
            </a:r>
          </a:p>
        </p:txBody>
      </p:sp>
      <p:sp>
        <p:nvSpPr>
          <p:cNvPr id="20" name="Shape 17"/>
          <p:cNvSpPr/>
          <p:nvPr/>
        </p:nvSpPr>
        <p:spPr>
          <a:xfrm>
            <a:off x="502920" y="4315968"/>
            <a:ext cx="1847088" cy="1033271"/>
          </a:xfrm>
          <a:prstGeom prst="roundRect">
            <a:avLst>
              <a:gd name="adj" fmla="val 6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76072" y="4370832"/>
            <a:ext cx="1755648" cy="960120"/>
          </a:xfrm>
          <a:prstGeom prst="rect">
            <a:avLst/>
          </a:prstGeom>
          <a:noFill/>
        </p:spPr>
        <p:txBody>
          <a:bodyPr wrap="square" lIns="0" rIns="0" tIns="0" bIns="0" anchor="t">
            <a:spAutoFit/>
          </a:bodyPr>
          <a:lstStyle/>
          <a:p>
            <a:pPr>
              <a:spcAft>
                <a:spcPts val="50"/>
              </a:spcAft>
            </a:pPr>
            <a:r>
              <a:rPr sz="750" b="1" i="0">
                <a:solidFill>
                  <a:srgbClr val="000000"/>
                </a:solidFill>
                <a:latin typeface="Trenda IG Text"/>
              </a:rPr>
              <a:t>Trust built in</a:t>
            </a:r>
          </a:p>
          <a:p>
            <a:pPr>
              <a:spcAft>
                <a:spcPts val="50"/>
              </a:spcAft>
            </a:pPr>
            <a:r>
              <a:rPr sz="620" b="1" i="0">
                <a:solidFill>
                  <a:srgbClr val="56E13B"/>
                </a:solidFill>
                <a:latin typeface="Trenda IG Text"/>
              </a:rPr>
              <a:t>✓  </a:t>
            </a:r>
            <a:r>
              <a:rPr sz="620" b="0" i="0">
                <a:solidFill>
                  <a:srgbClr val="000000"/>
                </a:solidFill>
                <a:latin typeface="Trenda IG Text"/>
              </a:rPr>
              <a:t>No production identity for any agent</a:t>
            </a:r>
          </a:p>
          <a:p>
            <a:pPr>
              <a:spcAft>
                <a:spcPts val="50"/>
              </a:spcAft>
            </a:pPr>
            <a:r>
              <a:rPr sz="620" b="1" i="0">
                <a:solidFill>
                  <a:srgbClr val="56E13B"/>
                </a:solidFill>
                <a:latin typeface="Trenda IG Text"/>
              </a:rPr>
              <a:t>✓  </a:t>
            </a:r>
            <a:r>
              <a:rPr sz="620" b="0" i="0">
                <a:solidFill>
                  <a:srgbClr val="000000"/>
                </a:solidFill>
                <a:latin typeface="Trenda IG Text"/>
              </a:rPr>
              <a:t>No agent approves its own work</a:t>
            </a:r>
          </a:p>
          <a:p>
            <a:pPr>
              <a:spcAft>
                <a:spcPts val="50"/>
              </a:spcAft>
            </a:pPr>
            <a:r>
              <a:rPr sz="620" b="1" i="0">
                <a:solidFill>
                  <a:srgbClr val="56E13B"/>
                </a:solidFill>
                <a:latin typeface="Trenda IG Text"/>
              </a:rPr>
              <a:t>✓  </a:t>
            </a:r>
            <a:r>
              <a:rPr sz="620" b="0" i="0">
                <a:solidFill>
                  <a:srgbClr val="000000"/>
                </a:solidFill>
                <a:latin typeface="Trenda IG Text"/>
              </a:rPr>
              <a:t>Every claim cites a source + SHA-256</a:t>
            </a:r>
          </a:p>
          <a:p>
            <a:pPr>
              <a:spcAft>
                <a:spcPts val="50"/>
              </a:spcAft>
            </a:pPr>
            <a:r>
              <a:rPr sz="620" b="1" i="0">
                <a:solidFill>
                  <a:srgbClr val="56E13B"/>
                </a:solidFill>
                <a:latin typeface="Trenda IG Text"/>
              </a:rPr>
              <a:t>✓  </a:t>
            </a:r>
            <a:r>
              <a:rPr sz="620" b="0" i="0">
                <a:solidFill>
                  <a:srgbClr val="000000"/>
                </a:solidFill>
                <a:latin typeface="Trenda IG Text"/>
              </a:rPr>
              <a:t>Every tool call checked and logged</a:t>
            </a:r>
          </a:p>
          <a:p>
            <a:pPr>
              <a:spcAft>
                <a:spcPts val="50"/>
              </a:spcAft>
            </a:pPr>
            <a:r>
              <a:rPr sz="620" b="1" i="0">
                <a:solidFill>
                  <a:srgbClr val="56E13B"/>
                </a:solidFill>
                <a:latin typeface="Trenda IG Text"/>
              </a:rPr>
              <a:t>✓  </a:t>
            </a:r>
            <a:r>
              <a:rPr sz="620" b="0" i="0">
                <a:solidFill>
                  <a:srgbClr val="000000"/>
                </a:solidFill>
                <a:latin typeface="Trenda IG Text"/>
              </a:rPr>
              <a:t>No model trained on Ascension data</a:t>
            </a:r>
          </a:p>
        </p:txBody>
      </p:sp>
      <p:sp>
        <p:nvSpPr>
          <p:cNvPr id="22" name="Shape 19"/>
          <p:cNvSpPr/>
          <p:nvPr/>
        </p:nvSpPr>
        <p:spPr>
          <a:xfrm>
            <a:off x="2587752" y="1161288"/>
            <a:ext cx="6885432" cy="4279392"/>
          </a:xfrm>
          <a:prstGeom prst="roundRect">
            <a:avLst>
              <a:gd name="adj" fmla="val 2000"/>
            </a:avLst>
          </a:prstGeom>
          <a:noFill/>
          <a:ln w="12700">
            <a:solidFill>
              <a:srgbClr val="0027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4"/>
          <a:stretch>
            <a:fillRect/>
          </a:stretch>
        </p:blipFill>
        <p:spPr>
          <a:xfrm>
            <a:off x="2697480" y="1188720"/>
            <a:ext cx="155448" cy="155448"/>
          </a:xfrm>
          <a:prstGeom prst="rect">
            <a:avLst/>
          </a:prstGeom>
        </p:spPr>
      </p:pic>
      <p:sp>
        <p:nvSpPr>
          <p:cNvPr id="24" name="Text 20"/>
          <p:cNvSpPr txBox="1"/>
          <p:nvPr/>
        </p:nvSpPr>
        <p:spPr>
          <a:xfrm>
            <a:off x="2898648" y="1179576"/>
            <a:ext cx="2743200" cy="182880"/>
          </a:xfrm>
          <a:prstGeom prst="rect">
            <a:avLst/>
          </a:prstGeom>
          <a:noFill/>
        </p:spPr>
        <p:txBody>
          <a:bodyPr wrap="square" lIns="0" rIns="0" tIns="0" bIns="0" anchor="ctr">
            <a:spAutoFit/>
          </a:bodyPr>
          <a:lstStyle/>
          <a:p>
            <a:r>
              <a:rPr sz="700" b="1" i="0">
                <a:solidFill>
                  <a:srgbClr val="000000"/>
                </a:solidFill>
                <a:latin typeface="Trenda IG Text"/>
              </a:rPr>
              <a:t>The Agentic Harness</a:t>
            </a:r>
            <a:r>
              <a:rPr sz="700" b="0" i="0">
                <a:solidFill>
                  <a:srgbClr val="595959"/>
                </a:solidFill>
                <a:latin typeface="Trenda IG Text"/>
              </a:rPr>
              <a:t>  on Google Cloud</a:t>
            </a:r>
          </a:p>
        </p:txBody>
      </p:sp>
      <p:sp>
        <p:nvSpPr>
          <p:cNvPr id="25" name="Shape 21"/>
          <p:cNvSpPr/>
          <p:nvPr/>
        </p:nvSpPr>
        <p:spPr>
          <a:xfrm>
            <a:off x="8736177" y="1193292"/>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2"/>
          <p:cNvSpPr txBox="1"/>
          <p:nvPr/>
        </p:nvSpPr>
        <p:spPr>
          <a:xfrm>
            <a:off x="8736177" y="1193292"/>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27" name="Shape 23"/>
          <p:cNvSpPr/>
          <p:nvPr/>
        </p:nvSpPr>
        <p:spPr>
          <a:xfrm>
            <a:off x="8129016"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4"/>
          <p:cNvSpPr txBox="1"/>
          <p:nvPr/>
        </p:nvSpPr>
        <p:spPr>
          <a:xfrm>
            <a:off x="8129016"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29" name="Shape 25"/>
          <p:cNvSpPr/>
          <p:nvPr/>
        </p:nvSpPr>
        <p:spPr>
          <a:xfrm>
            <a:off x="7236561" y="1193292"/>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6"/>
          <p:cNvSpPr txBox="1"/>
          <p:nvPr/>
        </p:nvSpPr>
        <p:spPr>
          <a:xfrm>
            <a:off x="7236561" y="1193292"/>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31" name="Shape 27"/>
          <p:cNvSpPr/>
          <p:nvPr/>
        </p:nvSpPr>
        <p:spPr>
          <a:xfrm>
            <a:off x="6676948" y="1193292"/>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8"/>
          <p:cNvSpPr txBox="1"/>
          <p:nvPr/>
        </p:nvSpPr>
        <p:spPr>
          <a:xfrm>
            <a:off x="6676948" y="1193292"/>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sp>
        <p:nvSpPr>
          <p:cNvPr id="33" name="Shape 29"/>
          <p:cNvSpPr/>
          <p:nvPr/>
        </p:nvSpPr>
        <p:spPr>
          <a:xfrm>
            <a:off x="6069787"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0"/>
          <p:cNvSpPr txBox="1"/>
          <p:nvPr/>
        </p:nvSpPr>
        <p:spPr>
          <a:xfrm>
            <a:off x="6069787"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35" name="Text 31"/>
          <p:cNvSpPr txBox="1"/>
          <p:nvPr/>
        </p:nvSpPr>
        <p:spPr>
          <a:xfrm>
            <a:off x="4442155" y="1179576"/>
            <a:ext cx="1554480" cy="182880"/>
          </a:xfrm>
          <a:prstGeom prst="rect">
            <a:avLst/>
          </a:prstGeom>
          <a:noFill/>
        </p:spPr>
        <p:txBody>
          <a:bodyPr wrap="square" lIns="0" rIns="0" tIns="0" bIns="0" anchor="ctr">
            <a:spAutoFit/>
          </a:bodyPr>
          <a:lstStyle/>
          <a:p>
            <a:pPr algn="r"/>
            <a:r>
              <a:rPr sz="600" b="1" i="0" spc="120">
                <a:solidFill>
                  <a:srgbClr val="000000"/>
                </a:solidFill>
                <a:latin typeface="Trenda IG Text"/>
              </a:rPr>
              <a:t>HARNESS ENGINEERING</a:t>
            </a:r>
          </a:p>
        </p:txBody>
      </p:sp>
      <p:sp>
        <p:nvSpPr>
          <p:cNvPr id="36" name="Shape 32"/>
          <p:cNvSpPr/>
          <p:nvPr/>
        </p:nvSpPr>
        <p:spPr>
          <a:xfrm>
            <a:off x="2697480" y="1417320"/>
            <a:ext cx="6665976" cy="1097280"/>
          </a:xfrm>
          <a:prstGeom prst="roundRect">
            <a:avLst>
              <a:gd name="adj" fmla="val 4000"/>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3"/>
          <p:cNvSpPr/>
          <p:nvPr/>
        </p:nvSpPr>
        <p:spPr>
          <a:xfrm>
            <a:off x="2788920" y="1335024"/>
            <a:ext cx="3108960" cy="182880"/>
          </a:xfrm>
          <a:prstGeom prst="roundRect">
            <a:avLst>
              <a:gd name="adj" fmla="val 50000"/>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2788920" y="1335024"/>
            <a:ext cx="310896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1 · ENGINEERING CONTEXT KNOWLEDGE GRAPH</a:t>
            </a:r>
          </a:p>
        </p:txBody>
      </p:sp>
      <p:sp>
        <p:nvSpPr>
          <p:cNvPr id="39" name="Shape 35"/>
          <p:cNvSpPr/>
          <p:nvPr/>
        </p:nvSpPr>
        <p:spPr>
          <a:xfrm>
            <a:off x="2788920" y="1600200"/>
            <a:ext cx="23774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6"/>
          <p:cNvSpPr txBox="1"/>
          <p:nvPr/>
        </p:nvSpPr>
        <p:spPr>
          <a:xfrm>
            <a:off x="2862072" y="1655064"/>
            <a:ext cx="2231136"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Graph API + MCP server</a:t>
            </a:r>
          </a:p>
          <a:p>
            <a:pPr>
              <a:spcAft>
                <a:spcPts val="100"/>
              </a:spcAft>
            </a:pPr>
            <a:r>
              <a:rPr sz="630" b="0" i="0">
                <a:solidFill>
                  <a:srgbClr val="2B2B2B"/>
                </a:solidFill>
                <a:latin typeface="Trenda IG Text"/>
              </a:rPr>
              <a:t>graph.exists · find_reuse · blast_radius · owners · context_slice. Every answer cites node, source and SHA-256; agents never write queries.</a:t>
            </a:r>
          </a:p>
        </p:txBody>
      </p:sp>
      <p:sp>
        <p:nvSpPr>
          <p:cNvPr id="41" name="Shape 37"/>
          <p:cNvSpPr/>
          <p:nvPr/>
        </p:nvSpPr>
        <p:spPr>
          <a:xfrm>
            <a:off x="5257800" y="1600200"/>
            <a:ext cx="16916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googlecloudspanner.png"/>
          <p:cNvPicPr>
            <a:picLocks noChangeAspect="1"/>
          </p:cNvPicPr>
          <p:nvPr/>
        </p:nvPicPr>
        <p:blipFill>
          <a:blip r:embed="rId5"/>
          <a:stretch>
            <a:fillRect/>
          </a:stretch>
        </p:blipFill>
        <p:spPr>
          <a:xfrm>
            <a:off x="6693407" y="1664208"/>
            <a:ext cx="182880" cy="182880"/>
          </a:xfrm>
          <a:prstGeom prst="rect">
            <a:avLst/>
          </a:prstGeom>
        </p:spPr>
      </p:pic>
      <p:sp>
        <p:nvSpPr>
          <p:cNvPr id="43" name="Text 38"/>
          <p:cNvSpPr txBox="1"/>
          <p:nvPr/>
        </p:nvSpPr>
        <p:spPr>
          <a:xfrm>
            <a:off x="5330952" y="1655064"/>
            <a:ext cx="130759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Spanner Graph</a:t>
            </a:r>
          </a:p>
          <a:p>
            <a:pPr>
              <a:spcAft>
                <a:spcPts val="100"/>
              </a:spcAft>
            </a:pPr>
            <a:r>
              <a:rPr sz="630" b="0" i="0">
                <a:solidFill>
                  <a:srgbClr val="2B2B2B"/>
                </a:solidFill>
                <a:latin typeface="Trenda IG Text"/>
              </a:rPr>
              <a:t>Property graph, GQL. History and ownership edges for every component.</a:t>
            </a:r>
          </a:p>
        </p:txBody>
      </p:sp>
      <p:sp>
        <p:nvSpPr>
          <p:cNvPr id="44" name="Shape 39"/>
          <p:cNvSpPr/>
          <p:nvPr/>
        </p:nvSpPr>
        <p:spPr>
          <a:xfrm>
            <a:off x="7040880" y="1600200"/>
            <a:ext cx="2231136"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7114032" y="1655064"/>
            <a:ext cx="208483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Ingest pipeline · Cloud Run Jobs</a:t>
            </a:r>
          </a:p>
          <a:p>
            <a:pPr>
              <a:spcAft>
                <a:spcPts val="100"/>
              </a:spcAft>
            </a:pPr>
            <a:r>
              <a:rPr sz="630" b="0" i="0">
                <a:solidFill>
                  <a:srgbClr val="2B2B2B"/>
                </a:solidFill>
                <a:latin typeface="Trenda IG Text"/>
              </a:rPr>
              <a:t>Read-only connectors, on a schedule and on webhooks. DLP de-identifies text; parse, validate and link before anything is stored.</a:t>
            </a:r>
          </a:p>
        </p:txBody>
      </p:sp>
      <p:cxnSp>
        <p:nvCxnSpPr>
          <p:cNvPr id="46" name="Arrow 41"/>
          <p:cNvCxnSpPr/>
          <p:nvPr/>
        </p:nvCxnSpPr>
        <p:spPr>
          <a:xfrm flipH="1">
            <a:off x="694944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42"/>
          <p:cNvCxnSpPr/>
          <p:nvPr/>
        </p:nvCxnSpPr>
        <p:spPr>
          <a:xfrm flipH="1">
            <a:off x="516636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3"/>
          <p:cNvSpPr/>
          <p:nvPr/>
        </p:nvSpPr>
        <p:spPr>
          <a:xfrm>
            <a:off x="8692286" y="1339596"/>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4"/>
          <p:cNvSpPr txBox="1"/>
          <p:nvPr/>
        </p:nvSpPr>
        <p:spPr>
          <a:xfrm>
            <a:off x="8692286" y="1339596"/>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50" name="Shape 45"/>
          <p:cNvSpPr/>
          <p:nvPr/>
        </p:nvSpPr>
        <p:spPr>
          <a:xfrm>
            <a:off x="2697480" y="2670048"/>
            <a:ext cx="6665976" cy="1874519"/>
          </a:xfrm>
          <a:prstGeom prst="roundRect">
            <a:avLst>
              <a:gd name="adj" fmla="val 3000"/>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6"/>
          <p:cNvSpPr/>
          <p:nvPr/>
        </p:nvSpPr>
        <p:spPr>
          <a:xfrm>
            <a:off x="2788920" y="2587752"/>
            <a:ext cx="2377440" cy="182880"/>
          </a:xfrm>
          <a:prstGeom prst="roundRect">
            <a:avLst>
              <a:gd name="adj" fmla="val 50000"/>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2788920" y="2587752"/>
            <a:ext cx="237744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2 · AGENTIC HARNESS RUNTIME</a:t>
            </a:r>
          </a:p>
        </p:txBody>
      </p:sp>
      <p:sp>
        <p:nvSpPr>
          <p:cNvPr id="53" name="Shape 48"/>
          <p:cNvSpPr/>
          <p:nvPr/>
        </p:nvSpPr>
        <p:spPr>
          <a:xfrm>
            <a:off x="2788920" y="2852928"/>
            <a:ext cx="1664208" cy="9601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2862072" y="2907792"/>
            <a:ext cx="1517904" cy="8686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Run orchestration</a:t>
            </a:r>
          </a:p>
          <a:p>
            <a:pPr>
              <a:spcAft>
                <a:spcPts val="100"/>
              </a:spcAft>
            </a:pPr>
            <a:r>
              <a:rPr sz="630" b="0" i="0">
                <a:solidFill>
                  <a:srgbClr val="2B2B2B"/>
                </a:solidFill>
                <a:latin typeface="Trenda IG Text"/>
              </a:rPr>
              <a:t>Run API starts the run · Cloud Workflows: 9 steps, retries, gate callbacks · Firestore checkpoints, resumable · Dispatcher starts one job per step.</a:t>
            </a:r>
          </a:p>
        </p:txBody>
      </p:sp>
      <p:sp>
        <p:nvSpPr>
          <p:cNvPr id="55" name="Shape 50"/>
          <p:cNvSpPr/>
          <p:nvPr/>
        </p:nvSpPr>
        <p:spPr>
          <a:xfrm>
            <a:off x="2788920" y="3886200"/>
            <a:ext cx="1664208" cy="566928"/>
          </a:xfrm>
          <a:prstGeom prst="roundRect">
            <a:avLst>
              <a:gd name="adj" fmla="val 6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2862072" y="3941063"/>
            <a:ext cx="1517904"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Approval service · IAP</a:t>
            </a:r>
          </a:p>
          <a:p>
            <a:pPr>
              <a:spcAft>
                <a:spcPts val="100"/>
              </a:spcAft>
            </a:pPr>
            <a:r>
              <a:rPr sz="630" b="0" i="0">
                <a:solidFill>
                  <a:srgbClr val="2B2B2B"/>
                </a:solidFill>
                <a:latin typeface="Trenda IG Text"/>
              </a:rPr>
              <a:t>Shows each gate's evidence and eval scores; the signed decision resumes the run.</a:t>
            </a:r>
          </a:p>
        </p:txBody>
      </p:sp>
      <p:sp>
        <p:nvSpPr>
          <p:cNvPr id="57" name="Shape 52"/>
          <p:cNvSpPr/>
          <p:nvPr/>
        </p:nvSpPr>
        <p:spPr>
          <a:xfrm>
            <a:off x="4544568" y="2852928"/>
            <a:ext cx="2651760" cy="960120"/>
          </a:xfrm>
          <a:prstGeom prst="roundRect">
            <a:avLst>
              <a:gd name="adj" fmla="val 5000"/>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4617720" y="2889504"/>
            <a:ext cx="2505456" cy="164592"/>
          </a:xfrm>
          <a:prstGeom prst="rect">
            <a:avLst/>
          </a:prstGeom>
          <a:noFill/>
        </p:spPr>
        <p:txBody>
          <a:bodyPr wrap="square" lIns="0" rIns="0" tIns="0" bIns="0" anchor="ctr">
            <a:spAutoFit/>
          </a:bodyPr>
          <a:lstStyle/>
          <a:p>
            <a:r>
              <a:rPr sz="750" b="1" i="0">
                <a:solidFill>
                  <a:srgbClr val="000000"/>
                </a:solidFill>
                <a:latin typeface="Trenda IG Text"/>
              </a:rPr>
              <a:t>Agent workers</a:t>
            </a:r>
            <a:r>
              <a:rPr sz="620" b="0" i="0">
                <a:solidFill>
                  <a:srgbClr val="595959"/>
                </a:solidFill>
                <a:latin typeface="Trenda IG Text"/>
              </a:rPr>
              <a:t>  Cloud Run Jobs, one per step</a:t>
            </a:r>
          </a:p>
        </p:txBody>
      </p:sp>
      <p:sp>
        <p:nvSpPr>
          <p:cNvPr id="59" name="Shape 54"/>
          <p:cNvSpPr/>
          <p:nvPr/>
        </p:nvSpPr>
        <p:spPr>
          <a:xfrm>
            <a:off x="4617720"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672584"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Requirements</a:t>
            </a:r>
            <a:r>
              <a:rPr sz="550" b="0" i="0">
                <a:solidFill>
                  <a:srgbClr val="595959"/>
                </a:solidFill>
                <a:latin typeface="Trenda IG Text"/>
              </a:rPr>
              <a:t>  sa-ai-read</a:t>
            </a:r>
          </a:p>
        </p:txBody>
      </p:sp>
      <p:sp>
        <p:nvSpPr>
          <p:cNvPr id="61" name="Shape 56"/>
          <p:cNvSpPr/>
          <p:nvPr/>
        </p:nvSpPr>
        <p:spPr>
          <a:xfrm>
            <a:off x="5907024"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5961888"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Architect</a:t>
            </a:r>
            <a:r>
              <a:rPr sz="550" b="0" i="0">
                <a:solidFill>
                  <a:srgbClr val="595959"/>
                </a:solidFill>
                <a:latin typeface="Trenda IG Text"/>
              </a:rPr>
              <a:t>  sa-ai-read</a:t>
            </a:r>
          </a:p>
        </p:txBody>
      </p:sp>
      <p:sp>
        <p:nvSpPr>
          <p:cNvPr id="63" name="Shape 58"/>
          <p:cNvSpPr/>
          <p:nvPr/>
        </p:nvSpPr>
        <p:spPr>
          <a:xfrm>
            <a:off x="4617720"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4672584"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Developer · Codex</a:t>
            </a:r>
            <a:r>
              <a:rPr sz="550" b="0" i="0">
                <a:solidFill>
                  <a:srgbClr val="595959"/>
                </a:solidFill>
                <a:latin typeface="Trenda IG Text"/>
              </a:rPr>
              <a:t>  sa-ai-dev</a:t>
            </a:r>
          </a:p>
        </p:txBody>
      </p:sp>
      <p:sp>
        <p:nvSpPr>
          <p:cNvPr id="65" name="Shape 60"/>
          <p:cNvSpPr/>
          <p:nvPr/>
        </p:nvSpPr>
        <p:spPr>
          <a:xfrm>
            <a:off x="5907024"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961888"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Review</a:t>
            </a:r>
            <a:r>
              <a:rPr sz="550" b="0" i="0">
                <a:solidFill>
                  <a:srgbClr val="595959"/>
                </a:solidFill>
                <a:latin typeface="Trenda IG Text"/>
              </a:rPr>
              <a:t>  sa-ai-read</a:t>
            </a:r>
          </a:p>
        </p:txBody>
      </p:sp>
      <p:sp>
        <p:nvSpPr>
          <p:cNvPr id="67" name="Shape 62"/>
          <p:cNvSpPr/>
          <p:nvPr/>
        </p:nvSpPr>
        <p:spPr>
          <a:xfrm>
            <a:off x="4617720"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4672584"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Test · Codex</a:t>
            </a:r>
            <a:r>
              <a:rPr sz="550" b="0" i="0">
                <a:solidFill>
                  <a:srgbClr val="595959"/>
                </a:solidFill>
                <a:latin typeface="Trenda IG Text"/>
              </a:rPr>
              <a:t>  sa-ai-dev</a:t>
            </a:r>
          </a:p>
        </p:txBody>
      </p:sp>
      <p:sp>
        <p:nvSpPr>
          <p:cNvPr id="69" name="Shape 64"/>
          <p:cNvSpPr/>
          <p:nvPr/>
        </p:nvSpPr>
        <p:spPr>
          <a:xfrm>
            <a:off x="5907024"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5961888"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Release</a:t>
            </a:r>
            <a:r>
              <a:rPr sz="550" b="0" i="0">
                <a:solidFill>
                  <a:srgbClr val="595959"/>
                </a:solidFill>
                <a:latin typeface="Trenda IG Text"/>
              </a:rPr>
              <a:t>  sa-ai-release</a:t>
            </a:r>
          </a:p>
        </p:txBody>
      </p:sp>
      <p:sp>
        <p:nvSpPr>
          <p:cNvPr id="71" name="Shape 66"/>
          <p:cNvSpPr/>
          <p:nvPr/>
        </p:nvSpPr>
        <p:spPr>
          <a:xfrm>
            <a:off x="4544568" y="3886200"/>
            <a:ext cx="2651760" cy="566928"/>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4636008" y="3931920"/>
            <a:ext cx="2057400" cy="493776"/>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Evals on every step</a:t>
            </a:r>
          </a:p>
          <a:p>
            <a:pPr>
              <a:spcAft>
                <a:spcPts val="100"/>
              </a:spcAft>
            </a:pPr>
            <a:r>
              <a:rPr sz="610" b="0" i="0">
                <a:solidFill>
                  <a:srgbClr val="000000"/>
                </a:solidFill>
                <a:latin typeface="Trenda IG Text"/>
              </a:rPr>
              <a:t>Each output is scored before it moves: relevancy, groundedness, tool sequence, pass@k. Pass to the gate; fail retries with feedback, max 5, then a named owner.</a:t>
            </a:r>
          </a:p>
        </p:txBody>
      </p:sp>
      <p:sp>
        <p:nvSpPr>
          <p:cNvPr id="73" name="Shape 68"/>
          <p:cNvSpPr/>
          <p:nvPr/>
        </p:nvSpPr>
        <p:spPr>
          <a:xfrm>
            <a:off x="6702552" y="3941063"/>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6702552" y="3941063"/>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75" name="Arrow 70"/>
          <p:cNvCxnSpPr/>
          <p:nvPr/>
        </p:nvCxnSpPr>
        <p:spPr>
          <a:xfrm>
            <a:off x="5870448" y="3813048"/>
            <a:ext cx="0" cy="73152"/>
          </a:xfrm>
          <a:prstGeom prst="line">
            <a:avLst/>
          </a:prstGeom>
          <a:ln w="19050">
            <a:solidFill>
              <a:srgbClr val="C9A8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Shape 71"/>
          <p:cNvSpPr/>
          <p:nvPr/>
        </p:nvSpPr>
        <p:spPr>
          <a:xfrm>
            <a:off x="7287768" y="2852928"/>
            <a:ext cx="1984248" cy="566928"/>
          </a:xfrm>
          <a:prstGeom prst="roundRect">
            <a:avLst>
              <a:gd name="adj" fmla="val 6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360919" y="2907792"/>
            <a:ext cx="1837943"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Guardian · OPA</a:t>
            </a:r>
          </a:p>
          <a:p>
            <a:pPr>
              <a:spcAft>
                <a:spcPts val="100"/>
              </a:spcAft>
            </a:pPr>
            <a:r>
              <a:rPr sz="630" b="0" i="0">
                <a:solidFill>
                  <a:srgbClr val="2B2B2B"/>
                </a:solidFill>
                <a:latin typeface="Trenda IG Text"/>
              </a:rPr>
              <a:t>Diff + ownership graph: PASS, NEEDS OWNER APPROVAL or BLOCK.</a:t>
            </a:r>
          </a:p>
        </p:txBody>
      </p:sp>
      <p:sp>
        <p:nvSpPr>
          <p:cNvPr id="78" name="Shape 73"/>
          <p:cNvSpPr/>
          <p:nvPr/>
        </p:nvSpPr>
        <p:spPr>
          <a:xfrm>
            <a:off x="7287768" y="3493008"/>
            <a:ext cx="1984248" cy="960120"/>
          </a:xfrm>
          <a:prstGeom prst="roundRect">
            <a:avLst>
              <a:gd name="adj" fmla="val 6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4"/>
          <p:cNvSpPr txBox="1"/>
          <p:nvPr/>
        </p:nvSpPr>
        <p:spPr>
          <a:xfrm>
            <a:off x="7360919" y="3538728"/>
            <a:ext cx="1837943"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MCP tool gateway</a:t>
            </a:r>
          </a:p>
          <a:p>
            <a:pPr>
              <a:spcAft>
                <a:spcPts val="100"/>
              </a:spcAft>
            </a:pPr>
            <a:r>
              <a:rPr sz="610" b="0" i="0">
                <a:solidFill>
                  <a:srgbClr val="000000"/>
                </a:solidFill>
                <a:latin typeface="Trenda IG Text"/>
              </a:rPr>
              <a:t>Checks identity, tool, target and approval, then acts; every decision logged.</a:t>
            </a:r>
          </a:p>
        </p:txBody>
      </p:sp>
      <p:sp>
        <p:nvSpPr>
          <p:cNvPr id="80" name="Shape 75"/>
          <p:cNvSpPr/>
          <p:nvPr/>
        </p:nvSpPr>
        <p:spPr>
          <a:xfrm>
            <a:off x="736091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6"/>
          <p:cNvSpPr txBox="1"/>
          <p:nvPr/>
        </p:nvSpPr>
        <p:spPr>
          <a:xfrm>
            <a:off x="736091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sa-ai-read</a:t>
            </a:r>
          </a:p>
        </p:txBody>
      </p:sp>
      <p:sp>
        <p:nvSpPr>
          <p:cNvPr id="82" name="Shape 77"/>
          <p:cNvSpPr/>
          <p:nvPr/>
        </p:nvSpPr>
        <p:spPr>
          <a:xfrm>
            <a:off x="798575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98575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sa-ai-dev</a:t>
            </a:r>
          </a:p>
        </p:txBody>
      </p:sp>
      <p:sp>
        <p:nvSpPr>
          <p:cNvPr id="84" name="Shape 79"/>
          <p:cNvSpPr/>
          <p:nvPr/>
        </p:nvSpPr>
        <p:spPr>
          <a:xfrm>
            <a:off x="8610600"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0"/>
          <p:cNvSpPr txBox="1"/>
          <p:nvPr/>
        </p:nvSpPr>
        <p:spPr>
          <a:xfrm>
            <a:off x="8610600"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sa-ai-release</a:t>
            </a:r>
          </a:p>
        </p:txBody>
      </p:sp>
      <p:sp>
        <p:nvSpPr>
          <p:cNvPr id="86" name="Text 81"/>
          <p:cNvSpPr txBox="1"/>
          <p:nvPr/>
        </p:nvSpPr>
        <p:spPr>
          <a:xfrm>
            <a:off x="7360919" y="4224528"/>
            <a:ext cx="1837943" cy="182880"/>
          </a:xfrm>
          <a:prstGeom prst="rect">
            <a:avLst/>
          </a:prstGeom>
          <a:noFill/>
        </p:spPr>
        <p:txBody>
          <a:bodyPr wrap="square" lIns="0" rIns="0" tIns="0" bIns="0" anchor="ctr">
            <a:spAutoFit/>
          </a:bodyPr>
          <a:lstStyle/>
          <a:p>
            <a:r>
              <a:rPr sz="600" b="1" i="0">
                <a:solidFill>
                  <a:srgbClr val="FF0069"/>
                </a:solidFill>
                <a:latin typeface="Trenda IG Text"/>
              </a:rPr>
              <a:t>No production identity for any agent.</a:t>
            </a:r>
          </a:p>
        </p:txBody>
      </p:sp>
      <p:sp>
        <p:nvSpPr>
          <p:cNvPr id="87" name="Shape 82"/>
          <p:cNvSpPr/>
          <p:nvPr/>
        </p:nvSpPr>
        <p:spPr>
          <a:xfrm>
            <a:off x="3551529" y="2738628"/>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3551529" y="2738628"/>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89" name="Shape 84"/>
          <p:cNvSpPr/>
          <p:nvPr/>
        </p:nvSpPr>
        <p:spPr>
          <a:xfrm>
            <a:off x="8637422" y="2738628"/>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5"/>
          <p:cNvSpPr txBox="1"/>
          <p:nvPr/>
        </p:nvSpPr>
        <p:spPr>
          <a:xfrm>
            <a:off x="8637422" y="2738628"/>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91" name="Shape 86"/>
          <p:cNvSpPr/>
          <p:nvPr/>
        </p:nvSpPr>
        <p:spPr>
          <a:xfrm>
            <a:off x="8684971" y="3378708"/>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7"/>
          <p:cNvSpPr txBox="1"/>
          <p:nvPr/>
        </p:nvSpPr>
        <p:spPr>
          <a:xfrm>
            <a:off x="8684971" y="3378708"/>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cxnSp>
        <p:nvCxnSpPr>
          <p:cNvPr id="93" name="Arrow 88"/>
          <p:cNvCxnSpPr/>
          <p:nvPr/>
        </p:nvCxnSpPr>
        <p:spPr>
          <a:xfrm>
            <a:off x="4453128" y="3310128"/>
            <a:ext cx="91440"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9"/>
          <p:cNvCxnSpPr/>
          <p:nvPr/>
        </p:nvCxnSpPr>
        <p:spPr>
          <a:xfrm>
            <a:off x="7196328" y="3767328"/>
            <a:ext cx="9144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Shape 90"/>
          <p:cNvSpPr/>
          <p:nvPr/>
        </p:nvSpPr>
        <p:spPr>
          <a:xfrm>
            <a:off x="7150608" y="3511296"/>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1"/>
          <p:cNvSpPr txBox="1"/>
          <p:nvPr/>
        </p:nvSpPr>
        <p:spPr>
          <a:xfrm>
            <a:off x="7150608" y="3511296"/>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4</a:t>
            </a:r>
          </a:p>
        </p:txBody>
      </p:sp>
      <p:cxnSp>
        <p:nvCxnSpPr>
          <p:cNvPr id="97" name="Arrow 92"/>
          <p:cNvCxnSpPr/>
          <p:nvPr/>
        </p:nvCxnSpPr>
        <p:spPr>
          <a:xfrm>
            <a:off x="8279892" y="3419856"/>
            <a:ext cx="0" cy="73152"/>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3"/>
          <p:cNvCxnSpPr/>
          <p:nvPr/>
        </p:nvCxnSpPr>
        <p:spPr>
          <a:xfrm flipV="1">
            <a:off x="5001768" y="2423160"/>
            <a:ext cx="0" cy="429768"/>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Shape 94"/>
          <p:cNvSpPr/>
          <p:nvPr/>
        </p:nvSpPr>
        <p:spPr>
          <a:xfrm>
            <a:off x="5093208" y="252374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93208" y="252374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3</a:t>
            </a:r>
          </a:p>
        </p:txBody>
      </p:sp>
      <p:sp>
        <p:nvSpPr>
          <p:cNvPr id="101" name="Text 96"/>
          <p:cNvSpPr txBox="1"/>
          <p:nvPr/>
        </p:nvSpPr>
        <p:spPr>
          <a:xfrm>
            <a:off x="5294376" y="2523744"/>
            <a:ext cx="1463040" cy="173736"/>
          </a:xfrm>
          <a:prstGeom prst="rect">
            <a:avLst/>
          </a:prstGeom>
          <a:noFill/>
        </p:spPr>
        <p:txBody>
          <a:bodyPr wrap="square" lIns="0" rIns="0" tIns="0" bIns="0" anchor="ctr">
            <a:spAutoFit/>
          </a:bodyPr>
          <a:lstStyle/>
          <a:p>
            <a:r>
              <a:rPr sz="600" b="1" i="0">
                <a:solidFill>
                  <a:srgbClr val="4527A0"/>
                </a:solidFill>
                <a:latin typeface="Trenda IG Text"/>
              </a:rPr>
              <a:t>graph.* · cited facts</a:t>
            </a:r>
          </a:p>
        </p:txBody>
      </p:sp>
      <p:sp>
        <p:nvSpPr>
          <p:cNvPr id="102" name="Shape 97"/>
          <p:cNvSpPr/>
          <p:nvPr/>
        </p:nvSpPr>
        <p:spPr>
          <a:xfrm>
            <a:off x="2697480" y="4636008"/>
            <a:ext cx="2286000" cy="731520"/>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8"/>
          <p:cNvSpPr txBox="1"/>
          <p:nvPr/>
        </p:nvSpPr>
        <p:spPr>
          <a:xfrm>
            <a:off x="2788920" y="4681728"/>
            <a:ext cx="1737360" cy="65836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 gate · Cloud Build</a:t>
            </a:r>
          </a:p>
          <a:p>
            <a:pPr>
              <a:spcAft>
                <a:spcPts val="100"/>
              </a:spcAft>
            </a:pPr>
            <a:r>
              <a:rPr sz="610" b="0" i="0">
                <a:solidFill>
                  <a:srgbClr val="000000"/>
                </a:solidFill>
                <a:latin typeface="Trenda IG Text"/>
              </a:rPr>
              <a:t>Golden set + held-out set pass before any prompt, skill or model change. Weekly blind sample labelled by your experts.</a:t>
            </a:r>
          </a:p>
        </p:txBody>
      </p:sp>
      <p:sp>
        <p:nvSpPr>
          <p:cNvPr id="104" name="Shape 99"/>
          <p:cNvSpPr/>
          <p:nvPr/>
        </p:nvSpPr>
        <p:spPr>
          <a:xfrm>
            <a:off x="4489704" y="4690872"/>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4489704" y="4690872"/>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sp>
        <p:nvSpPr>
          <p:cNvPr id="106" name="Shape 101"/>
          <p:cNvSpPr/>
          <p:nvPr/>
        </p:nvSpPr>
        <p:spPr>
          <a:xfrm>
            <a:off x="2788920" y="4521708"/>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2788920" y="4521708"/>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108" name="Shape 103"/>
          <p:cNvSpPr/>
          <p:nvPr/>
        </p:nvSpPr>
        <p:spPr>
          <a:xfrm>
            <a:off x="5074920" y="4636008"/>
            <a:ext cx="14630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5148072" y="4690872"/>
            <a:ext cx="13167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passport · BigQuery</a:t>
            </a:r>
          </a:p>
          <a:p>
            <a:pPr>
              <a:spcAft>
                <a:spcPts val="100"/>
              </a:spcAft>
            </a:pPr>
            <a:r>
              <a:rPr sz="630" b="0" i="0">
                <a:solidFill>
                  <a:srgbClr val="2B2B2B"/>
                </a:solidFill>
                <a:latin typeface="Trenda IG Text"/>
              </a:rPr>
              <a:t>One hash-chained row per event: tamper-evident.</a:t>
            </a:r>
          </a:p>
        </p:txBody>
      </p:sp>
      <p:sp>
        <p:nvSpPr>
          <p:cNvPr id="110" name="Shape 105"/>
          <p:cNvSpPr/>
          <p:nvPr/>
        </p:nvSpPr>
        <p:spPr>
          <a:xfrm>
            <a:off x="6629400" y="4636008"/>
            <a:ext cx="12344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6"/>
          <p:cNvSpPr txBox="1"/>
          <p:nvPr/>
        </p:nvSpPr>
        <p:spPr>
          <a:xfrm>
            <a:off x="6702552" y="4690872"/>
            <a:ext cx="10881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Measured per pod</a:t>
            </a:r>
          </a:p>
          <a:p>
            <a:pPr>
              <a:spcAft>
                <a:spcPts val="100"/>
              </a:spcAft>
            </a:pPr>
            <a:r>
              <a:rPr sz="630" b="0" i="0">
                <a:solidFill>
                  <a:srgbClr val="2B2B2B"/>
                </a:solidFill>
                <a:latin typeface="Trenda IG Text"/>
              </a:rPr>
              <a:t>Cycle time, rework, defects, cost per change.</a:t>
            </a:r>
          </a:p>
        </p:txBody>
      </p:sp>
      <p:sp>
        <p:nvSpPr>
          <p:cNvPr id="112" name="Shape 107"/>
          <p:cNvSpPr/>
          <p:nvPr/>
        </p:nvSpPr>
        <p:spPr>
          <a:xfrm>
            <a:off x="7955279" y="4636008"/>
            <a:ext cx="1408176"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3" name="Picture 112" descr="openai.png"/>
          <p:cNvPicPr>
            <a:picLocks noChangeAspect="1"/>
          </p:cNvPicPr>
          <p:nvPr/>
        </p:nvPicPr>
        <p:blipFill>
          <a:blip r:embed="rId6"/>
          <a:stretch>
            <a:fillRect/>
          </a:stretch>
        </p:blipFill>
        <p:spPr>
          <a:xfrm>
            <a:off x="9107424" y="4700016"/>
            <a:ext cx="182880" cy="182880"/>
          </a:xfrm>
          <a:prstGeom prst="rect">
            <a:avLst/>
          </a:prstGeom>
        </p:spPr>
      </p:pic>
      <p:sp>
        <p:nvSpPr>
          <p:cNvPr id="114" name="Text 108"/>
          <p:cNvSpPr txBox="1"/>
          <p:nvPr/>
        </p:nvSpPr>
        <p:spPr>
          <a:xfrm>
            <a:off x="8028431" y="4690872"/>
            <a:ext cx="1024128"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Codex Enterprise</a:t>
            </a:r>
          </a:p>
          <a:p>
            <a:pPr>
              <a:spcAft>
                <a:spcPts val="100"/>
              </a:spcAft>
            </a:pPr>
            <a:r>
              <a:rPr sz="630" b="0" i="0">
                <a:solidFill>
                  <a:srgbClr val="2B2B2B"/>
                </a:solidFill>
                <a:latin typeface="Trenda IG Text"/>
              </a:rPr>
              <a:t>Model Armor screens every prompt and response; enterprise data protection signed.</a:t>
            </a:r>
          </a:p>
        </p:txBody>
      </p:sp>
      <p:sp>
        <p:nvSpPr>
          <p:cNvPr id="115" name="Shape 109"/>
          <p:cNvSpPr/>
          <p:nvPr/>
        </p:nvSpPr>
        <p:spPr>
          <a:xfrm>
            <a:off x="9601200" y="1161288"/>
            <a:ext cx="2176272"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692640" y="1161288"/>
            <a:ext cx="1993391" cy="256032"/>
          </a:xfrm>
          <a:prstGeom prst="rect">
            <a:avLst/>
          </a:prstGeom>
          <a:noFill/>
        </p:spPr>
        <p:txBody>
          <a:bodyPr wrap="square" lIns="0" rIns="0" tIns="0" bIns="0" anchor="ctr">
            <a:spAutoFit/>
          </a:bodyPr>
          <a:lstStyle/>
          <a:p>
            <a:r>
              <a:rPr sz="750" b="1" i="0" spc="150">
                <a:solidFill>
                  <a:srgbClr val="FFFFFF"/>
                </a:solidFill>
                <a:latin typeface="Trenda IG Text"/>
              </a:rPr>
              <a:t>SYSTEMS OF RECORD</a:t>
            </a:r>
            <a:r>
              <a:rPr sz="750" b="0" i="0">
                <a:solidFill>
                  <a:srgbClr val="BFBFBF"/>
                </a:solidFill>
                <a:latin typeface="Trenda IG Text"/>
              </a:rPr>
              <a:t>   read · write</a:t>
            </a:r>
          </a:p>
        </p:txBody>
      </p:sp>
      <p:sp>
        <p:nvSpPr>
          <p:cNvPr id="117" name="Shape 111"/>
          <p:cNvSpPr/>
          <p:nvPr/>
        </p:nvSpPr>
        <p:spPr>
          <a:xfrm>
            <a:off x="9601200" y="1417320"/>
            <a:ext cx="2176272"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jira.png"/>
          <p:cNvPicPr>
            <a:picLocks noChangeAspect="1"/>
          </p:cNvPicPr>
          <p:nvPr/>
        </p:nvPicPr>
        <p:blipFill>
          <a:blip r:embed="rId7"/>
          <a:stretch>
            <a:fillRect/>
          </a:stretch>
        </p:blipFill>
        <p:spPr>
          <a:xfrm>
            <a:off x="9692640" y="1508760"/>
            <a:ext cx="164592" cy="164592"/>
          </a:xfrm>
          <a:prstGeom prst="rect">
            <a:avLst/>
          </a:prstGeom>
        </p:spPr>
      </p:pic>
      <p:sp>
        <p:nvSpPr>
          <p:cNvPr id="119" name="Text 112"/>
          <p:cNvSpPr txBox="1"/>
          <p:nvPr/>
        </p:nvSpPr>
        <p:spPr>
          <a:xfrm>
            <a:off x="9912096" y="1508760"/>
            <a:ext cx="1773936" cy="164592"/>
          </a:xfrm>
          <a:prstGeom prst="rect">
            <a:avLst/>
          </a:prstGeom>
          <a:noFill/>
        </p:spPr>
        <p:txBody>
          <a:bodyPr wrap="square" lIns="0" rIns="0" tIns="0" bIns="0" anchor="ctr">
            <a:spAutoFit/>
          </a:bodyPr>
          <a:lstStyle/>
          <a:p>
            <a:r>
              <a:rPr sz="750" b="1" i="0">
                <a:solidFill>
                  <a:srgbClr val="000000"/>
                </a:solidFill>
                <a:latin typeface="Trenda IG Text"/>
              </a:rPr>
              <a:t>Jira</a:t>
            </a:r>
          </a:p>
        </p:txBody>
      </p:sp>
      <p:sp>
        <p:nvSpPr>
          <p:cNvPr id="120" name="Shape 113"/>
          <p:cNvSpPr/>
          <p:nvPr/>
        </p:nvSpPr>
        <p:spPr>
          <a:xfrm>
            <a:off x="9692640" y="1700784"/>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9692640" y="1700784"/>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22" name="Text 115"/>
          <p:cNvSpPr txBox="1"/>
          <p:nvPr/>
        </p:nvSpPr>
        <p:spPr>
          <a:xfrm>
            <a:off x="10094976" y="1682495"/>
            <a:ext cx="1591055" cy="146304"/>
          </a:xfrm>
          <a:prstGeom prst="rect">
            <a:avLst/>
          </a:prstGeom>
          <a:noFill/>
        </p:spPr>
        <p:txBody>
          <a:bodyPr wrap="square" lIns="0" rIns="0" tIns="0" bIns="0" anchor="ctr">
            <a:spAutoFit/>
          </a:bodyPr>
          <a:lstStyle/>
          <a:p>
            <a:r>
              <a:rPr sz="600" b="0" i="0">
                <a:solidFill>
                  <a:srgbClr val="2B2B2B"/>
                </a:solidFill>
                <a:latin typeface="Trenda IG Text"/>
              </a:rPr>
              <a:t>stories, criteria</a:t>
            </a:r>
          </a:p>
        </p:txBody>
      </p:sp>
      <p:sp>
        <p:nvSpPr>
          <p:cNvPr id="123" name="Shape 116"/>
          <p:cNvSpPr/>
          <p:nvPr/>
        </p:nvSpPr>
        <p:spPr>
          <a:xfrm>
            <a:off x="9692640" y="1837943"/>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9692640" y="1837943"/>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25" name="Text 118"/>
          <p:cNvSpPr txBox="1"/>
          <p:nvPr/>
        </p:nvSpPr>
        <p:spPr>
          <a:xfrm>
            <a:off x="10094976" y="1819655"/>
            <a:ext cx="1591055" cy="146304"/>
          </a:xfrm>
          <a:prstGeom prst="rect">
            <a:avLst/>
          </a:prstGeom>
          <a:noFill/>
        </p:spPr>
        <p:txBody>
          <a:bodyPr wrap="square" lIns="0" rIns="0" tIns="0" bIns="0" anchor="ctr">
            <a:spAutoFit/>
          </a:bodyPr>
          <a:lstStyle/>
          <a:p>
            <a:r>
              <a:rPr sz="600" b="0" i="0">
                <a:solidFill>
                  <a:srgbClr val="2B2B2B"/>
                </a:solidFill>
                <a:latin typeface="Trenda IG Text"/>
              </a:rPr>
              <a:t>brief, status to Done</a:t>
            </a:r>
          </a:p>
        </p:txBody>
      </p:sp>
      <p:pic>
        <p:nvPicPr>
          <p:cNvPr id="126" name="Picture 125" descr="confluence.png"/>
          <p:cNvPicPr>
            <a:picLocks noChangeAspect="1"/>
          </p:cNvPicPr>
          <p:nvPr/>
        </p:nvPicPr>
        <p:blipFill>
          <a:blip r:embed="rId8"/>
          <a:stretch>
            <a:fillRect/>
          </a:stretch>
        </p:blipFill>
        <p:spPr>
          <a:xfrm>
            <a:off x="9692640" y="2029967"/>
            <a:ext cx="164592" cy="164592"/>
          </a:xfrm>
          <a:prstGeom prst="rect">
            <a:avLst/>
          </a:prstGeom>
        </p:spPr>
      </p:pic>
      <p:sp>
        <p:nvSpPr>
          <p:cNvPr id="127" name="Text 119"/>
          <p:cNvSpPr txBox="1"/>
          <p:nvPr/>
        </p:nvSpPr>
        <p:spPr>
          <a:xfrm>
            <a:off x="9912096" y="2029967"/>
            <a:ext cx="1773936" cy="164592"/>
          </a:xfrm>
          <a:prstGeom prst="rect">
            <a:avLst/>
          </a:prstGeom>
          <a:noFill/>
        </p:spPr>
        <p:txBody>
          <a:bodyPr wrap="square" lIns="0" rIns="0" tIns="0" bIns="0" anchor="ctr">
            <a:spAutoFit/>
          </a:bodyPr>
          <a:lstStyle/>
          <a:p>
            <a:r>
              <a:rPr sz="750" b="1" i="0">
                <a:solidFill>
                  <a:srgbClr val="000000"/>
                </a:solidFill>
                <a:latin typeface="Trenda IG Text"/>
              </a:rPr>
              <a:t>Confluence</a:t>
            </a:r>
          </a:p>
        </p:txBody>
      </p:sp>
      <p:sp>
        <p:nvSpPr>
          <p:cNvPr id="128" name="Shape 120"/>
          <p:cNvSpPr/>
          <p:nvPr/>
        </p:nvSpPr>
        <p:spPr>
          <a:xfrm>
            <a:off x="9692640" y="2221991"/>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1"/>
          <p:cNvSpPr txBox="1"/>
          <p:nvPr/>
        </p:nvSpPr>
        <p:spPr>
          <a:xfrm>
            <a:off x="9692640" y="2221991"/>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0" name="Text 122"/>
          <p:cNvSpPr txBox="1"/>
          <p:nvPr/>
        </p:nvSpPr>
        <p:spPr>
          <a:xfrm>
            <a:off x="10094976" y="2203703"/>
            <a:ext cx="1591055" cy="146304"/>
          </a:xfrm>
          <a:prstGeom prst="rect">
            <a:avLst/>
          </a:prstGeom>
          <a:noFill/>
        </p:spPr>
        <p:txBody>
          <a:bodyPr wrap="square" lIns="0" rIns="0" tIns="0" bIns="0" anchor="ctr">
            <a:spAutoFit/>
          </a:bodyPr>
          <a:lstStyle/>
          <a:p>
            <a:r>
              <a:rPr sz="600" b="0" i="0">
                <a:solidFill>
                  <a:srgbClr val="2B2B2B"/>
                </a:solidFill>
                <a:latin typeface="Trenda IG Text"/>
              </a:rPr>
              <a:t>designs, rules</a:t>
            </a:r>
          </a:p>
        </p:txBody>
      </p:sp>
      <p:sp>
        <p:nvSpPr>
          <p:cNvPr id="131" name="Shape 123"/>
          <p:cNvSpPr/>
          <p:nvPr/>
        </p:nvSpPr>
        <p:spPr>
          <a:xfrm>
            <a:off x="9692640" y="2359151"/>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4"/>
          <p:cNvSpPr txBox="1"/>
          <p:nvPr/>
        </p:nvSpPr>
        <p:spPr>
          <a:xfrm>
            <a:off x="9692640" y="2359151"/>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33" name="Text 125"/>
          <p:cNvSpPr txBox="1"/>
          <p:nvPr/>
        </p:nvSpPr>
        <p:spPr>
          <a:xfrm>
            <a:off x="10094976" y="2340863"/>
            <a:ext cx="1591055" cy="146304"/>
          </a:xfrm>
          <a:prstGeom prst="rect">
            <a:avLst/>
          </a:prstGeom>
          <a:noFill/>
        </p:spPr>
        <p:txBody>
          <a:bodyPr wrap="square" lIns="0" rIns="0" tIns="0" bIns="0" anchor="ctr">
            <a:spAutoFit/>
          </a:bodyPr>
          <a:lstStyle/>
          <a:p>
            <a:r>
              <a:rPr sz="600" b="0" i="0">
                <a:solidFill>
                  <a:srgbClr val="2B2B2B"/>
                </a:solidFill>
                <a:latin typeface="Trenda IG Text"/>
              </a:rPr>
              <a:t>design draft, as-built</a:t>
            </a:r>
          </a:p>
        </p:txBody>
      </p:sp>
      <p:pic>
        <p:nvPicPr>
          <p:cNvPr id="134" name="Picture 133" descr="googledrive.png"/>
          <p:cNvPicPr>
            <a:picLocks noChangeAspect="1"/>
          </p:cNvPicPr>
          <p:nvPr/>
        </p:nvPicPr>
        <p:blipFill>
          <a:blip r:embed="rId9"/>
          <a:stretch>
            <a:fillRect/>
          </a:stretch>
        </p:blipFill>
        <p:spPr>
          <a:xfrm>
            <a:off x="9692640" y="2551176"/>
            <a:ext cx="164592" cy="164592"/>
          </a:xfrm>
          <a:prstGeom prst="rect">
            <a:avLst/>
          </a:prstGeom>
        </p:spPr>
      </p:pic>
      <p:sp>
        <p:nvSpPr>
          <p:cNvPr id="135" name="Text 126"/>
          <p:cNvSpPr txBox="1"/>
          <p:nvPr/>
        </p:nvSpPr>
        <p:spPr>
          <a:xfrm>
            <a:off x="9912096" y="2551176"/>
            <a:ext cx="1773936" cy="164592"/>
          </a:xfrm>
          <a:prstGeom prst="rect">
            <a:avLst/>
          </a:prstGeom>
          <a:noFill/>
        </p:spPr>
        <p:txBody>
          <a:bodyPr wrap="square" lIns="0" rIns="0" tIns="0" bIns="0" anchor="ctr">
            <a:spAutoFit/>
          </a:bodyPr>
          <a:lstStyle/>
          <a:p>
            <a:r>
              <a:rPr sz="750" b="1" i="0">
                <a:solidFill>
                  <a:srgbClr val="000000"/>
                </a:solidFill>
                <a:latin typeface="Trenda IG Text"/>
              </a:rPr>
              <a:t>Google Drive</a:t>
            </a:r>
          </a:p>
        </p:txBody>
      </p:sp>
      <p:sp>
        <p:nvSpPr>
          <p:cNvPr id="136" name="Shape 127"/>
          <p:cNvSpPr/>
          <p:nvPr/>
        </p:nvSpPr>
        <p:spPr>
          <a:xfrm>
            <a:off x="9692640" y="2743200"/>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8"/>
          <p:cNvSpPr txBox="1"/>
          <p:nvPr/>
        </p:nvSpPr>
        <p:spPr>
          <a:xfrm>
            <a:off x="9692640" y="2743200"/>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8" name="Text 129"/>
          <p:cNvSpPr txBox="1"/>
          <p:nvPr/>
        </p:nvSpPr>
        <p:spPr>
          <a:xfrm>
            <a:off x="10094976" y="2724912"/>
            <a:ext cx="1591055" cy="146304"/>
          </a:xfrm>
          <a:prstGeom prst="rect">
            <a:avLst/>
          </a:prstGeom>
          <a:noFill/>
        </p:spPr>
        <p:txBody>
          <a:bodyPr wrap="square" lIns="0" rIns="0" tIns="0" bIns="0" anchor="ctr">
            <a:spAutoFit/>
          </a:bodyPr>
          <a:lstStyle/>
          <a:p>
            <a:r>
              <a:rPr sz="600" b="0" i="0">
                <a:solidFill>
                  <a:srgbClr val="2B2B2B"/>
                </a:solidFill>
                <a:latin typeface="Trenda IG Text"/>
              </a:rPr>
              <a:t>specs, mapping sheets</a:t>
            </a:r>
          </a:p>
        </p:txBody>
      </p:sp>
      <p:pic>
        <p:nvPicPr>
          <p:cNvPr id="139" name="Picture 138" descr="git.png"/>
          <p:cNvPicPr>
            <a:picLocks noChangeAspect="1"/>
          </p:cNvPicPr>
          <p:nvPr/>
        </p:nvPicPr>
        <p:blipFill>
          <a:blip r:embed="rId10"/>
          <a:stretch>
            <a:fillRect/>
          </a:stretch>
        </p:blipFill>
        <p:spPr>
          <a:xfrm>
            <a:off x="9692640" y="2935224"/>
            <a:ext cx="164592" cy="164592"/>
          </a:xfrm>
          <a:prstGeom prst="rect">
            <a:avLst/>
          </a:prstGeom>
        </p:spPr>
      </p:pic>
      <p:sp>
        <p:nvSpPr>
          <p:cNvPr id="140" name="Text 130"/>
          <p:cNvSpPr txBox="1"/>
          <p:nvPr/>
        </p:nvSpPr>
        <p:spPr>
          <a:xfrm>
            <a:off x="9912096" y="2935224"/>
            <a:ext cx="1773936" cy="164592"/>
          </a:xfrm>
          <a:prstGeom prst="rect">
            <a:avLst/>
          </a:prstGeom>
          <a:noFill/>
        </p:spPr>
        <p:txBody>
          <a:bodyPr wrap="square" lIns="0" rIns="0" tIns="0" bIns="0" anchor="ctr">
            <a:spAutoFit/>
          </a:bodyPr>
          <a:lstStyle/>
          <a:p>
            <a:r>
              <a:rPr sz="750" b="1" i="0">
                <a:solidFill>
                  <a:srgbClr val="000000"/>
                </a:solidFill>
                <a:latin typeface="Trenda IG Text"/>
              </a:rPr>
              <a:t>Git</a:t>
            </a:r>
          </a:p>
        </p:txBody>
      </p:sp>
      <p:sp>
        <p:nvSpPr>
          <p:cNvPr id="141" name="Shape 131"/>
          <p:cNvSpPr/>
          <p:nvPr/>
        </p:nvSpPr>
        <p:spPr>
          <a:xfrm>
            <a:off x="9692640" y="3127248"/>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2"/>
          <p:cNvSpPr txBox="1"/>
          <p:nvPr/>
        </p:nvSpPr>
        <p:spPr>
          <a:xfrm>
            <a:off x="9692640" y="3127248"/>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43" name="Text 133"/>
          <p:cNvSpPr txBox="1"/>
          <p:nvPr/>
        </p:nvSpPr>
        <p:spPr>
          <a:xfrm>
            <a:off x="10094976" y="3108960"/>
            <a:ext cx="1591055" cy="146304"/>
          </a:xfrm>
          <a:prstGeom prst="rect">
            <a:avLst/>
          </a:prstGeom>
          <a:noFill/>
        </p:spPr>
        <p:txBody>
          <a:bodyPr wrap="square" lIns="0" rIns="0" tIns="0" bIns="0" anchor="ctr">
            <a:spAutoFit/>
          </a:bodyPr>
          <a:lstStyle/>
          <a:p>
            <a:r>
              <a:rPr sz="600" b="0" i="0">
                <a:solidFill>
                  <a:srgbClr val="2B2B2B"/>
                </a:solidFill>
                <a:latin typeface="Trenda IG Text"/>
              </a:rPr>
              <a:t>Apex, LWC, metadata</a:t>
            </a:r>
          </a:p>
        </p:txBody>
      </p:sp>
      <p:sp>
        <p:nvSpPr>
          <p:cNvPr id="144" name="Shape 134"/>
          <p:cNvSpPr/>
          <p:nvPr/>
        </p:nvSpPr>
        <p:spPr>
          <a:xfrm>
            <a:off x="9692640" y="3264408"/>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5"/>
          <p:cNvSpPr txBox="1"/>
          <p:nvPr/>
        </p:nvSpPr>
        <p:spPr>
          <a:xfrm>
            <a:off x="9692640" y="3264408"/>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46" name="Text 136"/>
          <p:cNvSpPr txBox="1"/>
          <p:nvPr/>
        </p:nvSpPr>
        <p:spPr>
          <a:xfrm>
            <a:off x="10094976" y="3246120"/>
            <a:ext cx="1591055" cy="146304"/>
          </a:xfrm>
          <a:prstGeom prst="rect">
            <a:avLst/>
          </a:prstGeom>
          <a:noFill/>
        </p:spPr>
        <p:txBody>
          <a:bodyPr wrap="square" lIns="0" rIns="0" tIns="0" bIns="0" anchor="ctr">
            <a:spAutoFit/>
          </a:bodyPr>
          <a:lstStyle/>
          <a:p>
            <a:r>
              <a:rPr sz="600" b="0" i="0">
                <a:solidFill>
                  <a:srgbClr val="2B2B2B"/>
                </a:solidFill>
                <a:latin typeface="Trenda IG Text"/>
              </a:rPr>
              <a:t>branch, pull request</a:t>
            </a:r>
          </a:p>
        </p:txBody>
      </p:sp>
      <p:pic>
        <p:nvPicPr>
          <p:cNvPr id="147" name="Picture 146" descr="salesforce.png"/>
          <p:cNvPicPr>
            <a:picLocks noChangeAspect="1"/>
          </p:cNvPicPr>
          <p:nvPr/>
        </p:nvPicPr>
        <p:blipFill>
          <a:blip r:embed="rId2"/>
          <a:stretch>
            <a:fillRect/>
          </a:stretch>
        </p:blipFill>
        <p:spPr>
          <a:xfrm>
            <a:off x="9692640" y="3456432"/>
            <a:ext cx="164592" cy="164592"/>
          </a:xfrm>
          <a:prstGeom prst="rect">
            <a:avLst/>
          </a:prstGeom>
        </p:spPr>
      </p:pic>
      <p:sp>
        <p:nvSpPr>
          <p:cNvPr id="148" name="Text 137"/>
          <p:cNvSpPr txBox="1"/>
          <p:nvPr/>
        </p:nvSpPr>
        <p:spPr>
          <a:xfrm>
            <a:off x="9912096" y="3456432"/>
            <a:ext cx="1773936" cy="164592"/>
          </a:xfrm>
          <a:prstGeom prst="rect">
            <a:avLst/>
          </a:prstGeom>
          <a:noFill/>
        </p:spPr>
        <p:txBody>
          <a:bodyPr wrap="square" lIns="0" rIns="0" tIns="0" bIns="0" anchor="ctr">
            <a:spAutoFit/>
          </a:bodyPr>
          <a:lstStyle/>
          <a:p>
            <a:r>
              <a:rPr sz="750" b="1" i="0">
                <a:solidFill>
                  <a:srgbClr val="000000"/>
                </a:solidFill>
                <a:latin typeface="Trenda IG Text"/>
              </a:rPr>
              <a:t>Salesforce</a:t>
            </a:r>
          </a:p>
        </p:txBody>
      </p:sp>
      <p:sp>
        <p:nvSpPr>
          <p:cNvPr id="149" name="Shape 138"/>
          <p:cNvSpPr/>
          <p:nvPr/>
        </p:nvSpPr>
        <p:spPr>
          <a:xfrm>
            <a:off x="9692640" y="3648456"/>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9"/>
          <p:cNvSpPr txBox="1"/>
          <p:nvPr/>
        </p:nvSpPr>
        <p:spPr>
          <a:xfrm>
            <a:off x="9692640" y="3648456"/>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51" name="Text 140"/>
          <p:cNvSpPr txBox="1"/>
          <p:nvPr/>
        </p:nvSpPr>
        <p:spPr>
          <a:xfrm>
            <a:off x="10094976" y="3630168"/>
            <a:ext cx="1591055" cy="146304"/>
          </a:xfrm>
          <a:prstGeom prst="rect">
            <a:avLst/>
          </a:prstGeom>
          <a:noFill/>
        </p:spPr>
        <p:txBody>
          <a:bodyPr wrap="square" lIns="0" rIns="0" tIns="0" bIns="0" anchor="ctr">
            <a:spAutoFit/>
          </a:bodyPr>
          <a:lstStyle/>
          <a:p>
            <a:r>
              <a:rPr sz="600" b="0" i="0">
                <a:solidFill>
                  <a:srgbClr val="2B2B2B"/>
                </a:solidFill>
                <a:latin typeface="Trenda IG Text"/>
              </a:rPr>
              <a:t>Health, Data, Marketing Cloud</a:t>
            </a:r>
          </a:p>
        </p:txBody>
      </p:sp>
      <p:sp>
        <p:nvSpPr>
          <p:cNvPr id="152" name="Shape 141"/>
          <p:cNvSpPr/>
          <p:nvPr/>
        </p:nvSpPr>
        <p:spPr>
          <a:xfrm>
            <a:off x="9692640" y="3785615"/>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2"/>
          <p:cNvSpPr txBox="1"/>
          <p:nvPr/>
        </p:nvSpPr>
        <p:spPr>
          <a:xfrm>
            <a:off x="9692640" y="3785615"/>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54" name="Text 143"/>
          <p:cNvSpPr txBox="1"/>
          <p:nvPr/>
        </p:nvSpPr>
        <p:spPr>
          <a:xfrm>
            <a:off x="10094976" y="3767328"/>
            <a:ext cx="1591055" cy="146304"/>
          </a:xfrm>
          <a:prstGeom prst="rect">
            <a:avLst/>
          </a:prstGeom>
          <a:noFill/>
        </p:spPr>
        <p:txBody>
          <a:bodyPr wrap="square" lIns="0" rIns="0" tIns="0" bIns="0" anchor="ctr">
            <a:spAutoFit/>
          </a:bodyPr>
          <a:lstStyle/>
          <a:p>
            <a:r>
              <a:rPr sz="600" b="0" i="0">
                <a:solidFill>
                  <a:srgbClr val="2B2B2B"/>
                </a:solidFill>
                <a:latin typeface="Trenda IG Text"/>
              </a:rPr>
              <a:t>DEV sandbox deploy</a:t>
            </a:r>
          </a:p>
        </p:txBody>
      </p:sp>
      <p:sp>
        <p:nvSpPr>
          <p:cNvPr id="155" name="Shape 144"/>
          <p:cNvSpPr/>
          <p:nvPr/>
        </p:nvSpPr>
        <p:spPr>
          <a:xfrm>
            <a:off x="9692640" y="3977640"/>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9692640" y="3977640"/>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ZS</a:t>
            </a:r>
          </a:p>
        </p:txBody>
      </p:sp>
      <p:sp>
        <p:nvSpPr>
          <p:cNvPr id="157" name="Text 146"/>
          <p:cNvSpPr txBox="1"/>
          <p:nvPr/>
        </p:nvSpPr>
        <p:spPr>
          <a:xfrm>
            <a:off x="9912096" y="3977640"/>
            <a:ext cx="1773936" cy="164592"/>
          </a:xfrm>
          <a:prstGeom prst="rect">
            <a:avLst/>
          </a:prstGeom>
          <a:noFill/>
        </p:spPr>
        <p:txBody>
          <a:bodyPr wrap="square" lIns="0" rIns="0" tIns="0" bIns="0" anchor="ctr">
            <a:spAutoFit/>
          </a:bodyPr>
          <a:lstStyle/>
          <a:p>
            <a:r>
              <a:rPr sz="750" b="1" i="0">
                <a:solidFill>
                  <a:srgbClr val="000000"/>
                </a:solidFill>
                <a:latin typeface="Trenda IG Text"/>
              </a:rPr>
              <a:t>Zephyr Scale</a:t>
            </a:r>
          </a:p>
        </p:txBody>
      </p:sp>
      <p:sp>
        <p:nvSpPr>
          <p:cNvPr id="158" name="Shape 147"/>
          <p:cNvSpPr/>
          <p:nvPr/>
        </p:nvSpPr>
        <p:spPr>
          <a:xfrm>
            <a:off x="9692640" y="4169664"/>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8"/>
          <p:cNvSpPr txBox="1"/>
          <p:nvPr/>
        </p:nvSpPr>
        <p:spPr>
          <a:xfrm>
            <a:off x="9692640" y="4169664"/>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0" name="Text 149"/>
          <p:cNvSpPr txBox="1"/>
          <p:nvPr/>
        </p:nvSpPr>
        <p:spPr>
          <a:xfrm>
            <a:off x="10094976" y="4151376"/>
            <a:ext cx="1591055" cy="146304"/>
          </a:xfrm>
          <a:prstGeom prst="rect">
            <a:avLst/>
          </a:prstGeom>
          <a:noFill/>
        </p:spPr>
        <p:txBody>
          <a:bodyPr wrap="square" lIns="0" rIns="0" tIns="0" bIns="0" anchor="ctr">
            <a:spAutoFit/>
          </a:bodyPr>
          <a:lstStyle/>
          <a:p>
            <a:r>
              <a:rPr sz="600" b="0" i="0">
                <a:solidFill>
                  <a:srgbClr val="2B2B2B"/>
                </a:solidFill>
                <a:latin typeface="Trenda IG Text"/>
              </a:rPr>
              <a:t>test cases, results</a:t>
            </a:r>
          </a:p>
        </p:txBody>
      </p:sp>
      <p:sp>
        <p:nvSpPr>
          <p:cNvPr id="161" name="Shape 150"/>
          <p:cNvSpPr/>
          <p:nvPr/>
        </p:nvSpPr>
        <p:spPr>
          <a:xfrm>
            <a:off x="9692640" y="4361688"/>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1"/>
          <p:cNvSpPr txBox="1"/>
          <p:nvPr/>
        </p:nvSpPr>
        <p:spPr>
          <a:xfrm>
            <a:off x="9692640" y="4361688"/>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Co</a:t>
            </a:r>
          </a:p>
        </p:txBody>
      </p:sp>
      <p:sp>
        <p:nvSpPr>
          <p:cNvPr id="163" name="Text 152"/>
          <p:cNvSpPr txBox="1"/>
          <p:nvPr/>
        </p:nvSpPr>
        <p:spPr>
          <a:xfrm>
            <a:off x="9912096" y="4361688"/>
            <a:ext cx="1773936" cy="164592"/>
          </a:xfrm>
          <a:prstGeom prst="rect">
            <a:avLst/>
          </a:prstGeom>
          <a:noFill/>
        </p:spPr>
        <p:txBody>
          <a:bodyPr wrap="square" lIns="0" rIns="0" tIns="0" bIns="0" anchor="ctr">
            <a:spAutoFit/>
          </a:bodyPr>
          <a:lstStyle/>
          <a:p>
            <a:r>
              <a:rPr sz="750" b="1" i="0">
                <a:solidFill>
                  <a:srgbClr val="000000"/>
                </a:solidFill>
                <a:latin typeface="Trenda IG Text"/>
              </a:rPr>
              <a:t>Copado</a:t>
            </a:r>
          </a:p>
        </p:txBody>
      </p:sp>
      <p:sp>
        <p:nvSpPr>
          <p:cNvPr id="164" name="Shape 153"/>
          <p:cNvSpPr/>
          <p:nvPr/>
        </p:nvSpPr>
        <p:spPr>
          <a:xfrm>
            <a:off x="9692640" y="4553712"/>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4"/>
          <p:cNvSpPr txBox="1"/>
          <p:nvPr/>
        </p:nvSpPr>
        <p:spPr>
          <a:xfrm>
            <a:off x="9692640" y="4553712"/>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66" name="Text 155"/>
          <p:cNvSpPr txBox="1"/>
          <p:nvPr/>
        </p:nvSpPr>
        <p:spPr>
          <a:xfrm>
            <a:off x="10094976" y="4535424"/>
            <a:ext cx="1591055" cy="146304"/>
          </a:xfrm>
          <a:prstGeom prst="rect">
            <a:avLst/>
          </a:prstGeom>
          <a:noFill/>
        </p:spPr>
        <p:txBody>
          <a:bodyPr wrap="square" lIns="0" rIns="0" tIns="0" bIns="0" anchor="ctr">
            <a:spAutoFit/>
          </a:bodyPr>
          <a:lstStyle/>
          <a:p>
            <a:r>
              <a:rPr sz="600" b="0" i="0">
                <a:solidFill>
                  <a:srgbClr val="2B2B2B"/>
                </a:solidFill>
                <a:latin typeface="Trenda IG Text"/>
              </a:rPr>
              <a:t>promotions, test runs</a:t>
            </a:r>
          </a:p>
        </p:txBody>
      </p:sp>
      <p:sp>
        <p:nvSpPr>
          <p:cNvPr id="167" name="Shape 156"/>
          <p:cNvSpPr/>
          <p:nvPr/>
        </p:nvSpPr>
        <p:spPr>
          <a:xfrm>
            <a:off x="9692640" y="4690872"/>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7"/>
          <p:cNvSpPr txBox="1"/>
          <p:nvPr/>
        </p:nvSpPr>
        <p:spPr>
          <a:xfrm>
            <a:off x="9692640" y="4690872"/>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9" name="Text 158"/>
          <p:cNvSpPr txBox="1"/>
          <p:nvPr/>
        </p:nvSpPr>
        <p:spPr>
          <a:xfrm>
            <a:off x="10094976" y="4672584"/>
            <a:ext cx="1591055" cy="146304"/>
          </a:xfrm>
          <a:prstGeom prst="rect">
            <a:avLst/>
          </a:prstGeom>
          <a:noFill/>
        </p:spPr>
        <p:txBody>
          <a:bodyPr wrap="square" lIns="0" rIns="0" tIns="0" bIns="0" anchor="ctr">
            <a:spAutoFit/>
          </a:bodyPr>
          <a:lstStyle/>
          <a:p>
            <a:r>
              <a:rPr sz="600" b="0" i="0">
                <a:solidFill>
                  <a:srgbClr val="2B2B2B"/>
                </a:solidFill>
                <a:latin typeface="Trenda IG Text"/>
              </a:rPr>
              <a:t>user story, SIT to UAT</a:t>
            </a:r>
          </a:p>
        </p:txBody>
      </p:sp>
      <p:sp>
        <p:nvSpPr>
          <p:cNvPr id="170" name="Shape 159"/>
          <p:cNvSpPr/>
          <p:nvPr/>
        </p:nvSpPr>
        <p:spPr>
          <a:xfrm>
            <a:off x="9692640" y="4901184"/>
            <a:ext cx="1993391" cy="502920"/>
          </a:xfrm>
          <a:prstGeom prst="roundRect">
            <a:avLst>
              <a:gd name="adj" fmla="val 8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0"/>
          <p:cNvSpPr txBox="1"/>
          <p:nvPr/>
        </p:nvSpPr>
        <p:spPr>
          <a:xfrm>
            <a:off x="9765792" y="4928616"/>
            <a:ext cx="1847088"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Production</a:t>
            </a:r>
          </a:p>
          <a:p>
            <a:pPr>
              <a:spcAft>
                <a:spcPts val="100"/>
              </a:spcAft>
            </a:pPr>
            <a:r>
              <a:rPr sz="600" b="0" i="0">
                <a:solidFill>
                  <a:srgbClr val="595959"/>
                </a:solidFill>
                <a:latin typeface="Trenda IG Text"/>
              </a:rPr>
              <a:t>The owning team deploys after CAB. No agent credential, no agent path.</a:t>
            </a:r>
          </a:p>
        </p:txBody>
      </p:sp>
      <p:cxnSp>
        <p:nvCxnSpPr>
          <p:cNvPr id="172" name="Arrow 161"/>
          <p:cNvCxnSpPr/>
          <p:nvPr/>
        </p:nvCxnSpPr>
        <p:spPr>
          <a:xfrm flipH="1">
            <a:off x="9363456" y="2011680"/>
            <a:ext cx="237744" cy="0"/>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3" name="Arrow 162"/>
          <p:cNvCxnSpPr/>
          <p:nvPr/>
        </p:nvCxnSpPr>
        <p:spPr>
          <a:xfrm>
            <a:off x="9363456" y="3950208"/>
            <a:ext cx="237744"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Arrow 163"/>
          <p:cNvCxnSpPr/>
          <p:nvPr/>
        </p:nvCxnSpPr>
        <p:spPr>
          <a:xfrm>
            <a:off x="2350008" y="3566160"/>
            <a:ext cx="438912" cy="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64"/>
          <p:cNvSpPr/>
          <p:nvPr/>
        </p:nvSpPr>
        <p:spPr>
          <a:xfrm>
            <a:off x="2459736" y="334670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65"/>
          <p:cNvSpPr txBox="1"/>
          <p:nvPr/>
        </p:nvSpPr>
        <p:spPr>
          <a:xfrm>
            <a:off x="2459736" y="334670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2</a:t>
            </a:r>
          </a:p>
        </p:txBody>
      </p:sp>
      <p:cxnSp>
        <p:nvCxnSpPr>
          <p:cNvPr id="177" name="Arrow 166"/>
          <p:cNvCxnSpPr/>
          <p:nvPr/>
        </p:nvCxnSpPr>
        <p:spPr>
          <a:xfrm flipH="1">
            <a:off x="2514600" y="3081528"/>
            <a:ext cx="274320"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8" name="Arrow 167"/>
          <p:cNvCxnSpPr/>
          <p:nvPr/>
        </p:nvCxnSpPr>
        <p:spPr>
          <a:xfrm flipV="1">
            <a:off x="2514600" y="2514600"/>
            <a:ext cx="0" cy="566928"/>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9" name="Arrow 168"/>
          <p:cNvCxnSpPr/>
          <p:nvPr/>
        </p:nvCxnSpPr>
        <p:spPr>
          <a:xfrm flipH="1">
            <a:off x="2350008" y="2514600"/>
            <a:ext cx="164592" cy="0"/>
          </a:xfrm>
          <a:prstGeom prst="line">
            <a:avLst/>
          </a:prstGeom>
          <a:ln w="12700">
            <a:solidFill>
              <a:srgbClr val="0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0" name="Shape 169"/>
          <p:cNvSpPr/>
          <p:nvPr/>
        </p:nvSpPr>
        <p:spPr>
          <a:xfrm>
            <a:off x="2551176" y="261518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70"/>
          <p:cNvSpPr txBox="1"/>
          <p:nvPr/>
        </p:nvSpPr>
        <p:spPr>
          <a:xfrm>
            <a:off x="2551176" y="261518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5</a:t>
            </a:r>
          </a:p>
        </p:txBody>
      </p:sp>
      <p:sp>
        <p:nvSpPr>
          <p:cNvPr id="182" name="Text 171"/>
          <p:cNvSpPr txBox="1"/>
          <p:nvPr/>
        </p:nvSpPr>
        <p:spPr>
          <a:xfrm>
            <a:off x="411480" y="5550408"/>
            <a:ext cx="960120" cy="365760"/>
          </a:xfrm>
          <a:prstGeom prst="rect">
            <a:avLst/>
          </a:prstGeom>
          <a:noFill/>
        </p:spPr>
        <p:txBody>
          <a:bodyPr wrap="square" lIns="0" rIns="0" tIns="0" bIns="0" anchor="ctr">
            <a:spAutoFit/>
          </a:bodyPr>
          <a:lstStyle/>
          <a:p>
            <a:r>
              <a:rPr sz="630" b="1" i="0" spc="150">
                <a:solidFill>
                  <a:srgbClr val="000000"/>
                </a:solidFill>
                <a:latin typeface="Trenda IG Text"/>
              </a:rPr>
              <a:t>EACH RUN</a:t>
            </a:r>
          </a:p>
          <a:p>
            <a:r>
              <a:rPr sz="630" b="0" i="0">
                <a:solidFill>
                  <a:srgbClr val="595959"/>
                </a:solidFill>
                <a:latin typeface="Trenda IG Text"/>
              </a:rPr>
              <a:t>step by step</a:t>
            </a:r>
          </a:p>
        </p:txBody>
      </p:sp>
      <p:sp>
        <p:nvSpPr>
          <p:cNvPr id="183" name="Shape 172"/>
          <p:cNvSpPr/>
          <p:nvPr/>
        </p:nvSpPr>
        <p:spPr>
          <a:xfrm>
            <a:off x="141732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73"/>
          <p:cNvSpPr txBox="1"/>
          <p:nvPr/>
        </p:nvSpPr>
        <p:spPr>
          <a:xfrm>
            <a:off x="144475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01 Understand</a:t>
            </a:r>
          </a:p>
          <a:p>
            <a:pPr algn="ctr"/>
            <a:r>
              <a:rPr sz="530" b="0" i="0">
                <a:solidFill>
                  <a:srgbClr val="2B2B2B"/>
                </a:solidFill>
                <a:latin typeface="Trenda IG Text"/>
              </a:rPr>
              <a:t>Requirements</a:t>
            </a:r>
          </a:p>
        </p:txBody>
      </p:sp>
      <p:sp>
        <p:nvSpPr>
          <p:cNvPr id="185" name="Shape 174"/>
          <p:cNvSpPr/>
          <p:nvPr/>
        </p:nvSpPr>
        <p:spPr>
          <a:xfrm>
            <a:off x="155448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5"/>
          <p:cNvSpPr txBox="1"/>
          <p:nvPr/>
        </p:nvSpPr>
        <p:spPr>
          <a:xfrm>
            <a:off x="155448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87" name="Arrow 176"/>
          <p:cNvCxnSpPr/>
          <p:nvPr/>
        </p:nvCxnSpPr>
        <p:spPr>
          <a:xfrm>
            <a:off x="211226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7"/>
          <p:cNvSpPr/>
          <p:nvPr/>
        </p:nvSpPr>
        <p:spPr>
          <a:xfrm>
            <a:off x="215798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78"/>
          <p:cNvSpPr txBox="1"/>
          <p:nvPr/>
        </p:nvSpPr>
        <p:spPr>
          <a:xfrm>
            <a:off x="218541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H1</a:t>
            </a:r>
          </a:p>
          <a:p>
            <a:pPr algn="ctr"/>
            <a:r>
              <a:rPr sz="530" b="0" i="0">
                <a:solidFill>
                  <a:srgbClr val="2B2B2B"/>
                </a:solidFill>
                <a:latin typeface="Trenda IG Text"/>
              </a:rPr>
              <a:t>product owner</a:t>
            </a:r>
          </a:p>
        </p:txBody>
      </p:sp>
      <p:cxnSp>
        <p:nvCxnSpPr>
          <p:cNvPr id="190" name="Arrow 179"/>
          <p:cNvCxnSpPr/>
          <p:nvPr/>
        </p:nvCxnSpPr>
        <p:spPr>
          <a:xfrm>
            <a:off x="285292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0"/>
          <p:cNvSpPr/>
          <p:nvPr/>
        </p:nvSpPr>
        <p:spPr>
          <a:xfrm>
            <a:off x="289864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1"/>
          <p:cNvSpPr txBox="1"/>
          <p:nvPr/>
        </p:nvSpPr>
        <p:spPr>
          <a:xfrm>
            <a:off x="2926079"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02 Design</a:t>
            </a:r>
          </a:p>
          <a:p>
            <a:pPr algn="ctr"/>
            <a:r>
              <a:rPr sz="530" b="0" i="0">
                <a:solidFill>
                  <a:srgbClr val="2B2B2B"/>
                </a:solidFill>
                <a:latin typeface="Trenda IG Text"/>
              </a:rPr>
              <a:t>Architect + CG</a:t>
            </a:r>
          </a:p>
        </p:txBody>
      </p:sp>
      <p:sp>
        <p:nvSpPr>
          <p:cNvPr id="193" name="Shape 182"/>
          <p:cNvSpPr/>
          <p:nvPr/>
        </p:nvSpPr>
        <p:spPr>
          <a:xfrm>
            <a:off x="303580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3"/>
          <p:cNvSpPr txBox="1"/>
          <p:nvPr/>
        </p:nvSpPr>
        <p:spPr>
          <a:xfrm>
            <a:off x="303580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95" name="Arrow 184"/>
          <p:cNvCxnSpPr/>
          <p:nvPr/>
        </p:nvCxnSpPr>
        <p:spPr>
          <a:xfrm>
            <a:off x="3593591"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5"/>
          <p:cNvSpPr/>
          <p:nvPr/>
        </p:nvSpPr>
        <p:spPr>
          <a:xfrm>
            <a:off x="3639312"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6"/>
          <p:cNvSpPr txBox="1"/>
          <p:nvPr/>
        </p:nvSpPr>
        <p:spPr>
          <a:xfrm>
            <a:off x="366674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H2</a:t>
            </a:r>
          </a:p>
          <a:p>
            <a:pPr algn="ctr"/>
            <a:r>
              <a:rPr sz="530" b="0" i="0">
                <a:solidFill>
                  <a:srgbClr val="2B2B2B"/>
                </a:solidFill>
                <a:latin typeface="Trenda IG Text"/>
              </a:rPr>
              <a:t>architect + pods</a:t>
            </a:r>
          </a:p>
        </p:txBody>
      </p:sp>
      <p:cxnSp>
        <p:nvCxnSpPr>
          <p:cNvPr id="198" name="Arrow 187"/>
          <p:cNvCxnSpPr/>
          <p:nvPr/>
        </p:nvCxnSpPr>
        <p:spPr>
          <a:xfrm>
            <a:off x="433425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9" name="Shape 188"/>
          <p:cNvSpPr/>
          <p:nvPr/>
        </p:nvSpPr>
        <p:spPr>
          <a:xfrm>
            <a:off x="4379976"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 189"/>
          <p:cNvSpPr txBox="1"/>
          <p:nvPr/>
        </p:nvSpPr>
        <p:spPr>
          <a:xfrm>
            <a:off x="440740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03 Build</a:t>
            </a:r>
          </a:p>
          <a:p>
            <a:pPr algn="ctr"/>
            <a:r>
              <a:rPr sz="530" b="0" i="0">
                <a:solidFill>
                  <a:srgbClr val="2B2B2B"/>
                </a:solidFill>
                <a:latin typeface="Trenda IG Text"/>
              </a:rPr>
              <a:t>Developer</a:t>
            </a:r>
          </a:p>
        </p:txBody>
      </p:sp>
      <p:sp>
        <p:nvSpPr>
          <p:cNvPr id="201" name="Shape 190"/>
          <p:cNvSpPr/>
          <p:nvPr/>
        </p:nvSpPr>
        <p:spPr>
          <a:xfrm>
            <a:off x="4517136"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91"/>
          <p:cNvSpPr txBox="1"/>
          <p:nvPr/>
        </p:nvSpPr>
        <p:spPr>
          <a:xfrm>
            <a:off x="4517136"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3" name="Arrow 192"/>
          <p:cNvCxnSpPr/>
          <p:nvPr/>
        </p:nvCxnSpPr>
        <p:spPr>
          <a:xfrm>
            <a:off x="507492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Shape 193"/>
          <p:cNvSpPr/>
          <p:nvPr/>
        </p:nvSpPr>
        <p:spPr>
          <a:xfrm>
            <a:off x="512064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4"/>
          <p:cNvSpPr txBox="1"/>
          <p:nvPr/>
        </p:nvSpPr>
        <p:spPr>
          <a:xfrm>
            <a:off x="514807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04 Verify</a:t>
            </a:r>
          </a:p>
          <a:p>
            <a:pPr algn="ctr"/>
            <a:r>
              <a:rPr sz="530" b="0" i="0">
                <a:solidFill>
                  <a:srgbClr val="2B2B2B"/>
                </a:solidFill>
                <a:latin typeface="Trenda IG Text"/>
              </a:rPr>
              <a:t>Review + Test</a:t>
            </a:r>
          </a:p>
        </p:txBody>
      </p:sp>
      <p:sp>
        <p:nvSpPr>
          <p:cNvPr id="206" name="Shape 195"/>
          <p:cNvSpPr/>
          <p:nvPr/>
        </p:nvSpPr>
        <p:spPr>
          <a:xfrm>
            <a:off x="525780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6"/>
          <p:cNvSpPr txBox="1"/>
          <p:nvPr/>
        </p:nvSpPr>
        <p:spPr>
          <a:xfrm>
            <a:off x="525780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8" name="Arrow 197"/>
          <p:cNvCxnSpPr/>
          <p:nvPr/>
        </p:nvCxnSpPr>
        <p:spPr>
          <a:xfrm>
            <a:off x="581558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9" name="Shape 198"/>
          <p:cNvSpPr/>
          <p:nvPr/>
        </p:nvSpPr>
        <p:spPr>
          <a:xfrm>
            <a:off x="586130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9"/>
          <p:cNvSpPr txBox="1"/>
          <p:nvPr/>
        </p:nvSpPr>
        <p:spPr>
          <a:xfrm>
            <a:off x="588873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H3</a:t>
            </a:r>
          </a:p>
          <a:p>
            <a:pPr algn="ctr"/>
            <a:r>
              <a:rPr sz="530" b="0" i="0">
                <a:solidFill>
                  <a:srgbClr val="2B2B2B"/>
                </a:solidFill>
                <a:latin typeface="Trenda IG Text"/>
              </a:rPr>
              <a:t>tech lead + security</a:t>
            </a:r>
          </a:p>
        </p:txBody>
      </p:sp>
      <p:cxnSp>
        <p:nvCxnSpPr>
          <p:cNvPr id="211" name="Arrow 200"/>
          <p:cNvCxnSpPr/>
          <p:nvPr/>
        </p:nvCxnSpPr>
        <p:spPr>
          <a:xfrm>
            <a:off x="655624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2" name="Shape 201"/>
          <p:cNvSpPr/>
          <p:nvPr/>
        </p:nvSpPr>
        <p:spPr>
          <a:xfrm>
            <a:off x="660196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202"/>
          <p:cNvSpPr txBox="1"/>
          <p:nvPr/>
        </p:nvSpPr>
        <p:spPr>
          <a:xfrm>
            <a:off x="662940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05 Promote</a:t>
            </a:r>
          </a:p>
          <a:p>
            <a:pPr algn="ctr"/>
            <a:r>
              <a:rPr sz="530" b="0" i="0">
                <a:solidFill>
                  <a:srgbClr val="2B2B2B"/>
                </a:solidFill>
                <a:latin typeface="Trenda IG Text"/>
              </a:rPr>
              <a:t>Release · SIT, UAT</a:t>
            </a:r>
          </a:p>
        </p:txBody>
      </p:sp>
      <p:sp>
        <p:nvSpPr>
          <p:cNvPr id="214" name="Shape 203"/>
          <p:cNvSpPr/>
          <p:nvPr/>
        </p:nvSpPr>
        <p:spPr>
          <a:xfrm>
            <a:off x="673912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 204"/>
          <p:cNvSpPr txBox="1"/>
          <p:nvPr/>
        </p:nvSpPr>
        <p:spPr>
          <a:xfrm>
            <a:off x="673912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16" name="Arrow 205"/>
          <p:cNvCxnSpPr/>
          <p:nvPr/>
        </p:nvCxnSpPr>
        <p:spPr>
          <a:xfrm>
            <a:off x="7296912" y="5742432"/>
            <a:ext cx="4571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7" name="Shape 206"/>
          <p:cNvSpPr/>
          <p:nvPr/>
        </p:nvSpPr>
        <p:spPr>
          <a:xfrm>
            <a:off x="734263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 207"/>
          <p:cNvSpPr txBox="1"/>
          <p:nvPr/>
        </p:nvSpPr>
        <p:spPr>
          <a:xfrm>
            <a:off x="737006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06 UAT</a:t>
            </a:r>
          </a:p>
          <a:p>
            <a:pPr algn="ctr"/>
            <a:r>
              <a:rPr sz="530" b="0" i="0">
                <a:solidFill>
                  <a:srgbClr val="2B2B2B"/>
                </a:solidFill>
                <a:latin typeface="Trenda IG Text"/>
              </a:rPr>
              <a:t>business testers</a:t>
            </a:r>
          </a:p>
        </p:txBody>
      </p:sp>
      <p:cxnSp>
        <p:nvCxnSpPr>
          <p:cNvPr id="219" name="Arrow 208"/>
          <p:cNvCxnSpPr/>
          <p:nvPr/>
        </p:nvCxnSpPr>
        <p:spPr>
          <a:xfrm>
            <a:off x="803757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Shape 209"/>
          <p:cNvSpPr/>
          <p:nvPr/>
        </p:nvSpPr>
        <p:spPr>
          <a:xfrm>
            <a:off x="8083296"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 210"/>
          <p:cNvSpPr txBox="1"/>
          <p:nvPr/>
        </p:nvSpPr>
        <p:spPr>
          <a:xfrm>
            <a:off x="811072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H4</a:t>
            </a:r>
          </a:p>
          <a:p>
            <a:pPr algn="ctr"/>
            <a:r>
              <a:rPr sz="530" b="0" i="0">
                <a:solidFill>
                  <a:srgbClr val="2B2B2B"/>
                </a:solidFill>
                <a:latin typeface="Trenda IG Text"/>
              </a:rPr>
              <a:t>business sign-off</a:t>
            </a:r>
          </a:p>
        </p:txBody>
      </p:sp>
      <p:cxnSp>
        <p:nvCxnSpPr>
          <p:cNvPr id="222" name="Arrow 211"/>
          <p:cNvCxnSpPr/>
          <p:nvPr/>
        </p:nvCxnSpPr>
        <p:spPr>
          <a:xfrm>
            <a:off x="877824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3" name="Shape 212"/>
          <p:cNvSpPr/>
          <p:nvPr/>
        </p:nvSpPr>
        <p:spPr>
          <a:xfrm>
            <a:off x="882396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 213"/>
          <p:cNvSpPr txBox="1"/>
          <p:nvPr/>
        </p:nvSpPr>
        <p:spPr>
          <a:xfrm>
            <a:off x="885139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07 Prepare</a:t>
            </a:r>
          </a:p>
          <a:p>
            <a:pPr algn="ctr"/>
            <a:r>
              <a:rPr sz="530" b="0" i="0">
                <a:solidFill>
                  <a:srgbClr val="2B2B2B"/>
                </a:solidFill>
                <a:latin typeface="Trenda IG Text"/>
              </a:rPr>
              <a:t>Release · CAB pack</a:t>
            </a:r>
          </a:p>
        </p:txBody>
      </p:sp>
      <p:sp>
        <p:nvSpPr>
          <p:cNvPr id="225" name="Shape 214"/>
          <p:cNvSpPr/>
          <p:nvPr/>
        </p:nvSpPr>
        <p:spPr>
          <a:xfrm>
            <a:off x="896112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 215"/>
          <p:cNvSpPr txBox="1"/>
          <p:nvPr/>
        </p:nvSpPr>
        <p:spPr>
          <a:xfrm>
            <a:off x="896112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27" name="Arrow 216"/>
          <p:cNvCxnSpPr/>
          <p:nvPr/>
        </p:nvCxnSpPr>
        <p:spPr>
          <a:xfrm>
            <a:off x="951890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8" name="Shape 217"/>
          <p:cNvSpPr/>
          <p:nvPr/>
        </p:nvSpPr>
        <p:spPr>
          <a:xfrm>
            <a:off x="956462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 218"/>
          <p:cNvSpPr txBox="1"/>
          <p:nvPr/>
        </p:nvSpPr>
        <p:spPr>
          <a:xfrm>
            <a:off x="959205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CAB</a:t>
            </a:r>
          </a:p>
          <a:p>
            <a:pPr algn="ctr"/>
            <a:r>
              <a:rPr sz="530" b="0" i="0">
                <a:solidFill>
                  <a:srgbClr val="2B2B2B"/>
                </a:solidFill>
                <a:latin typeface="Trenda IG Text"/>
              </a:rPr>
              <a:t>release owner</a:t>
            </a:r>
          </a:p>
        </p:txBody>
      </p:sp>
      <p:cxnSp>
        <p:nvCxnSpPr>
          <p:cNvPr id="230" name="Arrow 219"/>
          <p:cNvCxnSpPr/>
          <p:nvPr/>
        </p:nvCxnSpPr>
        <p:spPr>
          <a:xfrm>
            <a:off x="1025956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1" name="Shape 220"/>
          <p:cNvSpPr/>
          <p:nvPr/>
        </p:nvSpPr>
        <p:spPr>
          <a:xfrm>
            <a:off x="10305288" y="5550408"/>
            <a:ext cx="694944" cy="384048"/>
          </a:xfrm>
          <a:prstGeom prst="roundRect">
            <a:avLst>
              <a:gd name="adj" fmla="val 25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 221"/>
          <p:cNvSpPr txBox="1"/>
          <p:nvPr/>
        </p:nvSpPr>
        <p:spPr>
          <a:xfrm>
            <a:off x="1033272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08 Deploy</a:t>
            </a:r>
          </a:p>
          <a:p>
            <a:pPr algn="ctr"/>
            <a:r>
              <a:rPr sz="530" b="0" i="0">
                <a:solidFill>
                  <a:srgbClr val="2B2B2B"/>
                </a:solidFill>
                <a:latin typeface="Trenda IG Text"/>
              </a:rPr>
              <a:t>owning team</a:t>
            </a:r>
          </a:p>
        </p:txBody>
      </p:sp>
      <p:cxnSp>
        <p:nvCxnSpPr>
          <p:cNvPr id="233" name="Arrow 222"/>
          <p:cNvCxnSpPr/>
          <p:nvPr/>
        </p:nvCxnSpPr>
        <p:spPr>
          <a:xfrm>
            <a:off x="1100023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4" name="Shape 223"/>
          <p:cNvSpPr/>
          <p:nvPr/>
        </p:nvSpPr>
        <p:spPr>
          <a:xfrm>
            <a:off x="1104595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 224"/>
          <p:cNvSpPr txBox="1"/>
          <p:nvPr/>
        </p:nvSpPr>
        <p:spPr>
          <a:xfrm>
            <a:off x="1107338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09 Close</a:t>
            </a:r>
          </a:p>
          <a:p>
            <a:pPr algn="ctr"/>
            <a:r>
              <a:rPr sz="530" b="0" i="0">
                <a:solidFill>
                  <a:srgbClr val="2B2B2B"/>
                </a:solidFill>
                <a:latin typeface="Trenda IG Text"/>
              </a:rPr>
              <a:t>resync, Jira Done</a:t>
            </a:r>
          </a:p>
        </p:txBody>
      </p:sp>
      <p:sp>
        <p:nvSpPr>
          <p:cNvPr id="236" name="Text 225"/>
          <p:cNvSpPr txBox="1"/>
          <p:nvPr/>
        </p:nvSpPr>
        <p:spPr>
          <a:xfrm>
            <a:off x="411480" y="5980176"/>
            <a:ext cx="960120" cy="146304"/>
          </a:xfrm>
          <a:prstGeom prst="rect">
            <a:avLst/>
          </a:prstGeom>
          <a:noFill/>
        </p:spPr>
        <p:txBody>
          <a:bodyPr wrap="square" lIns="0" rIns="0" tIns="0" bIns="0" anchor="ctr">
            <a:spAutoFit/>
          </a:bodyPr>
          <a:lstStyle/>
          <a:p>
            <a:r>
              <a:rPr sz="550" b="1" i="0">
                <a:solidFill>
                  <a:srgbClr val="C9A800"/>
                </a:solidFill>
                <a:latin typeface="Trenda IG Text"/>
              </a:rPr>
              <a:t>EVALS</a:t>
            </a:r>
          </a:p>
        </p:txBody>
      </p:sp>
      <p:sp>
        <p:nvSpPr>
          <p:cNvPr id="237" name="Text 226"/>
          <p:cNvSpPr txBox="1"/>
          <p:nvPr/>
        </p:nvSpPr>
        <p:spPr>
          <a:xfrm>
            <a:off x="411480" y="6117336"/>
            <a:ext cx="960120" cy="182880"/>
          </a:xfrm>
          <a:prstGeom prst="rect">
            <a:avLst/>
          </a:prstGeom>
          <a:noFill/>
        </p:spPr>
        <p:txBody>
          <a:bodyPr wrap="square" lIns="0" rIns="0" tIns="0" bIns="0" anchor="t">
            <a:spAutoFit/>
          </a:bodyPr>
          <a:lstStyle/>
          <a:p>
            <a:r>
              <a:rPr sz="530" b="0" i="0">
                <a:solidFill>
                  <a:srgbClr val="595959"/>
                </a:solidFill>
                <a:latin typeface="Trenda IG Text"/>
              </a:rPr>
              <a:t>scored before it moves</a:t>
            </a:r>
          </a:p>
        </p:txBody>
      </p:sp>
      <p:grpSp>
        <p:nvGrpSpPr>
          <p:cNvPr id="238" name="Step 1 highlight"/>
          <p:cNvGrpSpPr/>
          <p:nvPr/>
        </p:nvGrpSpPr>
        <p:grpSpPr>
          <a:xfrm>
            <a:off x="365760" y="1115568"/>
            <a:ext cx="11457432" cy="5239512"/>
            <a:chOff x="365760" y="1115568"/>
            <a:chExt cx="11457432" cy="5239512"/>
          </a:xfrm>
        </p:grpSpPr>
        <p:sp>
          <p:nvSpPr>
            <p:cNvPr id="239" name="Shape 1"/>
            <p:cNvSpPr/>
            <p:nvPr/>
          </p:nvSpPr>
          <p:spPr>
            <a:xfrm>
              <a:off x="365760" y="1115568"/>
              <a:ext cx="11457432" cy="85039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Shape 2"/>
            <p:cNvSpPr/>
            <p:nvPr/>
          </p:nvSpPr>
          <p:spPr>
            <a:xfrm>
              <a:off x="365760" y="1965960"/>
              <a:ext cx="91439"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Shape 3"/>
            <p:cNvSpPr/>
            <p:nvPr/>
          </p:nvSpPr>
          <p:spPr>
            <a:xfrm>
              <a:off x="2395728" y="1965960"/>
              <a:ext cx="9427463"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Shape 4"/>
            <p:cNvSpPr/>
            <p:nvPr/>
          </p:nvSpPr>
          <p:spPr>
            <a:xfrm>
              <a:off x="365760" y="3429000"/>
              <a:ext cx="91439"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Shape 5"/>
            <p:cNvSpPr/>
            <p:nvPr/>
          </p:nvSpPr>
          <p:spPr>
            <a:xfrm>
              <a:off x="2834640" y="3429000"/>
              <a:ext cx="8988552"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Shape 6"/>
            <p:cNvSpPr/>
            <p:nvPr/>
          </p:nvSpPr>
          <p:spPr>
            <a:xfrm>
              <a:off x="365760" y="3703320"/>
              <a:ext cx="91439"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Shape 7"/>
            <p:cNvSpPr/>
            <p:nvPr/>
          </p:nvSpPr>
          <p:spPr>
            <a:xfrm>
              <a:off x="2395728" y="3703320"/>
              <a:ext cx="94274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Shape 8"/>
            <p:cNvSpPr/>
            <p:nvPr/>
          </p:nvSpPr>
          <p:spPr>
            <a:xfrm>
              <a:off x="365760" y="4270248"/>
              <a:ext cx="11457432" cy="2084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Shape 9"/>
            <p:cNvSpPr/>
            <p:nvPr/>
          </p:nvSpPr>
          <p:spPr>
            <a:xfrm>
              <a:off x="466344" y="1993392"/>
              <a:ext cx="1920240" cy="100584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Shape 10"/>
            <p:cNvSpPr/>
            <p:nvPr/>
          </p:nvSpPr>
          <p:spPr>
            <a:xfrm>
              <a:off x="466344" y="3163824"/>
              <a:ext cx="1920240" cy="10972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Shape 11"/>
            <p:cNvSpPr/>
            <p:nvPr/>
          </p:nvSpPr>
          <p:spPr>
            <a:xfrm>
              <a:off x="3063240" y="205740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 12"/>
            <p:cNvSpPr txBox="1"/>
            <p:nvPr/>
          </p:nvSpPr>
          <p:spPr>
            <a:xfrm>
              <a:off x="3191256" y="212140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 / 13   </a:t>
              </a:r>
              <a:r>
                <a:rPr sz="800" b="1" i="0" spc="120">
                  <a:solidFill>
                    <a:srgbClr val="FFFFFF"/>
                  </a:solidFill>
                  <a:latin typeface="Trenda IG Text"/>
                </a:rPr>
                <a:t>START IN SALESFORCE</a:t>
              </a:r>
            </a:p>
            <a:p>
              <a:pPr>
                <a:spcAft>
                  <a:spcPts val="200"/>
                </a:spcAft>
              </a:pPr>
              <a:r>
                <a:rPr sz="750" b="0" i="0">
                  <a:solidFill>
                    <a:srgbClr val="E6E6E6"/>
                  </a:solidFill>
                  <a:latin typeface="Trenda IG Text"/>
                </a:rPr>
                <a:t>Campaign story VBC-412: the CHF post-discharge SMS nudge. The marketer enters the Jira key, picks the Marketing Cloud pod and attaches the design; Apex reaches the harness and Codex runs the ADLC skills.</a:t>
              </a:r>
            </a:p>
          </p:txBody>
        </p:sp>
      </p:grpSp>
      <p:grpSp>
        <p:nvGrpSpPr>
          <p:cNvPr id="251" name="Step 1 arrows"/>
          <p:cNvGrpSpPr/>
          <p:nvPr/>
        </p:nvGrpSpPr>
        <p:grpSpPr>
          <a:xfrm>
            <a:off x="1426464" y="2962656"/>
            <a:ext cx="1362456" cy="603504"/>
            <a:chOff x="1426464" y="2962656"/>
            <a:chExt cx="1362456" cy="603504"/>
          </a:xfrm>
        </p:grpSpPr>
        <p:cxnSp>
          <p:nvCxnSpPr>
            <p:cNvPr id="252" name="Arrow 1"/>
            <p:cNvCxnSpPr/>
            <p:nvPr/>
          </p:nvCxnSpPr>
          <p:spPr>
            <a:xfrm>
              <a:off x="1426464" y="2962656"/>
              <a:ext cx="0" cy="23774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rrow 2"/>
            <p:cNvCxnSpPr/>
            <p:nvPr/>
          </p:nvCxnSpPr>
          <p:spPr>
            <a:xfrm>
              <a:off x="2350008" y="3566160"/>
              <a:ext cx="438912"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54" name="Step 2 highlight"/>
          <p:cNvGrpSpPr/>
          <p:nvPr/>
        </p:nvGrpSpPr>
        <p:grpSpPr>
          <a:xfrm>
            <a:off x="365760" y="1115568"/>
            <a:ext cx="11457432" cy="5239512"/>
            <a:chOff x="365760" y="1115568"/>
            <a:chExt cx="11457432" cy="5239512"/>
          </a:xfrm>
        </p:grpSpPr>
        <p:sp>
          <p:nvSpPr>
            <p:cNvPr id="255" name="Shape 1"/>
            <p:cNvSpPr/>
            <p:nvPr/>
          </p:nvSpPr>
          <p:spPr>
            <a:xfrm>
              <a:off x="365760" y="1115568"/>
              <a:ext cx="11457432" cy="1828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Shape 2"/>
            <p:cNvSpPr/>
            <p:nvPr/>
          </p:nvSpPr>
          <p:spPr>
            <a:xfrm>
              <a:off x="365760" y="1298448"/>
              <a:ext cx="2286000"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Shape 3"/>
            <p:cNvSpPr/>
            <p:nvPr/>
          </p:nvSpPr>
          <p:spPr>
            <a:xfrm>
              <a:off x="9409176" y="1298448"/>
              <a:ext cx="2414016"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Shape 4"/>
            <p:cNvSpPr/>
            <p:nvPr/>
          </p:nvSpPr>
          <p:spPr>
            <a:xfrm>
              <a:off x="365760" y="1417320"/>
              <a:ext cx="228600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Shape 5"/>
            <p:cNvSpPr/>
            <p:nvPr/>
          </p:nvSpPr>
          <p:spPr>
            <a:xfrm>
              <a:off x="9409176" y="1417320"/>
              <a:ext cx="192024"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Shape 6"/>
            <p:cNvSpPr/>
            <p:nvPr/>
          </p:nvSpPr>
          <p:spPr>
            <a:xfrm>
              <a:off x="11777472" y="1417320"/>
              <a:ext cx="4572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Shape 7"/>
            <p:cNvSpPr/>
            <p:nvPr/>
          </p:nvSpPr>
          <p:spPr>
            <a:xfrm>
              <a:off x="365760" y="2560320"/>
              <a:ext cx="923544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Shape 8"/>
            <p:cNvSpPr/>
            <p:nvPr/>
          </p:nvSpPr>
          <p:spPr>
            <a:xfrm>
              <a:off x="11777472" y="2560320"/>
              <a:ext cx="4572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Shape 9"/>
            <p:cNvSpPr/>
            <p:nvPr/>
          </p:nvSpPr>
          <p:spPr>
            <a:xfrm>
              <a:off x="365760" y="3054096"/>
              <a:ext cx="420624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Shape 10"/>
            <p:cNvSpPr/>
            <p:nvPr/>
          </p:nvSpPr>
          <p:spPr>
            <a:xfrm>
              <a:off x="5879592" y="3054096"/>
              <a:ext cx="3721608"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Shape 11"/>
            <p:cNvSpPr/>
            <p:nvPr/>
          </p:nvSpPr>
          <p:spPr>
            <a:xfrm>
              <a:off x="11777472" y="3054096"/>
              <a:ext cx="4572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Shape 12"/>
            <p:cNvSpPr/>
            <p:nvPr/>
          </p:nvSpPr>
          <p:spPr>
            <a:xfrm>
              <a:off x="365760" y="3346703"/>
              <a:ext cx="923544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Shape 13"/>
            <p:cNvSpPr/>
            <p:nvPr/>
          </p:nvSpPr>
          <p:spPr>
            <a:xfrm>
              <a:off x="11777472" y="3346703"/>
              <a:ext cx="4572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Shape 14"/>
            <p:cNvSpPr/>
            <p:nvPr/>
          </p:nvSpPr>
          <p:spPr>
            <a:xfrm>
              <a:off x="365760" y="3995928"/>
              <a:ext cx="11457432" cy="2359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Shape 15"/>
            <p:cNvSpPr/>
            <p:nvPr/>
          </p:nvSpPr>
          <p:spPr>
            <a:xfrm>
              <a:off x="2660904" y="1307592"/>
              <a:ext cx="6739128" cy="124358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Shape 16"/>
            <p:cNvSpPr/>
            <p:nvPr/>
          </p:nvSpPr>
          <p:spPr>
            <a:xfrm>
              <a:off x="9564624" y="1426464"/>
              <a:ext cx="2249423" cy="117043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Shape 17"/>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Shape 18"/>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Shape 19"/>
            <p:cNvSpPr/>
            <p:nvPr/>
          </p:nvSpPr>
          <p:spPr>
            <a:xfrm>
              <a:off x="2743200" y="3931920"/>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 20"/>
            <p:cNvSpPr txBox="1"/>
            <p:nvPr/>
          </p:nvSpPr>
          <p:spPr>
            <a:xfrm>
              <a:off x="2871216" y="399592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2 / 13   </a:t>
              </a:r>
              <a:r>
                <a:rPr sz="800" b="1" i="0" spc="120">
                  <a:solidFill>
                    <a:srgbClr val="FFFFFF"/>
                  </a:solidFill>
                  <a:latin typeface="Trenda IG Text"/>
                </a:rPr>
                <a:t>CONTEXT FIRST</a:t>
              </a:r>
            </a:p>
            <a:p>
              <a:pPr>
                <a:spcAft>
                  <a:spcPts val="200"/>
                </a:spcAft>
              </a:pPr>
              <a:r>
                <a:rPr sz="750" b="0" i="0">
                  <a:solidFill>
                    <a:srgbClr val="E6E6E6"/>
                  </a:solidFill>
                  <a:latin typeface="Trenda IG Text"/>
                </a:rPr>
                <a:t>The Requirements Agent checks what already exists before anything is built: data extensions, journeys and Data Cloud segments in Salesforce, the Jira history and the Confluence design. Read-only, cited, a bounded slice, never an org dump.</a:t>
              </a:r>
            </a:p>
          </p:txBody>
        </p:sp>
      </p:grpSp>
      <p:grpSp>
        <p:nvGrpSpPr>
          <p:cNvPr id="275" name="Step 2 arrows"/>
          <p:cNvGrpSpPr/>
          <p:nvPr/>
        </p:nvGrpSpPr>
        <p:grpSpPr>
          <a:xfrm>
            <a:off x="5001768" y="2011680"/>
            <a:ext cx="4599432" cy="1088136"/>
            <a:chOff x="5001768" y="2011680"/>
            <a:chExt cx="4599432" cy="1088136"/>
          </a:xfrm>
        </p:grpSpPr>
        <p:cxnSp>
          <p:nvCxnSpPr>
            <p:cNvPr id="276" name="Arrow 1"/>
            <p:cNvCxnSpPr/>
            <p:nvPr/>
          </p:nvCxnSpPr>
          <p:spPr>
            <a:xfrm flipV="1">
              <a:off x="5001768" y="2423160"/>
              <a:ext cx="0" cy="676656"/>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7" name="Arrow 2"/>
            <p:cNvCxnSpPr/>
            <p:nvPr/>
          </p:nvCxnSpPr>
          <p:spPr>
            <a:xfrm flipH="1">
              <a:off x="9363456" y="2011680"/>
              <a:ext cx="23774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78" name="Step 3 highlight"/>
          <p:cNvGrpSpPr/>
          <p:nvPr/>
        </p:nvGrpSpPr>
        <p:grpSpPr>
          <a:xfrm>
            <a:off x="365760" y="1115568"/>
            <a:ext cx="11457432" cy="5239512"/>
            <a:chOff x="365760" y="1115568"/>
            <a:chExt cx="11457432" cy="5239512"/>
          </a:xfrm>
        </p:grpSpPr>
        <p:sp>
          <p:nvSpPr>
            <p:cNvPr id="27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Shape 2"/>
            <p:cNvSpPr/>
            <p:nvPr/>
          </p:nvSpPr>
          <p:spPr>
            <a:xfrm>
              <a:off x="365760" y="2761488"/>
              <a:ext cx="2359152"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Shape 3"/>
            <p:cNvSpPr/>
            <p:nvPr/>
          </p:nvSpPr>
          <p:spPr>
            <a:xfrm>
              <a:off x="7251192" y="2761488"/>
              <a:ext cx="4572000"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Shape 4"/>
            <p:cNvSpPr/>
            <p:nvPr/>
          </p:nvSpPr>
          <p:spPr>
            <a:xfrm>
              <a:off x="365760" y="3858768"/>
              <a:ext cx="11457432" cy="24963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Shape 5"/>
            <p:cNvSpPr/>
            <p:nvPr/>
          </p:nvSpPr>
          <p:spPr>
            <a:xfrm>
              <a:off x="2752344" y="2816352"/>
              <a:ext cx="173736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Shape 7"/>
            <p:cNvSpPr/>
            <p:nvPr/>
          </p:nvSpPr>
          <p:spPr>
            <a:xfrm>
              <a:off x="2743200" y="3977639"/>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 8"/>
            <p:cNvSpPr txBox="1"/>
            <p:nvPr/>
          </p:nvSpPr>
          <p:spPr>
            <a:xfrm>
              <a:off x="2871216" y="404164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3 / 13   </a:t>
              </a:r>
              <a:r>
                <a:rPr sz="800" b="1" i="0" spc="120">
                  <a:solidFill>
                    <a:srgbClr val="FFFFFF"/>
                  </a:solidFill>
                  <a:latin typeface="Trenda IG Text"/>
                </a:rPr>
                <a:t>ORCHESTRATED, STEP BY STEP</a:t>
              </a:r>
            </a:p>
            <a:p>
              <a:pPr>
                <a:spcAft>
                  <a:spcPts val="200"/>
                </a:spcAft>
              </a:pPr>
              <a:r>
                <a:rPr sz="750" b="0" i="0">
                  <a:solidFill>
                    <a:srgbClr val="E6E6E6"/>
                  </a:solidFill>
                  <a:latin typeface="Trenda IG Text"/>
                </a:rPr>
                <a:t>Cloud Workflows coordinates the campaign story. One agent job per step: requirements, design, build, review, test, release. Checkpoints mean a failed run resumes where it stopped.</a:t>
              </a:r>
            </a:p>
          </p:txBody>
        </p:sp>
      </p:grpSp>
      <p:grpSp>
        <p:nvGrpSpPr>
          <p:cNvPr id="287" name="Step 3 arrows"/>
          <p:cNvGrpSpPr/>
          <p:nvPr/>
        </p:nvGrpSpPr>
        <p:grpSpPr>
          <a:xfrm>
            <a:off x="4453128" y="3310128"/>
            <a:ext cx="91440" cy="0"/>
            <a:chOff x="4453128" y="3310128"/>
            <a:chExt cx="91440" cy="0"/>
          </a:xfrm>
        </p:grpSpPr>
        <p:cxnSp>
          <p:nvCxnSpPr>
            <p:cNvPr id="288" name="Arrow 1"/>
            <p:cNvCxnSpPr/>
            <p:nvPr/>
          </p:nvCxnSpPr>
          <p:spPr>
            <a:xfrm>
              <a:off x="4453128" y="33101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89" name="Step 4 highlight"/>
          <p:cNvGrpSpPr/>
          <p:nvPr/>
        </p:nvGrpSpPr>
        <p:grpSpPr>
          <a:xfrm>
            <a:off x="365760" y="1115568"/>
            <a:ext cx="11457432" cy="5239511"/>
            <a:chOff x="365760" y="1115568"/>
            <a:chExt cx="11457432" cy="5239511"/>
          </a:xfrm>
        </p:grpSpPr>
        <p:sp>
          <p:nvSpPr>
            <p:cNvPr id="290"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Shape 2"/>
            <p:cNvSpPr/>
            <p:nvPr/>
          </p:nvSpPr>
          <p:spPr>
            <a:xfrm>
              <a:off x="365760" y="2761488"/>
              <a:ext cx="4133087"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Shape 3"/>
            <p:cNvSpPr/>
            <p:nvPr/>
          </p:nvSpPr>
          <p:spPr>
            <a:xfrm>
              <a:off x="9317736" y="2761488"/>
              <a:ext cx="2505456"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Shape 4"/>
            <p:cNvSpPr/>
            <p:nvPr/>
          </p:nvSpPr>
          <p:spPr>
            <a:xfrm>
              <a:off x="365760" y="2907792"/>
              <a:ext cx="4133087"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Shape 5"/>
            <p:cNvSpPr/>
            <p:nvPr/>
          </p:nvSpPr>
          <p:spPr>
            <a:xfrm>
              <a:off x="9317736" y="2907792"/>
              <a:ext cx="283464"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Shape 6"/>
            <p:cNvSpPr/>
            <p:nvPr/>
          </p:nvSpPr>
          <p:spPr>
            <a:xfrm>
              <a:off x="11777472" y="2907792"/>
              <a:ext cx="45720"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Shape 7"/>
            <p:cNvSpPr/>
            <p:nvPr/>
          </p:nvSpPr>
          <p:spPr>
            <a:xfrm>
              <a:off x="365760" y="4498848"/>
              <a:ext cx="923544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Shape 8"/>
            <p:cNvSpPr/>
            <p:nvPr/>
          </p:nvSpPr>
          <p:spPr>
            <a:xfrm>
              <a:off x="11777472" y="4498848"/>
              <a:ext cx="4572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Shape 9"/>
            <p:cNvSpPr/>
            <p:nvPr/>
          </p:nvSpPr>
          <p:spPr>
            <a:xfrm>
              <a:off x="365760" y="4919472"/>
              <a:ext cx="11457432" cy="1435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Shape 10"/>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Shape 11"/>
            <p:cNvSpPr/>
            <p:nvPr/>
          </p:nvSpPr>
          <p:spPr>
            <a:xfrm>
              <a:off x="7251192" y="3456432"/>
              <a:ext cx="205740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Shape 12"/>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Shape 13"/>
            <p:cNvSpPr/>
            <p:nvPr/>
          </p:nvSpPr>
          <p:spPr>
            <a:xfrm>
              <a:off x="9564624" y="4315968"/>
              <a:ext cx="2249424" cy="603503"/>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Shape 14"/>
            <p:cNvSpPr/>
            <p:nvPr/>
          </p:nvSpPr>
          <p:spPr>
            <a:xfrm>
              <a:off x="457200" y="288036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 15"/>
            <p:cNvSpPr txBox="1"/>
            <p:nvPr/>
          </p:nvSpPr>
          <p:spPr>
            <a:xfrm>
              <a:off x="585216" y="294436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4 / 13   </a:t>
              </a:r>
              <a:r>
                <a:rPr sz="800" b="1" i="0" spc="120">
                  <a:solidFill>
                    <a:srgbClr val="FFFFFF"/>
                  </a:solidFill>
                  <a:latin typeface="Trenda IG Text"/>
                </a:rPr>
                <a:t>ACT ONLY THROUGH THE GATEWAY</a:t>
              </a:r>
            </a:p>
            <a:p>
              <a:pPr>
                <a:spcAft>
                  <a:spcPts val="200"/>
                </a:spcAft>
              </a:pPr>
              <a:r>
                <a:rPr sz="750" b="0" i="0">
                  <a:solidFill>
                    <a:srgbClr val="E6E6E6"/>
                  </a:solidFill>
                  <a:latin typeface="Trenda IG Text"/>
                </a:rPr>
                <a:t>Git, Salesforce, Marketing Cloud and Copado are touched only through the MCP gateway, with the identity allowed for that step. The Change Guardian checks which other pods use the same data extensions, short code and STOP keyword.</a:t>
              </a:r>
            </a:p>
          </p:txBody>
        </p:sp>
      </p:grpSp>
      <p:grpSp>
        <p:nvGrpSpPr>
          <p:cNvPr id="305" name="Step 4 arrows"/>
          <p:cNvGrpSpPr/>
          <p:nvPr/>
        </p:nvGrpSpPr>
        <p:grpSpPr>
          <a:xfrm>
            <a:off x="7196328" y="3767328"/>
            <a:ext cx="2404872" cy="182880"/>
            <a:chOff x="7196328" y="3767328"/>
            <a:chExt cx="2404872" cy="182880"/>
          </a:xfrm>
        </p:grpSpPr>
        <p:cxnSp>
          <p:nvCxnSpPr>
            <p:cNvPr id="306" name="Arrow 1"/>
            <p:cNvCxnSpPr/>
            <p:nvPr/>
          </p:nvCxnSpPr>
          <p:spPr>
            <a:xfrm>
              <a:off x="7196328" y="37673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7" name="Arrow 2"/>
            <p:cNvCxnSpPr/>
            <p:nvPr/>
          </p:nvCxnSpPr>
          <p:spPr>
            <a:xfrm>
              <a:off x="9272016" y="3950208"/>
              <a:ext cx="32918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08" name="Step 5 highlight"/>
          <p:cNvGrpSpPr/>
          <p:nvPr/>
        </p:nvGrpSpPr>
        <p:grpSpPr>
          <a:xfrm>
            <a:off x="365760" y="1115568"/>
            <a:ext cx="11457432" cy="5239511"/>
            <a:chOff x="365760" y="1115568"/>
            <a:chExt cx="11457432" cy="5239511"/>
          </a:xfrm>
        </p:grpSpPr>
        <p:sp>
          <p:nvSpPr>
            <p:cNvPr id="30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Shape 4"/>
            <p:cNvSpPr/>
            <p:nvPr/>
          </p:nvSpPr>
          <p:spPr>
            <a:xfrm>
              <a:off x="365760" y="4498848"/>
              <a:ext cx="11457432" cy="142646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Shape 5"/>
            <p:cNvSpPr/>
            <p:nvPr/>
          </p:nvSpPr>
          <p:spPr>
            <a:xfrm>
              <a:off x="365760" y="5925312"/>
              <a:ext cx="9198864"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Shape 6"/>
            <p:cNvSpPr/>
            <p:nvPr/>
          </p:nvSpPr>
          <p:spPr>
            <a:xfrm>
              <a:off x="11786616" y="5925312"/>
              <a:ext cx="36575"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Shape 7"/>
            <p:cNvSpPr/>
            <p:nvPr/>
          </p:nvSpPr>
          <p:spPr>
            <a:xfrm>
              <a:off x="365760" y="5934456"/>
              <a:ext cx="1005840"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Shape 8"/>
            <p:cNvSpPr/>
            <p:nvPr/>
          </p:nvSpPr>
          <p:spPr>
            <a:xfrm>
              <a:off x="11786616" y="5934456"/>
              <a:ext cx="36575"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Shape 9"/>
            <p:cNvSpPr/>
            <p:nvPr/>
          </p:nvSpPr>
          <p:spPr>
            <a:xfrm>
              <a:off x="365760" y="6181344"/>
              <a:ext cx="1005840"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Shape 10"/>
            <p:cNvSpPr/>
            <p:nvPr/>
          </p:nvSpPr>
          <p:spPr>
            <a:xfrm>
              <a:off x="11786616" y="6181344"/>
              <a:ext cx="36575"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Shape 11"/>
            <p:cNvSpPr/>
            <p:nvPr/>
          </p:nvSpPr>
          <p:spPr>
            <a:xfrm>
              <a:off x="365760" y="6181344"/>
              <a:ext cx="11457432" cy="17373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Shape 12"/>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Shape 13"/>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Shape 14"/>
            <p:cNvSpPr/>
            <p:nvPr/>
          </p:nvSpPr>
          <p:spPr>
            <a:xfrm>
              <a:off x="151790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Shape 15"/>
            <p:cNvSpPr/>
            <p:nvPr/>
          </p:nvSpPr>
          <p:spPr>
            <a:xfrm>
              <a:off x="299923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Shape 16"/>
            <p:cNvSpPr/>
            <p:nvPr/>
          </p:nvSpPr>
          <p:spPr>
            <a:xfrm>
              <a:off x="4480560"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Shape 17"/>
            <p:cNvSpPr/>
            <p:nvPr/>
          </p:nvSpPr>
          <p:spPr>
            <a:xfrm>
              <a:off x="522122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Shape 18"/>
            <p:cNvSpPr/>
            <p:nvPr/>
          </p:nvSpPr>
          <p:spPr>
            <a:xfrm>
              <a:off x="670255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Shape 19"/>
            <p:cNvSpPr/>
            <p:nvPr/>
          </p:nvSpPr>
          <p:spPr>
            <a:xfrm>
              <a:off x="892454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Shape 20"/>
            <p:cNvSpPr/>
            <p:nvPr/>
          </p:nvSpPr>
          <p:spPr>
            <a:xfrm>
              <a:off x="7406640" y="283464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Text 21"/>
            <p:cNvSpPr txBox="1"/>
            <p:nvPr/>
          </p:nvSpPr>
          <p:spPr>
            <a:xfrm>
              <a:off x="7534656" y="2898648"/>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5 / 13   </a:t>
              </a:r>
              <a:r>
                <a:rPr sz="800" b="1" i="0" spc="120">
                  <a:solidFill>
                    <a:srgbClr val="FFFFFF"/>
                  </a:solidFill>
                  <a:latin typeface="Trenda IG Text"/>
                </a:rPr>
                <a:t>EVALS ON EVERY STEP: PASS</a:t>
              </a:r>
            </a:p>
            <a:p>
              <a:pPr>
                <a:spcAft>
                  <a:spcPts val="200"/>
                </a:spcAft>
              </a:pPr>
              <a:r>
                <a:rPr sz="750" b="0" i="0">
                  <a:solidFill>
                    <a:srgbClr val="E6E6E6"/>
                  </a:solidFill>
                  <a:latin typeface="Trenda IG Text"/>
                </a:rPr>
                <a:t>Every output is scored before it moves on: does the journey match the brief, is every field real, are consent and STOP checks in place. Each step is evaluated and its score updated (the EVALS tags below); a pass goes to the gate with the evidence.</a:t>
              </a:r>
            </a:p>
          </p:txBody>
        </p:sp>
      </p:grpSp>
      <p:grpSp>
        <p:nvGrpSpPr>
          <p:cNvPr id="330" name="Step 5 arrows"/>
          <p:cNvGrpSpPr/>
          <p:nvPr/>
        </p:nvGrpSpPr>
        <p:grpSpPr>
          <a:xfrm>
            <a:off x="4069080" y="3685032"/>
            <a:ext cx="7680960" cy="2459736"/>
            <a:chOff x="4069080" y="3685032"/>
            <a:chExt cx="7680960" cy="2459736"/>
          </a:xfrm>
        </p:grpSpPr>
        <p:cxnSp>
          <p:nvCxnSpPr>
            <p:cNvPr id="331" name="Arrow 1"/>
            <p:cNvCxnSpPr/>
            <p:nvPr/>
          </p:nvCxnSpPr>
          <p:spPr>
            <a:xfrm>
              <a:off x="5870448" y="3813048"/>
              <a:ext cx="0" cy="73152"/>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2" name="Arrow 2"/>
            <p:cNvCxnSpPr/>
            <p:nvPr/>
          </p:nvCxnSpPr>
          <p:spPr>
            <a:xfrm flipH="1">
              <a:off x="4453128" y="4169663"/>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3" name="Shape 3"/>
            <p:cNvSpPr/>
            <p:nvPr/>
          </p:nvSpPr>
          <p:spPr>
            <a:xfrm>
              <a:off x="4069080" y="3685032"/>
              <a:ext cx="86868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 4"/>
            <p:cNvSpPr txBox="1"/>
            <p:nvPr/>
          </p:nvSpPr>
          <p:spPr>
            <a:xfrm>
              <a:off x="4069080" y="3685032"/>
              <a:ext cx="868680" cy="182880"/>
            </a:xfrm>
            <a:prstGeom prst="rect">
              <a:avLst/>
            </a:prstGeom>
            <a:noFill/>
          </p:spPr>
          <p:txBody>
            <a:bodyPr wrap="square" lIns="0" rIns="0" tIns="0" bIns="0" anchor="ctr">
              <a:spAutoFit/>
            </a:bodyPr>
            <a:lstStyle/>
            <a:p>
              <a:pPr algn="ctr"/>
              <a:r>
                <a:rPr sz="650" b="1" i="0" spc="60">
                  <a:solidFill>
                    <a:srgbClr val="FFFFFF"/>
                  </a:solidFill>
                  <a:latin typeface="Trenda IG Text"/>
                </a:rPr>
                <a:t>PASS → GATE</a:t>
              </a:r>
            </a:p>
          </p:txBody>
        </p:sp>
        <p:sp>
          <p:nvSpPr>
            <p:cNvPr id="335" name="Shape 5"/>
            <p:cNvSpPr/>
            <p:nvPr/>
          </p:nvSpPr>
          <p:spPr>
            <a:xfrm>
              <a:off x="9601200" y="5961888"/>
              <a:ext cx="2148840" cy="182880"/>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 6"/>
            <p:cNvSpPr txBox="1"/>
            <p:nvPr/>
          </p:nvSpPr>
          <p:spPr>
            <a:xfrm>
              <a:off x="9601200" y="5961888"/>
              <a:ext cx="2148840" cy="182880"/>
            </a:xfrm>
            <a:prstGeom prst="rect">
              <a:avLst/>
            </a:prstGeom>
            <a:noFill/>
          </p:spPr>
          <p:txBody>
            <a:bodyPr wrap="square" lIns="0" rIns="0" tIns="0" bIns="0" anchor="ctr">
              <a:spAutoFit/>
            </a:bodyPr>
            <a:lstStyle/>
            <a:p>
              <a:pPr algn="ctr"/>
              <a:r>
                <a:rPr sz="650" b="1" i="0" spc="60">
                  <a:solidFill>
                    <a:srgbClr val="FFFFFF"/>
                  </a:solidFill>
                  <a:latin typeface="Trenda IG Text"/>
                </a:rPr>
                <a:t>EVERY STEP SCORED · SCORE UPDATED</a:t>
              </a:r>
            </a:p>
          </p:txBody>
        </p:sp>
      </p:grpSp>
      <p:grpSp>
        <p:nvGrpSpPr>
          <p:cNvPr id="337" name="Step 6 highlight"/>
          <p:cNvGrpSpPr/>
          <p:nvPr/>
        </p:nvGrpSpPr>
        <p:grpSpPr>
          <a:xfrm>
            <a:off x="365760" y="1115568"/>
            <a:ext cx="11457432" cy="5239511"/>
            <a:chOff x="365760" y="1115568"/>
            <a:chExt cx="11457432" cy="5239511"/>
          </a:xfrm>
        </p:grpSpPr>
        <p:sp>
          <p:nvSpPr>
            <p:cNvPr id="338"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Shape 4"/>
            <p:cNvSpPr/>
            <p:nvPr/>
          </p:nvSpPr>
          <p:spPr>
            <a:xfrm>
              <a:off x="365760" y="4498848"/>
              <a:ext cx="11457432" cy="142646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Shape 5"/>
            <p:cNvSpPr/>
            <p:nvPr/>
          </p:nvSpPr>
          <p:spPr>
            <a:xfrm>
              <a:off x="365760" y="5925312"/>
              <a:ext cx="9198864"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Shape 6"/>
            <p:cNvSpPr/>
            <p:nvPr/>
          </p:nvSpPr>
          <p:spPr>
            <a:xfrm>
              <a:off x="11786616" y="5925312"/>
              <a:ext cx="36575"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Shape 7"/>
            <p:cNvSpPr/>
            <p:nvPr/>
          </p:nvSpPr>
          <p:spPr>
            <a:xfrm>
              <a:off x="365760" y="5934456"/>
              <a:ext cx="1005840"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Shape 8"/>
            <p:cNvSpPr/>
            <p:nvPr/>
          </p:nvSpPr>
          <p:spPr>
            <a:xfrm>
              <a:off x="11786616" y="5934456"/>
              <a:ext cx="36575"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Shape 9"/>
            <p:cNvSpPr/>
            <p:nvPr/>
          </p:nvSpPr>
          <p:spPr>
            <a:xfrm>
              <a:off x="365760" y="6181344"/>
              <a:ext cx="1005840"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Shape 10"/>
            <p:cNvSpPr/>
            <p:nvPr/>
          </p:nvSpPr>
          <p:spPr>
            <a:xfrm>
              <a:off x="11786616" y="6181344"/>
              <a:ext cx="36575"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Shape 11"/>
            <p:cNvSpPr/>
            <p:nvPr/>
          </p:nvSpPr>
          <p:spPr>
            <a:xfrm>
              <a:off x="365760" y="6181344"/>
              <a:ext cx="11457432" cy="17373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Shape 12"/>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Shape 13"/>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Shape 14"/>
            <p:cNvSpPr/>
            <p:nvPr/>
          </p:nvSpPr>
          <p:spPr>
            <a:xfrm>
              <a:off x="151790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Shape 15"/>
            <p:cNvSpPr/>
            <p:nvPr/>
          </p:nvSpPr>
          <p:spPr>
            <a:xfrm>
              <a:off x="299923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Shape 16"/>
            <p:cNvSpPr/>
            <p:nvPr/>
          </p:nvSpPr>
          <p:spPr>
            <a:xfrm>
              <a:off x="4480560"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Shape 17"/>
            <p:cNvSpPr/>
            <p:nvPr/>
          </p:nvSpPr>
          <p:spPr>
            <a:xfrm>
              <a:off x="522122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Shape 18"/>
            <p:cNvSpPr/>
            <p:nvPr/>
          </p:nvSpPr>
          <p:spPr>
            <a:xfrm>
              <a:off x="670255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Shape 19"/>
            <p:cNvSpPr/>
            <p:nvPr/>
          </p:nvSpPr>
          <p:spPr>
            <a:xfrm>
              <a:off x="892454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Shape 20"/>
            <p:cNvSpPr/>
            <p:nvPr/>
          </p:nvSpPr>
          <p:spPr>
            <a:xfrm>
              <a:off x="7406640" y="196596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 21"/>
            <p:cNvSpPr txBox="1"/>
            <p:nvPr/>
          </p:nvSpPr>
          <p:spPr>
            <a:xfrm>
              <a:off x="7534656" y="2029967"/>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6 / 13   </a:t>
              </a:r>
              <a:r>
                <a:rPr sz="800" b="1" i="0" spc="120">
                  <a:solidFill>
                    <a:srgbClr val="FFFFFF"/>
                  </a:solidFill>
                  <a:latin typeface="Trenda IG Text"/>
                </a:rPr>
                <a:t>FAIL: A BOUNDED RETRY</a:t>
              </a:r>
            </a:p>
            <a:p>
              <a:pPr>
                <a:spcAft>
                  <a:spcPts val="200"/>
                </a:spcAft>
              </a:pPr>
              <a:r>
                <a:rPr sz="750" b="0" i="0">
                  <a:solidFill>
                    <a:srgbClr val="E6E6E6"/>
                  </a:solidFill>
                  <a:latin typeface="Trenda IG Text"/>
                </a:rPr>
                <a:t>A failed check goes back to the agent with the reason, at most five times. Then the step stops, nothing is released, and a named owner takes over. No infinite loops.</a:t>
              </a:r>
            </a:p>
          </p:txBody>
        </p:sp>
      </p:grpSp>
      <p:grpSp>
        <p:nvGrpSpPr>
          <p:cNvPr id="359" name="Step 6 arrows"/>
          <p:cNvGrpSpPr/>
          <p:nvPr/>
        </p:nvGrpSpPr>
        <p:grpSpPr>
          <a:xfrm>
            <a:off x="4892040" y="3310128"/>
            <a:ext cx="6858000" cy="2834640"/>
            <a:chOff x="4892040" y="3310128"/>
            <a:chExt cx="6858000" cy="2834640"/>
          </a:xfrm>
        </p:grpSpPr>
        <p:cxnSp>
          <p:nvCxnSpPr>
            <p:cNvPr id="360" name="Arrow 1"/>
            <p:cNvCxnSpPr/>
            <p:nvPr/>
          </p:nvCxnSpPr>
          <p:spPr>
            <a:xfrm>
              <a:off x="7196328" y="4169663"/>
              <a:ext cx="393192" cy="0"/>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61" name="Arrow 2"/>
            <p:cNvCxnSpPr/>
            <p:nvPr/>
          </p:nvCxnSpPr>
          <p:spPr>
            <a:xfrm flipV="1">
              <a:off x="7589520" y="3310128"/>
              <a:ext cx="0" cy="859535"/>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62" name="Arrow 3"/>
            <p:cNvCxnSpPr/>
            <p:nvPr/>
          </p:nvCxnSpPr>
          <p:spPr>
            <a:xfrm flipH="1">
              <a:off x="7196328" y="3310128"/>
              <a:ext cx="393192" cy="0"/>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3" name="Arrow 4"/>
            <p:cNvCxnSpPr/>
            <p:nvPr/>
          </p:nvCxnSpPr>
          <p:spPr>
            <a:xfrm>
              <a:off x="5870448" y="4453128"/>
              <a:ext cx="0" cy="164592"/>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4" name="Shape 5"/>
            <p:cNvSpPr/>
            <p:nvPr/>
          </p:nvSpPr>
          <p:spPr>
            <a:xfrm>
              <a:off x="7662672" y="3611880"/>
              <a:ext cx="118872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Text 6"/>
            <p:cNvSpPr txBox="1"/>
            <p:nvPr/>
          </p:nvSpPr>
          <p:spPr>
            <a:xfrm>
              <a:off x="7662672" y="3611880"/>
              <a:ext cx="118872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 RETRY ≤ 5</a:t>
              </a:r>
            </a:p>
          </p:txBody>
        </p:sp>
        <p:sp>
          <p:nvSpPr>
            <p:cNvPr id="366" name="Shape 7"/>
            <p:cNvSpPr/>
            <p:nvPr/>
          </p:nvSpPr>
          <p:spPr>
            <a:xfrm>
              <a:off x="4892040" y="4626864"/>
              <a:ext cx="196596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Text 8"/>
            <p:cNvSpPr txBox="1"/>
            <p:nvPr/>
          </p:nvSpPr>
          <p:spPr>
            <a:xfrm>
              <a:off x="4892040" y="4626864"/>
              <a:ext cx="1965960" cy="182880"/>
            </a:xfrm>
            <a:prstGeom prst="rect">
              <a:avLst/>
            </a:prstGeom>
            <a:noFill/>
          </p:spPr>
          <p:txBody>
            <a:bodyPr wrap="square" lIns="0" rIns="0" tIns="0" bIns="0" anchor="ctr">
              <a:spAutoFit/>
            </a:bodyPr>
            <a:lstStyle/>
            <a:p>
              <a:pPr algn="ctr"/>
              <a:r>
                <a:rPr sz="650" b="1" i="0" spc="60">
                  <a:solidFill>
                    <a:srgbClr val="FFFFFF"/>
                  </a:solidFill>
                  <a:latin typeface="Trenda IG Text"/>
                </a:rPr>
                <a:t>AFTER 5 → NAMED OWNER</a:t>
              </a:r>
            </a:p>
          </p:txBody>
        </p:sp>
        <p:sp>
          <p:nvSpPr>
            <p:cNvPr id="368" name="Shape 9"/>
            <p:cNvSpPr/>
            <p:nvPr/>
          </p:nvSpPr>
          <p:spPr>
            <a:xfrm>
              <a:off x="9601200" y="5961888"/>
              <a:ext cx="2148840" cy="182880"/>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Text 10"/>
            <p:cNvSpPr txBox="1"/>
            <p:nvPr/>
          </p:nvSpPr>
          <p:spPr>
            <a:xfrm>
              <a:off x="9601200" y="5961888"/>
              <a:ext cx="214884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SCORED · RETRY RE-SCORED</a:t>
              </a:r>
            </a:p>
          </p:txBody>
        </p:sp>
      </p:grpSp>
      <p:grpSp>
        <p:nvGrpSpPr>
          <p:cNvPr id="370" name="Step 7 highlight"/>
          <p:cNvGrpSpPr/>
          <p:nvPr/>
        </p:nvGrpSpPr>
        <p:grpSpPr>
          <a:xfrm>
            <a:off x="365760" y="1115568"/>
            <a:ext cx="11457432" cy="5239511"/>
            <a:chOff x="365760" y="1115568"/>
            <a:chExt cx="11457432" cy="5239511"/>
          </a:xfrm>
        </p:grpSpPr>
        <p:sp>
          <p:nvSpPr>
            <p:cNvPr id="371"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Shape 4"/>
            <p:cNvSpPr/>
            <p:nvPr/>
          </p:nvSpPr>
          <p:spPr>
            <a:xfrm>
              <a:off x="365760" y="2011680"/>
              <a:ext cx="11457432" cy="104241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Shape 5"/>
            <p:cNvSpPr/>
            <p:nvPr/>
          </p:nvSpPr>
          <p:spPr>
            <a:xfrm>
              <a:off x="365760" y="3054096"/>
              <a:ext cx="420624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Shape 6"/>
            <p:cNvSpPr/>
            <p:nvPr/>
          </p:nvSpPr>
          <p:spPr>
            <a:xfrm>
              <a:off x="5879592" y="3054096"/>
              <a:ext cx="5943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Shape 7"/>
            <p:cNvSpPr/>
            <p:nvPr/>
          </p:nvSpPr>
          <p:spPr>
            <a:xfrm>
              <a:off x="365760" y="3346704"/>
              <a:ext cx="11457432" cy="53949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Shape 8"/>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Shape 9"/>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Shape 10"/>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Shape 11"/>
            <p:cNvSpPr/>
            <p:nvPr/>
          </p:nvSpPr>
          <p:spPr>
            <a:xfrm>
              <a:off x="365760" y="5513832"/>
              <a:ext cx="102412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Shape 12"/>
            <p:cNvSpPr/>
            <p:nvPr/>
          </p:nvSpPr>
          <p:spPr>
            <a:xfrm>
              <a:off x="2880360" y="5513832"/>
              <a:ext cx="894283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Shape 14"/>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Shape 15"/>
            <p:cNvSpPr/>
            <p:nvPr/>
          </p:nvSpPr>
          <p:spPr>
            <a:xfrm>
              <a:off x="9564624" y="142646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Shape 16"/>
            <p:cNvSpPr/>
            <p:nvPr/>
          </p:nvSpPr>
          <p:spPr>
            <a:xfrm>
              <a:off x="1417320"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Shape 17"/>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7 / 13   </a:t>
              </a:r>
              <a:r>
                <a:rPr sz="800" b="1" i="0" spc="120">
                  <a:solidFill>
                    <a:srgbClr val="FFFFFF"/>
                  </a:solidFill>
                  <a:latin typeface="Trenda IG Text"/>
                </a:rPr>
                <a:t>H1 · REQUIREMENTS APPROVED</a:t>
              </a:r>
            </a:p>
            <a:p>
              <a:pPr>
                <a:spcAft>
                  <a:spcPts val="200"/>
                </a:spcAft>
              </a:pPr>
              <a:r>
                <a:rPr sz="750" b="0" i="0">
                  <a:solidFill>
                    <a:srgbClr val="E6E6E6"/>
                  </a:solidFill>
                  <a:latin typeface="Trenda IG Text"/>
                </a:rPr>
                <a:t>The Requirements Agent posts the brief to the Jira story as a comment: audience, consent rules, KPIs, open questions. The product owner approves at H1; only then does design start.</a:t>
              </a:r>
            </a:p>
          </p:txBody>
        </p:sp>
      </p:grpSp>
      <p:grpSp>
        <p:nvGrpSpPr>
          <p:cNvPr id="390" name="Step 7 arrows"/>
          <p:cNvGrpSpPr/>
          <p:nvPr/>
        </p:nvGrpSpPr>
        <p:grpSpPr>
          <a:xfrm>
            <a:off x="1773936" y="4453128"/>
            <a:ext cx="1847088" cy="1700784"/>
            <a:chOff x="1773936" y="4453128"/>
            <a:chExt cx="1847088" cy="1700784"/>
          </a:xfrm>
        </p:grpSpPr>
        <p:cxnSp>
          <p:nvCxnSpPr>
            <p:cNvPr id="39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2" name="Arrow 2"/>
            <p:cNvCxnSpPr/>
            <p:nvPr/>
          </p:nvCxnSpPr>
          <p:spPr>
            <a:xfrm flipH="1">
              <a:off x="2505456" y="5449824"/>
              <a:ext cx="1115568"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3" name="Arrow 3"/>
            <p:cNvCxnSpPr/>
            <p:nvPr/>
          </p:nvCxnSpPr>
          <p:spPr>
            <a:xfrm>
              <a:off x="250545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4" name="Shape 4"/>
            <p:cNvSpPr/>
            <p:nvPr/>
          </p:nvSpPr>
          <p:spPr>
            <a:xfrm>
              <a:off x="177393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Text 5"/>
            <p:cNvSpPr txBox="1"/>
            <p:nvPr/>
          </p:nvSpPr>
          <p:spPr>
            <a:xfrm>
              <a:off x="177393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H1 APPROVED → 02 DESIGN</a:t>
              </a:r>
            </a:p>
          </p:txBody>
        </p:sp>
      </p:grpSp>
      <p:grpSp>
        <p:nvGrpSpPr>
          <p:cNvPr id="396" name="Step 8 highlight"/>
          <p:cNvGrpSpPr/>
          <p:nvPr/>
        </p:nvGrpSpPr>
        <p:grpSpPr>
          <a:xfrm>
            <a:off x="365760" y="1115568"/>
            <a:ext cx="11457432" cy="5239511"/>
            <a:chOff x="365760" y="1115568"/>
            <a:chExt cx="11457432" cy="5239511"/>
          </a:xfrm>
        </p:grpSpPr>
        <p:sp>
          <p:nvSpPr>
            <p:cNvPr id="397" name="Shape 1"/>
            <p:cNvSpPr/>
            <p:nvPr/>
          </p:nvSpPr>
          <p:spPr>
            <a:xfrm>
              <a:off x="365760" y="1115568"/>
              <a:ext cx="11457432" cy="8961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Shape 2"/>
            <p:cNvSpPr/>
            <p:nvPr/>
          </p:nvSpPr>
          <p:spPr>
            <a:xfrm>
              <a:off x="365760" y="201168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Shape 3"/>
            <p:cNvSpPr/>
            <p:nvPr/>
          </p:nvSpPr>
          <p:spPr>
            <a:xfrm>
              <a:off x="11777472" y="201168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Shape 4"/>
            <p:cNvSpPr/>
            <p:nvPr/>
          </p:nvSpPr>
          <p:spPr>
            <a:xfrm>
              <a:off x="365760" y="2560320"/>
              <a:ext cx="11457432" cy="256031"/>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Shape 5"/>
            <p:cNvSpPr/>
            <p:nvPr/>
          </p:nvSpPr>
          <p:spPr>
            <a:xfrm>
              <a:off x="365760" y="2816352"/>
              <a:ext cx="6885431"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Shape 6"/>
            <p:cNvSpPr/>
            <p:nvPr/>
          </p:nvSpPr>
          <p:spPr>
            <a:xfrm>
              <a:off x="9308592" y="2816352"/>
              <a:ext cx="2514600"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Shape 7"/>
            <p:cNvSpPr/>
            <p:nvPr/>
          </p:nvSpPr>
          <p:spPr>
            <a:xfrm>
              <a:off x="365760" y="3054096"/>
              <a:ext cx="5495544"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Shape 8"/>
            <p:cNvSpPr/>
            <p:nvPr/>
          </p:nvSpPr>
          <p:spPr>
            <a:xfrm>
              <a:off x="7168896" y="3054096"/>
              <a:ext cx="82295"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Shape 9"/>
            <p:cNvSpPr/>
            <p:nvPr/>
          </p:nvSpPr>
          <p:spPr>
            <a:xfrm>
              <a:off x="9308592" y="3054096"/>
              <a:ext cx="2514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Shape 10"/>
            <p:cNvSpPr/>
            <p:nvPr/>
          </p:nvSpPr>
          <p:spPr>
            <a:xfrm>
              <a:off x="365760" y="3346704"/>
              <a:ext cx="6885431"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Shape 11"/>
            <p:cNvSpPr/>
            <p:nvPr/>
          </p:nvSpPr>
          <p:spPr>
            <a:xfrm>
              <a:off x="9308592" y="3346704"/>
              <a:ext cx="2514600"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Shape 12"/>
            <p:cNvSpPr/>
            <p:nvPr/>
          </p:nvSpPr>
          <p:spPr>
            <a:xfrm>
              <a:off x="365760" y="3456432"/>
              <a:ext cx="11457432"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Shape 13"/>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Shape 14"/>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Shape 15"/>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Shape 16"/>
            <p:cNvSpPr/>
            <p:nvPr/>
          </p:nvSpPr>
          <p:spPr>
            <a:xfrm>
              <a:off x="365760" y="5513832"/>
              <a:ext cx="250545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Shape 17"/>
            <p:cNvSpPr/>
            <p:nvPr/>
          </p:nvSpPr>
          <p:spPr>
            <a:xfrm>
              <a:off x="4361688" y="5513832"/>
              <a:ext cx="7461504"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Shape 18"/>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Shape 19"/>
            <p:cNvSpPr/>
            <p:nvPr/>
          </p:nvSpPr>
          <p:spPr>
            <a:xfrm>
              <a:off x="5870448"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Shape 20"/>
            <p:cNvSpPr/>
            <p:nvPr/>
          </p:nvSpPr>
          <p:spPr>
            <a:xfrm>
              <a:off x="9564624" y="197510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Shape 21"/>
            <p:cNvSpPr/>
            <p:nvPr/>
          </p:nvSpPr>
          <p:spPr>
            <a:xfrm>
              <a:off x="2898648"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Shape 22"/>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Shape 23"/>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Shape 2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Text 2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8 / 13   </a:t>
              </a:r>
              <a:r>
                <a:rPr sz="800" b="1" i="0" spc="120">
                  <a:solidFill>
                    <a:srgbClr val="FFFFFF"/>
                  </a:solidFill>
                  <a:latin typeface="Trenda IG Text"/>
                </a:rPr>
                <a:t>H2 · DESIGN APPROVED</a:t>
              </a:r>
            </a:p>
            <a:p>
              <a:pPr>
                <a:spcAft>
                  <a:spcPts val="200"/>
                </a:spcAft>
              </a:pPr>
              <a:r>
                <a:rPr sz="750" b="0" i="0">
                  <a:solidFill>
                    <a:srgbClr val="E6E6E6"/>
                  </a:solidFill>
                  <a:latin typeface="Trenda IG Text"/>
                </a:rPr>
                <a:t>The Architect Agent drafts the design in Confluence: reuse the existing data extensions and segment, a new journey. The Change Guardian names the pods affected. Architect and pod owners approve at H2.</a:t>
              </a:r>
            </a:p>
          </p:txBody>
        </p:sp>
      </p:grpSp>
      <p:grpSp>
        <p:nvGrpSpPr>
          <p:cNvPr id="422" name="Step 8 arrows"/>
          <p:cNvGrpSpPr/>
          <p:nvPr/>
        </p:nvGrpSpPr>
        <p:grpSpPr>
          <a:xfrm>
            <a:off x="3255264" y="4453128"/>
            <a:ext cx="1463040" cy="1700784"/>
            <a:chOff x="3255264" y="4453128"/>
            <a:chExt cx="1463040" cy="1700784"/>
          </a:xfrm>
        </p:grpSpPr>
        <p:cxnSp>
          <p:nvCxnSpPr>
            <p:cNvPr id="42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24" name="Arrow 2"/>
            <p:cNvCxnSpPr/>
            <p:nvPr/>
          </p:nvCxnSpPr>
          <p:spPr>
            <a:xfrm>
              <a:off x="3621024" y="5449824"/>
              <a:ext cx="365760"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25" name="Arrow 3"/>
            <p:cNvCxnSpPr/>
            <p:nvPr/>
          </p:nvCxnSpPr>
          <p:spPr>
            <a:xfrm>
              <a:off x="3986784"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6" name="Shape 4"/>
            <p:cNvSpPr/>
            <p:nvPr/>
          </p:nvSpPr>
          <p:spPr>
            <a:xfrm>
              <a:off x="3255264"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Text 5"/>
            <p:cNvSpPr txBox="1"/>
            <p:nvPr/>
          </p:nvSpPr>
          <p:spPr>
            <a:xfrm>
              <a:off x="3255264"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H2 APPROVED → 03 BUILD</a:t>
              </a:r>
            </a:p>
          </p:txBody>
        </p:sp>
      </p:grpSp>
      <p:grpSp>
        <p:nvGrpSpPr>
          <p:cNvPr id="428" name="Step 9 highlight"/>
          <p:cNvGrpSpPr/>
          <p:nvPr/>
        </p:nvGrpSpPr>
        <p:grpSpPr>
          <a:xfrm>
            <a:off x="365760" y="1115568"/>
            <a:ext cx="11457432" cy="5239511"/>
            <a:chOff x="365760" y="1115568"/>
            <a:chExt cx="11457432" cy="5239511"/>
          </a:xfrm>
        </p:grpSpPr>
        <p:sp>
          <p:nvSpPr>
            <p:cNvPr id="429" name="Shape 1"/>
            <p:cNvSpPr/>
            <p:nvPr/>
          </p:nvSpPr>
          <p:spPr>
            <a:xfrm>
              <a:off x="365760" y="1115568"/>
              <a:ext cx="11457432" cy="18105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Shape 2"/>
            <p:cNvSpPr/>
            <p:nvPr/>
          </p:nvSpPr>
          <p:spPr>
            <a:xfrm>
              <a:off x="365760" y="2926080"/>
              <a:ext cx="923544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Shape 3"/>
            <p:cNvSpPr/>
            <p:nvPr/>
          </p:nvSpPr>
          <p:spPr>
            <a:xfrm>
              <a:off x="11777472" y="2926080"/>
              <a:ext cx="4572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Shape 4"/>
            <p:cNvSpPr/>
            <p:nvPr/>
          </p:nvSpPr>
          <p:spPr>
            <a:xfrm>
              <a:off x="365760" y="3287268"/>
              <a:ext cx="420624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3" name="Shape 5"/>
            <p:cNvSpPr/>
            <p:nvPr/>
          </p:nvSpPr>
          <p:spPr>
            <a:xfrm>
              <a:off x="7168896" y="3287268"/>
              <a:ext cx="2432304"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Shape 6"/>
            <p:cNvSpPr/>
            <p:nvPr/>
          </p:nvSpPr>
          <p:spPr>
            <a:xfrm>
              <a:off x="11777472" y="3287268"/>
              <a:ext cx="4572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5" name="Shape 7"/>
            <p:cNvSpPr/>
            <p:nvPr/>
          </p:nvSpPr>
          <p:spPr>
            <a:xfrm>
              <a:off x="365760" y="3813048"/>
              <a:ext cx="923544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Shape 8"/>
            <p:cNvSpPr/>
            <p:nvPr/>
          </p:nvSpPr>
          <p:spPr>
            <a:xfrm>
              <a:off x="11777472" y="3813048"/>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Shape 9"/>
            <p:cNvSpPr/>
            <p:nvPr/>
          </p:nvSpPr>
          <p:spPr>
            <a:xfrm>
              <a:off x="365760" y="3849624"/>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8" name="Shape 10"/>
            <p:cNvSpPr/>
            <p:nvPr/>
          </p:nvSpPr>
          <p:spPr>
            <a:xfrm>
              <a:off x="7232904" y="3849624"/>
              <a:ext cx="2368296"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9" name="Shape 11"/>
            <p:cNvSpPr/>
            <p:nvPr/>
          </p:nvSpPr>
          <p:spPr>
            <a:xfrm>
              <a:off x="11777472" y="3849624"/>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Shape 12"/>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Shape 13"/>
            <p:cNvSpPr/>
            <p:nvPr/>
          </p:nvSpPr>
          <p:spPr>
            <a:xfrm>
              <a:off x="4453128" y="3886200"/>
              <a:ext cx="548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Shape 14"/>
            <p:cNvSpPr/>
            <p:nvPr/>
          </p:nvSpPr>
          <p:spPr>
            <a:xfrm>
              <a:off x="7232904" y="3886200"/>
              <a:ext cx="2368296"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Shape 15"/>
            <p:cNvSpPr/>
            <p:nvPr/>
          </p:nvSpPr>
          <p:spPr>
            <a:xfrm>
              <a:off x="11777472" y="3886200"/>
              <a:ext cx="4572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Shape 16"/>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Shape 17"/>
            <p:cNvSpPr/>
            <p:nvPr/>
          </p:nvSpPr>
          <p:spPr>
            <a:xfrm>
              <a:off x="4453128" y="3977639"/>
              <a:ext cx="54863"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6" name="Shape 18"/>
            <p:cNvSpPr/>
            <p:nvPr/>
          </p:nvSpPr>
          <p:spPr>
            <a:xfrm>
              <a:off x="7232904" y="3977639"/>
              <a:ext cx="4590288"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Shape 19"/>
            <p:cNvSpPr/>
            <p:nvPr/>
          </p:nvSpPr>
          <p:spPr>
            <a:xfrm>
              <a:off x="365760" y="4453128"/>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8" name="Shape 20"/>
            <p:cNvSpPr/>
            <p:nvPr/>
          </p:nvSpPr>
          <p:spPr>
            <a:xfrm>
              <a:off x="7232904" y="4453128"/>
              <a:ext cx="4590288"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Shape 21"/>
            <p:cNvSpPr/>
            <p:nvPr/>
          </p:nvSpPr>
          <p:spPr>
            <a:xfrm>
              <a:off x="365760" y="4489704"/>
              <a:ext cx="11457432" cy="10241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0" name="Shape 22"/>
            <p:cNvSpPr/>
            <p:nvPr/>
          </p:nvSpPr>
          <p:spPr>
            <a:xfrm>
              <a:off x="365760" y="5513832"/>
              <a:ext cx="398678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1" name="Shape 23"/>
            <p:cNvSpPr/>
            <p:nvPr/>
          </p:nvSpPr>
          <p:spPr>
            <a:xfrm>
              <a:off x="6583679" y="5513832"/>
              <a:ext cx="523951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2" name="Shape 24"/>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3" name="Shape 25"/>
            <p:cNvSpPr/>
            <p:nvPr/>
          </p:nvSpPr>
          <p:spPr>
            <a:xfrm>
              <a:off x="4581144"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4" name="Shape 26"/>
            <p:cNvSpPr/>
            <p:nvPr/>
          </p:nvSpPr>
          <p:spPr>
            <a:xfrm>
              <a:off x="5870448"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Shape 27"/>
            <p:cNvSpPr/>
            <p:nvPr/>
          </p:nvSpPr>
          <p:spPr>
            <a:xfrm>
              <a:off x="4581144"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6" name="Shape 28"/>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Shape 29"/>
            <p:cNvSpPr/>
            <p:nvPr/>
          </p:nvSpPr>
          <p:spPr>
            <a:xfrm>
              <a:off x="4379976"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8" name="Shape 30"/>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9" name="Shape 31"/>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0" name="Shape 32"/>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1" name="Text 33"/>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9 / 13   </a:t>
              </a:r>
              <a:r>
                <a:rPr sz="800" b="1" i="0" spc="120">
                  <a:solidFill>
                    <a:srgbClr val="FFFFFF"/>
                  </a:solidFill>
                  <a:latin typeface="Trenda IG Text"/>
                </a:rPr>
                <a:t>H3 · CODE AND TESTS APPROVED</a:t>
              </a:r>
            </a:p>
            <a:p>
              <a:pPr>
                <a:spcAft>
                  <a:spcPts val="200"/>
                </a:spcAft>
              </a:pPr>
              <a:r>
                <a:rPr sz="750" b="0" i="0">
                  <a:solidFill>
                    <a:srgbClr val="E6E6E6"/>
                  </a:solidFill>
                  <a:latin typeface="Trenda IG Text"/>
                </a:rPr>
                <a:t>The Developer Agent builds in the Marketing Cloud dev business unit: data extensions, SQL, AMPscript, the journey as a draft. Review and Test Agents check it, evals score it. Tech lead and security approve at H3.</a:t>
              </a:r>
            </a:p>
          </p:txBody>
        </p:sp>
      </p:grpSp>
      <p:grpSp>
        <p:nvGrpSpPr>
          <p:cNvPr id="462" name="Step 9 arrows"/>
          <p:cNvGrpSpPr/>
          <p:nvPr/>
        </p:nvGrpSpPr>
        <p:grpSpPr>
          <a:xfrm>
            <a:off x="3621024" y="4453128"/>
            <a:ext cx="3319272" cy="1700784"/>
            <a:chOff x="3621024" y="4453128"/>
            <a:chExt cx="3319272" cy="1700784"/>
          </a:xfrm>
        </p:grpSpPr>
        <p:cxnSp>
          <p:nvCxnSpPr>
            <p:cNvPr id="46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4" name="Arrow 2"/>
            <p:cNvCxnSpPr/>
            <p:nvPr/>
          </p:nvCxnSpPr>
          <p:spPr>
            <a:xfrm>
              <a:off x="3621024" y="5449824"/>
              <a:ext cx="258775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5" name="Arrow 3"/>
            <p:cNvCxnSpPr/>
            <p:nvPr/>
          </p:nvCxnSpPr>
          <p:spPr>
            <a:xfrm>
              <a:off x="620877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6" name="Shape 4"/>
            <p:cNvSpPr/>
            <p:nvPr/>
          </p:nvSpPr>
          <p:spPr>
            <a:xfrm>
              <a:off x="547725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7" name="Text 5"/>
            <p:cNvSpPr txBox="1"/>
            <p:nvPr/>
          </p:nvSpPr>
          <p:spPr>
            <a:xfrm>
              <a:off x="547725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H3 APPROVED → 05 PROMOTE</a:t>
              </a:r>
            </a:p>
          </p:txBody>
        </p:sp>
      </p:grpSp>
      <p:grpSp>
        <p:nvGrpSpPr>
          <p:cNvPr id="468" name="Step 10 highlight"/>
          <p:cNvGrpSpPr/>
          <p:nvPr/>
        </p:nvGrpSpPr>
        <p:grpSpPr>
          <a:xfrm>
            <a:off x="365760" y="1115568"/>
            <a:ext cx="11457432" cy="5239511"/>
            <a:chOff x="365760" y="1115568"/>
            <a:chExt cx="11457432" cy="5239511"/>
          </a:xfrm>
        </p:grpSpPr>
        <p:sp>
          <p:nvSpPr>
            <p:cNvPr id="469"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0"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1"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3" name="Shape 5"/>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4" name="Shape 6"/>
            <p:cNvSpPr/>
            <p:nvPr/>
          </p:nvSpPr>
          <p:spPr>
            <a:xfrm>
              <a:off x="4453128" y="3886200"/>
              <a:ext cx="73700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Shape 7"/>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6" name="Shape 8"/>
            <p:cNvSpPr/>
            <p:nvPr/>
          </p:nvSpPr>
          <p:spPr>
            <a:xfrm>
              <a:off x="4453128" y="3977639"/>
              <a:ext cx="5148072"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7" name="Shape 9"/>
            <p:cNvSpPr/>
            <p:nvPr/>
          </p:nvSpPr>
          <p:spPr>
            <a:xfrm>
              <a:off x="11777472" y="3977639"/>
              <a:ext cx="4572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Shape 10"/>
            <p:cNvSpPr/>
            <p:nvPr/>
          </p:nvSpPr>
          <p:spPr>
            <a:xfrm>
              <a:off x="365760" y="4453128"/>
              <a:ext cx="923544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9" name="Shape 11"/>
            <p:cNvSpPr/>
            <p:nvPr/>
          </p:nvSpPr>
          <p:spPr>
            <a:xfrm>
              <a:off x="11777472" y="4453128"/>
              <a:ext cx="4572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0" name="Shape 12"/>
            <p:cNvSpPr/>
            <p:nvPr/>
          </p:nvSpPr>
          <p:spPr>
            <a:xfrm>
              <a:off x="365760" y="4882896"/>
              <a:ext cx="11457432" cy="63093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Shape 13"/>
            <p:cNvSpPr/>
            <p:nvPr/>
          </p:nvSpPr>
          <p:spPr>
            <a:xfrm>
              <a:off x="365760" y="5513832"/>
              <a:ext cx="6208775"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2" name="Shape 14"/>
            <p:cNvSpPr/>
            <p:nvPr/>
          </p:nvSpPr>
          <p:spPr>
            <a:xfrm>
              <a:off x="8805672" y="5513832"/>
              <a:ext cx="3017519"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3" name="Shape 15"/>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Shape 16"/>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5" name="Shape 17"/>
            <p:cNvSpPr/>
            <p:nvPr/>
          </p:nvSpPr>
          <p:spPr>
            <a:xfrm>
              <a:off x="9564624" y="3941063"/>
              <a:ext cx="2249423" cy="978408"/>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6" name="Shape 18"/>
            <p:cNvSpPr/>
            <p:nvPr/>
          </p:nvSpPr>
          <p:spPr>
            <a:xfrm>
              <a:off x="6601968"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7" name="Shape 19"/>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8" name="Shape 20"/>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9" name="Text 21"/>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10 / 13   </a:t>
              </a:r>
              <a:r>
                <a:rPr sz="800" b="1" i="0" spc="120">
                  <a:solidFill>
                    <a:srgbClr val="FFFFFF"/>
                  </a:solidFill>
                  <a:latin typeface="Trenda IG Text"/>
                </a:rPr>
                <a:t>06 UAT, THEN H4 · BUSINESS SIGN-OFF</a:t>
              </a:r>
            </a:p>
            <a:p>
              <a:pPr>
                <a:spcAft>
                  <a:spcPts val="200"/>
                </a:spcAft>
              </a:pPr>
              <a:r>
                <a:rPr sz="750" b="0" i="0">
                  <a:solidFill>
                    <a:srgbClr val="E6E6E6"/>
                  </a:solidFill>
                  <a:latin typeface="Trenda IG Text"/>
                </a:rPr>
                <a:t>The Release Agent promotes the campaign through Copado to SIT and UAT. Marketing and clinical owners test every message variant and sign off UAT at H4.</a:t>
              </a:r>
            </a:p>
          </p:txBody>
        </p:sp>
      </p:grpSp>
      <p:grpSp>
        <p:nvGrpSpPr>
          <p:cNvPr id="490" name="Step 10 arrows"/>
          <p:cNvGrpSpPr/>
          <p:nvPr/>
        </p:nvGrpSpPr>
        <p:grpSpPr>
          <a:xfrm>
            <a:off x="3621024" y="4453128"/>
            <a:ext cx="5541264" cy="1700784"/>
            <a:chOff x="3621024" y="4453128"/>
            <a:chExt cx="5541264" cy="1700784"/>
          </a:xfrm>
        </p:grpSpPr>
        <p:cxnSp>
          <p:nvCxnSpPr>
            <p:cNvPr id="49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92" name="Arrow 2"/>
            <p:cNvCxnSpPr/>
            <p:nvPr/>
          </p:nvCxnSpPr>
          <p:spPr>
            <a:xfrm>
              <a:off x="3621024" y="5449824"/>
              <a:ext cx="4809744"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93" name="Arrow 3"/>
            <p:cNvCxnSpPr/>
            <p:nvPr/>
          </p:nvCxnSpPr>
          <p:spPr>
            <a:xfrm>
              <a:off x="8430768"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4" name="Shape 4"/>
            <p:cNvSpPr/>
            <p:nvPr/>
          </p:nvSpPr>
          <p:spPr>
            <a:xfrm>
              <a:off x="7699248"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5" name="Text 5"/>
            <p:cNvSpPr txBox="1"/>
            <p:nvPr/>
          </p:nvSpPr>
          <p:spPr>
            <a:xfrm>
              <a:off x="7699248"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H4 SIGNED → 07 PREPARE</a:t>
              </a:r>
            </a:p>
          </p:txBody>
        </p:sp>
      </p:grpSp>
      <p:grpSp>
        <p:nvGrpSpPr>
          <p:cNvPr id="496" name="Step 11 highlight"/>
          <p:cNvGrpSpPr/>
          <p:nvPr/>
        </p:nvGrpSpPr>
        <p:grpSpPr>
          <a:xfrm>
            <a:off x="365760" y="1115568"/>
            <a:ext cx="11457432" cy="5239511"/>
            <a:chOff x="365760" y="1115568"/>
            <a:chExt cx="11457432" cy="5239511"/>
          </a:xfrm>
        </p:grpSpPr>
        <p:sp>
          <p:nvSpPr>
            <p:cNvPr id="497"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8"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9"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0"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1" name="Shape 5"/>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2" name="Shape 6"/>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3" name="Shape 7"/>
            <p:cNvSpPr/>
            <p:nvPr/>
          </p:nvSpPr>
          <p:spPr>
            <a:xfrm>
              <a:off x="365760" y="4453128"/>
              <a:ext cx="11457432" cy="13715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4" name="Shape 8"/>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5" name="Shape 9"/>
            <p:cNvSpPr/>
            <p:nvPr/>
          </p:nvSpPr>
          <p:spPr>
            <a:xfrm>
              <a:off x="6583680" y="4590288"/>
              <a:ext cx="5239512"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6" name="Shape 10"/>
            <p:cNvSpPr/>
            <p:nvPr/>
          </p:nvSpPr>
          <p:spPr>
            <a:xfrm>
              <a:off x="365760" y="5413248"/>
              <a:ext cx="11457432" cy="10058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7" name="Shape 11"/>
            <p:cNvSpPr/>
            <p:nvPr/>
          </p:nvSpPr>
          <p:spPr>
            <a:xfrm>
              <a:off x="365760" y="5513832"/>
              <a:ext cx="843076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8" name="Shape 12"/>
            <p:cNvSpPr/>
            <p:nvPr/>
          </p:nvSpPr>
          <p:spPr>
            <a:xfrm>
              <a:off x="10287000" y="5513832"/>
              <a:ext cx="1536191"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9"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0" name="Shape 14"/>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1" name="Shape 15"/>
            <p:cNvSpPr/>
            <p:nvPr/>
          </p:nvSpPr>
          <p:spPr>
            <a:xfrm>
              <a:off x="8823960" y="5550408"/>
              <a:ext cx="1435607"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2" name="Shape 1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3" name="Shape 17"/>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4"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5"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11 / 13   </a:t>
              </a:r>
              <a:r>
                <a:rPr sz="800" b="1" i="0" spc="120">
                  <a:solidFill>
                    <a:srgbClr val="FFFFFF"/>
                  </a:solidFill>
                  <a:latin typeface="Trenda IG Text"/>
                </a:rPr>
                <a:t>CAB · RELEASE APPROVED</a:t>
              </a:r>
            </a:p>
            <a:p>
              <a:pPr>
                <a:spcAft>
                  <a:spcPts val="200"/>
                </a:spcAft>
              </a:pPr>
              <a:r>
                <a:rPr sz="750" b="0" i="0">
                  <a:solidFill>
                    <a:srgbClr val="E6E6E6"/>
                  </a:solidFill>
                  <a:latin typeface="Trenda IG Text"/>
                </a:rPr>
                <a:t>The Release Agent builds the CAB pack from the change passport: evidence, test results, rollback plan. CAB approves the release, exactly as today.</a:t>
              </a:r>
            </a:p>
          </p:txBody>
        </p:sp>
      </p:grpSp>
      <p:grpSp>
        <p:nvGrpSpPr>
          <p:cNvPr id="516" name="Step 11 arrows"/>
          <p:cNvGrpSpPr/>
          <p:nvPr/>
        </p:nvGrpSpPr>
        <p:grpSpPr>
          <a:xfrm>
            <a:off x="3621024" y="4453128"/>
            <a:ext cx="7022592" cy="1700784"/>
            <a:chOff x="3621024" y="4453128"/>
            <a:chExt cx="7022592" cy="1700784"/>
          </a:xfrm>
        </p:grpSpPr>
        <p:cxnSp>
          <p:nvCxnSpPr>
            <p:cNvPr id="517"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518" name="Arrow 2"/>
            <p:cNvCxnSpPr/>
            <p:nvPr/>
          </p:nvCxnSpPr>
          <p:spPr>
            <a:xfrm>
              <a:off x="3621024" y="5449824"/>
              <a:ext cx="629107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519" name="Arrow 3"/>
            <p:cNvCxnSpPr/>
            <p:nvPr/>
          </p:nvCxnSpPr>
          <p:spPr>
            <a:xfrm>
              <a:off x="991209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0" name="Shape 4"/>
            <p:cNvSpPr/>
            <p:nvPr/>
          </p:nvSpPr>
          <p:spPr>
            <a:xfrm>
              <a:off x="918057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1" name="Text 5"/>
            <p:cNvSpPr txBox="1"/>
            <p:nvPr/>
          </p:nvSpPr>
          <p:spPr>
            <a:xfrm>
              <a:off x="918057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CAB APPROVED → 08 DEPLOY</a:t>
              </a:r>
            </a:p>
          </p:txBody>
        </p:sp>
      </p:grpSp>
      <p:grpSp>
        <p:nvGrpSpPr>
          <p:cNvPr id="522" name="Step 12 highlight"/>
          <p:cNvGrpSpPr/>
          <p:nvPr/>
        </p:nvGrpSpPr>
        <p:grpSpPr>
          <a:xfrm>
            <a:off x="365760" y="1115568"/>
            <a:ext cx="11457432" cy="5239511"/>
            <a:chOff x="365760" y="1115568"/>
            <a:chExt cx="11457432" cy="5239511"/>
          </a:xfrm>
        </p:grpSpPr>
        <p:sp>
          <p:nvSpPr>
            <p:cNvPr id="523"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4"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5"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6" name="Shape 4"/>
            <p:cNvSpPr/>
            <p:nvPr/>
          </p:nvSpPr>
          <p:spPr>
            <a:xfrm>
              <a:off x="365760" y="2011680"/>
              <a:ext cx="11457432" cy="28346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7" name="Shape 5"/>
            <p:cNvSpPr/>
            <p:nvPr/>
          </p:nvSpPr>
          <p:spPr>
            <a:xfrm>
              <a:off x="365760" y="4846320"/>
              <a:ext cx="9281160"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8" name="Shape 6"/>
            <p:cNvSpPr/>
            <p:nvPr/>
          </p:nvSpPr>
          <p:spPr>
            <a:xfrm>
              <a:off x="11731752" y="4846320"/>
              <a:ext cx="91439"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9" name="Shape 7"/>
            <p:cNvSpPr/>
            <p:nvPr/>
          </p:nvSpPr>
          <p:spPr>
            <a:xfrm>
              <a:off x="365760" y="5449824"/>
              <a:ext cx="11457432" cy="640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0" name="Shape 8"/>
            <p:cNvSpPr/>
            <p:nvPr/>
          </p:nvSpPr>
          <p:spPr>
            <a:xfrm>
              <a:off x="365760" y="5513832"/>
              <a:ext cx="991209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1" name="Shape 9"/>
            <p:cNvSpPr/>
            <p:nvPr/>
          </p:nvSpPr>
          <p:spPr>
            <a:xfrm>
              <a:off x="11768328" y="5513832"/>
              <a:ext cx="5486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2" name="Shape 10"/>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3" name="Shape 11"/>
            <p:cNvSpPr/>
            <p:nvPr/>
          </p:nvSpPr>
          <p:spPr>
            <a:xfrm>
              <a:off x="10268712" y="5513832"/>
              <a:ext cx="1508760" cy="45720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4" name="Shape 12"/>
            <p:cNvSpPr/>
            <p:nvPr/>
          </p:nvSpPr>
          <p:spPr>
            <a:xfrm>
              <a:off x="9656064" y="4864608"/>
              <a:ext cx="2066544" cy="5760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5" name="Shape 13"/>
            <p:cNvSpPr/>
            <p:nvPr/>
          </p:nvSpPr>
          <p:spPr>
            <a:xfrm>
              <a:off x="9564624" y="1426464"/>
              <a:ext cx="2249424"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6" name="Shape 1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7" name="Text 1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12 / 13   </a:t>
              </a:r>
              <a:r>
                <a:rPr sz="800" b="1" i="0" spc="120">
                  <a:solidFill>
                    <a:srgbClr val="FFFFFF"/>
                  </a:solidFill>
                  <a:latin typeface="Trenda IG Text"/>
                </a:rPr>
                <a:t>PRODUCTION: THE OWNING TEAM DEPLOYS</a:t>
              </a:r>
            </a:p>
            <a:p>
              <a:pPr>
                <a:spcAft>
                  <a:spcPts val="200"/>
                </a:spcAft>
              </a:pPr>
              <a:r>
                <a:rPr sz="750" b="0" i="0">
                  <a:solidFill>
                    <a:srgbClr val="E6E6E6"/>
                  </a:solidFill>
                  <a:latin typeface="Trenda IG Text"/>
                </a:rPr>
                <a:t>The owning team activates the journey in production through its own pipeline. No agent holds a production credential. Step 09 closes the Jira story and resyncs the knowledge graph.</a:t>
              </a:r>
            </a:p>
          </p:txBody>
        </p:sp>
      </p:grpSp>
      <p:grpSp>
        <p:nvGrpSpPr>
          <p:cNvPr id="538" name="Step 12 arrows"/>
          <p:cNvGrpSpPr/>
          <p:nvPr/>
        </p:nvGrpSpPr>
        <p:grpSpPr>
          <a:xfrm>
            <a:off x="10652760" y="5404104"/>
            <a:ext cx="0" cy="146304"/>
            <a:chOff x="10652760" y="5404104"/>
            <a:chExt cx="0" cy="146304"/>
          </a:xfrm>
        </p:grpSpPr>
        <p:cxnSp>
          <p:nvCxnSpPr>
            <p:cNvPr id="539" name="Arrow 1"/>
            <p:cNvCxnSpPr/>
            <p:nvPr/>
          </p:nvCxnSpPr>
          <p:spPr>
            <a:xfrm flipV="1">
              <a:off x="10652760" y="5404104"/>
              <a:ext cx="0" cy="14630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540" name="Step 13 highlight"/>
          <p:cNvGrpSpPr/>
          <p:nvPr/>
        </p:nvGrpSpPr>
        <p:grpSpPr>
          <a:xfrm>
            <a:off x="365760" y="1115568"/>
            <a:ext cx="11457432" cy="5239512"/>
            <a:chOff x="365760" y="1115568"/>
            <a:chExt cx="11457432" cy="5239512"/>
          </a:xfrm>
        </p:grpSpPr>
        <p:sp>
          <p:nvSpPr>
            <p:cNvPr id="541" name="Shape 1"/>
            <p:cNvSpPr/>
            <p:nvPr/>
          </p:nvSpPr>
          <p:spPr>
            <a:xfrm>
              <a:off x="365760" y="1115568"/>
              <a:ext cx="11457432" cy="34747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2" name="Shape 2"/>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3" name="Shape 3"/>
            <p:cNvSpPr/>
            <p:nvPr/>
          </p:nvSpPr>
          <p:spPr>
            <a:xfrm>
              <a:off x="7909560" y="4590288"/>
              <a:ext cx="3913631"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4" name="Shape 4"/>
            <p:cNvSpPr/>
            <p:nvPr/>
          </p:nvSpPr>
          <p:spPr>
            <a:xfrm>
              <a:off x="365760" y="5413248"/>
              <a:ext cx="11457432" cy="941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5" name="Shape 5"/>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6" name="Shape 6"/>
            <p:cNvSpPr/>
            <p:nvPr/>
          </p:nvSpPr>
          <p:spPr>
            <a:xfrm>
              <a:off x="6592824" y="4599432"/>
              <a:ext cx="13075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7" name="Shape 7"/>
            <p:cNvSpPr/>
            <p:nvPr/>
          </p:nvSpPr>
          <p:spPr>
            <a:xfrm>
              <a:off x="4206240" y="3931920"/>
              <a:ext cx="47548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8" name="Text 8"/>
            <p:cNvSpPr txBox="1"/>
            <p:nvPr/>
          </p:nvSpPr>
          <p:spPr>
            <a:xfrm>
              <a:off x="4334255" y="3995928"/>
              <a:ext cx="44988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13 / 13   </a:t>
              </a:r>
              <a:r>
                <a:rPr sz="800" b="1" i="0" spc="120">
                  <a:solidFill>
                    <a:srgbClr val="FFFFFF"/>
                  </a:solidFill>
                  <a:latin typeface="Trenda IG Text"/>
                </a:rPr>
                <a:t>EVIDENCE ON EVERY CHANGE</a:t>
              </a:r>
            </a:p>
            <a:p>
              <a:pPr>
                <a:spcAft>
                  <a:spcPts val="200"/>
                </a:spcAft>
              </a:pPr>
              <a:r>
                <a:rPr sz="750" b="0" i="0">
                  <a:solidFill>
                    <a:srgbClr val="E6E6E6"/>
                  </a:solidFill>
                  <a:latin typeface="Trenda IG Text"/>
                </a:rPr>
                <a:t>Every step and every approval lands in the change passport; cycle time, defects, rework and cost per change are reported per pod. Not just automation: a controlled, auditable delivery process.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350"/>
                                        <p:tgtEl>
                                          <p:spTgt spid="238"/>
                                        </p:tgtEl>
                                      </p:cBhvr>
                                    </p:animEffect>
                                  </p:childTnLst>
                                </p:cTn>
                              </p:par>
                            </p:childTnLst>
                          </p:cTn>
                        </p:par>
                        <p:par>
                          <p:cTn id="8" fill="hold">
                            <p:stCondLst>
                              <p:cond delay="400"/>
                            </p:stCondLst>
                            <p:childTnLst>
                              <p:par>
                                <p:cTn id="9" presetID="22" presetClass="entr" presetSubtype="8" fill="hold" grpId="0" nodeType="afterEffect">
                                  <p:stCondLst>
                                    <p:cond delay="0"/>
                                  </p:stCondLst>
                                  <p:childTnLst>
                                    <p:set>
                                      <p:cBhvr>
                                        <p:cTn id="10" dur="1" fill="hold">
                                          <p:stCondLst>
                                            <p:cond delay="0"/>
                                          </p:stCondLst>
                                        </p:cTn>
                                        <p:tgtEl>
                                          <p:spTgt spid="251"/>
                                        </p:tgtEl>
                                        <p:attrNameLst>
                                          <p:attrName>style.visibility</p:attrName>
                                        </p:attrNameLst>
                                      </p:cBhvr>
                                      <p:to>
                                        <p:strVal val="visible"/>
                                      </p:to>
                                    </p:set>
                                    <p:animEffect transition="in" filter="wipe(left)">
                                      <p:cBhvr>
                                        <p:cTn id="11" dur="600"/>
                                        <p:tgtEl>
                                          <p:spTgt spid="2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250"/>
                                        <p:tgtEl>
                                          <p:spTgt spid="238"/>
                                        </p:tgtEl>
                                      </p:cBhvr>
                                    </p:animEffect>
                                    <p:set>
                                      <p:cBhvr>
                                        <p:cTn id="16" dur="1" fill="hold">
                                          <p:stCondLst>
                                            <p:cond delay="249"/>
                                          </p:stCondLst>
                                        </p:cTn>
                                        <p:tgtEl>
                                          <p:spTgt spid="238"/>
                                        </p:tgtEl>
                                        <p:attrNameLst>
                                          <p:attrName>style.visibility</p:attrName>
                                        </p:attrNameLst>
                                      </p:cBhvr>
                                      <p:to>
                                        <p:strVal val="hidden"/>
                                      </p:to>
                                    </p:set>
                                  </p:childTnLst>
                                </p:cTn>
                              </p:par>
                              <p:par>
                                <p:cTn id="17" presetID="10" presetClass="exit" presetSubtype="0" fill="hold" grpId="0" nodeType="withEffect">
                                  <p:stCondLst>
                                    <p:cond delay="0"/>
                                  </p:stCondLst>
                                  <p:childTnLst>
                                    <p:animEffect transition="out" filter="fade">
                                      <p:cBhvr>
                                        <p:cTn id="18" dur="250"/>
                                        <p:tgtEl>
                                          <p:spTgt spid="251"/>
                                        </p:tgtEl>
                                      </p:cBhvr>
                                    </p:animEffect>
                                    <p:set>
                                      <p:cBhvr>
                                        <p:cTn id="19" dur="1" fill="hold">
                                          <p:stCondLst>
                                            <p:cond delay="249"/>
                                          </p:stCondLst>
                                        </p:cTn>
                                        <p:tgtEl>
                                          <p:spTgt spid="25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21" dur="1" fill="hold">
                                          <p:stCondLst>
                                            <p:cond delay="0"/>
                                          </p:stCondLst>
                                        </p:cTn>
                                        <p:tgtEl>
                                          <p:spTgt spid="254"/>
                                        </p:tgtEl>
                                        <p:attrNameLst>
                                          <p:attrName>style.visibility</p:attrName>
                                        </p:attrNameLst>
                                      </p:cBhvr>
                                      <p:to>
                                        <p:strVal val="visible"/>
                                      </p:to>
                                    </p:set>
                                    <p:animEffect transition="in" filter="fade">
                                      <p:cBhvr>
                                        <p:cTn id="22" dur="350"/>
                                        <p:tgtEl>
                                          <p:spTgt spid="254"/>
                                        </p:tgtEl>
                                      </p:cBhvr>
                                    </p:animEffect>
                                  </p:childTnLst>
                                </p:cTn>
                              </p:par>
                            </p:childTnLst>
                          </p:cTn>
                        </p:par>
                        <p:par>
                          <p:cTn id="23" fill="hold">
                            <p:stCondLst>
                              <p:cond delay="4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600"/>
                                        <p:tgtEl>
                                          <p:spTgt spid="27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0" nodeType="clickEffect">
                                  <p:stCondLst>
                                    <p:cond delay="0"/>
                                  </p:stCondLst>
                                  <p:childTnLst>
                                    <p:animEffect transition="out" filter="fade">
                                      <p:cBhvr>
                                        <p:cTn id="30" dur="250"/>
                                        <p:tgtEl>
                                          <p:spTgt spid="254"/>
                                        </p:tgtEl>
                                      </p:cBhvr>
                                    </p:animEffect>
                                    <p:set>
                                      <p:cBhvr>
                                        <p:cTn id="31" dur="1" fill="hold">
                                          <p:stCondLst>
                                            <p:cond delay="249"/>
                                          </p:stCondLst>
                                        </p:cTn>
                                        <p:tgtEl>
                                          <p:spTgt spid="254"/>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3" dur="250"/>
                                        <p:tgtEl>
                                          <p:spTgt spid="275"/>
                                        </p:tgtEl>
                                      </p:cBhvr>
                                    </p:animEffect>
                                    <p:set>
                                      <p:cBhvr>
                                        <p:cTn id="34" dur="1" fill="hold">
                                          <p:stCondLst>
                                            <p:cond delay="249"/>
                                          </p:stCondLst>
                                        </p:cTn>
                                        <p:tgtEl>
                                          <p:spTgt spid="275"/>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350"/>
                                        <p:tgtEl>
                                          <p:spTgt spid="278"/>
                                        </p:tgtEl>
                                      </p:cBhvr>
                                    </p:animEffect>
                                  </p:childTnLst>
                                </p:cTn>
                              </p:par>
                            </p:childTnLst>
                          </p:cTn>
                        </p:par>
                        <p:par>
                          <p:cTn id="38" fill="hold">
                            <p:stCondLst>
                              <p:cond delay="400"/>
                            </p:stCondLst>
                            <p:childTnLst>
                              <p:par>
                                <p:cTn id="39" presetID="22" presetClass="entr" presetSubtype="8" fill="hold" grpId="0" nodeType="afterEffect">
                                  <p:stCondLst>
                                    <p:cond delay="0"/>
                                  </p:stCondLst>
                                  <p:childTnLst>
                                    <p:set>
                                      <p:cBhvr>
                                        <p:cTn id="40" dur="1" fill="hold">
                                          <p:stCondLst>
                                            <p:cond delay="0"/>
                                          </p:stCondLst>
                                        </p:cTn>
                                        <p:tgtEl>
                                          <p:spTgt spid="287"/>
                                        </p:tgtEl>
                                        <p:attrNameLst>
                                          <p:attrName>style.visibility</p:attrName>
                                        </p:attrNameLst>
                                      </p:cBhvr>
                                      <p:to>
                                        <p:strVal val="visible"/>
                                      </p:to>
                                    </p:set>
                                    <p:animEffect transition="in" filter="wipe(left)">
                                      <p:cBhvr>
                                        <p:cTn id="41" dur="600"/>
                                        <p:tgtEl>
                                          <p:spTgt spid="28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250"/>
                                        <p:tgtEl>
                                          <p:spTgt spid="278"/>
                                        </p:tgtEl>
                                      </p:cBhvr>
                                    </p:animEffect>
                                    <p:set>
                                      <p:cBhvr>
                                        <p:cTn id="46" dur="1" fill="hold">
                                          <p:stCondLst>
                                            <p:cond delay="249"/>
                                          </p:stCondLst>
                                        </p:cTn>
                                        <p:tgtEl>
                                          <p:spTgt spid="278"/>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250"/>
                                        <p:tgtEl>
                                          <p:spTgt spid="287"/>
                                        </p:tgtEl>
                                      </p:cBhvr>
                                    </p:animEffect>
                                    <p:set>
                                      <p:cBhvr>
                                        <p:cTn id="49" dur="1" fill="hold">
                                          <p:stCondLst>
                                            <p:cond delay="249"/>
                                          </p:stCondLst>
                                        </p:cTn>
                                        <p:tgtEl>
                                          <p:spTgt spid="287"/>
                                        </p:tgtEl>
                                        <p:attrNameLst>
                                          <p:attrName>style.visibility</p:attrName>
                                        </p:attrNameLst>
                                      </p:cBhvr>
                                      <p:to>
                                        <p:strVal val="hidden"/>
                                      </p:to>
                                    </p:set>
                                  </p:childTnLst>
                                </p:cTn>
                              </p:par>
                              <p:par>
                                <p:cTn id="50" presetID="10" presetClass="entr" presetSubtype="0" fill="hold" grpId="0" nodeType="withEffect">
                                  <p:stCondLst>
                                    <p:cond delay="0"/>
                                  </p:stCondLst>
                                  <p:childTnLst>
                                    <p:set>
                                      <p:cBhvr>
                                        <p:cTn id="51" dur="1" fill="hold">
                                          <p:stCondLst>
                                            <p:cond delay="0"/>
                                          </p:stCondLst>
                                        </p:cTn>
                                        <p:tgtEl>
                                          <p:spTgt spid="289"/>
                                        </p:tgtEl>
                                        <p:attrNameLst>
                                          <p:attrName>style.visibility</p:attrName>
                                        </p:attrNameLst>
                                      </p:cBhvr>
                                      <p:to>
                                        <p:strVal val="visible"/>
                                      </p:to>
                                    </p:set>
                                    <p:animEffect transition="in" filter="fade">
                                      <p:cBhvr>
                                        <p:cTn id="52" dur="350"/>
                                        <p:tgtEl>
                                          <p:spTgt spid="289"/>
                                        </p:tgtEl>
                                      </p:cBhvr>
                                    </p:animEffect>
                                  </p:childTnLst>
                                </p:cTn>
                              </p:par>
                            </p:childTnLst>
                          </p:cTn>
                        </p:par>
                        <p:par>
                          <p:cTn id="53" fill="hold">
                            <p:stCondLst>
                              <p:cond delay="400"/>
                            </p:stCondLst>
                            <p:childTnLst>
                              <p:par>
                                <p:cTn id="54" presetID="22" presetClass="entr" presetSubtype="8" fill="hold" grpId="0" nodeType="afterEffect">
                                  <p:stCondLst>
                                    <p:cond delay="0"/>
                                  </p:stCondLst>
                                  <p:childTnLst>
                                    <p:set>
                                      <p:cBhvr>
                                        <p:cTn id="55" dur="1" fill="hold">
                                          <p:stCondLst>
                                            <p:cond delay="0"/>
                                          </p:stCondLst>
                                        </p:cTn>
                                        <p:tgtEl>
                                          <p:spTgt spid="305"/>
                                        </p:tgtEl>
                                        <p:attrNameLst>
                                          <p:attrName>style.visibility</p:attrName>
                                        </p:attrNameLst>
                                      </p:cBhvr>
                                      <p:to>
                                        <p:strVal val="visible"/>
                                      </p:to>
                                    </p:set>
                                    <p:animEffect transition="in" filter="wipe(left)">
                                      <p:cBhvr>
                                        <p:cTn id="56" dur="600"/>
                                        <p:tgtEl>
                                          <p:spTgt spid="30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250"/>
                                        <p:tgtEl>
                                          <p:spTgt spid="289"/>
                                        </p:tgtEl>
                                      </p:cBhvr>
                                    </p:animEffect>
                                    <p:set>
                                      <p:cBhvr>
                                        <p:cTn id="61" dur="1" fill="hold">
                                          <p:stCondLst>
                                            <p:cond delay="249"/>
                                          </p:stCondLst>
                                        </p:cTn>
                                        <p:tgtEl>
                                          <p:spTgt spid="289"/>
                                        </p:tgtEl>
                                        <p:attrNameLst>
                                          <p:attrName>style.visibility</p:attrName>
                                        </p:attrNameLst>
                                      </p:cBhvr>
                                      <p:to>
                                        <p:strVal val="hidden"/>
                                      </p:to>
                                    </p:set>
                                  </p:childTnLst>
                                </p:cTn>
                              </p:par>
                              <p:par>
                                <p:cTn id="62" presetID="10" presetClass="exit" presetSubtype="0" fill="hold" grpId="0" nodeType="withEffect">
                                  <p:stCondLst>
                                    <p:cond delay="0"/>
                                  </p:stCondLst>
                                  <p:childTnLst>
                                    <p:animEffect transition="out" filter="fade">
                                      <p:cBhvr>
                                        <p:cTn id="63" dur="250"/>
                                        <p:tgtEl>
                                          <p:spTgt spid="305"/>
                                        </p:tgtEl>
                                      </p:cBhvr>
                                    </p:animEffect>
                                    <p:set>
                                      <p:cBhvr>
                                        <p:cTn id="64" dur="1" fill="hold">
                                          <p:stCondLst>
                                            <p:cond delay="249"/>
                                          </p:stCondLst>
                                        </p:cTn>
                                        <p:tgtEl>
                                          <p:spTgt spid="305"/>
                                        </p:tgtEl>
                                        <p:attrNameLst>
                                          <p:attrName>style.visibility</p:attrName>
                                        </p:attrNameLst>
                                      </p:cBhvr>
                                      <p:to>
                                        <p:strVal val="hidden"/>
                                      </p:to>
                                    </p:set>
                                  </p:childTnLst>
                                </p:cTn>
                              </p:par>
                              <p:par>
                                <p:cTn id="65" presetID="10" presetClass="entr" presetSubtype="0" fill="hold" grpId="0" nodeType="withEffect">
                                  <p:stCondLst>
                                    <p:cond delay="0"/>
                                  </p:stCondLst>
                                  <p:childTnLst>
                                    <p:set>
                                      <p:cBhvr>
                                        <p:cTn id="66" dur="1" fill="hold">
                                          <p:stCondLst>
                                            <p:cond delay="0"/>
                                          </p:stCondLst>
                                        </p:cTn>
                                        <p:tgtEl>
                                          <p:spTgt spid="308"/>
                                        </p:tgtEl>
                                        <p:attrNameLst>
                                          <p:attrName>style.visibility</p:attrName>
                                        </p:attrNameLst>
                                      </p:cBhvr>
                                      <p:to>
                                        <p:strVal val="visible"/>
                                      </p:to>
                                    </p:set>
                                    <p:animEffect transition="in" filter="fade">
                                      <p:cBhvr>
                                        <p:cTn id="67" dur="350"/>
                                        <p:tgtEl>
                                          <p:spTgt spid="308"/>
                                        </p:tgtEl>
                                      </p:cBhvr>
                                    </p:animEffect>
                                  </p:childTnLst>
                                </p:cTn>
                              </p:par>
                            </p:childTnLst>
                          </p:cTn>
                        </p:par>
                        <p:par>
                          <p:cTn id="68" fill="hold">
                            <p:stCondLst>
                              <p:cond delay="400"/>
                            </p:stCondLst>
                            <p:childTnLst>
                              <p:par>
                                <p:cTn id="69" presetID="22" presetClass="entr" presetSubtype="8" fill="hold" grpId="0" nodeType="afterEffect">
                                  <p:stCondLst>
                                    <p:cond delay="0"/>
                                  </p:stCondLst>
                                  <p:childTnLst>
                                    <p:set>
                                      <p:cBhvr>
                                        <p:cTn id="70" dur="1" fill="hold">
                                          <p:stCondLst>
                                            <p:cond delay="0"/>
                                          </p:stCondLst>
                                        </p:cTn>
                                        <p:tgtEl>
                                          <p:spTgt spid="330"/>
                                        </p:tgtEl>
                                        <p:attrNameLst>
                                          <p:attrName>style.visibility</p:attrName>
                                        </p:attrNameLst>
                                      </p:cBhvr>
                                      <p:to>
                                        <p:strVal val="visible"/>
                                      </p:to>
                                    </p:set>
                                    <p:animEffect transition="in" filter="wipe(left)">
                                      <p:cBhvr>
                                        <p:cTn id="71" dur="600"/>
                                        <p:tgtEl>
                                          <p:spTgt spid="330"/>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grpId="0" nodeType="clickEffect">
                                  <p:stCondLst>
                                    <p:cond delay="0"/>
                                  </p:stCondLst>
                                  <p:childTnLst>
                                    <p:animEffect transition="out" filter="fade">
                                      <p:cBhvr>
                                        <p:cTn id="75" dur="250"/>
                                        <p:tgtEl>
                                          <p:spTgt spid="308"/>
                                        </p:tgtEl>
                                      </p:cBhvr>
                                    </p:animEffect>
                                    <p:set>
                                      <p:cBhvr>
                                        <p:cTn id="76" dur="1" fill="hold">
                                          <p:stCondLst>
                                            <p:cond delay="249"/>
                                          </p:stCondLst>
                                        </p:cTn>
                                        <p:tgtEl>
                                          <p:spTgt spid="30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8" dur="250"/>
                                        <p:tgtEl>
                                          <p:spTgt spid="330"/>
                                        </p:tgtEl>
                                      </p:cBhvr>
                                    </p:animEffect>
                                    <p:set>
                                      <p:cBhvr>
                                        <p:cTn id="79" dur="1" fill="hold">
                                          <p:stCondLst>
                                            <p:cond delay="249"/>
                                          </p:stCondLst>
                                        </p:cTn>
                                        <p:tgtEl>
                                          <p:spTgt spid="330"/>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81" dur="1" fill="hold">
                                          <p:stCondLst>
                                            <p:cond delay="0"/>
                                          </p:stCondLst>
                                        </p:cTn>
                                        <p:tgtEl>
                                          <p:spTgt spid="337"/>
                                        </p:tgtEl>
                                        <p:attrNameLst>
                                          <p:attrName>style.visibility</p:attrName>
                                        </p:attrNameLst>
                                      </p:cBhvr>
                                      <p:to>
                                        <p:strVal val="visible"/>
                                      </p:to>
                                    </p:set>
                                    <p:animEffect transition="in" filter="fade">
                                      <p:cBhvr>
                                        <p:cTn id="82" dur="350"/>
                                        <p:tgtEl>
                                          <p:spTgt spid="337"/>
                                        </p:tgtEl>
                                      </p:cBhvr>
                                    </p:animEffect>
                                  </p:childTnLst>
                                </p:cTn>
                              </p:par>
                            </p:childTnLst>
                          </p:cTn>
                        </p:par>
                        <p:par>
                          <p:cTn id="83" fill="hold">
                            <p:stCondLst>
                              <p:cond delay="400"/>
                            </p:stCondLst>
                            <p:childTnLst>
                              <p:par>
                                <p:cTn id="84" presetID="22" presetClass="entr" presetSubtype="8" fill="hold" grpId="0" nodeType="afterEffect">
                                  <p:stCondLst>
                                    <p:cond delay="0"/>
                                  </p:stCondLst>
                                  <p:childTnLst>
                                    <p:set>
                                      <p:cBhvr>
                                        <p:cTn id="85" dur="1" fill="hold">
                                          <p:stCondLst>
                                            <p:cond delay="0"/>
                                          </p:stCondLst>
                                        </p:cTn>
                                        <p:tgtEl>
                                          <p:spTgt spid="359"/>
                                        </p:tgtEl>
                                        <p:attrNameLst>
                                          <p:attrName>style.visibility</p:attrName>
                                        </p:attrNameLst>
                                      </p:cBhvr>
                                      <p:to>
                                        <p:strVal val="visible"/>
                                      </p:to>
                                    </p:set>
                                    <p:animEffect transition="in" filter="wipe(left)">
                                      <p:cBhvr>
                                        <p:cTn id="86" dur="600"/>
                                        <p:tgtEl>
                                          <p:spTgt spid="35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grpId="0" nodeType="clickEffect">
                                  <p:stCondLst>
                                    <p:cond delay="0"/>
                                  </p:stCondLst>
                                  <p:childTnLst>
                                    <p:animEffect transition="out" filter="fade">
                                      <p:cBhvr>
                                        <p:cTn id="90" dur="250"/>
                                        <p:tgtEl>
                                          <p:spTgt spid="337"/>
                                        </p:tgtEl>
                                      </p:cBhvr>
                                    </p:animEffect>
                                    <p:set>
                                      <p:cBhvr>
                                        <p:cTn id="91" dur="1" fill="hold">
                                          <p:stCondLst>
                                            <p:cond delay="249"/>
                                          </p:stCondLst>
                                        </p:cTn>
                                        <p:tgtEl>
                                          <p:spTgt spid="337"/>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250"/>
                                        <p:tgtEl>
                                          <p:spTgt spid="359"/>
                                        </p:tgtEl>
                                      </p:cBhvr>
                                    </p:animEffect>
                                    <p:set>
                                      <p:cBhvr>
                                        <p:cTn id="94" dur="1" fill="hold">
                                          <p:stCondLst>
                                            <p:cond delay="249"/>
                                          </p:stCondLst>
                                        </p:cTn>
                                        <p:tgtEl>
                                          <p:spTgt spid="359"/>
                                        </p:tgtEl>
                                        <p:attrNameLst>
                                          <p:attrName>style.visibility</p:attrName>
                                        </p:attrNameLst>
                                      </p:cBhvr>
                                      <p:to>
                                        <p:strVal val="hidden"/>
                                      </p:to>
                                    </p:set>
                                  </p:childTnLst>
                                </p:cTn>
                              </p:par>
                              <p:par>
                                <p:cTn id="95" presetID="10" presetClass="entr" presetSubtype="0" fill="hold" grpId="0" nodeType="withEffect">
                                  <p:stCondLst>
                                    <p:cond delay="0"/>
                                  </p:stCondLst>
                                  <p:childTnLst>
                                    <p:set>
                                      <p:cBhvr>
                                        <p:cTn id="96" dur="1" fill="hold">
                                          <p:stCondLst>
                                            <p:cond delay="0"/>
                                          </p:stCondLst>
                                        </p:cTn>
                                        <p:tgtEl>
                                          <p:spTgt spid="370"/>
                                        </p:tgtEl>
                                        <p:attrNameLst>
                                          <p:attrName>style.visibility</p:attrName>
                                        </p:attrNameLst>
                                      </p:cBhvr>
                                      <p:to>
                                        <p:strVal val="visible"/>
                                      </p:to>
                                    </p:set>
                                    <p:animEffect transition="in" filter="fade">
                                      <p:cBhvr>
                                        <p:cTn id="97" dur="350"/>
                                        <p:tgtEl>
                                          <p:spTgt spid="370"/>
                                        </p:tgtEl>
                                      </p:cBhvr>
                                    </p:animEffect>
                                  </p:childTnLst>
                                </p:cTn>
                              </p:par>
                            </p:childTnLst>
                          </p:cTn>
                        </p:par>
                        <p:par>
                          <p:cTn id="98" fill="hold">
                            <p:stCondLst>
                              <p:cond delay="400"/>
                            </p:stCondLst>
                            <p:childTnLst>
                              <p:par>
                                <p:cTn id="99" presetID="22" presetClass="entr" presetSubtype="8" fill="hold" grpId="0" nodeType="afterEffect">
                                  <p:stCondLst>
                                    <p:cond delay="0"/>
                                  </p:stCondLst>
                                  <p:childTnLst>
                                    <p:set>
                                      <p:cBhvr>
                                        <p:cTn id="100" dur="1" fill="hold">
                                          <p:stCondLst>
                                            <p:cond delay="0"/>
                                          </p:stCondLst>
                                        </p:cTn>
                                        <p:tgtEl>
                                          <p:spTgt spid="390"/>
                                        </p:tgtEl>
                                        <p:attrNameLst>
                                          <p:attrName>style.visibility</p:attrName>
                                        </p:attrNameLst>
                                      </p:cBhvr>
                                      <p:to>
                                        <p:strVal val="visible"/>
                                      </p:to>
                                    </p:set>
                                    <p:animEffect transition="in" filter="wipe(left)">
                                      <p:cBhvr>
                                        <p:cTn id="101" dur="600"/>
                                        <p:tgtEl>
                                          <p:spTgt spid="39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grpId="0" nodeType="clickEffect">
                                  <p:stCondLst>
                                    <p:cond delay="0"/>
                                  </p:stCondLst>
                                  <p:childTnLst>
                                    <p:animEffect transition="out" filter="fade">
                                      <p:cBhvr>
                                        <p:cTn id="105" dur="250"/>
                                        <p:tgtEl>
                                          <p:spTgt spid="370"/>
                                        </p:tgtEl>
                                      </p:cBhvr>
                                    </p:animEffect>
                                    <p:set>
                                      <p:cBhvr>
                                        <p:cTn id="106" dur="1" fill="hold">
                                          <p:stCondLst>
                                            <p:cond delay="249"/>
                                          </p:stCondLst>
                                        </p:cTn>
                                        <p:tgtEl>
                                          <p:spTgt spid="370"/>
                                        </p:tgtEl>
                                        <p:attrNameLst>
                                          <p:attrName>style.visibility</p:attrName>
                                        </p:attrNameLst>
                                      </p:cBhvr>
                                      <p:to>
                                        <p:strVal val="hidden"/>
                                      </p:to>
                                    </p:set>
                                  </p:childTnLst>
                                </p:cTn>
                              </p:par>
                              <p:par>
                                <p:cTn id="107" presetID="10" presetClass="exit" presetSubtype="0" fill="hold" grpId="0" nodeType="withEffect">
                                  <p:stCondLst>
                                    <p:cond delay="0"/>
                                  </p:stCondLst>
                                  <p:childTnLst>
                                    <p:animEffect transition="out" filter="fade">
                                      <p:cBhvr>
                                        <p:cTn id="108" dur="250"/>
                                        <p:tgtEl>
                                          <p:spTgt spid="390"/>
                                        </p:tgtEl>
                                      </p:cBhvr>
                                    </p:animEffect>
                                    <p:set>
                                      <p:cBhvr>
                                        <p:cTn id="109" dur="1" fill="hold">
                                          <p:stCondLst>
                                            <p:cond delay="249"/>
                                          </p:stCondLst>
                                        </p:cTn>
                                        <p:tgtEl>
                                          <p:spTgt spid="390"/>
                                        </p:tgtEl>
                                        <p:attrNameLst>
                                          <p:attrName>style.visibility</p:attrName>
                                        </p:attrNameLst>
                                      </p:cBhvr>
                                      <p:to>
                                        <p:strVal val="hidden"/>
                                      </p:to>
                                    </p:set>
                                  </p:childTnLst>
                                </p:cTn>
                              </p:par>
                              <p:par>
                                <p:cTn id="110" presetID="10" presetClass="entr" presetSubtype="0" fill="hold" grpId="0" nodeType="withEffect">
                                  <p:stCondLst>
                                    <p:cond delay="0"/>
                                  </p:stCondLst>
                                  <p:childTnLst>
                                    <p:set>
                                      <p:cBhvr>
                                        <p:cTn id="111" dur="1" fill="hold">
                                          <p:stCondLst>
                                            <p:cond delay="0"/>
                                          </p:stCondLst>
                                        </p:cTn>
                                        <p:tgtEl>
                                          <p:spTgt spid="396"/>
                                        </p:tgtEl>
                                        <p:attrNameLst>
                                          <p:attrName>style.visibility</p:attrName>
                                        </p:attrNameLst>
                                      </p:cBhvr>
                                      <p:to>
                                        <p:strVal val="visible"/>
                                      </p:to>
                                    </p:set>
                                    <p:animEffect transition="in" filter="fade">
                                      <p:cBhvr>
                                        <p:cTn id="112" dur="350"/>
                                        <p:tgtEl>
                                          <p:spTgt spid="396"/>
                                        </p:tgtEl>
                                      </p:cBhvr>
                                    </p:animEffect>
                                  </p:childTnLst>
                                </p:cTn>
                              </p:par>
                            </p:childTnLst>
                          </p:cTn>
                        </p:par>
                        <p:par>
                          <p:cTn id="113" fill="hold">
                            <p:stCondLst>
                              <p:cond delay="400"/>
                            </p:stCondLst>
                            <p:childTnLst>
                              <p:par>
                                <p:cTn id="114" presetID="22" presetClass="entr" presetSubtype="8" fill="hold" grpId="0" nodeType="afterEffect">
                                  <p:stCondLst>
                                    <p:cond delay="0"/>
                                  </p:stCondLst>
                                  <p:childTnLst>
                                    <p:set>
                                      <p:cBhvr>
                                        <p:cTn id="115" dur="1" fill="hold">
                                          <p:stCondLst>
                                            <p:cond delay="0"/>
                                          </p:stCondLst>
                                        </p:cTn>
                                        <p:tgtEl>
                                          <p:spTgt spid="422"/>
                                        </p:tgtEl>
                                        <p:attrNameLst>
                                          <p:attrName>style.visibility</p:attrName>
                                        </p:attrNameLst>
                                      </p:cBhvr>
                                      <p:to>
                                        <p:strVal val="visible"/>
                                      </p:to>
                                    </p:set>
                                    <p:animEffect transition="in" filter="wipe(left)">
                                      <p:cBhvr>
                                        <p:cTn id="116" dur="600"/>
                                        <p:tgtEl>
                                          <p:spTgt spid="422"/>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grpId="0" nodeType="clickEffect">
                                  <p:stCondLst>
                                    <p:cond delay="0"/>
                                  </p:stCondLst>
                                  <p:childTnLst>
                                    <p:animEffect transition="out" filter="fade">
                                      <p:cBhvr>
                                        <p:cTn id="120" dur="250"/>
                                        <p:tgtEl>
                                          <p:spTgt spid="396"/>
                                        </p:tgtEl>
                                      </p:cBhvr>
                                    </p:animEffect>
                                    <p:set>
                                      <p:cBhvr>
                                        <p:cTn id="121" dur="1" fill="hold">
                                          <p:stCondLst>
                                            <p:cond delay="249"/>
                                          </p:stCondLst>
                                        </p:cTn>
                                        <p:tgtEl>
                                          <p:spTgt spid="396"/>
                                        </p:tgtEl>
                                        <p:attrNameLst>
                                          <p:attrName>style.visibility</p:attrName>
                                        </p:attrNameLst>
                                      </p:cBhvr>
                                      <p:to>
                                        <p:strVal val="hidden"/>
                                      </p:to>
                                    </p:set>
                                  </p:childTnLst>
                                </p:cTn>
                              </p:par>
                              <p:par>
                                <p:cTn id="122" presetID="10" presetClass="exit" presetSubtype="0" fill="hold" grpId="0" nodeType="withEffect">
                                  <p:stCondLst>
                                    <p:cond delay="0"/>
                                  </p:stCondLst>
                                  <p:childTnLst>
                                    <p:animEffect transition="out" filter="fade">
                                      <p:cBhvr>
                                        <p:cTn id="123" dur="250"/>
                                        <p:tgtEl>
                                          <p:spTgt spid="422"/>
                                        </p:tgtEl>
                                      </p:cBhvr>
                                    </p:animEffect>
                                    <p:set>
                                      <p:cBhvr>
                                        <p:cTn id="124" dur="1" fill="hold">
                                          <p:stCondLst>
                                            <p:cond delay="249"/>
                                          </p:stCondLst>
                                        </p:cTn>
                                        <p:tgtEl>
                                          <p:spTgt spid="422"/>
                                        </p:tgtEl>
                                        <p:attrNameLst>
                                          <p:attrName>style.visibility</p:attrName>
                                        </p:attrNameLst>
                                      </p:cBhvr>
                                      <p:to>
                                        <p:strVal val="hidden"/>
                                      </p:to>
                                    </p:set>
                                  </p:childTnLst>
                                </p:cTn>
                              </p:par>
                              <p:par>
                                <p:cTn id="125" presetID="10" presetClass="entr" presetSubtype="0" fill="hold" grpId="0" nodeType="withEffect">
                                  <p:stCondLst>
                                    <p:cond delay="0"/>
                                  </p:stCondLst>
                                  <p:childTnLst>
                                    <p:set>
                                      <p:cBhvr>
                                        <p:cTn id="126" dur="1" fill="hold">
                                          <p:stCondLst>
                                            <p:cond delay="0"/>
                                          </p:stCondLst>
                                        </p:cTn>
                                        <p:tgtEl>
                                          <p:spTgt spid="428"/>
                                        </p:tgtEl>
                                        <p:attrNameLst>
                                          <p:attrName>style.visibility</p:attrName>
                                        </p:attrNameLst>
                                      </p:cBhvr>
                                      <p:to>
                                        <p:strVal val="visible"/>
                                      </p:to>
                                    </p:set>
                                    <p:animEffect transition="in" filter="fade">
                                      <p:cBhvr>
                                        <p:cTn id="127" dur="350"/>
                                        <p:tgtEl>
                                          <p:spTgt spid="428"/>
                                        </p:tgtEl>
                                      </p:cBhvr>
                                    </p:animEffect>
                                  </p:childTnLst>
                                </p:cTn>
                              </p:par>
                            </p:childTnLst>
                          </p:cTn>
                        </p:par>
                        <p:par>
                          <p:cTn id="128" fill="hold">
                            <p:stCondLst>
                              <p:cond delay="400"/>
                            </p:stCondLst>
                            <p:childTnLst>
                              <p:par>
                                <p:cTn id="129" presetID="22" presetClass="entr" presetSubtype="8" fill="hold" grpId="0" nodeType="afterEffect">
                                  <p:stCondLst>
                                    <p:cond delay="0"/>
                                  </p:stCondLst>
                                  <p:childTnLst>
                                    <p:set>
                                      <p:cBhvr>
                                        <p:cTn id="130" dur="1" fill="hold">
                                          <p:stCondLst>
                                            <p:cond delay="0"/>
                                          </p:stCondLst>
                                        </p:cTn>
                                        <p:tgtEl>
                                          <p:spTgt spid="462"/>
                                        </p:tgtEl>
                                        <p:attrNameLst>
                                          <p:attrName>style.visibility</p:attrName>
                                        </p:attrNameLst>
                                      </p:cBhvr>
                                      <p:to>
                                        <p:strVal val="visible"/>
                                      </p:to>
                                    </p:set>
                                    <p:animEffect transition="in" filter="wipe(left)">
                                      <p:cBhvr>
                                        <p:cTn id="131" dur="600"/>
                                        <p:tgtEl>
                                          <p:spTgt spid="462"/>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xit" presetSubtype="0" fill="hold" grpId="0" nodeType="clickEffect">
                                  <p:stCondLst>
                                    <p:cond delay="0"/>
                                  </p:stCondLst>
                                  <p:childTnLst>
                                    <p:animEffect transition="out" filter="fade">
                                      <p:cBhvr>
                                        <p:cTn id="135" dur="250"/>
                                        <p:tgtEl>
                                          <p:spTgt spid="428"/>
                                        </p:tgtEl>
                                      </p:cBhvr>
                                    </p:animEffect>
                                    <p:set>
                                      <p:cBhvr>
                                        <p:cTn id="136" dur="1" fill="hold">
                                          <p:stCondLst>
                                            <p:cond delay="249"/>
                                          </p:stCondLst>
                                        </p:cTn>
                                        <p:tgtEl>
                                          <p:spTgt spid="428"/>
                                        </p:tgtEl>
                                        <p:attrNameLst>
                                          <p:attrName>style.visibility</p:attrName>
                                        </p:attrNameLst>
                                      </p:cBhvr>
                                      <p:to>
                                        <p:strVal val="hidden"/>
                                      </p:to>
                                    </p:set>
                                  </p:childTnLst>
                                </p:cTn>
                              </p:par>
                              <p:par>
                                <p:cTn id="137" presetID="10" presetClass="exit" presetSubtype="0" fill="hold" grpId="0" nodeType="withEffect">
                                  <p:stCondLst>
                                    <p:cond delay="0"/>
                                  </p:stCondLst>
                                  <p:childTnLst>
                                    <p:animEffect transition="out" filter="fade">
                                      <p:cBhvr>
                                        <p:cTn id="138" dur="250"/>
                                        <p:tgtEl>
                                          <p:spTgt spid="462"/>
                                        </p:tgtEl>
                                      </p:cBhvr>
                                    </p:animEffect>
                                    <p:set>
                                      <p:cBhvr>
                                        <p:cTn id="139" dur="1" fill="hold">
                                          <p:stCondLst>
                                            <p:cond delay="249"/>
                                          </p:stCondLst>
                                        </p:cTn>
                                        <p:tgtEl>
                                          <p:spTgt spid="462"/>
                                        </p:tgtEl>
                                        <p:attrNameLst>
                                          <p:attrName>style.visibility</p:attrName>
                                        </p:attrNameLst>
                                      </p:cBhvr>
                                      <p:to>
                                        <p:strVal val="hidden"/>
                                      </p:to>
                                    </p:set>
                                  </p:childTnLst>
                                </p:cTn>
                              </p:par>
                              <p:par>
                                <p:cTn id="140" presetID="10" presetClass="entr" presetSubtype="0" fill="hold" grpId="0" nodeType="withEffect">
                                  <p:stCondLst>
                                    <p:cond delay="0"/>
                                  </p:stCondLst>
                                  <p:childTnLst>
                                    <p:set>
                                      <p:cBhvr>
                                        <p:cTn id="141" dur="1" fill="hold">
                                          <p:stCondLst>
                                            <p:cond delay="0"/>
                                          </p:stCondLst>
                                        </p:cTn>
                                        <p:tgtEl>
                                          <p:spTgt spid="468"/>
                                        </p:tgtEl>
                                        <p:attrNameLst>
                                          <p:attrName>style.visibility</p:attrName>
                                        </p:attrNameLst>
                                      </p:cBhvr>
                                      <p:to>
                                        <p:strVal val="visible"/>
                                      </p:to>
                                    </p:set>
                                    <p:animEffect transition="in" filter="fade">
                                      <p:cBhvr>
                                        <p:cTn id="142" dur="350"/>
                                        <p:tgtEl>
                                          <p:spTgt spid="468"/>
                                        </p:tgtEl>
                                      </p:cBhvr>
                                    </p:animEffect>
                                  </p:childTnLst>
                                </p:cTn>
                              </p:par>
                            </p:childTnLst>
                          </p:cTn>
                        </p:par>
                        <p:par>
                          <p:cTn id="143" fill="hold">
                            <p:stCondLst>
                              <p:cond delay="400"/>
                            </p:stCondLst>
                            <p:childTnLst>
                              <p:par>
                                <p:cTn id="144" presetID="22" presetClass="entr" presetSubtype="8" fill="hold" grpId="0" nodeType="afterEffect">
                                  <p:stCondLst>
                                    <p:cond delay="0"/>
                                  </p:stCondLst>
                                  <p:childTnLst>
                                    <p:set>
                                      <p:cBhvr>
                                        <p:cTn id="145" dur="1" fill="hold">
                                          <p:stCondLst>
                                            <p:cond delay="0"/>
                                          </p:stCondLst>
                                        </p:cTn>
                                        <p:tgtEl>
                                          <p:spTgt spid="490"/>
                                        </p:tgtEl>
                                        <p:attrNameLst>
                                          <p:attrName>style.visibility</p:attrName>
                                        </p:attrNameLst>
                                      </p:cBhvr>
                                      <p:to>
                                        <p:strVal val="visible"/>
                                      </p:to>
                                    </p:set>
                                    <p:animEffect transition="in" filter="wipe(left)">
                                      <p:cBhvr>
                                        <p:cTn id="146" dur="600"/>
                                        <p:tgtEl>
                                          <p:spTgt spid="490"/>
                                        </p:tgtEl>
                                      </p:cBhvr>
                                    </p:animEffect>
                                  </p:childTnLst>
                                </p:cTn>
                              </p:par>
                            </p:childTnLst>
                          </p:cTn>
                        </p:par>
                      </p:childTnLst>
                    </p:cTn>
                  </p:par>
                  <p:par>
                    <p:cTn id="147" fill="hold">
                      <p:stCondLst>
                        <p:cond delay="indefinite"/>
                      </p:stCondLst>
                      <p:childTnLst>
                        <p:par>
                          <p:cTn id="148" fill="hold">
                            <p:stCondLst>
                              <p:cond delay="0"/>
                            </p:stCondLst>
                            <p:childTnLst>
                              <p:par>
                                <p:cTn id="149" presetID="10" presetClass="exit" presetSubtype="0" fill="hold" grpId="0" nodeType="clickEffect">
                                  <p:stCondLst>
                                    <p:cond delay="0"/>
                                  </p:stCondLst>
                                  <p:childTnLst>
                                    <p:animEffect transition="out" filter="fade">
                                      <p:cBhvr>
                                        <p:cTn id="150" dur="250"/>
                                        <p:tgtEl>
                                          <p:spTgt spid="468"/>
                                        </p:tgtEl>
                                      </p:cBhvr>
                                    </p:animEffect>
                                    <p:set>
                                      <p:cBhvr>
                                        <p:cTn id="151" dur="1" fill="hold">
                                          <p:stCondLst>
                                            <p:cond delay="249"/>
                                          </p:stCondLst>
                                        </p:cTn>
                                        <p:tgtEl>
                                          <p:spTgt spid="468"/>
                                        </p:tgtEl>
                                        <p:attrNameLst>
                                          <p:attrName>style.visibility</p:attrName>
                                        </p:attrNameLst>
                                      </p:cBhvr>
                                      <p:to>
                                        <p:strVal val="hidden"/>
                                      </p:to>
                                    </p:set>
                                  </p:childTnLst>
                                </p:cTn>
                              </p:par>
                              <p:par>
                                <p:cTn id="152" presetID="10" presetClass="exit" presetSubtype="0" fill="hold" grpId="0" nodeType="withEffect">
                                  <p:stCondLst>
                                    <p:cond delay="0"/>
                                  </p:stCondLst>
                                  <p:childTnLst>
                                    <p:animEffect transition="out" filter="fade">
                                      <p:cBhvr>
                                        <p:cTn id="153" dur="250"/>
                                        <p:tgtEl>
                                          <p:spTgt spid="490"/>
                                        </p:tgtEl>
                                      </p:cBhvr>
                                    </p:animEffect>
                                    <p:set>
                                      <p:cBhvr>
                                        <p:cTn id="154" dur="1" fill="hold">
                                          <p:stCondLst>
                                            <p:cond delay="249"/>
                                          </p:stCondLst>
                                        </p:cTn>
                                        <p:tgtEl>
                                          <p:spTgt spid="490"/>
                                        </p:tgtEl>
                                        <p:attrNameLst>
                                          <p:attrName>style.visibility</p:attrName>
                                        </p:attrNameLst>
                                      </p:cBhvr>
                                      <p:to>
                                        <p:strVal val="hidden"/>
                                      </p:to>
                                    </p:set>
                                  </p:childTnLst>
                                </p:cTn>
                              </p:par>
                              <p:par>
                                <p:cTn id="155" presetID="10" presetClass="entr" presetSubtype="0" fill="hold" grpId="0" nodeType="withEffect">
                                  <p:stCondLst>
                                    <p:cond delay="0"/>
                                  </p:stCondLst>
                                  <p:childTnLst>
                                    <p:set>
                                      <p:cBhvr>
                                        <p:cTn id="156" dur="1" fill="hold">
                                          <p:stCondLst>
                                            <p:cond delay="0"/>
                                          </p:stCondLst>
                                        </p:cTn>
                                        <p:tgtEl>
                                          <p:spTgt spid="496"/>
                                        </p:tgtEl>
                                        <p:attrNameLst>
                                          <p:attrName>style.visibility</p:attrName>
                                        </p:attrNameLst>
                                      </p:cBhvr>
                                      <p:to>
                                        <p:strVal val="visible"/>
                                      </p:to>
                                    </p:set>
                                    <p:animEffect transition="in" filter="fade">
                                      <p:cBhvr>
                                        <p:cTn id="157" dur="350"/>
                                        <p:tgtEl>
                                          <p:spTgt spid="496"/>
                                        </p:tgtEl>
                                      </p:cBhvr>
                                    </p:animEffect>
                                  </p:childTnLst>
                                </p:cTn>
                              </p:par>
                            </p:childTnLst>
                          </p:cTn>
                        </p:par>
                        <p:par>
                          <p:cTn id="158" fill="hold">
                            <p:stCondLst>
                              <p:cond delay="400"/>
                            </p:stCondLst>
                            <p:childTnLst>
                              <p:par>
                                <p:cTn id="159" presetID="22" presetClass="entr" presetSubtype="8" fill="hold" grpId="0" nodeType="afterEffect">
                                  <p:stCondLst>
                                    <p:cond delay="0"/>
                                  </p:stCondLst>
                                  <p:childTnLst>
                                    <p:set>
                                      <p:cBhvr>
                                        <p:cTn id="160" dur="1" fill="hold">
                                          <p:stCondLst>
                                            <p:cond delay="0"/>
                                          </p:stCondLst>
                                        </p:cTn>
                                        <p:tgtEl>
                                          <p:spTgt spid="516"/>
                                        </p:tgtEl>
                                        <p:attrNameLst>
                                          <p:attrName>style.visibility</p:attrName>
                                        </p:attrNameLst>
                                      </p:cBhvr>
                                      <p:to>
                                        <p:strVal val="visible"/>
                                      </p:to>
                                    </p:set>
                                    <p:animEffect transition="in" filter="wipe(left)">
                                      <p:cBhvr>
                                        <p:cTn id="161" dur="600"/>
                                        <p:tgtEl>
                                          <p:spTgt spid="516"/>
                                        </p:tgtEl>
                                      </p:cBhvr>
                                    </p:animEffect>
                                  </p:childTnLst>
                                </p:cTn>
                              </p:par>
                            </p:childTnLst>
                          </p:cTn>
                        </p:par>
                      </p:childTnLst>
                    </p:cTn>
                  </p:par>
                  <p:par>
                    <p:cTn id="162" fill="hold">
                      <p:stCondLst>
                        <p:cond delay="indefinite"/>
                      </p:stCondLst>
                      <p:childTnLst>
                        <p:par>
                          <p:cTn id="163" fill="hold">
                            <p:stCondLst>
                              <p:cond delay="0"/>
                            </p:stCondLst>
                            <p:childTnLst>
                              <p:par>
                                <p:cTn id="164" presetID="10" presetClass="exit" presetSubtype="0" fill="hold" grpId="0" nodeType="clickEffect">
                                  <p:stCondLst>
                                    <p:cond delay="0"/>
                                  </p:stCondLst>
                                  <p:childTnLst>
                                    <p:animEffect transition="out" filter="fade">
                                      <p:cBhvr>
                                        <p:cTn id="165" dur="250"/>
                                        <p:tgtEl>
                                          <p:spTgt spid="496"/>
                                        </p:tgtEl>
                                      </p:cBhvr>
                                    </p:animEffect>
                                    <p:set>
                                      <p:cBhvr>
                                        <p:cTn id="166" dur="1" fill="hold">
                                          <p:stCondLst>
                                            <p:cond delay="249"/>
                                          </p:stCondLst>
                                        </p:cTn>
                                        <p:tgtEl>
                                          <p:spTgt spid="496"/>
                                        </p:tgtEl>
                                        <p:attrNameLst>
                                          <p:attrName>style.visibility</p:attrName>
                                        </p:attrNameLst>
                                      </p:cBhvr>
                                      <p:to>
                                        <p:strVal val="hidden"/>
                                      </p:to>
                                    </p:set>
                                  </p:childTnLst>
                                </p:cTn>
                              </p:par>
                              <p:par>
                                <p:cTn id="167" presetID="10" presetClass="exit" presetSubtype="0" fill="hold" grpId="0" nodeType="withEffect">
                                  <p:stCondLst>
                                    <p:cond delay="0"/>
                                  </p:stCondLst>
                                  <p:childTnLst>
                                    <p:animEffect transition="out" filter="fade">
                                      <p:cBhvr>
                                        <p:cTn id="168" dur="250"/>
                                        <p:tgtEl>
                                          <p:spTgt spid="516"/>
                                        </p:tgtEl>
                                      </p:cBhvr>
                                    </p:animEffect>
                                    <p:set>
                                      <p:cBhvr>
                                        <p:cTn id="169" dur="1" fill="hold">
                                          <p:stCondLst>
                                            <p:cond delay="249"/>
                                          </p:stCondLst>
                                        </p:cTn>
                                        <p:tgtEl>
                                          <p:spTgt spid="516"/>
                                        </p:tgtEl>
                                        <p:attrNameLst>
                                          <p:attrName>style.visibility</p:attrName>
                                        </p:attrNameLst>
                                      </p:cBhvr>
                                      <p:to>
                                        <p:strVal val="hidden"/>
                                      </p:to>
                                    </p:set>
                                  </p:childTnLst>
                                </p:cTn>
                              </p:par>
                              <p:par>
                                <p:cTn id="170" presetID="10" presetClass="entr" presetSubtype="0" fill="hold" grpId="0" nodeType="withEffect">
                                  <p:stCondLst>
                                    <p:cond delay="0"/>
                                  </p:stCondLst>
                                  <p:childTnLst>
                                    <p:set>
                                      <p:cBhvr>
                                        <p:cTn id="171" dur="1" fill="hold">
                                          <p:stCondLst>
                                            <p:cond delay="0"/>
                                          </p:stCondLst>
                                        </p:cTn>
                                        <p:tgtEl>
                                          <p:spTgt spid="522"/>
                                        </p:tgtEl>
                                        <p:attrNameLst>
                                          <p:attrName>style.visibility</p:attrName>
                                        </p:attrNameLst>
                                      </p:cBhvr>
                                      <p:to>
                                        <p:strVal val="visible"/>
                                      </p:to>
                                    </p:set>
                                    <p:animEffect transition="in" filter="fade">
                                      <p:cBhvr>
                                        <p:cTn id="172" dur="350"/>
                                        <p:tgtEl>
                                          <p:spTgt spid="522"/>
                                        </p:tgtEl>
                                      </p:cBhvr>
                                    </p:animEffect>
                                  </p:childTnLst>
                                </p:cTn>
                              </p:par>
                            </p:childTnLst>
                          </p:cTn>
                        </p:par>
                        <p:par>
                          <p:cTn id="173" fill="hold">
                            <p:stCondLst>
                              <p:cond delay="400"/>
                            </p:stCondLst>
                            <p:childTnLst>
                              <p:par>
                                <p:cTn id="174" presetID="22" presetClass="entr" presetSubtype="8" fill="hold" grpId="0" nodeType="afterEffect">
                                  <p:stCondLst>
                                    <p:cond delay="0"/>
                                  </p:stCondLst>
                                  <p:childTnLst>
                                    <p:set>
                                      <p:cBhvr>
                                        <p:cTn id="175" dur="1" fill="hold">
                                          <p:stCondLst>
                                            <p:cond delay="0"/>
                                          </p:stCondLst>
                                        </p:cTn>
                                        <p:tgtEl>
                                          <p:spTgt spid="538"/>
                                        </p:tgtEl>
                                        <p:attrNameLst>
                                          <p:attrName>style.visibility</p:attrName>
                                        </p:attrNameLst>
                                      </p:cBhvr>
                                      <p:to>
                                        <p:strVal val="visible"/>
                                      </p:to>
                                    </p:set>
                                    <p:animEffect transition="in" filter="wipe(left)">
                                      <p:cBhvr>
                                        <p:cTn id="176" dur="600"/>
                                        <p:tgtEl>
                                          <p:spTgt spid="538"/>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xit" presetSubtype="0" fill="hold" grpId="0" nodeType="clickEffect">
                                  <p:stCondLst>
                                    <p:cond delay="0"/>
                                  </p:stCondLst>
                                  <p:childTnLst>
                                    <p:animEffect transition="out" filter="fade">
                                      <p:cBhvr>
                                        <p:cTn id="180" dur="250"/>
                                        <p:tgtEl>
                                          <p:spTgt spid="522"/>
                                        </p:tgtEl>
                                      </p:cBhvr>
                                    </p:animEffect>
                                    <p:set>
                                      <p:cBhvr>
                                        <p:cTn id="181" dur="1" fill="hold">
                                          <p:stCondLst>
                                            <p:cond delay="249"/>
                                          </p:stCondLst>
                                        </p:cTn>
                                        <p:tgtEl>
                                          <p:spTgt spid="522"/>
                                        </p:tgtEl>
                                        <p:attrNameLst>
                                          <p:attrName>style.visibility</p:attrName>
                                        </p:attrNameLst>
                                      </p:cBhvr>
                                      <p:to>
                                        <p:strVal val="hidden"/>
                                      </p:to>
                                    </p:set>
                                  </p:childTnLst>
                                </p:cTn>
                              </p:par>
                              <p:par>
                                <p:cTn id="182" presetID="10" presetClass="exit" presetSubtype="0" fill="hold" grpId="0" nodeType="withEffect">
                                  <p:stCondLst>
                                    <p:cond delay="0"/>
                                  </p:stCondLst>
                                  <p:childTnLst>
                                    <p:animEffect transition="out" filter="fade">
                                      <p:cBhvr>
                                        <p:cTn id="183" dur="250"/>
                                        <p:tgtEl>
                                          <p:spTgt spid="538"/>
                                        </p:tgtEl>
                                      </p:cBhvr>
                                    </p:animEffect>
                                    <p:set>
                                      <p:cBhvr>
                                        <p:cTn id="184" dur="1" fill="hold">
                                          <p:stCondLst>
                                            <p:cond delay="249"/>
                                          </p:stCondLst>
                                        </p:cTn>
                                        <p:tgtEl>
                                          <p:spTgt spid="538"/>
                                        </p:tgtEl>
                                        <p:attrNameLst>
                                          <p:attrName>style.visibility</p:attrName>
                                        </p:attrNameLst>
                                      </p:cBhvr>
                                      <p:to>
                                        <p:strVal val="hidden"/>
                                      </p:to>
                                    </p:set>
                                  </p:childTnLst>
                                </p:cTn>
                              </p:par>
                              <p:par>
                                <p:cTn id="185" presetID="10" presetClass="entr" presetSubtype="0" fill="hold" grpId="0" nodeType="withEffect">
                                  <p:stCondLst>
                                    <p:cond delay="0"/>
                                  </p:stCondLst>
                                  <p:childTnLst>
                                    <p:set>
                                      <p:cBhvr>
                                        <p:cTn id="186" dur="1" fill="hold">
                                          <p:stCondLst>
                                            <p:cond delay="0"/>
                                          </p:stCondLst>
                                        </p:cTn>
                                        <p:tgtEl>
                                          <p:spTgt spid="540"/>
                                        </p:tgtEl>
                                        <p:attrNameLst>
                                          <p:attrName>style.visibility</p:attrName>
                                        </p:attrNameLst>
                                      </p:cBhvr>
                                      <p:to>
                                        <p:strVal val="visible"/>
                                      </p:to>
                                    </p:set>
                                    <p:animEffect transition="in" filter="fade">
                                      <p:cBhvr>
                                        <p:cTn id="187" dur="350"/>
                                        <p:tgtEl>
                                          <p:spTgt spid="540"/>
                                        </p:tgtEl>
                                      </p:cBhvr>
                                    </p:animEffect>
                                  </p:childTnLst>
                                </p:cTn>
                              </p:par>
                            </p:childTnLst>
                          </p:cTn>
                        </p:par>
                      </p:childTnLst>
                    </p:cTn>
                  </p:par>
                  <p:par>
                    <p:cTn id="188" fill="hold">
                      <p:stCondLst>
                        <p:cond delay="indefinite"/>
                      </p:stCondLst>
                      <p:childTnLst>
                        <p:par>
                          <p:cTn id="189" fill="hold">
                            <p:stCondLst>
                              <p:cond delay="0"/>
                            </p:stCondLst>
                            <p:childTnLst>
                              <p:par>
                                <p:cTn id="190" presetID="10" presetClass="exit" presetSubtype="0" fill="hold" grpId="0" nodeType="clickEffect">
                                  <p:stCondLst>
                                    <p:cond delay="0"/>
                                  </p:stCondLst>
                                  <p:childTnLst>
                                    <p:animEffect transition="out" filter="fade">
                                      <p:cBhvr>
                                        <p:cTn id="191" dur="250"/>
                                        <p:tgtEl>
                                          <p:spTgt spid="540"/>
                                        </p:tgtEl>
                                      </p:cBhvr>
                                    </p:animEffect>
                                    <p:set>
                                      <p:cBhvr>
                                        <p:cTn id="192" dur="1" fill="hold">
                                          <p:stCondLst>
                                            <p:cond delay="249"/>
                                          </p:stCondLst>
                                        </p:cTn>
                                        <p:tgtEl>
                                          <p:spTgt spid="5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