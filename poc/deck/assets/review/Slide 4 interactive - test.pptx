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25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0" Type="http://schemas.openxmlformats.org/officeDocument/2006/relationships/slide" Target="slides/slide1.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 Id="rId4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4  |  Codex to Production: one campaign through the harness   (about 3 minutes)</a:t>
            </a:r>
          </a:p>
          <a:p>
            <a:r>
              <a:t>MAIN POINT: the complete governed lifecycle of one change, and every step waits for a human approval.</a:t>
            </a:r>
          </a:p>
          <a:p>
            <a:r>
              <a:t>Advance with Enter, Down arrow, Space or a click. The slide opens on the full design; each click spotlights the next part. Backspace or Up arrow goes back.</a:t>
            </a:r>
          </a:p>
          <a:p/>
          <a:p>
            <a:r>
              <a:t>[OPEN, full diagram] This is the main execution slide. Let's follow one Marketing Cloud campaign: the CHF post-discharge SMS nudge, Jira story VBC-412.</a:t>
            </a:r>
          </a:p>
          <a:p/>
          <a:p>
            <a:r>
              <a:t>[CLICK 1  Start in Salesforce] The marketer starts from the Agentic Harness console in Salesforce, gives the Jira key, picks the Marketing Cloud pod and attaches the design. Through Apex and a Named Credential the request reaches the harness, and Codex runs the delivery skills.</a:t>
            </a:r>
          </a:p>
          <a:p/>
          <a:p>
            <a:r>
              <a:t>[CLICK 2  Context first] Before anything is built, the Requirements Agent checks what already exists: the data extensions, journeys and Data Cloud segments in Salesforce, the Jira history and the Confluence design. The graph is filled by read-only connectors, with sources and snapshots, and the agent gets a bounded slice, never a full org dump.</a:t>
            </a:r>
          </a:p>
          <a:p/>
          <a:p>
            <a:r>
              <a:t>[CLICK 3  Orchestrated] Cloud Workflows coordinates the story. Agent workers handle requirements, design, build, review, test and release, with checkpoints and resumable runs.</a:t>
            </a:r>
          </a:p>
          <a:p/>
          <a:p>
            <a:r>
              <a:t>[CLICK 4  Gateway] Any action on Git, Salesforce, Marketing Cloud or Copado goes through the MCP gateway with the identity allowed for that step. The Change Guardian checks which other pods share the same data extensions, short code and STOP keyword.</a:t>
            </a:r>
          </a:p>
          <a:p/>
          <a:p>
            <a:r>
              <a:t>[CLICK 5  Evals: pass] Every output is scored before it moves on. A pass goes to the gate, with the evidence.</a:t>
            </a:r>
          </a:p>
          <a:p/>
          <a:p>
            <a:r>
              <a:t>[CLICK 6  Evals: fail] If a check fails, the result goes back for correction, at most five times, then a named owner takes over.</a:t>
            </a:r>
          </a:p>
          <a:p/>
          <a:p>
            <a:r>
              <a:t>Now the most important part: nothing moves without a person.</a:t>
            </a:r>
          </a:p>
          <a:p/>
          <a:p>
            <a:r>
              <a:t>[CLICK 7  H1] The Requirements Agent posts the brief to the Jira story as a comment. The product owner approves at H1, and only then does design start.</a:t>
            </a:r>
          </a:p>
          <a:p/>
          <a:p>
            <a:r>
              <a:t>[CLICK 8  H2] The Architect Agent drafts the design in Confluence, reusing what exists; the Change Guardian names the affected pods. Architect and pod owners approve at H2.</a:t>
            </a:r>
          </a:p>
          <a:p/>
          <a:p>
            <a:r>
              <a:t>[CLICK 9  H3] The Developer Agent builds in the Marketing Cloud dev business unit; Review and Test Agents check it and the evals score it. Tech lead and security approve at H3.</a:t>
            </a:r>
          </a:p>
          <a:p/>
          <a:p>
            <a:r>
              <a:t>[CLICK 10  H4, step 06] The Release Agent promotes through Copado to SIT and UAT. Marketing and clinical owners test every message variant and sign off UAT.</a:t>
            </a:r>
          </a:p>
          <a:p/>
          <a:p>
            <a:r>
              <a:t>[CLICK 11  CAB] The CAB pack comes from the change passport. CAB approves the release, exactly as today.</a:t>
            </a:r>
          </a:p>
          <a:p/>
          <a:p>
            <a:r>
              <a:t>[CLICK 12  Production] The owning team activates the journey in production. No agent holds a production credential. Step 09 closes the story and resyncs the graph.</a:t>
            </a:r>
          </a:p>
          <a:p/>
          <a:p>
            <a:r>
              <a:t>[CLICK 13  Evidence] Every step and every approval is kept in the change passport, and we report cycle time, defects, rework and cost per change.</a:t>
            </a:r>
          </a:p>
          <a:p/>
          <a:p>
            <a:r>
              <a:t>[CLICK 14  back to the full design] So the whole execution runs on human approval at every step. It is not just automation: it is a controlled, auditable delivery process.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AGENTIC HARNESS · HIGH-LEVEL DESIGN</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Codex to Production: one story through the Agentic 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People give their inputs in Salesforce, Codex does the work, the knowledge graph grounds it, evals score every step, and people approve every gate.</a:t>
            </a:r>
          </a:p>
        </p:txBody>
      </p:sp>
      <p:sp>
        <p:nvSpPr>
          <p:cNvPr id="5" name="Shape 4"/>
          <p:cNvSpPr/>
          <p:nvPr/>
        </p:nvSpPr>
        <p:spPr>
          <a:xfrm>
            <a:off x="411480" y="1161288"/>
            <a:ext cx="2029968" cy="2560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02920" y="1161288"/>
            <a:ext cx="1847088" cy="256032"/>
          </a:xfrm>
          <a:prstGeom prst="rect">
            <a:avLst/>
          </a:prstGeom>
          <a:noFill/>
        </p:spPr>
        <p:txBody>
          <a:bodyPr wrap="square" lIns="0" rIns="0" tIns="0" bIns="0" anchor="ctr">
            <a:spAutoFit/>
          </a:bodyPr>
          <a:lstStyle/>
          <a:p>
            <a:r>
              <a:rPr sz="750" b="1" i="0" spc="150">
                <a:solidFill>
                  <a:srgbClr val="FFFFFF"/>
                </a:solidFill>
                <a:latin typeface="Trenda IG Text"/>
              </a:rPr>
              <a:t>USER + ADLC</a:t>
            </a:r>
            <a:r>
              <a:rPr sz="750" b="0" i="0">
                <a:solidFill>
                  <a:srgbClr val="BFBFBF"/>
                </a:solidFill>
                <a:latin typeface="Trenda IG Text"/>
              </a:rPr>
              <a:t>   in Salesforce</a:t>
            </a:r>
          </a:p>
        </p:txBody>
      </p:sp>
      <p:sp>
        <p:nvSpPr>
          <p:cNvPr id="7" name="Shape 6"/>
          <p:cNvSpPr/>
          <p:nvPr/>
        </p:nvSpPr>
        <p:spPr>
          <a:xfrm>
            <a:off x="411480" y="1417320"/>
            <a:ext cx="2029968" cy="402335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502920" y="1490472"/>
            <a:ext cx="1847088" cy="365760"/>
          </a:xfrm>
          <a:prstGeom prst="rect">
            <a:avLst/>
          </a:prstGeom>
          <a:noFill/>
        </p:spPr>
        <p:txBody>
          <a:bodyPr wrap="square" lIns="0" rIns="0" tIns="0" bIns="0" anchor="t">
            <a:spAutoFit/>
          </a:bodyPr>
          <a:lstStyle/>
          <a:p>
            <a:r>
              <a:rPr sz="750" b="1" i="0">
                <a:solidFill>
                  <a:srgbClr val="000000"/>
                </a:solidFill>
                <a:latin typeface="Trenda IG Text"/>
              </a:rPr>
              <a:t>People</a:t>
            </a:r>
          </a:p>
          <a:p>
            <a:r>
              <a:rPr sz="630" b="0" i="0">
                <a:solidFill>
                  <a:srgbClr val="595959"/>
                </a:solidFill>
                <a:latin typeface="Trenda IG Text"/>
              </a:rPr>
              <a:t>PM, tech lead, developer, QA; approvers at H1-H4 and CAB</a:t>
            </a:r>
          </a:p>
        </p:txBody>
      </p:sp>
      <p:sp>
        <p:nvSpPr>
          <p:cNvPr id="9" name="Shape 8"/>
          <p:cNvSpPr/>
          <p:nvPr/>
        </p:nvSpPr>
        <p:spPr>
          <a:xfrm>
            <a:off x="502920" y="1810512"/>
            <a:ext cx="173736" cy="173736"/>
          </a:xfrm>
          <a:prstGeom prst="ellipse">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02920" y="1810512"/>
            <a:ext cx="173736" cy="173736"/>
          </a:xfrm>
          <a:prstGeom prst="rect">
            <a:avLst/>
          </a:prstGeom>
          <a:noFill/>
        </p:spPr>
        <p:txBody>
          <a:bodyPr wrap="square" lIns="0" rIns="0" tIns="0" bIns="0" anchor="ctr">
            <a:spAutoFit/>
          </a:bodyPr>
          <a:lstStyle/>
          <a:p>
            <a:pPr algn="ctr"/>
            <a:r>
              <a:rPr sz="650" b="1" i="0">
                <a:solidFill>
                  <a:srgbClr val="FFFFFF"/>
                </a:solidFill>
                <a:latin typeface="Trenda IG Text"/>
              </a:rPr>
              <a:t>1</a:t>
            </a:r>
          </a:p>
        </p:txBody>
      </p:sp>
      <p:sp>
        <p:nvSpPr>
          <p:cNvPr id="11" name="Text 10"/>
          <p:cNvSpPr txBox="1"/>
          <p:nvPr/>
        </p:nvSpPr>
        <p:spPr>
          <a:xfrm>
            <a:off x="713232" y="1810512"/>
            <a:ext cx="1645920" cy="173736"/>
          </a:xfrm>
          <a:prstGeom prst="rect">
            <a:avLst/>
          </a:prstGeom>
          <a:noFill/>
        </p:spPr>
        <p:txBody>
          <a:bodyPr wrap="square" lIns="0" rIns="0" tIns="0" bIns="0" anchor="ctr">
            <a:spAutoFit/>
          </a:bodyPr>
          <a:lstStyle/>
          <a:p>
            <a:r>
              <a:rPr sz="630" b="0" i="0">
                <a:solidFill>
                  <a:srgbClr val="595959"/>
                </a:solidFill>
                <a:latin typeface="Trenda IG Text"/>
              </a:rPr>
              <a:t>gives inputs</a:t>
            </a:r>
          </a:p>
        </p:txBody>
      </p:sp>
      <p:sp>
        <p:nvSpPr>
          <p:cNvPr id="12" name="Shape 11"/>
          <p:cNvSpPr/>
          <p:nvPr/>
        </p:nvSpPr>
        <p:spPr>
          <a:xfrm>
            <a:off x="502920" y="2029968"/>
            <a:ext cx="1847088" cy="932688"/>
          </a:xfrm>
          <a:prstGeom prst="roundRect">
            <a:avLst>
              <a:gd name="adj" fmla="val 6000"/>
            </a:avLst>
          </a:prstGeom>
          <a:solidFill>
            <a:srgbClr val="E0FAFE"/>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alesforce.png"/>
          <p:cNvPicPr>
            <a:picLocks noChangeAspect="1"/>
          </p:cNvPicPr>
          <p:nvPr/>
        </p:nvPicPr>
        <p:blipFill>
          <a:blip r:embed="rId2"/>
          <a:stretch>
            <a:fillRect/>
          </a:stretch>
        </p:blipFill>
        <p:spPr>
          <a:xfrm>
            <a:off x="2093976" y="2093976"/>
            <a:ext cx="182880" cy="182880"/>
          </a:xfrm>
          <a:prstGeom prst="rect">
            <a:avLst/>
          </a:prstGeom>
        </p:spPr>
      </p:pic>
      <p:sp>
        <p:nvSpPr>
          <p:cNvPr id="14" name="Text 12"/>
          <p:cNvSpPr txBox="1"/>
          <p:nvPr/>
        </p:nvSpPr>
        <p:spPr>
          <a:xfrm>
            <a:off x="576072" y="2084832"/>
            <a:ext cx="1463040" cy="841248"/>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Salesforce LWC · Agentic Harness console</a:t>
            </a:r>
          </a:p>
          <a:p>
            <a:pPr>
              <a:spcAft>
                <a:spcPts val="100"/>
              </a:spcAft>
            </a:pPr>
            <a:r>
              <a:rPr sz="630" b="0" i="0">
                <a:solidFill>
                  <a:srgbClr val="2B2B2B"/>
                </a:solidFill>
                <a:latin typeface="Trenda IG Text"/>
              </a:rPr>
              <a:t>Connect to Codex, enter the Jira key or the requirement, pick the pod, attach the design. Approve at each gate and watch every step.</a:t>
            </a:r>
          </a:p>
        </p:txBody>
      </p:sp>
      <p:cxnSp>
        <p:nvCxnSpPr>
          <p:cNvPr id="15" name="Arrow 13"/>
          <p:cNvCxnSpPr/>
          <p:nvPr/>
        </p:nvCxnSpPr>
        <p:spPr>
          <a:xfrm>
            <a:off x="1426464" y="2962656"/>
            <a:ext cx="0" cy="237744"/>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 14"/>
          <p:cNvSpPr txBox="1"/>
          <p:nvPr/>
        </p:nvSpPr>
        <p:spPr>
          <a:xfrm>
            <a:off x="1481328" y="2990088"/>
            <a:ext cx="960120" cy="182880"/>
          </a:xfrm>
          <a:prstGeom prst="rect">
            <a:avLst/>
          </a:prstGeom>
          <a:noFill/>
        </p:spPr>
        <p:txBody>
          <a:bodyPr wrap="square" lIns="0" rIns="0" tIns="0" bIns="0" anchor="ctr">
            <a:spAutoFit/>
          </a:bodyPr>
          <a:lstStyle/>
          <a:p>
            <a:r>
              <a:rPr sz="580" b="0" i="0">
                <a:solidFill>
                  <a:srgbClr val="595959"/>
                </a:solidFill>
                <a:latin typeface="Trenda IG Text"/>
              </a:rPr>
              <a:t>Apex · Named Credential</a:t>
            </a:r>
          </a:p>
        </p:txBody>
      </p:sp>
      <p:sp>
        <p:nvSpPr>
          <p:cNvPr id="17" name="Shape 15"/>
          <p:cNvSpPr/>
          <p:nvPr/>
        </p:nvSpPr>
        <p:spPr>
          <a:xfrm>
            <a:off x="502920" y="3200400"/>
            <a:ext cx="1847088" cy="1024128"/>
          </a:xfrm>
          <a:prstGeom prst="roundRect">
            <a:avLst>
              <a:gd name="adj" fmla="val 6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openai-white.png"/>
          <p:cNvPicPr>
            <a:picLocks noChangeAspect="1"/>
          </p:cNvPicPr>
          <p:nvPr/>
        </p:nvPicPr>
        <p:blipFill>
          <a:blip r:embed="rId3"/>
          <a:stretch>
            <a:fillRect/>
          </a:stretch>
        </p:blipFill>
        <p:spPr>
          <a:xfrm>
            <a:off x="2112264" y="3264408"/>
            <a:ext cx="182880" cy="182880"/>
          </a:xfrm>
          <a:prstGeom prst="rect">
            <a:avLst/>
          </a:prstGeom>
        </p:spPr>
      </p:pic>
      <p:sp>
        <p:nvSpPr>
          <p:cNvPr id="19" name="Text 16"/>
          <p:cNvSpPr txBox="1"/>
          <p:nvPr/>
        </p:nvSpPr>
        <p:spPr>
          <a:xfrm>
            <a:off x="576072" y="3255264"/>
            <a:ext cx="1499616" cy="932688"/>
          </a:xfrm>
          <a:prstGeom prst="rect">
            <a:avLst/>
          </a:prstGeom>
          <a:noFill/>
        </p:spPr>
        <p:txBody>
          <a:bodyPr wrap="square" lIns="0" rIns="0" tIns="0" bIns="0" anchor="t">
            <a:spAutoFit/>
          </a:bodyPr>
          <a:lstStyle/>
          <a:p>
            <a:pPr>
              <a:spcAft>
                <a:spcPts val="100"/>
              </a:spcAft>
            </a:pPr>
            <a:r>
              <a:rPr sz="750" b="1" i="0">
                <a:solidFill>
                  <a:srgbClr val="FFFFFF"/>
                </a:solidFill>
                <a:latin typeface="Trenda IG Text"/>
              </a:rPr>
              <a:t>OpenAI Codex · ADLC skills</a:t>
            </a:r>
          </a:p>
          <a:p>
            <a:pPr>
              <a:spcAft>
                <a:spcPts val="100"/>
              </a:spcAft>
            </a:pPr>
            <a:r>
              <a:rPr sz="630" b="0" i="0">
                <a:solidFill>
                  <a:srgbClr val="D9D9D9"/>
                </a:solidFill>
                <a:latin typeface="Trenda IG Text"/>
              </a:rPr>
              <a:t>Each user signs in to their own Codex Enterprise account (SSO). The run starts from the Jira key; the ADLC skills take it through understand, design, build, verify, promote, release and close.</a:t>
            </a:r>
          </a:p>
        </p:txBody>
      </p:sp>
      <p:sp>
        <p:nvSpPr>
          <p:cNvPr id="20" name="Shape 17"/>
          <p:cNvSpPr/>
          <p:nvPr/>
        </p:nvSpPr>
        <p:spPr>
          <a:xfrm>
            <a:off x="502920" y="4315968"/>
            <a:ext cx="1847088" cy="1033271"/>
          </a:xfrm>
          <a:prstGeom prst="roundRect">
            <a:avLst>
              <a:gd name="adj" fmla="val 6000"/>
            </a:avLst>
          </a:prstGeom>
          <a:solidFill>
            <a:srgbClr val="EAFBE6"/>
          </a:solid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 18"/>
          <p:cNvSpPr txBox="1"/>
          <p:nvPr/>
        </p:nvSpPr>
        <p:spPr>
          <a:xfrm>
            <a:off x="576072" y="4370832"/>
            <a:ext cx="1755648" cy="960120"/>
          </a:xfrm>
          <a:prstGeom prst="rect">
            <a:avLst/>
          </a:prstGeom>
          <a:noFill/>
        </p:spPr>
        <p:txBody>
          <a:bodyPr wrap="square" lIns="0" rIns="0" tIns="0" bIns="0" anchor="t">
            <a:spAutoFit/>
          </a:bodyPr>
          <a:lstStyle/>
          <a:p>
            <a:pPr>
              <a:spcAft>
                <a:spcPts val="50"/>
              </a:spcAft>
            </a:pPr>
            <a:r>
              <a:rPr sz="750" b="1" i="0">
                <a:solidFill>
                  <a:srgbClr val="000000"/>
                </a:solidFill>
                <a:latin typeface="Trenda IG Text"/>
              </a:rPr>
              <a:t>Trust built in</a:t>
            </a:r>
          </a:p>
          <a:p>
            <a:pPr>
              <a:spcAft>
                <a:spcPts val="50"/>
              </a:spcAft>
            </a:pPr>
            <a:r>
              <a:rPr sz="620" b="1" i="0">
                <a:solidFill>
                  <a:srgbClr val="56E13B"/>
                </a:solidFill>
                <a:latin typeface="Trenda IG Text"/>
              </a:rPr>
              <a:t>✓  </a:t>
            </a:r>
            <a:r>
              <a:rPr sz="620" b="0" i="0">
                <a:solidFill>
                  <a:srgbClr val="000000"/>
                </a:solidFill>
                <a:latin typeface="Trenda IG Text"/>
              </a:rPr>
              <a:t>No production identity for any agent</a:t>
            </a:r>
          </a:p>
          <a:p>
            <a:pPr>
              <a:spcAft>
                <a:spcPts val="50"/>
              </a:spcAft>
            </a:pPr>
            <a:r>
              <a:rPr sz="620" b="1" i="0">
                <a:solidFill>
                  <a:srgbClr val="56E13B"/>
                </a:solidFill>
                <a:latin typeface="Trenda IG Text"/>
              </a:rPr>
              <a:t>✓  </a:t>
            </a:r>
            <a:r>
              <a:rPr sz="620" b="0" i="0">
                <a:solidFill>
                  <a:srgbClr val="000000"/>
                </a:solidFill>
                <a:latin typeface="Trenda IG Text"/>
              </a:rPr>
              <a:t>No agent approves its own work</a:t>
            </a:r>
          </a:p>
          <a:p>
            <a:pPr>
              <a:spcAft>
                <a:spcPts val="50"/>
              </a:spcAft>
            </a:pPr>
            <a:r>
              <a:rPr sz="620" b="1" i="0">
                <a:solidFill>
                  <a:srgbClr val="56E13B"/>
                </a:solidFill>
                <a:latin typeface="Trenda IG Text"/>
              </a:rPr>
              <a:t>✓  </a:t>
            </a:r>
            <a:r>
              <a:rPr sz="620" b="0" i="0">
                <a:solidFill>
                  <a:srgbClr val="000000"/>
                </a:solidFill>
                <a:latin typeface="Trenda IG Text"/>
              </a:rPr>
              <a:t>Every claim cites a source + SHA-256</a:t>
            </a:r>
          </a:p>
          <a:p>
            <a:pPr>
              <a:spcAft>
                <a:spcPts val="50"/>
              </a:spcAft>
            </a:pPr>
            <a:r>
              <a:rPr sz="620" b="1" i="0">
                <a:solidFill>
                  <a:srgbClr val="56E13B"/>
                </a:solidFill>
                <a:latin typeface="Trenda IG Text"/>
              </a:rPr>
              <a:t>✓  </a:t>
            </a:r>
            <a:r>
              <a:rPr sz="620" b="0" i="0">
                <a:solidFill>
                  <a:srgbClr val="000000"/>
                </a:solidFill>
                <a:latin typeface="Trenda IG Text"/>
              </a:rPr>
              <a:t>Every tool call checked and logged</a:t>
            </a:r>
          </a:p>
          <a:p>
            <a:pPr>
              <a:spcAft>
                <a:spcPts val="50"/>
              </a:spcAft>
            </a:pPr>
            <a:r>
              <a:rPr sz="620" b="1" i="0">
                <a:solidFill>
                  <a:srgbClr val="56E13B"/>
                </a:solidFill>
                <a:latin typeface="Trenda IG Text"/>
              </a:rPr>
              <a:t>✓  </a:t>
            </a:r>
            <a:r>
              <a:rPr sz="620" b="0" i="0">
                <a:solidFill>
                  <a:srgbClr val="000000"/>
                </a:solidFill>
                <a:latin typeface="Trenda IG Text"/>
              </a:rPr>
              <a:t>No model trained on Ascension data</a:t>
            </a:r>
          </a:p>
        </p:txBody>
      </p:sp>
      <p:sp>
        <p:nvSpPr>
          <p:cNvPr id="22" name="Shape 19"/>
          <p:cNvSpPr/>
          <p:nvPr/>
        </p:nvSpPr>
        <p:spPr>
          <a:xfrm>
            <a:off x="2587752" y="1161288"/>
            <a:ext cx="6885432" cy="4279392"/>
          </a:xfrm>
          <a:prstGeom prst="roundRect">
            <a:avLst>
              <a:gd name="adj" fmla="val 2000"/>
            </a:avLst>
          </a:prstGeom>
          <a:noFill/>
          <a:ln w="12700">
            <a:solidFill>
              <a:srgbClr val="0027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ooglecloud.png"/>
          <p:cNvPicPr>
            <a:picLocks noChangeAspect="1"/>
          </p:cNvPicPr>
          <p:nvPr/>
        </p:nvPicPr>
        <p:blipFill>
          <a:blip r:embed="rId4"/>
          <a:stretch>
            <a:fillRect/>
          </a:stretch>
        </p:blipFill>
        <p:spPr>
          <a:xfrm>
            <a:off x="2697480" y="1188720"/>
            <a:ext cx="155448" cy="155448"/>
          </a:xfrm>
          <a:prstGeom prst="rect">
            <a:avLst/>
          </a:prstGeom>
        </p:spPr>
      </p:pic>
      <p:sp>
        <p:nvSpPr>
          <p:cNvPr id="24" name="Text 20"/>
          <p:cNvSpPr txBox="1"/>
          <p:nvPr/>
        </p:nvSpPr>
        <p:spPr>
          <a:xfrm>
            <a:off x="2898648" y="1179576"/>
            <a:ext cx="2743200" cy="182880"/>
          </a:xfrm>
          <a:prstGeom prst="rect">
            <a:avLst/>
          </a:prstGeom>
          <a:noFill/>
        </p:spPr>
        <p:txBody>
          <a:bodyPr wrap="square" lIns="0" rIns="0" tIns="0" bIns="0" anchor="ctr">
            <a:spAutoFit/>
          </a:bodyPr>
          <a:lstStyle/>
          <a:p>
            <a:r>
              <a:rPr sz="700" b="1" i="0">
                <a:solidFill>
                  <a:srgbClr val="000000"/>
                </a:solidFill>
                <a:latin typeface="Trenda IG Text"/>
              </a:rPr>
              <a:t>The Agentic Harness</a:t>
            </a:r>
            <a:r>
              <a:rPr sz="700" b="0" i="0">
                <a:solidFill>
                  <a:srgbClr val="595959"/>
                </a:solidFill>
                <a:latin typeface="Trenda IG Text"/>
              </a:rPr>
              <a:t>  on Google Cloud</a:t>
            </a:r>
          </a:p>
        </p:txBody>
      </p:sp>
      <p:sp>
        <p:nvSpPr>
          <p:cNvPr id="25" name="Shape 21"/>
          <p:cNvSpPr/>
          <p:nvPr/>
        </p:nvSpPr>
        <p:spPr>
          <a:xfrm>
            <a:off x="8736177" y="1193292"/>
            <a:ext cx="627278"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2"/>
          <p:cNvSpPr txBox="1"/>
          <p:nvPr/>
        </p:nvSpPr>
        <p:spPr>
          <a:xfrm>
            <a:off x="8736177" y="1193292"/>
            <a:ext cx="627278" cy="155448"/>
          </a:xfrm>
          <a:prstGeom prst="rect">
            <a:avLst/>
          </a:prstGeom>
          <a:noFill/>
        </p:spPr>
        <p:txBody>
          <a:bodyPr wrap="square" lIns="0" rIns="0" tIns="0" bIns="0" anchor="ctr">
            <a:spAutoFit/>
          </a:bodyPr>
          <a:lstStyle/>
          <a:p>
            <a:pPr algn="ctr"/>
            <a:r>
              <a:rPr sz="520" b="1" i="0" spc="60">
                <a:solidFill>
                  <a:srgbClr val="00D6F2"/>
                </a:solidFill>
                <a:latin typeface="Trenda IG Text"/>
              </a:rPr>
              <a:t>05  </a:t>
            </a:r>
            <a:r>
              <a:rPr sz="520" b="1" i="0" spc="60">
                <a:solidFill>
                  <a:srgbClr val="FFFFFF"/>
                </a:solidFill>
                <a:latin typeface="Trenda IG Text"/>
              </a:rPr>
              <a:t>FEEDBACK</a:t>
            </a:r>
          </a:p>
        </p:txBody>
      </p:sp>
      <p:sp>
        <p:nvSpPr>
          <p:cNvPr id="27" name="Shape 23"/>
          <p:cNvSpPr/>
          <p:nvPr/>
        </p:nvSpPr>
        <p:spPr>
          <a:xfrm>
            <a:off x="8129016" y="1193292"/>
            <a:ext cx="579729"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4"/>
          <p:cNvSpPr txBox="1"/>
          <p:nvPr/>
        </p:nvSpPr>
        <p:spPr>
          <a:xfrm>
            <a:off x="8129016" y="1193292"/>
            <a:ext cx="579729" cy="155448"/>
          </a:xfrm>
          <a:prstGeom prst="rect">
            <a:avLst/>
          </a:prstGeom>
          <a:noFill/>
        </p:spPr>
        <p:txBody>
          <a:bodyPr wrap="square" lIns="0" rIns="0" tIns="0" bIns="0" anchor="ctr">
            <a:spAutoFit/>
          </a:bodyPr>
          <a:lstStyle/>
          <a:p>
            <a:pPr algn="ctr"/>
            <a:r>
              <a:rPr sz="520" b="1" i="0" spc="60">
                <a:solidFill>
                  <a:srgbClr val="00D6F2"/>
                </a:solidFill>
                <a:latin typeface="Trenda IG Text"/>
              </a:rPr>
              <a:t>04  </a:t>
            </a:r>
            <a:r>
              <a:rPr sz="520" b="1" i="0" spc="60">
                <a:solidFill>
                  <a:srgbClr val="FFFFFF"/>
                </a:solidFill>
                <a:latin typeface="Trenda IG Text"/>
              </a:rPr>
              <a:t>CONTROL</a:t>
            </a:r>
          </a:p>
        </p:txBody>
      </p:sp>
      <p:sp>
        <p:nvSpPr>
          <p:cNvPr id="29" name="Shape 25"/>
          <p:cNvSpPr/>
          <p:nvPr/>
        </p:nvSpPr>
        <p:spPr>
          <a:xfrm>
            <a:off x="7236561" y="1193292"/>
            <a:ext cx="865022"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6"/>
          <p:cNvSpPr txBox="1"/>
          <p:nvPr/>
        </p:nvSpPr>
        <p:spPr>
          <a:xfrm>
            <a:off x="7236561" y="1193292"/>
            <a:ext cx="865022" cy="155448"/>
          </a:xfrm>
          <a:prstGeom prst="rect">
            <a:avLst/>
          </a:prstGeom>
          <a:noFill/>
        </p:spPr>
        <p:txBody>
          <a:bodyPr wrap="square" lIns="0" rIns="0" tIns="0" bIns="0" anchor="ctr">
            <a:spAutoFit/>
          </a:bodyPr>
          <a:lstStyle/>
          <a:p>
            <a:pPr algn="ctr"/>
            <a:r>
              <a:rPr sz="520" b="1" i="0" spc="60">
                <a:solidFill>
                  <a:srgbClr val="00D6F2"/>
                </a:solidFill>
                <a:latin typeface="Trenda IG Text"/>
              </a:rPr>
              <a:t>03  </a:t>
            </a:r>
            <a:r>
              <a:rPr sz="520" b="1" i="0" spc="60">
                <a:solidFill>
                  <a:srgbClr val="FFFFFF"/>
                </a:solidFill>
                <a:latin typeface="Trenda IG Text"/>
              </a:rPr>
              <a:t>ORCHESTRATION</a:t>
            </a:r>
          </a:p>
        </p:txBody>
      </p:sp>
      <p:sp>
        <p:nvSpPr>
          <p:cNvPr id="31" name="Shape 27"/>
          <p:cNvSpPr/>
          <p:nvPr/>
        </p:nvSpPr>
        <p:spPr>
          <a:xfrm>
            <a:off x="6676948" y="1193292"/>
            <a:ext cx="532180"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28"/>
          <p:cNvSpPr txBox="1"/>
          <p:nvPr/>
        </p:nvSpPr>
        <p:spPr>
          <a:xfrm>
            <a:off x="6676948" y="1193292"/>
            <a:ext cx="532180" cy="155448"/>
          </a:xfrm>
          <a:prstGeom prst="rect">
            <a:avLst/>
          </a:prstGeom>
          <a:noFill/>
        </p:spPr>
        <p:txBody>
          <a:bodyPr wrap="square" lIns="0" rIns="0" tIns="0" bIns="0" anchor="ctr">
            <a:spAutoFit/>
          </a:bodyPr>
          <a:lstStyle/>
          <a:p>
            <a:pPr algn="ctr"/>
            <a:r>
              <a:rPr sz="520" b="1" i="0" spc="60">
                <a:solidFill>
                  <a:srgbClr val="00D6F2"/>
                </a:solidFill>
                <a:latin typeface="Trenda IG Text"/>
              </a:rPr>
              <a:t>02  </a:t>
            </a:r>
            <a:r>
              <a:rPr sz="520" b="1" i="0" spc="60">
                <a:solidFill>
                  <a:srgbClr val="FFFFFF"/>
                </a:solidFill>
                <a:latin typeface="Trenda IG Text"/>
              </a:rPr>
              <a:t>ACTION</a:t>
            </a:r>
          </a:p>
        </p:txBody>
      </p:sp>
      <p:sp>
        <p:nvSpPr>
          <p:cNvPr id="33" name="Shape 29"/>
          <p:cNvSpPr/>
          <p:nvPr/>
        </p:nvSpPr>
        <p:spPr>
          <a:xfrm>
            <a:off x="6069787" y="1193292"/>
            <a:ext cx="579729"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0"/>
          <p:cNvSpPr txBox="1"/>
          <p:nvPr/>
        </p:nvSpPr>
        <p:spPr>
          <a:xfrm>
            <a:off x="6069787" y="1193292"/>
            <a:ext cx="579729" cy="155448"/>
          </a:xfrm>
          <a:prstGeom prst="rect">
            <a:avLst/>
          </a:prstGeom>
          <a:noFill/>
        </p:spPr>
        <p:txBody>
          <a:bodyPr wrap="square" lIns="0" rIns="0" tIns="0" bIns="0" anchor="ctr">
            <a:spAutoFit/>
          </a:bodyPr>
          <a:lstStyle/>
          <a:p>
            <a:pPr algn="ctr"/>
            <a:r>
              <a:rPr sz="520" b="1" i="0" spc="60">
                <a:solidFill>
                  <a:srgbClr val="00D6F2"/>
                </a:solidFill>
                <a:latin typeface="Trenda IG Text"/>
              </a:rPr>
              <a:t>01  </a:t>
            </a:r>
            <a:r>
              <a:rPr sz="520" b="1" i="0" spc="60">
                <a:solidFill>
                  <a:srgbClr val="FFFFFF"/>
                </a:solidFill>
                <a:latin typeface="Trenda IG Text"/>
              </a:rPr>
              <a:t>CONTEXT</a:t>
            </a:r>
          </a:p>
        </p:txBody>
      </p:sp>
      <p:sp>
        <p:nvSpPr>
          <p:cNvPr id="35" name="Text 31"/>
          <p:cNvSpPr txBox="1"/>
          <p:nvPr/>
        </p:nvSpPr>
        <p:spPr>
          <a:xfrm>
            <a:off x="4442155" y="1179576"/>
            <a:ext cx="1554480" cy="182880"/>
          </a:xfrm>
          <a:prstGeom prst="rect">
            <a:avLst/>
          </a:prstGeom>
          <a:noFill/>
        </p:spPr>
        <p:txBody>
          <a:bodyPr wrap="square" lIns="0" rIns="0" tIns="0" bIns="0" anchor="ctr">
            <a:spAutoFit/>
          </a:bodyPr>
          <a:lstStyle/>
          <a:p>
            <a:pPr algn="r"/>
            <a:r>
              <a:rPr sz="600" b="1" i="0" spc="120">
                <a:solidFill>
                  <a:srgbClr val="000000"/>
                </a:solidFill>
                <a:latin typeface="Trenda IG Text"/>
              </a:rPr>
              <a:t>HARNESS ENGINEERING</a:t>
            </a:r>
          </a:p>
        </p:txBody>
      </p:sp>
      <p:sp>
        <p:nvSpPr>
          <p:cNvPr id="36" name="Shape 32"/>
          <p:cNvSpPr/>
          <p:nvPr/>
        </p:nvSpPr>
        <p:spPr>
          <a:xfrm>
            <a:off x="2697480" y="1417320"/>
            <a:ext cx="6665976" cy="1097280"/>
          </a:xfrm>
          <a:prstGeom prst="roundRect">
            <a:avLst>
              <a:gd name="adj" fmla="val 4000"/>
            </a:avLst>
          </a:prstGeom>
          <a:solidFill>
            <a:srgbClr val="ECE9F5"/>
          </a:solidFill>
          <a:ln w="1270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3"/>
          <p:cNvSpPr/>
          <p:nvPr/>
        </p:nvSpPr>
        <p:spPr>
          <a:xfrm>
            <a:off x="2788920" y="1335024"/>
            <a:ext cx="3108960" cy="182880"/>
          </a:xfrm>
          <a:prstGeom prst="roundRect">
            <a:avLst>
              <a:gd name="adj" fmla="val 50000"/>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4"/>
          <p:cNvSpPr txBox="1"/>
          <p:nvPr/>
        </p:nvSpPr>
        <p:spPr>
          <a:xfrm>
            <a:off x="2788920" y="1335024"/>
            <a:ext cx="3108960" cy="182880"/>
          </a:xfrm>
          <a:prstGeom prst="rect">
            <a:avLst/>
          </a:prstGeom>
          <a:noFill/>
        </p:spPr>
        <p:txBody>
          <a:bodyPr wrap="square" lIns="0" rIns="0" tIns="0" bIns="0" anchor="ctr">
            <a:spAutoFit/>
          </a:bodyPr>
          <a:lstStyle/>
          <a:p>
            <a:pPr algn="ctr"/>
            <a:r>
              <a:rPr sz="620" b="1" i="0" spc="100">
                <a:solidFill>
                  <a:srgbClr val="FFFFFF"/>
                </a:solidFill>
                <a:latin typeface="Trenda IG Text"/>
              </a:rPr>
              <a:t>PHASE 1 · ENGINEERING CONTEXT KNOWLEDGE GRAPH</a:t>
            </a:r>
          </a:p>
        </p:txBody>
      </p:sp>
      <p:sp>
        <p:nvSpPr>
          <p:cNvPr id="39" name="Shape 35"/>
          <p:cNvSpPr/>
          <p:nvPr/>
        </p:nvSpPr>
        <p:spPr>
          <a:xfrm>
            <a:off x="2788920" y="1600200"/>
            <a:ext cx="2377440" cy="822960"/>
          </a:xfrm>
          <a:prstGeom prst="roundRect">
            <a:avLst>
              <a:gd name="adj" fmla="val 6000"/>
            </a:avLst>
          </a:prstGeom>
          <a:solidFill>
            <a:srgbClr val="FFFFFF"/>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6"/>
          <p:cNvSpPr txBox="1"/>
          <p:nvPr/>
        </p:nvSpPr>
        <p:spPr>
          <a:xfrm>
            <a:off x="2862072" y="1655064"/>
            <a:ext cx="2231136" cy="73152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Graph API + MCP server</a:t>
            </a:r>
          </a:p>
          <a:p>
            <a:pPr>
              <a:spcAft>
                <a:spcPts val="100"/>
              </a:spcAft>
            </a:pPr>
            <a:r>
              <a:rPr sz="630" b="0" i="0">
                <a:solidFill>
                  <a:srgbClr val="2B2B2B"/>
                </a:solidFill>
                <a:latin typeface="Trenda IG Text"/>
              </a:rPr>
              <a:t>graph.exists · find_reuse · blast_radius · owners · context_slice. Every answer cites node, source and SHA-256; agents never write queries.</a:t>
            </a:r>
          </a:p>
        </p:txBody>
      </p:sp>
      <p:sp>
        <p:nvSpPr>
          <p:cNvPr id="41" name="Shape 37"/>
          <p:cNvSpPr/>
          <p:nvPr/>
        </p:nvSpPr>
        <p:spPr>
          <a:xfrm>
            <a:off x="5257800" y="1600200"/>
            <a:ext cx="1691640" cy="822960"/>
          </a:xfrm>
          <a:prstGeom prst="roundRect">
            <a:avLst>
              <a:gd name="adj" fmla="val 6000"/>
            </a:avLst>
          </a:prstGeom>
          <a:solidFill>
            <a:srgbClr val="FFFFFF"/>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googlecloudspanner.png"/>
          <p:cNvPicPr>
            <a:picLocks noChangeAspect="1"/>
          </p:cNvPicPr>
          <p:nvPr/>
        </p:nvPicPr>
        <p:blipFill>
          <a:blip r:embed="rId5"/>
          <a:stretch>
            <a:fillRect/>
          </a:stretch>
        </p:blipFill>
        <p:spPr>
          <a:xfrm>
            <a:off x="6693407" y="1664208"/>
            <a:ext cx="182880" cy="182880"/>
          </a:xfrm>
          <a:prstGeom prst="rect">
            <a:avLst/>
          </a:prstGeom>
        </p:spPr>
      </p:pic>
      <p:sp>
        <p:nvSpPr>
          <p:cNvPr id="43" name="Text 38"/>
          <p:cNvSpPr txBox="1"/>
          <p:nvPr/>
        </p:nvSpPr>
        <p:spPr>
          <a:xfrm>
            <a:off x="5330952" y="1655064"/>
            <a:ext cx="1307592" cy="73152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Spanner Graph</a:t>
            </a:r>
          </a:p>
          <a:p>
            <a:pPr>
              <a:spcAft>
                <a:spcPts val="100"/>
              </a:spcAft>
            </a:pPr>
            <a:r>
              <a:rPr sz="630" b="0" i="0">
                <a:solidFill>
                  <a:srgbClr val="2B2B2B"/>
                </a:solidFill>
                <a:latin typeface="Trenda IG Text"/>
              </a:rPr>
              <a:t>Property graph, GQL. History and ownership edges for every component.</a:t>
            </a:r>
          </a:p>
        </p:txBody>
      </p:sp>
      <p:sp>
        <p:nvSpPr>
          <p:cNvPr id="44" name="Shape 39"/>
          <p:cNvSpPr/>
          <p:nvPr/>
        </p:nvSpPr>
        <p:spPr>
          <a:xfrm>
            <a:off x="7040880" y="1600200"/>
            <a:ext cx="2231136" cy="822960"/>
          </a:xfrm>
          <a:prstGeom prst="roundRect">
            <a:avLst>
              <a:gd name="adj" fmla="val 6000"/>
            </a:avLst>
          </a:prstGeom>
          <a:solidFill>
            <a:srgbClr val="FFFFFF"/>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0"/>
          <p:cNvSpPr txBox="1"/>
          <p:nvPr/>
        </p:nvSpPr>
        <p:spPr>
          <a:xfrm>
            <a:off x="7114032" y="1655064"/>
            <a:ext cx="2084832" cy="73152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Ingest pipeline · Cloud Run Jobs</a:t>
            </a:r>
          </a:p>
          <a:p>
            <a:pPr>
              <a:spcAft>
                <a:spcPts val="100"/>
              </a:spcAft>
            </a:pPr>
            <a:r>
              <a:rPr sz="630" b="0" i="0">
                <a:solidFill>
                  <a:srgbClr val="2B2B2B"/>
                </a:solidFill>
                <a:latin typeface="Trenda IG Text"/>
              </a:rPr>
              <a:t>Read-only connectors, on a schedule and on webhooks. DLP de-identifies text; parse, validate and link before anything is stored.</a:t>
            </a:r>
          </a:p>
        </p:txBody>
      </p:sp>
      <p:cxnSp>
        <p:nvCxnSpPr>
          <p:cNvPr id="46" name="Arrow 41"/>
          <p:cNvCxnSpPr/>
          <p:nvPr/>
        </p:nvCxnSpPr>
        <p:spPr>
          <a:xfrm flipH="1">
            <a:off x="6949440" y="2011680"/>
            <a:ext cx="91440" cy="0"/>
          </a:xfrm>
          <a:prstGeom prst="line">
            <a:avLst/>
          </a:prstGeom>
          <a:ln w="1587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Arrow 42"/>
          <p:cNvCxnSpPr/>
          <p:nvPr/>
        </p:nvCxnSpPr>
        <p:spPr>
          <a:xfrm flipH="1">
            <a:off x="5166360" y="2011680"/>
            <a:ext cx="91440" cy="0"/>
          </a:xfrm>
          <a:prstGeom prst="line">
            <a:avLst/>
          </a:prstGeom>
          <a:ln w="1587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Shape 43"/>
          <p:cNvSpPr/>
          <p:nvPr/>
        </p:nvSpPr>
        <p:spPr>
          <a:xfrm>
            <a:off x="8692286" y="1339596"/>
            <a:ext cx="579729"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4"/>
          <p:cNvSpPr txBox="1"/>
          <p:nvPr/>
        </p:nvSpPr>
        <p:spPr>
          <a:xfrm>
            <a:off x="8692286" y="1339596"/>
            <a:ext cx="579729" cy="155448"/>
          </a:xfrm>
          <a:prstGeom prst="rect">
            <a:avLst/>
          </a:prstGeom>
          <a:noFill/>
        </p:spPr>
        <p:txBody>
          <a:bodyPr wrap="square" lIns="0" rIns="0" tIns="0" bIns="0" anchor="ctr">
            <a:spAutoFit/>
          </a:bodyPr>
          <a:lstStyle/>
          <a:p>
            <a:pPr algn="ctr"/>
            <a:r>
              <a:rPr sz="520" b="1" i="0" spc="60">
                <a:solidFill>
                  <a:srgbClr val="00D6F2"/>
                </a:solidFill>
                <a:latin typeface="Trenda IG Text"/>
              </a:rPr>
              <a:t>01  </a:t>
            </a:r>
            <a:r>
              <a:rPr sz="520" b="1" i="0" spc="60">
                <a:solidFill>
                  <a:srgbClr val="FFFFFF"/>
                </a:solidFill>
                <a:latin typeface="Trenda IG Text"/>
              </a:rPr>
              <a:t>CONTEXT</a:t>
            </a:r>
          </a:p>
        </p:txBody>
      </p:sp>
      <p:sp>
        <p:nvSpPr>
          <p:cNvPr id="50" name="Shape 45"/>
          <p:cNvSpPr/>
          <p:nvPr/>
        </p:nvSpPr>
        <p:spPr>
          <a:xfrm>
            <a:off x="2697480" y="2670048"/>
            <a:ext cx="6665976" cy="1874519"/>
          </a:xfrm>
          <a:prstGeom prst="roundRect">
            <a:avLst>
              <a:gd name="adj" fmla="val 3000"/>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6"/>
          <p:cNvSpPr/>
          <p:nvPr/>
        </p:nvSpPr>
        <p:spPr>
          <a:xfrm>
            <a:off x="2788920" y="2587752"/>
            <a:ext cx="2377440" cy="182880"/>
          </a:xfrm>
          <a:prstGeom prst="roundRect">
            <a:avLst>
              <a:gd name="adj" fmla="val 50000"/>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7"/>
          <p:cNvSpPr txBox="1"/>
          <p:nvPr/>
        </p:nvSpPr>
        <p:spPr>
          <a:xfrm>
            <a:off x="2788920" y="2587752"/>
            <a:ext cx="2377440" cy="182880"/>
          </a:xfrm>
          <a:prstGeom prst="rect">
            <a:avLst/>
          </a:prstGeom>
          <a:noFill/>
        </p:spPr>
        <p:txBody>
          <a:bodyPr wrap="square" lIns="0" rIns="0" tIns="0" bIns="0" anchor="ctr">
            <a:spAutoFit/>
          </a:bodyPr>
          <a:lstStyle/>
          <a:p>
            <a:pPr algn="ctr"/>
            <a:r>
              <a:rPr sz="620" b="1" i="0" spc="100">
                <a:solidFill>
                  <a:srgbClr val="FFFFFF"/>
                </a:solidFill>
                <a:latin typeface="Trenda IG Text"/>
              </a:rPr>
              <a:t>PHASE 2 · AGENTIC HARNESS RUNTIME</a:t>
            </a:r>
          </a:p>
        </p:txBody>
      </p:sp>
      <p:sp>
        <p:nvSpPr>
          <p:cNvPr id="53" name="Shape 48"/>
          <p:cNvSpPr/>
          <p:nvPr/>
        </p:nvSpPr>
        <p:spPr>
          <a:xfrm>
            <a:off x="2788920" y="2852928"/>
            <a:ext cx="1664208" cy="960120"/>
          </a:xfrm>
          <a:prstGeom prst="roundRect">
            <a:avLst>
              <a:gd name="adj" fmla="val 6000"/>
            </a:avLst>
          </a:prstGeom>
          <a:solidFill>
            <a:srgbClr val="FFFFFF"/>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49"/>
          <p:cNvSpPr txBox="1"/>
          <p:nvPr/>
        </p:nvSpPr>
        <p:spPr>
          <a:xfrm>
            <a:off x="2862072" y="2907792"/>
            <a:ext cx="1517904" cy="86868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Run orchestration</a:t>
            </a:r>
          </a:p>
          <a:p>
            <a:pPr>
              <a:spcAft>
                <a:spcPts val="100"/>
              </a:spcAft>
            </a:pPr>
            <a:r>
              <a:rPr sz="630" b="0" i="0">
                <a:solidFill>
                  <a:srgbClr val="2B2B2B"/>
                </a:solidFill>
                <a:latin typeface="Trenda IG Text"/>
              </a:rPr>
              <a:t>Run API starts the run · Cloud Workflows: 9 steps, retries, gate callbacks · Firestore checkpoints, resumable · Dispatcher starts one job per step.</a:t>
            </a:r>
          </a:p>
        </p:txBody>
      </p:sp>
      <p:sp>
        <p:nvSpPr>
          <p:cNvPr id="55" name="Shape 50"/>
          <p:cNvSpPr/>
          <p:nvPr/>
        </p:nvSpPr>
        <p:spPr>
          <a:xfrm>
            <a:off x="2788920" y="3886200"/>
            <a:ext cx="1664208" cy="566928"/>
          </a:xfrm>
          <a:prstGeom prst="roundRect">
            <a:avLst>
              <a:gd name="adj" fmla="val 6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1"/>
          <p:cNvSpPr txBox="1"/>
          <p:nvPr/>
        </p:nvSpPr>
        <p:spPr>
          <a:xfrm>
            <a:off x="2862072" y="3941063"/>
            <a:ext cx="1517904" cy="475488"/>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Approval service · IAP</a:t>
            </a:r>
          </a:p>
          <a:p>
            <a:pPr>
              <a:spcAft>
                <a:spcPts val="100"/>
              </a:spcAft>
            </a:pPr>
            <a:r>
              <a:rPr sz="630" b="0" i="0">
                <a:solidFill>
                  <a:srgbClr val="2B2B2B"/>
                </a:solidFill>
                <a:latin typeface="Trenda IG Text"/>
              </a:rPr>
              <a:t>Shows each gate's evidence and eval scores; the signed decision resumes the run.</a:t>
            </a:r>
          </a:p>
        </p:txBody>
      </p:sp>
      <p:sp>
        <p:nvSpPr>
          <p:cNvPr id="57" name="Shape 52"/>
          <p:cNvSpPr/>
          <p:nvPr/>
        </p:nvSpPr>
        <p:spPr>
          <a:xfrm>
            <a:off x="4544568" y="2852928"/>
            <a:ext cx="2651760" cy="960120"/>
          </a:xfrm>
          <a:prstGeom prst="roundRect">
            <a:avLst>
              <a:gd name="adj" fmla="val 5000"/>
            </a:avLst>
          </a:prstGeom>
          <a:solidFill>
            <a:srgbClr val="E0FAFE"/>
          </a:solidFill>
          <a:ln w="1270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3"/>
          <p:cNvSpPr txBox="1"/>
          <p:nvPr/>
        </p:nvSpPr>
        <p:spPr>
          <a:xfrm>
            <a:off x="4617720" y="2889504"/>
            <a:ext cx="2505456" cy="164592"/>
          </a:xfrm>
          <a:prstGeom prst="rect">
            <a:avLst/>
          </a:prstGeom>
          <a:noFill/>
        </p:spPr>
        <p:txBody>
          <a:bodyPr wrap="square" lIns="0" rIns="0" tIns="0" bIns="0" anchor="ctr">
            <a:spAutoFit/>
          </a:bodyPr>
          <a:lstStyle/>
          <a:p>
            <a:r>
              <a:rPr sz="750" b="1" i="0">
                <a:solidFill>
                  <a:srgbClr val="000000"/>
                </a:solidFill>
                <a:latin typeface="Trenda IG Text"/>
              </a:rPr>
              <a:t>Agent workers</a:t>
            </a:r>
            <a:r>
              <a:rPr sz="620" b="0" i="0">
                <a:solidFill>
                  <a:srgbClr val="595959"/>
                </a:solidFill>
                <a:latin typeface="Trenda IG Text"/>
              </a:rPr>
              <a:t>  Cloud Run Jobs, one per step</a:t>
            </a:r>
          </a:p>
        </p:txBody>
      </p:sp>
      <p:sp>
        <p:nvSpPr>
          <p:cNvPr id="59" name="Shape 54"/>
          <p:cNvSpPr/>
          <p:nvPr/>
        </p:nvSpPr>
        <p:spPr>
          <a:xfrm>
            <a:off x="4617720" y="3099816"/>
            <a:ext cx="1216152" cy="201168"/>
          </a:xfrm>
          <a:prstGeom prst="roundRect">
            <a:avLst>
              <a:gd name="adj" fmla="val 20000"/>
            </a:avLst>
          </a:prstGeom>
          <a:solidFill>
            <a:srgbClr val="FFFFFF"/>
          </a:solidFill>
          <a:ln w="635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5"/>
          <p:cNvSpPr txBox="1"/>
          <p:nvPr/>
        </p:nvSpPr>
        <p:spPr>
          <a:xfrm>
            <a:off x="4672584" y="3099816"/>
            <a:ext cx="1124712" cy="201168"/>
          </a:xfrm>
          <a:prstGeom prst="rect">
            <a:avLst/>
          </a:prstGeom>
          <a:noFill/>
        </p:spPr>
        <p:txBody>
          <a:bodyPr wrap="square" lIns="0" rIns="0" tIns="0" bIns="0" anchor="ctr">
            <a:spAutoFit/>
          </a:bodyPr>
          <a:lstStyle/>
          <a:p>
            <a:r>
              <a:rPr sz="620" b="1" i="0">
                <a:solidFill>
                  <a:srgbClr val="000000"/>
                </a:solidFill>
                <a:latin typeface="Trenda IG Text"/>
              </a:rPr>
              <a:t>Requirements</a:t>
            </a:r>
            <a:r>
              <a:rPr sz="550" b="0" i="0">
                <a:solidFill>
                  <a:srgbClr val="595959"/>
                </a:solidFill>
                <a:latin typeface="Trenda IG Text"/>
              </a:rPr>
              <a:t>  sa-ai-read</a:t>
            </a:r>
          </a:p>
        </p:txBody>
      </p:sp>
      <p:sp>
        <p:nvSpPr>
          <p:cNvPr id="61" name="Shape 56"/>
          <p:cNvSpPr/>
          <p:nvPr/>
        </p:nvSpPr>
        <p:spPr>
          <a:xfrm>
            <a:off x="5907024" y="3099816"/>
            <a:ext cx="1216152" cy="201168"/>
          </a:xfrm>
          <a:prstGeom prst="roundRect">
            <a:avLst>
              <a:gd name="adj" fmla="val 20000"/>
            </a:avLst>
          </a:prstGeom>
          <a:solidFill>
            <a:srgbClr val="FFFFFF"/>
          </a:solidFill>
          <a:ln w="635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7"/>
          <p:cNvSpPr txBox="1"/>
          <p:nvPr/>
        </p:nvSpPr>
        <p:spPr>
          <a:xfrm>
            <a:off x="5961888" y="3099816"/>
            <a:ext cx="1124712" cy="201168"/>
          </a:xfrm>
          <a:prstGeom prst="rect">
            <a:avLst/>
          </a:prstGeom>
          <a:noFill/>
        </p:spPr>
        <p:txBody>
          <a:bodyPr wrap="square" lIns="0" rIns="0" tIns="0" bIns="0" anchor="ctr">
            <a:spAutoFit/>
          </a:bodyPr>
          <a:lstStyle/>
          <a:p>
            <a:r>
              <a:rPr sz="620" b="1" i="0">
                <a:solidFill>
                  <a:srgbClr val="000000"/>
                </a:solidFill>
                <a:latin typeface="Trenda IG Text"/>
              </a:rPr>
              <a:t>Architect</a:t>
            </a:r>
            <a:r>
              <a:rPr sz="550" b="0" i="0">
                <a:solidFill>
                  <a:srgbClr val="595959"/>
                </a:solidFill>
                <a:latin typeface="Trenda IG Text"/>
              </a:rPr>
              <a:t>  sa-ai-read</a:t>
            </a:r>
          </a:p>
        </p:txBody>
      </p:sp>
      <p:sp>
        <p:nvSpPr>
          <p:cNvPr id="63" name="Shape 58"/>
          <p:cNvSpPr/>
          <p:nvPr/>
        </p:nvSpPr>
        <p:spPr>
          <a:xfrm>
            <a:off x="4617720" y="3332988"/>
            <a:ext cx="1216152" cy="201168"/>
          </a:xfrm>
          <a:prstGeom prst="roundRect">
            <a:avLst>
              <a:gd name="adj" fmla="val 20000"/>
            </a:avLst>
          </a:prstGeom>
          <a:solidFill>
            <a:srgbClr val="FFFFFF"/>
          </a:solidFill>
          <a:ln w="635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59"/>
          <p:cNvSpPr txBox="1"/>
          <p:nvPr/>
        </p:nvSpPr>
        <p:spPr>
          <a:xfrm>
            <a:off x="4672584" y="3332988"/>
            <a:ext cx="1124712" cy="201168"/>
          </a:xfrm>
          <a:prstGeom prst="rect">
            <a:avLst/>
          </a:prstGeom>
          <a:noFill/>
        </p:spPr>
        <p:txBody>
          <a:bodyPr wrap="square" lIns="0" rIns="0" tIns="0" bIns="0" anchor="ctr">
            <a:spAutoFit/>
          </a:bodyPr>
          <a:lstStyle/>
          <a:p>
            <a:r>
              <a:rPr sz="620" b="1" i="0">
                <a:solidFill>
                  <a:srgbClr val="000000"/>
                </a:solidFill>
                <a:latin typeface="Trenda IG Text"/>
              </a:rPr>
              <a:t>Developer · Codex</a:t>
            </a:r>
            <a:r>
              <a:rPr sz="550" b="0" i="0">
                <a:solidFill>
                  <a:srgbClr val="595959"/>
                </a:solidFill>
                <a:latin typeface="Trenda IG Text"/>
              </a:rPr>
              <a:t>  sa-ai-dev</a:t>
            </a:r>
          </a:p>
        </p:txBody>
      </p:sp>
      <p:sp>
        <p:nvSpPr>
          <p:cNvPr id="65" name="Shape 60"/>
          <p:cNvSpPr/>
          <p:nvPr/>
        </p:nvSpPr>
        <p:spPr>
          <a:xfrm>
            <a:off x="5907024" y="3332988"/>
            <a:ext cx="1216152" cy="201168"/>
          </a:xfrm>
          <a:prstGeom prst="roundRect">
            <a:avLst>
              <a:gd name="adj" fmla="val 20000"/>
            </a:avLst>
          </a:prstGeom>
          <a:solidFill>
            <a:srgbClr val="FFFFFF"/>
          </a:solidFill>
          <a:ln w="635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1"/>
          <p:cNvSpPr txBox="1"/>
          <p:nvPr/>
        </p:nvSpPr>
        <p:spPr>
          <a:xfrm>
            <a:off x="5961888" y="3332988"/>
            <a:ext cx="1124712" cy="201168"/>
          </a:xfrm>
          <a:prstGeom prst="rect">
            <a:avLst/>
          </a:prstGeom>
          <a:noFill/>
        </p:spPr>
        <p:txBody>
          <a:bodyPr wrap="square" lIns="0" rIns="0" tIns="0" bIns="0" anchor="ctr">
            <a:spAutoFit/>
          </a:bodyPr>
          <a:lstStyle/>
          <a:p>
            <a:r>
              <a:rPr sz="620" b="1" i="0">
                <a:solidFill>
                  <a:srgbClr val="000000"/>
                </a:solidFill>
                <a:latin typeface="Trenda IG Text"/>
              </a:rPr>
              <a:t>Review</a:t>
            </a:r>
            <a:r>
              <a:rPr sz="550" b="0" i="0">
                <a:solidFill>
                  <a:srgbClr val="595959"/>
                </a:solidFill>
                <a:latin typeface="Trenda IG Text"/>
              </a:rPr>
              <a:t>  sa-ai-read</a:t>
            </a:r>
          </a:p>
        </p:txBody>
      </p:sp>
      <p:sp>
        <p:nvSpPr>
          <p:cNvPr id="67" name="Shape 62"/>
          <p:cNvSpPr/>
          <p:nvPr/>
        </p:nvSpPr>
        <p:spPr>
          <a:xfrm>
            <a:off x="4617720" y="3566160"/>
            <a:ext cx="1216152" cy="201168"/>
          </a:xfrm>
          <a:prstGeom prst="roundRect">
            <a:avLst>
              <a:gd name="adj" fmla="val 20000"/>
            </a:avLst>
          </a:prstGeom>
          <a:solidFill>
            <a:srgbClr val="FFFFFF"/>
          </a:solidFill>
          <a:ln w="635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3"/>
          <p:cNvSpPr txBox="1"/>
          <p:nvPr/>
        </p:nvSpPr>
        <p:spPr>
          <a:xfrm>
            <a:off x="4672584" y="3566160"/>
            <a:ext cx="1124712" cy="201168"/>
          </a:xfrm>
          <a:prstGeom prst="rect">
            <a:avLst/>
          </a:prstGeom>
          <a:noFill/>
        </p:spPr>
        <p:txBody>
          <a:bodyPr wrap="square" lIns="0" rIns="0" tIns="0" bIns="0" anchor="ctr">
            <a:spAutoFit/>
          </a:bodyPr>
          <a:lstStyle/>
          <a:p>
            <a:r>
              <a:rPr sz="620" b="1" i="0">
                <a:solidFill>
                  <a:srgbClr val="000000"/>
                </a:solidFill>
                <a:latin typeface="Trenda IG Text"/>
              </a:rPr>
              <a:t>Test · Codex</a:t>
            </a:r>
            <a:r>
              <a:rPr sz="550" b="0" i="0">
                <a:solidFill>
                  <a:srgbClr val="595959"/>
                </a:solidFill>
                <a:latin typeface="Trenda IG Text"/>
              </a:rPr>
              <a:t>  sa-ai-dev</a:t>
            </a:r>
          </a:p>
        </p:txBody>
      </p:sp>
      <p:sp>
        <p:nvSpPr>
          <p:cNvPr id="69" name="Shape 64"/>
          <p:cNvSpPr/>
          <p:nvPr/>
        </p:nvSpPr>
        <p:spPr>
          <a:xfrm>
            <a:off x="5907024" y="3566160"/>
            <a:ext cx="1216152" cy="201168"/>
          </a:xfrm>
          <a:prstGeom prst="roundRect">
            <a:avLst>
              <a:gd name="adj" fmla="val 20000"/>
            </a:avLst>
          </a:prstGeom>
          <a:solidFill>
            <a:srgbClr val="FFFFFF"/>
          </a:solidFill>
          <a:ln w="635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5"/>
          <p:cNvSpPr txBox="1"/>
          <p:nvPr/>
        </p:nvSpPr>
        <p:spPr>
          <a:xfrm>
            <a:off x="5961888" y="3566160"/>
            <a:ext cx="1124712" cy="201168"/>
          </a:xfrm>
          <a:prstGeom prst="rect">
            <a:avLst/>
          </a:prstGeom>
          <a:noFill/>
        </p:spPr>
        <p:txBody>
          <a:bodyPr wrap="square" lIns="0" rIns="0" tIns="0" bIns="0" anchor="ctr">
            <a:spAutoFit/>
          </a:bodyPr>
          <a:lstStyle/>
          <a:p>
            <a:r>
              <a:rPr sz="620" b="1" i="0">
                <a:solidFill>
                  <a:srgbClr val="000000"/>
                </a:solidFill>
                <a:latin typeface="Trenda IG Text"/>
              </a:rPr>
              <a:t>Release</a:t>
            </a:r>
            <a:r>
              <a:rPr sz="550" b="0" i="0">
                <a:solidFill>
                  <a:srgbClr val="595959"/>
                </a:solidFill>
                <a:latin typeface="Trenda IG Text"/>
              </a:rPr>
              <a:t>  sa-ai-release</a:t>
            </a:r>
          </a:p>
        </p:txBody>
      </p:sp>
      <p:sp>
        <p:nvSpPr>
          <p:cNvPr id="71" name="Shape 66"/>
          <p:cNvSpPr/>
          <p:nvPr/>
        </p:nvSpPr>
        <p:spPr>
          <a:xfrm>
            <a:off x="4544568" y="3886200"/>
            <a:ext cx="2651760" cy="566928"/>
          </a:xfrm>
          <a:prstGeom prst="roundRect">
            <a:avLst>
              <a:gd name="adj" fmla="val 8000"/>
            </a:avLst>
          </a:prstGeom>
          <a:solidFill>
            <a:srgbClr val="FFF7CC"/>
          </a:solidFill>
          <a:ln w="285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67"/>
          <p:cNvSpPr txBox="1"/>
          <p:nvPr/>
        </p:nvSpPr>
        <p:spPr>
          <a:xfrm>
            <a:off x="4636008" y="3931920"/>
            <a:ext cx="2057400" cy="493776"/>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Evals on every step</a:t>
            </a:r>
          </a:p>
          <a:p>
            <a:pPr>
              <a:spcAft>
                <a:spcPts val="100"/>
              </a:spcAft>
            </a:pPr>
            <a:r>
              <a:rPr sz="610" b="0" i="0">
                <a:solidFill>
                  <a:srgbClr val="000000"/>
                </a:solidFill>
                <a:latin typeface="Trenda IG Text"/>
              </a:rPr>
              <a:t>Each output is scored before it moves: relevancy, groundedness, tool sequence, pass@k. Pass to the gate; fail retries with feedback, max 5, then a named owner.</a:t>
            </a:r>
          </a:p>
        </p:txBody>
      </p:sp>
      <p:sp>
        <p:nvSpPr>
          <p:cNvPr id="73" name="Shape 68"/>
          <p:cNvSpPr/>
          <p:nvPr/>
        </p:nvSpPr>
        <p:spPr>
          <a:xfrm>
            <a:off x="6702552" y="3941063"/>
            <a:ext cx="420624" cy="146304"/>
          </a:xfrm>
          <a:prstGeom prst="roundRect">
            <a:avLst>
              <a:gd name="adj" fmla="val 50000"/>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9"/>
          <p:cNvSpPr txBox="1"/>
          <p:nvPr/>
        </p:nvSpPr>
        <p:spPr>
          <a:xfrm>
            <a:off x="6702552" y="3941063"/>
            <a:ext cx="420624" cy="146304"/>
          </a:xfrm>
          <a:prstGeom prst="rect">
            <a:avLst/>
          </a:prstGeom>
          <a:noFill/>
        </p:spPr>
        <p:txBody>
          <a:bodyPr wrap="square" lIns="0" rIns="0" tIns="0" bIns="0" anchor="ctr">
            <a:spAutoFit/>
          </a:bodyPr>
          <a:lstStyle/>
          <a:p>
            <a:pPr algn="ctr"/>
            <a:r>
              <a:rPr sz="550" b="1" i="0" spc="120">
                <a:solidFill>
                  <a:srgbClr val="000000"/>
                </a:solidFill>
                <a:latin typeface="Trenda IG Text"/>
              </a:rPr>
              <a:t>EVALS</a:t>
            </a:r>
          </a:p>
        </p:txBody>
      </p:sp>
      <p:cxnSp>
        <p:nvCxnSpPr>
          <p:cNvPr id="75" name="Arrow 70"/>
          <p:cNvCxnSpPr/>
          <p:nvPr/>
        </p:nvCxnSpPr>
        <p:spPr>
          <a:xfrm>
            <a:off x="5870448" y="3813048"/>
            <a:ext cx="0" cy="73152"/>
          </a:xfrm>
          <a:prstGeom prst="line">
            <a:avLst/>
          </a:prstGeom>
          <a:ln w="19050">
            <a:solidFill>
              <a:srgbClr val="C9A8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Shape 71"/>
          <p:cNvSpPr/>
          <p:nvPr/>
        </p:nvSpPr>
        <p:spPr>
          <a:xfrm>
            <a:off x="7287768" y="2852928"/>
            <a:ext cx="1984248" cy="566928"/>
          </a:xfrm>
          <a:prstGeom prst="roundRect">
            <a:avLst>
              <a:gd name="adj" fmla="val 6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2"/>
          <p:cNvSpPr txBox="1"/>
          <p:nvPr/>
        </p:nvSpPr>
        <p:spPr>
          <a:xfrm>
            <a:off x="7360919" y="2907792"/>
            <a:ext cx="1837943" cy="475488"/>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Change Guardian · OPA</a:t>
            </a:r>
          </a:p>
          <a:p>
            <a:pPr>
              <a:spcAft>
                <a:spcPts val="100"/>
              </a:spcAft>
            </a:pPr>
            <a:r>
              <a:rPr sz="630" b="0" i="0">
                <a:solidFill>
                  <a:srgbClr val="2B2B2B"/>
                </a:solidFill>
                <a:latin typeface="Trenda IG Text"/>
              </a:rPr>
              <a:t>Diff + ownership graph: PASS, NEEDS OWNER APPROVAL or BLOCK.</a:t>
            </a:r>
          </a:p>
        </p:txBody>
      </p:sp>
      <p:sp>
        <p:nvSpPr>
          <p:cNvPr id="78" name="Shape 73"/>
          <p:cNvSpPr/>
          <p:nvPr/>
        </p:nvSpPr>
        <p:spPr>
          <a:xfrm>
            <a:off x="7287768" y="3493008"/>
            <a:ext cx="1984248" cy="960120"/>
          </a:xfrm>
          <a:prstGeom prst="roundRect">
            <a:avLst>
              <a:gd name="adj" fmla="val 6000"/>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4"/>
          <p:cNvSpPr txBox="1"/>
          <p:nvPr/>
        </p:nvSpPr>
        <p:spPr>
          <a:xfrm>
            <a:off x="7360919" y="3538728"/>
            <a:ext cx="1837943" cy="45720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MCP tool gateway</a:t>
            </a:r>
          </a:p>
          <a:p>
            <a:pPr>
              <a:spcAft>
                <a:spcPts val="100"/>
              </a:spcAft>
            </a:pPr>
            <a:r>
              <a:rPr sz="610" b="0" i="0">
                <a:solidFill>
                  <a:srgbClr val="000000"/>
                </a:solidFill>
                <a:latin typeface="Trenda IG Text"/>
              </a:rPr>
              <a:t>Checks identity, tool, target and approval, then acts; every decision logged.</a:t>
            </a:r>
          </a:p>
        </p:txBody>
      </p:sp>
      <p:sp>
        <p:nvSpPr>
          <p:cNvPr id="80" name="Shape 75"/>
          <p:cNvSpPr/>
          <p:nvPr/>
        </p:nvSpPr>
        <p:spPr>
          <a:xfrm>
            <a:off x="7360919" y="3995928"/>
            <a:ext cx="588264" cy="182880"/>
          </a:xfrm>
          <a:prstGeom prst="roundRect">
            <a:avLst>
              <a:gd name="adj" fmla="val 3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76"/>
          <p:cNvSpPr txBox="1"/>
          <p:nvPr/>
        </p:nvSpPr>
        <p:spPr>
          <a:xfrm>
            <a:off x="7360919" y="3995928"/>
            <a:ext cx="588264" cy="182880"/>
          </a:xfrm>
          <a:prstGeom prst="rect">
            <a:avLst/>
          </a:prstGeom>
          <a:noFill/>
        </p:spPr>
        <p:txBody>
          <a:bodyPr wrap="square" lIns="0" rIns="0" tIns="0" bIns="0" anchor="ctr">
            <a:spAutoFit/>
          </a:bodyPr>
          <a:lstStyle/>
          <a:p>
            <a:pPr algn="ctr"/>
            <a:r>
              <a:rPr sz="550" b="1" i="0">
                <a:solidFill>
                  <a:srgbClr val="000000"/>
                </a:solidFill>
                <a:latin typeface="Trenda IG Text"/>
              </a:rPr>
              <a:t>sa-ai-read</a:t>
            </a:r>
          </a:p>
        </p:txBody>
      </p:sp>
      <p:sp>
        <p:nvSpPr>
          <p:cNvPr id="82" name="Shape 77"/>
          <p:cNvSpPr/>
          <p:nvPr/>
        </p:nvSpPr>
        <p:spPr>
          <a:xfrm>
            <a:off x="7985759" y="3995928"/>
            <a:ext cx="588264" cy="182880"/>
          </a:xfrm>
          <a:prstGeom prst="roundRect">
            <a:avLst>
              <a:gd name="adj" fmla="val 3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78"/>
          <p:cNvSpPr txBox="1"/>
          <p:nvPr/>
        </p:nvSpPr>
        <p:spPr>
          <a:xfrm>
            <a:off x="7985759" y="3995928"/>
            <a:ext cx="588264" cy="182880"/>
          </a:xfrm>
          <a:prstGeom prst="rect">
            <a:avLst/>
          </a:prstGeom>
          <a:noFill/>
        </p:spPr>
        <p:txBody>
          <a:bodyPr wrap="square" lIns="0" rIns="0" tIns="0" bIns="0" anchor="ctr">
            <a:spAutoFit/>
          </a:bodyPr>
          <a:lstStyle/>
          <a:p>
            <a:pPr algn="ctr"/>
            <a:r>
              <a:rPr sz="550" b="1" i="0">
                <a:solidFill>
                  <a:srgbClr val="000000"/>
                </a:solidFill>
                <a:latin typeface="Trenda IG Text"/>
              </a:rPr>
              <a:t>sa-ai-dev</a:t>
            </a:r>
          </a:p>
        </p:txBody>
      </p:sp>
      <p:sp>
        <p:nvSpPr>
          <p:cNvPr id="84" name="Shape 79"/>
          <p:cNvSpPr/>
          <p:nvPr/>
        </p:nvSpPr>
        <p:spPr>
          <a:xfrm>
            <a:off x="8610600" y="3995928"/>
            <a:ext cx="588264" cy="182880"/>
          </a:xfrm>
          <a:prstGeom prst="roundRect">
            <a:avLst>
              <a:gd name="adj" fmla="val 3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0"/>
          <p:cNvSpPr txBox="1"/>
          <p:nvPr/>
        </p:nvSpPr>
        <p:spPr>
          <a:xfrm>
            <a:off x="8610600" y="3995928"/>
            <a:ext cx="588264" cy="182880"/>
          </a:xfrm>
          <a:prstGeom prst="rect">
            <a:avLst/>
          </a:prstGeom>
          <a:noFill/>
        </p:spPr>
        <p:txBody>
          <a:bodyPr wrap="square" lIns="0" rIns="0" tIns="0" bIns="0" anchor="ctr">
            <a:spAutoFit/>
          </a:bodyPr>
          <a:lstStyle/>
          <a:p>
            <a:pPr algn="ctr"/>
            <a:r>
              <a:rPr sz="550" b="1" i="0">
                <a:solidFill>
                  <a:srgbClr val="000000"/>
                </a:solidFill>
                <a:latin typeface="Trenda IG Text"/>
              </a:rPr>
              <a:t>sa-ai-release</a:t>
            </a:r>
          </a:p>
        </p:txBody>
      </p:sp>
      <p:sp>
        <p:nvSpPr>
          <p:cNvPr id="86" name="Text 81"/>
          <p:cNvSpPr txBox="1"/>
          <p:nvPr/>
        </p:nvSpPr>
        <p:spPr>
          <a:xfrm>
            <a:off x="7360919" y="4224528"/>
            <a:ext cx="1837943" cy="182880"/>
          </a:xfrm>
          <a:prstGeom prst="rect">
            <a:avLst/>
          </a:prstGeom>
          <a:noFill/>
        </p:spPr>
        <p:txBody>
          <a:bodyPr wrap="square" lIns="0" rIns="0" tIns="0" bIns="0" anchor="ctr">
            <a:spAutoFit/>
          </a:bodyPr>
          <a:lstStyle/>
          <a:p>
            <a:r>
              <a:rPr sz="600" b="1" i="0">
                <a:solidFill>
                  <a:srgbClr val="FF0069"/>
                </a:solidFill>
                <a:latin typeface="Trenda IG Text"/>
              </a:rPr>
              <a:t>No production identity for any agent.</a:t>
            </a:r>
          </a:p>
        </p:txBody>
      </p:sp>
      <p:sp>
        <p:nvSpPr>
          <p:cNvPr id="87" name="Shape 82"/>
          <p:cNvSpPr/>
          <p:nvPr/>
        </p:nvSpPr>
        <p:spPr>
          <a:xfrm>
            <a:off x="3551529" y="2738628"/>
            <a:ext cx="865022"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3"/>
          <p:cNvSpPr txBox="1"/>
          <p:nvPr/>
        </p:nvSpPr>
        <p:spPr>
          <a:xfrm>
            <a:off x="3551529" y="2738628"/>
            <a:ext cx="865022" cy="155448"/>
          </a:xfrm>
          <a:prstGeom prst="rect">
            <a:avLst/>
          </a:prstGeom>
          <a:noFill/>
        </p:spPr>
        <p:txBody>
          <a:bodyPr wrap="square" lIns="0" rIns="0" tIns="0" bIns="0" anchor="ctr">
            <a:spAutoFit/>
          </a:bodyPr>
          <a:lstStyle/>
          <a:p>
            <a:pPr algn="ctr"/>
            <a:r>
              <a:rPr sz="520" b="1" i="0" spc="60">
                <a:solidFill>
                  <a:srgbClr val="00D6F2"/>
                </a:solidFill>
                <a:latin typeface="Trenda IG Text"/>
              </a:rPr>
              <a:t>03  </a:t>
            </a:r>
            <a:r>
              <a:rPr sz="520" b="1" i="0" spc="60">
                <a:solidFill>
                  <a:srgbClr val="FFFFFF"/>
                </a:solidFill>
                <a:latin typeface="Trenda IG Text"/>
              </a:rPr>
              <a:t>ORCHESTRATION</a:t>
            </a:r>
          </a:p>
        </p:txBody>
      </p:sp>
      <p:sp>
        <p:nvSpPr>
          <p:cNvPr id="89" name="Shape 84"/>
          <p:cNvSpPr/>
          <p:nvPr/>
        </p:nvSpPr>
        <p:spPr>
          <a:xfrm>
            <a:off x="8637422" y="2738628"/>
            <a:ext cx="579729"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5"/>
          <p:cNvSpPr txBox="1"/>
          <p:nvPr/>
        </p:nvSpPr>
        <p:spPr>
          <a:xfrm>
            <a:off x="8637422" y="2738628"/>
            <a:ext cx="579729" cy="155448"/>
          </a:xfrm>
          <a:prstGeom prst="rect">
            <a:avLst/>
          </a:prstGeom>
          <a:noFill/>
        </p:spPr>
        <p:txBody>
          <a:bodyPr wrap="square" lIns="0" rIns="0" tIns="0" bIns="0" anchor="ctr">
            <a:spAutoFit/>
          </a:bodyPr>
          <a:lstStyle/>
          <a:p>
            <a:pPr algn="ctr"/>
            <a:r>
              <a:rPr sz="520" b="1" i="0" spc="60">
                <a:solidFill>
                  <a:srgbClr val="00D6F2"/>
                </a:solidFill>
                <a:latin typeface="Trenda IG Text"/>
              </a:rPr>
              <a:t>04  </a:t>
            </a:r>
            <a:r>
              <a:rPr sz="520" b="1" i="0" spc="60">
                <a:solidFill>
                  <a:srgbClr val="FFFFFF"/>
                </a:solidFill>
                <a:latin typeface="Trenda IG Text"/>
              </a:rPr>
              <a:t>CONTROL</a:t>
            </a:r>
          </a:p>
        </p:txBody>
      </p:sp>
      <p:sp>
        <p:nvSpPr>
          <p:cNvPr id="91" name="Shape 86"/>
          <p:cNvSpPr/>
          <p:nvPr/>
        </p:nvSpPr>
        <p:spPr>
          <a:xfrm>
            <a:off x="8684971" y="3378708"/>
            <a:ext cx="532180"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87"/>
          <p:cNvSpPr txBox="1"/>
          <p:nvPr/>
        </p:nvSpPr>
        <p:spPr>
          <a:xfrm>
            <a:off x="8684971" y="3378708"/>
            <a:ext cx="532180" cy="155448"/>
          </a:xfrm>
          <a:prstGeom prst="rect">
            <a:avLst/>
          </a:prstGeom>
          <a:noFill/>
        </p:spPr>
        <p:txBody>
          <a:bodyPr wrap="square" lIns="0" rIns="0" tIns="0" bIns="0" anchor="ctr">
            <a:spAutoFit/>
          </a:bodyPr>
          <a:lstStyle/>
          <a:p>
            <a:pPr algn="ctr"/>
            <a:r>
              <a:rPr sz="520" b="1" i="0" spc="60">
                <a:solidFill>
                  <a:srgbClr val="00D6F2"/>
                </a:solidFill>
                <a:latin typeface="Trenda IG Text"/>
              </a:rPr>
              <a:t>02  </a:t>
            </a:r>
            <a:r>
              <a:rPr sz="520" b="1" i="0" spc="60">
                <a:solidFill>
                  <a:srgbClr val="FFFFFF"/>
                </a:solidFill>
                <a:latin typeface="Trenda IG Text"/>
              </a:rPr>
              <a:t>ACTION</a:t>
            </a:r>
          </a:p>
        </p:txBody>
      </p:sp>
      <p:cxnSp>
        <p:nvCxnSpPr>
          <p:cNvPr id="93" name="Arrow 88"/>
          <p:cNvCxnSpPr/>
          <p:nvPr/>
        </p:nvCxnSpPr>
        <p:spPr>
          <a:xfrm>
            <a:off x="4453128" y="3310128"/>
            <a:ext cx="91440"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Arrow 89"/>
          <p:cNvCxnSpPr/>
          <p:nvPr/>
        </p:nvCxnSpPr>
        <p:spPr>
          <a:xfrm>
            <a:off x="7196328" y="3767328"/>
            <a:ext cx="91440"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Shape 90"/>
          <p:cNvSpPr/>
          <p:nvPr/>
        </p:nvSpPr>
        <p:spPr>
          <a:xfrm>
            <a:off x="7150608" y="3511296"/>
            <a:ext cx="173736" cy="173736"/>
          </a:xfrm>
          <a:prstGeom prst="ellipse">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1"/>
          <p:cNvSpPr txBox="1"/>
          <p:nvPr/>
        </p:nvSpPr>
        <p:spPr>
          <a:xfrm>
            <a:off x="7150608" y="3511296"/>
            <a:ext cx="173736" cy="173736"/>
          </a:xfrm>
          <a:prstGeom prst="rect">
            <a:avLst/>
          </a:prstGeom>
          <a:noFill/>
        </p:spPr>
        <p:txBody>
          <a:bodyPr wrap="square" lIns="0" rIns="0" tIns="0" bIns="0" anchor="ctr">
            <a:spAutoFit/>
          </a:bodyPr>
          <a:lstStyle/>
          <a:p>
            <a:pPr algn="ctr"/>
            <a:r>
              <a:rPr sz="650" b="1" i="0">
                <a:solidFill>
                  <a:srgbClr val="FFFFFF"/>
                </a:solidFill>
                <a:latin typeface="Trenda IG Text"/>
              </a:rPr>
              <a:t>4</a:t>
            </a:r>
          </a:p>
        </p:txBody>
      </p:sp>
      <p:cxnSp>
        <p:nvCxnSpPr>
          <p:cNvPr id="97" name="Arrow 92"/>
          <p:cNvCxnSpPr/>
          <p:nvPr/>
        </p:nvCxnSpPr>
        <p:spPr>
          <a:xfrm>
            <a:off x="8279892" y="3419856"/>
            <a:ext cx="0" cy="73152"/>
          </a:xfrm>
          <a:prstGeom prst="line">
            <a:avLst/>
          </a:prstGeom>
          <a:ln w="1270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Arrow 93"/>
          <p:cNvCxnSpPr/>
          <p:nvPr/>
        </p:nvCxnSpPr>
        <p:spPr>
          <a:xfrm flipV="1">
            <a:off x="5001768" y="2423160"/>
            <a:ext cx="0" cy="429768"/>
          </a:xfrm>
          <a:prstGeom prst="line">
            <a:avLst/>
          </a:prstGeom>
          <a:ln w="19050">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Shape 94"/>
          <p:cNvSpPr/>
          <p:nvPr/>
        </p:nvSpPr>
        <p:spPr>
          <a:xfrm>
            <a:off x="5093208" y="2523744"/>
            <a:ext cx="173736" cy="173736"/>
          </a:xfrm>
          <a:prstGeom prst="ellipse">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5"/>
          <p:cNvSpPr txBox="1"/>
          <p:nvPr/>
        </p:nvSpPr>
        <p:spPr>
          <a:xfrm>
            <a:off x="5093208" y="2523744"/>
            <a:ext cx="173736" cy="173736"/>
          </a:xfrm>
          <a:prstGeom prst="rect">
            <a:avLst/>
          </a:prstGeom>
          <a:noFill/>
        </p:spPr>
        <p:txBody>
          <a:bodyPr wrap="square" lIns="0" rIns="0" tIns="0" bIns="0" anchor="ctr">
            <a:spAutoFit/>
          </a:bodyPr>
          <a:lstStyle/>
          <a:p>
            <a:pPr algn="ctr"/>
            <a:r>
              <a:rPr sz="650" b="1" i="0">
                <a:solidFill>
                  <a:srgbClr val="FFFFFF"/>
                </a:solidFill>
                <a:latin typeface="Trenda IG Text"/>
              </a:rPr>
              <a:t>3</a:t>
            </a:r>
          </a:p>
        </p:txBody>
      </p:sp>
      <p:sp>
        <p:nvSpPr>
          <p:cNvPr id="101" name="Text 96"/>
          <p:cNvSpPr txBox="1"/>
          <p:nvPr/>
        </p:nvSpPr>
        <p:spPr>
          <a:xfrm>
            <a:off x="5294376" y="2523744"/>
            <a:ext cx="1463040" cy="173736"/>
          </a:xfrm>
          <a:prstGeom prst="rect">
            <a:avLst/>
          </a:prstGeom>
          <a:noFill/>
        </p:spPr>
        <p:txBody>
          <a:bodyPr wrap="square" lIns="0" rIns="0" tIns="0" bIns="0" anchor="ctr">
            <a:spAutoFit/>
          </a:bodyPr>
          <a:lstStyle/>
          <a:p>
            <a:r>
              <a:rPr sz="600" b="1" i="0">
                <a:solidFill>
                  <a:srgbClr val="4527A0"/>
                </a:solidFill>
                <a:latin typeface="Trenda IG Text"/>
              </a:rPr>
              <a:t>graph.* · cited facts</a:t>
            </a:r>
          </a:p>
        </p:txBody>
      </p:sp>
      <p:sp>
        <p:nvSpPr>
          <p:cNvPr id="102" name="Shape 97"/>
          <p:cNvSpPr/>
          <p:nvPr/>
        </p:nvSpPr>
        <p:spPr>
          <a:xfrm>
            <a:off x="2697480" y="4636008"/>
            <a:ext cx="2286000" cy="731520"/>
          </a:xfrm>
          <a:prstGeom prst="roundRect">
            <a:avLst>
              <a:gd name="adj" fmla="val 8000"/>
            </a:avLst>
          </a:prstGeom>
          <a:solidFill>
            <a:srgbClr val="FFF7CC"/>
          </a:solidFill>
          <a:ln w="285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98"/>
          <p:cNvSpPr txBox="1"/>
          <p:nvPr/>
        </p:nvSpPr>
        <p:spPr>
          <a:xfrm>
            <a:off x="2788920" y="4681728"/>
            <a:ext cx="1737360" cy="658368"/>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Eval gate · Cloud Build</a:t>
            </a:r>
          </a:p>
          <a:p>
            <a:pPr>
              <a:spcAft>
                <a:spcPts val="100"/>
              </a:spcAft>
            </a:pPr>
            <a:r>
              <a:rPr sz="610" b="0" i="0">
                <a:solidFill>
                  <a:srgbClr val="000000"/>
                </a:solidFill>
                <a:latin typeface="Trenda IG Text"/>
              </a:rPr>
              <a:t>Golden set + held-out set pass before any prompt, skill or model change. Weekly blind sample labelled by your experts.</a:t>
            </a:r>
          </a:p>
        </p:txBody>
      </p:sp>
      <p:sp>
        <p:nvSpPr>
          <p:cNvPr id="104" name="Shape 99"/>
          <p:cNvSpPr/>
          <p:nvPr/>
        </p:nvSpPr>
        <p:spPr>
          <a:xfrm>
            <a:off x="4489704" y="4690872"/>
            <a:ext cx="420624" cy="146304"/>
          </a:xfrm>
          <a:prstGeom prst="roundRect">
            <a:avLst>
              <a:gd name="adj" fmla="val 50000"/>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 100"/>
          <p:cNvSpPr txBox="1"/>
          <p:nvPr/>
        </p:nvSpPr>
        <p:spPr>
          <a:xfrm>
            <a:off x="4489704" y="4690872"/>
            <a:ext cx="420624" cy="146304"/>
          </a:xfrm>
          <a:prstGeom prst="rect">
            <a:avLst/>
          </a:prstGeom>
          <a:noFill/>
        </p:spPr>
        <p:txBody>
          <a:bodyPr wrap="square" lIns="0" rIns="0" tIns="0" bIns="0" anchor="ctr">
            <a:spAutoFit/>
          </a:bodyPr>
          <a:lstStyle/>
          <a:p>
            <a:pPr algn="ctr"/>
            <a:r>
              <a:rPr sz="550" b="1" i="0" spc="120">
                <a:solidFill>
                  <a:srgbClr val="000000"/>
                </a:solidFill>
                <a:latin typeface="Trenda IG Text"/>
              </a:rPr>
              <a:t>EVALS</a:t>
            </a:r>
          </a:p>
        </p:txBody>
      </p:sp>
      <p:sp>
        <p:nvSpPr>
          <p:cNvPr id="106" name="Shape 101"/>
          <p:cNvSpPr/>
          <p:nvPr/>
        </p:nvSpPr>
        <p:spPr>
          <a:xfrm>
            <a:off x="2788920" y="4521708"/>
            <a:ext cx="627278" cy="155448"/>
          </a:xfrm>
          <a:prstGeom prst="roundRect">
            <a:avLst>
              <a:gd name="adj" fmla="val 5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2"/>
          <p:cNvSpPr txBox="1"/>
          <p:nvPr/>
        </p:nvSpPr>
        <p:spPr>
          <a:xfrm>
            <a:off x="2788920" y="4521708"/>
            <a:ext cx="627278" cy="155448"/>
          </a:xfrm>
          <a:prstGeom prst="rect">
            <a:avLst/>
          </a:prstGeom>
          <a:noFill/>
        </p:spPr>
        <p:txBody>
          <a:bodyPr wrap="square" lIns="0" rIns="0" tIns="0" bIns="0" anchor="ctr">
            <a:spAutoFit/>
          </a:bodyPr>
          <a:lstStyle/>
          <a:p>
            <a:pPr algn="ctr"/>
            <a:r>
              <a:rPr sz="520" b="1" i="0" spc="60">
                <a:solidFill>
                  <a:srgbClr val="00D6F2"/>
                </a:solidFill>
                <a:latin typeface="Trenda IG Text"/>
              </a:rPr>
              <a:t>05  </a:t>
            </a:r>
            <a:r>
              <a:rPr sz="520" b="1" i="0" spc="60">
                <a:solidFill>
                  <a:srgbClr val="FFFFFF"/>
                </a:solidFill>
                <a:latin typeface="Trenda IG Text"/>
              </a:rPr>
              <a:t>FEEDBACK</a:t>
            </a:r>
          </a:p>
        </p:txBody>
      </p:sp>
      <p:sp>
        <p:nvSpPr>
          <p:cNvPr id="108" name="Shape 103"/>
          <p:cNvSpPr/>
          <p:nvPr/>
        </p:nvSpPr>
        <p:spPr>
          <a:xfrm>
            <a:off x="5074920" y="4636008"/>
            <a:ext cx="1463040" cy="731520"/>
          </a:xfrm>
          <a:prstGeom prst="roundRect">
            <a:avLst>
              <a:gd name="adj" fmla="val 6000"/>
            </a:avLst>
          </a:prstGeom>
          <a:solidFill>
            <a:srgbClr val="FFFFFF"/>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4"/>
          <p:cNvSpPr txBox="1"/>
          <p:nvPr/>
        </p:nvSpPr>
        <p:spPr>
          <a:xfrm>
            <a:off x="5148072" y="4690872"/>
            <a:ext cx="1316736" cy="64008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Change passport · BigQuery</a:t>
            </a:r>
          </a:p>
          <a:p>
            <a:pPr>
              <a:spcAft>
                <a:spcPts val="100"/>
              </a:spcAft>
            </a:pPr>
            <a:r>
              <a:rPr sz="630" b="0" i="0">
                <a:solidFill>
                  <a:srgbClr val="2B2B2B"/>
                </a:solidFill>
                <a:latin typeface="Trenda IG Text"/>
              </a:rPr>
              <a:t>One hash-chained row per event: tamper-evident.</a:t>
            </a:r>
          </a:p>
        </p:txBody>
      </p:sp>
      <p:sp>
        <p:nvSpPr>
          <p:cNvPr id="110" name="Shape 105"/>
          <p:cNvSpPr/>
          <p:nvPr/>
        </p:nvSpPr>
        <p:spPr>
          <a:xfrm>
            <a:off x="6629400" y="4636008"/>
            <a:ext cx="1234440" cy="731520"/>
          </a:xfrm>
          <a:prstGeom prst="roundRect">
            <a:avLst>
              <a:gd name="adj" fmla="val 6000"/>
            </a:avLst>
          </a:prstGeom>
          <a:solidFill>
            <a:srgbClr val="FFFFFF"/>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 106"/>
          <p:cNvSpPr txBox="1"/>
          <p:nvPr/>
        </p:nvSpPr>
        <p:spPr>
          <a:xfrm>
            <a:off x="6702552" y="4690872"/>
            <a:ext cx="1088136" cy="64008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Measured per pod</a:t>
            </a:r>
          </a:p>
          <a:p>
            <a:pPr>
              <a:spcAft>
                <a:spcPts val="100"/>
              </a:spcAft>
            </a:pPr>
            <a:r>
              <a:rPr sz="630" b="0" i="0">
                <a:solidFill>
                  <a:srgbClr val="2B2B2B"/>
                </a:solidFill>
                <a:latin typeface="Trenda IG Text"/>
              </a:rPr>
              <a:t>Cycle time, rework, defects, cost per change.</a:t>
            </a:r>
          </a:p>
        </p:txBody>
      </p:sp>
      <p:sp>
        <p:nvSpPr>
          <p:cNvPr id="112" name="Shape 107"/>
          <p:cNvSpPr/>
          <p:nvPr/>
        </p:nvSpPr>
        <p:spPr>
          <a:xfrm>
            <a:off x="7955279" y="4636008"/>
            <a:ext cx="1408176" cy="731520"/>
          </a:xfrm>
          <a:prstGeom prst="roundRect">
            <a:avLst>
              <a:gd name="adj" fmla="val 6000"/>
            </a:avLst>
          </a:prstGeom>
          <a:solidFill>
            <a:srgbClr val="FFFFFF"/>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3" name="Picture 112" descr="openai.png"/>
          <p:cNvPicPr>
            <a:picLocks noChangeAspect="1"/>
          </p:cNvPicPr>
          <p:nvPr/>
        </p:nvPicPr>
        <p:blipFill>
          <a:blip r:embed="rId6"/>
          <a:stretch>
            <a:fillRect/>
          </a:stretch>
        </p:blipFill>
        <p:spPr>
          <a:xfrm>
            <a:off x="9107424" y="4700016"/>
            <a:ext cx="182880" cy="182880"/>
          </a:xfrm>
          <a:prstGeom prst="rect">
            <a:avLst/>
          </a:prstGeom>
        </p:spPr>
      </p:pic>
      <p:sp>
        <p:nvSpPr>
          <p:cNvPr id="114" name="Text 108"/>
          <p:cNvSpPr txBox="1"/>
          <p:nvPr/>
        </p:nvSpPr>
        <p:spPr>
          <a:xfrm>
            <a:off x="8028431" y="4690872"/>
            <a:ext cx="1024128" cy="64008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Codex Enterprise</a:t>
            </a:r>
          </a:p>
          <a:p>
            <a:pPr>
              <a:spcAft>
                <a:spcPts val="100"/>
              </a:spcAft>
            </a:pPr>
            <a:r>
              <a:rPr sz="630" b="0" i="0">
                <a:solidFill>
                  <a:srgbClr val="2B2B2B"/>
                </a:solidFill>
                <a:latin typeface="Trenda IG Text"/>
              </a:rPr>
              <a:t>Model Armor screens every prompt and response; enterprise data protection signed.</a:t>
            </a:r>
          </a:p>
        </p:txBody>
      </p:sp>
      <p:sp>
        <p:nvSpPr>
          <p:cNvPr id="115" name="Shape 109"/>
          <p:cNvSpPr/>
          <p:nvPr/>
        </p:nvSpPr>
        <p:spPr>
          <a:xfrm>
            <a:off x="9601200" y="1161288"/>
            <a:ext cx="2176272" cy="2560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0"/>
          <p:cNvSpPr txBox="1"/>
          <p:nvPr/>
        </p:nvSpPr>
        <p:spPr>
          <a:xfrm>
            <a:off x="9692640" y="1161288"/>
            <a:ext cx="1993391" cy="256032"/>
          </a:xfrm>
          <a:prstGeom prst="rect">
            <a:avLst/>
          </a:prstGeom>
          <a:noFill/>
        </p:spPr>
        <p:txBody>
          <a:bodyPr wrap="square" lIns="0" rIns="0" tIns="0" bIns="0" anchor="ctr">
            <a:spAutoFit/>
          </a:bodyPr>
          <a:lstStyle/>
          <a:p>
            <a:r>
              <a:rPr sz="750" b="1" i="0" spc="150">
                <a:solidFill>
                  <a:srgbClr val="FFFFFF"/>
                </a:solidFill>
                <a:latin typeface="Trenda IG Text"/>
              </a:rPr>
              <a:t>SYSTEMS OF RECORD</a:t>
            </a:r>
            <a:r>
              <a:rPr sz="750" b="0" i="0">
                <a:solidFill>
                  <a:srgbClr val="BFBFBF"/>
                </a:solidFill>
                <a:latin typeface="Trenda IG Text"/>
              </a:rPr>
              <a:t>   read · write</a:t>
            </a:r>
          </a:p>
        </p:txBody>
      </p:sp>
      <p:sp>
        <p:nvSpPr>
          <p:cNvPr id="117" name="Shape 111"/>
          <p:cNvSpPr/>
          <p:nvPr/>
        </p:nvSpPr>
        <p:spPr>
          <a:xfrm>
            <a:off x="9601200" y="1417320"/>
            <a:ext cx="2176272" cy="402335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jira.png"/>
          <p:cNvPicPr>
            <a:picLocks noChangeAspect="1"/>
          </p:cNvPicPr>
          <p:nvPr/>
        </p:nvPicPr>
        <p:blipFill>
          <a:blip r:embed="rId7"/>
          <a:stretch>
            <a:fillRect/>
          </a:stretch>
        </p:blipFill>
        <p:spPr>
          <a:xfrm>
            <a:off x="9692640" y="1508760"/>
            <a:ext cx="164592" cy="164592"/>
          </a:xfrm>
          <a:prstGeom prst="rect">
            <a:avLst/>
          </a:prstGeom>
        </p:spPr>
      </p:pic>
      <p:sp>
        <p:nvSpPr>
          <p:cNvPr id="119" name="Text 112"/>
          <p:cNvSpPr txBox="1"/>
          <p:nvPr/>
        </p:nvSpPr>
        <p:spPr>
          <a:xfrm>
            <a:off x="9912096" y="1508760"/>
            <a:ext cx="1773936" cy="164592"/>
          </a:xfrm>
          <a:prstGeom prst="rect">
            <a:avLst/>
          </a:prstGeom>
          <a:noFill/>
        </p:spPr>
        <p:txBody>
          <a:bodyPr wrap="square" lIns="0" rIns="0" tIns="0" bIns="0" anchor="ctr">
            <a:spAutoFit/>
          </a:bodyPr>
          <a:lstStyle/>
          <a:p>
            <a:r>
              <a:rPr sz="750" b="1" i="0">
                <a:solidFill>
                  <a:srgbClr val="000000"/>
                </a:solidFill>
                <a:latin typeface="Trenda IG Text"/>
              </a:rPr>
              <a:t>Jira</a:t>
            </a:r>
          </a:p>
        </p:txBody>
      </p:sp>
      <p:sp>
        <p:nvSpPr>
          <p:cNvPr id="120" name="Shape 113"/>
          <p:cNvSpPr/>
          <p:nvPr/>
        </p:nvSpPr>
        <p:spPr>
          <a:xfrm>
            <a:off x="9692640" y="1700784"/>
            <a:ext cx="347472" cy="109728"/>
          </a:xfrm>
          <a:prstGeom prst="roundRect">
            <a:avLst>
              <a:gd name="adj" fmla="val 50000"/>
            </a:avLst>
          </a:prstGeom>
          <a:solidFill>
            <a:srgbClr val="FFFFFF"/>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4"/>
          <p:cNvSpPr txBox="1"/>
          <p:nvPr/>
        </p:nvSpPr>
        <p:spPr>
          <a:xfrm>
            <a:off x="9692640" y="1700784"/>
            <a:ext cx="347472" cy="109728"/>
          </a:xfrm>
          <a:prstGeom prst="rect">
            <a:avLst/>
          </a:prstGeom>
          <a:noFill/>
        </p:spPr>
        <p:txBody>
          <a:bodyPr wrap="square" lIns="0" rIns="0" tIns="0" bIns="0" anchor="ctr">
            <a:spAutoFit/>
          </a:bodyPr>
          <a:lstStyle/>
          <a:p>
            <a:pPr algn="ctr"/>
            <a:r>
              <a:rPr sz="500" b="1" i="0">
                <a:solidFill>
                  <a:srgbClr val="4527A0"/>
                </a:solidFill>
                <a:latin typeface="Trenda IG Text"/>
              </a:rPr>
              <a:t>READ</a:t>
            </a:r>
          </a:p>
        </p:txBody>
      </p:sp>
      <p:sp>
        <p:nvSpPr>
          <p:cNvPr id="122" name="Text 115"/>
          <p:cNvSpPr txBox="1"/>
          <p:nvPr/>
        </p:nvSpPr>
        <p:spPr>
          <a:xfrm>
            <a:off x="10094976" y="1682495"/>
            <a:ext cx="1591055" cy="146304"/>
          </a:xfrm>
          <a:prstGeom prst="rect">
            <a:avLst/>
          </a:prstGeom>
          <a:noFill/>
        </p:spPr>
        <p:txBody>
          <a:bodyPr wrap="square" lIns="0" rIns="0" tIns="0" bIns="0" anchor="ctr">
            <a:spAutoFit/>
          </a:bodyPr>
          <a:lstStyle/>
          <a:p>
            <a:r>
              <a:rPr sz="600" b="0" i="0">
                <a:solidFill>
                  <a:srgbClr val="2B2B2B"/>
                </a:solidFill>
                <a:latin typeface="Trenda IG Text"/>
              </a:rPr>
              <a:t>stories, criteria</a:t>
            </a:r>
          </a:p>
        </p:txBody>
      </p:sp>
      <p:sp>
        <p:nvSpPr>
          <p:cNvPr id="123" name="Shape 116"/>
          <p:cNvSpPr/>
          <p:nvPr/>
        </p:nvSpPr>
        <p:spPr>
          <a:xfrm>
            <a:off x="9692640" y="1837943"/>
            <a:ext cx="347472" cy="109728"/>
          </a:xfrm>
          <a:prstGeom prst="roundRect">
            <a:avLst>
              <a:gd name="adj" fmla="val 5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7"/>
          <p:cNvSpPr txBox="1"/>
          <p:nvPr/>
        </p:nvSpPr>
        <p:spPr>
          <a:xfrm>
            <a:off x="9692640" y="1837943"/>
            <a:ext cx="347472" cy="109728"/>
          </a:xfrm>
          <a:prstGeom prst="rect">
            <a:avLst/>
          </a:prstGeom>
          <a:noFill/>
        </p:spPr>
        <p:txBody>
          <a:bodyPr wrap="square" lIns="0" rIns="0" tIns="0" bIns="0" anchor="ctr">
            <a:spAutoFit/>
          </a:bodyPr>
          <a:lstStyle/>
          <a:p>
            <a:pPr algn="ctr"/>
            <a:r>
              <a:rPr sz="500" b="1" i="0">
                <a:solidFill>
                  <a:srgbClr val="FF0069"/>
                </a:solidFill>
                <a:latin typeface="Trenda IG Text"/>
              </a:rPr>
              <a:t>WRITE</a:t>
            </a:r>
          </a:p>
        </p:txBody>
      </p:sp>
      <p:sp>
        <p:nvSpPr>
          <p:cNvPr id="125" name="Text 118"/>
          <p:cNvSpPr txBox="1"/>
          <p:nvPr/>
        </p:nvSpPr>
        <p:spPr>
          <a:xfrm>
            <a:off x="10094976" y="1819655"/>
            <a:ext cx="1591055" cy="146304"/>
          </a:xfrm>
          <a:prstGeom prst="rect">
            <a:avLst/>
          </a:prstGeom>
          <a:noFill/>
        </p:spPr>
        <p:txBody>
          <a:bodyPr wrap="square" lIns="0" rIns="0" tIns="0" bIns="0" anchor="ctr">
            <a:spAutoFit/>
          </a:bodyPr>
          <a:lstStyle/>
          <a:p>
            <a:r>
              <a:rPr sz="600" b="0" i="0">
                <a:solidFill>
                  <a:srgbClr val="2B2B2B"/>
                </a:solidFill>
                <a:latin typeface="Trenda IG Text"/>
              </a:rPr>
              <a:t>brief, status to Done</a:t>
            </a:r>
          </a:p>
        </p:txBody>
      </p:sp>
      <p:pic>
        <p:nvPicPr>
          <p:cNvPr id="126" name="Picture 125" descr="confluence.png"/>
          <p:cNvPicPr>
            <a:picLocks noChangeAspect="1"/>
          </p:cNvPicPr>
          <p:nvPr/>
        </p:nvPicPr>
        <p:blipFill>
          <a:blip r:embed="rId8"/>
          <a:stretch>
            <a:fillRect/>
          </a:stretch>
        </p:blipFill>
        <p:spPr>
          <a:xfrm>
            <a:off x="9692640" y="2029967"/>
            <a:ext cx="164592" cy="164592"/>
          </a:xfrm>
          <a:prstGeom prst="rect">
            <a:avLst/>
          </a:prstGeom>
        </p:spPr>
      </p:pic>
      <p:sp>
        <p:nvSpPr>
          <p:cNvPr id="127" name="Text 119"/>
          <p:cNvSpPr txBox="1"/>
          <p:nvPr/>
        </p:nvSpPr>
        <p:spPr>
          <a:xfrm>
            <a:off x="9912096" y="2029967"/>
            <a:ext cx="1773936" cy="164592"/>
          </a:xfrm>
          <a:prstGeom prst="rect">
            <a:avLst/>
          </a:prstGeom>
          <a:noFill/>
        </p:spPr>
        <p:txBody>
          <a:bodyPr wrap="square" lIns="0" rIns="0" tIns="0" bIns="0" anchor="ctr">
            <a:spAutoFit/>
          </a:bodyPr>
          <a:lstStyle/>
          <a:p>
            <a:r>
              <a:rPr sz="750" b="1" i="0">
                <a:solidFill>
                  <a:srgbClr val="000000"/>
                </a:solidFill>
                <a:latin typeface="Trenda IG Text"/>
              </a:rPr>
              <a:t>Confluence</a:t>
            </a:r>
          </a:p>
        </p:txBody>
      </p:sp>
      <p:sp>
        <p:nvSpPr>
          <p:cNvPr id="128" name="Shape 120"/>
          <p:cNvSpPr/>
          <p:nvPr/>
        </p:nvSpPr>
        <p:spPr>
          <a:xfrm>
            <a:off x="9692640" y="2221991"/>
            <a:ext cx="347472" cy="109728"/>
          </a:xfrm>
          <a:prstGeom prst="roundRect">
            <a:avLst>
              <a:gd name="adj" fmla="val 50000"/>
            </a:avLst>
          </a:prstGeom>
          <a:solidFill>
            <a:srgbClr val="FFFFFF"/>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21"/>
          <p:cNvSpPr txBox="1"/>
          <p:nvPr/>
        </p:nvSpPr>
        <p:spPr>
          <a:xfrm>
            <a:off x="9692640" y="2221991"/>
            <a:ext cx="347472" cy="109728"/>
          </a:xfrm>
          <a:prstGeom prst="rect">
            <a:avLst/>
          </a:prstGeom>
          <a:noFill/>
        </p:spPr>
        <p:txBody>
          <a:bodyPr wrap="square" lIns="0" rIns="0" tIns="0" bIns="0" anchor="ctr">
            <a:spAutoFit/>
          </a:bodyPr>
          <a:lstStyle/>
          <a:p>
            <a:pPr algn="ctr"/>
            <a:r>
              <a:rPr sz="500" b="1" i="0">
                <a:solidFill>
                  <a:srgbClr val="4527A0"/>
                </a:solidFill>
                <a:latin typeface="Trenda IG Text"/>
              </a:rPr>
              <a:t>READ</a:t>
            </a:r>
          </a:p>
        </p:txBody>
      </p:sp>
      <p:sp>
        <p:nvSpPr>
          <p:cNvPr id="130" name="Text 122"/>
          <p:cNvSpPr txBox="1"/>
          <p:nvPr/>
        </p:nvSpPr>
        <p:spPr>
          <a:xfrm>
            <a:off x="10094976" y="2203703"/>
            <a:ext cx="1591055" cy="146304"/>
          </a:xfrm>
          <a:prstGeom prst="rect">
            <a:avLst/>
          </a:prstGeom>
          <a:noFill/>
        </p:spPr>
        <p:txBody>
          <a:bodyPr wrap="square" lIns="0" rIns="0" tIns="0" bIns="0" anchor="ctr">
            <a:spAutoFit/>
          </a:bodyPr>
          <a:lstStyle/>
          <a:p>
            <a:r>
              <a:rPr sz="600" b="0" i="0">
                <a:solidFill>
                  <a:srgbClr val="2B2B2B"/>
                </a:solidFill>
                <a:latin typeface="Trenda IG Text"/>
              </a:rPr>
              <a:t>designs, rules</a:t>
            </a:r>
          </a:p>
        </p:txBody>
      </p:sp>
      <p:sp>
        <p:nvSpPr>
          <p:cNvPr id="131" name="Shape 123"/>
          <p:cNvSpPr/>
          <p:nvPr/>
        </p:nvSpPr>
        <p:spPr>
          <a:xfrm>
            <a:off x="9692640" y="2359151"/>
            <a:ext cx="347472" cy="109728"/>
          </a:xfrm>
          <a:prstGeom prst="roundRect">
            <a:avLst>
              <a:gd name="adj" fmla="val 5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 124"/>
          <p:cNvSpPr txBox="1"/>
          <p:nvPr/>
        </p:nvSpPr>
        <p:spPr>
          <a:xfrm>
            <a:off x="9692640" y="2359151"/>
            <a:ext cx="347472" cy="109728"/>
          </a:xfrm>
          <a:prstGeom prst="rect">
            <a:avLst/>
          </a:prstGeom>
          <a:noFill/>
        </p:spPr>
        <p:txBody>
          <a:bodyPr wrap="square" lIns="0" rIns="0" tIns="0" bIns="0" anchor="ctr">
            <a:spAutoFit/>
          </a:bodyPr>
          <a:lstStyle/>
          <a:p>
            <a:pPr algn="ctr"/>
            <a:r>
              <a:rPr sz="500" b="1" i="0">
                <a:solidFill>
                  <a:srgbClr val="FF0069"/>
                </a:solidFill>
                <a:latin typeface="Trenda IG Text"/>
              </a:rPr>
              <a:t>WRITE</a:t>
            </a:r>
          </a:p>
        </p:txBody>
      </p:sp>
      <p:sp>
        <p:nvSpPr>
          <p:cNvPr id="133" name="Text 125"/>
          <p:cNvSpPr txBox="1"/>
          <p:nvPr/>
        </p:nvSpPr>
        <p:spPr>
          <a:xfrm>
            <a:off x="10094976" y="2340863"/>
            <a:ext cx="1591055" cy="146304"/>
          </a:xfrm>
          <a:prstGeom prst="rect">
            <a:avLst/>
          </a:prstGeom>
          <a:noFill/>
        </p:spPr>
        <p:txBody>
          <a:bodyPr wrap="square" lIns="0" rIns="0" tIns="0" bIns="0" anchor="ctr">
            <a:spAutoFit/>
          </a:bodyPr>
          <a:lstStyle/>
          <a:p>
            <a:r>
              <a:rPr sz="600" b="0" i="0">
                <a:solidFill>
                  <a:srgbClr val="2B2B2B"/>
                </a:solidFill>
                <a:latin typeface="Trenda IG Text"/>
              </a:rPr>
              <a:t>design draft, as-built</a:t>
            </a:r>
          </a:p>
        </p:txBody>
      </p:sp>
      <p:pic>
        <p:nvPicPr>
          <p:cNvPr id="134" name="Picture 133" descr="googledrive.png"/>
          <p:cNvPicPr>
            <a:picLocks noChangeAspect="1"/>
          </p:cNvPicPr>
          <p:nvPr/>
        </p:nvPicPr>
        <p:blipFill>
          <a:blip r:embed="rId9"/>
          <a:stretch>
            <a:fillRect/>
          </a:stretch>
        </p:blipFill>
        <p:spPr>
          <a:xfrm>
            <a:off x="9692640" y="2551176"/>
            <a:ext cx="164592" cy="164592"/>
          </a:xfrm>
          <a:prstGeom prst="rect">
            <a:avLst/>
          </a:prstGeom>
        </p:spPr>
      </p:pic>
      <p:sp>
        <p:nvSpPr>
          <p:cNvPr id="135" name="Text 126"/>
          <p:cNvSpPr txBox="1"/>
          <p:nvPr/>
        </p:nvSpPr>
        <p:spPr>
          <a:xfrm>
            <a:off x="9912096" y="2551176"/>
            <a:ext cx="1773936" cy="164592"/>
          </a:xfrm>
          <a:prstGeom prst="rect">
            <a:avLst/>
          </a:prstGeom>
          <a:noFill/>
        </p:spPr>
        <p:txBody>
          <a:bodyPr wrap="square" lIns="0" rIns="0" tIns="0" bIns="0" anchor="ctr">
            <a:spAutoFit/>
          </a:bodyPr>
          <a:lstStyle/>
          <a:p>
            <a:r>
              <a:rPr sz="750" b="1" i="0">
                <a:solidFill>
                  <a:srgbClr val="000000"/>
                </a:solidFill>
                <a:latin typeface="Trenda IG Text"/>
              </a:rPr>
              <a:t>Google Drive</a:t>
            </a:r>
          </a:p>
        </p:txBody>
      </p:sp>
      <p:sp>
        <p:nvSpPr>
          <p:cNvPr id="136" name="Shape 127"/>
          <p:cNvSpPr/>
          <p:nvPr/>
        </p:nvSpPr>
        <p:spPr>
          <a:xfrm>
            <a:off x="9692640" y="2743200"/>
            <a:ext cx="347472" cy="109728"/>
          </a:xfrm>
          <a:prstGeom prst="roundRect">
            <a:avLst>
              <a:gd name="adj" fmla="val 50000"/>
            </a:avLst>
          </a:prstGeom>
          <a:solidFill>
            <a:srgbClr val="FFFFFF"/>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 128"/>
          <p:cNvSpPr txBox="1"/>
          <p:nvPr/>
        </p:nvSpPr>
        <p:spPr>
          <a:xfrm>
            <a:off x="9692640" y="2743200"/>
            <a:ext cx="347472" cy="109728"/>
          </a:xfrm>
          <a:prstGeom prst="rect">
            <a:avLst/>
          </a:prstGeom>
          <a:noFill/>
        </p:spPr>
        <p:txBody>
          <a:bodyPr wrap="square" lIns="0" rIns="0" tIns="0" bIns="0" anchor="ctr">
            <a:spAutoFit/>
          </a:bodyPr>
          <a:lstStyle/>
          <a:p>
            <a:pPr algn="ctr"/>
            <a:r>
              <a:rPr sz="500" b="1" i="0">
                <a:solidFill>
                  <a:srgbClr val="4527A0"/>
                </a:solidFill>
                <a:latin typeface="Trenda IG Text"/>
              </a:rPr>
              <a:t>READ</a:t>
            </a:r>
          </a:p>
        </p:txBody>
      </p:sp>
      <p:sp>
        <p:nvSpPr>
          <p:cNvPr id="138" name="Text 129"/>
          <p:cNvSpPr txBox="1"/>
          <p:nvPr/>
        </p:nvSpPr>
        <p:spPr>
          <a:xfrm>
            <a:off x="10094976" y="2724912"/>
            <a:ext cx="1591055" cy="146304"/>
          </a:xfrm>
          <a:prstGeom prst="rect">
            <a:avLst/>
          </a:prstGeom>
          <a:noFill/>
        </p:spPr>
        <p:txBody>
          <a:bodyPr wrap="square" lIns="0" rIns="0" tIns="0" bIns="0" anchor="ctr">
            <a:spAutoFit/>
          </a:bodyPr>
          <a:lstStyle/>
          <a:p>
            <a:r>
              <a:rPr sz="600" b="0" i="0">
                <a:solidFill>
                  <a:srgbClr val="2B2B2B"/>
                </a:solidFill>
                <a:latin typeface="Trenda IG Text"/>
              </a:rPr>
              <a:t>specs, mapping sheets</a:t>
            </a:r>
          </a:p>
        </p:txBody>
      </p:sp>
      <p:pic>
        <p:nvPicPr>
          <p:cNvPr id="139" name="Picture 138" descr="git.png"/>
          <p:cNvPicPr>
            <a:picLocks noChangeAspect="1"/>
          </p:cNvPicPr>
          <p:nvPr/>
        </p:nvPicPr>
        <p:blipFill>
          <a:blip r:embed="rId10"/>
          <a:stretch>
            <a:fillRect/>
          </a:stretch>
        </p:blipFill>
        <p:spPr>
          <a:xfrm>
            <a:off x="9692640" y="2935224"/>
            <a:ext cx="164592" cy="164592"/>
          </a:xfrm>
          <a:prstGeom prst="rect">
            <a:avLst/>
          </a:prstGeom>
        </p:spPr>
      </p:pic>
      <p:sp>
        <p:nvSpPr>
          <p:cNvPr id="140" name="Text 130"/>
          <p:cNvSpPr txBox="1"/>
          <p:nvPr/>
        </p:nvSpPr>
        <p:spPr>
          <a:xfrm>
            <a:off x="9912096" y="2935224"/>
            <a:ext cx="1773936" cy="164592"/>
          </a:xfrm>
          <a:prstGeom prst="rect">
            <a:avLst/>
          </a:prstGeom>
          <a:noFill/>
        </p:spPr>
        <p:txBody>
          <a:bodyPr wrap="square" lIns="0" rIns="0" tIns="0" bIns="0" anchor="ctr">
            <a:spAutoFit/>
          </a:bodyPr>
          <a:lstStyle/>
          <a:p>
            <a:r>
              <a:rPr sz="750" b="1" i="0">
                <a:solidFill>
                  <a:srgbClr val="000000"/>
                </a:solidFill>
                <a:latin typeface="Trenda IG Text"/>
              </a:rPr>
              <a:t>Git</a:t>
            </a:r>
          </a:p>
        </p:txBody>
      </p:sp>
      <p:sp>
        <p:nvSpPr>
          <p:cNvPr id="141" name="Shape 131"/>
          <p:cNvSpPr/>
          <p:nvPr/>
        </p:nvSpPr>
        <p:spPr>
          <a:xfrm>
            <a:off x="9692640" y="3127248"/>
            <a:ext cx="347472" cy="109728"/>
          </a:xfrm>
          <a:prstGeom prst="roundRect">
            <a:avLst>
              <a:gd name="adj" fmla="val 50000"/>
            </a:avLst>
          </a:prstGeom>
          <a:solidFill>
            <a:srgbClr val="FFFFFF"/>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 132"/>
          <p:cNvSpPr txBox="1"/>
          <p:nvPr/>
        </p:nvSpPr>
        <p:spPr>
          <a:xfrm>
            <a:off x="9692640" y="3127248"/>
            <a:ext cx="347472" cy="109728"/>
          </a:xfrm>
          <a:prstGeom prst="rect">
            <a:avLst/>
          </a:prstGeom>
          <a:noFill/>
        </p:spPr>
        <p:txBody>
          <a:bodyPr wrap="square" lIns="0" rIns="0" tIns="0" bIns="0" anchor="ctr">
            <a:spAutoFit/>
          </a:bodyPr>
          <a:lstStyle/>
          <a:p>
            <a:pPr algn="ctr"/>
            <a:r>
              <a:rPr sz="500" b="1" i="0">
                <a:solidFill>
                  <a:srgbClr val="4527A0"/>
                </a:solidFill>
                <a:latin typeface="Trenda IG Text"/>
              </a:rPr>
              <a:t>READ</a:t>
            </a:r>
          </a:p>
        </p:txBody>
      </p:sp>
      <p:sp>
        <p:nvSpPr>
          <p:cNvPr id="143" name="Text 133"/>
          <p:cNvSpPr txBox="1"/>
          <p:nvPr/>
        </p:nvSpPr>
        <p:spPr>
          <a:xfrm>
            <a:off x="10094976" y="3108960"/>
            <a:ext cx="1591055" cy="146304"/>
          </a:xfrm>
          <a:prstGeom prst="rect">
            <a:avLst/>
          </a:prstGeom>
          <a:noFill/>
        </p:spPr>
        <p:txBody>
          <a:bodyPr wrap="square" lIns="0" rIns="0" tIns="0" bIns="0" anchor="ctr">
            <a:spAutoFit/>
          </a:bodyPr>
          <a:lstStyle/>
          <a:p>
            <a:r>
              <a:rPr sz="600" b="0" i="0">
                <a:solidFill>
                  <a:srgbClr val="2B2B2B"/>
                </a:solidFill>
                <a:latin typeface="Trenda IG Text"/>
              </a:rPr>
              <a:t>Apex, LWC, metadata</a:t>
            </a:r>
          </a:p>
        </p:txBody>
      </p:sp>
      <p:sp>
        <p:nvSpPr>
          <p:cNvPr id="144" name="Shape 134"/>
          <p:cNvSpPr/>
          <p:nvPr/>
        </p:nvSpPr>
        <p:spPr>
          <a:xfrm>
            <a:off x="9692640" y="3264408"/>
            <a:ext cx="347472" cy="109728"/>
          </a:xfrm>
          <a:prstGeom prst="roundRect">
            <a:avLst>
              <a:gd name="adj" fmla="val 5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35"/>
          <p:cNvSpPr txBox="1"/>
          <p:nvPr/>
        </p:nvSpPr>
        <p:spPr>
          <a:xfrm>
            <a:off x="9692640" y="3264408"/>
            <a:ext cx="347472" cy="109728"/>
          </a:xfrm>
          <a:prstGeom prst="rect">
            <a:avLst/>
          </a:prstGeom>
          <a:noFill/>
        </p:spPr>
        <p:txBody>
          <a:bodyPr wrap="square" lIns="0" rIns="0" tIns="0" bIns="0" anchor="ctr">
            <a:spAutoFit/>
          </a:bodyPr>
          <a:lstStyle/>
          <a:p>
            <a:pPr algn="ctr"/>
            <a:r>
              <a:rPr sz="500" b="1" i="0">
                <a:solidFill>
                  <a:srgbClr val="FF0069"/>
                </a:solidFill>
                <a:latin typeface="Trenda IG Text"/>
              </a:rPr>
              <a:t>WRITE</a:t>
            </a:r>
          </a:p>
        </p:txBody>
      </p:sp>
      <p:sp>
        <p:nvSpPr>
          <p:cNvPr id="146" name="Text 136"/>
          <p:cNvSpPr txBox="1"/>
          <p:nvPr/>
        </p:nvSpPr>
        <p:spPr>
          <a:xfrm>
            <a:off x="10094976" y="3246120"/>
            <a:ext cx="1591055" cy="146304"/>
          </a:xfrm>
          <a:prstGeom prst="rect">
            <a:avLst/>
          </a:prstGeom>
          <a:noFill/>
        </p:spPr>
        <p:txBody>
          <a:bodyPr wrap="square" lIns="0" rIns="0" tIns="0" bIns="0" anchor="ctr">
            <a:spAutoFit/>
          </a:bodyPr>
          <a:lstStyle/>
          <a:p>
            <a:r>
              <a:rPr sz="600" b="0" i="0">
                <a:solidFill>
                  <a:srgbClr val="2B2B2B"/>
                </a:solidFill>
                <a:latin typeface="Trenda IG Text"/>
              </a:rPr>
              <a:t>branch, pull request</a:t>
            </a:r>
          </a:p>
        </p:txBody>
      </p:sp>
      <p:pic>
        <p:nvPicPr>
          <p:cNvPr id="147" name="Picture 146" descr="salesforce.png"/>
          <p:cNvPicPr>
            <a:picLocks noChangeAspect="1"/>
          </p:cNvPicPr>
          <p:nvPr/>
        </p:nvPicPr>
        <p:blipFill>
          <a:blip r:embed="rId2"/>
          <a:stretch>
            <a:fillRect/>
          </a:stretch>
        </p:blipFill>
        <p:spPr>
          <a:xfrm>
            <a:off x="9692640" y="3456432"/>
            <a:ext cx="164592" cy="164592"/>
          </a:xfrm>
          <a:prstGeom prst="rect">
            <a:avLst/>
          </a:prstGeom>
        </p:spPr>
      </p:pic>
      <p:sp>
        <p:nvSpPr>
          <p:cNvPr id="148" name="Text 137"/>
          <p:cNvSpPr txBox="1"/>
          <p:nvPr/>
        </p:nvSpPr>
        <p:spPr>
          <a:xfrm>
            <a:off x="9912096" y="3456432"/>
            <a:ext cx="1773936" cy="164592"/>
          </a:xfrm>
          <a:prstGeom prst="rect">
            <a:avLst/>
          </a:prstGeom>
          <a:noFill/>
        </p:spPr>
        <p:txBody>
          <a:bodyPr wrap="square" lIns="0" rIns="0" tIns="0" bIns="0" anchor="ctr">
            <a:spAutoFit/>
          </a:bodyPr>
          <a:lstStyle/>
          <a:p>
            <a:r>
              <a:rPr sz="750" b="1" i="0">
                <a:solidFill>
                  <a:srgbClr val="000000"/>
                </a:solidFill>
                <a:latin typeface="Trenda IG Text"/>
              </a:rPr>
              <a:t>Salesforce</a:t>
            </a:r>
          </a:p>
        </p:txBody>
      </p:sp>
      <p:sp>
        <p:nvSpPr>
          <p:cNvPr id="149" name="Shape 138"/>
          <p:cNvSpPr/>
          <p:nvPr/>
        </p:nvSpPr>
        <p:spPr>
          <a:xfrm>
            <a:off x="9692640" y="3648456"/>
            <a:ext cx="347472" cy="109728"/>
          </a:xfrm>
          <a:prstGeom prst="roundRect">
            <a:avLst>
              <a:gd name="adj" fmla="val 50000"/>
            </a:avLst>
          </a:prstGeom>
          <a:solidFill>
            <a:srgbClr val="FFFFFF"/>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39"/>
          <p:cNvSpPr txBox="1"/>
          <p:nvPr/>
        </p:nvSpPr>
        <p:spPr>
          <a:xfrm>
            <a:off x="9692640" y="3648456"/>
            <a:ext cx="347472" cy="109728"/>
          </a:xfrm>
          <a:prstGeom prst="rect">
            <a:avLst/>
          </a:prstGeom>
          <a:noFill/>
        </p:spPr>
        <p:txBody>
          <a:bodyPr wrap="square" lIns="0" rIns="0" tIns="0" bIns="0" anchor="ctr">
            <a:spAutoFit/>
          </a:bodyPr>
          <a:lstStyle/>
          <a:p>
            <a:pPr algn="ctr"/>
            <a:r>
              <a:rPr sz="500" b="1" i="0">
                <a:solidFill>
                  <a:srgbClr val="4527A0"/>
                </a:solidFill>
                <a:latin typeface="Trenda IG Text"/>
              </a:rPr>
              <a:t>READ</a:t>
            </a:r>
          </a:p>
        </p:txBody>
      </p:sp>
      <p:sp>
        <p:nvSpPr>
          <p:cNvPr id="151" name="Text 140"/>
          <p:cNvSpPr txBox="1"/>
          <p:nvPr/>
        </p:nvSpPr>
        <p:spPr>
          <a:xfrm>
            <a:off x="10094976" y="3630168"/>
            <a:ext cx="1591055" cy="146304"/>
          </a:xfrm>
          <a:prstGeom prst="rect">
            <a:avLst/>
          </a:prstGeom>
          <a:noFill/>
        </p:spPr>
        <p:txBody>
          <a:bodyPr wrap="square" lIns="0" rIns="0" tIns="0" bIns="0" anchor="ctr">
            <a:spAutoFit/>
          </a:bodyPr>
          <a:lstStyle/>
          <a:p>
            <a:r>
              <a:rPr sz="600" b="0" i="0">
                <a:solidFill>
                  <a:srgbClr val="2B2B2B"/>
                </a:solidFill>
                <a:latin typeface="Trenda IG Text"/>
              </a:rPr>
              <a:t>Health, Data, Marketing Cloud</a:t>
            </a:r>
          </a:p>
        </p:txBody>
      </p:sp>
      <p:sp>
        <p:nvSpPr>
          <p:cNvPr id="152" name="Shape 141"/>
          <p:cNvSpPr/>
          <p:nvPr/>
        </p:nvSpPr>
        <p:spPr>
          <a:xfrm>
            <a:off x="9692640" y="3785615"/>
            <a:ext cx="347472" cy="109728"/>
          </a:xfrm>
          <a:prstGeom prst="roundRect">
            <a:avLst>
              <a:gd name="adj" fmla="val 5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 142"/>
          <p:cNvSpPr txBox="1"/>
          <p:nvPr/>
        </p:nvSpPr>
        <p:spPr>
          <a:xfrm>
            <a:off x="9692640" y="3785615"/>
            <a:ext cx="347472" cy="109728"/>
          </a:xfrm>
          <a:prstGeom prst="rect">
            <a:avLst/>
          </a:prstGeom>
          <a:noFill/>
        </p:spPr>
        <p:txBody>
          <a:bodyPr wrap="square" lIns="0" rIns="0" tIns="0" bIns="0" anchor="ctr">
            <a:spAutoFit/>
          </a:bodyPr>
          <a:lstStyle/>
          <a:p>
            <a:pPr algn="ctr"/>
            <a:r>
              <a:rPr sz="500" b="1" i="0">
                <a:solidFill>
                  <a:srgbClr val="FF0069"/>
                </a:solidFill>
                <a:latin typeface="Trenda IG Text"/>
              </a:rPr>
              <a:t>WRITE</a:t>
            </a:r>
          </a:p>
        </p:txBody>
      </p:sp>
      <p:sp>
        <p:nvSpPr>
          <p:cNvPr id="154" name="Text 143"/>
          <p:cNvSpPr txBox="1"/>
          <p:nvPr/>
        </p:nvSpPr>
        <p:spPr>
          <a:xfrm>
            <a:off x="10094976" y="3767328"/>
            <a:ext cx="1591055" cy="146304"/>
          </a:xfrm>
          <a:prstGeom prst="rect">
            <a:avLst/>
          </a:prstGeom>
          <a:noFill/>
        </p:spPr>
        <p:txBody>
          <a:bodyPr wrap="square" lIns="0" rIns="0" tIns="0" bIns="0" anchor="ctr">
            <a:spAutoFit/>
          </a:bodyPr>
          <a:lstStyle/>
          <a:p>
            <a:r>
              <a:rPr sz="600" b="0" i="0">
                <a:solidFill>
                  <a:srgbClr val="2B2B2B"/>
                </a:solidFill>
                <a:latin typeface="Trenda IG Text"/>
              </a:rPr>
              <a:t>DEV sandbox deploy</a:t>
            </a:r>
          </a:p>
        </p:txBody>
      </p:sp>
      <p:sp>
        <p:nvSpPr>
          <p:cNvPr id="155" name="Shape 144"/>
          <p:cNvSpPr/>
          <p:nvPr/>
        </p:nvSpPr>
        <p:spPr>
          <a:xfrm>
            <a:off x="9692640" y="3977640"/>
            <a:ext cx="164592" cy="164592"/>
          </a:xfrm>
          <a:prstGeom prst="roundRect">
            <a:avLst>
              <a:gd name="adj" fmla="val 20000"/>
            </a:avLst>
          </a:prstGeom>
          <a:solidFill>
            <a:srgbClr val="FFFFFF"/>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45"/>
          <p:cNvSpPr txBox="1"/>
          <p:nvPr/>
        </p:nvSpPr>
        <p:spPr>
          <a:xfrm>
            <a:off x="9692640" y="3977640"/>
            <a:ext cx="164592" cy="164592"/>
          </a:xfrm>
          <a:prstGeom prst="rect">
            <a:avLst/>
          </a:prstGeom>
          <a:noFill/>
        </p:spPr>
        <p:txBody>
          <a:bodyPr wrap="square" lIns="0" rIns="0" tIns="0" bIns="0" anchor="ctr">
            <a:spAutoFit/>
          </a:bodyPr>
          <a:lstStyle/>
          <a:p>
            <a:pPr algn="ctr"/>
            <a:r>
              <a:rPr sz="550" b="1" i="0">
                <a:solidFill>
                  <a:srgbClr val="00273B"/>
                </a:solidFill>
                <a:latin typeface="Trenda IG Text"/>
              </a:rPr>
              <a:t>ZS</a:t>
            </a:r>
          </a:p>
        </p:txBody>
      </p:sp>
      <p:sp>
        <p:nvSpPr>
          <p:cNvPr id="157" name="Text 146"/>
          <p:cNvSpPr txBox="1"/>
          <p:nvPr/>
        </p:nvSpPr>
        <p:spPr>
          <a:xfrm>
            <a:off x="9912096" y="3977640"/>
            <a:ext cx="1773936" cy="164592"/>
          </a:xfrm>
          <a:prstGeom prst="rect">
            <a:avLst/>
          </a:prstGeom>
          <a:noFill/>
        </p:spPr>
        <p:txBody>
          <a:bodyPr wrap="square" lIns="0" rIns="0" tIns="0" bIns="0" anchor="ctr">
            <a:spAutoFit/>
          </a:bodyPr>
          <a:lstStyle/>
          <a:p>
            <a:r>
              <a:rPr sz="750" b="1" i="0">
                <a:solidFill>
                  <a:srgbClr val="000000"/>
                </a:solidFill>
                <a:latin typeface="Trenda IG Text"/>
              </a:rPr>
              <a:t>Zephyr Scale</a:t>
            </a:r>
          </a:p>
        </p:txBody>
      </p:sp>
      <p:sp>
        <p:nvSpPr>
          <p:cNvPr id="158" name="Shape 147"/>
          <p:cNvSpPr/>
          <p:nvPr/>
        </p:nvSpPr>
        <p:spPr>
          <a:xfrm>
            <a:off x="9692640" y="4169664"/>
            <a:ext cx="347472" cy="109728"/>
          </a:xfrm>
          <a:prstGeom prst="roundRect">
            <a:avLst>
              <a:gd name="adj" fmla="val 5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48"/>
          <p:cNvSpPr txBox="1"/>
          <p:nvPr/>
        </p:nvSpPr>
        <p:spPr>
          <a:xfrm>
            <a:off x="9692640" y="4169664"/>
            <a:ext cx="347472" cy="109728"/>
          </a:xfrm>
          <a:prstGeom prst="rect">
            <a:avLst/>
          </a:prstGeom>
          <a:noFill/>
        </p:spPr>
        <p:txBody>
          <a:bodyPr wrap="square" lIns="0" rIns="0" tIns="0" bIns="0" anchor="ctr">
            <a:spAutoFit/>
          </a:bodyPr>
          <a:lstStyle/>
          <a:p>
            <a:pPr algn="ctr"/>
            <a:r>
              <a:rPr sz="500" b="1" i="0">
                <a:solidFill>
                  <a:srgbClr val="FF0069"/>
                </a:solidFill>
                <a:latin typeface="Trenda IG Text"/>
              </a:rPr>
              <a:t>WRITE</a:t>
            </a:r>
          </a:p>
        </p:txBody>
      </p:sp>
      <p:sp>
        <p:nvSpPr>
          <p:cNvPr id="160" name="Text 149"/>
          <p:cNvSpPr txBox="1"/>
          <p:nvPr/>
        </p:nvSpPr>
        <p:spPr>
          <a:xfrm>
            <a:off x="10094976" y="4151376"/>
            <a:ext cx="1591055" cy="146304"/>
          </a:xfrm>
          <a:prstGeom prst="rect">
            <a:avLst/>
          </a:prstGeom>
          <a:noFill/>
        </p:spPr>
        <p:txBody>
          <a:bodyPr wrap="square" lIns="0" rIns="0" tIns="0" bIns="0" anchor="ctr">
            <a:spAutoFit/>
          </a:bodyPr>
          <a:lstStyle/>
          <a:p>
            <a:r>
              <a:rPr sz="600" b="0" i="0">
                <a:solidFill>
                  <a:srgbClr val="2B2B2B"/>
                </a:solidFill>
                <a:latin typeface="Trenda IG Text"/>
              </a:rPr>
              <a:t>test cases, results</a:t>
            </a:r>
          </a:p>
        </p:txBody>
      </p:sp>
      <p:sp>
        <p:nvSpPr>
          <p:cNvPr id="161" name="Shape 150"/>
          <p:cNvSpPr/>
          <p:nvPr/>
        </p:nvSpPr>
        <p:spPr>
          <a:xfrm>
            <a:off x="9692640" y="4361688"/>
            <a:ext cx="164592" cy="164592"/>
          </a:xfrm>
          <a:prstGeom prst="roundRect">
            <a:avLst>
              <a:gd name="adj" fmla="val 20000"/>
            </a:avLst>
          </a:prstGeom>
          <a:solidFill>
            <a:srgbClr val="FFFFFF"/>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51"/>
          <p:cNvSpPr txBox="1"/>
          <p:nvPr/>
        </p:nvSpPr>
        <p:spPr>
          <a:xfrm>
            <a:off x="9692640" y="4361688"/>
            <a:ext cx="164592" cy="164592"/>
          </a:xfrm>
          <a:prstGeom prst="rect">
            <a:avLst/>
          </a:prstGeom>
          <a:noFill/>
        </p:spPr>
        <p:txBody>
          <a:bodyPr wrap="square" lIns="0" rIns="0" tIns="0" bIns="0" anchor="ctr">
            <a:spAutoFit/>
          </a:bodyPr>
          <a:lstStyle/>
          <a:p>
            <a:pPr algn="ctr"/>
            <a:r>
              <a:rPr sz="550" b="1" i="0">
                <a:solidFill>
                  <a:srgbClr val="00273B"/>
                </a:solidFill>
                <a:latin typeface="Trenda IG Text"/>
              </a:rPr>
              <a:t>Co</a:t>
            </a:r>
          </a:p>
        </p:txBody>
      </p:sp>
      <p:sp>
        <p:nvSpPr>
          <p:cNvPr id="163" name="Text 152"/>
          <p:cNvSpPr txBox="1"/>
          <p:nvPr/>
        </p:nvSpPr>
        <p:spPr>
          <a:xfrm>
            <a:off x="9912096" y="4361688"/>
            <a:ext cx="1773936" cy="164592"/>
          </a:xfrm>
          <a:prstGeom prst="rect">
            <a:avLst/>
          </a:prstGeom>
          <a:noFill/>
        </p:spPr>
        <p:txBody>
          <a:bodyPr wrap="square" lIns="0" rIns="0" tIns="0" bIns="0" anchor="ctr">
            <a:spAutoFit/>
          </a:bodyPr>
          <a:lstStyle/>
          <a:p>
            <a:r>
              <a:rPr sz="750" b="1" i="0">
                <a:solidFill>
                  <a:srgbClr val="000000"/>
                </a:solidFill>
                <a:latin typeface="Trenda IG Text"/>
              </a:rPr>
              <a:t>Copado</a:t>
            </a:r>
          </a:p>
        </p:txBody>
      </p:sp>
      <p:sp>
        <p:nvSpPr>
          <p:cNvPr id="164" name="Shape 153"/>
          <p:cNvSpPr/>
          <p:nvPr/>
        </p:nvSpPr>
        <p:spPr>
          <a:xfrm>
            <a:off x="9692640" y="4553712"/>
            <a:ext cx="347472" cy="109728"/>
          </a:xfrm>
          <a:prstGeom prst="roundRect">
            <a:avLst>
              <a:gd name="adj" fmla="val 50000"/>
            </a:avLst>
          </a:prstGeom>
          <a:solidFill>
            <a:srgbClr val="FFFFFF"/>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 154"/>
          <p:cNvSpPr txBox="1"/>
          <p:nvPr/>
        </p:nvSpPr>
        <p:spPr>
          <a:xfrm>
            <a:off x="9692640" y="4553712"/>
            <a:ext cx="347472" cy="109728"/>
          </a:xfrm>
          <a:prstGeom prst="rect">
            <a:avLst/>
          </a:prstGeom>
          <a:noFill/>
        </p:spPr>
        <p:txBody>
          <a:bodyPr wrap="square" lIns="0" rIns="0" tIns="0" bIns="0" anchor="ctr">
            <a:spAutoFit/>
          </a:bodyPr>
          <a:lstStyle/>
          <a:p>
            <a:pPr algn="ctr"/>
            <a:r>
              <a:rPr sz="500" b="1" i="0">
                <a:solidFill>
                  <a:srgbClr val="4527A0"/>
                </a:solidFill>
                <a:latin typeface="Trenda IG Text"/>
              </a:rPr>
              <a:t>READ</a:t>
            </a:r>
          </a:p>
        </p:txBody>
      </p:sp>
      <p:sp>
        <p:nvSpPr>
          <p:cNvPr id="166" name="Text 155"/>
          <p:cNvSpPr txBox="1"/>
          <p:nvPr/>
        </p:nvSpPr>
        <p:spPr>
          <a:xfrm>
            <a:off x="10094976" y="4535424"/>
            <a:ext cx="1591055" cy="146304"/>
          </a:xfrm>
          <a:prstGeom prst="rect">
            <a:avLst/>
          </a:prstGeom>
          <a:noFill/>
        </p:spPr>
        <p:txBody>
          <a:bodyPr wrap="square" lIns="0" rIns="0" tIns="0" bIns="0" anchor="ctr">
            <a:spAutoFit/>
          </a:bodyPr>
          <a:lstStyle/>
          <a:p>
            <a:r>
              <a:rPr sz="600" b="0" i="0">
                <a:solidFill>
                  <a:srgbClr val="2B2B2B"/>
                </a:solidFill>
                <a:latin typeface="Trenda IG Text"/>
              </a:rPr>
              <a:t>promotions, test runs</a:t>
            </a:r>
          </a:p>
        </p:txBody>
      </p:sp>
      <p:sp>
        <p:nvSpPr>
          <p:cNvPr id="167" name="Shape 156"/>
          <p:cNvSpPr/>
          <p:nvPr/>
        </p:nvSpPr>
        <p:spPr>
          <a:xfrm>
            <a:off x="9692640" y="4690872"/>
            <a:ext cx="347472" cy="109728"/>
          </a:xfrm>
          <a:prstGeom prst="roundRect">
            <a:avLst>
              <a:gd name="adj" fmla="val 50000"/>
            </a:avLst>
          </a:prstGeom>
          <a:solidFill>
            <a:srgbClr val="FFFFFF"/>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 157"/>
          <p:cNvSpPr txBox="1"/>
          <p:nvPr/>
        </p:nvSpPr>
        <p:spPr>
          <a:xfrm>
            <a:off x="9692640" y="4690872"/>
            <a:ext cx="347472" cy="109728"/>
          </a:xfrm>
          <a:prstGeom prst="rect">
            <a:avLst/>
          </a:prstGeom>
          <a:noFill/>
        </p:spPr>
        <p:txBody>
          <a:bodyPr wrap="square" lIns="0" rIns="0" tIns="0" bIns="0" anchor="ctr">
            <a:spAutoFit/>
          </a:bodyPr>
          <a:lstStyle/>
          <a:p>
            <a:pPr algn="ctr"/>
            <a:r>
              <a:rPr sz="500" b="1" i="0">
                <a:solidFill>
                  <a:srgbClr val="FF0069"/>
                </a:solidFill>
                <a:latin typeface="Trenda IG Text"/>
              </a:rPr>
              <a:t>WRITE</a:t>
            </a:r>
          </a:p>
        </p:txBody>
      </p:sp>
      <p:sp>
        <p:nvSpPr>
          <p:cNvPr id="169" name="Text 158"/>
          <p:cNvSpPr txBox="1"/>
          <p:nvPr/>
        </p:nvSpPr>
        <p:spPr>
          <a:xfrm>
            <a:off x="10094976" y="4672584"/>
            <a:ext cx="1591055" cy="146304"/>
          </a:xfrm>
          <a:prstGeom prst="rect">
            <a:avLst/>
          </a:prstGeom>
          <a:noFill/>
        </p:spPr>
        <p:txBody>
          <a:bodyPr wrap="square" lIns="0" rIns="0" tIns="0" bIns="0" anchor="ctr">
            <a:spAutoFit/>
          </a:bodyPr>
          <a:lstStyle/>
          <a:p>
            <a:r>
              <a:rPr sz="600" b="0" i="0">
                <a:solidFill>
                  <a:srgbClr val="2B2B2B"/>
                </a:solidFill>
                <a:latin typeface="Trenda IG Text"/>
              </a:rPr>
              <a:t>user story, SIT to UAT</a:t>
            </a:r>
          </a:p>
        </p:txBody>
      </p:sp>
      <p:sp>
        <p:nvSpPr>
          <p:cNvPr id="170" name="Shape 159"/>
          <p:cNvSpPr/>
          <p:nvPr/>
        </p:nvSpPr>
        <p:spPr>
          <a:xfrm>
            <a:off x="9692640" y="4901184"/>
            <a:ext cx="1993391" cy="502920"/>
          </a:xfrm>
          <a:prstGeom prst="roundRect">
            <a:avLst>
              <a:gd name="adj" fmla="val 8000"/>
            </a:avLst>
          </a:prstGeom>
          <a:solidFill>
            <a:srgbClr val="FFFFFF"/>
          </a:solidFill>
          <a:ln w="9525">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Text 160"/>
          <p:cNvSpPr txBox="1"/>
          <p:nvPr/>
        </p:nvSpPr>
        <p:spPr>
          <a:xfrm>
            <a:off x="9765792" y="4928616"/>
            <a:ext cx="1847088" cy="457200"/>
          </a:xfrm>
          <a:prstGeom prst="rect">
            <a:avLst/>
          </a:prstGeom>
          <a:noFill/>
        </p:spPr>
        <p:txBody>
          <a:bodyPr wrap="square" lIns="0" rIns="0" tIns="0" bIns="0" anchor="t">
            <a:spAutoFit/>
          </a:bodyPr>
          <a:lstStyle/>
          <a:p>
            <a:pPr>
              <a:spcAft>
                <a:spcPts val="100"/>
              </a:spcAft>
            </a:pPr>
            <a:r>
              <a:rPr sz="750" b="1" i="0">
                <a:solidFill>
                  <a:srgbClr val="000000"/>
                </a:solidFill>
                <a:latin typeface="Trenda IG Text"/>
              </a:rPr>
              <a:t>Production</a:t>
            </a:r>
          </a:p>
          <a:p>
            <a:pPr>
              <a:spcAft>
                <a:spcPts val="100"/>
              </a:spcAft>
            </a:pPr>
            <a:r>
              <a:rPr sz="600" b="0" i="0">
                <a:solidFill>
                  <a:srgbClr val="595959"/>
                </a:solidFill>
                <a:latin typeface="Trenda IG Text"/>
              </a:rPr>
              <a:t>The owning team deploys after CAB. No agent credential, no agent path.</a:t>
            </a:r>
          </a:p>
        </p:txBody>
      </p:sp>
      <p:cxnSp>
        <p:nvCxnSpPr>
          <p:cNvPr id="172" name="Arrow 161"/>
          <p:cNvCxnSpPr/>
          <p:nvPr/>
        </p:nvCxnSpPr>
        <p:spPr>
          <a:xfrm flipH="1">
            <a:off x="9363456" y="2011680"/>
            <a:ext cx="237744" cy="0"/>
          </a:xfrm>
          <a:prstGeom prst="line">
            <a:avLst/>
          </a:prstGeom>
          <a:ln w="19050">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3" name="Arrow 162"/>
          <p:cNvCxnSpPr/>
          <p:nvPr/>
        </p:nvCxnSpPr>
        <p:spPr>
          <a:xfrm>
            <a:off x="9363456" y="3950208"/>
            <a:ext cx="237744"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4" name="Arrow 163"/>
          <p:cNvCxnSpPr/>
          <p:nvPr/>
        </p:nvCxnSpPr>
        <p:spPr>
          <a:xfrm>
            <a:off x="2350008" y="3566160"/>
            <a:ext cx="438912"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5" name="Shape 164"/>
          <p:cNvSpPr/>
          <p:nvPr/>
        </p:nvSpPr>
        <p:spPr>
          <a:xfrm>
            <a:off x="2459736" y="3346704"/>
            <a:ext cx="173736" cy="173736"/>
          </a:xfrm>
          <a:prstGeom prst="ellipse">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 165"/>
          <p:cNvSpPr txBox="1"/>
          <p:nvPr/>
        </p:nvSpPr>
        <p:spPr>
          <a:xfrm>
            <a:off x="2459736" y="3346704"/>
            <a:ext cx="173736" cy="173736"/>
          </a:xfrm>
          <a:prstGeom prst="rect">
            <a:avLst/>
          </a:prstGeom>
          <a:noFill/>
        </p:spPr>
        <p:txBody>
          <a:bodyPr wrap="square" lIns="0" rIns="0" tIns="0" bIns="0" anchor="ctr">
            <a:spAutoFit/>
          </a:bodyPr>
          <a:lstStyle/>
          <a:p>
            <a:pPr algn="ctr"/>
            <a:r>
              <a:rPr sz="650" b="1" i="0">
                <a:solidFill>
                  <a:srgbClr val="FFFFFF"/>
                </a:solidFill>
                <a:latin typeface="Trenda IG Text"/>
              </a:rPr>
              <a:t>2</a:t>
            </a:r>
          </a:p>
        </p:txBody>
      </p:sp>
      <p:cxnSp>
        <p:nvCxnSpPr>
          <p:cNvPr id="177" name="Arrow 166"/>
          <p:cNvCxnSpPr/>
          <p:nvPr/>
        </p:nvCxnSpPr>
        <p:spPr>
          <a:xfrm flipH="1">
            <a:off x="2514600" y="3081528"/>
            <a:ext cx="274320" cy="0"/>
          </a:xfrm>
          <a:prstGeom prst="line">
            <a:avLst/>
          </a:prstGeom>
          <a:ln w="1270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78" name="Arrow 167"/>
          <p:cNvCxnSpPr/>
          <p:nvPr/>
        </p:nvCxnSpPr>
        <p:spPr>
          <a:xfrm flipV="1">
            <a:off x="2514600" y="2514600"/>
            <a:ext cx="0" cy="566928"/>
          </a:xfrm>
          <a:prstGeom prst="line">
            <a:avLst/>
          </a:prstGeom>
          <a:ln w="12700">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79" name="Arrow 168"/>
          <p:cNvCxnSpPr/>
          <p:nvPr/>
        </p:nvCxnSpPr>
        <p:spPr>
          <a:xfrm flipH="1">
            <a:off x="2350008" y="2514600"/>
            <a:ext cx="164592" cy="0"/>
          </a:xfrm>
          <a:prstGeom prst="line">
            <a:avLst/>
          </a:prstGeom>
          <a:ln w="12700">
            <a:solidFill>
              <a:srgbClr val="0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0" name="Shape 169"/>
          <p:cNvSpPr/>
          <p:nvPr/>
        </p:nvSpPr>
        <p:spPr>
          <a:xfrm>
            <a:off x="2551176" y="2615184"/>
            <a:ext cx="173736" cy="173736"/>
          </a:xfrm>
          <a:prstGeom prst="ellipse">
            <a:avLst/>
          </a:prstGeom>
          <a:solidFill>
            <a:srgbClr val="00000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Text 170"/>
          <p:cNvSpPr txBox="1"/>
          <p:nvPr/>
        </p:nvSpPr>
        <p:spPr>
          <a:xfrm>
            <a:off x="2551176" y="2615184"/>
            <a:ext cx="173736" cy="173736"/>
          </a:xfrm>
          <a:prstGeom prst="rect">
            <a:avLst/>
          </a:prstGeom>
          <a:noFill/>
        </p:spPr>
        <p:txBody>
          <a:bodyPr wrap="square" lIns="0" rIns="0" tIns="0" bIns="0" anchor="ctr">
            <a:spAutoFit/>
          </a:bodyPr>
          <a:lstStyle/>
          <a:p>
            <a:pPr algn="ctr"/>
            <a:r>
              <a:rPr sz="650" b="1" i="0">
                <a:solidFill>
                  <a:srgbClr val="FFFFFF"/>
                </a:solidFill>
                <a:latin typeface="Trenda IG Text"/>
              </a:rPr>
              <a:t>5</a:t>
            </a:r>
          </a:p>
        </p:txBody>
      </p:sp>
      <p:sp>
        <p:nvSpPr>
          <p:cNvPr id="182" name="Text 171"/>
          <p:cNvSpPr txBox="1"/>
          <p:nvPr/>
        </p:nvSpPr>
        <p:spPr>
          <a:xfrm>
            <a:off x="411480" y="5550408"/>
            <a:ext cx="960120" cy="365760"/>
          </a:xfrm>
          <a:prstGeom prst="rect">
            <a:avLst/>
          </a:prstGeom>
          <a:noFill/>
        </p:spPr>
        <p:txBody>
          <a:bodyPr wrap="square" lIns="0" rIns="0" tIns="0" bIns="0" anchor="ctr">
            <a:spAutoFit/>
          </a:bodyPr>
          <a:lstStyle/>
          <a:p>
            <a:r>
              <a:rPr sz="630" b="1" i="0" spc="150">
                <a:solidFill>
                  <a:srgbClr val="000000"/>
                </a:solidFill>
                <a:latin typeface="Trenda IG Text"/>
              </a:rPr>
              <a:t>EACH RUN</a:t>
            </a:r>
          </a:p>
          <a:p>
            <a:r>
              <a:rPr sz="630" b="0" i="0">
                <a:solidFill>
                  <a:srgbClr val="595959"/>
                </a:solidFill>
                <a:latin typeface="Trenda IG Text"/>
              </a:rPr>
              <a:t>step by step</a:t>
            </a:r>
          </a:p>
        </p:txBody>
      </p:sp>
      <p:sp>
        <p:nvSpPr>
          <p:cNvPr id="183" name="Shape 172"/>
          <p:cNvSpPr/>
          <p:nvPr/>
        </p:nvSpPr>
        <p:spPr>
          <a:xfrm>
            <a:off x="1417320" y="5550408"/>
            <a:ext cx="749808" cy="384048"/>
          </a:xfrm>
          <a:prstGeom prst="roundRect">
            <a:avLst>
              <a:gd name="adj" fmla="val 25000"/>
            </a:avLst>
          </a:prstGeom>
          <a:solidFill>
            <a:srgbClr val="FFFFFF"/>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Text 173"/>
          <p:cNvSpPr txBox="1"/>
          <p:nvPr/>
        </p:nvSpPr>
        <p:spPr>
          <a:xfrm>
            <a:off x="1444752"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01 Understand</a:t>
            </a:r>
          </a:p>
          <a:p>
            <a:pPr algn="ctr"/>
            <a:r>
              <a:rPr sz="530" b="0" i="0">
                <a:solidFill>
                  <a:srgbClr val="2B2B2B"/>
                </a:solidFill>
                <a:latin typeface="Trenda IG Text"/>
              </a:rPr>
              <a:t>Requirements</a:t>
            </a:r>
          </a:p>
        </p:txBody>
      </p:sp>
      <p:sp>
        <p:nvSpPr>
          <p:cNvPr id="185" name="Shape 174"/>
          <p:cNvSpPr/>
          <p:nvPr/>
        </p:nvSpPr>
        <p:spPr>
          <a:xfrm>
            <a:off x="1581912" y="5980176"/>
            <a:ext cx="420624" cy="146304"/>
          </a:xfrm>
          <a:prstGeom prst="roundRect">
            <a:avLst>
              <a:gd name="adj" fmla="val 50000"/>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 175"/>
          <p:cNvSpPr txBox="1"/>
          <p:nvPr/>
        </p:nvSpPr>
        <p:spPr>
          <a:xfrm>
            <a:off x="1581912" y="5980176"/>
            <a:ext cx="420624" cy="146304"/>
          </a:xfrm>
          <a:prstGeom prst="rect">
            <a:avLst/>
          </a:prstGeom>
          <a:noFill/>
        </p:spPr>
        <p:txBody>
          <a:bodyPr wrap="square" lIns="0" rIns="0" tIns="0" bIns="0" anchor="ctr">
            <a:spAutoFit/>
          </a:bodyPr>
          <a:lstStyle/>
          <a:p>
            <a:pPr algn="ctr"/>
            <a:r>
              <a:rPr sz="550" b="1" i="0" spc="120">
                <a:solidFill>
                  <a:srgbClr val="000000"/>
                </a:solidFill>
                <a:latin typeface="Trenda IG Text"/>
              </a:rPr>
              <a:t>EVALS</a:t>
            </a:r>
          </a:p>
        </p:txBody>
      </p:sp>
      <p:cxnSp>
        <p:nvCxnSpPr>
          <p:cNvPr id="187" name="Arrow 176"/>
          <p:cNvCxnSpPr/>
          <p:nvPr/>
        </p:nvCxnSpPr>
        <p:spPr>
          <a:xfrm>
            <a:off x="2167128"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8" name="Shape 177"/>
          <p:cNvSpPr/>
          <p:nvPr/>
        </p:nvSpPr>
        <p:spPr>
          <a:xfrm>
            <a:off x="2212848" y="5550408"/>
            <a:ext cx="749808" cy="384048"/>
          </a:xfrm>
          <a:prstGeom prst="roundRect">
            <a:avLst>
              <a:gd name="adj" fmla="val 25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 178"/>
          <p:cNvSpPr txBox="1"/>
          <p:nvPr/>
        </p:nvSpPr>
        <p:spPr>
          <a:xfrm>
            <a:off x="2240279"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H1</a:t>
            </a:r>
          </a:p>
          <a:p>
            <a:pPr algn="ctr"/>
            <a:r>
              <a:rPr sz="530" b="0" i="0">
                <a:solidFill>
                  <a:srgbClr val="2B2B2B"/>
                </a:solidFill>
                <a:latin typeface="Trenda IG Text"/>
              </a:rPr>
              <a:t>product owner</a:t>
            </a:r>
          </a:p>
        </p:txBody>
      </p:sp>
      <p:cxnSp>
        <p:nvCxnSpPr>
          <p:cNvPr id="190" name="Arrow 179"/>
          <p:cNvCxnSpPr/>
          <p:nvPr/>
        </p:nvCxnSpPr>
        <p:spPr>
          <a:xfrm>
            <a:off x="2962656" y="5742432"/>
            <a:ext cx="45719"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80"/>
          <p:cNvSpPr/>
          <p:nvPr/>
        </p:nvSpPr>
        <p:spPr>
          <a:xfrm>
            <a:off x="3008376" y="5550408"/>
            <a:ext cx="749808" cy="384048"/>
          </a:xfrm>
          <a:prstGeom prst="roundRect">
            <a:avLst>
              <a:gd name="adj" fmla="val 25000"/>
            </a:avLst>
          </a:prstGeom>
          <a:solidFill>
            <a:srgbClr val="FFFFFF"/>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 181"/>
          <p:cNvSpPr txBox="1"/>
          <p:nvPr/>
        </p:nvSpPr>
        <p:spPr>
          <a:xfrm>
            <a:off x="3035808"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02 Design</a:t>
            </a:r>
          </a:p>
          <a:p>
            <a:pPr algn="ctr"/>
            <a:r>
              <a:rPr sz="530" b="0" i="0">
                <a:solidFill>
                  <a:srgbClr val="2B2B2B"/>
                </a:solidFill>
                <a:latin typeface="Trenda IG Text"/>
              </a:rPr>
              <a:t>Architect + CG</a:t>
            </a:r>
          </a:p>
        </p:txBody>
      </p:sp>
      <p:sp>
        <p:nvSpPr>
          <p:cNvPr id="193" name="Shape 182"/>
          <p:cNvSpPr/>
          <p:nvPr/>
        </p:nvSpPr>
        <p:spPr>
          <a:xfrm>
            <a:off x="3172968" y="5980176"/>
            <a:ext cx="420624" cy="146304"/>
          </a:xfrm>
          <a:prstGeom prst="roundRect">
            <a:avLst>
              <a:gd name="adj" fmla="val 50000"/>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Text 183"/>
          <p:cNvSpPr txBox="1"/>
          <p:nvPr/>
        </p:nvSpPr>
        <p:spPr>
          <a:xfrm>
            <a:off x="3172968" y="5980176"/>
            <a:ext cx="420624" cy="146304"/>
          </a:xfrm>
          <a:prstGeom prst="rect">
            <a:avLst/>
          </a:prstGeom>
          <a:noFill/>
        </p:spPr>
        <p:txBody>
          <a:bodyPr wrap="square" lIns="0" rIns="0" tIns="0" bIns="0" anchor="ctr">
            <a:spAutoFit/>
          </a:bodyPr>
          <a:lstStyle/>
          <a:p>
            <a:pPr algn="ctr"/>
            <a:r>
              <a:rPr sz="550" b="1" i="0" spc="120">
                <a:solidFill>
                  <a:srgbClr val="000000"/>
                </a:solidFill>
                <a:latin typeface="Trenda IG Text"/>
              </a:rPr>
              <a:t>EVALS</a:t>
            </a:r>
          </a:p>
        </p:txBody>
      </p:sp>
      <p:cxnSp>
        <p:nvCxnSpPr>
          <p:cNvPr id="195" name="Arrow 184"/>
          <p:cNvCxnSpPr/>
          <p:nvPr/>
        </p:nvCxnSpPr>
        <p:spPr>
          <a:xfrm>
            <a:off x="3758184"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6" name="Shape 185"/>
          <p:cNvSpPr/>
          <p:nvPr/>
        </p:nvSpPr>
        <p:spPr>
          <a:xfrm>
            <a:off x="3803904" y="5550408"/>
            <a:ext cx="749808" cy="384048"/>
          </a:xfrm>
          <a:prstGeom prst="roundRect">
            <a:avLst>
              <a:gd name="adj" fmla="val 25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Text 186"/>
          <p:cNvSpPr txBox="1"/>
          <p:nvPr/>
        </p:nvSpPr>
        <p:spPr>
          <a:xfrm>
            <a:off x="3831336"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H2</a:t>
            </a:r>
          </a:p>
          <a:p>
            <a:pPr algn="ctr"/>
            <a:r>
              <a:rPr sz="530" b="0" i="0">
                <a:solidFill>
                  <a:srgbClr val="2B2B2B"/>
                </a:solidFill>
                <a:latin typeface="Trenda IG Text"/>
              </a:rPr>
              <a:t>architect + pods</a:t>
            </a:r>
          </a:p>
        </p:txBody>
      </p:sp>
      <p:cxnSp>
        <p:nvCxnSpPr>
          <p:cNvPr id="198" name="Arrow 187"/>
          <p:cNvCxnSpPr/>
          <p:nvPr/>
        </p:nvCxnSpPr>
        <p:spPr>
          <a:xfrm>
            <a:off x="4553712"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9" name="Shape 188"/>
          <p:cNvSpPr/>
          <p:nvPr/>
        </p:nvSpPr>
        <p:spPr>
          <a:xfrm>
            <a:off x="4599432" y="5550408"/>
            <a:ext cx="749808" cy="384048"/>
          </a:xfrm>
          <a:prstGeom prst="roundRect">
            <a:avLst>
              <a:gd name="adj" fmla="val 25000"/>
            </a:avLst>
          </a:prstGeom>
          <a:solidFill>
            <a:srgbClr val="FFFFFF"/>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Text 189"/>
          <p:cNvSpPr txBox="1"/>
          <p:nvPr/>
        </p:nvSpPr>
        <p:spPr>
          <a:xfrm>
            <a:off x="4626864"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03 Build</a:t>
            </a:r>
          </a:p>
          <a:p>
            <a:pPr algn="ctr"/>
            <a:r>
              <a:rPr sz="530" b="0" i="0">
                <a:solidFill>
                  <a:srgbClr val="2B2B2B"/>
                </a:solidFill>
                <a:latin typeface="Trenda IG Text"/>
              </a:rPr>
              <a:t>Developer</a:t>
            </a:r>
          </a:p>
        </p:txBody>
      </p:sp>
      <p:sp>
        <p:nvSpPr>
          <p:cNvPr id="201" name="Shape 190"/>
          <p:cNvSpPr/>
          <p:nvPr/>
        </p:nvSpPr>
        <p:spPr>
          <a:xfrm>
            <a:off x="4764024" y="5980176"/>
            <a:ext cx="420624" cy="146304"/>
          </a:xfrm>
          <a:prstGeom prst="roundRect">
            <a:avLst>
              <a:gd name="adj" fmla="val 50000"/>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Text 191"/>
          <p:cNvSpPr txBox="1"/>
          <p:nvPr/>
        </p:nvSpPr>
        <p:spPr>
          <a:xfrm>
            <a:off x="4764024" y="5980176"/>
            <a:ext cx="420624" cy="146304"/>
          </a:xfrm>
          <a:prstGeom prst="rect">
            <a:avLst/>
          </a:prstGeom>
          <a:noFill/>
        </p:spPr>
        <p:txBody>
          <a:bodyPr wrap="square" lIns="0" rIns="0" tIns="0" bIns="0" anchor="ctr">
            <a:spAutoFit/>
          </a:bodyPr>
          <a:lstStyle/>
          <a:p>
            <a:pPr algn="ctr"/>
            <a:r>
              <a:rPr sz="550" b="1" i="0" spc="120">
                <a:solidFill>
                  <a:srgbClr val="000000"/>
                </a:solidFill>
                <a:latin typeface="Trenda IG Text"/>
              </a:rPr>
              <a:t>EVALS</a:t>
            </a:r>
          </a:p>
        </p:txBody>
      </p:sp>
      <p:cxnSp>
        <p:nvCxnSpPr>
          <p:cNvPr id="203" name="Arrow 192"/>
          <p:cNvCxnSpPr/>
          <p:nvPr/>
        </p:nvCxnSpPr>
        <p:spPr>
          <a:xfrm>
            <a:off x="5349240"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4" name="Shape 193"/>
          <p:cNvSpPr/>
          <p:nvPr/>
        </p:nvSpPr>
        <p:spPr>
          <a:xfrm>
            <a:off x="5394959" y="5550408"/>
            <a:ext cx="749808" cy="384048"/>
          </a:xfrm>
          <a:prstGeom prst="roundRect">
            <a:avLst>
              <a:gd name="adj" fmla="val 25000"/>
            </a:avLst>
          </a:prstGeom>
          <a:solidFill>
            <a:srgbClr val="FFFFFF"/>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Text 194"/>
          <p:cNvSpPr txBox="1"/>
          <p:nvPr/>
        </p:nvSpPr>
        <p:spPr>
          <a:xfrm>
            <a:off x="5422392"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04 Verify</a:t>
            </a:r>
          </a:p>
          <a:p>
            <a:pPr algn="ctr"/>
            <a:r>
              <a:rPr sz="530" b="0" i="0">
                <a:solidFill>
                  <a:srgbClr val="2B2B2B"/>
                </a:solidFill>
                <a:latin typeface="Trenda IG Text"/>
              </a:rPr>
              <a:t>Review + Test</a:t>
            </a:r>
          </a:p>
        </p:txBody>
      </p:sp>
      <p:sp>
        <p:nvSpPr>
          <p:cNvPr id="206" name="Shape 195"/>
          <p:cNvSpPr/>
          <p:nvPr/>
        </p:nvSpPr>
        <p:spPr>
          <a:xfrm>
            <a:off x="5559551" y="5980176"/>
            <a:ext cx="420624" cy="146304"/>
          </a:xfrm>
          <a:prstGeom prst="roundRect">
            <a:avLst>
              <a:gd name="adj" fmla="val 50000"/>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Text 196"/>
          <p:cNvSpPr txBox="1"/>
          <p:nvPr/>
        </p:nvSpPr>
        <p:spPr>
          <a:xfrm>
            <a:off x="5559551" y="5980176"/>
            <a:ext cx="420624" cy="146304"/>
          </a:xfrm>
          <a:prstGeom prst="rect">
            <a:avLst/>
          </a:prstGeom>
          <a:noFill/>
        </p:spPr>
        <p:txBody>
          <a:bodyPr wrap="square" lIns="0" rIns="0" tIns="0" bIns="0" anchor="ctr">
            <a:spAutoFit/>
          </a:bodyPr>
          <a:lstStyle/>
          <a:p>
            <a:pPr algn="ctr"/>
            <a:r>
              <a:rPr sz="550" b="1" i="0" spc="120">
                <a:solidFill>
                  <a:srgbClr val="000000"/>
                </a:solidFill>
                <a:latin typeface="Trenda IG Text"/>
              </a:rPr>
              <a:t>EVALS</a:t>
            </a:r>
          </a:p>
        </p:txBody>
      </p:sp>
      <p:cxnSp>
        <p:nvCxnSpPr>
          <p:cNvPr id="208" name="Arrow 197"/>
          <p:cNvCxnSpPr/>
          <p:nvPr/>
        </p:nvCxnSpPr>
        <p:spPr>
          <a:xfrm>
            <a:off x="6144768"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9" name="Shape 198"/>
          <p:cNvSpPr/>
          <p:nvPr/>
        </p:nvSpPr>
        <p:spPr>
          <a:xfrm>
            <a:off x="6190488" y="5550408"/>
            <a:ext cx="749808" cy="384048"/>
          </a:xfrm>
          <a:prstGeom prst="roundRect">
            <a:avLst>
              <a:gd name="adj" fmla="val 25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 199"/>
          <p:cNvSpPr txBox="1"/>
          <p:nvPr/>
        </p:nvSpPr>
        <p:spPr>
          <a:xfrm>
            <a:off x="6217920"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H3</a:t>
            </a:r>
          </a:p>
          <a:p>
            <a:pPr algn="ctr"/>
            <a:r>
              <a:rPr sz="530" b="0" i="0">
                <a:solidFill>
                  <a:srgbClr val="2B2B2B"/>
                </a:solidFill>
                <a:latin typeface="Trenda IG Text"/>
              </a:rPr>
              <a:t>tech lead + security</a:t>
            </a:r>
          </a:p>
        </p:txBody>
      </p:sp>
      <p:cxnSp>
        <p:nvCxnSpPr>
          <p:cNvPr id="211" name="Arrow 200"/>
          <p:cNvCxnSpPr/>
          <p:nvPr/>
        </p:nvCxnSpPr>
        <p:spPr>
          <a:xfrm>
            <a:off x="6940296"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2" name="Shape 201"/>
          <p:cNvSpPr/>
          <p:nvPr/>
        </p:nvSpPr>
        <p:spPr>
          <a:xfrm>
            <a:off x="6986016" y="5550408"/>
            <a:ext cx="749808" cy="384048"/>
          </a:xfrm>
          <a:prstGeom prst="roundRect">
            <a:avLst>
              <a:gd name="adj" fmla="val 25000"/>
            </a:avLst>
          </a:prstGeom>
          <a:solidFill>
            <a:srgbClr val="FFFFFF"/>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Text 202"/>
          <p:cNvSpPr txBox="1"/>
          <p:nvPr/>
        </p:nvSpPr>
        <p:spPr>
          <a:xfrm>
            <a:off x="7013448"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05 Promote</a:t>
            </a:r>
          </a:p>
          <a:p>
            <a:pPr algn="ctr"/>
            <a:r>
              <a:rPr sz="530" b="0" i="0">
                <a:solidFill>
                  <a:srgbClr val="2B2B2B"/>
                </a:solidFill>
                <a:latin typeface="Trenda IG Text"/>
              </a:rPr>
              <a:t>Release · SIT, UAT</a:t>
            </a:r>
          </a:p>
        </p:txBody>
      </p:sp>
      <p:sp>
        <p:nvSpPr>
          <p:cNvPr id="214" name="Shape 203"/>
          <p:cNvSpPr/>
          <p:nvPr/>
        </p:nvSpPr>
        <p:spPr>
          <a:xfrm>
            <a:off x="7150607" y="5980176"/>
            <a:ext cx="420624" cy="146304"/>
          </a:xfrm>
          <a:prstGeom prst="roundRect">
            <a:avLst>
              <a:gd name="adj" fmla="val 50000"/>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Text 204"/>
          <p:cNvSpPr txBox="1"/>
          <p:nvPr/>
        </p:nvSpPr>
        <p:spPr>
          <a:xfrm>
            <a:off x="7150607" y="5980176"/>
            <a:ext cx="420624" cy="146304"/>
          </a:xfrm>
          <a:prstGeom prst="rect">
            <a:avLst/>
          </a:prstGeom>
          <a:noFill/>
        </p:spPr>
        <p:txBody>
          <a:bodyPr wrap="square" lIns="0" rIns="0" tIns="0" bIns="0" anchor="ctr">
            <a:spAutoFit/>
          </a:bodyPr>
          <a:lstStyle/>
          <a:p>
            <a:pPr algn="ctr"/>
            <a:r>
              <a:rPr sz="550" b="1" i="0" spc="120">
                <a:solidFill>
                  <a:srgbClr val="000000"/>
                </a:solidFill>
                <a:latin typeface="Trenda IG Text"/>
              </a:rPr>
              <a:t>EVALS</a:t>
            </a:r>
          </a:p>
        </p:txBody>
      </p:sp>
      <p:cxnSp>
        <p:nvCxnSpPr>
          <p:cNvPr id="216" name="Arrow 205"/>
          <p:cNvCxnSpPr/>
          <p:nvPr/>
        </p:nvCxnSpPr>
        <p:spPr>
          <a:xfrm>
            <a:off x="7735823" y="5742432"/>
            <a:ext cx="45721"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7" name="Shape 206"/>
          <p:cNvSpPr/>
          <p:nvPr/>
        </p:nvSpPr>
        <p:spPr>
          <a:xfrm>
            <a:off x="7781544" y="5550408"/>
            <a:ext cx="749808" cy="384048"/>
          </a:xfrm>
          <a:prstGeom prst="roundRect">
            <a:avLst>
              <a:gd name="adj" fmla="val 25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Text 207"/>
          <p:cNvSpPr txBox="1"/>
          <p:nvPr/>
        </p:nvSpPr>
        <p:spPr>
          <a:xfrm>
            <a:off x="7808975"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06 UAT · H4</a:t>
            </a:r>
          </a:p>
          <a:p>
            <a:pPr algn="ctr"/>
            <a:r>
              <a:rPr sz="530" b="0" i="0">
                <a:solidFill>
                  <a:srgbClr val="2B2B2B"/>
                </a:solidFill>
                <a:latin typeface="Trenda IG Text"/>
              </a:rPr>
              <a:t>business sign-off</a:t>
            </a:r>
          </a:p>
        </p:txBody>
      </p:sp>
      <p:cxnSp>
        <p:nvCxnSpPr>
          <p:cNvPr id="219" name="Arrow 208"/>
          <p:cNvCxnSpPr/>
          <p:nvPr/>
        </p:nvCxnSpPr>
        <p:spPr>
          <a:xfrm>
            <a:off x="8531352"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0" name="Shape 209"/>
          <p:cNvSpPr/>
          <p:nvPr/>
        </p:nvSpPr>
        <p:spPr>
          <a:xfrm>
            <a:off x="8577072" y="5550408"/>
            <a:ext cx="749808" cy="384048"/>
          </a:xfrm>
          <a:prstGeom prst="roundRect">
            <a:avLst>
              <a:gd name="adj" fmla="val 25000"/>
            </a:avLst>
          </a:prstGeom>
          <a:solidFill>
            <a:srgbClr val="FFFFFF"/>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Text 210"/>
          <p:cNvSpPr txBox="1"/>
          <p:nvPr/>
        </p:nvSpPr>
        <p:spPr>
          <a:xfrm>
            <a:off x="8604504"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07 Prepare</a:t>
            </a:r>
          </a:p>
          <a:p>
            <a:pPr algn="ctr"/>
            <a:r>
              <a:rPr sz="530" b="0" i="0">
                <a:solidFill>
                  <a:srgbClr val="2B2B2B"/>
                </a:solidFill>
                <a:latin typeface="Trenda IG Text"/>
              </a:rPr>
              <a:t>Release · CAB pack</a:t>
            </a:r>
          </a:p>
        </p:txBody>
      </p:sp>
      <p:sp>
        <p:nvSpPr>
          <p:cNvPr id="222" name="Shape 211"/>
          <p:cNvSpPr/>
          <p:nvPr/>
        </p:nvSpPr>
        <p:spPr>
          <a:xfrm>
            <a:off x="8741664" y="5980176"/>
            <a:ext cx="420624" cy="146304"/>
          </a:xfrm>
          <a:prstGeom prst="roundRect">
            <a:avLst>
              <a:gd name="adj" fmla="val 50000"/>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3" name="Text 212"/>
          <p:cNvSpPr txBox="1"/>
          <p:nvPr/>
        </p:nvSpPr>
        <p:spPr>
          <a:xfrm>
            <a:off x="8741664" y="5980176"/>
            <a:ext cx="420624" cy="146304"/>
          </a:xfrm>
          <a:prstGeom prst="rect">
            <a:avLst/>
          </a:prstGeom>
          <a:noFill/>
        </p:spPr>
        <p:txBody>
          <a:bodyPr wrap="square" lIns="0" rIns="0" tIns="0" bIns="0" anchor="ctr">
            <a:spAutoFit/>
          </a:bodyPr>
          <a:lstStyle/>
          <a:p>
            <a:pPr algn="ctr"/>
            <a:r>
              <a:rPr sz="550" b="1" i="0" spc="120">
                <a:solidFill>
                  <a:srgbClr val="000000"/>
                </a:solidFill>
                <a:latin typeface="Trenda IG Text"/>
              </a:rPr>
              <a:t>EVALS</a:t>
            </a:r>
          </a:p>
        </p:txBody>
      </p:sp>
      <p:cxnSp>
        <p:nvCxnSpPr>
          <p:cNvPr id="224" name="Arrow 213"/>
          <p:cNvCxnSpPr/>
          <p:nvPr/>
        </p:nvCxnSpPr>
        <p:spPr>
          <a:xfrm>
            <a:off x="9326880"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5" name="Shape 214"/>
          <p:cNvSpPr/>
          <p:nvPr/>
        </p:nvSpPr>
        <p:spPr>
          <a:xfrm>
            <a:off x="9372600" y="5550408"/>
            <a:ext cx="749808" cy="384048"/>
          </a:xfrm>
          <a:prstGeom prst="roundRect">
            <a:avLst>
              <a:gd name="adj" fmla="val 25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6" name="Text 215"/>
          <p:cNvSpPr txBox="1"/>
          <p:nvPr/>
        </p:nvSpPr>
        <p:spPr>
          <a:xfrm>
            <a:off x="9400032"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CAB</a:t>
            </a:r>
          </a:p>
          <a:p>
            <a:pPr algn="ctr"/>
            <a:r>
              <a:rPr sz="530" b="0" i="0">
                <a:solidFill>
                  <a:srgbClr val="2B2B2B"/>
                </a:solidFill>
                <a:latin typeface="Trenda IG Text"/>
              </a:rPr>
              <a:t>release owner</a:t>
            </a:r>
          </a:p>
        </p:txBody>
      </p:sp>
      <p:cxnSp>
        <p:nvCxnSpPr>
          <p:cNvPr id="227" name="Arrow 216"/>
          <p:cNvCxnSpPr/>
          <p:nvPr/>
        </p:nvCxnSpPr>
        <p:spPr>
          <a:xfrm>
            <a:off x="10122408"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8" name="Shape 217"/>
          <p:cNvSpPr/>
          <p:nvPr/>
        </p:nvSpPr>
        <p:spPr>
          <a:xfrm>
            <a:off x="10168128" y="5550408"/>
            <a:ext cx="749808" cy="384048"/>
          </a:xfrm>
          <a:prstGeom prst="roundRect">
            <a:avLst>
              <a:gd name="adj" fmla="val 25000"/>
            </a:avLst>
          </a:prstGeom>
          <a:solidFill>
            <a:srgbClr val="FFFFFF"/>
          </a:solidFill>
          <a:ln w="9525">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9" name="Text 218"/>
          <p:cNvSpPr txBox="1"/>
          <p:nvPr/>
        </p:nvSpPr>
        <p:spPr>
          <a:xfrm>
            <a:off x="10195560"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08 Deploy</a:t>
            </a:r>
          </a:p>
          <a:p>
            <a:pPr algn="ctr"/>
            <a:r>
              <a:rPr sz="530" b="0" i="0">
                <a:solidFill>
                  <a:srgbClr val="2B2B2B"/>
                </a:solidFill>
                <a:latin typeface="Trenda IG Text"/>
              </a:rPr>
              <a:t>owning team</a:t>
            </a:r>
          </a:p>
        </p:txBody>
      </p:sp>
      <p:cxnSp>
        <p:nvCxnSpPr>
          <p:cNvPr id="230" name="Arrow 219"/>
          <p:cNvCxnSpPr/>
          <p:nvPr/>
        </p:nvCxnSpPr>
        <p:spPr>
          <a:xfrm>
            <a:off x="10917936" y="5742432"/>
            <a:ext cx="4572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1" name="Shape 220"/>
          <p:cNvSpPr/>
          <p:nvPr/>
        </p:nvSpPr>
        <p:spPr>
          <a:xfrm>
            <a:off x="10963656" y="5550408"/>
            <a:ext cx="749808" cy="384048"/>
          </a:xfrm>
          <a:prstGeom prst="roundRect">
            <a:avLst>
              <a:gd name="adj" fmla="val 25000"/>
            </a:avLst>
          </a:prstGeom>
          <a:solidFill>
            <a:srgbClr val="FFFFFF"/>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Text 221"/>
          <p:cNvSpPr txBox="1"/>
          <p:nvPr/>
        </p:nvSpPr>
        <p:spPr>
          <a:xfrm>
            <a:off x="10991088" y="5550408"/>
            <a:ext cx="694944" cy="384048"/>
          </a:xfrm>
          <a:prstGeom prst="rect">
            <a:avLst/>
          </a:prstGeom>
          <a:noFill/>
        </p:spPr>
        <p:txBody>
          <a:bodyPr wrap="square" lIns="0" rIns="0" tIns="0" bIns="0" anchor="ctr">
            <a:spAutoFit/>
          </a:bodyPr>
          <a:lstStyle/>
          <a:p>
            <a:pPr algn="ctr"/>
            <a:r>
              <a:rPr sz="650" b="1" i="0">
                <a:solidFill>
                  <a:srgbClr val="000000"/>
                </a:solidFill>
                <a:latin typeface="Trenda IG Text"/>
              </a:rPr>
              <a:t>09 Close</a:t>
            </a:r>
          </a:p>
          <a:p>
            <a:pPr algn="ctr"/>
            <a:r>
              <a:rPr sz="530" b="0" i="0">
                <a:solidFill>
                  <a:srgbClr val="2B2B2B"/>
                </a:solidFill>
                <a:latin typeface="Trenda IG Text"/>
              </a:rPr>
              <a:t>resync, Jira Done</a:t>
            </a:r>
          </a:p>
        </p:txBody>
      </p:sp>
      <p:sp>
        <p:nvSpPr>
          <p:cNvPr id="233" name="Text 222"/>
          <p:cNvSpPr txBox="1"/>
          <p:nvPr/>
        </p:nvSpPr>
        <p:spPr>
          <a:xfrm>
            <a:off x="411480" y="5980176"/>
            <a:ext cx="960120" cy="146304"/>
          </a:xfrm>
          <a:prstGeom prst="rect">
            <a:avLst/>
          </a:prstGeom>
          <a:noFill/>
        </p:spPr>
        <p:txBody>
          <a:bodyPr wrap="square" lIns="0" rIns="0" tIns="0" bIns="0" anchor="ctr">
            <a:spAutoFit/>
          </a:bodyPr>
          <a:lstStyle/>
          <a:p>
            <a:r>
              <a:rPr sz="550" b="1" i="0">
                <a:solidFill>
                  <a:srgbClr val="C9A800"/>
                </a:solidFill>
                <a:latin typeface="Trenda IG Text"/>
              </a:rPr>
              <a:t>EVALS</a:t>
            </a:r>
          </a:p>
        </p:txBody>
      </p:sp>
      <p:sp>
        <p:nvSpPr>
          <p:cNvPr id="234" name="Text 223"/>
          <p:cNvSpPr txBox="1"/>
          <p:nvPr/>
        </p:nvSpPr>
        <p:spPr>
          <a:xfrm>
            <a:off x="411480" y="6117336"/>
            <a:ext cx="960120" cy="182880"/>
          </a:xfrm>
          <a:prstGeom prst="rect">
            <a:avLst/>
          </a:prstGeom>
          <a:noFill/>
        </p:spPr>
        <p:txBody>
          <a:bodyPr wrap="square" lIns="0" rIns="0" tIns="0" bIns="0" anchor="t">
            <a:spAutoFit/>
          </a:bodyPr>
          <a:lstStyle/>
          <a:p>
            <a:r>
              <a:rPr sz="530" b="0" i="0">
                <a:solidFill>
                  <a:srgbClr val="595959"/>
                </a:solidFill>
                <a:latin typeface="Trenda IG Text"/>
              </a:rPr>
              <a:t>scored before it moves</a:t>
            </a:r>
          </a:p>
        </p:txBody>
      </p:sp>
      <p:grpSp>
        <p:nvGrpSpPr>
          <p:cNvPr id="235" name="Step 1 highlight"/>
          <p:cNvGrpSpPr/>
          <p:nvPr/>
        </p:nvGrpSpPr>
        <p:grpSpPr>
          <a:xfrm>
            <a:off x="365760" y="1115568"/>
            <a:ext cx="11457432" cy="5239512"/>
            <a:chOff x="365760" y="1115568"/>
            <a:chExt cx="11457432" cy="5239512"/>
          </a:xfrm>
        </p:grpSpPr>
        <p:sp>
          <p:nvSpPr>
            <p:cNvPr id="236" name="Shape 1"/>
            <p:cNvSpPr/>
            <p:nvPr/>
          </p:nvSpPr>
          <p:spPr>
            <a:xfrm>
              <a:off x="365760" y="1115568"/>
              <a:ext cx="11457432" cy="85039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Shape 2"/>
            <p:cNvSpPr/>
            <p:nvPr/>
          </p:nvSpPr>
          <p:spPr>
            <a:xfrm>
              <a:off x="365760" y="1965960"/>
              <a:ext cx="91439" cy="146304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Shape 3"/>
            <p:cNvSpPr/>
            <p:nvPr/>
          </p:nvSpPr>
          <p:spPr>
            <a:xfrm>
              <a:off x="2395728" y="1965960"/>
              <a:ext cx="9427463" cy="146304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9" name="Shape 4"/>
            <p:cNvSpPr/>
            <p:nvPr/>
          </p:nvSpPr>
          <p:spPr>
            <a:xfrm>
              <a:off x="365760" y="3429000"/>
              <a:ext cx="91439" cy="27431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Shape 5"/>
            <p:cNvSpPr/>
            <p:nvPr/>
          </p:nvSpPr>
          <p:spPr>
            <a:xfrm>
              <a:off x="2834640" y="3429000"/>
              <a:ext cx="8988552" cy="27431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1" name="Shape 6"/>
            <p:cNvSpPr/>
            <p:nvPr/>
          </p:nvSpPr>
          <p:spPr>
            <a:xfrm>
              <a:off x="365760" y="3703320"/>
              <a:ext cx="91439" cy="5669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Shape 7"/>
            <p:cNvSpPr/>
            <p:nvPr/>
          </p:nvSpPr>
          <p:spPr>
            <a:xfrm>
              <a:off x="2395728" y="3703320"/>
              <a:ext cx="9427463" cy="5669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Shape 8"/>
            <p:cNvSpPr/>
            <p:nvPr/>
          </p:nvSpPr>
          <p:spPr>
            <a:xfrm>
              <a:off x="365760" y="4270248"/>
              <a:ext cx="11457432" cy="208483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Shape 9"/>
            <p:cNvSpPr/>
            <p:nvPr/>
          </p:nvSpPr>
          <p:spPr>
            <a:xfrm>
              <a:off x="466344" y="1993392"/>
              <a:ext cx="1920240" cy="100584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Shape 10"/>
            <p:cNvSpPr/>
            <p:nvPr/>
          </p:nvSpPr>
          <p:spPr>
            <a:xfrm>
              <a:off x="466344" y="3163824"/>
              <a:ext cx="1920240" cy="10972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Shape 11"/>
            <p:cNvSpPr/>
            <p:nvPr/>
          </p:nvSpPr>
          <p:spPr>
            <a:xfrm>
              <a:off x="3063240" y="2057400"/>
              <a:ext cx="393192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Text 12"/>
            <p:cNvSpPr txBox="1"/>
            <p:nvPr/>
          </p:nvSpPr>
          <p:spPr>
            <a:xfrm>
              <a:off x="3191256" y="2121408"/>
              <a:ext cx="3675887"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1 / 13   </a:t>
              </a:r>
              <a:r>
                <a:rPr sz="800" b="1" i="0" spc="120">
                  <a:solidFill>
                    <a:srgbClr val="FFFFFF"/>
                  </a:solidFill>
                  <a:latin typeface="Trenda IG Text"/>
                </a:rPr>
                <a:t>START IN SALESFORCE</a:t>
              </a:r>
            </a:p>
            <a:p>
              <a:pPr>
                <a:spcAft>
                  <a:spcPts val="200"/>
                </a:spcAft>
              </a:pPr>
              <a:r>
                <a:rPr sz="750" b="0" i="0">
                  <a:solidFill>
                    <a:srgbClr val="E6E6E6"/>
                  </a:solidFill>
                  <a:latin typeface="Trenda IG Text"/>
                </a:rPr>
                <a:t>Campaign story VBC-412: the CHF post-discharge SMS nudge. The marketer enters the Jira key, picks the Marketing Cloud pod and attaches the design; Apex reaches the harness and Codex runs the ADLC skills.</a:t>
              </a:r>
            </a:p>
          </p:txBody>
        </p:sp>
      </p:grpSp>
      <p:grpSp>
        <p:nvGrpSpPr>
          <p:cNvPr id="248" name="Step 1 arrows"/>
          <p:cNvGrpSpPr/>
          <p:nvPr/>
        </p:nvGrpSpPr>
        <p:grpSpPr>
          <a:xfrm>
            <a:off x="1426464" y="2962656"/>
            <a:ext cx="1362456" cy="603504"/>
            <a:chOff x="1426464" y="2962656"/>
            <a:chExt cx="1362456" cy="603504"/>
          </a:xfrm>
        </p:grpSpPr>
        <p:cxnSp>
          <p:nvCxnSpPr>
            <p:cNvPr id="249" name="Arrow 1"/>
            <p:cNvCxnSpPr/>
            <p:nvPr/>
          </p:nvCxnSpPr>
          <p:spPr>
            <a:xfrm>
              <a:off x="1426464" y="2962656"/>
              <a:ext cx="0" cy="237744"/>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0" name="Arrow 2"/>
            <p:cNvCxnSpPr/>
            <p:nvPr/>
          </p:nvCxnSpPr>
          <p:spPr>
            <a:xfrm>
              <a:off x="2350008" y="3566160"/>
              <a:ext cx="438912" cy="0"/>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51" name="Step 2 highlight"/>
          <p:cNvGrpSpPr/>
          <p:nvPr/>
        </p:nvGrpSpPr>
        <p:grpSpPr>
          <a:xfrm>
            <a:off x="365760" y="1115568"/>
            <a:ext cx="11457432" cy="5239512"/>
            <a:chOff x="365760" y="1115568"/>
            <a:chExt cx="11457432" cy="5239512"/>
          </a:xfrm>
        </p:grpSpPr>
        <p:sp>
          <p:nvSpPr>
            <p:cNvPr id="252" name="Shape 1"/>
            <p:cNvSpPr/>
            <p:nvPr/>
          </p:nvSpPr>
          <p:spPr>
            <a:xfrm>
              <a:off x="365760" y="1115568"/>
              <a:ext cx="11457432" cy="18287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Shape 2"/>
            <p:cNvSpPr/>
            <p:nvPr/>
          </p:nvSpPr>
          <p:spPr>
            <a:xfrm>
              <a:off x="365760" y="1298448"/>
              <a:ext cx="2286000" cy="11887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Shape 3"/>
            <p:cNvSpPr/>
            <p:nvPr/>
          </p:nvSpPr>
          <p:spPr>
            <a:xfrm>
              <a:off x="9409176" y="1298448"/>
              <a:ext cx="2414016" cy="11887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Shape 4"/>
            <p:cNvSpPr/>
            <p:nvPr/>
          </p:nvSpPr>
          <p:spPr>
            <a:xfrm>
              <a:off x="365760" y="1417320"/>
              <a:ext cx="2286000" cy="114299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Shape 5"/>
            <p:cNvSpPr/>
            <p:nvPr/>
          </p:nvSpPr>
          <p:spPr>
            <a:xfrm>
              <a:off x="9409176" y="1417320"/>
              <a:ext cx="192024" cy="114299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Shape 6"/>
            <p:cNvSpPr/>
            <p:nvPr/>
          </p:nvSpPr>
          <p:spPr>
            <a:xfrm>
              <a:off x="11777472" y="1417320"/>
              <a:ext cx="45720" cy="114299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Shape 7"/>
            <p:cNvSpPr/>
            <p:nvPr/>
          </p:nvSpPr>
          <p:spPr>
            <a:xfrm>
              <a:off x="365760" y="2560320"/>
              <a:ext cx="9235440" cy="4937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Shape 8"/>
            <p:cNvSpPr/>
            <p:nvPr/>
          </p:nvSpPr>
          <p:spPr>
            <a:xfrm>
              <a:off x="11777472" y="2560320"/>
              <a:ext cx="45720" cy="4937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Shape 9"/>
            <p:cNvSpPr/>
            <p:nvPr/>
          </p:nvSpPr>
          <p:spPr>
            <a:xfrm>
              <a:off x="365760" y="3054096"/>
              <a:ext cx="4206240" cy="29260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Shape 10"/>
            <p:cNvSpPr/>
            <p:nvPr/>
          </p:nvSpPr>
          <p:spPr>
            <a:xfrm>
              <a:off x="5879592" y="3054096"/>
              <a:ext cx="3721608" cy="29260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Shape 11"/>
            <p:cNvSpPr/>
            <p:nvPr/>
          </p:nvSpPr>
          <p:spPr>
            <a:xfrm>
              <a:off x="11777472" y="3054096"/>
              <a:ext cx="45720" cy="29260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Shape 12"/>
            <p:cNvSpPr/>
            <p:nvPr/>
          </p:nvSpPr>
          <p:spPr>
            <a:xfrm>
              <a:off x="365760" y="3346703"/>
              <a:ext cx="9235440" cy="64922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Shape 13"/>
            <p:cNvSpPr/>
            <p:nvPr/>
          </p:nvSpPr>
          <p:spPr>
            <a:xfrm>
              <a:off x="11777472" y="3346703"/>
              <a:ext cx="45720" cy="64922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Shape 14"/>
            <p:cNvSpPr/>
            <p:nvPr/>
          </p:nvSpPr>
          <p:spPr>
            <a:xfrm>
              <a:off x="365760" y="3995928"/>
              <a:ext cx="11457432" cy="235915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Shape 15"/>
            <p:cNvSpPr/>
            <p:nvPr/>
          </p:nvSpPr>
          <p:spPr>
            <a:xfrm>
              <a:off x="2660904" y="1307592"/>
              <a:ext cx="6739128" cy="1243584"/>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Shape 16"/>
            <p:cNvSpPr/>
            <p:nvPr/>
          </p:nvSpPr>
          <p:spPr>
            <a:xfrm>
              <a:off x="9564624" y="1426464"/>
              <a:ext cx="2249423" cy="117043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Shape 17"/>
            <p:cNvSpPr/>
            <p:nvPr/>
          </p:nvSpPr>
          <p:spPr>
            <a:xfrm>
              <a:off x="9564624" y="2889504"/>
              <a:ext cx="2249423" cy="1124711"/>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Shape 18"/>
            <p:cNvSpPr/>
            <p:nvPr/>
          </p:nvSpPr>
          <p:spPr>
            <a:xfrm>
              <a:off x="4581144" y="3063240"/>
              <a:ext cx="1289304" cy="27432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Shape 19"/>
            <p:cNvSpPr/>
            <p:nvPr/>
          </p:nvSpPr>
          <p:spPr>
            <a:xfrm>
              <a:off x="2743200" y="3931920"/>
              <a:ext cx="443484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Text 20"/>
            <p:cNvSpPr txBox="1"/>
            <p:nvPr/>
          </p:nvSpPr>
          <p:spPr>
            <a:xfrm>
              <a:off x="2871216" y="3995928"/>
              <a:ext cx="4178807"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2 / 13   </a:t>
              </a:r>
              <a:r>
                <a:rPr sz="800" b="1" i="0" spc="120">
                  <a:solidFill>
                    <a:srgbClr val="FFFFFF"/>
                  </a:solidFill>
                  <a:latin typeface="Trenda IG Text"/>
                </a:rPr>
                <a:t>CONTEXT FIRST</a:t>
              </a:r>
            </a:p>
            <a:p>
              <a:pPr>
                <a:spcAft>
                  <a:spcPts val="200"/>
                </a:spcAft>
              </a:pPr>
              <a:r>
                <a:rPr sz="750" b="0" i="0">
                  <a:solidFill>
                    <a:srgbClr val="E6E6E6"/>
                  </a:solidFill>
                  <a:latin typeface="Trenda IG Text"/>
                </a:rPr>
                <a:t>The Requirements Agent checks what already exists before anything is built: data extensions, journeys and Data Cloud segments in Salesforce, the Jira history and the Confluence design. Read-only, cited, a bounded slice, never an org dump.</a:t>
              </a:r>
            </a:p>
          </p:txBody>
        </p:sp>
      </p:grpSp>
      <p:grpSp>
        <p:nvGrpSpPr>
          <p:cNvPr id="272" name="Step 2 arrows"/>
          <p:cNvGrpSpPr/>
          <p:nvPr/>
        </p:nvGrpSpPr>
        <p:grpSpPr>
          <a:xfrm>
            <a:off x="5001768" y="2011680"/>
            <a:ext cx="4599432" cy="1088136"/>
            <a:chOff x="5001768" y="2011680"/>
            <a:chExt cx="4599432" cy="1088136"/>
          </a:xfrm>
        </p:grpSpPr>
        <p:cxnSp>
          <p:nvCxnSpPr>
            <p:cNvPr id="273" name="Arrow 1"/>
            <p:cNvCxnSpPr/>
            <p:nvPr/>
          </p:nvCxnSpPr>
          <p:spPr>
            <a:xfrm flipV="1">
              <a:off x="5001768" y="2423160"/>
              <a:ext cx="0" cy="676656"/>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4" name="Arrow 2"/>
            <p:cNvCxnSpPr/>
            <p:nvPr/>
          </p:nvCxnSpPr>
          <p:spPr>
            <a:xfrm flipH="1">
              <a:off x="9363456" y="2011680"/>
              <a:ext cx="237744" cy="0"/>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75" name="Step 3 highlight"/>
          <p:cNvGrpSpPr/>
          <p:nvPr/>
        </p:nvGrpSpPr>
        <p:grpSpPr>
          <a:xfrm>
            <a:off x="365760" y="1115568"/>
            <a:ext cx="11457432" cy="5239512"/>
            <a:chOff x="365760" y="1115568"/>
            <a:chExt cx="11457432" cy="5239512"/>
          </a:xfrm>
        </p:grpSpPr>
        <p:sp>
          <p:nvSpPr>
            <p:cNvPr id="276" name="Shape 1"/>
            <p:cNvSpPr/>
            <p:nvPr/>
          </p:nvSpPr>
          <p:spPr>
            <a:xfrm>
              <a:off x="365760" y="1115568"/>
              <a:ext cx="11457432" cy="164592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7" name="Shape 2"/>
            <p:cNvSpPr/>
            <p:nvPr/>
          </p:nvSpPr>
          <p:spPr>
            <a:xfrm>
              <a:off x="365760" y="2761488"/>
              <a:ext cx="2359152" cy="109727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Shape 3"/>
            <p:cNvSpPr/>
            <p:nvPr/>
          </p:nvSpPr>
          <p:spPr>
            <a:xfrm>
              <a:off x="7251192" y="2761488"/>
              <a:ext cx="4572000" cy="109727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9" name="Shape 4"/>
            <p:cNvSpPr/>
            <p:nvPr/>
          </p:nvSpPr>
          <p:spPr>
            <a:xfrm>
              <a:off x="365760" y="3858768"/>
              <a:ext cx="11457432" cy="249631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Shape 5"/>
            <p:cNvSpPr/>
            <p:nvPr/>
          </p:nvSpPr>
          <p:spPr>
            <a:xfrm>
              <a:off x="2752344" y="2816352"/>
              <a:ext cx="1737360" cy="103327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1" name="Shape 6"/>
            <p:cNvSpPr/>
            <p:nvPr/>
          </p:nvSpPr>
          <p:spPr>
            <a:xfrm>
              <a:off x="4507992" y="2816352"/>
              <a:ext cx="2724912" cy="103327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2" name="Shape 7"/>
            <p:cNvSpPr/>
            <p:nvPr/>
          </p:nvSpPr>
          <p:spPr>
            <a:xfrm>
              <a:off x="2743200" y="3977639"/>
              <a:ext cx="443484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3" name="Text 8"/>
            <p:cNvSpPr txBox="1"/>
            <p:nvPr/>
          </p:nvSpPr>
          <p:spPr>
            <a:xfrm>
              <a:off x="2871216" y="4041648"/>
              <a:ext cx="4178807"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3 / 13   </a:t>
              </a:r>
              <a:r>
                <a:rPr sz="800" b="1" i="0" spc="120">
                  <a:solidFill>
                    <a:srgbClr val="FFFFFF"/>
                  </a:solidFill>
                  <a:latin typeface="Trenda IG Text"/>
                </a:rPr>
                <a:t>ORCHESTRATED, STEP BY STEP</a:t>
              </a:r>
            </a:p>
            <a:p>
              <a:pPr>
                <a:spcAft>
                  <a:spcPts val="200"/>
                </a:spcAft>
              </a:pPr>
              <a:r>
                <a:rPr sz="750" b="0" i="0">
                  <a:solidFill>
                    <a:srgbClr val="E6E6E6"/>
                  </a:solidFill>
                  <a:latin typeface="Trenda IG Text"/>
                </a:rPr>
                <a:t>Cloud Workflows coordinates the campaign story. One agent job per step: requirements, design, build, review, test, release. Checkpoints mean a failed run resumes where it stopped.</a:t>
              </a:r>
            </a:p>
          </p:txBody>
        </p:sp>
      </p:grpSp>
      <p:grpSp>
        <p:nvGrpSpPr>
          <p:cNvPr id="284" name="Step 3 arrows"/>
          <p:cNvGrpSpPr/>
          <p:nvPr/>
        </p:nvGrpSpPr>
        <p:grpSpPr>
          <a:xfrm>
            <a:off x="4453128" y="3310128"/>
            <a:ext cx="91440" cy="0"/>
            <a:chOff x="4453128" y="3310128"/>
            <a:chExt cx="91440" cy="0"/>
          </a:xfrm>
        </p:grpSpPr>
        <p:cxnSp>
          <p:nvCxnSpPr>
            <p:cNvPr id="285" name="Arrow 1"/>
            <p:cNvCxnSpPr/>
            <p:nvPr/>
          </p:nvCxnSpPr>
          <p:spPr>
            <a:xfrm>
              <a:off x="4453128" y="3310128"/>
              <a:ext cx="91440" cy="0"/>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86" name="Step 4 highlight"/>
          <p:cNvGrpSpPr/>
          <p:nvPr/>
        </p:nvGrpSpPr>
        <p:grpSpPr>
          <a:xfrm>
            <a:off x="365760" y="1115568"/>
            <a:ext cx="11457432" cy="5239511"/>
            <a:chOff x="365760" y="1115568"/>
            <a:chExt cx="11457432" cy="5239511"/>
          </a:xfrm>
        </p:grpSpPr>
        <p:sp>
          <p:nvSpPr>
            <p:cNvPr id="287" name="Shape 1"/>
            <p:cNvSpPr/>
            <p:nvPr/>
          </p:nvSpPr>
          <p:spPr>
            <a:xfrm>
              <a:off x="365760" y="1115568"/>
              <a:ext cx="11457432" cy="164592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8" name="Shape 2"/>
            <p:cNvSpPr/>
            <p:nvPr/>
          </p:nvSpPr>
          <p:spPr>
            <a:xfrm>
              <a:off x="365760" y="2761488"/>
              <a:ext cx="4133087" cy="14630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9" name="Shape 3"/>
            <p:cNvSpPr/>
            <p:nvPr/>
          </p:nvSpPr>
          <p:spPr>
            <a:xfrm>
              <a:off x="9317736" y="2761488"/>
              <a:ext cx="2505456" cy="14630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0" name="Shape 4"/>
            <p:cNvSpPr/>
            <p:nvPr/>
          </p:nvSpPr>
          <p:spPr>
            <a:xfrm>
              <a:off x="365760" y="2907792"/>
              <a:ext cx="4133087" cy="1591055"/>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1" name="Shape 5"/>
            <p:cNvSpPr/>
            <p:nvPr/>
          </p:nvSpPr>
          <p:spPr>
            <a:xfrm>
              <a:off x="9317736" y="2907792"/>
              <a:ext cx="283464" cy="1591055"/>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Shape 6"/>
            <p:cNvSpPr/>
            <p:nvPr/>
          </p:nvSpPr>
          <p:spPr>
            <a:xfrm>
              <a:off x="11777472" y="2907792"/>
              <a:ext cx="45720" cy="1591055"/>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3" name="Shape 7"/>
            <p:cNvSpPr/>
            <p:nvPr/>
          </p:nvSpPr>
          <p:spPr>
            <a:xfrm>
              <a:off x="365760" y="4498848"/>
              <a:ext cx="9235440" cy="42062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4" name="Shape 8"/>
            <p:cNvSpPr/>
            <p:nvPr/>
          </p:nvSpPr>
          <p:spPr>
            <a:xfrm>
              <a:off x="11777472" y="4498848"/>
              <a:ext cx="45720" cy="42062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5" name="Shape 9"/>
            <p:cNvSpPr/>
            <p:nvPr/>
          </p:nvSpPr>
          <p:spPr>
            <a:xfrm>
              <a:off x="365760" y="4919472"/>
              <a:ext cx="11457432" cy="143560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Shape 10"/>
            <p:cNvSpPr/>
            <p:nvPr/>
          </p:nvSpPr>
          <p:spPr>
            <a:xfrm>
              <a:off x="7251192" y="2816352"/>
              <a:ext cx="2057400"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7" name="Shape 11"/>
            <p:cNvSpPr/>
            <p:nvPr/>
          </p:nvSpPr>
          <p:spPr>
            <a:xfrm>
              <a:off x="7251192" y="3456432"/>
              <a:ext cx="2057400" cy="103327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Shape 12"/>
            <p:cNvSpPr/>
            <p:nvPr/>
          </p:nvSpPr>
          <p:spPr>
            <a:xfrm>
              <a:off x="9564624" y="2889504"/>
              <a:ext cx="2249423" cy="1124711"/>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9" name="Shape 13"/>
            <p:cNvSpPr/>
            <p:nvPr/>
          </p:nvSpPr>
          <p:spPr>
            <a:xfrm>
              <a:off x="9564624" y="4315968"/>
              <a:ext cx="2249424" cy="603503"/>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Shape 14"/>
            <p:cNvSpPr/>
            <p:nvPr/>
          </p:nvSpPr>
          <p:spPr>
            <a:xfrm>
              <a:off x="457200" y="2880360"/>
              <a:ext cx="393192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1" name="Text 15"/>
            <p:cNvSpPr txBox="1"/>
            <p:nvPr/>
          </p:nvSpPr>
          <p:spPr>
            <a:xfrm>
              <a:off x="585216" y="2944368"/>
              <a:ext cx="3675887"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4 / 13   </a:t>
              </a:r>
              <a:r>
                <a:rPr sz="800" b="1" i="0" spc="120">
                  <a:solidFill>
                    <a:srgbClr val="FFFFFF"/>
                  </a:solidFill>
                  <a:latin typeface="Trenda IG Text"/>
                </a:rPr>
                <a:t>ACT ONLY THROUGH THE GATEWAY</a:t>
              </a:r>
            </a:p>
            <a:p>
              <a:pPr>
                <a:spcAft>
                  <a:spcPts val="200"/>
                </a:spcAft>
              </a:pPr>
              <a:r>
                <a:rPr sz="750" b="0" i="0">
                  <a:solidFill>
                    <a:srgbClr val="E6E6E6"/>
                  </a:solidFill>
                  <a:latin typeface="Trenda IG Text"/>
                </a:rPr>
                <a:t>Git, Salesforce, Marketing Cloud and Copado are touched only through the MCP gateway, with the identity allowed for that step. The Change Guardian checks which other pods use the same data extensions, short code and STOP keyword.</a:t>
              </a:r>
            </a:p>
          </p:txBody>
        </p:sp>
      </p:grpSp>
      <p:grpSp>
        <p:nvGrpSpPr>
          <p:cNvPr id="302" name="Step 4 arrows"/>
          <p:cNvGrpSpPr/>
          <p:nvPr/>
        </p:nvGrpSpPr>
        <p:grpSpPr>
          <a:xfrm>
            <a:off x="7196328" y="3767328"/>
            <a:ext cx="2404872" cy="182880"/>
            <a:chOff x="7196328" y="3767328"/>
            <a:chExt cx="2404872" cy="182880"/>
          </a:xfrm>
        </p:grpSpPr>
        <p:cxnSp>
          <p:nvCxnSpPr>
            <p:cNvPr id="303" name="Arrow 1"/>
            <p:cNvCxnSpPr/>
            <p:nvPr/>
          </p:nvCxnSpPr>
          <p:spPr>
            <a:xfrm>
              <a:off x="7196328" y="3767328"/>
              <a:ext cx="91440" cy="0"/>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4" name="Arrow 2"/>
            <p:cNvCxnSpPr/>
            <p:nvPr/>
          </p:nvCxnSpPr>
          <p:spPr>
            <a:xfrm>
              <a:off x="9272016" y="3950208"/>
              <a:ext cx="329184" cy="0"/>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05" name="Step 5 highlight"/>
          <p:cNvGrpSpPr/>
          <p:nvPr/>
        </p:nvGrpSpPr>
        <p:grpSpPr>
          <a:xfrm>
            <a:off x="365760" y="1115568"/>
            <a:ext cx="11457432" cy="5239512"/>
            <a:chOff x="365760" y="1115568"/>
            <a:chExt cx="11457432" cy="5239512"/>
          </a:xfrm>
        </p:grpSpPr>
        <p:sp>
          <p:nvSpPr>
            <p:cNvPr id="306" name="Shape 1"/>
            <p:cNvSpPr/>
            <p:nvPr/>
          </p:nvSpPr>
          <p:spPr>
            <a:xfrm>
              <a:off x="365760" y="1115568"/>
              <a:ext cx="11457432" cy="164592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7" name="Shape 2"/>
            <p:cNvSpPr/>
            <p:nvPr/>
          </p:nvSpPr>
          <p:spPr>
            <a:xfrm>
              <a:off x="365760" y="2761488"/>
              <a:ext cx="2359152" cy="173736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Shape 3"/>
            <p:cNvSpPr/>
            <p:nvPr/>
          </p:nvSpPr>
          <p:spPr>
            <a:xfrm>
              <a:off x="7251192" y="2761488"/>
              <a:ext cx="4572000" cy="173736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9" name="Shape 4"/>
            <p:cNvSpPr/>
            <p:nvPr/>
          </p:nvSpPr>
          <p:spPr>
            <a:xfrm>
              <a:off x="365760" y="4498848"/>
              <a:ext cx="11457432" cy="185623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Shape 5"/>
            <p:cNvSpPr/>
            <p:nvPr/>
          </p:nvSpPr>
          <p:spPr>
            <a:xfrm>
              <a:off x="4507992" y="3849624"/>
              <a:ext cx="2724912"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1" name="Shape 6"/>
            <p:cNvSpPr/>
            <p:nvPr/>
          </p:nvSpPr>
          <p:spPr>
            <a:xfrm>
              <a:off x="2752344" y="3849624"/>
              <a:ext cx="1737360"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Shape 7"/>
            <p:cNvSpPr/>
            <p:nvPr/>
          </p:nvSpPr>
          <p:spPr>
            <a:xfrm>
              <a:off x="7406640" y="2834640"/>
              <a:ext cx="42976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3" name="Text 8"/>
            <p:cNvSpPr txBox="1"/>
            <p:nvPr/>
          </p:nvSpPr>
          <p:spPr>
            <a:xfrm>
              <a:off x="7534656" y="2898648"/>
              <a:ext cx="40416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5 / 13   </a:t>
              </a:r>
              <a:r>
                <a:rPr sz="800" b="1" i="0" spc="120">
                  <a:solidFill>
                    <a:srgbClr val="FFFFFF"/>
                  </a:solidFill>
                  <a:latin typeface="Trenda IG Text"/>
                </a:rPr>
                <a:t>EVALS ON EVERY STEP: PASS</a:t>
              </a:r>
            </a:p>
            <a:p>
              <a:pPr>
                <a:spcAft>
                  <a:spcPts val="200"/>
                </a:spcAft>
              </a:pPr>
              <a:r>
                <a:rPr sz="750" b="0" i="0">
                  <a:solidFill>
                    <a:srgbClr val="E6E6E6"/>
                  </a:solidFill>
                  <a:latin typeface="Trenda IG Text"/>
                </a:rPr>
                <a:t>Every output is scored before it moves on: does the journey match the brief, is every field real, are consent and STOP checks in place. A pass goes to the gate with the evidence.</a:t>
              </a:r>
            </a:p>
          </p:txBody>
        </p:sp>
      </p:grpSp>
      <p:grpSp>
        <p:nvGrpSpPr>
          <p:cNvPr id="314" name="Step 5 arrows"/>
          <p:cNvGrpSpPr/>
          <p:nvPr/>
        </p:nvGrpSpPr>
        <p:grpSpPr>
          <a:xfrm>
            <a:off x="4069080" y="3685032"/>
            <a:ext cx="1801368" cy="484631"/>
            <a:chOff x="4069080" y="3685032"/>
            <a:chExt cx="1801368" cy="484631"/>
          </a:xfrm>
        </p:grpSpPr>
        <p:cxnSp>
          <p:nvCxnSpPr>
            <p:cNvPr id="315" name="Arrow 1"/>
            <p:cNvCxnSpPr/>
            <p:nvPr/>
          </p:nvCxnSpPr>
          <p:spPr>
            <a:xfrm>
              <a:off x="5870448" y="3813048"/>
              <a:ext cx="0" cy="73152"/>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6" name="Arrow 2"/>
            <p:cNvCxnSpPr/>
            <p:nvPr/>
          </p:nvCxnSpPr>
          <p:spPr>
            <a:xfrm flipH="1">
              <a:off x="4453128" y="4169663"/>
              <a:ext cx="91440" cy="0"/>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7" name="Shape 3"/>
            <p:cNvSpPr/>
            <p:nvPr/>
          </p:nvSpPr>
          <p:spPr>
            <a:xfrm>
              <a:off x="4069080" y="3685032"/>
              <a:ext cx="868680" cy="182880"/>
            </a:xfrm>
            <a:prstGeom prst="roundRect">
              <a:avLst>
                <a:gd name="adj" fmla="val 50000"/>
              </a:avLst>
            </a:prstGeom>
            <a:solidFill>
              <a:srgbClr val="2E9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Text 4"/>
            <p:cNvSpPr txBox="1"/>
            <p:nvPr/>
          </p:nvSpPr>
          <p:spPr>
            <a:xfrm>
              <a:off x="4069080" y="3685032"/>
              <a:ext cx="868680" cy="182880"/>
            </a:xfrm>
            <a:prstGeom prst="rect">
              <a:avLst/>
            </a:prstGeom>
            <a:noFill/>
          </p:spPr>
          <p:txBody>
            <a:bodyPr wrap="square" lIns="0" rIns="0" tIns="0" bIns="0" anchor="ctr">
              <a:spAutoFit/>
            </a:bodyPr>
            <a:lstStyle/>
            <a:p>
              <a:pPr algn="ctr"/>
              <a:r>
                <a:rPr sz="650" b="1" i="0" spc="60">
                  <a:solidFill>
                    <a:srgbClr val="FFFFFF"/>
                  </a:solidFill>
                  <a:latin typeface="Trenda IG Text"/>
                </a:rPr>
                <a:t>PASS → GATE</a:t>
              </a:r>
            </a:p>
          </p:txBody>
        </p:sp>
      </p:grpSp>
      <p:grpSp>
        <p:nvGrpSpPr>
          <p:cNvPr id="319" name="Step 6 highlight"/>
          <p:cNvGrpSpPr/>
          <p:nvPr/>
        </p:nvGrpSpPr>
        <p:grpSpPr>
          <a:xfrm>
            <a:off x="365760" y="1115568"/>
            <a:ext cx="11457432" cy="5239512"/>
            <a:chOff x="365760" y="1115568"/>
            <a:chExt cx="11457432" cy="5239512"/>
          </a:xfrm>
        </p:grpSpPr>
        <p:sp>
          <p:nvSpPr>
            <p:cNvPr id="320" name="Shape 1"/>
            <p:cNvSpPr/>
            <p:nvPr/>
          </p:nvSpPr>
          <p:spPr>
            <a:xfrm>
              <a:off x="365760" y="1115568"/>
              <a:ext cx="11457432" cy="164592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1" name="Shape 2"/>
            <p:cNvSpPr/>
            <p:nvPr/>
          </p:nvSpPr>
          <p:spPr>
            <a:xfrm>
              <a:off x="365760" y="2761488"/>
              <a:ext cx="2359152" cy="173736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Shape 3"/>
            <p:cNvSpPr/>
            <p:nvPr/>
          </p:nvSpPr>
          <p:spPr>
            <a:xfrm>
              <a:off x="7251192" y="2761488"/>
              <a:ext cx="4572000" cy="173736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3" name="Shape 4"/>
            <p:cNvSpPr/>
            <p:nvPr/>
          </p:nvSpPr>
          <p:spPr>
            <a:xfrm>
              <a:off x="365760" y="4498848"/>
              <a:ext cx="11457432" cy="185623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Shape 5"/>
            <p:cNvSpPr/>
            <p:nvPr/>
          </p:nvSpPr>
          <p:spPr>
            <a:xfrm>
              <a:off x="4507992" y="3849624"/>
              <a:ext cx="2724912"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5" name="Shape 6"/>
            <p:cNvSpPr/>
            <p:nvPr/>
          </p:nvSpPr>
          <p:spPr>
            <a:xfrm>
              <a:off x="4507992" y="2816352"/>
              <a:ext cx="2724912" cy="103327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Shape 7"/>
            <p:cNvSpPr/>
            <p:nvPr/>
          </p:nvSpPr>
          <p:spPr>
            <a:xfrm>
              <a:off x="7406640" y="1965960"/>
              <a:ext cx="42976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7" name="Text 8"/>
            <p:cNvSpPr txBox="1"/>
            <p:nvPr/>
          </p:nvSpPr>
          <p:spPr>
            <a:xfrm>
              <a:off x="7534656" y="2029967"/>
              <a:ext cx="40416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6 / 13   </a:t>
              </a:r>
              <a:r>
                <a:rPr sz="800" b="1" i="0" spc="120">
                  <a:solidFill>
                    <a:srgbClr val="FFFFFF"/>
                  </a:solidFill>
                  <a:latin typeface="Trenda IG Text"/>
                </a:rPr>
                <a:t>FAIL: A BOUNDED RETRY</a:t>
              </a:r>
            </a:p>
            <a:p>
              <a:pPr>
                <a:spcAft>
                  <a:spcPts val="200"/>
                </a:spcAft>
              </a:pPr>
              <a:r>
                <a:rPr sz="750" b="0" i="0">
                  <a:solidFill>
                    <a:srgbClr val="E6E6E6"/>
                  </a:solidFill>
                  <a:latin typeface="Trenda IG Text"/>
                </a:rPr>
                <a:t>A failed check goes back to the agent with the reason, at most five times. Then the step stops, nothing is released, and a named owner takes over. No infinite loops.</a:t>
              </a:r>
            </a:p>
          </p:txBody>
        </p:sp>
      </p:grpSp>
      <p:grpSp>
        <p:nvGrpSpPr>
          <p:cNvPr id="328" name="Step 6 arrows"/>
          <p:cNvGrpSpPr/>
          <p:nvPr/>
        </p:nvGrpSpPr>
        <p:grpSpPr>
          <a:xfrm>
            <a:off x="4892040" y="3310128"/>
            <a:ext cx="3959352" cy="1499616"/>
            <a:chOff x="4892040" y="3310128"/>
            <a:chExt cx="3959352" cy="1499616"/>
          </a:xfrm>
        </p:grpSpPr>
        <p:cxnSp>
          <p:nvCxnSpPr>
            <p:cNvPr id="329" name="Arrow 1"/>
            <p:cNvCxnSpPr/>
            <p:nvPr/>
          </p:nvCxnSpPr>
          <p:spPr>
            <a:xfrm>
              <a:off x="7196328" y="4169663"/>
              <a:ext cx="393192" cy="0"/>
            </a:xfrm>
            <a:prstGeom prst="line">
              <a:avLst/>
            </a:prstGeom>
            <a:ln w="3810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330" name="Arrow 2"/>
            <p:cNvCxnSpPr/>
            <p:nvPr/>
          </p:nvCxnSpPr>
          <p:spPr>
            <a:xfrm flipV="1">
              <a:off x="7589520" y="3310128"/>
              <a:ext cx="0" cy="859535"/>
            </a:xfrm>
            <a:prstGeom prst="line">
              <a:avLst/>
            </a:prstGeom>
            <a:ln w="3810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331" name="Arrow 3"/>
            <p:cNvCxnSpPr/>
            <p:nvPr/>
          </p:nvCxnSpPr>
          <p:spPr>
            <a:xfrm flipH="1">
              <a:off x="7196328" y="3310128"/>
              <a:ext cx="393192" cy="0"/>
            </a:xfrm>
            <a:prstGeom prst="line">
              <a:avLst/>
            </a:prstGeom>
            <a:ln w="3810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2" name="Arrow 4"/>
            <p:cNvCxnSpPr/>
            <p:nvPr/>
          </p:nvCxnSpPr>
          <p:spPr>
            <a:xfrm>
              <a:off x="5870448" y="4453128"/>
              <a:ext cx="0" cy="164592"/>
            </a:xfrm>
            <a:prstGeom prst="line">
              <a:avLst/>
            </a:prstGeom>
            <a:ln w="3810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3" name="Shape 5"/>
            <p:cNvSpPr/>
            <p:nvPr/>
          </p:nvSpPr>
          <p:spPr>
            <a:xfrm>
              <a:off x="7662672" y="3611880"/>
              <a:ext cx="1188720" cy="182880"/>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4" name="Text 6"/>
            <p:cNvSpPr txBox="1"/>
            <p:nvPr/>
          </p:nvSpPr>
          <p:spPr>
            <a:xfrm>
              <a:off x="7662672" y="3611880"/>
              <a:ext cx="1188720" cy="182880"/>
            </a:xfrm>
            <a:prstGeom prst="rect">
              <a:avLst/>
            </a:prstGeom>
            <a:noFill/>
          </p:spPr>
          <p:txBody>
            <a:bodyPr wrap="square" lIns="0" rIns="0" tIns="0" bIns="0" anchor="ctr">
              <a:spAutoFit/>
            </a:bodyPr>
            <a:lstStyle/>
            <a:p>
              <a:pPr algn="ctr"/>
              <a:r>
                <a:rPr sz="650" b="1" i="0" spc="60">
                  <a:solidFill>
                    <a:srgbClr val="FFFFFF"/>
                  </a:solidFill>
                  <a:latin typeface="Trenda IG Text"/>
                </a:rPr>
                <a:t>FAIL · RETRY ≤ 5</a:t>
              </a:r>
            </a:p>
          </p:txBody>
        </p:sp>
        <p:sp>
          <p:nvSpPr>
            <p:cNvPr id="335" name="Shape 7"/>
            <p:cNvSpPr/>
            <p:nvPr/>
          </p:nvSpPr>
          <p:spPr>
            <a:xfrm>
              <a:off x="4892040" y="4626864"/>
              <a:ext cx="1965960" cy="182880"/>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6" name="Text 8"/>
            <p:cNvSpPr txBox="1"/>
            <p:nvPr/>
          </p:nvSpPr>
          <p:spPr>
            <a:xfrm>
              <a:off x="4892040" y="4626864"/>
              <a:ext cx="1965960" cy="182880"/>
            </a:xfrm>
            <a:prstGeom prst="rect">
              <a:avLst/>
            </a:prstGeom>
            <a:noFill/>
          </p:spPr>
          <p:txBody>
            <a:bodyPr wrap="square" lIns="0" rIns="0" tIns="0" bIns="0" anchor="ctr">
              <a:spAutoFit/>
            </a:bodyPr>
            <a:lstStyle/>
            <a:p>
              <a:pPr algn="ctr"/>
              <a:r>
                <a:rPr sz="650" b="1" i="0" spc="60">
                  <a:solidFill>
                    <a:srgbClr val="FFFFFF"/>
                  </a:solidFill>
                  <a:latin typeface="Trenda IG Text"/>
                </a:rPr>
                <a:t>AFTER 5 → NAMED OWNER</a:t>
              </a:r>
            </a:p>
          </p:txBody>
        </p:sp>
      </p:grpSp>
      <p:grpSp>
        <p:nvGrpSpPr>
          <p:cNvPr id="337" name="Step 7 highlight"/>
          <p:cNvGrpSpPr/>
          <p:nvPr/>
        </p:nvGrpSpPr>
        <p:grpSpPr>
          <a:xfrm>
            <a:off x="365760" y="1115568"/>
            <a:ext cx="11457432" cy="5239511"/>
            <a:chOff x="365760" y="1115568"/>
            <a:chExt cx="11457432" cy="5239511"/>
          </a:xfrm>
        </p:grpSpPr>
        <p:sp>
          <p:nvSpPr>
            <p:cNvPr id="338" name="Shape 1"/>
            <p:cNvSpPr/>
            <p:nvPr/>
          </p:nvSpPr>
          <p:spPr>
            <a:xfrm>
              <a:off x="365760" y="1115568"/>
              <a:ext cx="11457432" cy="34747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9" name="Shape 2"/>
            <p:cNvSpPr/>
            <p:nvPr/>
          </p:nvSpPr>
          <p:spPr>
            <a:xfrm>
              <a:off x="365760" y="1463040"/>
              <a:ext cx="9235440" cy="54864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0" name="Shape 3"/>
            <p:cNvSpPr/>
            <p:nvPr/>
          </p:nvSpPr>
          <p:spPr>
            <a:xfrm>
              <a:off x="11777472" y="1463040"/>
              <a:ext cx="45720" cy="54864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1" name="Shape 4"/>
            <p:cNvSpPr/>
            <p:nvPr/>
          </p:nvSpPr>
          <p:spPr>
            <a:xfrm>
              <a:off x="365760" y="2011680"/>
              <a:ext cx="11457432" cy="104241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Shape 5"/>
            <p:cNvSpPr/>
            <p:nvPr/>
          </p:nvSpPr>
          <p:spPr>
            <a:xfrm>
              <a:off x="365760" y="3054096"/>
              <a:ext cx="4206240" cy="29260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3" name="Shape 6"/>
            <p:cNvSpPr/>
            <p:nvPr/>
          </p:nvSpPr>
          <p:spPr>
            <a:xfrm>
              <a:off x="5879592" y="3054096"/>
              <a:ext cx="5943600" cy="29260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Shape 7"/>
            <p:cNvSpPr/>
            <p:nvPr/>
          </p:nvSpPr>
          <p:spPr>
            <a:xfrm>
              <a:off x="365760" y="3346704"/>
              <a:ext cx="11457432" cy="539495"/>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5" name="Shape 8"/>
            <p:cNvSpPr/>
            <p:nvPr/>
          </p:nvSpPr>
          <p:spPr>
            <a:xfrm>
              <a:off x="365760" y="3886200"/>
              <a:ext cx="2423160" cy="5669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Shape 9"/>
            <p:cNvSpPr/>
            <p:nvPr/>
          </p:nvSpPr>
          <p:spPr>
            <a:xfrm>
              <a:off x="4453128" y="3886200"/>
              <a:ext cx="7370063" cy="5669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7" name="Shape 10"/>
            <p:cNvSpPr/>
            <p:nvPr/>
          </p:nvSpPr>
          <p:spPr>
            <a:xfrm>
              <a:off x="365760" y="4453128"/>
              <a:ext cx="11457432" cy="106070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8" name="Shape 11"/>
            <p:cNvSpPr/>
            <p:nvPr/>
          </p:nvSpPr>
          <p:spPr>
            <a:xfrm>
              <a:off x="365760" y="5513832"/>
              <a:ext cx="1024128"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9" name="Shape 12"/>
            <p:cNvSpPr/>
            <p:nvPr/>
          </p:nvSpPr>
          <p:spPr>
            <a:xfrm>
              <a:off x="2990087" y="5513832"/>
              <a:ext cx="8833104"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Shape 13"/>
            <p:cNvSpPr/>
            <p:nvPr/>
          </p:nvSpPr>
          <p:spPr>
            <a:xfrm>
              <a:off x="365760" y="5971032"/>
              <a:ext cx="11457432" cy="38404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Shape 14"/>
            <p:cNvSpPr/>
            <p:nvPr/>
          </p:nvSpPr>
          <p:spPr>
            <a:xfrm>
              <a:off x="4581144" y="3063240"/>
              <a:ext cx="1289304" cy="27432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Shape 15"/>
            <p:cNvSpPr/>
            <p:nvPr/>
          </p:nvSpPr>
          <p:spPr>
            <a:xfrm>
              <a:off x="9564624" y="1426464"/>
              <a:ext cx="2249423" cy="62179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Shape 16"/>
            <p:cNvSpPr/>
            <p:nvPr/>
          </p:nvSpPr>
          <p:spPr>
            <a:xfrm>
              <a:off x="1417320" y="5550408"/>
              <a:ext cx="1545336" cy="420624"/>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Shape 17"/>
            <p:cNvSpPr/>
            <p:nvPr/>
          </p:nvSpPr>
          <p:spPr>
            <a:xfrm>
              <a:off x="2752344" y="3849624"/>
              <a:ext cx="1737360"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Shape 18"/>
            <p:cNvSpPr/>
            <p:nvPr/>
          </p:nvSpPr>
          <p:spPr>
            <a:xfrm>
              <a:off x="2743200" y="1261872"/>
              <a:ext cx="56692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Text 19"/>
            <p:cNvSpPr txBox="1"/>
            <p:nvPr/>
          </p:nvSpPr>
          <p:spPr>
            <a:xfrm>
              <a:off x="2871216" y="1325880"/>
              <a:ext cx="54132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7 / 13   </a:t>
              </a:r>
              <a:r>
                <a:rPr sz="800" b="1" i="0" spc="120">
                  <a:solidFill>
                    <a:srgbClr val="FFFFFF"/>
                  </a:solidFill>
                  <a:latin typeface="Trenda IG Text"/>
                </a:rPr>
                <a:t>H1 · REQUIREMENTS APPROVED</a:t>
              </a:r>
            </a:p>
            <a:p>
              <a:pPr>
                <a:spcAft>
                  <a:spcPts val="200"/>
                </a:spcAft>
              </a:pPr>
              <a:r>
                <a:rPr sz="750" b="0" i="0">
                  <a:solidFill>
                    <a:srgbClr val="E6E6E6"/>
                  </a:solidFill>
                  <a:latin typeface="Trenda IG Text"/>
                </a:rPr>
                <a:t>The Requirements Agent posts the brief to the Jira story as a comment: audience, consent rules, KPIs, open questions. The product owner approves at H1; only then does design start.</a:t>
              </a:r>
            </a:p>
          </p:txBody>
        </p:sp>
      </p:grpSp>
      <p:grpSp>
        <p:nvGrpSpPr>
          <p:cNvPr id="357" name="Step 7 arrows"/>
          <p:cNvGrpSpPr/>
          <p:nvPr/>
        </p:nvGrpSpPr>
        <p:grpSpPr>
          <a:xfrm>
            <a:off x="1856232" y="4453128"/>
            <a:ext cx="1764792" cy="1700784"/>
            <a:chOff x="1856232" y="4453128"/>
            <a:chExt cx="1764792" cy="1700784"/>
          </a:xfrm>
        </p:grpSpPr>
        <p:cxnSp>
          <p:nvCxnSpPr>
            <p:cNvPr id="358" name="Arrow 1"/>
            <p:cNvCxnSpPr/>
            <p:nvPr/>
          </p:nvCxnSpPr>
          <p:spPr>
            <a:xfrm>
              <a:off x="3621024" y="4453128"/>
              <a:ext cx="0" cy="996696"/>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359" name="Arrow 2"/>
            <p:cNvCxnSpPr/>
            <p:nvPr/>
          </p:nvCxnSpPr>
          <p:spPr>
            <a:xfrm flipH="1">
              <a:off x="2587752" y="5449824"/>
              <a:ext cx="1033272" cy="0"/>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360" name="Arrow 3"/>
            <p:cNvCxnSpPr/>
            <p:nvPr/>
          </p:nvCxnSpPr>
          <p:spPr>
            <a:xfrm>
              <a:off x="2587752" y="5449824"/>
              <a:ext cx="0" cy="100584"/>
            </a:xfrm>
            <a:prstGeom prst="line">
              <a:avLst/>
            </a:prstGeom>
            <a:ln w="38100">
              <a:solidFill>
                <a:srgbClr val="2E9E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1" name="Shape 4"/>
            <p:cNvSpPr/>
            <p:nvPr/>
          </p:nvSpPr>
          <p:spPr>
            <a:xfrm>
              <a:off x="1856232" y="5971032"/>
              <a:ext cx="1463040" cy="182880"/>
            </a:xfrm>
            <a:prstGeom prst="roundRect">
              <a:avLst>
                <a:gd name="adj" fmla="val 50000"/>
              </a:avLst>
            </a:prstGeom>
            <a:solidFill>
              <a:srgbClr val="2E9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Text 5"/>
            <p:cNvSpPr txBox="1"/>
            <p:nvPr/>
          </p:nvSpPr>
          <p:spPr>
            <a:xfrm>
              <a:off x="1856232" y="5971032"/>
              <a:ext cx="1463040" cy="182880"/>
            </a:xfrm>
            <a:prstGeom prst="rect">
              <a:avLst/>
            </a:prstGeom>
            <a:noFill/>
          </p:spPr>
          <p:txBody>
            <a:bodyPr wrap="square" lIns="0" rIns="0" tIns="0" bIns="0" anchor="ctr">
              <a:spAutoFit/>
            </a:bodyPr>
            <a:lstStyle/>
            <a:p>
              <a:pPr algn="ctr"/>
              <a:r>
                <a:rPr sz="650" b="1" i="0" spc="60">
                  <a:solidFill>
                    <a:srgbClr val="FFFFFF"/>
                  </a:solidFill>
                  <a:latin typeface="Trenda IG Text"/>
                </a:rPr>
                <a:t>H1 APPROVED → 02 DESIGN</a:t>
              </a:r>
            </a:p>
          </p:txBody>
        </p:sp>
      </p:grpSp>
      <p:grpSp>
        <p:nvGrpSpPr>
          <p:cNvPr id="363" name="Step 8 highlight"/>
          <p:cNvGrpSpPr/>
          <p:nvPr/>
        </p:nvGrpSpPr>
        <p:grpSpPr>
          <a:xfrm>
            <a:off x="365760" y="1115568"/>
            <a:ext cx="11457432" cy="5239511"/>
            <a:chOff x="365760" y="1115568"/>
            <a:chExt cx="11457432" cy="5239511"/>
          </a:xfrm>
        </p:grpSpPr>
        <p:sp>
          <p:nvSpPr>
            <p:cNvPr id="364" name="Shape 1"/>
            <p:cNvSpPr/>
            <p:nvPr/>
          </p:nvSpPr>
          <p:spPr>
            <a:xfrm>
              <a:off x="365760" y="1115568"/>
              <a:ext cx="11457432" cy="89611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5" name="Shape 2"/>
            <p:cNvSpPr/>
            <p:nvPr/>
          </p:nvSpPr>
          <p:spPr>
            <a:xfrm>
              <a:off x="365760" y="2011680"/>
              <a:ext cx="9235440" cy="54864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Shape 3"/>
            <p:cNvSpPr/>
            <p:nvPr/>
          </p:nvSpPr>
          <p:spPr>
            <a:xfrm>
              <a:off x="11777472" y="2011680"/>
              <a:ext cx="45720" cy="54864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7" name="Shape 4"/>
            <p:cNvSpPr/>
            <p:nvPr/>
          </p:nvSpPr>
          <p:spPr>
            <a:xfrm>
              <a:off x="365760" y="2560320"/>
              <a:ext cx="11457432" cy="256031"/>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Shape 5"/>
            <p:cNvSpPr/>
            <p:nvPr/>
          </p:nvSpPr>
          <p:spPr>
            <a:xfrm>
              <a:off x="365760" y="2816352"/>
              <a:ext cx="6885431" cy="23774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Shape 6"/>
            <p:cNvSpPr/>
            <p:nvPr/>
          </p:nvSpPr>
          <p:spPr>
            <a:xfrm>
              <a:off x="9308592" y="2816352"/>
              <a:ext cx="2514600" cy="23774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Shape 7"/>
            <p:cNvSpPr/>
            <p:nvPr/>
          </p:nvSpPr>
          <p:spPr>
            <a:xfrm>
              <a:off x="365760" y="3054096"/>
              <a:ext cx="5495544" cy="29260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1" name="Shape 8"/>
            <p:cNvSpPr/>
            <p:nvPr/>
          </p:nvSpPr>
          <p:spPr>
            <a:xfrm>
              <a:off x="7168896" y="3054096"/>
              <a:ext cx="82295" cy="29260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Shape 9"/>
            <p:cNvSpPr/>
            <p:nvPr/>
          </p:nvSpPr>
          <p:spPr>
            <a:xfrm>
              <a:off x="9308592" y="3054096"/>
              <a:ext cx="2514600" cy="29260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3" name="Shape 10"/>
            <p:cNvSpPr/>
            <p:nvPr/>
          </p:nvSpPr>
          <p:spPr>
            <a:xfrm>
              <a:off x="365760" y="3346704"/>
              <a:ext cx="6885431" cy="10972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Shape 11"/>
            <p:cNvSpPr/>
            <p:nvPr/>
          </p:nvSpPr>
          <p:spPr>
            <a:xfrm>
              <a:off x="9308592" y="3346704"/>
              <a:ext cx="2514600" cy="10972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5" name="Shape 12"/>
            <p:cNvSpPr/>
            <p:nvPr/>
          </p:nvSpPr>
          <p:spPr>
            <a:xfrm>
              <a:off x="365760" y="3456432"/>
              <a:ext cx="11457432" cy="42976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Shape 13"/>
            <p:cNvSpPr/>
            <p:nvPr/>
          </p:nvSpPr>
          <p:spPr>
            <a:xfrm>
              <a:off x="365760" y="3886200"/>
              <a:ext cx="2423160" cy="5669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7" name="Shape 14"/>
            <p:cNvSpPr/>
            <p:nvPr/>
          </p:nvSpPr>
          <p:spPr>
            <a:xfrm>
              <a:off x="4453128" y="3886200"/>
              <a:ext cx="7370063" cy="5669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8" name="Shape 15"/>
            <p:cNvSpPr/>
            <p:nvPr/>
          </p:nvSpPr>
          <p:spPr>
            <a:xfrm>
              <a:off x="365760" y="4453128"/>
              <a:ext cx="11457432" cy="106070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9" name="Shape 16"/>
            <p:cNvSpPr/>
            <p:nvPr/>
          </p:nvSpPr>
          <p:spPr>
            <a:xfrm>
              <a:off x="365760" y="5513832"/>
              <a:ext cx="2615184"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Shape 17"/>
            <p:cNvSpPr/>
            <p:nvPr/>
          </p:nvSpPr>
          <p:spPr>
            <a:xfrm>
              <a:off x="4581144" y="5513832"/>
              <a:ext cx="7242047"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1" name="Shape 18"/>
            <p:cNvSpPr/>
            <p:nvPr/>
          </p:nvSpPr>
          <p:spPr>
            <a:xfrm>
              <a:off x="365760" y="5971032"/>
              <a:ext cx="11457432" cy="38404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2" name="Shape 19"/>
            <p:cNvSpPr/>
            <p:nvPr/>
          </p:nvSpPr>
          <p:spPr>
            <a:xfrm>
              <a:off x="5870448" y="3063240"/>
              <a:ext cx="1289304" cy="27432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3" name="Shape 20"/>
            <p:cNvSpPr/>
            <p:nvPr/>
          </p:nvSpPr>
          <p:spPr>
            <a:xfrm>
              <a:off x="9564624" y="1975104"/>
              <a:ext cx="2249423" cy="62179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Shape 21"/>
            <p:cNvSpPr/>
            <p:nvPr/>
          </p:nvSpPr>
          <p:spPr>
            <a:xfrm>
              <a:off x="3008376" y="5550408"/>
              <a:ext cx="1545336" cy="420624"/>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5" name="Shape 22"/>
            <p:cNvSpPr/>
            <p:nvPr/>
          </p:nvSpPr>
          <p:spPr>
            <a:xfrm>
              <a:off x="2752344" y="3849624"/>
              <a:ext cx="1737360"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6" name="Shape 23"/>
            <p:cNvSpPr/>
            <p:nvPr/>
          </p:nvSpPr>
          <p:spPr>
            <a:xfrm>
              <a:off x="7251192" y="2816352"/>
              <a:ext cx="2057400"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7" name="Shape 24"/>
            <p:cNvSpPr/>
            <p:nvPr/>
          </p:nvSpPr>
          <p:spPr>
            <a:xfrm>
              <a:off x="2743200" y="1261872"/>
              <a:ext cx="56692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Text 25"/>
            <p:cNvSpPr txBox="1"/>
            <p:nvPr/>
          </p:nvSpPr>
          <p:spPr>
            <a:xfrm>
              <a:off x="2871216" y="1325880"/>
              <a:ext cx="54132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8 / 13   </a:t>
              </a:r>
              <a:r>
                <a:rPr sz="800" b="1" i="0" spc="120">
                  <a:solidFill>
                    <a:srgbClr val="FFFFFF"/>
                  </a:solidFill>
                  <a:latin typeface="Trenda IG Text"/>
                </a:rPr>
                <a:t>H2 · DESIGN APPROVED</a:t>
              </a:r>
            </a:p>
            <a:p>
              <a:pPr>
                <a:spcAft>
                  <a:spcPts val="200"/>
                </a:spcAft>
              </a:pPr>
              <a:r>
                <a:rPr sz="750" b="0" i="0">
                  <a:solidFill>
                    <a:srgbClr val="E6E6E6"/>
                  </a:solidFill>
                  <a:latin typeface="Trenda IG Text"/>
                </a:rPr>
                <a:t>The Architect Agent drafts the design in Confluence: reuse the existing data extensions and segment, a new journey. The Change Guardian names the pods affected. Architect and pod owners approve at H2.</a:t>
              </a:r>
            </a:p>
          </p:txBody>
        </p:sp>
      </p:grpSp>
      <p:grpSp>
        <p:nvGrpSpPr>
          <p:cNvPr id="389" name="Step 8 arrows"/>
          <p:cNvGrpSpPr/>
          <p:nvPr/>
        </p:nvGrpSpPr>
        <p:grpSpPr>
          <a:xfrm>
            <a:off x="3447288" y="4453128"/>
            <a:ext cx="1463040" cy="1700784"/>
            <a:chOff x="3447288" y="4453128"/>
            <a:chExt cx="1463040" cy="1700784"/>
          </a:xfrm>
        </p:grpSpPr>
        <p:cxnSp>
          <p:nvCxnSpPr>
            <p:cNvPr id="390" name="Arrow 1"/>
            <p:cNvCxnSpPr/>
            <p:nvPr/>
          </p:nvCxnSpPr>
          <p:spPr>
            <a:xfrm>
              <a:off x="3621024" y="4453128"/>
              <a:ext cx="0" cy="996696"/>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391" name="Arrow 2"/>
            <p:cNvCxnSpPr/>
            <p:nvPr/>
          </p:nvCxnSpPr>
          <p:spPr>
            <a:xfrm>
              <a:off x="3621024" y="5449824"/>
              <a:ext cx="557784" cy="0"/>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392" name="Arrow 3"/>
            <p:cNvCxnSpPr/>
            <p:nvPr/>
          </p:nvCxnSpPr>
          <p:spPr>
            <a:xfrm>
              <a:off x="4178808" y="5449824"/>
              <a:ext cx="0" cy="100584"/>
            </a:xfrm>
            <a:prstGeom prst="line">
              <a:avLst/>
            </a:prstGeom>
            <a:ln w="38100">
              <a:solidFill>
                <a:srgbClr val="2E9E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3" name="Shape 4"/>
            <p:cNvSpPr/>
            <p:nvPr/>
          </p:nvSpPr>
          <p:spPr>
            <a:xfrm>
              <a:off x="3447288" y="5971032"/>
              <a:ext cx="1463040" cy="182880"/>
            </a:xfrm>
            <a:prstGeom prst="roundRect">
              <a:avLst>
                <a:gd name="adj" fmla="val 50000"/>
              </a:avLst>
            </a:prstGeom>
            <a:solidFill>
              <a:srgbClr val="2E9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4" name="Text 5"/>
            <p:cNvSpPr txBox="1"/>
            <p:nvPr/>
          </p:nvSpPr>
          <p:spPr>
            <a:xfrm>
              <a:off x="3447288" y="5971032"/>
              <a:ext cx="1463040" cy="182880"/>
            </a:xfrm>
            <a:prstGeom prst="rect">
              <a:avLst/>
            </a:prstGeom>
            <a:noFill/>
          </p:spPr>
          <p:txBody>
            <a:bodyPr wrap="square" lIns="0" rIns="0" tIns="0" bIns="0" anchor="ctr">
              <a:spAutoFit/>
            </a:bodyPr>
            <a:lstStyle/>
            <a:p>
              <a:pPr algn="ctr"/>
              <a:r>
                <a:rPr sz="650" b="1" i="0" spc="60">
                  <a:solidFill>
                    <a:srgbClr val="FFFFFF"/>
                  </a:solidFill>
                  <a:latin typeface="Trenda IG Text"/>
                </a:rPr>
                <a:t>H2 APPROVED → 03 BUILD</a:t>
              </a:r>
            </a:p>
          </p:txBody>
        </p:sp>
      </p:grpSp>
      <p:grpSp>
        <p:nvGrpSpPr>
          <p:cNvPr id="395" name="Step 9 highlight"/>
          <p:cNvGrpSpPr/>
          <p:nvPr/>
        </p:nvGrpSpPr>
        <p:grpSpPr>
          <a:xfrm>
            <a:off x="365760" y="1115568"/>
            <a:ext cx="11457432" cy="5239511"/>
            <a:chOff x="365760" y="1115568"/>
            <a:chExt cx="11457432" cy="5239511"/>
          </a:xfrm>
        </p:grpSpPr>
        <p:sp>
          <p:nvSpPr>
            <p:cNvPr id="396" name="Shape 1"/>
            <p:cNvSpPr/>
            <p:nvPr/>
          </p:nvSpPr>
          <p:spPr>
            <a:xfrm>
              <a:off x="365760" y="1115568"/>
              <a:ext cx="11457432" cy="181051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7" name="Shape 2"/>
            <p:cNvSpPr/>
            <p:nvPr/>
          </p:nvSpPr>
          <p:spPr>
            <a:xfrm>
              <a:off x="365760" y="2926080"/>
              <a:ext cx="9235440" cy="36118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Shape 3"/>
            <p:cNvSpPr/>
            <p:nvPr/>
          </p:nvSpPr>
          <p:spPr>
            <a:xfrm>
              <a:off x="11777472" y="2926080"/>
              <a:ext cx="45720" cy="36118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9" name="Shape 4"/>
            <p:cNvSpPr/>
            <p:nvPr/>
          </p:nvSpPr>
          <p:spPr>
            <a:xfrm>
              <a:off x="365760" y="3287268"/>
              <a:ext cx="4206240" cy="52577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Shape 5"/>
            <p:cNvSpPr/>
            <p:nvPr/>
          </p:nvSpPr>
          <p:spPr>
            <a:xfrm>
              <a:off x="7168896" y="3287268"/>
              <a:ext cx="2432304" cy="52577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1" name="Shape 6"/>
            <p:cNvSpPr/>
            <p:nvPr/>
          </p:nvSpPr>
          <p:spPr>
            <a:xfrm>
              <a:off x="11777472" y="3287268"/>
              <a:ext cx="45720" cy="52577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2" name="Shape 7"/>
            <p:cNvSpPr/>
            <p:nvPr/>
          </p:nvSpPr>
          <p:spPr>
            <a:xfrm>
              <a:off x="365760" y="3813048"/>
              <a:ext cx="9235440" cy="365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3" name="Shape 8"/>
            <p:cNvSpPr/>
            <p:nvPr/>
          </p:nvSpPr>
          <p:spPr>
            <a:xfrm>
              <a:off x="11777472" y="3813048"/>
              <a:ext cx="45720" cy="365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Shape 9"/>
            <p:cNvSpPr/>
            <p:nvPr/>
          </p:nvSpPr>
          <p:spPr>
            <a:xfrm>
              <a:off x="365760" y="3849624"/>
              <a:ext cx="4142231" cy="365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5" name="Shape 10"/>
            <p:cNvSpPr/>
            <p:nvPr/>
          </p:nvSpPr>
          <p:spPr>
            <a:xfrm>
              <a:off x="7232904" y="3849624"/>
              <a:ext cx="2368296" cy="365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6" name="Shape 11"/>
            <p:cNvSpPr/>
            <p:nvPr/>
          </p:nvSpPr>
          <p:spPr>
            <a:xfrm>
              <a:off x="11777472" y="3849624"/>
              <a:ext cx="45720" cy="365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7" name="Shape 12"/>
            <p:cNvSpPr/>
            <p:nvPr/>
          </p:nvSpPr>
          <p:spPr>
            <a:xfrm>
              <a:off x="365760" y="3886200"/>
              <a:ext cx="2423160" cy="9143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8" name="Shape 13"/>
            <p:cNvSpPr/>
            <p:nvPr/>
          </p:nvSpPr>
          <p:spPr>
            <a:xfrm>
              <a:off x="4453128" y="3886200"/>
              <a:ext cx="54863" cy="9143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9" name="Shape 14"/>
            <p:cNvSpPr/>
            <p:nvPr/>
          </p:nvSpPr>
          <p:spPr>
            <a:xfrm>
              <a:off x="7232904" y="3886200"/>
              <a:ext cx="2368296" cy="9143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0" name="Shape 15"/>
            <p:cNvSpPr/>
            <p:nvPr/>
          </p:nvSpPr>
          <p:spPr>
            <a:xfrm>
              <a:off x="11777472" y="3886200"/>
              <a:ext cx="45720" cy="9143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1" name="Shape 16"/>
            <p:cNvSpPr/>
            <p:nvPr/>
          </p:nvSpPr>
          <p:spPr>
            <a:xfrm>
              <a:off x="365760" y="3977639"/>
              <a:ext cx="2423160" cy="47548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2" name="Shape 17"/>
            <p:cNvSpPr/>
            <p:nvPr/>
          </p:nvSpPr>
          <p:spPr>
            <a:xfrm>
              <a:off x="4453128" y="3977639"/>
              <a:ext cx="54863" cy="47548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3" name="Shape 18"/>
            <p:cNvSpPr/>
            <p:nvPr/>
          </p:nvSpPr>
          <p:spPr>
            <a:xfrm>
              <a:off x="7232904" y="3977639"/>
              <a:ext cx="4590288" cy="47548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4" name="Shape 19"/>
            <p:cNvSpPr/>
            <p:nvPr/>
          </p:nvSpPr>
          <p:spPr>
            <a:xfrm>
              <a:off x="365760" y="4453128"/>
              <a:ext cx="4142231" cy="365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5" name="Shape 20"/>
            <p:cNvSpPr/>
            <p:nvPr/>
          </p:nvSpPr>
          <p:spPr>
            <a:xfrm>
              <a:off x="7232904" y="4453128"/>
              <a:ext cx="4590288" cy="3657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6" name="Shape 21"/>
            <p:cNvSpPr/>
            <p:nvPr/>
          </p:nvSpPr>
          <p:spPr>
            <a:xfrm>
              <a:off x="365760" y="4489704"/>
              <a:ext cx="11457432" cy="10241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7" name="Shape 22"/>
            <p:cNvSpPr/>
            <p:nvPr/>
          </p:nvSpPr>
          <p:spPr>
            <a:xfrm>
              <a:off x="365760" y="5513832"/>
              <a:ext cx="4206240"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8" name="Shape 23"/>
            <p:cNvSpPr/>
            <p:nvPr/>
          </p:nvSpPr>
          <p:spPr>
            <a:xfrm>
              <a:off x="6967727" y="5513832"/>
              <a:ext cx="4855464"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9" name="Shape 24"/>
            <p:cNvSpPr/>
            <p:nvPr/>
          </p:nvSpPr>
          <p:spPr>
            <a:xfrm>
              <a:off x="365760" y="5971032"/>
              <a:ext cx="11457432" cy="38404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0" name="Shape 25"/>
            <p:cNvSpPr/>
            <p:nvPr/>
          </p:nvSpPr>
          <p:spPr>
            <a:xfrm>
              <a:off x="4581144" y="3296412"/>
              <a:ext cx="1289304" cy="27432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1" name="Shape 26"/>
            <p:cNvSpPr/>
            <p:nvPr/>
          </p:nvSpPr>
          <p:spPr>
            <a:xfrm>
              <a:off x="5870448" y="3296412"/>
              <a:ext cx="1289304" cy="27432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2" name="Shape 27"/>
            <p:cNvSpPr/>
            <p:nvPr/>
          </p:nvSpPr>
          <p:spPr>
            <a:xfrm>
              <a:off x="4581144" y="3529584"/>
              <a:ext cx="1289304" cy="27432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3" name="Shape 28"/>
            <p:cNvSpPr/>
            <p:nvPr/>
          </p:nvSpPr>
          <p:spPr>
            <a:xfrm>
              <a:off x="9564624" y="2889504"/>
              <a:ext cx="2249423" cy="1124711"/>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4" name="Shape 29"/>
            <p:cNvSpPr/>
            <p:nvPr/>
          </p:nvSpPr>
          <p:spPr>
            <a:xfrm>
              <a:off x="4599432" y="5550408"/>
              <a:ext cx="2340863" cy="420624"/>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5" name="Shape 30"/>
            <p:cNvSpPr/>
            <p:nvPr/>
          </p:nvSpPr>
          <p:spPr>
            <a:xfrm>
              <a:off x="2752344" y="3849624"/>
              <a:ext cx="1737360"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6" name="Shape 31"/>
            <p:cNvSpPr/>
            <p:nvPr/>
          </p:nvSpPr>
          <p:spPr>
            <a:xfrm>
              <a:off x="4507992" y="3849624"/>
              <a:ext cx="2724912"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7" name="Shape 32"/>
            <p:cNvSpPr/>
            <p:nvPr/>
          </p:nvSpPr>
          <p:spPr>
            <a:xfrm>
              <a:off x="2743200" y="1261872"/>
              <a:ext cx="56692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8" name="Text 33"/>
            <p:cNvSpPr txBox="1"/>
            <p:nvPr/>
          </p:nvSpPr>
          <p:spPr>
            <a:xfrm>
              <a:off x="2871216" y="1325880"/>
              <a:ext cx="54132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9 / 13   </a:t>
              </a:r>
              <a:r>
                <a:rPr sz="800" b="1" i="0" spc="120">
                  <a:solidFill>
                    <a:srgbClr val="FFFFFF"/>
                  </a:solidFill>
                  <a:latin typeface="Trenda IG Text"/>
                </a:rPr>
                <a:t>H3 · CODE AND TESTS APPROVED</a:t>
              </a:r>
            </a:p>
            <a:p>
              <a:pPr>
                <a:spcAft>
                  <a:spcPts val="200"/>
                </a:spcAft>
              </a:pPr>
              <a:r>
                <a:rPr sz="750" b="0" i="0">
                  <a:solidFill>
                    <a:srgbClr val="E6E6E6"/>
                  </a:solidFill>
                  <a:latin typeface="Trenda IG Text"/>
                </a:rPr>
                <a:t>The Developer Agent builds in the Marketing Cloud dev business unit: data extensions, SQL, AMPscript, the journey as a draft. Review and Test Agents check it, evals score it. Tech lead and security approve at H3.</a:t>
              </a:r>
            </a:p>
          </p:txBody>
        </p:sp>
      </p:grpSp>
      <p:grpSp>
        <p:nvGrpSpPr>
          <p:cNvPr id="429" name="Step 9 arrows"/>
          <p:cNvGrpSpPr/>
          <p:nvPr/>
        </p:nvGrpSpPr>
        <p:grpSpPr>
          <a:xfrm>
            <a:off x="3621024" y="4453128"/>
            <a:ext cx="3675888" cy="1700784"/>
            <a:chOff x="3621024" y="4453128"/>
            <a:chExt cx="3675888" cy="1700784"/>
          </a:xfrm>
        </p:grpSpPr>
        <p:cxnSp>
          <p:nvCxnSpPr>
            <p:cNvPr id="430" name="Arrow 1"/>
            <p:cNvCxnSpPr/>
            <p:nvPr/>
          </p:nvCxnSpPr>
          <p:spPr>
            <a:xfrm>
              <a:off x="3621024" y="4453128"/>
              <a:ext cx="0" cy="996696"/>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431" name="Arrow 2"/>
            <p:cNvCxnSpPr/>
            <p:nvPr/>
          </p:nvCxnSpPr>
          <p:spPr>
            <a:xfrm>
              <a:off x="3621024" y="5449824"/>
              <a:ext cx="2944368" cy="0"/>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432" name="Arrow 3"/>
            <p:cNvCxnSpPr/>
            <p:nvPr/>
          </p:nvCxnSpPr>
          <p:spPr>
            <a:xfrm>
              <a:off x="6565392" y="5449824"/>
              <a:ext cx="0" cy="100584"/>
            </a:xfrm>
            <a:prstGeom prst="line">
              <a:avLst/>
            </a:prstGeom>
            <a:ln w="38100">
              <a:solidFill>
                <a:srgbClr val="2E9E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3" name="Shape 4"/>
            <p:cNvSpPr/>
            <p:nvPr/>
          </p:nvSpPr>
          <p:spPr>
            <a:xfrm>
              <a:off x="5833872" y="5971032"/>
              <a:ext cx="1463040" cy="182880"/>
            </a:xfrm>
            <a:prstGeom prst="roundRect">
              <a:avLst>
                <a:gd name="adj" fmla="val 50000"/>
              </a:avLst>
            </a:prstGeom>
            <a:solidFill>
              <a:srgbClr val="2E9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4" name="Text 5"/>
            <p:cNvSpPr txBox="1"/>
            <p:nvPr/>
          </p:nvSpPr>
          <p:spPr>
            <a:xfrm>
              <a:off x="5833872" y="5971032"/>
              <a:ext cx="1463040" cy="182880"/>
            </a:xfrm>
            <a:prstGeom prst="rect">
              <a:avLst/>
            </a:prstGeom>
            <a:noFill/>
          </p:spPr>
          <p:txBody>
            <a:bodyPr wrap="square" lIns="0" rIns="0" tIns="0" bIns="0" anchor="ctr">
              <a:spAutoFit/>
            </a:bodyPr>
            <a:lstStyle/>
            <a:p>
              <a:pPr algn="ctr"/>
              <a:r>
                <a:rPr sz="650" b="1" i="0" spc="60">
                  <a:solidFill>
                    <a:srgbClr val="FFFFFF"/>
                  </a:solidFill>
                  <a:latin typeface="Trenda IG Text"/>
                </a:rPr>
                <a:t>H3 APPROVED → 05 PROMOTE</a:t>
              </a:r>
            </a:p>
          </p:txBody>
        </p:sp>
      </p:grpSp>
      <p:grpSp>
        <p:nvGrpSpPr>
          <p:cNvPr id="435" name="Step 10 highlight"/>
          <p:cNvGrpSpPr/>
          <p:nvPr/>
        </p:nvGrpSpPr>
        <p:grpSpPr>
          <a:xfrm>
            <a:off x="365760" y="1115568"/>
            <a:ext cx="11457432" cy="5239511"/>
            <a:chOff x="365760" y="1115568"/>
            <a:chExt cx="11457432" cy="5239511"/>
          </a:xfrm>
        </p:grpSpPr>
        <p:sp>
          <p:nvSpPr>
            <p:cNvPr id="436" name="Shape 1"/>
            <p:cNvSpPr/>
            <p:nvPr/>
          </p:nvSpPr>
          <p:spPr>
            <a:xfrm>
              <a:off x="365760" y="1115568"/>
              <a:ext cx="11457432" cy="240487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7" name="Shape 2"/>
            <p:cNvSpPr/>
            <p:nvPr/>
          </p:nvSpPr>
          <p:spPr>
            <a:xfrm>
              <a:off x="365760" y="3520440"/>
              <a:ext cx="5495544" cy="29260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8" name="Shape 3"/>
            <p:cNvSpPr/>
            <p:nvPr/>
          </p:nvSpPr>
          <p:spPr>
            <a:xfrm>
              <a:off x="7168896" y="3520440"/>
              <a:ext cx="4654296" cy="29260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9" name="Shape 4"/>
            <p:cNvSpPr/>
            <p:nvPr/>
          </p:nvSpPr>
          <p:spPr>
            <a:xfrm>
              <a:off x="365760" y="3813048"/>
              <a:ext cx="11457432" cy="7315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0" name="Shape 5"/>
            <p:cNvSpPr/>
            <p:nvPr/>
          </p:nvSpPr>
          <p:spPr>
            <a:xfrm>
              <a:off x="365760" y="3886200"/>
              <a:ext cx="2423160" cy="9143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1" name="Shape 6"/>
            <p:cNvSpPr/>
            <p:nvPr/>
          </p:nvSpPr>
          <p:spPr>
            <a:xfrm>
              <a:off x="4453128" y="3886200"/>
              <a:ext cx="7370063" cy="9143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2" name="Shape 7"/>
            <p:cNvSpPr/>
            <p:nvPr/>
          </p:nvSpPr>
          <p:spPr>
            <a:xfrm>
              <a:off x="365760" y="3977639"/>
              <a:ext cx="2423160" cy="47548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3" name="Shape 8"/>
            <p:cNvSpPr/>
            <p:nvPr/>
          </p:nvSpPr>
          <p:spPr>
            <a:xfrm>
              <a:off x="4453128" y="3977639"/>
              <a:ext cx="5148072" cy="47548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4" name="Shape 9"/>
            <p:cNvSpPr/>
            <p:nvPr/>
          </p:nvSpPr>
          <p:spPr>
            <a:xfrm>
              <a:off x="11777472" y="3977639"/>
              <a:ext cx="45720" cy="47548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5" name="Shape 10"/>
            <p:cNvSpPr/>
            <p:nvPr/>
          </p:nvSpPr>
          <p:spPr>
            <a:xfrm>
              <a:off x="365760" y="4453128"/>
              <a:ext cx="9235440" cy="42976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6" name="Shape 11"/>
            <p:cNvSpPr/>
            <p:nvPr/>
          </p:nvSpPr>
          <p:spPr>
            <a:xfrm>
              <a:off x="11777472" y="4453128"/>
              <a:ext cx="45720" cy="42976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7" name="Shape 12"/>
            <p:cNvSpPr/>
            <p:nvPr/>
          </p:nvSpPr>
          <p:spPr>
            <a:xfrm>
              <a:off x="365760" y="4882896"/>
              <a:ext cx="11457432" cy="630936"/>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8" name="Shape 13"/>
            <p:cNvSpPr/>
            <p:nvPr/>
          </p:nvSpPr>
          <p:spPr>
            <a:xfrm>
              <a:off x="365760" y="5513832"/>
              <a:ext cx="6592823"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9" name="Shape 14"/>
            <p:cNvSpPr/>
            <p:nvPr/>
          </p:nvSpPr>
          <p:spPr>
            <a:xfrm>
              <a:off x="8558784" y="5513832"/>
              <a:ext cx="3264408"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0" name="Shape 15"/>
            <p:cNvSpPr/>
            <p:nvPr/>
          </p:nvSpPr>
          <p:spPr>
            <a:xfrm>
              <a:off x="365760" y="5971032"/>
              <a:ext cx="11457432" cy="38404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1" name="Shape 16"/>
            <p:cNvSpPr/>
            <p:nvPr/>
          </p:nvSpPr>
          <p:spPr>
            <a:xfrm>
              <a:off x="5870448" y="3529584"/>
              <a:ext cx="1289304" cy="27432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2" name="Shape 17"/>
            <p:cNvSpPr/>
            <p:nvPr/>
          </p:nvSpPr>
          <p:spPr>
            <a:xfrm>
              <a:off x="9564624" y="3941063"/>
              <a:ext cx="2249423" cy="978408"/>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3" name="Shape 18"/>
            <p:cNvSpPr/>
            <p:nvPr/>
          </p:nvSpPr>
          <p:spPr>
            <a:xfrm>
              <a:off x="6986016" y="5550408"/>
              <a:ext cx="1545336" cy="420624"/>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4" name="Shape 19"/>
            <p:cNvSpPr/>
            <p:nvPr/>
          </p:nvSpPr>
          <p:spPr>
            <a:xfrm>
              <a:off x="2752344" y="3849624"/>
              <a:ext cx="1737360"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5" name="Shape 20"/>
            <p:cNvSpPr/>
            <p:nvPr/>
          </p:nvSpPr>
          <p:spPr>
            <a:xfrm>
              <a:off x="2743200" y="1261872"/>
              <a:ext cx="56692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6" name="Text 21"/>
            <p:cNvSpPr txBox="1"/>
            <p:nvPr/>
          </p:nvSpPr>
          <p:spPr>
            <a:xfrm>
              <a:off x="2871216" y="1325880"/>
              <a:ext cx="54132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10 / 13   </a:t>
              </a:r>
              <a:r>
                <a:rPr sz="800" b="1" i="0" spc="120">
                  <a:solidFill>
                    <a:srgbClr val="FFFFFF"/>
                  </a:solidFill>
                  <a:latin typeface="Trenda IG Text"/>
                </a:rPr>
                <a:t>H4 · BUSINESS UAT SIGNED (STEP 06)</a:t>
              </a:r>
            </a:p>
            <a:p>
              <a:pPr>
                <a:spcAft>
                  <a:spcPts val="200"/>
                </a:spcAft>
              </a:pPr>
              <a:r>
                <a:rPr sz="750" b="0" i="0">
                  <a:solidFill>
                    <a:srgbClr val="E6E6E6"/>
                  </a:solidFill>
                  <a:latin typeface="Trenda IG Text"/>
                </a:rPr>
                <a:t>The Release Agent promotes the campaign through Copado to SIT and UAT. Marketing and clinical owners test every message variant and sign off UAT at H4.</a:t>
              </a:r>
            </a:p>
          </p:txBody>
        </p:sp>
      </p:grpSp>
      <p:grpSp>
        <p:nvGrpSpPr>
          <p:cNvPr id="457" name="Step 10 arrows"/>
          <p:cNvGrpSpPr/>
          <p:nvPr/>
        </p:nvGrpSpPr>
        <p:grpSpPr>
          <a:xfrm>
            <a:off x="3621024" y="4453128"/>
            <a:ext cx="5266943" cy="1700784"/>
            <a:chOff x="3621024" y="4453128"/>
            <a:chExt cx="5266943" cy="1700784"/>
          </a:xfrm>
        </p:grpSpPr>
        <p:cxnSp>
          <p:nvCxnSpPr>
            <p:cNvPr id="458" name="Arrow 1"/>
            <p:cNvCxnSpPr/>
            <p:nvPr/>
          </p:nvCxnSpPr>
          <p:spPr>
            <a:xfrm>
              <a:off x="3621024" y="4453128"/>
              <a:ext cx="0" cy="996696"/>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459" name="Arrow 2"/>
            <p:cNvCxnSpPr/>
            <p:nvPr/>
          </p:nvCxnSpPr>
          <p:spPr>
            <a:xfrm>
              <a:off x="3621024" y="5449824"/>
              <a:ext cx="4535424" cy="0"/>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460" name="Arrow 3"/>
            <p:cNvCxnSpPr/>
            <p:nvPr/>
          </p:nvCxnSpPr>
          <p:spPr>
            <a:xfrm>
              <a:off x="8156448" y="5449824"/>
              <a:ext cx="0" cy="100584"/>
            </a:xfrm>
            <a:prstGeom prst="line">
              <a:avLst/>
            </a:prstGeom>
            <a:ln w="38100">
              <a:solidFill>
                <a:srgbClr val="2E9E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1" name="Shape 4"/>
            <p:cNvSpPr/>
            <p:nvPr/>
          </p:nvSpPr>
          <p:spPr>
            <a:xfrm>
              <a:off x="7424927" y="5971032"/>
              <a:ext cx="1463040" cy="182880"/>
            </a:xfrm>
            <a:prstGeom prst="roundRect">
              <a:avLst>
                <a:gd name="adj" fmla="val 50000"/>
              </a:avLst>
            </a:prstGeom>
            <a:solidFill>
              <a:srgbClr val="2E9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2" name="Text 5"/>
            <p:cNvSpPr txBox="1"/>
            <p:nvPr/>
          </p:nvSpPr>
          <p:spPr>
            <a:xfrm>
              <a:off x="7424927" y="5971032"/>
              <a:ext cx="1463040" cy="182880"/>
            </a:xfrm>
            <a:prstGeom prst="rect">
              <a:avLst/>
            </a:prstGeom>
            <a:noFill/>
          </p:spPr>
          <p:txBody>
            <a:bodyPr wrap="square" lIns="0" rIns="0" tIns="0" bIns="0" anchor="ctr">
              <a:spAutoFit/>
            </a:bodyPr>
            <a:lstStyle/>
            <a:p>
              <a:pPr algn="ctr"/>
              <a:r>
                <a:rPr sz="650" b="1" i="0" spc="60">
                  <a:solidFill>
                    <a:srgbClr val="FFFFFF"/>
                  </a:solidFill>
                  <a:latin typeface="Trenda IG Text"/>
                </a:rPr>
                <a:t>H4 SIGNED → 07 PREPARE</a:t>
              </a:r>
            </a:p>
          </p:txBody>
        </p:sp>
      </p:grpSp>
      <p:grpSp>
        <p:nvGrpSpPr>
          <p:cNvPr id="463" name="Step 11 highlight"/>
          <p:cNvGrpSpPr/>
          <p:nvPr/>
        </p:nvGrpSpPr>
        <p:grpSpPr>
          <a:xfrm>
            <a:off x="365760" y="1115568"/>
            <a:ext cx="11457432" cy="5239511"/>
            <a:chOff x="365760" y="1115568"/>
            <a:chExt cx="11457432" cy="5239511"/>
          </a:xfrm>
        </p:grpSpPr>
        <p:sp>
          <p:nvSpPr>
            <p:cNvPr id="464" name="Shape 1"/>
            <p:cNvSpPr/>
            <p:nvPr/>
          </p:nvSpPr>
          <p:spPr>
            <a:xfrm>
              <a:off x="365760" y="1115568"/>
              <a:ext cx="11457432" cy="240487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5" name="Shape 2"/>
            <p:cNvSpPr/>
            <p:nvPr/>
          </p:nvSpPr>
          <p:spPr>
            <a:xfrm>
              <a:off x="365760" y="3520440"/>
              <a:ext cx="5495544" cy="29260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6" name="Shape 3"/>
            <p:cNvSpPr/>
            <p:nvPr/>
          </p:nvSpPr>
          <p:spPr>
            <a:xfrm>
              <a:off x="7168896" y="3520440"/>
              <a:ext cx="4654296" cy="29260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7" name="Shape 4"/>
            <p:cNvSpPr/>
            <p:nvPr/>
          </p:nvSpPr>
          <p:spPr>
            <a:xfrm>
              <a:off x="365760" y="3813048"/>
              <a:ext cx="11457432" cy="7315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8" name="Shape 5"/>
            <p:cNvSpPr/>
            <p:nvPr/>
          </p:nvSpPr>
          <p:spPr>
            <a:xfrm>
              <a:off x="365760" y="3886200"/>
              <a:ext cx="2423160" cy="5669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9" name="Shape 6"/>
            <p:cNvSpPr/>
            <p:nvPr/>
          </p:nvSpPr>
          <p:spPr>
            <a:xfrm>
              <a:off x="4453128" y="3886200"/>
              <a:ext cx="7370063" cy="56692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0" name="Shape 7"/>
            <p:cNvSpPr/>
            <p:nvPr/>
          </p:nvSpPr>
          <p:spPr>
            <a:xfrm>
              <a:off x="365760" y="4453128"/>
              <a:ext cx="11457432" cy="13715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1" name="Shape 8"/>
            <p:cNvSpPr/>
            <p:nvPr/>
          </p:nvSpPr>
          <p:spPr>
            <a:xfrm>
              <a:off x="365760" y="4590288"/>
              <a:ext cx="4663440" cy="82296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2" name="Shape 9"/>
            <p:cNvSpPr/>
            <p:nvPr/>
          </p:nvSpPr>
          <p:spPr>
            <a:xfrm>
              <a:off x="6583680" y="4590288"/>
              <a:ext cx="5239512" cy="82296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3" name="Shape 10"/>
            <p:cNvSpPr/>
            <p:nvPr/>
          </p:nvSpPr>
          <p:spPr>
            <a:xfrm>
              <a:off x="365760" y="5413248"/>
              <a:ext cx="11457432" cy="10058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4" name="Shape 11"/>
            <p:cNvSpPr/>
            <p:nvPr/>
          </p:nvSpPr>
          <p:spPr>
            <a:xfrm>
              <a:off x="365760" y="5513832"/>
              <a:ext cx="8183880"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5" name="Shape 12"/>
            <p:cNvSpPr/>
            <p:nvPr/>
          </p:nvSpPr>
          <p:spPr>
            <a:xfrm>
              <a:off x="10149840" y="5513832"/>
              <a:ext cx="1673351"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6" name="Shape 13"/>
            <p:cNvSpPr/>
            <p:nvPr/>
          </p:nvSpPr>
          <p:spPr>
            <a:xfrm>
              <a:off x="365760" y="5971032"/>
              <a:ext cx="11457432" cy="38404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7" name="Shape 14"/>
            <p:cNvSpPr/>
            <p:nvPr/>
          </p:nvSpPr>
          <p:spPr>
            <a:xfrm>
              <a:off x="5870448" y="3529584"/>
              <a:ext cx="1289304" cy="27432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8" name="Shape 15"/>
            <p:cNvSpPr/>
            <p:nvPr/>
          </p:nvSpPr>
          <p:spPr>
            <a:xfrm>
              <a:off x="8577072" y="5550408"/>
              <a:ext cx="1545335" cy="420624"/>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9" name="Shape 16"/>
            <p:cNvSpPr/>
            <p:nvPr/>
          </p:nvSpPr>
          <p:spPr>
            <a:xfrm>
              <a:off x="2752344" y="3849624"/>
              <a:ext cx="1737360" cy="64008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0" name="Shape 17"/>
            <p:cNvSpPr/>
            <p:nvPr/>
          </p:nvSpPr>
          <p:spPr>
            <a:xfrm>
              <a:off x="5038344" y="4599432"/>
              <a:ext cx="1536192" cy="80467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1" name="Shape 18"/>
            <p:cNvSpPr/>
            <p:nvPr/>
          </p:nvSpPr>
          <p:spPr>
            <a:xfrm>
              <a:off x="2743200" y="1261872"/>
              <a:ext cx="56692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2" name="Text 19"/>
            <p:cNvSpPr txBox="1"/>
            <p:nvPr/>
          </p:nvSpPr>
          <p:spPr>
            <a:xfrm>
              <a:off x="2871216" y="1325880"/>
              <a:ext cx="54132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11 / 13   </a:t>
              </a:r>
              <a:r>
                <a:rPr sz="800" b="1" i="0" spc="120">
                  <a:solidFill>
                    <a:srgbClr val="FFFFFF"/>
                  </a:solidFill>
                  <a:latin typeface="Trenda IG Text"/>
                </a:rPr>
                <a:t>CAB · RELEASE APPROVED</a:t>
              </a:r>
            </a:p>
            <a:p>
              <a:pPr>
                <a:spcAft>
                  <a:spcPts val="200"/>
                </a:spcAft>
              </a:pPr>
              <a:r>
                <a:rPr sz="750" b="0" i="0">
                  <a:solidFill>
                    <a:srgbClr val="E6E6E6"/>
                  </a:solidFill>
                  <a:latin typeface="Trenda IG Text"/>
                </a:rPr>
                <a:t>The Release Agent builds the CAB pack from the change passport: evidence, test results, rollback plan. CAB approves the release, exactly as today.</a:t>
              </a:r>
            </a:p>
          </p:txBody>
        </p:sp>
      </p:grpSp>
      <p:grpSp>
        <p:nvGrpSpPr>
          <p:cNvPr id="483" name="Step 11 arrows"/>
          <p:cNvGrpSpPr/>
          <p:nvPr/>
        </p:nvGrpSpPr>
        <p:grpSpPr>
          <a:xfrm>
            <a:off x="3621024" y="4453128"/>
            <a:ext cx="6858000" cy="1700784"/>
            <a:chOff x="3621024" y="4453128"/>
            <a:chExt cx="6858000" cy="1700784"/>
          </a:xfrm>
        </p:grpSpPr>
        <p:cxnSp>
          <p:nvCxnSpPr>
            <p:cNvPr id="484" name="Arrow 1"/>
            <p:cNvCxnSpPr/>
            <p:nvPr/>
          </p:nvCxnSpPr>
          <p:spPr>
            <a:xfrm>
              <a:off x="3621024" y="4453128"/>
              <a:ext cx="0" cy="996696"/>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485" name="Arrow 2"/>
            <p:cNvCxnSpPr/>
            <p:nvPr/>
          </p:nvCxnSpPr>
          <p:spPr>
            <a:xfrm>
              <a:off x="3621024" y="5449824"/>
              <a:ext cx="6126480" cy="0"/>
            </a:xfrm>
            <a:prstGeom prst="line">
              <a:avLst/>
            </a:prstGeom>
            <a:ln w="38100">
              <a:solidFill>
                <a:srgbClr val="2E9E1F"/>
              </a:solidFill>
            </a:ln>
          </p:spPr>
          <p:style>
            <a:lnRef idx="2">
              <a:schemeClr val="accent1"/>
            </a:lnRef>
            <a:fillRef idx="0">
              <a:schemeClr val="accent1"/>
            </a:fillRef>
            <a:effectRef idx="1">
              <a:schemeClr val="accent1"/>
            </a:effectRef>
            <a:fontRef idx="minor">
              <a:schemeClr val="tx1"/>
            </a:fontRef>
          </p:style>
        </p:cxnSp>
        <p:cxnSp>
          <p:nvCxnSpPr>
            <p:cNvPr id="486" name="Arrow 3"/>
            <p:cNvCxnSpPr/>
            <p:nvPr/>
          </p:nvCxnSpPr>
          <p:spPr>
            <a:xfrm>
              <a:off x="9747504" y="5449824"/>
              <a:ext cx="0" cy="100584"/>
            </a:xfrm>
            <a:prstGeom prst="line">
              <a:avLst/>
            </a:prstGeom>
            <a:ln w="38100">
              <a:solidFill>
                <a:srgbClr val="2E9E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7" name="Shape 4"/>
            <p:cNvSpPr/>
            <p:nvPr/>
          </p:nvSpPr>
          <p:spPr>
            <a:xfrm>
              <a:off x="9015984" y="5971032"/>
              <a:ext cx="1463040" cy="182880"/>
            </a:xfrm>
            <a:prstGeom prst="roundRect">
              <a:avLst>
                <a:gd name="adj" fmla="val 50000"/>
              </a:avLst>
            </a:prstGeom>
            <a:solidFill>
              <a:srgbClr val="2E9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8" name="Text 5"/>
            <p:cNvSpPr txBox="1"/>
            <p:nvPr/>
          </p:nvSpPr>
          <p:spPr>
            <a:xfrm>
              <a:off x="9015984" y="5971032"/>
              <a:ext cx="1463040" cy="182880"/>
            </a:xfrm>
            <a:prstGeom prst="rect">
              <a:avLst/>
            </a:prstGeom>
            <a:noFill/>
          </p:spPr>
          <p:txBody>
            <a:bodyPr wrap="square" lIns="0" rIns="0" tIns="0" bIns="0" anchor="ctr">
              <a:spAutoFit/>
            </a:bodyPr>
            <a:lstStyle/>
            <a:p>
              <a:pPr algn="ctr"/>
              <a:r>
                <a:rPr sz="650" b="1" i="0" spc="60">
                  <a:solidFill>
                    <a:srgbClr val="FFFFFF"/>
                  </a:solidFill>
                  <a:latin typeface="Trenda IG Text"/>
                </a:rPr>
                <a:t>CAB APPROVED → 08 DEPLOY</a:t>
              </a:r>
            </a:p>
          </p:txBody>
        </p:sp>
      </p:grpSp>
      <p:grpSp>
        <p:nvGrpSpPr>
          <p:cNvPr id="489" name="Step 12 highlight"/>
          <p:cNvGrpSpPr/>
          <p:nvPr/>
        </p:nvGrpSpPr>
        <p:grpSpPr>
          <a:xfrm>
            <a:off x="365760" y="1115568"/>
            <a:ext cx="11457432" cy="5239511"/>
            <a:chOff x="365760" y="1115568"/>
            <a:chExt cx="11457432" cy="5239511"/>
          </a:xfrm>
        </p:grpSpPr>
        <p:sp>
          <p:nvSpPr>
            <p:cNvPr id="490" name="Shape 1"/>
            <p:cNvSpPr/>
            <p:nvPr/>
          </p:nvSpPr>
          <p:spPr>
            <a:xfrm>
              <a:off x="365760" y="1115568"/>
              <a:ext cx="11457432" cy="34747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1" name="Shape 2"/>
            <p:cNvSpPr/>
            <p:nvPr/>
          </p:nvSpPr>
          <p:spPr>
            <a:xfrm>
              <a:off x="365760" y="1463040"/>
              <a:ext cx="9235440" cy="54864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2" name="Shape 3"/>
            <p:cNvSpPr/>
            <p:nvPr/>
          </p:nvSpPr>
          <p:spPr>
            <a:xfrm>
              <a:off x="11777472" y="1463040"/>
              <a:ext cx="45720" cy="54864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3" name="Shape 4"/>
            <p:cNvSpPr/>
            <p:nvPr/>
          </p:nvSpPr>
          <p:spPr>
            <a:xfrm>
              <a:off x="365760" y="2011680"/>
              <a:ext cx="11457432" cy="2834639"/>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4" name="Shape 5"/>
            <p:cNvSpPr/>
            <p:nvPr/>
          </p:nvSpPr>
          <p:spPr>
            <a:xfrm>
              <a:off x="365760" y="4846320"/>
              <a:ext cx="9281160" cy="60350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5" name="Shape 6"/>
            <p:cNvSpPr/>
            <p:nvPr/>
          </p:nvSpPr>
          <p:spPr>
            <a:xfrm>
              <a:off x="11731752" y="4846320"/>
              <a:ext cx="91439" cy="603504"/>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6" name="Shape 7"/>
            <p:cNvSpPr/>
            <p:nvPr/>
          </p:nvSpPr>
          <p:spPr>
            <a:xfrm>
              <a:off x="365760" y="5449824"/>
              <a:ext cx="11457432" cy="64008"/>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7" name="Shape 8"/>
            <p:cNvSpPr/>
            <p:nvPr/>
          </p:nvSpPr>
          <p:spPr>
            <a:xfrm>
              <a:off x="365760" y="5513832"/>
              <a:ext cx="9774936"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8" name="Shape 9"/>
            <p:cNvSpPr/>
            <p:nvPr/>
          </p:nvSpPr>
          <p:spPr>
            <a:xfrm>
              <a:off x="11740896" y="5513832"/>
              <a:ext cx="82295" cy="45720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9" name="Shape 10"/>
            <p:cNvSpPr/>
            <p:nvPr/>
          </p:nvSpPr>
          <p:spPr>
            <a:xfrm>
              <a:off x="365760" y="5971032"/>
              <a:ext cx="11457432" cy="384047"/>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0" name="Shape 11"/>
            <p:cNvSpPr/>
            <p:nvPr/>
          </p:nvSpPr>
          <p:spPr>
            <a:xfrm>
              <a:off x="10131552" y="5513832"/>
              <a:ext cx="1618488" cy="457200"/>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1" name="Shape 12"/>
            <p:cNvSpPr/>
            <p:nvPr/>
          </p:nvSpPr>
          <p:spPr>
            <a:xfrm>
              <a:off x="9656064" y="4864608"/>
              <a:ext cx="2066544" cy="57607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2" name="Shape 13"/>
            <p:cNvSpPr/>
            <p:nvPr/>
          </p:nvSpPr>
          <p:spPr>
            <a:xfrm>
              <a:off x="9564624" y="1426464"/>
              <a:ext cx="2249424" cy="62179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3" name="Shape 14"/>
            <p:cNvSpPr/>
            <p:nvPr/>
          </p:nvSpPr>
          <p:spPr>
            <a:xfrm>
              <a:off x="2743200" y="1261872"/>
              <a:ext cx="56692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4" name="Text 15"/>
            <p:cNvSpPr txBox="1"/>
            <p:nvPr/>
          </p:nvSpPr>
          <p:spPr>
            <a:xfrm>
              <a:off x="2871216" y="1325880"/>
              <a:ext cx="54132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12 / 13   </a:t>
              </a:r>
              <a:r>
                <a:rPr sz="800" b="1" i="0" spc="120">
                  <a:solidFill>
                    <a:srgbClr val="FFFFFF"/>
                  </a:solidFill>
                  <a:latin typeface="Trenda IG Text"/>
                </a:rPr>
                <a:t>PRODUCTION: THE OWNING TEAM DEPLOYS</a:t>
              </a:r>
            </a:p>
            <a:p>
              <a:pPr>
                <a:spcAft>
                  <a:spcPts val="200"/>
                </a:spcAft>
              </a:pPr>
              <a:r>
                <a:rPr sz="750" b="0" i="0">
                  <a:solidFill>
                    <a:srgbClr val="E6E6E6"/>
                  </a:solidFill>
                  <a:latin typeface="Trenda IG Text"/>
                </a:rPr>
                <a:t>The owning team activates the journey in production through its own pipeline. No agent holds a production credential. Step 09 closes the Jira story and resyncs the knowledge graph.</a:t>
              </a:r>
            </a:p>
          </p:txBody>
        </p:sp>
      </p:grpSp>
      <p:grpSp>
        <p:nvGrpSpPr>
          <p:cNvPr id="505" name="Step 12 arrows"/>
          <p:cNvGrpSpPr/>
          <p:nvPr/>
        </p:nvGrpSpPr>
        <p:grpSpPr>
          <a:xfrm>
            <a:off x="10543032" y="5404104"/>
            <a:ext cx="0" cy="146304"/>
            <a:chOff x="10543032" y="5404104"/>
            <a:chExt cx="0" cy="146304"/>
          </a:xfrm>
        </p:grpSpPr>
        <p:cxnSp>
          <p:nvCxnSpPr>
            <p:cNvPr id="506" name="Arrow 1"/>
            <p:cNvCxnSpPr/>
            <p:nvPr/>
          </p:nvCxnSpPr>
          <p:spPr>
            <a:xfrm flipV="1">
              <a:off x="10543032" y="5404104"/>
              <a:ext cx="0" cy="146304"/>
            </a:xfrm>
            <a:prstGeom prst="line">
              <a:avLst/>
            </a:prstGeom>
            <a:ln w="38100">
              <a:solidFill>
                <a:srgbClr val="FA8B35"/>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507" name="Step 13 highlight"/>
          <p:cNvGrpSpPr/>
          <p:nvPr/>
        </p:nvGrpSpPr>
        <p:grpSpPr>
          <a:xfrm>
            <a:off x="365760" y="1115568"/>
            <a:ext cx="11457432" cy="5239512"/>
            <a:chOff x="365760" y="1115568"/>
            <a:chExt cx="11457432" cy="5239512"/>
          </a:xfrm>
        </p:grpSpPr>
        <p:sp>
          <p:nvSpPr>
            <p:cNvPr id="508" name="Shape 1"/>
            <p:cNvSpPr/>
            <p:nvPr/>
          </p:nvSpPr>
          <p:spPr>
            <a:xfrm>
              <a:off x="365760" y="1115568"/>
              <a:ext cx="11457432" cy="347472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9" name="Shape 2"/>
            <p:cNvSpPr/>
            <p:nvPr/>
          </p:nvSpPr>
          <p:spPr>
            <a:xfrm>
              <a:off x="365760" y="4590288"/>
              <a:ext cx="4663440" cy="82296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0" name="Shape 3"/>
            <p:cNvSpPr/>
            <p:nvPr/>
          </p:nvSpPr>
          <p:spPr>
            <a:xfrm>
              <a:off x="7909560" y="4590288"/>
              <a:ext cx="3913631" cy="822960"/>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1" name="Shape 4"/>
            <p:cNvSpPr/>
            <p:nvPr/>
          </p:nvSpPr>
          <p:spPr>
            <a:xfrm>
              <a:off x="365760" y="5413248"/>
              <a:ext cx="11457432" cy="941832"/>
            </a:xfrm>
            <a:prstGeom prst="rect">
              <a:avLst/>
            </a:prstGeom>
            <a:solidFill>
              <a:srgbClr val="FFFFFF">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2" name="Shape 5"/>
            <p:cNvSpPr/>
            <p:nvPr/>
          </p:nvSpPr>
          <p:spPr>
            <a:xfrm>
              <a:off x="5038344" y="4599432"/>
              <a:ext cx="1536192" cy="80467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3" name="Shape 6"/>
            <p:cNvSpPr/>
            <p:nvPr/>
          </p:nvSpPr>
          <p:spPr>
            <a:xfrm>
              <a:off x="6592824" y="4599432"/>
              <a:ext cx="1307592" cy="804672"/>
            </a:xfrm>
            <a:prstGeom prst="roundRect">
              <a:avLst>
                <a:gd name="adj" fmla="val 8000"/>
              </a:avLst>
            </a:prstGeom>
            <a:noFill/>
            <a:ln w="381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4" name="Shape 7"/>
            <p:cNvSpPr/>
            <p:nvPr/>
          </p:nvSpPr>
          <p:spPr>
            <a:xfrm>
              <a:off x="4206240" y="3931920"/>
              <a:ext cx="4754880" cy="658368"/>
            </a:xfrm>
            <a:prstGeom prst="roundRect">
              <a:avLst>
                <a:gd name="adj" fmla="val 12000"/>
              </a:avLst>
            </a:prstGeom>
            <a:solidFill>
              <a:srgbClr val="000000"/>
            </a:solidFill>
            <a:ln w="12700">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5" name="Text 8"/>
            <p:cNvSpPr txBox="1"/>
            <p:nvPr/>
          </p:nvSpPr>
          <p:spPr>
            <a:xfrm>
              <a:off x="4334255" y="3995928"/>
              <a:ext cx="4498848" cy="566928"/>
            </a:xfrm>
            <a:prstGeom prst="rect">
              <a:avLst/>
            </a:prstGeom>
            <a:noFill/>
          </p:spPr>
          <p:txBody>
            <a:bodyPr wrap="square" lIns="0" rIns="0" tIns="0" bIns="0" anchor="t">
              <a:spAutoFit/>
            </a:bodyPr>
            <a:lstStyle/>
            <a:p>
              <a:pPr>
                <a:spcAft>
                  <a:spcPts val="200"/>
                </a:spcAft>
              </a:pPr>
              <a:r>
                <a:rPr sz="800" b="1" i="0">
                  <a:solidFill>
                    <a:srgbClr val="FA8B35"/>
                  </a:solidFill>
                  <a:latin typeface="Trenda IG Text"/>
                </a:rPr>
                <a:t>13 / 13   </a:t>
              </a:r>
              <a:r>
                <a:rPr sz="800" b="1" i="0" spc="120">
                  <a:solidFill>
                    <a:srgbClr val="FFFFFF"/>
                  </a:solidFill>
                  <a:latin typeface="Trenda IG Text"/>
                </a:rPr>
                <a:t>EVIDENCE ON EVERY CHANGE</a:t>
              </a:r>
            </a:p>
            <a:p>
              <a:pPr>
                <a:spcAft>
                  <a:spcPts val="200"/>
                </a:spcAft>
              </a:pPr>
              <a:r>
                <a:rPr sz="750" b="0" i="0">
                  <a:solidFill>
                    <a:srgbClr val="E6E6E6"/>
                  </a:solidFill>
                  <a:latin typeface="Trenda IG Text"/>
                </a:rPr>
                <a:t>Every step and every approval lands in the change passport; cycle time, defects, rework and cost per change are reported per pod. Not just automation: a controlled, auditable delivery process.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350"/>
                                        <p:tgtEl>
                                          <p:spTgt spid="235"/>
                                        </p:tgtEl>
                                      </p:cBhvr>
                                    </p:animEffect>
                                  </p:childTnLst>
                                </p:cTn>
                              </p:par>
                            </p:childTnLst>
                          </p:cTn>
                        </p:par>
                        <p:par>
                          <p:cTn id="8" fill="hold">
                            <p:stCondLst>
                              <p:cond delay="400"/>
                            </p:stCondLst>
                            <p:childTnLst>
                              <p:par>
                                <p:cTn id="9" presetID="22" presetClass="entr" presetSubtype="8" fill="hold" grpId="0" nodeType="afterEffect">
                                  <p:stCondLst>
                                    <p:cond delay="0"/>
                                  </p:stCondLst>
                                  <p:childTnLst>
                                    <p:set>
                                      <p:cBhvr>
                                        <p:cTn id="10" dur="1" fill="hold">
                                          <p:stCondLst>
                                            <p:cond delay="0"/>
                                          </p:stCondLst>
                                        </p:cTn>
                                        <p:tgtEl>
                                          <p:spTgt spid="248"/>
                                        </p:tgtEl>
                                        <p:attrNameLst>
                                          <p:attrName>style.visibility</p:attrName>
                                        </p:attrNameLst>
                                      </p:cBhvr>
                                      <p:to>
                                        <p:strVal val="visible"/>
                                      </p:to>
                                    </p:set>
                                    <p:animEffect transition="in" filter="wipe(left)">
                                      <p:cBhvr>
                                        <p:cTn id="11" dur="600"/>
                                        <p:tgtEl>
                                          <p:spTgt spid="24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250"/>
                                        <p:tgtEl>
                                          <p:spTgt spid="235"/>
                                        </p:tgtEl>
                                      </p:cBhvr>
                                    </p:animEffect>
                                    <p:set>
                                      <p:cBhvr>
                                        <p:cTn id="16" dur="1" fill="hold">
                                          <p:stCondLst>
                                            <p:cond delay="249"/>
                                          </p:stCondLst>
                                        </p:cTn>
                                        <p:tgtEl>
                                          <p:spTgt spid="235"/>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250"/>
                                        <p:tgtEl>
                                          <p:spTgt spid="248"/>
                                        </p:tgtEl>
                                      </p:cBhvr>
                                    </p:animEffect>
                                    <p:set>
                                      <p:cBhvr>
                                        <p:cTn id="19" dur="1" fill="hold">
                                          <p:stCondLst>
                                            <p:cond delay="249"/>
                                          </p:stCondLst>
                                        </p:cTn>
                                        <p:tgtEl>
                                          <p:spTgt spid="248"/>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21" dur="1" fill="hold">
                                          <p:stCondLst>
                                            <p:cond delay="0"/>
                                          </p:stCondLst>
                                        </p:cTn>
                                        <p:tgtEl>
                                          <p:spTgt spid="251"/>
                                        </p:tgtEl>
                                        <p:attrNameLst>
                                          <p:attrName>style.visibility</p:attrName>
                                        </p:attrNameLst>
                                      </p:cBhvr>
                                      <p:to>
                                        <p:strVal val="visible"/>
                                      </p:to>
                                    </p:set>
                                    <p:animEffect transition="in" filter="fade">
                                      <p:cBhvr>
                                        <p:cTn id="22" dur="350"/>
                                        <p:tgtEl>
                                          <p:spTgt spid="251"/>
                                        </p:tgtEl>
                                      </p:cBhvr>
                                    </p:animEffect>
                                  </p:childTnLst>
                                </p:cTn>
                              </p:par>
                            </p:childTnLst>
                          </p:cTn>
                        </p:par>
                        <p:par>
                          <p:cTn id="23" fill="hold">
                            <p:stCondLst>
                              <p:cond delay="400"/>
                            </p:stCondLst>
                            <p:childTnLst>
                              <p:par>
                                <p:cTn id="24" presetID="22" presetClass="entr" presetSubtype="8" fill="hold" grpId="0" nodeType="afterEffect">
                                  <p:stCondLst>
                                    <p:cond delay="0"/>
                                  </p:stCondLst>
                                  <p:childTnLst>
                                    <p:set>
                                      <p:cBhvr>
                                        <p:cTn id="25" dur="1" fill="hold">
                                          <p:stCondLst>
                                            <p:cond delay="0"/>
                                          </p:stCondLst>
                                        </p:cTn>
                                        <p:tgtEl>
                                          <p:spTgt spid="272"/>
                                        </p:tgtEl>
                                        <p:attrNameLst>
                                          <p:attrName>style.visibility</p:attrName>
                                        </p:attrNameLst>
                                      </p:cBhvr>
                                      <p:to>
                                        <p:strVal val="visible"/>
                                      </p:to>
                                    </p:set>
                                    <p:animEffect transition="in" filter="wipe(left)">
                                      <p:cBhvr>
                                        <p:cTn id="26" dur="600"/>
                                        <p:tgtEl>
                                          <p:spTgt spid="27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250"/>
                                        <p:tgtEl>
                                          <p:spTgt spid="251"/>
                                        </p:tgtEl>
                                      </p:cBhvr>
                                    </p:animEffect>
                                    <p:set>
                                      <p:cBhvr>
                                        <p:cTn id="31" dur="1" fill="hold">
                                          <p:stCondLst>
                                            <p:cond delay="249"/>
                                          </p:stCondLst>
                                        </p:cTn>
                                        <p:tgtEl>
                                          <p:spTgt spid="251"/>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250"/>
                                        <p:tgtEl>
                                          <p:spTgt spid="272"/>
                                        </p:tgtEl>
                                      </p:cBhvr>
                                    </p:animEffect>
                                    <p:set>
                                      <p:cBhvr>
                                        <p:cTn id="34" dur="1" fill="hold">
                                          <p:stCondLst>
                                            <p:cond delay="249"/>
                                          </p:stCondLst>
                                        </p:cTn>
                                        <p:tgtEl>
                                          <p:spTgt spid="272"/>
                                        </p:tgtEl>
                                        <p:attrNameLst>
                                          <p:attrName>style.visibility</p:attrName>
                                        </p:attrNameLst>
                                      </p:cBhvr>
                                      <p:to>
                                        <p:strVal val="hidden"/>
                                      </p:to>
                                    </p:set>
                                  </p:childTnLst>
                                </p:cTn>
                              </p:par>
                              <p:par>
                                <p:cTn id="35" presetID="10" presetClass="entr" presetSubtype="0" fill="hold" grpId="0" nodeType="withEffect">
                                  <p:stCondLst>
                                    <p:cond delay="0"/>
                                  </p:stCondLst>
                                  <p:childTnLst>
                                    <p:set>
                                      <p:cBhvr>
                                        <p:cTn id="36" dur="1" fill="hold">
                                          <p:stCondLst>
                                            <p:cond delay="0"/>
                                          </p:stCondLst>
                                        </p:cTn>
                                        <p:tgtEl>
                                          <p:spTgt spid="275"/>
                                        </p:tgtEl>
                                        <p:attrNameLst>
                                          <p:attrName>style.visibility</p:attrName>
                                        </p:attrNameLst>
                                      </p:cBhvr>
                                      <p:to>
                                        <p:strVal val="visible"/>
                                      </p:to>
                                    </p:set>
                                    <p:animEffect transition="in" filter="fade">
                                      <p:cBhvr>
                                        <p:cTn id="37" dur="350"/>
                                        <p:tgtEl>
                                          <p:spTgt spid="275"/>
                                        </p:tgtEl>
                                      </p:cBhvr>
                                    </p:animEffect>
                                  </p:childTnLst>
                                </p:cTn>
                              </p:par>
                            </p:childTnLst>
                          </p:cTn>
                        </p:par>
                        <p:par>
                          <p:cTn id="38" fill="hold">
                            <p:stCondLst>
                              <p:cond delay="400"/>
                            </p:stCondLst>
                            <p:childTnLst>
                              <p:par>
                                <p:cTn id="39" presetID="22" presetClass="entr" presetSubtype="8" fill="hold" grpId="0" nodeType="afterEffect">
                                  <p:stCondLst>
                                    <p:cond delay="0"/>
                                  </p:stCondLst>
                                  <p:childTnLst>
                                    <p:set>
                                      <p:cBhvr>
                                        <p:cTn id="40" dur="1" fill="hold">
                                          <p:stCondLst>
                                            <p:cond delay="0"/>
                                          </p:stCondLst>
                                        </p:cTn>
                                        <p:tgtEl>
                                          <p:spTgt spid="284"/>
                                        </p:tgtEl>
                                        <p:attrNameLst>
                                          <p:attrName>style.visibility</p:attrName>
                                        </p:attrNameLst>
                                      </p:cBhvr>
                                      <p:to>
                                        <p:strVal val="visible"/>
                                      </p:to>
                                    </p:set>
                                    <p:animEffect transition="in" filter="wipe(left)">
                                      <p:cBhvr>
                                        <p:cTn id="41" dur="600"/>
                                        <p:tgtEl>
                                          <p:spTgt spid="28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0" nodeType="clickEffect">
                                  <p:stCondLst>
                                    <p:cond delay="0"/>
                                  </p:stCondLst>
                                  <p:childTnLst>
                                    <p:animEffect transition="out" filter="fade">
                                      <p:cBhvr>
                                        <p:cTn id="45" dur="250"/>
                                        <p:tgtEl>
                                          <p:spTgt spid="275"/>
                                        </p:tgtEl>
                                      </p:cBhvr>
                                    </p:animEffect>
                                    <p:set>
                                      <p:cBhvr>
                                        <p:cTn id="46" dur="1" fill="hold">
                                          <p:stCondLst>
                                            <p:cond delay="249"/>
                                          </p:stCondLst>
                                        </p:cTn>
                                        <p:tgtEl>
                                          <p:spTgt spid="275"/>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250"/>
                                        <p:tgtEl>
                                          <p:spTgt spid="284"/>
                                        </p:tgtEl>
                                      </p:cBhvr>
                                    </p:animEffect>
                                    <p:set>
                                      <p:cBhvr>
                                        <p:cTn id="49" dur="1" fill="hold">
                                          <p:stCondLst>
                                            <p:cond delay="249"/>
                                          </p:stCondLst>
                                        </p:cTn>
                                        <p:tgtEl>
                                          <p:spTgt spid="284"/>
                                        </p:tgtEl>
                                        <p:attrNameLst>
                                          <p:attrName>style.visibility</p:attrName>
                                        </p:attrNameLst>
                                      </p:cBhvr>
                                      <p:to>
                                        <p:strVal val="hidden"/>
                                      </p:to>
                                    </p:set>
                                  </p:childTnLst>
                                </p:cTn>
                              </p:par>
                              <p:par>
                                <p:cTn id="50" presetID="10" presetClass="entr" presetSubtype="0" fill="hold" grpId="0" nodeType="withEffect">
                                  <p:stCondLst>
                                    <p:cond delay="0"/>
                                  </p:stCondLst>
                                  <p:childTnLst>
                                    <p:set>
                                      <p:cBhvr>
                                        <p:cTn id="51" dur="1" fill="hold">
                                          <p:stCondLst>
                                            <p:cond delay="0"/>
                                          </p:stCondLst>
                                        </p:cTn>
                                        <p:tgtEl>
                                          <p:spTgt spid="286"/>
                                        </p:tgtEl>
                                        <p:attrNameLst>
                                          <p:attrName>style.visibility</p:attrName>
                                        </p:attrNameLst>
                                      </p:cBhvr>
                                      <p:to>
                                        <p:strVal val="visible"/>
                                      </p:to>
                                    </p:set>
                                    <p:animEffect transition="in" filter="fade">
                                      <p:cBhvr>
                                        <p:cTn id="52" dur="350"/>
                                        <p:tgtEl>
                                          <p:spTgt spid="286"/>
                                        </p:tgtEl>
                                      </p:cBhvr>
                                    </p:animEffect>
                                  </p:childTnLst>
                                </p:cTn>
                              </p:par>
                            </p:childTnLst>
                          </p:cTn>
                        </p:par>
                        <p:par>
                          <p:cTn id="53" fill="hold">
                            <p:stCondLst>
                              <p:cond delay="400"/>
                            </p:stCondLst>
                            <p:childTnLst>
                              <p:par>
                                <p:cTn id="54" presetID="22" presetClass="entr" presetSubtype="8" fill="hold" grpId="0" nodeType="afterEffect">
                                  <p:stCondLst>
                                    <p:cond delay="0"/>
                                  </p:stCondLst>
                                  <p:childTnLst>
                                    <p:set>
                                      <p:cBhvr>
                                        <p:cTn id="55" dur="1" fill="hold">
                                          <p:stCondLst>
                                            <p:cond delay="0"/>
                                          </p:stCondLst>
                                        </p:cTn>
                                        <p:tgtEl>
                                          <p:spTgt spid="302"/>
                                        </p:tgtEl>
                                        <p:attrNameLst>
                                          <p:attrName>style.visibility</p:attrName>
                                        </p:attrNameLst>
                                      </p:cBhvr>
                                      <p:to>
                                        <p:strVal val="visible"/>
                                      </p:to>
                                    </p:set>
                                    <p:animEffect transition="in" filter="wipe(left)">
                                      <p:cBhvr>
                                        <p:cTn id="56" dur="600"/>
                                        <p:tgtEl>
                                          <p:spTgt spid="30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250"/>
                                        <p:tgtEl>
                                          <p:spTgt spid="286"/>
                                        </p:tgtEl>
                                      </p:cBhvr>
                                    </p:animEffect>
                                    <p:set>
                                      <p:cBhvr>
                                        <p:cTn id="61" dur="1" fill="hold">
                                          <p:stCondLst>
                                            <p:cond delay="249"/>
                                          </p:stCondLst>
                                        </p:cTn>
                                        <p:tgtEl>
                                          <p:spTgt spid="286"/>
                                        </p:tgtEl>
                                        <p:attrNameLst>
                                          <p:attrName>style.visibility</p:attrName>
                                        </p:attrNameLst>
                                      </p:cBhvr>
                                      <p:to>
                                        <p:strVal val="hidden"/>
                                      </p:to>
                                    </p:set>
                                  </p:childTnLst>
                                </p:cTn>
                              </p:par>
                              <p:par>
                                <p:cTn id="62" presetID="10" presetClass="exit" presetSubtype="0" fill="hold" grpId="0" nodeType="withEffect">
                                  <p:stCondLst>
                                    <p:cond delay="0"/>
                                  </p:stCondLst>
                                  <p:childTnLst>
                                    <p:animEffect transition="out" filter="fade">
                                      <p:cBhvr>
                                        <p:cTn id="63" dur="250"/>
                                        <p:tgtEl>
                                          <p:spTgt spid="302"/>
                                        </p:tgtEl>
                                      </p:cBhvr>
                                    </p:animEffect>
                                    <p:set>
                                      <p:cBhvr>
                                        <p:cTn id="64" dur="1" fill="hold">
                                          <p:stCondLst>
                                            <p:cond delay="249"/>
                                          </p:stCondLst>
                                        </p:cTn>
                                        <p:tgtEl>
                                          <p:spTgt spid="302"/>
                                        </p:tgtEl>
                                        <p:attrNameLst>
                                          <p:attrName>style.visibility</p:attrName>
                                        </p:attrNameLst>
                                      </p:cBhvr>
                                      <p:to>
                                        <p:strVal val="hidden"/>
                                      </p:to>
                                    </p:set>
                                  </p:childTnLst>
                                </p:cTn>
                              </p:par>
                              <p:par>
                                <p:cTn id="65" presetID="10" presetClass="entr" presetSubtype="0" fill="hold" grpId="0" nodeType="withEffect">
                                  <p:stCondLst>
                                    <p:cond delay="0"/>
                                  </p:stCondLst>
                                  <p:childTnLst>
                                    <p:set>
                                      <p:cBhvr>
                                        <p:cTn id="66" dur="1" fill="hold">
                                          <p:stCondLst>
                                            <p:cond delay="0"/>
                                          </p:stCondLst>
                                        </p:cTn>
                                        <p:tgtEl>
                                          <p:spTgt spid="305"/>
                                        </p:tgtEl>
                                        <p:attrNameLst>
                                          <p:attrName>style.visibility</p:attrName>
                                        </p:attrNameLst>
                                      </p:cBhvr>
                                      <p:to>
                                        <p:strVal val="visible"/>
                                      </p:to>
                                    </p:set>
                                    <p:animEffect transition="in" filter="fade">
                                      <p:cBhvr>
                                        <p:cTn id="67" dur="350"/>
                                        <p:tgtEl>
                                          <p:spTgt spid="305"/>
                                        </p:tgtEl>
                                      </p:cBhvr>
                                    </p:animEffect>
                                  </p:childTnLst>
                                </p:cTn>
                              </p:par>
                            </p:childTnLst>
                          </p:cTn>
                        </p:par>
                        <p:par>
                          <p:cTn id="68" fill="hold">
                            <p:stCondLst>
                              <p:cond delay="400"/>
                            </p:stCondLst>
                            <p:childTnLst>
                              <p:par>
                                <p:cTn id="69" presetID="22" presetClass="entr" presetSubtype="8" fill="hold" grpId="0" nodeType="afterEffect">
                                  <p:stCondLst>
                                    <p:cond delay="0"/>
                                  </p:stCondLst>
                                  <p:childTnLst>
                                    <p:set>
                                      <p:cBhvr>
                                        <p:cTn id="70" dur="1" fill="hold">
                                          <p:stCondLst>
                                            <p:cond delay="0"/>
                                          </p:stCondLst>
                                        </p:cTn>
                                        <p:tgtEl>
                                          <p:spTgt spid="314"/>
                                        </p:tgtEl>
                                        <p:attrNameLst>
                                          <p:attrName>style.visibility</p:attrName>
                                        </p:attrNameLst>
                                      </p:cBhvr>
                                      <p:to>
                                        <p:strVal val="visible"/>
                                      </p:to>
                                    </p:set>
                                    <p:animEffect transition="in" filter="wipe(left)">
                                      <p:cBhvr>
                                        <p:cTn id="71" dur="600"/>
                                        <p:tgtEl>
                                          <p:spTgt spid="31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0" nodeType="clickEffect">
                                  <p:stCondLst>
                                    <p:cond delay="0"/>
                                  </p:stCondLst>
                                  <p:childTnLst>
                                    <p:animEffect transition="out" filter="fade">
                                      <p:cBhvr>
                                        <p:cTn id="75" dur="250"/>
                                        <p:tgtEl>
                                          <p:spTgt spid="305"/>
                                        </p:tgtEl>
                                      </p:cBhvr>
                                    </p:animEffect>
                                    <p:set>
                                      <p:cBhvr>
                                        <p:cTn id="76" dur="1" fill="hold">
                                          <p:stCondLst>
                                            <p:cond delay="249"/>
                                          </p:stCondLst>
                                        </p:cTn>
                                        <p:tgtEl>
                                          <p:spTgt spid="305"/>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250"/>
                                        <p:tgtEl>
                                          <p:spTgt spid="314"/>
                                        </p:tgtEl>
                                      </p:cBhvr>
                                    </p:animEffect>
                                    <p:set>
                                      <p:cBhvr>
                                        <p:cTn id="79" dur="1" fill="hold">
                                          <p:stCondLst>
                                            <p:cond delay="249"/>
                                          </p:stCondLst>
                                        </p:cTn>
                                        <p:tgtEl>
                                          <p:spTgt spid="314"/>
                                        </p:tgtEl>
                                        <p:attrNameLst>
                                          <p:attrName>style.visibility</p:attrName>
                                        </p:attrNameLst>
                                      </p:cBhvr>
                                      <p:to>
                                        <p:strVal val="hidden"/>
                                      </p:to>
                                    </p:set>
                                  </p:childTnLst>
                                </p:cTn>
                              </p:par>
                              <p:par>
                                <p:cTn id="80" presetID="10" presetClass="entr" presetSubtype="0" fill="hold" grpId="0" nodeType="withEffect">
                                  <p:stCondLst>
                                    <p:cond delay="0"/>
                                  </p:stCondLst>
                                  <p:childTnLst>
                                    <p:set>
                                      <p:cBhvr>
                                        <p:cTn id="81" dur="1" fill="hold">
                                          <p:stCondLst>
                                            <p:cond delay="0"/>
                                          </p:stCondLst>
                                        </p:cTn>
                                        <p:tgtEl>
                                          <p:spTgt spid="319"/>
                                        </p:tgtEl>
                                        <p:attrNameLst>
                                          <p:attrName>style.visibility</p:attrName>
                                        </p:attrNameLst>
                                      </p:cBhvr>
                                      <p:to>
                                        <p:strVal val="visible"/>
                                      </p:to>
                                    </p:set>
                                    <p:animEffect transition="in" filter="fade">
                                      <p:cBhvr>
                                        <p:cTn id="82" dur="350"/>
                                        <p:tgtEl>
                                          <p:spTgt spid="319"/>
                                        </p:tgtEl>
                                      </p:cBhvr>
                                    </p:animEffect>
                                  </p:childTnLst>
                                </p:cTn>
                              </p:par>
                            </p:childTnLst>
                          </p:cTn>
                        </p:par>
                        <p:par>
                          <p:cTn id="83" fill="hold">
                            <p:stCondLst>
                              <p:cond delay="400"/>
                            </p:stCondLst>
                            <p:childTnLst>
                              <p:par>
                                <p:cTn id="84" presetID="22" presetClass="entr" presetSubtype="8" fill="hold" grpId="0" nodeType="afterEffect">
                                  <p:stCondLst>
                                    <p:cond delay="0"/>
                                  </p:stCondLst>
                                  <p:childTnLst>
                                    <p:set>
                                      <p:cBhvr>
                                        <p:cTn id="85" dur="1" fill="hold">
                                          <p:stCondLst>
                                            <p:cond delay="0"/>
                                          </p:stCondLst>
                                        </p:cTn>
                                        <p:tgtEl>
                                          <p:spTgt spid="328"/>
                                        </p:tgtEl>
                                        <p:attrNameLst>
                                          <p:attrName>style.visibility</p:attrName>
                                        </p:attrNameLst>
                                      </p:cBhvr>
                                      <p:to>
                                        <p:strVal val="visible"/>
                                      </p:to>
                                    </p:set>
                                    <p:animEffect transition="in" filter="wipe(left)">
                                      <p:cBhvr>
                                        <p:cTn id="86" dur="600"/>
                                        <p:tgtEl>
                                          <p:spTgt spid="328"/>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grpId="0" nodeType="clickEffect">
                                  <p:stCondLst>
                                    <p:cond delay="0"/>
                                  </p:stCondLst>
                                  <p:childTnLst>
                                    <p:animEffect transition="out" filter="fade">
                                      <p:cBhvr>
                                        <p:cTn id="90" dur="250"/>
                                        <p:tgtEl>
                                          <p:spTgt spid="319"/>
                                        </p:tgtEl>
                                      </p:cBhvr>
                                    </p:animEffect>
                                    <p:set>
                                      <p:cBhvr>
                                        <p:cTn id="91" dur="1" fill="hold">
                                          <p:stCondLst>
                                            <p:cond delay="249"/>
                                          </p:stCondLst>
                                        </p:cTn>
                                        <p:tgtEl>
                                          <p:spTgt spid="319"/>
                                        </p:tgtEl>
                                        <p:attrNameLst>
                                          <p:attrName>style.visibility</p:attrName>
                                        </p:attrNameLst>
                                      </p:cBhvr>
                                      <p:to>
                                        <p:strVal val="hidden"/>
                                      </p:to>
                                    </p:set>
                                  </p:childTnLst>
                                </p:cTn>
                              </p:par>
                              <p:par>
                                <p:cTn id="92" presetID="10" presetClass="exit" presetSubtype="0" fill="hold" grpId="0" nodeType="withEffect">
                                  <p:stCondLst>
                                    <p:cond delay="0"/>
                                  </p:stCondLst>
                                  <p:childTnLst>
                                    <p:animEffect transition="out" filter="fade">
                                      <p:cBhvr>
                                        <p:cTn id="93" dur="250"/>
                                        <p:tgtEl>
                                          <p:spTgt spid="328"/>
                                        </p:tgtEl>
                                      </p:cBhvr>
                                    </p:animEffect>
                                    <p:set>
                                      <p:cBhvr>
                                        <p:cTn id="94" dur="1" fill="hold">
                                          <p:stCondLst>
                                            <p:cond delay="249"/>
                                          </p:stCondLst>
                                        </p:cTn>
                                        <p:tgtEl>
                                          <p:spTgt spid="328"/>
                                        </p:tgtEl>
                                        <p:attrNameLst>
                                          <p:attrName>style.visibility</p:attrName>
                                        </p:attrNameLst>
                                      </p:cBhvr>
                                      <p:to>
                                        <p:strVal val="hidden"/>
                                      </p:to>
                                    </p:set>
                                  </p:childTnLst>
                                </p:cTn>
                              </p:par>
                              <p:par>
                                <p:cTn id="95" presetID="10" presetClass="entr" presetSubtype="0" fill="hold" grpId="0" nodeType="withEffect">
                                  <p:stCondLst>
                                    <p:cond delay="0"/>
                                  </p:stCondLst>
                                  <p:childTnLst>
                                    <p:set>
                                      <p:cBhvr>
                                        <p:cTn id="96" dur="1" fill="hold">
                                          <p:stCondLst>
                                            <p:cond delay="0"/>
                                          </p:stCondLst>
                                        </p:cTn>
                                        <p:tgtEl>
                                          <p:spTgt spid="337"/>
                                        </p:tgtEl>
                                        <p:attrNameLst>
                                          <p:attrName>style.visibility</p:attrName>
                                        </p:attrNameLst>
                                      </p:cBhvr>
                                      <p:to>
                                        <p:strVal val="visible"/>
                                      </p:to>
                                    </p:set>
                                    <p:animEffect transition="in" filter="fade">
                                      <p:cBhvr>
                                        <p:cTn id="97" dur="350"/>
                                        <p:tgtEl>
                                          <p:spTgt spid="337"/>
                                        </p:tgtEl>
                                      </p:cBhvr>
                                    </p:animEffect>
                                  </p:childTnLst>
                                </p:cTn>
                              </p:par>
                            </p:childTnLst>
                          </p:cTn>
                        </p:par>
                        <p:par>
                          <p:cTn id="98" fill="hold">
                            <p:stCondLst>
                              <p:cond delay="400"/>
                            </p:stCondLst>
                            <p:childTnLst>
                              <p:par>
                                <p:cTn id="99" presetID="22" presetClass="entr" presetSubtype="8" fill="hold" grpId="0" nodeType="afterEffect">
                                  <p:stCondLst>
                                    <p:cond delay="0"/>
                                  </p:stCondLst>
                                  <p:childTnLst>
                                    <p:set>
                                      <p:cBhvr>
                                        <p:cTn id="100" dur="1" fill="hold">
                                          <p:stCondLst>
                                            <p:cond delay="0"/>
                                          </p:stCondLst>
                                        </p:cTn>
                                        <p:tgtEl>
                                          <p:spTgt spid="357"/>
                                        </p:tgtEl>
                                        <p:attrNameLst>
                                          <p:attrName>style.visibility</p:attrName>
                                        </p:attrNameLst>
                                      </p:cBhvr>
                                      <p:to>
                                        <p:strVal val="visible"/>
                                      </p:to>
                                    </p:set>
                                    <p:animEffect transition="in" filter="wipe(left)">
                                      <p:cBhvr>
                                        <p:cTn id="101" dur="600"/>
                                        <p:tgtEl>
                                          <p:spTgt spid="357"/>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xit" presetSubtype="0" fill="hold" grpId="0" nodeType="clickEffect">
                                  <p:stCondLst>
                                    <p:cond delay="0"/>
                                  </p:stCondLst>
                                  <p:childTnLst>
                                    <p:animEffect transition="out" filter="fade">
                                      <p:cBhvr>
                                        <p:cTn id="105" dur="250"/>
                                        <p:tgtEl>
                                          <p:spTgt spid="337"/>
                                        </p:tgtEl>
                                      </p:cBhvr>
                                    </p:animEffect>
                                    <p:set>
                                      <p:cBhvr>
                                        <p:cTn id="106" dur="1" fill="hold">
                                          <p:stCondLst>
                                            <p:cond delay="249"/>
                                          </p:stCondLst>
                                        </p:cTn>
                                        <p:tgtEl>
                                          <p:spTgt spid="337"/>
                                        </p:tgtEl>
                                        <p:attrNameLst>
                                          <p:attrName>style.visibility</p:attrName>
                                        </p:attrNameLst>
                                      </p:cBhvr>
                                      <p:to>
                                        <p:strVal val="hidden"/>
                                      </p:to>
                                    </p:set>
                                  </p:childTnLst>
                                </p:cTn>
                              </p:par>
                              <p:par>
                                <p:cTn id="107" presetID="10" presetClass="exit" presetSubtype="0" fill="hold" grpId="0" nodeType="withEffect">
                                  <p:stCondLst>
                                    <p:cond delay="0"/>
                                  </p:stCondLst>
                                  <p:childTnLst>
                                    <p:animEffect transition="out" filter="fade">
                                      <p:cBhvr>
                                        <p:cTn id="108" dur="250"/>
                                        <p:tgtEl>
                                          <p:spTgt spid="357"/>
                                        </p:tgtEl>
                                      </p:cBhvr>
                                    </p:animEffect>
                                    <p:set>
                                      <p:cBhvr>
                                        <p:cTn id="109" dur="1" fill="hold">
                                          <p:stCondLst>
                                            <p:cond delay="249"/>
                                          </p:stCondLst>
                                        </p:cTn>
                                        <p:tgtEl>
                                          <p:spTgt spid="357"/>
                                        </p:tgtEl>
                                        <p:attrNameLst>
                                          <p:attrName>style.visibility</p:attrName>
                                        </p:attrNameLst>
                                      </p:cBhvr>
                                      <p:to>
                                        <p:strVal val="hidden"/>
                                      </p:to>
                                    </p:set>
                                  </p:childTnLst>
                                </p:cTn>
                              </p:par>
                              <p:par>
                                <p:cTn id="110" presetID="10" presetClass="entr" presetSubtype="0" fill="hold" grpId="0" nodeType="withEffect">
                                  <p:stCondLst>
                                    <p:cond delay="0"/>
                                  </p:stCondLst>
                                  <p:childTnLst>
                                    <p:set>
                                      <p:cBhvr>
                                        <p:cTn id="111" dur="1" fill="hold">
                                          <p:stCondLst>
                                            <p:cond delay="0"/>
                                          </p:stCondLst>
                                        </p:cTn>
                                        <p:tgtEl>
                                          <p:spTgt spid="363"/>
                                        </p:tgtEl>
                                        <p:attrNameLst>
                                          <p:attrName>style.visibility</p:attrName>
                                        </p:attrNameLst>
                                      </p:cBhvr>
                                      <p:to>
                                        <p:strVal val="visible"/>
                                      </p:to>
                                    </p:set>
                                    <p:animEffect transition="in" filter="fade">
                                      <p:cBhvr>
                                        <p:cTn id="112" dur="350"/>
                                        <p:tgtEl>
                                          <p:spTgt spid="363"/>
                                        </p:tgtEl>
                                      </p:cBhvr>
                                    </p:animEffect>
                                  </p:childTnLst>
                                </p:cTn>
                              </p:par>
                            </p:childTnLst>
                          </p:cTn>
                        </p:par>
                        <p:par>
                          <p:cTn id="113" fill="hold">
                            <p:stCondLst>
                              <p:cond delay="400"/>
                            </p:stCondLst>
                            <p:childTnLst>
                              <p:par>
                                <p:cTn id="114" presetID="22" presetClass="entr" presetSubtype="8" fill="hold" grpId="0" nodeType="afterEffect">
                                  <p:stCondLst>
                                    <p:cond delay="0"/>
                                  </p:stCondLst>
                                  <p:childTnLst>
                                    <p:set>
                                      <p:cBhvr>
                                        <p:cTn id="115" dur="1" fill="hold">
                                          <p:stCondLst>
                                            <p:cond delay="0"/>
                                          </p:stCondLst>
                                        </p:cTn>
                                        <p:tgtEl>
                                          <p:spTgt spid="389"/>
                                        </p:tgtEl>
                                        <p:attrNameLst>
                                          <p:attrName>style.visibility</p:attrName>
                                        </p:attrNameLst>
                                      </p:cBhvr>
                                      <p:to>
                                        <p:strVal val="visible"/>
                                      </p:to>
                                    </p:set>
                                    <p:animEffect transition="in" filter="wipe(left)">
                                      <p:cBhvr>
                                        <p:cTn id="116" dur="600"/>
                                        <p:tgtEl>
                                          <p:spTgt spid="389"/>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xit" presetSubtype="0" fill="hold" grpId="0" nodeType="clickEffect">
                                  <p:stCondLst>
                                    <p:cond delay="0"/>
                                  </p:stCondLst>
                                  <p:childTnLst>
                                    <p:animEffect transition="out" filter="fade">
                                      <p:cBhvr>
                                        <p:cTn id="120" dur="250"/>
                                        <p:tgtEl>
                                          <p:spTgt spid="363"/>
                                        </p:tgtEl>
                                      </p:cBhvr>
                                    </p:animEffect>
                                    <p:set>
                                      <p:cBhvr>
                                        <p:cTn id="121" dur="1" fill="hold">
                                          <p:stCondLst>
                                            <p:cond delay="249"/>
                                          </p:stCondLst>
                                        </p:cTn>
                                        <p:tgtEl>
                                          <p:spTgt spid="363"/>
                                        </p:tgtEl>
                                        <p:attrNameLst>
                                          <p:attrName>style.visibility</p:attrName>
                                        </p:attrNameLst>
                                      </p:cBhvr>
                                      <p:to>
                                        <p:strVal val="hidden"/>
                                      </p:to>
                                    </p:set>
                                  </p:childTnLst>
                                </p:cTn>
                              </p:par>
                              <p:par>
                                <p:cTn id="122" presetID="10" presetClass="exit" presetSubtype="0" fill="hold" grpId="0" nodeType="withEffect">
                                  <p:stCondLst>
                                    <p:cond delay="0"/>
                                  </p:stCondLst>
                                  <p:childTnLst>
                                    <p:animEffect transition="out" filter="fade">
                                      <p:cBhvr>
                                        <p:cTn id="123" dur="250"/>
                                        <p:tgtEl>
                                          <p:spTgt spid="389"/>
                                        </p:tgtEl>
                                      </p:cBhvr>
                                    </p:animEffect>
                                    <p:set>
                                      <p:cBhvr>
                                        <p:cTn id="124" dur="1" fill="hold">
                                          <p:stCondLst>
                                            <p:cond delay="249"/>
                                          </p:stCondLst>
                                        </p:cTn>
                                        <p:tgtEl>
                                          <p:spTgt spid="389"/>
                                        </p:tgtEl>
                                        <p:attrNameLst>
                                          <p:attrName>style.visibility</p:attrName>
                                        </p:attrNameLst>
                                      </p:cBhvr>
                                      <p:to>
                                        <p:strVal val="hidden"/>
                                      </p:to>
                                    </p:set>
                                  </p:childTnLst>
                                </p:cTn>
                              </p:par>
                              <p:par>
                                <p:cTn id="125" presetID="10" presetClass="entr" presetSubtype="0" fill="hold" grpId="0" nodeType="withEffect">
                                  <p:stCondLst>
                                    <p:cond delay="0"/>
                                  </p:stCondLst>
                                  <p:childTnLst>
                                    <p:set>
                                      <p:cBhvr>
                                        <p:cTn id="126" dur="1" fill="hold">
                                          <p:stCondLst>
                                            <p:cond delay="0"/>
                                          </p:stCondLst>
                                        </p:cTn>
                                        <p:tgtEl>
                                          <p:spTgt spid="395"/>
                                        </p:tgtEl>
                                        <p:attrNameLst>
                                          <p:attrName>style.visibility</p:attrName>
                                        </p:attrNameLst>
                                      </p:cBhvr>
                                      <p:to>
                                        <p:strVal val="visible"/>
                                      </p:to>
                                    </p:set>
                                    <p:animEffect transition="in" filter="fade">
                                      <p:cBhvr>
                                        <p:cTn id="127" dur="350"/>
                                        <p:tgtEl>
                                          <p:spTgt spid="395"/>
                                        </p:tgtEl>
                                      </p:cBhvr>
                                    </p:animEffect>
                                  </p:childTnLst>
                                </p:cTn>
                              </p:par>
                            </p:childTnLst>
                          </p:cTn>
                        </p:par>
                        <p:par>
                          <p:cTn id="128" fill="hold">
                            <p:stCondLst>
                              <p:cond delay="400"/>
                            </p:stCondLst>
                            <p:childTnLst>
                              <p:par>
                                <p:cTn id="129" presetID="22" presetClass="entr" presetSubtype="8" fill="hold" grpId="0" nodeType="afterEffect">
                                  <p:stCondLst>
                                    <p:cond delay="0"/>
                                  </p:stCondLst>
                                  <p:childTnLst>
                                    <p:set>
                                      <p:cBhvr>
                                        <p:cTn id="130" dur="1" fill="hold">
                                          <p:stCondLst>
                                            <p:cond delay="0"/>
                                          </p:stCondLst>
                                        </p:cTn>
                                        <p:tgtEl>
                                          <p:spTgt spid="429"/>
                                        </p:tgtEl>
                                        <p:attrNameLst>
                                          <p:attrName>style.visibility</p:attrName>
                                        </p:attrNameLst>
                                      </p:cBhvr>
                                      <p:to>
                                        <p:strVal val="visible"/>
                                      </p:to>
                                    </p:set>
                                    <p:animEffect transition="in" filter="wipe(left)">
                                      <p:cBhvr>
                                        <p:cTn id="131" dur="600"/>
                                        <p:tgtEl>
                                          <p:spTgt spid="429"/>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xit" presetSubtype="0" fill="hold" grpId="0" nodeType="clickEffect">
                                  <p:stCondLst>
                                    <p:cond delay="0"/>
                                  </p:stCondLst>
                                  <p:childTnLst>
                                    <p:animEffect transition="out" filter="fade">
                                      <p:cBhvr>
                                        <p:cTn id="135" dur="250"/>
                                        <p:tgtEl>
                                          <p:spTgt spid="395"/>
                                        </p:tgtEl>
                                      </p:cBhvr>
                                    </p:animEffect>
                                    <p:set>
                                      <p:cBhvr>
                                        <p:cTn id="136" dur="1" fill="hold">
                                          <p:stCondLst>
                                            <p:cond delay="249"/>
                                          </p:stCondLst>
                                        </p:cTn>
                                        <p:tgtEl>
                                          <p:spTgt spid="395"/>
                                        </p:tgtEl>
                                        <p:attrNameLst>
                                          <p:attrName>style.visibility</p:attrName>
                                        </p:attrNameLst>
                                      </p:cBhvr>
                                      <p:to>
                                        <p:strVal val="hidden"/>
                                      </p:to>
                                    </p:set>
                                  </p:childTnLst>
                                </p:cTn>
                              </p:par>
                              <p:par>
                                <p:cTn id="137" presetID="10" presetClass="exit" presetSubtype="0" fill="hold" grpId="0" nodeType="withEffect">
                                  <p:stCondLst>
                                    <p:cond delay="0"/>
                                  </p:stCondLst>
                                  <p:childTnLst>
                                    <p:animEffect transition="out" filter="fade">
                                      <p:cBhvr>
                                        <p:cTn id="138" dur="250"/>
                                        <p:tgtEl>
                                          <p:spTgt spid="429"/>
                                        </p:tgtEl>
                                      </p:cBhvr>
                                    </p:animEffect>
                                    <p:set>
                                      <p:cBhvr>
                                        <p:cTn id="139" dur="1" fill="hold">
                                          <p:stCondLst>
                                            <p:cond delay="249"/>
                                          </p:stCondLst>
                                        </p:cTn>
                                        <p:tgtEl>
                                          <p:spTgt spid="429"/>
                                        </p:tgtEl>
                                        <p:attrNameLst>
                                          <p:attrName>style.visibility</p:attrName>
                                        </p:attrNameLst>
                                      </p:cBhvr>
                                      <p:to>
                                        <p:strVal val="hidden"/>
                                      </p:to>
                                    </p:set>
                                  </p:childTnLst>
                                </p:cTn>
                              </p:par>
                              <p:par>
                                <p:cTn id="140" presetID="10" presetClass="entr" presetSubtype="0" fill="hold" grpId="0" nodeType="withEffect">
                                  <p:stCondLst>
                                    <p:cond delay="0"/>
                                  </p:stCondLst>
                                  <p:childTnLst>
                                    <p:set>
                                      <p:cBhvr>
                                        <p:cTn id="141" dur="1" fill="hold">
                                          <p:stCondLst>
                                            <p:cond delay="0"/>
                                          </p:stCondLst>
                                        </p:cTn>
                                        <p:tgtEl>
                                          <p:spTgt spid="435"/>
                                        </p:tgtEl>
                                        <p:attrNameLst>
                                          <p:attrName>style.visibility</p:attrName>
                                        </p:attrNameLst>
                                      </p:cBhvr>
                                      <p:to>
                                        <p:strVal val="visible"/>
                                      </p:to>
                                    </p:set>
                                    <p:animEffect transition="in" filter="fade">
                                      <p:cBhvr>
                                        <p:cTn id="142" dur="350"/>
                                        <p:tgtEl>
                                          <p:spTgt spid="435"/>
                                        </p:tgtEl>
                                      </p:cBhvr>
                                    </p:animEffect>
                                  </p:childTnLst>
                                </p:cTn>
                              </p:par>
                            </p:childTnLst>
                          </p:cTn>
                        </p:par>
                        <p:par>
                          <p:cTn id="143" fill="hold">
                            <p:stCondLst>
                              <p:cond delay="400"/>
                            </p:stCondLst>
                            <p:childTnLst>
                              <p:par>
                                <p:cTn id="144" presetID="22" presetClass="entr" presetSubtype="8" fill="hold" grpId="0" nodeType="afterEffect">
                                  <p:stCondLst>
                                    <p:cond delay="0"/>
                                  </p:stCondLst>
                                  <p:childTnLst>
                                    <p:set>
                                      <p:cBhvr>
                                        <p:cTn id="145" dur="1" fill="hold">
                                          <p:stCondLst>
                                            <p:cond delay="0"/>
                                          </p:stCondLst>
                                        </p:cTn>
                                        <p:tgtEl>
                                          <p:spTgt spid="457"/>
                                        </p:tgtEl>
                                        <p:attrNameLst>
                                          <p:attrName>style.visibility</p:attrName>
                                        </p:attrNameLst>
                                      </p:cBhvr>
                                      <p:to>
                                        <p:strVal val="visible"/>
                                      </p:to>
                                    </p:set>
                                    <p:animEffect transition="in" filter="wipe(left)">
                                      <p:cBhvr>
                                        <p:cTn id="146" dur="600"/>
                                        <p:tgtEl>
                                          <p:spTgt spid="457"/>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xit" presetSubtype="0" fill="hold" grpId="0" nodeType="clickEffect">
                                  <p:stCondLst>
                                    <p:cond delay="0"/>
                                  </p:stCondLst>
                                  <p:childTnLst>
                                    <p:animEffect transition="out" filter="fade">
                                      <p:cBhvr>
                                        <p:cTn id="150" dur="250"/>
                                        <p:tgtEl>
                                          <p:spTgt spid="435"/>
                                        </p:tgtEl>
                                      </p:cBhvr>
                                    </p:animEffect>
                                    <p:set>
                                      <p:cBhvr>
                                        <p:cTn id="151" dur="1" fill="hold">
                                          <p:stCondLst>
                                            <p:cond delay="249"/>
                                          </p:stCondLst>
                                        </p:cTn>
                                        <p:tgtEl>
                                          <p:spTgt spid="435"/>
                                        </p:tgtEl>
                                        <p:attrNameLst>
                                          <p:attrName>style.visibility</p:attrName>
                                        </p:attrNameLst>
                                      </p:cBhvr>
                                      <p:to>
                                        <p:strVal val="hidden"/>
                                      </p:to>
                                    </p:set>
                                  </p:childTnLst>
                                </p:cTn>
                              </p:par>
                              <p:par>
                                <p:cTn id="152" presetID="10" presetClass="exit" presetSubtype="0" fill="hold" grpId="0" nodeType="withEffect">
                                  <p:stCondLst>
                                    <p:cond delay="0"/>
                                  </p:stCondLst>
                                  <p:childTnLst>
                                    <p:animEffect transition="out" filter="fade">
                                      <p:cBhvr>
                                        <p:cTn id="153" dur="250"/>
                                        <p:tgtEl>
                                          <p:spTgt spid="457"/>
                                        </p:tgtEl>
                                      </p:cBhvr>
                                    </p:animEffect>
                                    <p:set>
                                      <p:cBhvr>
                                        <p:cTn id="154" dur="1" fill="hold">
                                          <p:stCondLst>
                                            <p:cond delay="249"/>
                                          </p:stCondLst>
                                        </p:cTn>
                                        <p:tgtEl>
                                          <p:spTgt spid="457"/>
                                        </p:tgtEl>
                                        <p:attrNameLst>
                                          <p:attrName>style.visibility</p:attrName>
                                        </p:attrNameLst>
                                      </p:cBhvr>
                                      <p:to>
                                        <p:strVal val="hidden"/>
                                      </p:to>
                                    </p:set>
                                  </p:childTnLst>
                                </p:cTn>
                              </p:par>
                              <p:par>
                                <p:cTn id="155" presetID="10" presetClass="entr" presetSubtype="0" fill="hold" grpId="0" nodeType="withEffect">
                                  <p:stCondLst>
                                    <p:cond delay="0"/>
                                  </p:stCondLst>
                                  <p:childTnLst>
                                    <p:set>
                                      <p:cBhvr>
                                        <p:cTn id="156" dur="1" fill="hold">
                                          <p:stCondLst>
                                            <p:cond delay="0"/>
                                          </p:stCondLst>
                                        </p:cTn>
                                        <p:tgtEl>
                                          <p:spTgt spid="463"/>
                                        </p:tgtEl>
                                        <p:attrNameLst>
                                          <p:attrName>style.visibility</p:attrName>
                                        </p:attrNameLst>
                                      </p:cBhvr>
                                      <p:to>
                                        <p:strVal val="visible"/>
                                      </p:to>
                                    </p:set>
                                    <p:animEffect transition="in" filter="fade">
                                      <p:cBhvr>
                                        <p:cTn id="157" dur="350"/>
                                        <p:tgtEl>
                                          <p:spTgt spid="463"/>
                                        </p:tgtEl>
                                      </p:cBhvr>
                                    </p:animEffect>
                                  </p:childTnLst>
                                </p:cTn>
                              </p:par>
                            </p:childTnLst>
                          </p:cTn>
                        </p:par>
                        <p:par>
                          <p:cTn id="158" fill="hold">
                            <p:stCondLst>
                              <p:cond delay="400"/>
                            </p:stCondLst>
                            <p:childTnLst>
                              <p:par>
                                <p:cTn id="159" presetID="22" presetClass="entr" presetSubtype="8" fill="hold" grpId="0" nodeType="afterEffect">
                                  <p:stCondLst>
                                    <p:cond delay="0"/>
                                  </p:stCondLst>
                                  <p:childTnLst>
                                    <p:set>
                                      <p:cBhvr>
                                        <p:cTn id="160" dur="1" fill="hold">
                                          <p:stCondLst>
                                            <p:cond delay="0"/>
                                          </p:stCondLst>
                                        </p:cTn>
                                        <p:tgtEl>
                                          <p:spTgt spid="483"/>
                                        </p:tgtEl>
                                        <p:attrNameLst>
                                          <p:attrName>style.visibility</p:attrName>
                                        </p:attrNameLst>
                                      </p:cBhvr>
                                      <p:to>
                                        <p:strVal val="visible"/>
                                      </p:to>
                                    </p:set>
                                    <p:animEffect transition="in" filter="wipe(left)">
                                      <p:cBhvr>
                                        <p:cTn id="161" dur="600"/>
                                        <p:tgtEl>
                                          <p:spTgt spid="483"/>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xit" presetSubtype="0" fill="hold" grpId="0" nodeType="clickEffect">
                                  <p:stCondLst>
                                    <p:cond delay="0"/>
                                  </p:stCondLst>
                                  <p:childTnLst>
                                    <p:animEffect transition="out" filter="fade">
                                      <p:cBhvr>
                                        <p:cTn id="165" dur="250"/>
                                        <p:tgtEl>
                                          <p:spTgt spid="463"/>
                                        </p:tgtEl>
                                      </p:cBhvr>
                                    </p:animEffect>
                                    <p:set>
                                      <p:cBhvr>
                                        <p:cTn id="166" dur="1" fill="hold">
                                          <p:stCondLst>
                                            <p:cond delay="249"/>
                                          </p:stCondLst>
                                        </p:cTn>
                                        <p:tgtEl>
                                          <p:spTgt spid="463"/>
                                        </p:tgtEl>
                                        <p:attrNameLst>
                                          <p:attrName>style.visibility</p:attrName>
                                        </p:attrNameLst>
                                      </p:cBhvr>
                                      <p:to>
                                        <p:strVal val="hidden"/>
                                      </p:to>
                                    </p:set>
                                  </p:childTnLst>
                                </p:cTn>
                              </p:par>
                              <p:par>
                                <p:cTn id="167" presetID="10" presetClass="exit" presetSubtype="0" fill="hold" grpId="0" nodeType="withEffect">
                                  <p:stCondLst>
                                    <p:cond delay="0"/>
                                  </p:stCondLst>
                                  <p:childTnLst>
                                    <p:animEffect transition="out" filter="fade">
                                      <p:cBhvr>
                                        <p:cTn id="168" dur="250"/>
                                        <p:tgtEl>
                                          <p:spTgt spid="483"/>
                                        </p:tgtEl>
                                      </p:cBhvr>
                                    </p:animEffect>
                                    <p:set>
                                      <p:cBhvr>
                                        <p:cTn id="169" dur="1" fill="hold">
                                          <p:stCondLst>
                                            <p:cond delay="249"/>
                                          </p:stCondLst>
                                        </p:cTn>
                                        <p:tgtEl>
                                          <p:spTgt spid="483"/>
                                        </p:tgtEl>
                                        <p:attrNameLst>
                                          <p:attrName>style.visibility</p:attrName>
                                        </p:attrNameLst>
                                      </p:cBhvr>
                                      <p:to>
                                        <p:strVal val="hidden"/>
                                      </p:to>
                                    </p:set>
                                  </p:childTnLst>
                                </p:cTn>
                              </p:par>
                              <p:par>
                                <p:cTn id="170" presetID="10" presetClass="entr" presetSubtype="0" fill="hold" grpId="0" nodeType="withEffect">
                                  <p:stCondLst>
                                    <p:cond delay="0"/>
                                  </p:stCondLst>
                                  <p:childTnLst>
                                    <p:set>
                                      <p:cBhvr>
                                        <p:cTn id="171" dur="1" fill="hold">
                                          <p:stCondLst>
                                            <p:cond delay="0"/>
                                          </p:stCondLst>
                                        </p:cTn>
                                        <p:tgtEl>
                                          <p:spTgt spid="489"/>
                                        </p:tgtEl>
                                        <p:attrNameLst>
                                          <p:attrName>style.visibility</p:attrName>
                                        </p:attrNameLst>
                                      </p:cBhvr>
                                      <p:to>
                                        <p:strVal val="visible"/>
                                      </p:to>
                                    </p:set>
                                    <p:animEffect transition="in" filter="fade">
                                      <p:cBhvr>
                                        <p:cTn id="172" dur="350"/>
                                        <p:tgtEl>
                                          <p:spTgt spid="489"/>
                                        </p:tgtEl>
                                      </p:cBhvr>
                                    </p:animEffect>
                                  </p:childTnLst>
                                </p:cTn>
                              </p:par>
                            </p:childTnLst>
                          </p:cTn>
                        </p:par>
                        <p:par>
                          <p:cTn id="173" fill="hold">
                            <p:stCondLst>
                              <p:cond delay="400"/>
                            </p:stCondLst>
                            <p:childTnLst>
                              <p:par>
                                <p:cTn id="174" presetID="22" presetClass="entr" presetSubtype="8" fill="hold" grpId="0" nodeType="afterEffect">
                                  <p:stCondLst>
                                    <p:cond delay="0"/>
                                  </p:stCondLst>
                                  <p:childTnLst>
                                    <p:set>
                                      <p:cBhvr>
                                        <p:cTn id="175" dur="1" fill="hold">
                                          <p:stCondLst>
                                            <p:cond delay="0"/>
                                          </p:stCondLst>
                                        </p:cTn>
                                        <p:tgtEl>
                                          <p:spTgt spid="505"/>
                                        </p:tgtEl>
                                        <p:attrNameLst>
                                          <p:attrName>style.visibility</p:attrName>
                                        </p:attrNameLst>
                                      </p:cBhvr>
                                      <p:to>
                                        <p:strVal val="visible"/>
                                      </p:to>
                                    </p:set>
                                    <p:animEffect transition="in" filter="wipe(left)">
                                      <p:cBhvr>
                                        <p:cTn id="176" dur="600"/>
                                        <p:tgtEl>
                                          <p:spTgt spid="505"/>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xit" presetSubtype="0" fill="hold" grpId="0" nodeType="clickEffect">
                                  <p:stCondLst>
                                    <p:cond delay="0"/>
                                  </p:stCondLst>
                                  <p:childTnLst>
                                    <p:animEffect transition="out" filter="fade">
                                      <p:cBhvr>
                                        <p:cTn id="180" dur="250"/>
                                        <p:tgtEl>
                                          <p:spTgt spid="489"/>
                                        </p:tgtEl>
                                      </p:cBhvr>
                                    </p:animEffect>
                                    <p:set>
                                      <p:cBhvr>
                                        <p:cTn id="181" dur="1" fill="hold">
                                          <p:stCondLst>
                                            <p:cond delay="249"/>
                                          </p:stCondLst>
                                        </p:cTn>
                                        <p:tgtEl>
                                          <p:spTgt spid="489"/>
                                        </p:tgtEl>
                                        <p:attrNameLst>
                                          <p:attrName>style.visibility</p:attrName>
                                        </p:attrNameLst>
                                      </p:cBhvr>
                                      <p:to>
                                        <p:strVal val="hidden"/>
                                      </p:to>
                                    </p:set>
                                  </p:childTnLst>
                                </p:cTn>
                              </p:par>
                              <p:par>
                                <p:cTn id="182" presetID="10" presetClass="exit" presetSubtype="0" fill="hold" grpId="0" nodeType="withEffect">
                                  <p:stCondLst>
                                    <p:cond delay="0"/>
                                  </p:stCondLst>
                                  <p:childTnLst>
                                    <p:animEffect transition="out" filter="fade">
                                      <p:cBhvr>
                                        <p:cTn id="183" dur="250"/>
                                        <p:tgtEl>
                                          <p:spTgt spid="505"/>
                                        </p:tgtEl>
                                      </p:cBhvr>
                                    </p:animEffect>
                                    <p:set>
                                      <p:cBhvr>
                                        <p:cTn id="184" dur="1" fill="hold">
                                          <p:stCondLst>
                                            <p:cond delay="249"/>
                                          </p:stCondLst>
                                        </p:cTn>
                                        <p:tgtEl>
                                          <p:spTgt spid="505"/>
                                        </p:tgtEl>
                                        <p:attrNameLst>
                                          <p:attrName>style.visibility</p:attrName>
                                        </p:attrNameLst>
                                      </p:cBhvr>
                                      <p:to>
                                        <p:strVal val="hidden"/>
                                      </p:to>
                                    </p:set>
                                  </p:childTnLst>
                                </p:cTn>
                              </p:par>
                              <p:par>
                                <p:cTn id="185" presetID="10" presetClass="entr" presetSubtype="0" fill="hold" grpId="0" nodeType="withEffect">
                                  <p:stCondLst>
                                    <p:cond delay="0"/>
                                  </p:stCondLst>
                                  <p:childTnLst>
                                    <p:set>
                                      <p:cBhvr>
                                        <p:cTn id="186" dur="1" fill="hold">
                                          <p:stCondLst>
                                            <p:cond delay="0"/>
                                          </p:stCondLst>
                                        </p:cTn>
                                        <p:tgtEl>
                                          <p:spTgt spid="507"/>
                                        </p:tgtEl>
                                        <p:attrNameLst>
                                          <p:attrName>style.visibility</p:attrName>
                                        </p:attrNameLst>
                                      </p:cBhvr>
                                      <p:to>
                                        <p:strVal val="visible"/>
                                      </p:to>
                                    </p:set>
                                    <p:animEffect transition="in" filter="fade">
                                      <p:cBhvr>
                                        <p:cTn id="187" dur="350"/>
                                        <p:tgtEl>
                                          <p:spTgt spid="507"/>
                                        </p:tgtEl>
                                      </p:cBhvr>
                                    </p:animEffect>
                                  </p:childTnLst>
                                </p:cTn>
                              </p:par>
                            </p:childTnLst>
                          </p:cTn>
                        </p:par>
                      </p:childTnLst>
                    </p:cTn>
                  </p:par>
                  <p:par>
                    <p:cTn id="188" fill="hold">
                      <p:stCondLst>
                        <p:cond delay="indefinite"/>
                      </p:stCondLst>
                      <p:childTnLst>
                        <p:par>
                          <p:cTn id="189" fill="hold">
                            <p:stCondLst>
                              <p:cond delay="0"/>
                            </p:stCondLst>
                            <p:childTnLst>
                              <p:par>
                                <p:cTn id="190" presetID="10" presetClass="exit" presetSubtype="0" fill="hold" grpId="0" nodeType="clickEffect">
                                  <p:stCondLst>
                                    <p:cond delay="0"/>
                                  </p:stCondLst>
                                  <p:childTnLst>
                                    <p:animEffect transition="out" filter="fade">
                                      <p:cBhvr>
                                        <p:cTn id="191" dur="250"/>
                                        <p:tgtEl>
                                          <p:spTgt spid="507"/>
                                        </p:tgtEl>
                                      </p:cBhvr>
                                    </p:animEffect>
                                    <p:set>
                                      <p:cBhvr>
                                        <p:cTn id="192" dur="1" fill="hold">
                                          <p:stCondLst>
                                            <p:cond delay="249"/>
                                          </p:stCondLst>
                                        </p:cTn>
                                        <p:tgtEl>
                                          <p:spTgt spid="5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