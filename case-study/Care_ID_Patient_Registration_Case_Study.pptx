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insightglobal.com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17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9768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GLOBAL: CASE STUDY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29768" y="5029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Patient Registration &amp; Identity Matching with Salesforce and Ascension Care ID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9646920" y="9144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46920" y="91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Identity &amp; Registration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0" y="1417320"/>
            <a:ext cx="3063240" cy="5440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64592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CLIENT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64592" y="1801368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national nonprofit health system. Integrated Ascension Care ID, the organization’s single sign-on identity platform, with Salesforce to register patients in real time, match them to existing records, and maintain one trusted patient profile across consumer and associate applications.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64592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64592" y="3401568"/>
            <a:ext cx="2788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patients created Care ID accounts across digital channels, Salesforce had to recognize them instantly and link them to the correct record without duplicates or manual effort.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Patients, health plan members and prospective consumers lived in separate accounts with no shared identifier, creating duplicate profiles and fragmented service history.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changes (EMPI EUID, SmartHealth subscriber ID) happened outside Salesforce, and Shield-encrypted fields blocked standard Flow lookups.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190195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 event-driven registration and identity-resolution framework on the Salesforce Platform (Person Accounts, Platform Events, Flow, Apex, External Services) connected to Ascension Care ID and the enterprise MPI.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46704" y="2670048"/>
            <a:ext cx="45720" cy="457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93008" y="2606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Event Processing: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ID publishes a platform event whenever a profile is created or its EUID or SmartHealth subscriber details change; a platform event-triggered flow processes it instantly.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46704" y="3337560"/>
            <a:ext cx="45720" cy="457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93008" y="32735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Patient Registration: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patients by EMPI EUID via Apex SOQL actions that support Shield-encrypted fields; when no match exists, retrieves and inserts the patient from EMPI and stamps the Care ID.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346704" y="4005072"/>
            <a:ext cx="45720" cy="457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93008" y="39410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&amp; Prospect Matching: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the Care ID User Profile API (OAuth 2.0 External Service) to match health plan members by subscriber key and create prospect (Preclinical) accounts for new sign-ups.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346704" y="4672584"/>
            <a:ext cx="45720" cy="457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93008" y="46085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Resolution &amp; Merge: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duplicate prospect accounts for merge; an asynchronous flow re-parents cases, tasks and chat transcripts to the surviving patient or member account.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346704" y="5340096"/>
            <a:ext cx="45720" cy="457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93008" y="52760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Identity Foundation: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ID stored on the Account and carried in HealthConnect patient payloads, giving every Ascension application one shared patient identity.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202168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202168" y="2057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01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ID</a:t>
            </a:r>
            <a:endParaRPr lang="en-US" sz="3600" dirty="0"/>
          </a:p>
        </p:txBody>
      </p:sp>
      <p:sp>
        <p:nvSpPr>
          <p:cNvPr id="26" name="Text 23"/>
          <p:cNvSpPr txBox="1"/>
          <p:nvPr/>
        </p:nvSpPr>
        <p:spPr>
          <a:xfrm>
            <a:off x="8202168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patient identity across Ascension apps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3044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01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3600" dirty="0"/>
          </a:p>
        </p:txBody>
      </p:sp>
      <p:sp>
        <p:nvSpPr>
          <p:cNvPr id="28" name="Text 25"/>
          <p:cNvSpPr txBox="1"/>
          <p:nvPr/>
        </p:nvSpPr>
        <p:spPr>
          <a:xfrm>
            <a:off x="8202168" y="3593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sync from Care ID to Salesforce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40325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01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Paths</a:t>
            </a:r>
            <a:endParaRPr lang="en-US" sz="3600" dirty="0"/>
          </a:p>
        </p:txBody>
      </p:sp>
      <p:sp>
        <p:nvSpPr>
          <p:cNvPr id="30" name="Text 27"/>
          <p:cNvSpPr txBox="1"/>
          <p:nvPr/>
        </p:nvSpPr>
        <p:spPr>
          <a:xfrm>
            <a:off x="8202168" y="45811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Patient, Member &amp; Prospect record matching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50200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01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Auto-Merge</a:t>
            </a:r>
            <a:endParaRPr lang="en-US" sz="3600" dirty="0"/>
          </a:p>
        </p:txBody>
      </p:sp>
      <p:sp>
        <p:nvSpPr>
          <p:cNvPr id="32" name="Text 29"/>
          <p:cNvSpPr txBox="1"/>
          <p:nvPr/>
        </p:nvSpPr>
        <p:spPr>
          <a:xfrm>
            <a:off x="8202168" y="55686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merged with cases, tasks &amp; chats moved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401568" y="6108192"/>
            <a:ext cx="8412480" cy="0"/>
          </a:xfrm>
          <a:prstGeom prst="line">
            <a:avLst/>
          </a:prstGeom>
          <a:noFill/>
          <a:ln w="9525">
            <a:solidFill>
              <a:srgbClr val="BBBBBB"/>
            </a:solidFill>
            <a:prstDash val="sysDot"/>
          </a:ln>
        </p:spPr>
      </p:sp>
      <p:sp>
        <p:nvSpPr>
          <p:cNvPr id="34" name="Text 31"/>
          <p:cNvSpPr txBox="1"/>
          <p:nvPr/>
        </p:nvSpPr>
        <p:spPr>
          <a:xfrm>
            <a:off x="3364992" y="6245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InsightGlobal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3593592" y="6537960"/>
            <a:ext cx="64008" cy="64008"/>
          </a:xfrm>
          <a:prstGeom prst="ellipse">
            <a:avLst/>
          </a:prstGeom>
          <a:solidFill>
            <a:srgbClr val="F0106E"/>
          </a:solidFill>
          <a:ln w="12700">
            <a:solidFill>
              <a:srgbClr val="F0106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675888" y="6537960"/>
            <a:ext cx="64008" cy="64008"/>
          </a:xfrm>
          <a:prstGeom prst="ellipse">
            <a:avLst/>
          </a:prstGeom>
          <a:solidFill>
            <a:srgbClr val="FFC20E"/>
          </a:solidFill>
          <a:ln w="12700">
            <a:solidFill>
              <a:srgbClr val="FFC20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758184" y="6537960"/>
            <a:ext cx="64008" cy="6400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212080" y="627278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your IG partner directly or at </a:t>
            </a:r>
            <a:pPr indent="0" marL="0">
              <a:buNone/>
            </a:pPr>
            <a:r>
              <a:rPr lang="en-US" sz="850" u="sng" dirty="0">
                <a:solidFill>
                  <a:srgbClr val="F0106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insightglobal.com</a:t>
            </a:r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8823960" y="62727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Insight Global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10378440" y="62727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Insight Global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2026-09-28T14:03:05Z</dcterms:created>
  <dcterms:modified xsi:type="dcterms:W3CDTF">2026-09-28T14:03:05Z</dcterms:modified>
</cp:coreProperties>
</file>